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463" r:id="rId3"/>
    <p:sldId id="669" r:id="rId4"/>
    <p:sldId id="258" r:id="rId5"/>
    <p:sldId id="670" r:id="rId6"/>
    <p:sldId id="257" r:id="rId7"/>
    <p:sldId id="259" r:id="rId8"/>
    <p:sldId id="260" r:id="rId9"/>
    <p:sldId id="261" r:id="rId10"/>
    <p:sldId id="671" r:id="rId11"/>
    <p:sldId id="672" r:id="rId12"/>
    <p:sldId id="657" r:id="rId13"/>
    <p:sldId id="262" r:id="rId14"/>
    <p:sldId id="263" r:id="rId15"/>
    <p:sldId id="264" r:id="rId16"/>
    <p:sldId id="265" r:id="rId17"/>
    <p:sldId id="271" r:id="rId18"/>
    <p:sldId id="673" r:id="rId19"/>
    <p:sldId id="266" r:id="rId20"/>
    <p:sldId id="267" r:id="rId21"/>
    <p:sldId id="268" r:id="rId22"/>
    <p:sldId id="269" r:id="rId23"/>
    <p:sldId id="270" r:id="rId24"/>
    <p:sldId id="272" r:id="rId25"/>
    <p:sldId id="273" r:id="rId26"/>
    <p:sldId id="274" r:id="rId27"/>
    <p:sldId id="275" r:id="rId28"/>
    <p:sldId id="276" r:id="rId29"/>
    <p:sldId id="277" r:id="rId30"/>
    <p:sldId id="278" r:id="rId31"/>
    <p:sldId id="279" r:id="rId32"/>
    <p:sldId id="280" r:id="rId33"/>
    <p:sldId id="667" r:id="rId34"/>
    <p:sldId id="668" r:id="rId35"/>
    <p:sldId id="67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E3D1B4-033C-408B-9515-A22A3C85427B}" type="datetimeFigureOut">
              <a:rPr lang="en-US" smtClean="0"/>
              <a:t>9/5/2025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DBB59C-4997-47FE-BE02-4D3078712479}" type="slidenum">
              <a:rPr lang="en-US" smtClean="0"/>
              <a:t>‹#›</a:t>
            </a:fld>
            <a:endParaRPr lang="en-US"/>
          </a:p>
        </p:txBody>
      </p:sp>
    </p:spTree>
    <p:extLst>
      <p:ext uri="{BB962C8B-B14F-4D97-AF65-F5344CB8AC3E}">
        <p14:creationId xmlns:p14="http://schemas.microsoft.com/office/powerpoint/2010/main" val="764051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0C4BE1AC-473B-72E8-EBA8-FE04EE75AC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8E6E0E5-91CB-4391-8B8C-77C5AFF2B342}" type="slidenum">
              <a:rPr lang="en-US" altLang="en-US" sz="1300"/>
              <a:pPr>
                <a:spcBef>
                  <a:spcPct val="0"/>
                </a:spcBef>
              </a:pPr>
              <a:t>2</a:t>
            </a:fld>
            <a:endParaRPr lang="en-US" altLang="en-US" sz="1300"/>
          </a:p>
        </p:txBody>
      </p:sp>
      <p:sp>
        <p:nvSpPr>
          <p:cNvPr id="8195" name="Rectangle 2">
            <a:extLst>
              <a:ext uri="{FF2B5EF4-FFF2-40B4-BE49-F238E27FC236}">
                <a16:creationId xmlns:a16="http://schemas.microsoft.com/office/drawing/2014/main" id="{728CE54C-166B-8972-2041-F137F01A6A6F}"/>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C82F7A7-DD53-F5BB-FC44-71DE998E25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en-US">
              <a:latin typeface="Arial" panose="020B0604020202020204" pitchFamily="34" charset="0"/>
              <a:cs typeface="Arial" panose="020B0604020202020204" pitchFamily="34" charset="0"/>
            </a:endParaRPr>
          </a:p>
        </p:txBody>
      </p:sp>
      <p:sp>
        <p:nvSpPr>
          <p:cNvPr id="8197" name="Date Placeholder 1">
            <a:extLst>
              <a:ext uri="{FF2B5EF4-FFF2-40B4-BE49-F238E27FC236}">
                <a16:creationId xmlns:a16="http://schemas.microsoft.com/office/drawing/2014/main" id="{2FB7C518-B938-2A0D-5D22-C893207E4F76}"/>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200">
                <a:solidFill>
                  <a:schemeClr val="tx1"/>
                </a:solidFill>
                <a:latin typeface="Arial" panose="020B0604020202020204" pitchFamily="34" charset="0"/>
                <a:cs typeface="Arial" panose="020B0604020202020204" pitchFamily="34" charset="0"/>
              </a:defRPr>
            </a:lvl1pPr>
            <a:lvl2pPr marL="742950" indent="-285750" defTabSz="990600">
              <a:defRPr sz="2200">
                <a:solidFill>
                  <a:schemeClr val="tx1"/>
                </a:solidFill>
                <a:latin typeface="Arial" panose="020B0604020202020204" pitchFamily="34" charset="0"/>
                <a:cs typeface="Arial" panose="020B0604020202020204" pitchFamily="34" charset="0"/>
              </a:defRPr>
            </a:lvl2pPr>
            <a:lvl3pPr marL="1143000" indent="-228600" defTabSz="990600">
              <a:defRPr sz="2200">
                <a:solidFill>
                  <a:schemeClr val="tx1"/>
                </a:solidFill>
                <a:latin typeface="Arial" panose="020B0604020202020204" pitchFamily="34" charset="0"/>
                <a:cs typeface="Arial" panose="020B0604020202020204" pitchFamily="34" charset="0"/>
              </a:defRPr>
            </a:lvl3pPr>
            <a:lvl4pPr marL="1600200" indent="-228600" defTabSz="990600">
              <a:defRPr sz="2200">
                <a:solidFill>
                  <a:schemeClr val="tx1"/>
                </a:solidFill>
                <a:latin typeface="Arial" panose="020B0604020202020204" pitchFamily="34" charset="0"/>
                <a:cs typeface="Arial" panose="020B0604020202020204" pitchFamily="34" charset="0"/>
              </a:defRPr>
            </a:lvl4pPr>
            <a:lvl5pPr marL="2057400" indent="-228600" defTabSz="990600">
              <a:defRPr sz="2200">
                <a:solidFill>
                  <a:schemeClr val="tx1"/>
                </a:solidFill>
                <a:latin typeface="Arial" panose="020B0604020202020204" pitchFamily="34" charset="0"/>
                <a:cs typeface="Arial" panose="020B0604020202020204" pitchFamily="34" charset="0"/>
              </a:defRPr>
            </a:lvl5pPr>
            <a:lvl6pPr marL="2514600" indent="-228600" defTabSz="990600" eaLnBrk="0" fontAlgn="base" hangingPunct="0">
              <a:spcBef>
                <a:spcPct val="0"/>
              </a:spcBef>
              <a:spcAft>
                <a:spcPct val="0"/>
              </a:spcAft>
              <a:defRPr sz="2200">
                <a:solidFill>
                  <a:schemeClr val="tx1"/>
                </a:solidFill>
                <a:latin typeface="Arial" panose="020B0604020202020204" pitchFamily="34" charset="0"/>
                <a:cs typeface="Arial" panose="020B0604020202020204" pitchFamily="34" charset="0"/>
              </a:defRPr>
            </a:lvl6pPr>
            <a:lvl7pPr marL="2971800" indent="-228600" defTabSz="990600" eaLnBrk="0" fontAlgn="base" hangingPunct="0">
              <a:spcBef>
                <a:spcPct val="0"/>
              </a:spcBef>
              <a:spcAft>
                <a:spcPct val="0"/>
              </a:spcAft>
              <a:defRPr sz="2200">
                <a:solidFill>
                  <a:schemeClr val="tx1"/>
                </a:solidFill>
                <a:latin typeface="Arial" panose="020B0604020202020204" pitchFamily="34" charset="0"/>
                <a:cs typeface="Arial" panose="020B0604020202020204" pitchFamily="34" charset="0"/>
              </a:defRPr>
            </a:lvl7pPr>
            <a:lvl8pPr marL="3429000" indent="-228600" defTabSz="990600" eaLnBrk="0" fontAlgn="base" hangingPunct="0">
              <a:spcBef>
                <a:spcPct val="0"/>
              </a:spcBef>
              <a:spcAft>
                <a:spcPct val="0"/>
              </a:spcAft>
              <a:defRPr sz="2200">
                <a:solidFill>
                  <a:schemeClr val="tx1"/>
                </a:solidFill>
                <a:latin typeface="Arial" panose="020B0604020202020204" pitchFamily="34" charset="0"/>
                <a:cs typeface="Arial" panose="020B0604020202020204" pitchFamily="34" charset="0"/>
              </a:defRPr>
            </a:lvl8pPr>
            <a:lvl9pPr marL="3886200" indent="-228600" defTabSz="990600" eaLnBrk="0" fontAlgn="base" hangingPunct="0">
              <a:spcBef>
                <a:spcPct val="0"/>
              </a:spcBef>
              <a:spcAft>
                <a:spcPct val="0"/>
              </a:spcAft>
              <a:defRPr sz="2200">
                <a:solidFill>
                  <a:schemeClr val="tx1"/>
                </a:solidFill>
                <a:latin typeface="Arial" panose="020B0604020202020204" pitchFamily="34" charset="0"/>
                <a:cs typeface="Arial" panose="020B0604020202020204" pitchFamily="34" charset="0"/>
              </a:defRPr>
            </a:lvl9pPr>
          </a:lstStyle>
          <a:p>
            <a:fld id="{BA21E59A-DBEE-43B3-BE2F-C3319FBFFC0C}" type="datetime2">
              <a:rPr lang="en-US" altLang="en-US" sz="1300" smtClean="0"/>
              <a:pPr/>
              <a:t>Friday, September 5, 2025</a:t>
            </a:fld>
            <a:endParaRPr lang="en-US" altLang="en-US"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47EC-79BE-4418-A9A0-139BD3118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6372B0-43C0-4CAE-B58C-76D1DCA43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623709-B0F7-485E-A14D-7FA7DD2DE7D3}"/>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5" name="Footer Placeholder 4">
            <a:extLst>
              <a:ext uri="{FF2B5EF4-FFF2-40B4-BE49-F238E27FC236}">
                <a16:creationId xmlns:a16="http://schemas.microsoft.com/office/drawing/2014/main" id="{272BA470-F93D-41C4-B946-B4F4DE22B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7D0C7-2B39-4EDC-BC0D-049D579B127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64597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8BE5D-180B-4988-A991-012051D66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0DDBC-21C7-49A9-8668-988224135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ED9AC5-03C3-497D-8C69-DFC497B4EA57}"/>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5" name="Footer Placeholder 4">
            <a:extLst>
              <a:ext uri="{FF2B5EF4-FFF2-40B4-BE49-F238E27FC236}">
                <a16:creationId xmlns:a16="http://schemas.microsoft.com/office/drawing/2014/main" id="{241847F8-7C3D-4B7B-88F1-721E2DB5B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E0D2B-BC2D-4EF7-87F2-A98BC4F94301}"/>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4701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3E55-AE0D-4BC9-A185-A8BA1365E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78092A-D248-4F67-9198-A721200A7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31DFC0-4CF4-4047-9C95-B6ADC2AB529D}"/>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5" name="Footer Placeholder 4">
            <a:extLst>
              <a:ext uri="{FF2B5EF4-FFF2-40B4-BE49-F238E27FC236}">
                <a16:creationId xmlns:a16="http://schemas.microsoft.com/office/drawing/2014/main" id="{54FEF40D-6A47-4FF2-9BAD-31586E6FB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F30A1-E439-46BF-88C1-9FB7123D254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38785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CBD9-A0AF-406D-B0AE-2D5E21A7D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81BD2-62EF-4138-9E84-C760E18F7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786715-E895-49DF-856E-C8BB191570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86FC06-4674-410F-B306-9B19258AE0C7}"/>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6" name="Footer Placeholder 5">
            <a:extLst>
              <a:ext uri="{FF2B5EF4-FFF2-40B4-BE49-F238E27FC236}">
                <a16:creationId xmlns:a16="http://schemas.microsoft.com/office/drawing/2014/main" id="{DD38CD9F-C9ED-42F3-AA5D-1AC66C32A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4BD4F4-9458-4611-9E95-F425861AA4C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35534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8232-37CA-4FBA-8267-CEF1DBEE19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6C4CCE-BDF4-4877-B66C-A143E4938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CC5BD8-FBDD-490E-8A69-DF27ECFFB7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EA564-3112-455E-BE0A-8F46CC1C8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B119A-78C4-442D-B4B7-EAF59F140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9CF93-0DBB-4FF7-8EBF-E144A77DCEE3}"/>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8" name="Footer Placeholder 7">
            <a:extLst>
              <a:ext uri="{FF2B5EF4-FFF2-40B4-BE49-F238E27FC236}">
                <a16:creationId xmlns:a16="http://schemas.microsoft.com/office/drawing/2014/main" id="{20B13545-7BD6-4D37-86DC-CFFBC585E0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313F5C-A906-46DD-82B8-3AE88C71567A}"/>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788152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45FF-5A7B-475C-882B-D41CD9769C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67D389-7267-414F-B5E4-D7D6672AAD96}"/>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4" name="Footer Placeholder 3">
            <a:extLst>
              <a:ext uri="{FF2B5EF4-FFF2-40B4-BE49-F238E27FC236}">
                <a16:creationId xmlns:a16="http://schemas.microsoft.com/office/drawing/2014/main" id="{8789291F-8CEC-4C07-AE6F-C452ADDFA1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AFB8CF-A5C3-451B-83EB-716001BC5733}"/>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90992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679A4-7B1F-4762-ABBE-414A34BB08F1}"/>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3" name="Footer Placeholder 2">
            <a:extLst>
              <a:ext uri="{FF2B5EF4-FFF2-40B4-BE49-F238E27FC236}">
                <a16:creationId xmlns:a16="http://schemas.microsoft.com/office/drawing/2014/main" id="{94AFA26C-A11D-4C91-AA29-29203E8E3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88ACD4-E37A-4392-B7A4-814A52DCD97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414692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A23E-0EDC-4BDA-8736-D62CFCF41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541926-B521-457A-9E9B-68C0A47DE6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557F50-2B45-4FA0-8D86-1CB309281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A6E42-0AF7-4341-8DB3-2402107BF1E7}"/>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6" name="Footer Placeholder 5">
            <a:extLst>
              <a:ext uri="{FF2B5EF4-FFF2-40B4-BE49-F238E27FC236}">
                <a16:creationId xmlns:a16="http://schemas.microsoft.com/office/drawing/2014/main" id="{D09ACB2E-7A92-4BD5-ABE6-A6EC382C99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C9B64-977C-4277-AEC0-4F1E199E7E0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181281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1972-4E44-477A-B552-644400898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81B900-76CA-4E1D-B7F4-55B7298CD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5F5480-9816-45A0-9371-47FF8C522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02A00-1E1E-4BA9-B0D8-44208A9067CE}"/>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6" name="Footer Placeholder 5">
            <a:extLst>
              <a:ext uri="{FF2B5EF4-FFF2-40B4-BE49-F238E27FC236}">
                <a16:creationId xmlns:a16="http://schemas.microsoft.com/office/drawing/2014/main" id="{04A20E30-FAF4-453B-BC8B-D93C5FCB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0A56B-4461-4BE9-B576-8112D3C134FD}"/>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553259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9A17-6365-4003-8F46-650B00880D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9DF9D-F4EB-4978-A89D-AD16B55D5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30709-80C9-4162-983A-F9C2BDF3EDF0}"/>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5" name="Footer Placeholder 4">
            <a:extLst>
              <a:ext uri="{FF2B5EF4-FFF2-40B4-BE49-F238E27FC236}">
                <a16:creationId xmlns:a16="http://schemas.microsoft.com/office/drawing/2014/main" id="{29495828-C20A-4D83-8ACD-85C081ED1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19DB0-44EC-4480-9720-AB80DE4705EF}"/>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21178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8B18D-3BA9-456C-8C9C-861E54301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298729-4EAD-4FE1-B22D-990078A20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89957-7105-4955-974A-E9C1EDCB146F}"/>
              </a:ext>
            </a:extLst>
          </p:cNvPr>
          <p:cNvSpPr>
            <a:spLocks noGrp="1"/>
          </p:cNvSpPr>
          <p:nvPr>
            <p:ph type="dt" sz="half" idx="10"/>
          </p:nvPr>
        </p:nvSpPr>
        <p:spPr/>
        <p:txBody>
          <a:bodyPr/>
          <a:lstStyle/>
          <a:p>
            <a:fld id="{BFF173C1-2F5E-4A02-9636-4A8EA7DDCA41}" type="datetimeFigureOut">
              <a:rPr lang="en-US" smtClean="0"/>
              <a:t>9/5/2025</a:t>
            </a:fld>
            <a:endParaRPr lang="en-US"/>
          </a:p>
        </p:txBody>
      </p:sp>
      <p:sp>
        <p:nvSpPr>
          <p:cNvPr id="5" name="Footer Placeholder 4">
            <a:extLst>
              <a:ext uri="{FF2B5EF4-FFF2-40B4-BE49-F238E27FC236}">
                <a16:creationId xmlns:a16="http://schemas.microsoft.com/office/drawing/2014/main" id="{665373BB-E5C3-4FE4-A464-6ED93F48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F2E1F-845D-477A-96FD-5250B1C177E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329548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2AAFA-F146-4065-A19D-BEABBC356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64567-D102-4B21-A1A4-D69B16687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17A7D-F3B5-4936-8933-547EBACD3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173C1-2F5E-4A02-9636-4A8EA7DDCA41}" type="datetimeFigureOut">
              <a:rPr lang="en-US" smtClean="0"/>
              <a:t>9/5/2025</a:t>
            </a:fld>
            <a:endParaRPr lang="en-US"/>
          </a:p>
        </p:txBody>
      </p:sp>
      <p:sp>
        <p:nvSpPr>
          <p:cNvPr id="5" name="Footer Placeholder 4">
            <a:extLst>
              <a:ext uri="{FF2B5EF4-FFF2-40B4-BE49-F238E27FC236}">
                <a16:creationId xmlns:a16="http://schemas.microsoft.com/office/drawing/2014/main" id="{372F0130-AD76-4B24-9237-5AF8ED67B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767A22-F168-4F07-A116-E2D77AED8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6207E-3B12-4681-9E12-034CB6A7BDCC}" type="slidenum">
              <a:rPr lang="en-US" smtClean="0"/>
              <a:t>‹#›</a:t>
            </a:fld>
            <a:endParaRPr lang="en-US"/>
          </a:p>
        </p:txBody>
      </p:sp>
    </p:spTree>
    <p:extLst>
      <p:ext uri="{BB962C8B-B14F-4D97-AF65-F5344CB8AC3E}">
        <p14:creationId xmlns:p14="http://schemas.microsoft.com/office/powerpoint/2010/main" val="258210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bbasjaved@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itb.gov.pk/"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gmbEX7zDzog"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009-667F-4F97-8974-6E0CB68BADE8}"/>
              </a:ext>
            </a:extLst>
          </p:cNvPr>
          <p:cNvSpPr>
            <a:spLocks noGrp="1"/>
          </p:cNvSpPr>
          <p:nvPr>
            <p:ph type="ctrTitle"/>
          </p:nvPr>
        </p:nvSpPr>
        <p:spPr/>
        <p:txBody>
          <a:bodyPr/>
          <a:lstStyle/>
          <a:p>
            <a:r>
              <a:rPr lang="en-US" dirty="0"/>
              <a:t>CPE 445-Internet of Things</a:t>
            </a:r>
          </a:p>
        </p:txBody>
      </p:sp>
      <p:sp>
        <p:nvSpPr>
          <p:cNvPr id="3" name="Subtitle 2">
            <a:extLst>
              <a:ext uri="{FF2B5EF4-FFF2-40B4-BE49-F238E27FC236}">
                <a16:creationId xmlns:a16="http://schemas.microsoft.com/office/drawing/2014/main" id="{E6E45546-75B8-4229-9A3B-FD201B44EBED}"/>
              </a:ext>
            </a:extLst>
          </p:cNvPr>
          <p:cNvSpPr>
            <a:spLocks noGrp="1"/>
          </p:cNvSpPr>
          <p:nvPr>
            <p:ph type="subTitle" idx="1"/>
          </p:nvPr>
        </p:nvSpPr>
        <p:spPr/>
        <p:txBody>
          <a:bodyPr>
            <a:normAutofit fontScale="77500" lnSpcReduction="20000"/>
          </a:bodyPr>
          <a:lstStyle/>
          <a:p>
            <a:r>
              <a:rPr lang="en-US" dirty="0"/>
              <a:t>Dr. Abbas </a:t>
            </a:r>
            <a:r>
              <a:rPr lang="en-US" dirty="0" err="1"/>
              <a:t>Javed</a:t>
            </a:r>
            <a:endParaRPr lang="en-US" dirty="0"/>
          </a:p>
          <a:p>
            <a:r>
              <a:rPr lang="en-US" dirty="0"/>
              <a:t>Assistant Professor</a:t>
            </a:r>
          </a:p>
          <a:p>
            <a:r>
              <a:rPr lang="en-US" dirty="0"/>
              <a:t>Department </a:t>
            </a:r>
            <a:r>
              <a:rPr lang="en-US"/>
              <a:t>of Computer </a:t>
            </a:r>
            <a:r>
              <a:rPr lang="en-US" dirty="0"/>
              <a:t>Engineering, </a:t>
            </a:r>
          </a:p>
          <a:p>
            <a:r>
              <a:rPr lang="en-US" dirty="0"/>
              <a:t>COMSATS University Islamabad, Lahore Campus</a:t>
            </a:r>
          </a:p>
          <a:p>
            <a:r>
              <a:rPr lang="en-US" dirty="0">
                <a:hlinkClick r:id="rId2"/>
              </a:rPr>
              <a:t>abbasjaved@cuilahore.edu.pk</a:t>
            </a:r>
            <a:endParaRPr lang="en-US" dirty="0"/>
          </a:p>
          <a:p>
            <a:endParaRPr lang="en-US" dirty="0"/>
          </a:p>
        </p:txBody>
      </p:sp>
    </p:spTree>
    <p:extLst>
      <p:ext uri="{BB962C8B-B14F-4D97-AF65-F5344CB8AC3E}">
        <p14:creationId xmlns:p14="http://schemas.microsoft.com/office/powerpoint/2010/main" val="707307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A1D6F0D0-CDF7-8AC2-4CBF-43854416E8E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789CF5E-91FF-44C1-906B-3121EAEA0AE5}" type="slidenum">
              <a:rPr lang="en-US" altLang="en-US" sz="1200">
                <a:latin typeface="Garamond" panose="02020404030301010803" pitchFamily="18" charset="0"/>
              </a:rPr>
              <a:pPr>
                <a:spcBef>
                  <a:spcPct val="0"/>
                </a:spcBef>
                <a:buClrTx/>
                <a:buSzTx/>
                <a:buFontTx/>
                <a:buNone/>
              </a:pPr>
              <a:t>2</a:t>
            </a:fld>
            <a:endParaRPr lang="en-US" altLang="en-US" sz="1200">
              <a:latin typeface="Garamond" panose="02020404030301010803" pitchFamily="18" charset="0"/>
            </a:endParaRPr>
          </a:p>
        </p:txBody>
      </p:sp>
      <p:sp>
        <p:nvSpPr>
          <p:cNvPr id="7171" name="Rectangle 2">
            <a:extLst>
              <a:ext uri="{FF2B5EF4-FFF2-40B4-BE49-F238E27FC236}">
                <a16:creationId xmlns:a16="http://schemas.microsoft.com/office/drawing/2014/main" id="{DD3FFF8B-0B2E-315B-6548-C211B7295A90}"/>
              </a:ext>
            </a:extLst>
          </p:cNvPr>
          <p:cNvSpPr>
            <a:spLocks noGrp="1" noChangeArrowheads="1"/>
          </p:cNvSpPr>
          <p:nvPr>
            <p:ph type="title"/>
          </p:nvPr>
        </p:nvSpPr>
        <p:spPr>
          <a:xfrm>
            <a:off x="1992313" y="260351"/>
            <a:ext cx="8229600" cy="1139825"/>
          </a:xfrm>
        </p:spPr>
        <p:txBody>
          <a:bodyPr/>
          <a:lstStyle/>
          <a:p>
            <a:pPr eaLnBrk="1" hangingPunct="1"/>
            <a:r>
              <a:rPr lang="en-US" altLang="en-US"/>
              <a:t>About the Instructor</a:t>
            </a:r>
          </a:p>
        </p:txBody>
      </p:sp>
      <p:sp>
        <p:nvSpPr>
          <p:cNvPr id="6148" name="Rectangle 3">
            <a:extLst>
              <a:ext uri="{FF2B5EF4-FFF2-40B4-BE49-F238E27FC236}">
                <a16:creationId xmlns:a16="http://schemas.microsoft.com/office/drawing/2014/main" id="{FA9E80E5-D85C-408D-9D95-D33EAB3DC731}"/>
              </a:ext>
            </a:extLst>
          </p:cNvPr>
          <p:cNvSpPr>
            <a:spLocks noGrp="1" noChangeArrowheads="1"/>
          </p:cNvSpPr>
          <p:nvPr>
            <p:ph type="body" idx="1"/>
          </p:nvPr>
        </p:nvSpPr>
        <p:spPr/>
        <p:txBody>
          <a:bodyPr/>
          <a:lstStyle/>
          <a:p>
            <a:pPr marL="0" indent="0">
              <a:lnSpc>
                <a:spcPct val="80000"/>
              </a:lnSpc>
              <a:buNone/>
              <a:defRPr/>
            </a:pPr>
            <a:endParaRPr lang="en-US" altLang="en-US" sz="1800" dirty="0"/>
          </a:p>
          <a:p>
            <a:pPr eaLnBrk="1" hangingPunct="1">
              <a:lnSpc>
                <a:spcPct val="80000"/>
              </a:lnSpc>
              <a:defRPr/>
            </a:pPr>
            <a:r>
              <a:rPr lang="en-US" altLang="en-US" sz="2000" dirty="0"/>
              <a:t>Post Doc, LPWAN, 2017</a:t>
            </a:r>
          </a:p>
          <a:p>
            <a:pPr lvl="1" eaLnBrk="1" hangingPunct="1">
              <a:lnSpc>
                <a:spcPct val="80000"/>
              </a:lnSpc>
              <a:buClr>
                <a:srgbClr val="3B812F"/>
              </a:buClr>
              <a:defRPr/>
            </a:pPr>
            <a:r>
              <a:rPr lang="en-US" altLang="en-US" sz="1800" dirty="0">
                <a:solidFill>
                  <a:srgbClr val="000000"/>
                </a:solidFill>
              </a:rPr>
              <a:t>Glasgow Caledonian University, UK.</a:t>
            </a:r>
          </a:p>
          <a:p>
            <a:pPr marL="0" indent="0">
              <a:lnSpc>
                <a:spcPct val="80000"/>
              </a:lnSpc>
              <a:buNone/>
              <a:defRPr/>
            </a:pPr>
            <a:endParaRPr lang="en-US" altLang="en-US" sz="2000" dirty="0"/>
          </a:p>
          <a:p>
            <a:pPr eaLnBrk="1" hangingPunct="1">
              <a:lnSpc>
                <a:spcPct val="80000"/>
              </a:lnSpc>
              <a:defRPr/>
            </a:pPr>
            <a:r>
              <a:rPr lang="en-US" altLang="en-US" sz="2000" dirty="0" err="1"/>
              <a:t>PhD,IoT</a:t>
            </a:r>
            <a:r>
              <a:rPr lang="en-US" altLang="en-US" sz="2000" dirty="0"/>
              <a:t>, 2016</a:t>
            </a:r>
          </a:p>
          <a:p>
            <a:pPr lvl="1" eaLnBrk="1" hangingPunct="1">
              <a:lnSpc>
                <a:spcPct val="80000"/>
              </a:lnSpc>
              <a:defRPr/>
            </a:pPr>
            <a:r>
              <a:rPr lang="en-US" altLang="en-US" sz="1800" dirty="0"/>
              <a:t>Glasgow Caledonian University, UK.</a:t>
            </a:r>
          </a:p>
          <a:p>
            <a:pPr eaLnBrk="1" hangingPunct="1">
              <a:lnSpc>
                <a:spcPct val="80000"/>
              </a:lnSpc>
              <a:defRPr/>
            </a:pPr>
            <a:endParaRPr lang="en-US" altLang="en-US" sz="2000" dirty="0"/>
          </a:p>
          <a:p>
            <a:pPr eaLnBrk="1" hangingPunct="1">
              <a:lnSpc>
                <a:spcPct val="80000"/>
              </a:lnSpc>
              <a:defRPr/>
            </a:pPr>
            <a:r>
              <a:rPr lang="en-US" altLang="en-US" sz="2000" dirty="0"/>
              <a:t>MSc Control Systems, 2008</a:t>
            </a:r>
          </a:p>
          <a:p>
            <a:pPr lvl="1" eaLnBrk="1" hangingPunct="1">
              <a:lnSpc>
                <a:spcPct val="80000"/>
              </a:lnSpc>
              <a:defRPr/>
            </a:pPr>
            <a:r>
              <a:rPr lang="en-US" altLang="en-US" sz="1800" dirty="0"/>
              <a:t>University of Sheffield, UK.</a:t>
            </a:r>
          </a:p>
          <a:p>
            <a:pPr eaLnBrk="1" hangingPunct="1">
              <a:lnSpc>
                <a:spcPct val="80000"/>
              </a:lnSpc>
              <a:defRPr/>
            </a:pPr>
            <a:endParaRPr lang="en-US" altLang="en-US" sz="1800" dirty="0"/>
          </a:p>
          <a:p>
            <a:pPr eaLnBrk="1" hangingPunct="1">
              <a:lnSpc>
                <a:spcPct val="80000"/>
              </a:lnSpc>
              <a:defRPr/>
            </a:pPr>
            <a:r>
              <a:rPr lang="en-US" altLang="en-US" sz="2000" dirty="0"/>
              <a:t>BSc, Computer Engineering, 2006</a:t>
            </a:r>
          </a:p>
          <a:p>
            <a:pPr lvl="1" eaLnBrk="1" hangingPunct="1">
              <a:lnSpc>
                <a:spcPct val="80000"/>
              </a:lnSpc>
              <a:defRPr/>
            </a:pPr>
            <a:r>
              <a:rPr lang="en-US" altLang="en-US" sz="1800" dirty="0"/>
              <a:t>COMSATS IIT, Lahore, Pakistan.</a:t>
            </a:r>
          </a:p>
          <a:p>
            <a:pPr eaLnBrk="1" hangingPunct="1">
              <a:lnSpc>
                <a:spcPct val="80000"/>
              </a:lnSpc>
              <a:defRPr/>
            </a:pPr>
            <a:endParaRPr lang="en-US" altLang="en-US" sz="1800" dirty="0"/>
          </a:p>
          <a:p>
            <a:pPr eaLnBrk="1" hangingPunct="1">
              <a:lnSpc>
                <a:spcPct val="80000"/>
              </a:lnSpc>
              <a:defRPr/>
            </a:pPr>
            <a:endParaRPr lang="en-US" altLang="en-US" sz="2100" dirty="0"/>
          </a:p>
        </p:txBody>
      </p:sp>
      <p:sp>
        <p:nvSpPr>
          <p:cNvPr id="2" name="Date Placeholder 1">
            <a:extLst>
              <a:ext uri="{FF2B5EF4-FFF2-40B4-BE49-F238E27FC236}">
                <a16:creationId xmlns:a16="http://schemas.microsoft.com/office/drawing/2014/main" id="{FA18D711-F9F1-43FA-BFFC-256C04281277}"/>
              </a:ext>
            </a:extLst>
          </p:cNvPr>
          <p:cNvSpPr>
            <a:spLocks noGrp="1"/>
          </p:cNvSpPr>
          <p:nvPr>
            <p:ph type="dt" sz="quarter" idx="10"/>
          </p:nvPr>
        </p:nvSpPr>
        <p:spPr/>
        <p:txBody>
          <a:bodyPr/>
          <a:lstStyle/>
          <a:p>
            <a:pPr>
              <a:defRPr/>
            </a:pPr>
            <a:fld id="{88921DF4-0BF5-4CC0-918D-14EC665ADA9A}" type="datetime2">
              <a:rPr lang="en-US" altLang="en-US"/>
              <a:pPr>
                <a:defRPr/>
              </a:pPr>
              <a:t>Friday, September 5, 2025</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77FEB-E6DA-316C-8729-D5878BF1A280}"/>
              </a:ext>
            </a:extLst>
          </p:cNvPr>
          <p:cNvSpPr>
            <a:spLocks noGrp="1"/>
          </p:cNvSpPr>
          <p:nvPr>
            <p:ph idx="1"/>
          </p:nvPr>
        </p:nvSpPr>
        <p:spPr>
          <a:xfrm>
            <a:off x="838200" y="805912"/>
            <a:ext cx="10515600" cy="5665519"/>
          </a:xfrm>
        </p:spPr>
        <p:txBody>
          <a:bodyPr>
            <a:normAutofit fontScale="62500" lnSpcReduction="20000"/>
          </a:bodyPr>
          <a:lstStyle/>
          <a:p>
            <a:pPr marL="0" indent="0">
              <a:buNone/>
            </a:pPr>
            <a:r>
              <a:rPr lang="en-US" b="1" dirty="0">
                <a:latin typeface="Times New Roman" panose="02020603050405020304" pitchFamily="18" charset="0"/>
                <a:cs typeface="Times New Roman" panose="02020603050405020304" pitchFamily="18" charset="0"/>
              </a:rPr>
              <a:t>Motivation: </a:t>
            </a:r>
          </a:p>
          <a:p>
            <a:pPr marL="0" indent="0">
              <a:buNone/>
            </a:pPr>
            <a:r>
              <a:rPr lang="en-US" dirty="0">
                <a:latin typeface="Times New Roman" panose="02020603050405020304" pitchFamily="18" charset="0"/>
                <a:cs typeface="Times New Roman" panose="02020603050405020304" pitchFamily="18" charset="0"/>
              </a:rPr>
              <a:t>Company: Punjab Information Technology Board, Govt. of Punjab Website: </a:t>
            </a:r>
            <a:r>
              <a:rPr lang="en-US" dirty="0">
                <a:latin typeface="Times New Roman" panose="02020603050405020304" pitchFamily="18" charset="0"/>
                <a:cs typeface="Times New Roman" panose="02020603050405020304" pitchFamily="18" charset="0"/>
                <a:hlinkClick r:id="rId2"/>
              </a:rPr>
              <a:t>https://pitb.gov.pk/</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Typical Day at Work:</a:t>
            </a:r>
          </a:p>
          <a:p>
            <a:r>
              <a:rPr lang="en-US" dirty="0">
                <a:latin typeface="Times New Roman" panose="02020603050405020304" pitchFamily="18" charset="0"/>
                <a:cs typeface="Times New Roman" panose="02020603050405020304" pitchFamily="18" charset="0"/>
              </a:rPr>
              <a:t>Identifying potential problems in government and private sectors.</a:t>
            </a:r>
          </a:p>
          <a:p>
            <a:r>
              <a:rPr lang="en-US" dirty="0">
                <a:latin typeface="Times New Roman" panose="02020603050405020304" pitchFamily="18" charset="0"/>
                <a:cs typeface="Times New Roman" panose="02020603050405020304" pitchFamily="18" charset="0"/>
              </a:rPr>
              <a:t>Suggesting a viable solution based on latest tech implementation in embedded, electronics and circuit design (Arduino, Raspberry Pi, Adafruit, TI, Hard kernel </a:t>
            </a:r>
            <a:r>
              <a:rPr lang="en-US" dirty="0" err="1">
                <a:latin typeface="Times New Roman" panose="02020603050405020304" pitchFamily="18" charset="0"/>
                <a:cs typeface="Times New Roman" panose="02020603050405020304" pitchFamily="18" charset="0"/>
              </a:rPr>
              <a:t>Odroid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Integration of different sensor and modules with controllers.</a:t>
            </a:r>
          </a:p>
          <a:p>
            <a:r>
              <a:rPr lang="en-US" dirty="0">
                <a:latin typeface="Times New Roman" panose="02020603050405020304" pitchFamily="18" charset="0"/>
                <a:cs typeface="Times New Roman" panose="02020603050405020304" pitchFamily="18" charset="0"/>
              </a:rPr>
              <a:t>Implementation of pre-trained AI/ML Model, preferably in Computer Vision.</a:t>
            </a:r>
          </a:p>
          <a:p>
            <a:r>
              <a:rPr lang="en-US" dirty="0">
                <a:latin typeface="Times New Roman" panose="02020603050405020304" pitchFamily="18" charset="0"/>
                <a:cs typeface="Times New Roman" panose="02020603050405020304" pitchFamily="18" charset="0"/>
              </a:rPr>
              <a:t>Debugging and testing of electronic circuits and mechanical systems</a:t>
            </a:r>
          </a:p>
          <a:p>
            <a:r>
              <a:rPr lang="en-US" dirty="0">
                <a:latin typeface="Times New Roman" panose="02020603050405020304" pitchFamily="18" charset="0"/>
                <a:cs typeface="Times New Roman" panose="02020603050405020304" pitchFamily="18" charset="0"/>
              </a:rPr>
              <a:t>Continuous improvement of deployed systems (turnstiles, RFID Access System etc.)</a:t>
            </a:r>
          </a:p>
          <a:p>
            <a:pPr marL="0" indent="0">
              <a:buNone/>
            </a:pPr>
            <a:r>
              <a:rPr lang="en-US" dirty="0">
                <a:latin typeface="Times New Roman" panose="02020603050405020304" pitchFamily="18" charset="0"/>
                <a:cs typeface="Times New Roman" panose="02020603050405020304" pitchFamily="18" charset="0"/>
              </a:rPr>
              <a:t>You are required to have:</a:t>
            </a:r>
          </a:p>
          <a:p>
            <a:r>
              <a:rPr lang="en-US" dirty="0">
                <a:latin typeface="Times New Roman" panose="02020603050405020304" pitchFamily="18" charset="0"/>
                <a:cs typeface="Times New Roman" panose="02020603050405020304" pitchFamily="18" charset="0"/>
              </a:rPr>
              <a:t>Understanding Datasheets and Specs details.</a:t>
            </a:r>
          </a:p>
          <a:p>
            <a:r>
              <a:rPr lang="en-US" dirty="0">
                <a:latin typeface="Times New Roman" panose="02020603050405020304" pitchFamily="18" charset="0"/>
                <a:cs typeface="Times New Roman" panose="02020603050405020304" pitchFamily="18" charset="0"/>
              </a:rPr>
              <a:t>Knowledge of communication protocols in embedded system (I2C, SPI, UART, Wiegand, USB)</a:t>
            </a:r>
          </a:p>
          <a:p>
            <a:r>
              <a:rPr lang="en-US" dirty="0">
                <a:latin typeface="Times New Roman" panose="02020603050405020304" pitchFamily="18" charset="0"/>
                <a:cs typeface="Times New Roman" panose="02020603050405020304" pitchFamily="18" charset="0"/>
              </a:rPr>
              <a:t>Knowledge of working principle of RF communication (LoRa, NFC, RFID, BLE, Nb-IoT)</a:t>
            </a:r>
          </a:p>
          <a:p>
            <a:r>
              <a:rPr lang="en-US" dirty="0">
                <a:latin typeface="Times New Roman" panose="02020603050405020304" pitchFamily="18" charset="0"/>
                <a:cs typeface="Times New Roman" panose="02020603050405020304" pitchFamily="18" charset="0"/>
              </a:rPr>
              <a:t>Preparing prototypes for pilot project as a proof of concept.•	Grasp on Data structure, algorithm and basics of C++/C#/Python.</a:t>
            </a:r>
          </a:p>
          <a:p>
            <a:r>
              <a:rPr lang="en-US" dirty="0">
                <a:latin typeface="Times New Roman" panose="02020603050405020304" pitchFamily="18" charset="0"/>
                <a:cs typeface="Times New Roman" panose="02020603050405020304" pitchFamily="18" charset="0"/>
              </a:rPr>
              <a:t>Hands-on experience of implementing and configuring hardware based solution (CCTV, Access Control, Parking)</a:t>
            </a:r>
          </a:p>
        </p:txBody>
      </p:sp>
    </p:spTree>
    <p:extLst>
      <p:ext uri="{BB962C8B-B14F-4D97-AF65-F5344CB8AC3E}">
        <p14:creationId xmlns:p14="http://schemas.microsoft.com/office/powerpoint/2010/main" val="561410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298-78F5-4772-881E-6109FEE2542C}"/>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9360546-8625-4595-BE63-40A9E5922F3A}"/>
              </a:ext>
            </a:extLst>
          </p:cNvPr>
          <p:cNvSpPr>
            <a:spLocks noGrp="1"/>
          </p:cNvSpPr>
          <p:nvPr>
            <p:ph idx="1"/>
          </p:nvPr>
        </p:nvSpPr>
        <p:spPr>
          <a:xfrm>
            <a:off x="838200" y="1430594"/>
            <a:ext cx="10515600" cy="4746369"/>
          </a:xfrm>
        </p:spPr>
        <p:txBody>
          <a:bodyPr>
            <a:normAutofit lnSpcReduction="10000"/>
          </a:bodyPr>
          <a:lstStyle/>
          <a:p>
            <a:r>
              <a:rPr lang="en-US" dirty="0"/>
              <a:t>Genesis of IoT: This section highlights IoT’s place in the evolution and development of the Internet.</a:t>
            </a:r>
          </a:p>
          <a:p>
            <a:r>
              <a:rPr lang="en-US" dirty="0"/>
              <a:t> IoT and Digitization: This section details the differences between IoT and digitization and defines a framework for better understanding their relationship.</a:t>
            </a:r>
          </a:p>
          <a:p>
            <a:r>
              <a:rPr lang="en-US" dirty="0"/>
              <a:t>IoT Impact: This section shares a few high-level scenarios and examples to demonstrate the influence IoT will have on our world.</a:t>
            </a:r>
          </a:p>
          <a:p>
            <a:r>
              <a:rPr lang="en-US" dirty="0"/>
              <a:t>Convergence of IT and OT: This section explores how IoT is bringing together information technology (IT) and operational technology (OT).</a:t>
            </a:r>
          </a:p>
          <a:p>
            <a:r>
              <a:rPr lang="en-US" dirty="0"/>
              <a:t> IoT Challenges: This section provides a brief overview of the difficulties involved in transitioning to an IoT-enabled world.</a:t>
            </a:r>
          </a:p>
        </p:txBody>
      </p:sp>
    </p:spTree>
    <p:extLst>
      <p:ext uri="{BB962C8B-B14F-4D97-AF65-F5344CB8AC3E}">
        <p14:creationId xmlns:p14="http://schemas.microsoft.com/office/powerpoint/2010/main" val="3803933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810C4-086F-41EA-8EA1-4D0C6ADB20B4}"/>
              </a:ext>
            </a:extLst>
          </p:cNvPr>
          <p:cNvSpPr>
            <a:spLocks noGrp="1"/>
          </p:cNvSpPr>
          <p:nvPr>
            <p:ph type="title"/>
          </p:nvPr>
        </p:nvSpPr>
        <p:spPr/>
        <p:txBody>
          <a:bodyPr/>
          <a:lstStyle/>
          <a:p>
            <a:r>
              <a:rPr lang="en-US" dirty="0"/>
              <a:t>What is IoT?</a:t>
            </a:r>
          </a:p>
        </p:txBody>
      </p:sp>
      <p:sp>
        <p:nvSpPr>
          <p:cNvPr id="3" name="Content Placeholder 2">
            <a:extLst>
              <a:ext uri="{FF2B5EF4-FFF2-40B4-BE49-F238E27FC236}">
                <a16:creationId xmlns:a16="http://schemas.microsoft.com/office/drawing/2014/main" id="{9D55F9B1-DC25-4DE7-A3F2-1570C6DE2847}"/>
              </a:ext>
            </a:extLst>
          </p:cNvPr>
          <p:cNvSpPr>
            <a:spLocks noGrp="1"/>
          </p:cNvSpPr>
          <p:nvPr>
            <p:ph idx="1"/>
          </p:nvPr>
        </p:nvSpPr>
        <p:spPr>
          <a:xfrm>
            <a:off x="838200" y="2262353"/>
            <a:ext cx="10515600" cy="4351338"/>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A phenomenon which connects a variety of things</a:t>
            </a:r>
          </a:p>
          <a:p>
            <a:pPr marL="0" indent="0">
              <a:buNone/>
            </a:pPr>
            <a:r>
              <a:rPr lang="en-US" dirty="0"/>
              <a:t>–  Everything that has the ability to communicate</a:t>
            </a:r>
          </a:p>
          <a:p>
            <a:pPr marL="0" indent="0">
              <a:buNone/>
            </a:pPr>
            <a:endParaRPr lang="en-US" dirty="0"/>
          </a:p>
        </p:txBody>
      </p:sp>
      <p:grpSp>
        <p:nvGrpSpPr>
          <p:cNvPr id="7" name="Group 6">
            <a:extLst>
              <a:ext uri="{FF2B5EF4-FFF2-40B4-BE49-F238E27FC236}">
                <a16:creationId xmlns:a16="http://schemas.microsoft.com/office/drawing/2014/main" id="{09CCD738-A519-4A0B-8318-DF2D78751350}"/>
              </a:ext>
            </a:extLst>
          </p:cNvPr>
          <p:cNvGrpSpPr>
            <a:grpSpLocks/>
          </p:cNvGrpSpPr>
          <p:nvPr/>
        </p:nvGrpSpPr>
        <p:grpSpPr bwMode="auto">
          <a:xfrm>
            <a:off x="3125450" y="1416883"/>
            <a:ext cx="6441631" cy="3856062"/>
            <a:chOff x="2458" y="1342"/>
            <a:chExt cx="7271" cy="5277"/>
          </a:xfrm>
        </p:grpSpPr>
        <p:pic>
          <p:nvPicPr>
            <p:cNvPr id="2055" name="Picture 7">
              <a:extLst>
                <a:ext uri="{FF2B5EF4-FFF2-40B4-BE49-F238E27FC236}">
                  <a16:creationId xmlns:a16="http://schemas.microsoft.com/office/drawing/2014/main" id="{74B67EB9-7DD9-4332-89BF-4AF8C12E2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8" y="1342"/>
              <a:ext cx="7271" cy="5277"/>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9">
            <a:extLst>
              <a:ext uri="{FF2B5EF4-FFF2-40B4-BE49-F238E27FC236}">
                <a16:creationId xmlns:a16="http://schemas.microsoft.com/office/drawing/2014/main" id="{B0B7387B-A628-4FE8-915C-7CD3F7C1D72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7254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EE39-1B0B-44A6-998D-822985EDD1FF}"/>
              </a:ext>
            </a:extLst>
          </p:cNvPr>
          <p:cNvSpPr>
            <a:spLocks noGrp="1"/>
          </p:cNvSpPr>
          <p:nvPr>
            <p:ph type="title"/>
          </p:nvPr>
        </p:nvSpPr>
        <p:spPr/>
        <p:txBody>
          <a:bodyPr/>
          <a:lstStyle/>
          <a:p>
            <a:r>
              <a:rPr lang="en-US" dirty="0"/>
              <a:t>Genesis of IoT</a:t>
            </a:r>
          </a:p>
        </p:txBody>
      </p:sp>
      <p:sp>
        <p:nvSpPr>
          <p:cNvPr id="3" name="Content Placeholder 2">
            <a:extLst>
              <a:ext uri="{FF2B5EF4-FFF2-40B4-BE49-F238E27FC236}">
                <a16:creationId xmlns:a16="http://schemas.microsoft.com/office/drawing/2014/main" id="{FE9C84DC-489F-4C02-A4E9-3AB1D217F701}"/>
              </a:ext>
            </a:extLst>
          </p:cNvPr>
          <p:cNvSpPr>
            <a:spLocks noGrp="1"/>
          </p:cNvSpPr>
          <p:nvPr>
            <p:ph idx="1"/>
          </p:nvPr>
        </p:nvSpPr>
        <p:spPr/>
        <p:txBody>
          <a:bodyPr/>
          <a:lstStyle/>
          <a:p>
            <a:r>
              <a:rPr lang="en-US" dirty="0"/>
              <a:t>Kevin Ashton created the term “Internet of Things” while working for Proctor &amp; Gamble in 1999</a:t>
            </a:r>
          </a:p>
          <a:p>
            <a:r>
              <a:rPr lang="en-US" dirty="0"/>
              <a:t>Age of IoT started between 2008 and 2009</a:t>
            </a:r>
          </a:p>
          <a:p>
            <a:r>
              <a:rPr lang="en-US" dirty="0"/>
              <a:t>The basic premise and goal of IoT is to “connect the unconnected”</a:t>
            </a:r>
          </a:p>
          <a:p>
            <a:r>
              <a:rPr lang="en-US" dirty="0"/>
              <a:t>IoT is a technology transition in which devices will allow us to sense and control the physical world by making objects smarter and connecting them through an intelligent network</a:t>
            </a:r>
          </a:p>
          <a:p>
            <a:r>
              <a:rPr lang="en-US" dirty="0"/>
              <a:t>IoT is broad and multifaceted</a:t>
            </a:r>
          </a:p>
        </p:txBody>
      </p:sp>
    </p:spTree>
    <p:extLst>
      <p:ext uri="{BB962C8B-B14F-4D97-AF65-F5344CB8AC3E}">
        <p14:creationId xmlns:p14="http://schemas.microsoft.com/office/powerpoint/2010/main" val="2494139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E518E-D2CF-4A73-8157-9A86665BEF1E}"/>
              </a:ext>
            </a:extLst>
          </p:cNvPr>
          <p:cNvSpPr>
            <a:spLocks noGrp="1"/>
          </p:cNvSpPr>
          <p:nvPr>
            <p:ph type="title"/>
          </p:nvPr>
        </p:nvSpPr>
        <p:spPr/>
        <p:txBody>
          <a:bodyPr/>
          <a:lstStyle/>
          <a:p>
            <a:r>
              <a:rPr lang="en-US" dirty="0"/>
              <a:t>Evolution of IoT</a:t>
            </a:r>
          </a:p>
        </p:txBody>
      </p:sp>
      <p:pic>
        <p:nvPicPr>
          <p:cNvPr id="7" name="Content Placeholder 6">
            <a:extLst>
              <a:ext uri="{FF2B5EF4-FFF2-40B4-BE49-F238E27FC236}">
                <a16:creationId xmlns:a16="http://schemas.microsoft.com/office/drawing/2014/main" id="{66D4DB6B-FAFC-42DD-853E-21733C1A8A37}"/>
              </a:ext>
            </a:extLst>
          </p:cNvPr>
          <p:cNvPicPr>
            <a:picLocks noGrp="1" noChangeAspect="1"/>
          </p:cNvPicPr>
          <p:nvPr>
            <p:ph idx="1"/>
          </p:nvPr>
        </p:nvPicPr>
        <p:blipFill>
          <a:blip r:embed="rId2"/>
          <a:stretch>
            <a:fillRect/>
          </a:stretch>
        </p:blipFill>
        <p:spPr>
          <a:xfrm>
            <a:off x="1492623" y="1855368"/>
            <a:ext cx="8243047" cy="3631032"/>
          </a:xfrm>
        </p:spPr>
      </p:pic>
    </p:spTree>
    <p:extLst>
      <p:ext uri="{BB962C8B-B14F-4D97-AF65-F5344CB8AC3E}">
        <p14:creationId xmlns:p14="http://schemas.microsoft.com/office/powerpoint/2010/main" val="648699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93E57-3EFA-4736-83E6-A823DBEDEA21}"/>
              </a:ext>
            </a:extLst>
          </p:cNvPr>
          <p:cNvSpPr>
            <a:spLocks noGrp="1"/>
          </p:cNvSpPr>
          <p:nvPr>
            <p:ph type="title"/>
          </p:nvPr>
        </p:nvSpPr>
        <p:spPr/>
        <p:txBody>
          <a:bodyPr/>
          <a:lstStyle/>
          <a:p>
            <a:r>
              <a:rPr lang="en-US" dirty="0"/>
              <a:t> Evolutionary Phases of the Internet</a:t>
            </a:r>
          </a:p>
        </p:txBody>
      </p:sp>
      <p:sp>
        <p:nvSpPr>
          <p:cNvPr id="3" name="Content Placeholder 2">
            <a:extLst>
              <a:ext uri="{FF2B5EF4-FFF2-40B4-BE49-F238E27FC236}">
                <a16:creationId xmlns:a16="http://schemas.microsoft.com/office/drawing/2014/main" id="{96764E4E-64A8-4817-8885-4480DF77F4A4}"/>
              </a:ext>
            </a:extLst>
          </p:cNvPr>
          <p:cNvSpPr>
            <a:spLocks noGrp="1"/>
          </p:cNvSpPr>
          <p:nvPr>
            <p:ph idx="1"/>
          </p:nvPr>
        </p:nvSpPr>
        <p:spPr/>
        <p:txBody>
          <a:bodyPr>
            <a:normAutofit fontScale="92500" lnSpcReduction="10000"/>
          </a:bodyPr>
          <a:lstStyle/>
          <a:p>
            <a:r>
              <a:rPr lang="en-US" b="1" dirty="0"/>
              <a:t>Connectivity (Digitize Access)-</a:t>
            </a:r>
            <a:r>
              <a:rPr lang="en-US" dirty="0"/>
              <a:t>This phase connected people to email, web services, and search so that information is easily accessed</a:t>
            </a:r>
          </a:p>
          <a:p>
            <a:r>
              <a:rPr lang="en-US" b="1" dirty="0"/>
              <a:t>Networked Economy (Digitize business)- </a:t>
            </a:r>
            <a:r>
              <a:rPr lang="en-US" dirty="0"/>
              <a:t>This phase enabled e-commerce and supply chain  enhancements along with collaborative engagement to drive increased efficiency in business processes</a:t>
            </a:r>
          </a:p>
          <a:p>
            <a:r>
              <a:rPr lang="en-US" b="1" dirty="0"/>
              <a:t>Immersive Experiences (Digitize interactions)- </a:t>
            </a:r>
            <a:r>
              <a:rPr lang="en-US" dirty="0"/>
              <a:t>This phase extended the Internet experience to encompass widespread video and social media while always being  connected through mobility. More and more applications are moved into the cloud</a:t>
            </a:r>
          </a:p>
          <a:p>
            <a:r>
              <a:rPr lang="en-US" b="1" dirty="0"/>
              <a:t>Internet of Things (Digitize the world)- </a:t>
            </a:r>
            <a:r>
              <a:rPr lang="en-US" dirty="0"/>
              <a:t>This phase is adding connectivity to objects and machines in the world around us to enable new services and experiences. It is connecting the unconnected</a:t>
            </a:r>
          </a:p>
        </p:txBody>
      </p:sp>
    </p:spTree>
    <p:extLst>
      <p:ext uri="{BB962C8B-B14F-4D97-AF65-F5344CB8AC3E}">
        <p14:creationId xmlns:p14="http://schemas.microsoft.com/office/powerpoint/2010/main" val="3233617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A4292-7ACF-4E4D-927A-81E30575FFC3}"/>
              </a:ext>
            </a:extLst>
          </p:cNvPr>
          <p:cNvSpPr>
            <a:spLocks noGrp="1"/>
          </p:cNvSpPr>
          <p:nvPr>
            <p:ph type="title"/>
          </p:nvPr>
        </p:nvSpPr>
        <p:spPr/>
        <p:txBody>
          <a:bodyPr/>
          <a:lstStyle/>
          <a:p>
            <a:r>
              <a:rPr lang="en-US" dirty="0"/>
              <a:t>IoT and Digitization</a:t>
            </a:r>
          </a:p>
        </p:txBody>
      </p:sp>
      <p:sp>
        <p:nvSpPr>
          <p:cNvPr id="3" name="Content Placeholder 2">
            <a:extLst>
              <a:ext uri="{FF2B5EF4-FFF2-40B4-BE49-F238E27FC236}">
                <a16:creationId xmlns:a16="http://schemas.microsoft.com/office/drawing/2014/main" id="{DB0C400F-D0FF-4066-AC17-8B021C6E1884}"/>
              </a:ext>
            </a:extLst>
          </p:cNvPr>
          <p:cNvSpPr>
            <a:spLocks noGrp="1"/>
          </p:cNvSpPr>
          <p:nvPr>
            <p:ph idx="1"/>
          </p:nvPr>
        </p:nvSpPr>
        <p:spPr/>
        <p:txBody>
          <a:bodyPr/>
          <a:lstStyle/>
          <a:p>
            <a:r>
              <a:rPr lang="en-US" dirty="0"/>
              <a:t>IoT and digitization are terms that are often used interchangeably</a:t>
            </a:r>
          </a:p>
          <a:p>
            <a:r>
              <a:rPr lang="en-US" dirty="0"/>
              <a:t>IoT focuses on connecting “things,” such as objects and machines, to a computer network, such as the Internet</a:t>
            </a:r>
          </a:p>
          <a:p>
            <a:r>
              <a:rPr lang="en-US" dirty="0"/>
              <a:t>Digitization can mean different things to different people but generally encompasses the connection of “things” with the data they generate and the business insights that result</a:t>
            </a:r>
          </a:p>
          <a:p>
            <a:pPr lvl="1">
              <a:buFontTx/>
              <a:buChar char="-"/>
            </a:pPr>
            <a:r>
              <a:rPr lang="en-US" dirty="0" err="1"/>
              <a:t>Wifi</a:t>
            </a:r>
            <a:r>
              <a:rPr lang="en-US" dirty="0"/>
              <a:t> Tracking</a:t>
            </a:r>
          </a:p>
          <a:p>
            <a:pPr lvl="1">
              <a:buFontTx/>
              <a:buChar char="-"/>
            </a:pPr>
            <a:r>
              <a:rPr lang="en-US" dirty="0"/>
              <a:t>Photography, DVD Rental etc.</a:t>
            </a:r>
          </a:p>
          <a:p>
            <a:pPr lvl="1">
              <a:buFontTx/>
              <a:buChar char="-"/>
            </a:pPr>
            <a:r>
              <a:rPr lang="en-US" dirty="0"/>
              <a:t>Transportation Industry- Uber, Careem etc.</a:t>
            </a:r>
          </a:p>
          <a:p>
            <a:pPr lvl="1">
              <a:buFontTx/>
              <a:buChar char="-"/>
            </a:pPr>
            <a:r>
              <a:rPr lang="en-US" dirty="0"/>
              <a:t>Nest</a:t>
            </a:r>
          </a:p>
        </p:txBody>
      </p:sp>
    </p:spTree>
    <p:extLst>
      <p:ext uri="{BB962C8B-B14F-4D97-AF65-F5344CB8AC3E}">
        <p14:creationId xmlns:p14="http://schemas.microsoft.com/office/powerpoint/2010/main" val="1929825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EDAD2-5259-4443-B172-4E3746BD0861}"/>
              </a:ext>
            </a:extLst>
          </p:cNvPr>
          <p:cNvSpPr>
            <a:spLocks noGrp="1"/>
          </p:cNvSpPr>
          <p:nvPr>
            <p:ph type="title"/>
          </p:nvPr>
        </p:nvSpPr>
        <p:spPr/>
        <p:txBody>
          <a:bodyPr/>
          <a:lstStyle/>
          <a:p>
            <a:r>
              <a:rPr lang="en-US" dirty="0"/>
              <a:t>Any-­‐X Point of View</a:t>
            </a:r>
          </a:p>
        </p:txBody>
      </p:sp>
      <p:sp>
        <p:nvSpPr>
          <p:cNvPr id="6" name="Content Placeholder 5">
            <a:extLst>
              <a:ext uri="{FF2B5EF4-FFF2-40B4-BE49-F238E27FC236}">
                <a16:creationId xmlns:a16="http://schemas.microsoft.com/office/drawing/2014/main" id="{4457B2DE-6462-499A-930C-F92229773A3C}"/>
              </a:ext>
            </a:extLst>
          </p:cNvPr>
          <p:cNvSpPr>
            <a:spLocks noGrp="1"/>
          </p:cNvSpPr>
          <p:nvPr>
            <p:ph idx="1"/>
          </p:nvPr>
        </p:nvSpPr>
        <p:spPr>
          <a:xfrm>
            <a:off x="562073" y="1542256"/>
            <a:ext cx="10515600" cy="4844475"/>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grpSp>
        <p:nvGrpSpPr>
          <p:cNvPr id="8" name="Group 2">
            <a:extLst>
              <a:ext uri="{FF2B5EF4-FFF2-40B4-BE49-F238E27FC236}">
                <a16:creationId xmlns:a16="http://schemas.microsoft.com/office/drawing/2014/main" id="{93750D58-D735-4FA0-9F8F-A1DD2BC18A36}"/>
              </a:ext>
            </a:extLst>
          </p:cNvPr>
          <p:cNvGrpSpPr>
            <a:grpSpLocks/>
          </p:cNvGrpSpPr>
          <p:nvPr/>
        </p:nvGrpSpPr>
        <p:grpSpPr bwMode="auto">
          <a:xfrm>
            <a:off x="1114326" y="1572121"/>
            <a:ext cx="4090719" cy="3614281"/>
            <a:chOff x="1320" y="2865"/>
            <a:chExt cx="4920" cy="4832"/>
          </a:xfrm>
        </p:grpSpPr>
        <p:pic>
          <p:nvPicPr>
            <p:cNvPr id="4099" name="Picture 3">
              <a:extLst>
                <a:ext uri="{FF2B5EF4-FFF2-40B4-BE49-F238E27FC236}">
                  <a16:creationId xmlns:a16="http://schemas.microsoft.com/office/drawing/2014/main" id="{BB2C8E16-256F-4DC6-B424-7374C9975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 y="2865"/>
              <a:ext cx="4920" cy="4832"/>
            </a:xfrm>
            <a:prstGeom prst="rect">
              <a:avLst/>
            </a:prstGeom>
            <a:noFill/>
            <a:extLst>
              <a:ext uri="{909E8E84-426E-40DD-AFC4-6F175D3DCCD1}">
                <a14:hiddenFill xmlns:a14="http://schemas.microsoft.com/office/drawing/2010/main">
                  <a:solidFill>
                    <a:srgbClr val="FFFFFF"/>
                  </a:solidFill>
                </a14:hiddenFill>
              </a:ext>
            </a:extLst>
          </p:spPr>
        </p:pic>
      </p:grpSp>
      <p:pic>
        <p:nvPicPr>
          <p:cNvPr id="4100" name="Picture 4">
            <a:extLst>
              <a:ext uri="{FF2B5EF4-FFF2-40B4-BE49-F238E27FC236}">
                <a16:creationId xmlns:a16="http://schemas.microsoft.com/office/drawing/2014/main" id="{A538C3F2-D8EA-4EF8-A0F3-6D0AFF9C7D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6752" y="1409046"/>
            <a:ext cx="4695716" cy="377735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E8086539-7723-4940-B47A-E691674446F7}"/>
              </a:ext>
            </a:extLst>
          </p:cNvPr>
          <p:cNvSpPr/>
          <p:nvPr/>
        </p:nvSpPr>
        <p:spPr>
          <a:xfrm>
            <a:off x="838200" y="5225573"/>
            <a:ext cx="9631546"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Internet of Things allows people and things to be connected Anytime, Anyplace, with Anything and Anyone, ideally using Any path/ network and Any service.</a:t>
            </a:r>
          </a:p>
        </p:txBody>
      </p:sp>
    </p:spTree>
    <p:extLst>
      <p:ext uri="{BB962C8B-B14F-4D97-AF65-F5344CB8AC3E}">
        <p14:creationId xmlns:p14="http://schemas.microsoft.com/office/powerpoint/2010/main" val="4270419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6C85-9AD5-4D94-8808-EC80E1401CD7}"/>
              </a:ext>
            </a:extLst>
          </p:cNvPr>
          <p:cNvSpPr>
            <a:spLocks noGrp="1"/>
          </p:cNvSpPr>
          <p:nvPr>
            <p:ph type="title"/>
          </p:nvPr>
        </p:nvSpPr>
        <p:spPr/>
        <p:txBody>
          <a:bodyPr/>
          <a:lstStyle/>
          <a:p>
            <a:r>
              <a:rPr lang="en-US" dirty="0"/>
              <a:t>Characteristics of IoT</a:t>
            </a:r>
          </a:p>
        </p:txBody>
      </p:sp>
      <p:sp>
        <p:nvSpPr>
          <p:cNvPr id="3" name="Content Placeholder 2">
            <a:extLst>
              <a:ext uri="{FF2B5EF4-FFF2-40B4-BE49-F238E27FC236}">
                <a16:creationId xmlns:a16="http://schemas.microsoft.com/office/drawing/2014/main" id="{7A677368-32D7-429E-9B46-76944763915D}"/>
              </a:ext>
            </a:extLst>
          </p:cNvPr>
          <p:cNvSpPr>
            <a:spLocks noGrp="1"/>
          </p:cNvSpPr>
          <p:nvPr>
            <p:ph idx="1"/>
          </p:nvPr>
        </p:nvSpPr>
        <p:spPr>
          <a:xfrm>
            <a:off x="838200" y="1431235"/>
            <a:ext cx="10515600" cy="4745728"/>
          </a:xfrm>
        </p:spPr>
        <p:txBody>
          <a:bodyPr>
            <a:normAutofit fontScale="70000" lnSpcReduction="20000"/>
          </a:bodyPr>
          <a:lstStyle/>
          <a:p>
            <a:pPr marL="0" indent="0">
              <a:buNone/>
            </a:pPr>
            <a:r>
              <a:rPr lang="en-US" dirty="0"/>
              <a:t>1. 	Intelligence</a:t>
            </a:r>
          </a:p>
          <a:p>
            <a:pPr marL="0" indent="0">
              <a:buNone/>
            </a:pPr>
            <a:r>
              <a:rPr lang="en-US" dirty="0"/>
              <a:t>–  Knowledge extraction from the generated data</a:t>
            </a:r>
          </a:p>
          <a:p>
            <a:pPr marL="0" indent="0">
              <a:buNone/>
            </a:pPr>
            <a:r>
              <a:rPr lang="en-US" dirty="0"/>
              <a:t>2. 	Architecture</a:t>
            </a:r>
          </a:p>
          <a:p>
            <a:pPr marL="0" indent="0">
              <a:buNone/>
            </a:pPr>
            <a:r>
              <a:rPr lang="en-US" dirty="0"/>
              <a:t>–  A hybrid architecture supporting many others</a:t>
            </a:r>
          </a:p>
          <a:p>
            <a:pPr marL="0" indent="0">
              <a:buNone/>
            </a:pPr>
            <a:r>
              <a:rPr lang="en-US" dirty="0"/>
              <a:t>3. 	Complex system</a:t>
            </a:r>
          </a:p>
          <a:p>
            <a:pPr marL="0" indent="0">
              <a:buNone/>
            </a:pPr>
            <a:r>
              <a:rPr lang="en-US" dirty="0"/>
              <a:t>–  A diverse set of dynamically changing objects</a:t>
            </a:r>
          </a:p>
          <a:p>
            <a:pPr marL="0" indent="0">
              <a:buNone/>
            </a:pPr>
            <a:r>
              <a:rPr lang="en-US" dirty="0"/>
              <a:t>4. 	Size considerations</a:t>
            </a:r>
          </a:p>
          <a:p>
            <a:pPr marL="0" indent="0">
              <a:buNone/>
            </a:pPr>
            <a:r>
              <a:rPr lang="en-US" dirty="0"/>
              <a:t>–  Scalability</a:t>
            </a:r>
          </a:p>
          <a:p>
            <a:pPr marL="0" indent="0">
              <a:buNone/>
            </a:pPr>
            <a:r>
              <a:rPr lang="en-US" dirty="0"/>
              <a:t>5. 	Time considerations</a:t>
            </a:r>
          </a:p>
          <a:p>
            <a:pPr marL="0" indent="0">
              <a:buNone/>
            </a:pPr>
            <a:r>
              <a:rPr lang="en-US" dirty="0"/>
              <a:t>–  Billions of parallel and simultaneous events</a:t>
            </a:r>
          </a:p>
          <a:p>
            <a:pPr marL="0" indent="0">
              <a:buNone/>
            </a:pPr>
            <a:r>
              <a:rPr lang="en-US" dirty="0"/>
              <a:t>6. 	Space considerations</a:t>
            </a:r>
          </a:p>
          <a:p>
            <a:pPr marL="0" indent="0">
              <a:buNone/>
            </a:pPr>
            <a:r>
              <a:rPr lang="en-US" dirty="0"/>
              <a:t>–  Localization</a:t>
            </a:r>
          </a:p>
          <a:p>
            <a:pPr marL="0" indent="0">
              <a:buNone/>
            </a:pPr>
            <a:r>
              <a:rPr lang="en-US" dirty="0"/>
              <a:t>7. 	Everything-­‐as-­‐a-­‐service</a:t>
            </a:r>
          </a:p>
          <a:p>
            <a:pPr marL="0" indent="0">
              <a:buNone/>
            </a:pPr>
            <a:r>
              <a:rPr lang="en-US" dirty="0"/>
              <a:t>–  Consuming resources as a service</a:t>
            </a:r>
          </a:p>
          <a:p>
            <a:endParaRPr lang="en-US" dirty="0"/>
          </a:p>
        </p:txBody>
      </p:sp>
    </p:spTree>
    <p:extLst>
      <p:ext uri="{BB962C8B-B14F-4D97-AF65-F5344CB8AC3E}">
        <p14:creationId xmlns:p14="http://schemas.microsoft.com/office/powerpoint/2010/main" val="1672129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549401" y="-2728"/>
            <a:ext cx="8215337" cy="623416"/>
          </a:xfrm>
        </p:spPr>
        <p:txBody>
          <a:bodyPr/>
          <a:lstStyle/>
          <a:p>
            <a:r>
              <a:rPr lang="en-US" altLang="ko-KR" sz="2800" dirty="0"/>
              <a:t>Architecture for Open </a:t>
            </a:r>
            <a:r>
              <a:rPr lang="en-US" altLang="ko-KR" sz="2800" dirty="0" err="1"/>
              <a:t>IoT</a:t>
            </a:r>
            <a:r>
              <a:rPr lang="en-US" altLang="ko-KR" sz="2800" dirty="0"/>
              <a:t> Services</a:t>
            </a:r>
            <a:endParaRPr lang="ko-KR" altLang="en-US" sz="2000" dirty="0"/>
          </a:p>
        </p:txBody>
      </p:sp>
      <p:sp>
        <p:nvSpPr>
          <p:cNvPr id="5" name="TextBox 4"/>
          <p:cNvSpPr txBox="1"/>
          <p:nvPr/>
        </p:nvSpPr>
        <p:spPr>
          <a:xfrm>
            <a:off x="6007100" y="6300789"/>
            <a:ext cx="4432300" cy="24622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mn-cs"/>
              </a:rPr>
              <a:t>Source: </a:t>
            </a:r>
            <a:r>
              <a:rPr kumimoji="0" lang="en-US" altLang="ko-KR" sz="1000" b="0" i="0" u="none" strike="noStrike" kern="1200" cap="none" spc="0" normalizeH="0" baseline="0" noProof="0" dirty="0" err="1">
                <a:ln>
                  <a:noFill/>
                </a:ln>
                <a:solidFill>
                  <a:prstClr val="black"/>
                </a:solidFill>
                <a:effectLst/>
                <a:uLnTx/>
                <a:uFillTx/>
                <a:latin typeface="Calibri" panose="020F0502020204030204"/>
                <a:ea typeface="맑은 고딕" panose="020B0503020000020004" pitchFamily="34" charset="-127"/>
                <a:cs typeface="+mn-cs"/>
              </a:rPr>
              <a:t>kno.e.sis</a:t>
            </a:r>
            <a:endParaRPr kumimoji="0" lang="ko-KR" altLang="en-US" sz="1000" b="0"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mn-cs"/>
            </a:endParaRPr>
          </a:p>
        </p:txBody>
      </p:sp>
      <p:pic>
        <p:nvPicPr>
          <p:cNvPr id="6146" name="Picture 2" descr="http://wiki.knoesis.org/images/thumb/c/c8/Various_IoT_nodes_and_services.png/600px-Various_IoT_nodes_and_servic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2543" y="763368"/>
            <a:ext cx="8670925" cy="5551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684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C4C72-BB01-4674-8BFD-E96FD18C2CB4}"/>
              </a:ext>
            </a:extLst>
          </p:cNvPr>
          <p:cNvSpPr>
            <a:spLocks noGrp="1"/>
          </p:cNvSpPr>
          <p:nvPr>
            <p:ph type="title"/>
          </p:nvPr>
        </p:nvSpPr>
        <p:spPr/>
        <p:txBody>
          <a:bodyPr/>
          <a:lstStyle/>
          <a:p>
            <a:r>
              <a:rPr lang="en-US" dirty="0"/>
              <a:t>IoT Impact </a:t>
            </a:r>
          </a:p>
        </p:txBody>
      </p:sp>
      <p:pic>
        <p:nvPicPr>
          <p:cNvPr id="5" name="Content Placeholder 4">
            <a:extLst>
              <a:ext uri="{FF2B5EF4-FFF2-40B4-BE49-F238E27FC236}">
                <a16:creationId xmlns:a16="http://schemas.microsoft.com/office/drawing/2014/main" id="{4EE46520-8C0B-4FAE-9D3A-49D54AE33B8E}"/>
              </a:ext>
            </a:extLst>
          </p:cNvPr>
          <p:cNvPicPr>
            <a:picLocks noGrp="1" noChangeAspect="1"/>
          </p:cNvPicPr>
          <p:nvPr>
            <p:ph idx="1"/>
          </p:nvPr>
        </p:nvPicPr>
        <p:blipFill>
          <a:blip r:embed="rId2"/>
          <a:stretch>
            <a:fillRect/>
          </a:stretch>
        </p:blipFill>
        <p:spPr>
          <a:xfrm>
            <a:off x="699248" y="1492624"/>
            <a:ext cx="9291918" cy="4303057"/>
          </a:xfrm>
        </p:spPr>
      </p:pic>
      <p:sp>
        <p:nvSpPr>
          <p:cNvPr id="7" name="TextBox 6">
            <a:extLst>
              <a:ext uri="{FF2B5EF4-FFF2-40B4-BE49-F238E27FC236}">
                <a16:creationId xmlns:a16="http://schemas.microsoft.com/office/drawing/2014/main" id="{C48640AC-6682-4809-AB5C-CA0432914794}"/>
              </a:ext>
            </a:extLst>
          </p:cNvPr>
          <p:cNvSpPr txBox="1"/>
          <p:nvPr/>
        </p:nvSpPr>
        <p:spPr>
          <a:xfrm>
            <a:off x="1525123" y="5795681"/>
            <a:ext cx="7860924" cy="369332"/>
          </a:xfrm>
          <a:prstGeom prst="rect">
            <a:avLst/>
          </a:prstGeom>
          <a:noFill/>
        </p:spPr>
        <p:txBody>
          <a:bodyPr wrap="square">
            <a:spAutoFit/>
          </a:bodyPr>
          <a:lstStyle/>
          <a:p>
            <a:r>
              <a:rPr lang="en-US" dirty="0"/>
              <a:t>The Rapid Growth in the Number of Devices Connected to the Internet</a:t>
            </a:r>
          </a:p>
        </p:txBody>
      </p:sp>
    </p:spTree>
    <p:extLst>
      <p:ext uri="{BB962C8B-B14F-4D97-AF65-F5344CB8AC3E}">
        <p14:creationId xmlns:p14="http://schemas.microsoft.com/office/powerpoint/2010/main" val="1523195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B0935-638D-43D9-B3EB-8043A16E91C0}"/>
              </a:ext>
            </a:extLst>
          </p:cNvPr>
          <p:cNvSpPr>
            <a:spLocks noGrp="1"/>
          </p:cNvSpPr>
          <p:nvPr>
            <p:ph type="title"/>
          </p:nvPr>
        </p:nvSpPr>
        <p:spPr/>
        <p:txBody>
          <a:bodyPr/>
          <a:lstStyle/>
          <a:p>
            <a:r>
              <a:rPr lang="en-US" dirty="0"/>
              <a:t>IoT Impact- Connected Roadways</a:t>
            </a:r>
          </a:p>
        </p:txBody>
      </p:sp>
      <p:sp>
        <p:nvSpPr>
          <p:cNvPr id="3" name="Content Placeholder 2">
            <a:extLst>
              <a:ext uri="{FF2B5EF4-FFF2-40B4-BE49-F238E27FC236}">
                <a16:creationId xmlns:a16="http://schemas.microsoft.com/office/drawing/2014/main" id="{7B361EB1-75BD-412F-8C91-654E393BBB73}"/>
              </a:ext>
            </a:extLst>
          </p:cNvPr>
          <p:cNvSpPr>
            <a:spLocks noGrp="1"/>
          </p:cNvSpPr>
          <p:nvPr>
            <p:ph idx="1"/>
          </p:nvPr>
        </p:nvSpPr>
        <p:spPr/>
        <p:txBody>
          <a:bodyPr/>
          <a:lstStyle/>
          <a:p>
            <a:r>
              <a:rPr lang="en-US" dirty="0"/>
              <a:t>Self-driving vehicles- Google’s self-driving vehicle</a:t>
            </a:r>
          </a:p>
          <a:p>
            <a:r>
              <a:rPr lang="en-US" dirty="0"/>
              <a:t>Fully connected transportation infrastructure</a:t>
            </a:r>
          </a:p>
          <a:p>
            <a:r>
              <a:rPr lang="en-US" dirty="0"/>
              <a:t> Self-driving vehicles need always-on, reliable communications and data from  other transportation-related sensors to reach their full potential</a:t>
            </a:r>
          </a:p>
          <a:p>
            <a:endParaRPr lang="en-US" dirty="0"/>
          </a:p>
          <a:p>
            <a:pPr marL="0" indent="0">
              <a:buNone/>
            </a:pPr>
            <a:endParaRPr lang="en-US" dirty="0"/>
          </a:p>
        </p:txBody>
      </p:sp>
      <p:pic>
        <p:nvPicPr>
          <p:cNvPr id="5" name="Picture 4">
            <a:extLst>
              <a:ext uri="{FF2B5EF4-FFF2-40B4-BE49-F238E27FC236}">
                <a16:creationId xmlns:a16="http://schemas.microsoft.com/office/drawing/2014/main" id="{001E5EB7-B87E-4469-83B7-4BC60D8264B5}"/>
              </a:ext>
            </a:extLst>
          </p:cNvPr>
          <p:cNvPicPr>
            <a:picLocks noChangeAspect="1"/>
          </p:cNvPicPr>
          <p:nvPr/>
        </p:nvPicPr>
        <p:blipFill>
          <a:blip r:embed="rId2"/>
          <a:stretch>
            <a:fillRect/>
          </a:stretch>
        </p:blipFill>
        <p:spPr>
          <a:xfrm>
            <a:off x="3957918" y="3615485"/>
            <a:ext cx="4572000" cy="2571750"/>
          </a:xfrm>
          <a:prstGeom prst="rect">
            <a:avLst/>
          </a:prstGeom>
        </p:spPr>
      </p:pic>
      <p:sp>
        <p:nvSpPr>
          <p:cNvPr id="7" name="TextBox 6">
            <a:extLst>
              <a:ext uri="{FF2B5EF4-FFF2-40B4-BE49-F238E27FC236}">
                <a16:creationId xmlns:a16="http://schemas.microsoft.com/office/drawing/2014/main" id="{975C3D05-9605-48AA-A10B-7962E1CA70FE}"/>
              </a:ext>
            </a:extLst>
          </p:cNvPr>
          <p:cNvSpPr txBox="1"/>
          <p:nvPr/>
        </p:nvSpPr>
        <p:spPr>
          <a:xfrm>
            <a:off x="5255560" y="6169114"/>
            <a:ext cx="6098240" cy="369332"/>
          </a:xfrm>
          <a:prstGeom prst="rect">
            <a:avLst/>
          </a:prstGeom>
          <a:noFill/>
        </p:spPr>
        <p:txBody>
          <a:bodyPr wrap="square">
            <a:spAutoFit/>
          </a:bodyPr>
          <a:lstStyle/>
          <a:p>
            <a:r>
              <a:rPr lang="en-US" dirty="0"/>
              <a:t>Google’s Self-Driving Car</a:t>
            </a:r>
          </a:p>
        </p:txBody>
      </p:sp>
    </p:spTree>
    <p:extLst>
      <p:ext uri="{BB962C8B-B14F-4D97-AF65-F5344CB8AC3E}">
        <p14:creationId xmlns:p14="http://schemas.microsoft.com/office/powerpoint/2010/main" val="3115509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007F5-5A2B-4378-95DD-896B1182E4E7}"/>
              </a:ext>
            </a:extLst>
          </p:cNvPr>
          <p:cNvSpPr>
            <a:spLocks noGrp="1"/>
          </p:cNvSpPr>
          <p:nvPr>
            <p:ph type="title"/>
          </p:nvPr>
        </p:nvSpPr>
        <p:spPr>
          <a:xfrm>
            <a:off x="838200" y="217208"/>
            <a:ext cx="10515600" cy="1325563"/>
          </a:xfrm>
        </p:spPr>
        <p:txBody>
          <a:bodyPr/>
          <a:lstStyle/>
          <a:p>
            <a:r>
              <a:rPr lang="en-US" dirty="0"/>
              <a:t>IoT Impact- Current Challenges Being Addressed by Connected Roadways</a:t>
            </a:r>
          </a:p>
        </p:txBody>
      </p:sp>
      <p:graphicFrame>
        <p:nvGraphicFramePr>
          <p:cNvPr id="4" name="Table 4">
            <a:extLst>
              <a:ext uri="{FF2B5EF4-FFF2-40B4-BE49-F238E27FC236}">
                <a16:creationId xmlns:a16="http://schemas.microsoft.com/office/drawing/2014/main" id="{BE1A459B-C434-4871-A257-30429A04E0F9}"/>
              </a:ext>
            </a:extLst>
          </p:cNvPr>
          <p:cNvGraphicFramePr>
            <a:graphicFrameLocks noGrp="1"/>
          </p:cNvGraphicFramePr>
          <p:nvPr>
            <p:ph idx="1"/>
            <p:extLst>
              <p:ext uri="{D42A27DB-BD31-4B8C-83A1-F6EECF244321}">
                <p14:modId xmlns:p14="http://schemas.microsoft.com/office/powerpoint/2010/main" val="879325849"/>
              </p:ext>
            </p:extLst>
          </p:nvPr>
        </p:nvGraphicFramePr>
        <p:xfrm>
          <a:off x="887506" y="1542771"/>
          <a:ext cx="10416988" cy="4783022"/>
        </p:xfrm>
        <a:graphic>
          <a:graphicData uri="http://schemas.openxmlformats.org/drawingml/2006/table">
            <a:tbl>
              <a:tblPr firstRow="1" bandRow="1">
                <a:tableStyleId>{5C22544A-7EE6-4342-B048-85BDC9FD1C3A}</a:tableStyleId>
              </a:tblPr>
              <a:tblGrid>
                <a:gridCol w="1567434">
                  <a:extLst>
                    <a:ext uri="{9D8B030D-6E8A-4147-A177-3AD203B41FA5}">
                      <a16:colId xmlns:a16="http://schemas.microsoft.com/office/drawing/2014/main" val="3812121793"/>
                    </a:ext>
                  </a:extLst>
                </a:gridCol>
                <a:gridCol w="8849554">
                  <a:extLst>
                    <a:ext uri="{9D8B030D-6E8A-4147-A177-3AD203B41FA5}">
                      <a16:colId xmlns:a16="http://schemas.microsoft.com/office/drawing/2014/main" val="1841994751"/>
                    </a:ext>
                  </a:extLst>
                </a:gridCol>
              </a:tblGrid>
              <a:tr h="347618">
                <a:tc>
                  <a:txBody>
                    <a:bodyPr/>
                    <a:lstStyle/>
                    <a:p>
                      <a:r>
                        <a:rPr lang="en-US" sz="2400" dirty="0"/>
                        <a:t>Challenge</a:t>
                      </a:r>
                    </a:p>
                  </a:txBody>
                  <a:tcPr/>
                </a:tc>
                <a:tc>
                  <a:txBody>
                    <a:bodyPr/>
                    <a:lstStyle/>
                    <a:p>
                      <a:r>
                        <a:rPr lang="en-US" sz="2400" dirty="0"/>
                        <a:t>Supporting Data</a:t>
                      </a:r>
                    </a:p>
                  </a:txBody>
                  <a:tcPr/>
                </a:tc>
                <a:extLst>
                  <a:ext uri="{0D108BD9-81ED-4DB2-BD59-A6C34878D82A}">
                    <a16:rowId xmlns:a16="http://schemas.microsoft.com/office/drawing/2014/main" val="4202700868"/>
                  </a:ext>
                </a:extLst>
              </a:tr>
              <a:tr h="1320885">
                <a:tc>
                  <a:txBody>
                    <a:bodyPr/>
                    <a:lstStyle/>
                    <a:p>
                      <a:r>
                        <a:rPr lang="en-US" dirty="0"/>
                        <a:t>Safety</a:t>
                      </a:r>
                    </a:p>
                  </a:txBody>
                  <a:tcPr/>
                </a:tc>
                <a:tc>
                  <a:txBody>
                    <a:bodyPr/>
                    <a:lstStyle/>
                    <a:p>
                      <a:r>
                        <a:rPr lang="en-US" dirty="0"/>
                        <a:t>According to the US Department of Transportation, </a:t>
                      </a:r>
                      <a:r>
                        <a:rPr lang="en-US" b="1" dirty="0"/>
                        <a:t>5.6 million crashes </a:t>
                      </a:r>
                      <a:r>
                        <a:rPr lang="en-US" dirty="0"/>
                        <a:t>were reported in </a:t>
                      </a:r>
                      <a:r>
                        <a:rPr lang="en-US" b="1" dirty="0"/>
                        <a:t>2012</a:t>
                      </a:r>
                      <a:r>
                        <a:rPr lang="en-US" dirty="0"/>
                        <a:t> alone, resulting in more than </a:t>
                      </a:r>
                      <a:r>
                        <a:rPr lang="en-US" b="1" dirty="0"/>
                        <a:t>33,000</a:t>
                      </a:r>
                      <a:r>
                        <a:rPr lang="en-US" dirty="0"/>
                        <a:t> fatalities. IoT and the enablement of connected vehicle technologies will empower  drivers with the tools they need to anticipate potential crashes and  significantly reduce the number of lives lost each year</a:t>
                      </a:r>
                    </a:p>
                  </a:txBody>
                  <a:tcPr/>
                </a:tc>
                <a:extLst>
                  <a:ext uri="{0D108BD9-81ED-4DB2-BD59-A6C34878D82A}">
                    <a16:rowId xmlns:a16="http://schemas.microsoft.com/office/drawing/2014/main" val="2887608781"/>
                  </a:ext>
                </a:extLst>
              </a:tr>
              <a:tr h="1816217">
                <a:tc>
                  <a:txBody>
                    <a:bodyPr/>
                    <a:lstStyle/>
                    <a:p>
                      <a:r>
                        <a:rPr lang="en-US" dirty="0"/>
                        <a:t>Mobility</a:t>
                      </a:r>
                    </a:p>
                  </a:txBody>
                  <a:tcPr/>
                </a:tc>
                <a:tc>
                  <a:txBody>
                    <a:bodyPr/>
                    <a:lstStyle/>
                    <a:p>
                      <a:r>
                        <a:rPr lang="en-US" dirty="0"/>
                        <a:t>More than a billion cars are on the roads worldwide. Connected vehicle mobility applications can enable system operators and drivers to make more informed decisions, which can, in turn, reduce travel delays. Congestion causes </a:t>
                      </a:r>
                      <a:r>
                        <a:rPr lang="en-US" b="1" dirty="0"/>
                        <a:t>5.5 billion hours of travel delay </a:t>
                      </a:r>
                      <a:r>
                        <a:rPr lang="en-US" dirty="0"/>
                        <a:t>per year, and reducing travel delays is more critical than ever before. In addition, communication between mass transit, emergency response vehicles, and traffic management infrastructures help optimize the routing of vehicles, further reducing potential delays</a:t>
                      </a:r>
                    </a:p>
                  </a:txBody>
                  <a:tcPr/>
                </a:tc>
                <a:extLst>
                  <a:ext uri="{0D108BD9-81ED-4DB2-BD59-A6C34878D82A}">
                    <a16:rowId xmlns:a16="http://schemas.microsoft.com/office/drawing/2014/main" val="3425424829"/>
                  </a:ext>
                </a:extLst>
              </a:tr>
              <a:tr h="1073219">
                <a:tc>
                  <a:txBody>
                    <a:bodyPr/>
                    <a:lstStyle/>
                    <a:p>
                      <a:r>
                        <a:rPr lang="en-US" dirty="0"/>
                        <a:t>Environment</a:t>
                      </a:r>
                    </a:p>
                  </a:txBody>
                  <a:tcPr/>
                </a:tc>
                <a:tc>
                  <a:txBody>
                    <a:bodyPr/>
                    <a:lstStyle/>
                    <a:p>
                      <a:r>
                        <a:rPr lang="en-US" dirty="0"/>
                        <a:t>According to the American Public Transportation Association, each year transit systems can collectively reduce </a:t>
                      </a:r>
                      <a:r>
                        <a:rPr lang="en-US" b="1" dirty="0"/>
                        <a:t>carbon dioxide (CO</a:t>
                      </a:r>
                      <a:r>
                        <a:rPr lang="en-US" b="1" baseline="-25000" dirty="0"/>
                        <a:t>2</a:t>
                      </a:r>
                      <a:r>
                        <a:rPr lang="en-US" b="1" dirty="0"/>
                        <a:t> ) emissions by 16.2 million metric tons </a:t>
                      </a:r>
                      <a:r>
                        <a:rPr lang="en-US" dirty="0"/>
                        <a:t>by reducing private vehicle miles. Connected vehicle environmental applications will give all travelers the real-time  information they need to make “green” transportation choices</a:t>
                      </a:r>
                    </a:p>
                  </a:txBody>
                  <a:tcPr/>
                </a:tc>
                <a:extLst>
                  <a:ext uri="{0D108BD9-81ED-4DB2-BD59-A6C34878D82A}">
                    <a16:rowId xmlns:a16="http://schemas.microsoft.com/office/drawing/2014/main" val="3928279331"/>
                  </a:ext>
                </a:extLst>
              </a:tr>
            </a:tbl>
          </a:graphicData>
        </a:graphic>
      </p:graphicFrame>
    </p:spTree>
    <p:extLst>
      <p:ext uri="{BB962C8B-B14F-4D97-AF65-F5344CB8AC3E}">
        <p14:creationId xmlns:p14="http://schemas.microsoft.com/office/powerpoint/2010/main" val="2692278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7F88A-7F58-4063-8610-1F6B45C3D7C2}"/>
              </a:ext>
            </a:extLst>
          </p:cNvPr>
          <p:cNvSpPr>
            <a:spLocks noGrp="1"/>
          </p:cNvSpPr>
          <p:nvPr>
            <p:ph type="title"/>
          </p:nvPr>
        </p:nvSpPr>
        <p:spPr>
          <a:xfrm>
            <a:off x="838200" y="365125"/>
            <a:ext cx="10515600" cy="1087157"/>
          </a:xfrm>
        </p:spPr>
        <p:txBody>
          <a:bodyPr/>
          <a:lstStyle/>
          <a:p>
            <a:r>
              <a:rPr lang="en-US" dirty="0"/>
              <a:t>IoT Impact- Connected Roadways</a:t>
            </a:r>
          </a:p>
        </p:txBody>
      </p:sp>
      <p:pic>
        <p:nvPicPr>
          <p:cNvPr id="5" name="Content Placeholder 4">
            <a:extLst>
              <a:ext uri="{FF2B5EF4-FFF2-40B4-BE49-F238E27FC236}">
                <a16:creationId xmlns:a16="http://schemas.microsoft.com/office/drawing/2014/main" id="{0450FFF3-160B-4D04-82ED-89B387CF1510}"/>
              </a:ext>
            </a:extLst>
          </p:cNvPr>
          <p:cNvPicPr>
            <a:picLocks noGrp="1" noChangeAspect="1"/>
          </p:cNvPicPr>
          <p:nvPr>
            <p:ph idx="1"/>
          </p:nvPr>
        </p:nvPicPr>
        <p:blipFill>
          <a:blip r:embed="rId2"/>
          <a:stretch>
            <a:fillRect/>
          </a:stretch>
        </p:blipFill>
        <p:spPr>
          <a:xfrm>
            <a:off x="1869141" y="1452283"/>
            <a:ext cx="7395882" cy="4671260"/>
          </a:xfrm>
        </p:spPr>
      </p:pic>
      <p:sp>
        <p:nvSpPr>
          <p:cNvPr id="7" name="TextBox 6">
            <a:extLst>
              <a:ext uri="{FF2B5EF4-FFF2-40B4-BE49-F238E27FC236}">
                <a16:creationId xmlns:a16="http://schemas.microsoft.com/office/drawing/2014/main" id="{3CAC7847-E708-4DA5-A4B2-7BCEFEE81CD3}"/>
              </a:ext>
            </a:extLst>
          </p:cNvPr>
          <p:cNvSpPr txBox="1"/>
          <p:nvPr/>
        </p:nvSpPr>
        <p:spPr>
          <a:xfrm>
            <a:off x="3046880" y="6123543"/>
            <a:ext cx="6098240" cy="369332"/>
          </a:xfrm>
          <a:prstGeom prst="rect">
            <a:avLst/>
          </a:prstGeom>
          <a:noFill/>
        </p:spPr>
        <p:txBody>
          <a:bodyPr wrap="square">
            <a:spAutoFit/>
          </a:bodyPr>
          <a:lstStyle/>
          <a:p>
            <a:r>
              <a:rPr lang="en-US" dirty="0"/>
              <a:t>Application of Intersection Movement Assist</a:t>
            </a:r>
          </a:p>
        </p:txBody>
      </p:sp>
    </p:spTree>
    <p:extLst>
      <p:ext uri="{BB962C8B-B14F-4D97-AF65-F5344CB8AC3E}">
        <p14:creationId xmlns:p14="http://schemas.microsoft.com/office/powerpoint/2010/main" val="1096670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2269-40BC-4448-A340-4F3849317D6E}"/>
              </a:ext>
            </a:extLst>
          </p:cNvPr>
          <p:cNvSpPr>
            <a:spLocks noGrp="1"/>
          </p:cNvSpPr>
          <p:nvPr>
            <p:ph type="title"/>
          </p:nvPr>
        </p:nvSpPr>
        <p:spPr/>
        <p:txBody>
          <a:bodyPr/>
          <a:lstStyle/>
          <a:p>
            <a:r>
              <a:rPr lang="en-US" dirty="0"/>
              <a:t>IoT Roadmap-Connected Car</a:t>
            </a:r>
          </a:p>
        </p:txBody>
      </p:sp>
      <p:pic>
        <p:nvPicPr>
          <p:cNvPr id="5" name="Content Placeholder 4">
            <a:extLst>
              <a:ext uri="{FF2B5EF4-FFF2-40B4-BE49-F238E27FC236}">
                <a16:creationId xmlns:a16="http://schemas.microsoft.com/office/drawing/2014/main" id="{FA449991-0040-4D94-8CDA-2042EE80C452}"/>
              </a:ext>
            </a:extLst>
          </p:cNvPr>
          <p:cNvPicPr>
            <a:picLocks noGrp="1" noChangeAspect="1"/>
          </p:cNvPicPr>
          <p:nvPr>
            <p:ph idx="1"/>
          </p:nvPr>
        </p:nvPicPr>
        <p:blipFill>
          <a:blip r:embed="rId2"/>
          <a:stretch>
            <a:fillRect/>
          </a:stretch>
        </p:blipFill>
        <p:spPr>
          <a:xfrm>
            <a:off x="838200" y="1842246"/>
            <a:ext cx="10685929" cy="4276165"/>
          </a:xfrm>
        </p:spPr>
      </p:pic>
      <p:sp>
        <p:nvSpPr>
          <p:cNvPr id="7" name="TextBox 6">
            <a:extLst>
              <a:ext uri="{FF2B5EF4-FFF2-40B4-BE49-F238E27FC236}">
                <a16:creationId xmlns:a16="http://schemas.microsoft.com/office/drawing/2014/main" id="{1FAEE566-7FD1-4CFA-9882-209FE920293E}"/>
              </a:ext>
            </a:extLst>
          </p:cNvPr>
          <p:cNvSpPr txBox="1"/>
          <p:nvPr/>
        </p:nvSpPr>
        <p:spPr>
          <a:xfrm>
            <a:off x="4703110" y="5933745"/>
            <a:ext cx="6098240" cy="369332"/>
          </a:xfrm>
          <a:prstGeom prst="rect">
            <a:avLst/>
          </a:prstGeom>
          <a:noFill/>
        </p:spPr>
        <p:txBody>
          <a:bodyPr wrap="square">
            <a:spAutoFit/>
          </a:bodyPr>
          <a:lstStyle/>
          <a:p>
            <a:r>
              <a:rPr lang="en-US" dirty="0"/>
              <a:t>The Connected Car</a:t>
            </a:r>
          </a:p>
        </p:txBody>
      </p:sp>
    </p:spTree>
    <p:extLst>
      <p:ext uri="{BB962C8B-B14F-4D97-AF65-F5344CB8AC3E}">
        <p14:creationId xmlns:p14="http://schemas.microsoft.com/office/powerpoint/2010/main" val="2524074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E0F0-E2F1-22D8-8088-BC6E31EF6D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57F319-7639-E5BD-DEAB-20CF8ACADB32}"/>
              </a:ext>
            </a:extLst>
          </p:cNvPr>
          <p:cNvSpPr>
            <a:spLocks noGrp="1"/>
          </p:cNvSpPr>
          <p:nvPr>
            <p:ph idx="1"/>
          </p:nvPr>
        </p:nvSpPr>
        <p:spPr/>
        <p:txBody>
          <a:bodyPr>
            <a:normAutofit/>
          </a:bodyPr>
          <a:lstStyle/>
          <a:p>
            <a:pPr marL="0" indent="0">
              <a:buNone/>
            </a:pPr>
            <a:r>
              <a:rPr lang="en-US" sz="4800" dirty="0"/>
              <a:t>How much data will be generated by a connected car? </a:t>
            </a:r>
          </a:p>
          <a:p>
            <a:pPr marL="0" indent="0">
              <a:buNone/>
            </a:pPr>
            <a:endParaRPr lang="en-US" sz="4800" dirty="0"/>
          </a:p>
          <a:p>
            <a:pPr marL="0" indent="0" algn="ctr">
              <a:buNone/>
            </a:pPr>
            <a:r>
              <a:rPr lang="en-US" sz="4800" dirty="0">
                <a:solidFill>
                  <a:srgbClr val="FF0000"/>
                </a:solidFill>
              </a:rPr>
              <a:t>25 GB per hour</a:t>
            </a:r>
          </a:p>
          <a:p>
            <a:pPr marL="0" indent="0">
              <a:buNone/>
            </a:pPr>
            <a:endParaRPr lang="en-US" sz="4800" dirty="0"/>
          </a:p>
        </p:txBody>
      </p:sp>
    </p:spTree>
    <p:extLst>
      <p:ext uri="{BB962C8B-B14F-4D97-AF65-F5344CB8AC3E}">
        <p14:creationId xmlns:p14="http://schemas.microsoft.com/office/powerpoint/2010/main" val="101848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C7BD7-54B2-4EAA-A6A5-D730DA8CD3DD}"/>
              </a:ext>
            </a:extLst>
          </p:cNvPr>
          <p:cNvSpPr>
            <a:spLocks noGrp="1"/>
          </p:cNvSpPr>
          <p:nvPr>
            <p:ph type="title"/>
          </p:nvPr>
        </p:nvSpPr>
        <p:spPr/>
        <p:txBody>
          <a:bodyPr/>
          <a:lstStyle/>
          <a:p>
            <a:r>
              <a:rPr lang="en-US" dirty="0"/>
              <a:t>IoT Impact-Connected Roadways</a:t>
            </a:r>
          </a:p>
        </p:txBody>
      </p:sp>
      <p:sp>
        <p:nvSpPr>
          <p:cNvPr id="3" name="Content Placeholder 2">
            <a:extLst>
              <a:ext uri="{FF2B5EF4-FFF2-40B4-BE49-F238E27FC236}">
                <a16:creationId xmlns:a16="http://schemas.microsoft.com/office/drawing/2014/main" id="{2CC1466B-6DD5-46D3-B22C-4BB6F292906C}"/>
              </a:ext>
            </a:extLst>
          </p:cNvPr>
          <p:cNvSpPr>
            <a:spLocks noGrp="1"/>
          </p:cNvSpPr>
          <p:nvPr>
            <p:ph idx="1"/>
          </p:nvPr>
        </p:nvSpPr>
        <p:spPr/>
        <p:txBody>
          <a:bodyPr/>
          <a:lstStyle/>
          <a:p>
            <a:r>
              <a:rPr lang="en-US" dirty="0"/>
              <a:t>Few other applications of IoT for roadways are: </a:t>
            </a:r>
          </a:p>
          <a:p>
            <a:pPr lvl="1">
              <a:buFont typeface="Wingdings" panose="05000000000000000000" pitchFamily="2" charset="2"/>
              <a:buChar char="Ø"/>
            </a:pPr>
            <a:r>
              <a:rPr lang="en-US" b="1" dirty="0"/>
              <a:t>Vehicle Tracking</a:t>
            </a:r>
            <a:r>
              <a:rPr lang="en-US" dirty="0"/>
              <a:t>: a vehicle’s location is used for notification of arrival times, theft prevention, or highway assistance</a:t>
            </a:r>
          </a:p>
          <a:p>
            <a:pPr lvl="1">
              <a:buFont typeface="Wingdings" panose="05000000000000000000" pitchFamily="2" charset="2"/>
              <a:buChar char="Ø"/>
            </a:pPr>
            <a:r>
              <a:rPr lang="en-US" b="1" dirty="0"/>
              <a:t>Cargo Management</a:t>
            </a:r>
            <a:r>
              <a:rPr lang="en-US" dirty="0"/>
              <a:t>: Cargo management provides precise positioning of cargo as it is </a:t>
            </a:r>
            <a:r>
              <a:rPr lang="en-US" dirty="0" err="1"/>
              <a:t>en</a:t>
            </a:r>
            <a:r>
              <a:rPr lang="en-US" dirty="0"/>
              <a:t> route so that notification alerts can be sent to a dispatcher and routes can be optimized for congestion and weather</a:t>
            </a:r>
          </a:p>
          <a:p>
            <a:pPr lvl="1">
              <a:buFont typeface="Wingdings" panose="05000000000000000000" pitchFamily="2" charset="2"/>
              <a:buChar char="Ø"/>
            </a:pPr>
            <a:r>
              <a:rPr lang="en-US" b="1" dirty="0"/>
              <a:t>Road Weather Communication</a:t>
            </a:r>
            <a:r>
              <a:rPr lang="en-US" dirty="0"/>
              <a:t>: Road weather communications use sensors and data from satellites, roads, and bridges to warn vehicles of dangerous conditions or inclement weather on the current route</a:t>
            </a:r>
          </a:p>
        </p:txBody>
      </p:sp>
    </p:spTree>
    <p:extLst>
      <p:ext uri="{BB962C8B-B14F-4D97-AF65-F5344CB8AC3E}">
        <p14:creationId xmlns:p14="http://schemas.microsoft.com/office/powerpoint/2010/main" val="2136456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DEA7A-B872-4AEF-9649-0D9C96F5F04E}"/>
              </a:ext>
            </a:extLst>
          </p:cNvPr>
          <p:cNvSpPr>
            <a:spLocks noGrp="1"/>
          </p:cNvSpPr>
          <p:nvPr>
            <p:ph type="title"/>
          </p:nvPr>
        </p:nvSpPr>
        <p:spPr/>
        <p:txBody>
          <a:bodyPr/>
          <a:lstStyle/>
          <a:p>
            <a:r>
              <a:rPr lang="en-US" dirty="0"/>
              <a:t>IoT Impact: Connected Factory</a:t>
            </a:r>
          </a:p>
        </p:txBody>
      </p:sp>
      <p:sp>
        <p:nvSpPr>
          <p:cNvPr id="3" name="Content Placeholder 2">
            <a:extLst>
              <a:ext uri="{FF2B5EF4-FFF2-40B4-BE49-F238E27FC236}">
                <a16:creationId xmlns:a16="http://schemas.microsoft.com/office/drawing/2014/main" id="{6A528450-6D68-4B4A-BA67-007E8CB21B2E}"/>
              </a:ext>
            </a:extLst>
          </p:cNvPr>
          <p:cNvSpPr>
            <a:spLocks noGrp="1"/>
          </p:cNvSpPr>
          <p:nvPr>
            <p:ph idx="1"/>
          </p:nvPr>
        </p:nvSpPr>
        <p:spPr/>
        <p:txBody>
          <a:bodyPr>
            <a:normAutofit/>
          </a:bodyPr>
          <a:lstStyle/>
          <a:p>
            <a:r>
              <a:rPr lang="en-US" dirty="0"/>
              <a:t>Challenges facing manufacturing in a factor environment</a:t>
            </a:r>
          </a:p>
          <a:p>
            <a:pPr lvl="1">
              <a:buFont typeface="Wingdings" panose="05000000000000000000" pitchFamily="2" charset="2"/>
              <a:buChar char="Ø"/>
            </a:pPr>
            <a:r>
              <a:rPr lang="en-US" dirty="0"/>
              <a:t>Accelerating new product and service introductions to meet customer and market opportunities</a:t>
            </a:r>
          </a:p>
          <a:p>
            <a:pPr lvl="1">
              <a:buFont typeface="Wingdings" panose="05000000000000000000" pitchFamily="2" charset="2"/>
              <a:buChar char="Ø"/>
            </a:pPr>
            <a:r>
              <a:rPr lang="en-US" dirty="0"/>
              <a:t>Increasing plant production, quality, and uptime while decreasing cost</a:t>
            </a:r>
          </a:p>
          <a:p>
            <a:pPr lvl="1">
              <a:buFont typeface="Wingdings" panose="05000000000000000000" pitchFamily="2" charset="2"/>
              <a:buChar char="Ø"/>
            </a:pPr>
            <a:r>
              <a:rPr lang="en-US" dirty="0"/>
              <a:t> Mitigating unplanned downtime (which wastes, on average, at least 5% of production)</a:t>
            </a:r>
          </a:p>
          <a:p>
            <a:pPr lvl="1">
              <a:buFont typeface="Wingdings" panose="05000000000000000000" pitchFamily="2" charset="2"/>
              <a:buChar char="Ø"/>
            </a:pPr>
            <a:r>
              <a:rPr lang="en-US" dirty="0"/>
              <a:t>Securing factories from cyber threats</a:t>
            </a:r>
          </a:p>
          <a:p>
            <a:pPr lvl="1">
              <a:buFont typeface="Wingdings" panose="05000000000000000000" pitchFamily="2" charset="2"/>
              <a:buChar char="Ø"/>
            </a:pPr>
            <a:r>
              <a:rPr lang="en-US" dirty="0"/>
              <a:t> Decreasing high cabling and re-cabling costs (up to 60% of deployment costs)</a:t>
            </a:r>
          </a:p>
          <a:p>
            <a:pPr lvl="1">
              <a:buFont typeface="Wingdings" panose="05000000000000000000" pitchFamily="2" charset="2"/>
              <a:buChar char="Ø"/>
            </a:pPr>
            <a:r>
              <a:rPr lang="en-US" dirty="0"/>
              <a:t>Improving worker productivity and safety</a:t>
            </a:r>
          </a:p>
        </p:txBody>
      </p:sp>
    </p:spTree>
    <p:extLst>
      <p:ext uri="{BB962C8B-B14F-4D97-AF65-F5344CB8AC3E}">
        <p14:creationId xmlns:p14="http://schemas.microsoft.com/office/powerpoint/2010/main" val="3835011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E3CD-D806-4B19-8F48-DBC1B1535F9D}"/>
              </a:ext>
            </a:extLst>
          </p:cNvPr>
          <p:cNvSpPr>
            <a:spLocks noGrp="1"/>
          </p:cNvSpPr>
          <p:nvPr>
            <p:ph type="title"/>
          </p:nvPr>
        </p:nvSpPr>
        <p:spPr/>
        <p:txBody>
          <a:bodyPr/>
          <a:lstStyle/>
          <a:p>
            <a:r>
              <a:rPr lang="en-US" dirty="0"/>
              <a:t>IoT Impact: Connected Factory</a:t>
            </a:r>
          </a:p>
        </p:txBody>
      </p:sp>
      <p:sp>
        <p:nvSpPr>
          <p:cNvPr id="3" name="Content Placeholder 2">
            <a:extLst>
              <a:ext uri="{FF2B5EF4-FFF2-40B4-BE49-F238E27FC236}">
                <a16:creationId xmlns:a16="http://schemas.microsoft.com/office/drawing/2014/main" id="{22D2189E-498A-4B1A-AC72-EC615E9F4C66}"/>
              </a:ext>
            </a:extLst>
          </p:cNvPr>
          <p:cNvSpPr>
            <a:spLocks noGrp="1"/>
          </p:cNvSpPr>
          <p:nvPr>
            <p:ph idx="1"/>
          </p:nvPr>
        </p:nvSpPr>
        <p:spPr>
          <a:xfrm>
            <a:off x="838200" y="1532965"/>
            <a:ext cx="10515600" cy="4343400"/>
          </a:xfrm>
        </p:spPr>
        <p:txBody>
          <a:bodyPr>
            <a:normAutofit fontScale="92500" lnSpcReduction="10000"/>
          </a:bodyPr>
          <a:lstStyle/>
          <a:p>
            <a:r>
              <a:rPr lang="en-US" dirty="0"/>
              <a:t>Convergence of factory-based operational technologies and architectures with global IT networks is referred to as the connected factory</a:t>
            </a:r>
          </a:p>
          <a:p>
            <a:r>
              <a:rPr lang="en-US" dirty="0"/>
              <a:t>Large number of sensors are already used in factories. With IoT, these sensors are becoming advanced and attaining new level of connectivity (mainly using Internet Protocol (IP))</a:t>
            </a:r>
          </a:p>
          <a:p>
            <a:r>
              <a:rPr lang="en-US" dirty="0"/>
              <a:t>Devices on plant floor transmit and receive large quantities of real-time informational and diagnostic data</a:t>
            </a:r>
          </a:p>
          <a:p>
            <a:r>
              <a:rPr lang="en-US" dirty="0"/>
              <a:t>Connected Factory Examples: </a:t>
            </a:r>
          </a:p>
          <a:p>
            <a:pPr lvl="1">
              <a:buFont typeface="Wingdings" panose="05000000000000000000" pitchFamily="2" charset="2"/>
              <a:buChar char="Ø"/>
            </a:pPr>
            <a:r>
              <a:rPr lang="en-US" dirty="0"/>
              <a:t>“machine-to-people” connections are implemented to bring sensor data directly to operators on the floor via mobile devices</a:t>
            </a:r>
          </a:p>
          <a:p>
            <a:pPr lvl="1">
              <a:buFont typeface="Wingdings" panose="05000000000000000000" pitchFamily="2" charset="2"/>
              <a:buChar char="Ø"/>
            </a:pPr>
            <a:r>
              <a:rPr lang="en-US" dirty="0"/>
              <a:t>real-time location system (RTLS) utilizes small and easily deployed Wi-Fi RFID tags that attach to virtually any material and provide real-time location and status</a:t>
            </a:r>
          </a:p>
        </p:txBody>
      </p:sp>
    </p:spTree>
    <p:extLst>
      <p:ext uri="{BB962C8B-B14F-4D97-AF65-F5344CB8AC3E}">
        <p14:creationId xmlns:p14="http://schemas.microsoft.com/office/powerpoint/2010/main" val="781457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F834A-44E6-4104-A858-82D312844CB7}"/>
              </a:ext>
            </a:extLst>
          </p:cNvPr>
          <p:cNvSpPr>
            <a:spLocks noGrp="1"/>
          </p:cNvSpPr>
          <p:nvPr>
            <p:ph type="title"/>
          </p:nvPr>
        </p:nvSpPr>
        <p:spPr/>
        <p:txBody>
          <a:bodyPr/>
          <a:lstStyle/>
          <a:p>
            <a:r>
              <a:rPr lang="en-US" dirty="0"/>
              <a:t>IoT Impact: Industry Revolution </a:t>
            </a:r>
          </a:p>
        </p:txBody>
      </p:sp>
      <p:pic>
        <p:nvPicPr>
          <p:cNvPr id="5" name="Content Placeholder 4">
            <a:extLst>
              <a:ext uri="{FF2B5EF4-FFF2-40B4-BE49-F238E27FC236}">
                <a16:creationId xmlns:a16="http://schemas.microsoft.com/office/drawing/2014/main" id="{03EF8F05-F631-454C-ADE0-D060EEBB4AF1}"/>
              </a:ext>
            </a:extLst>
          </p:cNvPr>
          <p:cNvPicPr>
            <a:picLocks noGrp="1" noChangeAspect="1"/>
          </p:cNvPicPr>
          <p:nvPr>
            <p:ph idx="1"/>
          </p:nvPr>
        </p:nvPicPr>
        <p:blipFill>
          <a:blip r:embed="rId2"/>
          <a:stretch>
            <a:fillRect/>
          </a:stretch>
        </p:blipFill>
        <p:spPr>
          <a:xfrm>
            <a:off x="1653988" y="1464608"/>
            <a:ext cx="7126941" cy="4277285"/>
          </a:xfrm>
        </p:spPr>
      </p:pic>
      <p:sp>
        <p:nvSpPr>
          <p:cNvPr id="7" name="TextBox 6">
            <a:extLst>
              <a:ext uri="{FF2B5EF4-FFF2-40B4-BE49-F238E27FC236}">
                <a16:creationId xmlns:a16="http://schemas.microsoft.com/office/drawing/2014/main" id="{451E3E3D-5E9A-4922-BAD7-0ACDA6118879}"/>
              </a:ext>
            </a:extLst>
          </p:cNvPr>
          <p:cNvSpPr txBox="1"/>
          <p:nvPr/>
        </p:nvSpPr>
        <p:spPr>
          <a:xfrm>
            <a:off x="3694579" y="5741893"/>
            <a:ext cx="6098240" cy="369332"/>
          </a:xfrm>
          <a:prstGeom prst="rect">
            <a:avLst/>
          </a:prstGeom>
          <a:noFill/>
        </p:spPr>
        <p:txBody>
          <a:bodyPr wrap="square">
            <a:spAutoFit/>
          </a:bodyPr>
          <a:lstStyle/>
          <a:p>
            <a:r>
              <a:rPr lang="en-US" dirty="0"/>
              <a:t>The Four Industrial Revolutions</a:t>
            </a:r>
          </a:p>
        </p:txBody>
      </p:sp>
    </p:spTree>
    <p:extLst>
      <p:ext uri="{BB962C8B-B14F-4D97-AF65-F5344CB8AC3E}">
        <p14:creationId xmlns:p14="http://schemas.microsoft.com/office/powerpoint/2010/main" val="2649397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FF8A7-8652-41EA-BF3A-AEEF97AE7F53}"/>
              </a:ext>
            </a:extLst>
          </p:cNvPr>
          <p:cNvSpPr>
            <a:spLocks noGrp="1"/>
          </p:cNvSpPr>
          <p:nvPr>
            <p:ph type="title"/>
          </p:nvPr>
        </p:nvSpPr>
        <p:spPr/>
        <p:txBody>
          <a:bodyPr/>
          <a:lstStyle/>
          <a:p>
            <a:r>
              <a:rPr lang="en-US"/>
              <a:t>Industry 4.0</a:t>
            </a:r>
          </a:p>
        </p:txBody>
      </p:sp>
      <p:sp>
        <p:nvSpPr>
          <p:cNvPr id="3" name="Content Placeholder 2">
            <a:extLst>
              <a:ext uri="{FF2B5EF4-FFF2-40B4-BE49-F238E27FC236}">
                <a16:creationId xmlns:a16="http://schemas.microsoft.com/office/drawing/2014/main" id="{5A0F68D5-A419-4476-A585-52FE5B8B3753}"/>
              </a:ext>
            </a:extLst>
          </p:cNvPr>
          <p:cNvSpPr>
            <a:spLocks noGrp="1"/>
          </p:cNvSpPr>
          <p:nvPr>
            <p:ph idx="1"/>
          </p:nvPr>
        </p:nvSpPr>
        <p:spPr/>
        <p:txBody>
          <a:bodyPr/>
          <a:lstStyle/>
          <a:p>
            <a:r>
              <a:rPr lang="en-US" dirty="0"/>
              <a:t>Industry 4.0 takes manufacturing from a purely automated assembly line model of production to a model where the machines are intelligent and communicate with one another</a:t>
            </a:r>
          </a:p>
          <a:p>
            <a:r>
              <a:rPr lang="en-US" dirty="0"/>
              <a:t> People and machines work together to analyze the data and make intelligent decisions</a:t>
            </a:r>
          </a:p>
          <a:p>
            <a:r>
              <a:rPr lang="en-US" dirty="0"/>
              <a:t>Machines predicting failures and self-healing</a:t>
            </a:r>
          </a:p>
          <a:p>
            <a:r>
              <a:rPr lang="en-US" dirty="0"/>
              <a:t>Human monitoring and intervention are no longer necessary</a:t>
            </a:r>
          </a:p>
          <a:p>
            <a:endParaRPr lang="en-US" dirty="0"/>
          </a:p>
        </p:txBody>
      </p:sp>
    </p:spTree>
    <p:extLst>
      <p:ext uri="{BB962C8B-B14F-4D97-AF65-F5344CB8AC3E}">
        <p14:creationId xmlns:p14="http://schemas.microsoft.com/office/powerpoint/2010/main" val="1432874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A3E7-F714-4FDD-A496-3E8C82B12416}"/>
              </a:ext>
            </a:extLst>
          </p:cNvPr>
          <p:cNvSpPr>
            <a:spLocks noGrp="1"/>
          </p:cNvSpPr>
          <p:nvPr>
            <p:ph type="title"/>
          </p:nvPr>
        </p:nvSpPr>
        <p:spPr/>
        <p:txBody>
          <a:bodyPr/>
          <a:lstStyle/>
          <a:p>
            <a:r>
              <a:rPr lang="en-US" dirty="0"/>
              <a:t>IoT Impact- Smart Connected Buildings</a:t>
            </a:r>
          </a:p>
        </p:txBody>
      </p:sp>
      <p:sp>
        <p:nvSpPr>
          <p:cNvPr id="3" name="Content Placeholder 2">
            <a:extLst>
              <a:ext uri="{FF2B5EF4-FFF2-40B4-BE49-F238E27FC236}">
                <a16:creationId xmlns:a16="http://schemas.microsoft.com/office/drawing/2014/main" id="{83B875DB-4992-4FB7-869E-218F945EDE53}"/>
              </a:ext>
            </a:extLst>
          </p:cNvPr>
          <p:cNvSpPr>
            <a:spLocks noGrp="1"/>
          </p:cNvSpPr>
          <p:nvPr>
            <p:ph idx="1"/>
          </p:nvPr>
        </p:nvSpPr>
        <p:spPr/>
        <p:txBody>
          <a:bodyPr/>
          <a:lstStyle/>
          <a:p>
            <a:r>
              <a:rPr lang="en-US" dirty="0"/>
              <a:t>De facto communication protocol responsible for building automation is Building Automation and Control Network (BACnet)</a:t>
            </a:r>
          </a:p>
          <a:p>
            <a:pPr lvl="1">
              <a:buFont typeface="Wingdings" panose="05000000000000000000" pitchFamily="2" charset="2"/>
              <a:buChar char="Ø"/>
            </a:pPr>
            <a:r>
              <a:rPr lang="en-US" dirty="0"/>
              <a:t> Ethernet-based communication between building devices such as HVAC, Lighting, Access Control, and fire detection systems. </a:t>
            </a:r>
          </a:p>
          <a:p>
            <a:pPr lvl="1">
              <a:buFont typeface="Wingdings" panose="05000000000000000000" pitchFamily="2" charset="2"/>
              <a:buChar char="Ø"/>
            </a:pPr>
            <a:r>
              <a:rPr lang="en-US" dirty="0"/>
              <a:t>BACnet interfaced with IP network will allow the “things” in the building network to  communicate over IP</a:t>
            </a:r>
          </a:p>
        </p:txBody>
      </p:sp>
    </p:spTree>
    <p:extLst>
      <p:ext uri="{BB962C8B-B14F-4D97-AF65-F5344CB8AC3E}">
        <p14:creationId xmlns:p14="http://schemas.microsoft.com/office/powerpoint/2010/main" val="861272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0175B-E5E9-42CB-9D0F-1A8D77A9F652}"/>
              </a:ext>
            </a:extLst>
          </p:cNvPr>
          <p:cNvSpPr>
            <a:spLocks noGrp="1"/>
          </p:cNvSpPr>
          <p:nvPr>
            <p:ph type="title"/>
          </p:nvPr>
        </p:nvSpPr>
        <p:spPr/>
        <p:txBody>
          <a:bodyPr/>
          <a:lstStyle/>
          <a:p>
            <a:r>
              <a:rPr lang="en-US" dirty="0"/>
              <a:t>IoT Impact- Smart Connected Buildings</a:t>
            </a:r>
          </a:p>
        </p:txBody>
      </p:sp>
      <p:pic>
        <p:nvPicPr>
          <p:cNvPr id="5" name="Content Placeholder 4">
            <a:extLst>
              <a:ext uri="{FF2B5EF4-FFF2-40B4-BE49-F238E27FC236}">
                <a16:creationId xmlns:a16="http://schemas.microsoft.com/office/drawing/2014/main" id="{26DD06ED-080F-406A-8E09-8FF72BAE2EA7}"/>
              </a:ext>
            </a:extLst>
          </p:cNvPr>
          <p:cNvPicPr>
            <a:picLocks noGrp="1" noChangeAspect="1"/>
          </p:cNvPicPr>
          <p:nvPr>
            <p:ph idx="1"/>
          </p:nvPr>
        </p:nvPicPr>
        <p:blipFill>
          <a:blip r:embed="rId2"/>
          <a:stretch>
            <a:fillRect/>
          </a:stretch>
        </p:blipFill>
        <p:spPr>
          <a:xfrm>
            <a:off x="1680881" y="1519518"/>
            <a:ext cx="7906871" cy="4640822"/>
          </a:xfrm>
        </p:spPr>
      </p:pic>
      <p:sp>
        <p:nvSpPr>
          <p:cNvPr id="7" name="TextBox 6">
            <a:extLst>
              <a:ext uri="{FF2B5EF4-FFF2-40B4-BE49-F238E27FC236}">
                <a16:creationId xmlns:a16="http://schemas.microsoft.com/office/drawing/2014/main" id="{FF7B12AF-6891-4FB0-BC96-F1A2BF4A8A1F}"/>
              </a:ext>
            </a:extLst>
          </p:cNvPr>
          <p:cNvSpPr txBox="1"/>
          <p:nvPr/>
        </p:nvSpPr>
        <p:spPr>
          <a:xfrm>
            <a:off x="3371851" y="6160340"/>
            <a:ext cx="6098240" cy="369332"/>
          </a:xfrm>
          <a:prstGeom prst="rect">
            <a:avLst/>
          </a:prstGeom>
          <a:noFill/>
        </p:spPr>
        <p:txBody>
          <a:bodyPr wrap="square">
            <a:spAutoFit/>
          </a:bodyPr>
          <a:lstStyle/>
          <a:p>
            <a:r>
              <a:rPr lang="en-US" dirty="0"/>
              <a:t>Convergence of Building Technologies to IP</a:t>
            </a:r>
          </a:p>
        </p:txBody>
      </p:sp>
    </p:spTree>
    <p:extLst>
      <p:ext uri="{BB962C8B-B14F-4D97-AF65-F5344CB8AC3E}">
        <p14:creationId xmlns:p14="http://schemas.microsoft.com/office/powerpoint/2010/main" val="1927614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D400D-C67C-4CB3-B9DE-F7AC47699B0B}"/>
              </a:ext>
            </a:extLst>
          </p:cNvPr>
          <p:cNvSpPr>
            <a:spLocks noGrp="1"/>
          </p:cNvSpPr>
          <p:nvPr>
            <p:ph type="title"/>
          </p:nvPr>
        </p:nvSpPr>
        <p:spPr/>
        <p:txBody>
          <a:bodyPr/>
          <a:lstStyle/>
          <a:p>
            <a:r>
              <a:rPr lang="en-US" dirty="0"/>
              <a:t>IoT Impact- Smart Connected Buildings</a:t>
            </a:r>
          </a:p>
        </p:txBody>
      </p:sp>
      <p:pic>
        <p:nvPicPr>
          <p:cNvPr id="9" name="Content Placeholder 8">
            <a:extLst>
              <a:ext uri="{FF2B5EF4-FFF2-40B4-BE49-F238E27FC236}">
                <a16:creationId xmlns:a16="http://schemas.microsoft.com/office/drawing/2014/main" id="{7B6398E1-0FDD-477E-B21F-78B9C4025557}"/>
              </a:ext>
            </a:extLst>
          </p:cNvPr>
          <p:cNvPicPr>
            <a:picLocks noGrp="1" noChangeAspect="1"/>
          </p:cNvPicPr>
          <p:nvPr>
            <p:ph idx="1"/>
          </p:nvPr>
        </p:nvPicPr>
        <p:blipFill>
          <a:blip r:embed="rId2"/>
          <a:stretch>
            <a:fillRect/>
          </a:stretch>
        </p:blipFill>
        <p:spPr>
          <a:xfrm>
            <a:off x="1976717" y="1452282"/>
            <a:ext cx="7261411" cy="4666130"/>
          </a:xfrm>
        </p:spPr>
      </p:pic>
      <p:sp>
        <p:nvSpPr>
          <p:cNvPr id="11" name="TextBox 10">
            <a:extLst>
              <a:ext uri="{FF2B5EF4-FFF2-40B4-BE49-F238E27FC236}">
                <a16:creationId xmlns:a16="http://schemas.microsoft.com/office/drawing/2014/main" id="{B3D505C2-1625-440C-989B-FE993193F532}"/>
              </a:ext>
            </a:extLst>
          </p:cNvPr>
          <p:cNvSpPr txBox="1"/>
          <p:nvPr/>
        </p:nvSpPr>
        <p:spPr>
          <a:xfrm>
            <a:off x="3950074" y="6118412"/>
            <a:ext cx="6098240" cy="369332"/>
          </a:xfrm>
          <a:prstGeom prst="rect">
            <a:avLst/>
          </a:prstGeom>
          <a:noFill/>
        </p:spPr>
        <p:txBody>
          <a:bodyPr wrap="square">
            <a:spAutoFit/>
          </a:bodyPr>
          <a:lstStyle/>
          <a:p>
            <a:r>
              <a:rPr lang="en-US" dirty="0"/>
              <a:t>A Framework for the Digital Ceiling</a:t>
            </a:r>
          </a:p>
        </p:txBody>
      </p:sp>
    </p:spTree>
    <p:extLst>
      <p:ext uri="{BB962C8B-B14F-4D97-AF65-F5344CB8AC3E}">
        <p14:creationId xmlns:p14="http://schemas.microsoft.com/office/powerpoint/2010/main" val="3409568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68620-45CD-4C1E-8CB4-D9DA12DBA96B}"/>
              </a:ext>
            </a:extLst>
          </p:cNvPr>
          <p:cNvSpPr>
            <a:spLocks noGrp="1"/>
          </p:cNvSpPr>
          <p:nvPr>
            <p:ph type="title"/>
          </p:nvPr>
        </p:nvSpPr>
        <p:spPr/>
        <p:txBody>
          <a:bodyPr/>
          <a:lstStyle/>
          <a:p>
            <a:r>
              <a:rPr lang="en-US" dirty="0"/>
              <a:t>Smart Connected Building- LED Digital Ceiling</a:t>
            </a:r>
          </a:p>
        </p:txBody>
      </p:sp>
      <p:sp>
        <p:nvSpPr>
          <p:cNvPr id="7" name="TextBox 6">
            <a:extLst>
              <a:ext uri="{FF2B5EF4-FFF2-40B4-BE49-F238E27FC236}">
                <a16:creationId xmlns:a16="http://schemas.microsoft.com/office/drawing/2014/main" id="{E60005DC-B31B-422E-999E-D73CD02B7871}"/>
              </a:ext>
            </a:extLst>
          </p:cNvPr>
          <p:cNvSpPr txBox="1"/>
          <p:nvPr/>
        </p:nvSpPr>
        <p:spPr>
          <a:xfrm>
            <a:off x="6302190" y="4886612"/>
            <a:ext cx="6098240" cy="369332"/>
          </a:xfrm>
          <a:prstGeom prst="rect">
            <a:avLst/>
          </a:prstGeom>
          <a:noFill/>
        </p:spPr>
        <p:txBody>
          <a:bodyPr wrap="square">
            <a:spAutoFit/>
          </a:bodyPr>
          <a:lstStyle/>
          <a:p>
            <a:r>
              <a:rPr lang="en-US" dirty="0"/>
              <a:t>An LED Digital Ceiling Light with Occupancy Sensor </a:t>
            </a:r>
          </a:p>
        </p:txBody>
      </p:sp>
      <p:sp>
        <p:nvSpPr>
          <p:cNvPr id="13" name="Content Placeholder 12">
            <a:extLst>
              <a:ext uri="{FF2B5EF4-FFF2-40B4-BE49-F238E27FC236}">
                <a16:creationId xmlns:a16="http://schemas.microsoft.com/office/drawing/2014/main" id="{DF529C46-F066-45A6-A873-82100B084294}"/>
              </a:ext>
            </a:extLst>
          </p:cNvPr>
          <p:cNvSpPr>
            <a:spLocks noGrp="1"/>
          </p:cNvSpPr>
          <p:nvPr>
            <p:ph idx="1"/>
          </p:nvPr>
        </p:nvSpPr>
        <p:spPr>
          <a:xfrm>
            <a:off x="838200" y="1825625"/>
            <a:ext cx="5302622" cy="4351338"/>
          </a:xfrm>
        </p:spPr>
        <p:txBody>
          <a:bodyPr>
            <a:normAutofit/>
          </a:bodyPr>
          <a:lstStyle/>
          <a:p>
            <a:r>
              <a:rPr lang="en-US" dirty="0"/>
              <a:t>An LED Digital Ceiling Light with Occupancy Sensor attached, providing control and power over the same infrastructure</a:t>
            </a:r>
          </a:p>
          <a:p>
            <a:r>
              <a:rPr lang="en-US" dirty="0"/>
              <a:t>most modern LED ceiling fixtures support occupancy sensors</a:t>
            </a:r>
          </a:p>
          <a:p>
            <a:r>
              <a:rPr lang="en-US" dirty="0"/>
              <a:t>modern lighting sensors integrate a variety of occupancy-sensing technologies, including Bluetooth low energy (BLE) and Wi-Fi</a:t>
            </a:r>
          </a:p>
          <a:p>
            <a:endParaRPr lang="en-US" dirty="0"/>
          </a:p>
          <a:p>
            <a:endParaRPr lang="en-US" dirty="0"/>
          </a:p>
        </p:txBody>
      </p:sp>
      <p:pic>
        <p:nvPicPr>
          <p:cNvPr id="14" name="Content Placeholder 4">
            <a:extLst>
              <a:ext uri="{FF2B5EF4-FFF2-40B4-BE49-F238E27FC236}">
                <a16:creationId xmlns:a16="http://schemas.microsoft.com/office/drawing/2014/main" id="{4234EF67-3A5D-4150-BEB6-EA4A224EABCE}"/>
              </a:ext>
            </a:extLst>
          </p:cNvPr>
          <p:cNvPicPr>
            <a:picLocks noChangeAspect="1"/>
          </p:cNvPicPr>
          <p:nvPr/>
        </p:nvPicPr>
        <p:blipFill>
          <a:blip r:embed="rId2"/>
          <a:stretch>
            <a:fillRect/>
          </a:stretch>
        </p:blipFill>
        <p:spPr>
          <a:xfrm>
            <a:off x="6302190" y="1690688"/>
            <a:ext cx="5302622" cy="3195924"/>
          </a:xfrm>
          <a:prstGeom prst="rect">
            <a:avLst/>
          </a:prstGeom>
        </p:spPr>
      </p:pic>
    </p:spTree>
    <p:extLst>
      <p:ext uri="{BB962C8B-B14F-4D97-AF65-F5344CB8AC3E}">
        <p14:creationId xmlns:p14="http://schemas.microsoft.com/office/powerpoint/2010/main" val="80104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FAA7-210B-4BF4-BBC3-CDF63084DC17}"/>
              </a:ext>
            </a:extLst>
          </p:cNvPr>
          <p:cNvSpPr>
            <a:spLocks noGrp="1"/>
          </p:cNvSpPr>
          <p:nvPr>
            <p:ph type="title"/>
          </p:nvPr>
        </p:nvSpPr>
        <p:spPr/>
        <p:txBody>
          <a:bodyPr/>
          <a:lstStyle/>
          <a:p>
            <a:r>
              <a:rPr lang="en-US" dirty="0"/>
              <a:t>IoT Impact: Smart Creatures</a:t>
            </a:r>
          </a:p>
        </p:txBody>
      </p:sp>
      <p:sp>
        <p:nvSpPr>
          <p:cNvPr id="3" name="Content Placeholder 2">
            <a:extLst>
              <a:ext uri="{FF2B5EF4-FFF2-40B4-BE49-F238E27FC236}">
                <a16:creationId xmlns:a16="http://schemas.microsoft.com/office/drawing/2014/main" id="{8CB9D0AC-9515-428F-9A0A-2A3FD23D180B}"/>
              </a:ext>
            </a:extLst>
          </p:cNvPr>
          <p:cNvSpPr>
            <a:spLocks noGrp="1"/>
          </p:cNvSpPr>
          <p:nvPr>
            <p:ph idx="1"/>
          </p:nvPr>
        </p:nvSpPr>
        <p:spPr>
          <a:xfrm>
            <a:off x="838200" y="1532965"/>
            <a:ext cx="10515600" cy="4643998"/>
          </a:xfrm>
        </p:spPr>
        <p:txBody>
          <a:bodyPr>
            <a:normAutofit/>
          </a:bodyPr>
          <a:lstStyle/>
          <a:p>
            <a:r>
              <a:rPr lang="en-US" dirty="0"/>
              <a:t>Connected Cows-Sparked, a Dutch company, developed a sensor that is placed in a cow’s ear. The sensor monitors various health aspects of the cow as well as its location and transmits the data wirelessly for analysis by the farmer</a:t>
            </a:r>
          </a:p>
          <a:p>
            <a:r>
              <a:rPr lang="en-US" dirty="0"/>
              <a:t>200 MB data per year- needs infrastructure for data </a:t>
            </a:r>
          </a:p>
          <a:p>
            <a:r>
              <a:rPr lang="en-US" dirty="0"/>
              <a:t>Researchers at North Carolina State University are working with Madagascar  hissing cockroaches in the hopes of helping emergency personnel rescue survivors after a disaster.</a:t>
            </a:r>
          </a:p>
          <a:p>
            <a:r>
              <a:rPr lang="en-US" dirty="0"/>
              <a:t>An electronic backpack attach with roach stimulate the cerci which makes cockroach to move forward. </a:t>
            </a:r>
          </a:p>
        </p:txBody>
      </p:sp>
    </p:spTree>
    <p:extLst>
      <p:ext uri="{BB962C8B-B14F-4D97-AF65-F5344CB8AC3E}">
        <p14:creationId xmlns:p14="http://schemas.microsoft.com/office/powerpoint/2010/main" val="371696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117B0-E3A4-4FAC-B87A-3A62470AA48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604EE21-22DB-481C-991F-01AE95924CAE}"/>
              </a:ext>
            </a:extLst>
          </p:cNvPr>
          <p:cNvPicPr>
            <a:picLocks noGrp="1" noChangeAspect="1"/>
          </p:cNvPicPr>
          <p:nvPr>
            <p:ph idx="1"/>
          </p:nvPr>
        </p:nvPicPr>
        <p:blipFill>
          <a:blip r:embed="rId2"/>
          <a:stretch>
            <a:fillRect/>
          </a:stretch>
        </p:blipFill>
        <p:spPr>
          <a:xfrm>
            <a:off x="1963271" y="1230406"/>
            <a:ext cx="8014447" cy="4397187"/>
          </a:xfrm>
        </p:spPr>
      </p:pic>
      <p:sp>
        <p:nvSpPr>
          <p:cNvPr id="7" name="TextBox 6">
            <a:extLst>
              <a:ext uri="{FF2B5EF4-FFF2-40B4-BE49-F238E27FC236}">
                <a16:creationId xmlns:a16="http://schemas.microsoft.com/office/drawing/2014/main" id="{F431F7CC-7202-4ABE-A086-66F5D48965A4}"/>
              </a:ext>
            </a:extLst>
          </p:cNvPr>
          <p:cNvSpPr txBox="1"/>
          <p:nvPr/>
        </p:nvSpPr>
        <p:spPr>
          <a:xfrm>
            <a:off x="2605368" y="5627593"/>
            <a:ext cx="7520267" cy="1200329"/>
          </a:xfrm>
          <a:prstGeom prst="rect">
            <a:avLst/>
          </a:prstGeom>
          <a:noFill/>
        </p:spPr>
        <p:txBody>
          <a:bodyPr wrap="square">
            <a:spAutoFit/>
          </a:bodyPr>
          <a:lstStyle/>
          <a:p>
            <a:r>
              <a:rPr lang="en-US" dirty="0"/>
              <a:t>IoT-Enabled Roach Can Assist in Finding Survivors After a Disaster </a:t>
            </a:r>
          </a:p>
          <a:p>
            <a:r>
              <a:rPr lang="en-US" dirty="0"/>
              <a:t>(Photo courtesy of </a:t>
            </a:r>
            <a:r>
              <a:rPr lang="en-US" dirty="0" err="1"/>
              <a:t>Alper</a:t>
            </a:r>
            <a:r>
              <a:rPr lang="en-US" dirty="0"/>
              <a:t> Bozkurt, NC State University)</a:t>
            </a:r>
          </a:p>
          <a:p>
            <a:r>
              <a:rPr lang="en-US" dirty="0">
                <a:hlinkClick r:id="rId3"/>
              </a:rPr>
              <a:t>https://www.youtube.com/watch?v=gmbEX7zDzog</a:t>
            </a:r>
            <a:endParaRPr lang="en-US" dirty="0"/>
          </a:p>
          <a:p>
            <a:endParaRPr lang="en-US" dirty="0"/>
          </a:p>
        </p:txBody>
      </p:sp>
    </p:spTree>
    <p:extLst>
      <p:ext uri="{BB962C8B-B14F-4D97-AF65-F5344CB8AC3E}">
        <p14:creationId xmlns:p14="http://schemas.microsoft.com/office/powerpoint/2010/main" val="2575084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9B2D3-C3FF-449A-82D3-59E21E4C8882}"/>
              </a:ext>
            </a:extLst>
          </p:cNvPr>
          <p:cNvSpPr>
            <a:spLocks noGrp="1"/>
          </p:cNvSpPr>
          <p:nvPr>
            <p:ph type="title"/>
          </p:nvPr>
        </p:nvSpPr>
        <p:spPr>
          <a:xfrm>
            <a:off x="838200" y="0"/>
            <a:ext cx="10515600" cy="1325563"/>
          </a:xfrm>
        </p:spPr>
        <p:txBody>
          <a:bodyPr/>
          <a:lstStyle/>
          <a:p>
            <a:r>
              <a:rPr lang="en-US" dirty="0"/>
              <a:t>Comparing OT and IT Network</a:t>
            </a:r>
          </a:p>
        </p:txBody>
      </p:sp>
      <p:graphicFrame>
        <p:nvGraphicFramePr>
          <p:cNvPr id="4" name="Table 4">
            <a:extLst>
              <a:ext uri="{FF2B5EF4-FFF2-40B4-BE49-F238E27FC236}">
                <a16:creationId xmlns:a16="http://schemas.microsoft.com/office/drawing/2014/main" id="{5D13E839-74EA-4EAC-93AA-53DE8AD3A813}"/>
              </a:ext>
            </a:extLst>
          </p:cNvPr>
          <p:cNvGraphicFramePr>
            <a:graphicFrameLocks noGrp="1"/>
          </p:cNvGraphicFramePr>
          <p:nvPr>
            <p:ph idx="1"/>
            <p:extLst>
              <p:ext uri="{D42A27DB-BD31-4B8C-83A1-F6EECF244321}">
                <p14:modId xmlns:p14="http://schemas.microsoft.com/office/powerpoint/2010/main" val="3611500063"/>
              </p:ext>
            </p:extLst>
          </p:nvPr>
        </p:nvGraphicFramePr>
        <p:xfrm>
          <a:off x="838200" y="952601"/>
          <a:ext cx="10387819" cy="5674360"/>
        </p:xfrm>
        <a:graphic>
          <a:graphicData uri="http://schemas.openxmlformats.org/drawingml/2006/table">
            <a:tbl>
              <a:tblPr firstRow="1" bandRow="1">
                <a:tableStyleId>{5C22544A-7EE6-4342-B048-85BDC9FD1C3A}</a:tableStyleId>
              </a:tblPr>
              <a:tblGrid>
                <a:gridCol w="2144151">
                  <a:extLst>
                    <a:ext uri="{9D8B030D-6E8A-4147-A177-3AD203B41FA5}">
                      <a16:colId xmlns:a16="http://schemas.microsoft.com/office/drawing/2014/main" val="919556590"/>
                    </a:ext>
                  </a:extLst>
                </a:gridCol>
                <a:gridCol w="3882683">
                  <a:extLst>
                    <a:ext uri="{9D8B030D-6E8A-4147-A177-3AD203B41FA5}">
                      <a16:colId xmlns:a16="http://schemas.microsoft.com/office/drawing/2014/main" val="2092479765"/>
                    </a:ext>
                  </a:extLst>
                </a:gridCol>
                <a:gridCol w="4360985">
                  <a:extLst>
                    <a:ext uri="{9D8B030D-6E8A-4147-A177-3AD203B41FA5}">
                      <a16:colId xmlns:a16="http://schemas.microsoft.com/office/drawing/2014/main" val="3167149715"/>
                    </a:ext>
                  </a:extLst>
                </a:gridCol>
              </a:tblGrid>
              <a:tr h="370840">
                <a:tc>
                  <a:txBody>
                    <a:bodyPr/>
                    <a:lstStyle/>
                    <a:p>
                      <a:r>
                        <a:rPr lang="en-US" dirty="0"/>
                        <a:t>Criterion</a:t>
                      </a:r>
                    </a:p>
                  </a:txBody>
                  <a:tcPr/>
                </a:tc>
                <a:tc>
                  <a:txBody>
                    <a:bodyPr/>
                    <a:lstStyle/>
                    <a:p>
                      <a:r>
                        <a:rPr lang="en-US" dirty="0"/>
                        <a:t>Industrial OT Network</a:t>
                      </a:r>
                    </a:p>
                  </a:txBody>
                  <a:tcPr/>
                </a:tc>
                <a:tc>
                  <a:txBody>
                    <a:bodyPr/>
                    <a:lstStyle/>
                    <a:p>
                      <a:r>
                        <a:rPr lang="en-US" dirty="0"/>
                        <a:t>Enterprise IT Network</a:t>
                      </a:r>
                    </a:p>
                  </a:txBody>
                  <a:tcPr/>
                </a:tc>
                <a:extLst>
                  <a:ext uri="{0D108BD9-81ED-4DB2-BD59-A6C34878D82A}">
                    <a16:rowId xmlns:a16="http://schemas.microsoft.com/office/drawing/2014/main" val="2904304525"/>
                  </a:ext>
                </a:extLst>
              </a:tr>
              <a:tr h="370840">
                <a:tc>
                  <a:txBody>
                    <a:bodyPr/>
                    <a:lstStyle/>
                    <a:p>
                      <a:r>
                        <a:rPr lang="en-US" dirty="0"/>
                        <a:t>Operational focus</a:t>
                      </a:r>
                    </a:p>
                  </a:txBody>
                  <a:tcPr/>
                </a:tc>
                <a:tc>
                  <a:txBody>
                    <a:bodyPr/>
                    <a:lstStyle/>
                    <a:p>
                      <a:r>
                        <a:rPr lang="en-US" dirty="0"/>
                        <a:t>Keep the business  operating 24x7</a:t>
                      </a:r>
                    </a:p>
                  </a:txBody>
                  <a:tcPr/>
                </a:tc>
                <a:tc>
                  <a:txBody>
                    <a:bodyPr/>
                    <a:lstStyle/>
                    <a:p>
                      <a:r>
                        <a:rPr lang="en-US" dirty="0"/>
                        <a:t>Manage the computers, data, and employee communication system in a secure way</a:t>
                      </a:r>
                    </a:p>
                  </a:txBody>
                  <a:tcPr/>
                </a:tc>
                <a:extLst>
                  <a:ext uri="{0D108BD9-81ED-4DB2-BD59-A6C34878D82A}">
                    <a16:rowId xmlns:a16="http://schemas.microsoft.com/office/drawing/2014/main" val="2564256047"/>
                  </a:ext>
                </a:extLst>
              </a:tr>
              <a:tr h="370840">
                <a:tc>
                  <a:txBody>
                    <a:bodyPr/>
                    <a:lstStyle/>
                    <a:p>
                      <a:r>
                        <a:rPr lang="en-US" dirty="0"/>
                        <a:t>Priorities </a:t>
                      </a:r>
                    </a:p>
                    <a:p>
                      <a:endParaRPr lang="en-US" dirty="0"/>
                    </a:p>
                  </a:txBody>
                  <a:tcPr/>
                </a:tc>
                <a:tc>
                  <a:txBody>
                    <a:bodyPr/>
                    <a:lstStyle/>
                    <a:p>
                      <a:r>
                        <a:rPr lang="en-US" dirty="0"/>
                        <a:t>1. Availability</a:t>
                      </a:r>
                    </a:p>
                    <a:p>
                      <a:r>
                        <a:rPr lang="en-US" dirty="0"/>
                        <a:t>2. Integrity</a:t>
                      </a:r>
                    </a:p>
                    <a:p>
                      <a:r>
                        <a:rPr lang="en-US" dirty="0"/>
                        <a:t>3. Security</a:t>
                      </a:r>
                    </a:p>
                  </a:txBody>
                  <a:tcPr/>
                </a:tc>
                <a:tc>
                  <a:txBody>
                    <a:bodyPr/>
                    <a:lstStyle/>
                    <a:p>
                      <a:r>
                        <a:rPr lang="en-US" dirty="0"/>
                        <a:t>1. Security</a:t>
                      </a:r>
                    </a:p>
                    <a:p>
                      <a:r>
                        <a:rPr lang="en-US" dirty="0"/>
                        <a:t>2. Integrity</a:t>
                      </a:r>
                    </a:p>
                    <a:p>
                      <a:r>
                        <a:rPr lang="en-US" dirty="0"/>
                        <a:t>3. Availability</a:t>
                      </a:r>
                    </a:p>
                  </a:txBody>
                  <a:tcPr/>
                </a:tc>
                <a:extLst>
                  <a:ext uri="{0D108BD9-81ED-4DB2-BD59-A6C34878D82A}">
                    <a16:rowId xmlns:a16="http://schemas.microsoft.com/office/drawing/2014/main" val="1647898923"/>
                  </a:ext>
                </a:extLst>
              </a:tr>
              <a:tr h="0">
                <a:tc>
                  <a:txBody>
                    <a:bodyPr/>
                    <a:lstStyle/>
                    <a:p>
                      <a:r>
                        <a:rPr lang="en-US" dirty="0"/>
                        <a:t>Types of data</a:t>
                      </a:r>
                    </a:p>
                  </a:txBody>
                  <a:tcPr/>
                </a:tc>
                <a:tc>
                  <a:txBody>
                    <a:bodyPr/>
                    <a:lstStyle/>
                    <a:p>
                      <a:r>
                        <a:rPr lang="en-US" dirty="0"/>
                        <a:t>Monitoring, control, and supervisory data</a:t>
                      </a:r>
                    </a:p>
                  </a:txBody>
                  <a:tcPr/>
                </a:tc>
                <a:tc>
                  <a:txBody>
                    <a:bodyPr/>
                    <a:lstStyle/>
                    <a:p>
                      <a:r>
                        <a:rPr lang="en-US" dirty="0"/>
                        <a:t>Voice, video, transactional, and bulk data</a:t>
                      </a:r>
                    </a:p>
                  </a:txBody>
                  <a:tcPr/>
                </a:tc>
                <a:extLst>
                  <a:ext uri="{0D108BD9-81ED-4DB2-BD59-A6C34878D82A}">
                    <a16:rowId xmlns:a16="http://schemas.microsoft.com/office/drawing/2014/main" val="537917843"/>
                  </a:ext>
                </a:extLst>
              </a:tr>
              <a:tr h="370840">
                <a:tc>
                  <a:txBody>
                    <a:bodyPr/>
                    <a:lstStyle/>
                    <a:p>
                      <a:r>
                        <a:rPr lang="en-US" dirty="0"/>
                        <a:t>Security </a:t>
                      </a:r>
                    </a:p>
                    <a:p>
                      <a:endParaRPr lang="en-US" dirty="0"/>
                    </a:p>
                  </a:txBody>
                  <a:tcPr/>
                </a:tc>
                <a:tc>
                  <a:txBody>
                    <a:bodyPr/>
                    <a:lstStyle/>
                    <a:p>
                      <a:r>
                        <a:rPr lang="en-US" dirty="0"/>
                        <a:t>Controlled physical </a:t>
                      </a:r>
                    </a:p>
                    <a:p>
                      <a:r>
                        <a:rPr lang="en-US" dirty="0"/>
                        <a:t>access to devices</a:t>
                      </a:r>
                    </a:p>
                  </a:txBody>
                  <a:tcPr/>
                </a:tc>
                <a:tc>
                  <a:txBody>
                    <a:bodyPr/>
                    <a:lstStyle/>
                    <a:p>
                      <a:r>
                        <a:rPr lang="en-US" dirty="0"/>
                        <a:t>Devices and users authenticated to the  network</a:t>
                      </a:r>
                    </a:p>
                  </a:txBody>
                  <a:tcPr/>
                </a:tc>
                <a:extLst>
                  <a:ext uri="{0D108BD9-81ED-4DB2-BD59-A6C34878D82A}">
                    <a16:rowId xmlns:a16="http://schemas.microsoft.com/office/drawing/2014/main" val="218197540"/>
                  </a:ext>
                </a:extLst>
              </a:tr>
              <a:tr h="370840">
                <a:tc>
                  <a:txBody>
                    <a:bodyPr/>
                    <a:lstStyle/>
                    <a:p>
                      <a:r>
                        <a:rPr lang="en-US" dirty="0"/>
                        <a:t>Implication of failure</a:t>
                      </a:r>
                    </a:p>
                    <a:p>
                      <a:endParaRPr lang="en-US" dirty="0"/>
                    </a:p>
                  </a:txBody>
                  <a:tcPr/>
                </a:tc>
                <a:tc>
                  <a:txBody>
                    <a:bodyPr/>
                    <a:lstStyle/>
                    <a:p>
                      <a:r>
                        <a:rPr lang="en-US" dirty="0"/>
                        <a:t>OT network disruption directly impacts business</a:t>
                      </a:r>
                    </a:p>
                  </a:txBody>
                  <a:tcPr/>
                </a:tc>
                <a:tc>
                  <a:txBody>
                    <a:bodyPr/>
                    <a:lstStyle/>
                    <a:p>
                      <a:r>
                        <a:rPr lang="en-US" dirty="0"/>
                        <a:t>Can be business impacting, depending on industry, but workarounds may be possible</a:t>
                      </a:r>
                    </a:p>
                  </a:txBody>
                  <a:tcPr/>
                </a:tc>
                <a:extLst>
                  <a:ext uri="{0D108BD9-81ED-4DB2-BD59-A6C34878D82A}">
                    <a16:rowId xmlns:a16="http://schemas.microsoft.com/office/drawing/2014/main" val="2963511014"/>
                  </a:ext>
                </a:extLst>
              </a:tr>
              <a:tr h="370840">
                <a:tc>
                  <a:txBody>
                    <a:bodyPr/>
                    <a:lstStyle/>
                    <a:p>
                      <a:r>
                        <a:rPr lang="en-US" dirty="0"/>
                        <a:t>Network upgrades </a:t>
                      </a:r>
                    </a:p>
                    <a:p>
                      <a:r>
                        <a:rPr lang="en-US" dirty="0"/>
                        <a:t>(software or hardware)</a:t>
                      </a:r>
                    </a:p>
                  </a:txBody>
                  <a:tcPr/>
                </a:tc>
                <a:tc>
                  <a:txBody>
                    <a:bodyPr/>
                    <a:lstStyle/>
                    <a:p>
                      <a:r>
                        <a:rPr lang="en-US" dirty="0"/>
                        <a:t>Only during operational maintenance windows</a:t>
                      </a:r>
                    </a:p>
                  </a:txBody>
                  <a:tcPr/>
                </a:tc>
                <a:tc>
                  <a:txBody>
                    <a:bodyPr/>
                    <a:lstStyle/>
                    <a:p>
                      <a:r>
                        <a:rPr lang="en-US" dirty="0"/>
                        <a:t>Often requires an outage window </a:t>
                      </a:r>
                    </a:p>
                    <a:p>
                      <a:r>
                        <a:rPr lang="en-US" dirty="0"/>
                        <a:t>when workers are not onsite; impact </a:t>
                      </a:r>
                    </a:p>
                    <a:p>
                      <a:r>
                        <a:rPr lang="en-US" dirty="0"/>
                        <a:t>can be mitigated</a:t>
                      </a:r>
                    </a:p>
                  </a:txBody>
                  <a:tcPr/>
                </a:tc>
                <a:extLst>
                  <a:ext uri="{0D108BD9-81ED-4DB2-BD59-A6C34878D82A}">
                    <a16:rowId xmlns:a16="http://schemas.microsoft.com/office/drawing/2014/main" val="964550242"/>
                  </a:ext>
                </a:extLst>
              </a:tr>
              <a:tr h="370840">
                <a:tc>
                  <a:txBody>
                    <a:bodyPr/>
                    <a:lstStyle/>
                    <a:p>
                      <a:r>
                        <a:rPr lang="en-US" dirty="0"/>
                        <a:t>Security vulnerability</a:t>
                      </a:r>
                    </a:p>
                  </a:txBody>
                  <a:tcPr/>
                </a:tc>
                <a:tc>
                  <a:txBody>
                    <a:bodyPr/>
                    <a:lstStyle/>
                    <a:p>
                      <a:r>
                        <a:rPr lang="en-US" dirty="0"/>
                        <a:t>Low: OT networks are </a:t>
                      </a:r>
                    </a:p>
                    <a:p>
                      <a:r>
                        <a:rPr lang="en-US" dirty="0"/>
                        <a:t>isolated and often use proprietary </a:t>
                      </a:r>
                    </a:p>
                    <a:p>
                      <a:r>
                        <a:rPr lang="en-US" dirty="0"/>
                        <a:t>protocols</a:t>
                      </a:r>
                    </a:p>
                  </a:txBody>
                  <a:tcPr/>
                </a:tc>
                <a:tc>
                  <a:txBody>
                    <a:bodyPr/>
                    <a:lstStyle/>
                    <a:p>
                      <a:r>
                        <a:rPr lang="en-US" dirty="0"/>
                        <a:t>High: continual patching of hosts is  required, and the network is connected</a:t>
                      </a:r>
                    </a:p>
                    <a:p>
                      <a:r>
                        <a:rPr lang="en-US" dirty="0"/>
                        <a:t>to Internet and requires vigilant  protection</a:t>
                      </a:r>
                    </a:p>
                  </a:txBody>
                  <a:tcPr/>
                </a:tc>
                <a:extLst>
                  <a:ext uri="{0D108BD9-81ED-4DB2-BD59-A6C34878D82A}">
                    <a16:rowId xmlns:a16="http://schemas.microsoft.com/office/drawing/2014/main" val="1724283921"/>
                  </a:ext>
                </a:extLst>
              </a:tr>
            </a:tbl>
          </a:graphicData>
        </a:graphic>
      </p:graphicFrame>
    </p:spTree>
    <p:extLst>
      <p:ext uri="{BB962C8B-B14F-4D97-AF65-F5344CB8AC3E}">
        <p14:creationId xmlns:p14="http://schemas.microsoft.com/office/powerpoint/2010/main" val="1667512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C4E6F-9770-48B1-BCB5-AA7A366E5CD4}"/>
              </a:ext>
            </a:extLst>
          </p:cNvPr>
          <p:cNvSpPr>
            <a:spLocks noGrp="1"/>
          </p:cNvSpPr>
          <p:nvPr>
            <p:ph type="title"/>
          </p:nvPr>
        </p:nvSpPr>
        <p:spPr/>
        <p:txBody>
          <a:bodyPr/>
          <a:lstStyle/>
          <a:p>
            <a:r>
              <a:rPr lang="en-US" dirty="0"/>
              <a:t>Convergence of IT and OT</a:t>
            </a:r>
          </a:p>
        </p:txBody>
      </p:sp>
      <p:sp>
        <p:nvSpPr>
          <p:cNvPr id="3" name="Content Placeholder 2">
            <a:extLst>
              <a:ext uri="{FF2B5EF4-FFF2-40B4-BE49-F238E27FC236}">
                <a16:creationId xmlns:a16="http://schemas.microsoft.com/office/drawing/2014/main" id="{B220D3C1-A76C-4824-98AD-4C6D1E086CBA}"/>
              </a:ext>
            </a:extLst>
          </p:cNvPr>
          <p:cNvSpPr>
            <a:spLocks noGrp="1"/>
          </p:cNvSpPr>
          <p:nvPr>
            <p:ph idx="1"/>
          </p:nvPr>
        </p:nvSpPr>
        <p:spPr/>
        <p:txBody>
          <a:bodyPr/>
          <a:lstStyle/>
          <a:p>
            <a:r>
              <a:rPr lang="en-US" dirty="0"/>
              <a:t>More efficient and profitable business </a:t>
            </a:r>
          </a:p>
          <a:p>
            <a:r>
              <a:rPr lang="en-US" dirty="0"/>
              <a:t>Lower costs through economy of scales </a:t>
            </a:r>
          </a:p>
          <a:p>
            <a:r>
              <a:rPr lang="en-US" dirty="0"/>
              <a:t>Reduced inventory and improved delivery times</a:t>
            </a:r>
          </a:p>
          <a:p>
            <a:r>
              <a:rPr lang="en-US" dirty="0"/>
              <a:t>With IT/OT convergence, IoT becomes fully supported by both groups.</a:t>
            </a:r>
          </a:p>
          <a:p>
            <a:r>
              <a:rPr lang="en-US" dirty="0"/>
              <a:t>“best of both worlds”  scenario, where solid industrial control systems reside on an open, integrated, and secure technology foundation</a:t>
            </a:r>
          </a:p>
        </p:txBody>
      </p:sp>
    </p:spTree>
    <p:extLst>
      <p:ext uri="{BB962C8B-B14F-4D97-AF65-F5344CB8AC3E}">
        <p14:creationId xmlns:p14="http://schemas.microsoft.com/office/powerpoint/2010/main" val="3856950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248F6-15A7-43EB-AFB1-B2ECB15F8EBD}"/>
              </a:ext>
            </a:extLst>
          </p:cNvPr>
          <p:cNvSpPr>
            <a:spLocks noGrp="1"/>
          </p:cNvSpPr>
          <p:nvPr>
            <p:ph type="title"/>
          </p:nvPr>
        </p:nvSpPr>
        <p:spPr/>
        <p:txBody>
          <a:bodyPr/>
          <a:lstStyle/>
          <a:p>
            <a:r>
              <a:rPr lang="en-US" dirty="0"/>
              <a:t>IoT Challenges</a:t>
            </a:r>
          </a:p>
        </p:txBody>
      </p:sp>
      <p:graphicFrame>
        <p:nvGraphicFramePr>
          <p:cNvPr id="4" name="Table 4">
            <a:extLst>
              <a:ext uri="{FF2B5EF4-FFF2-40B4-BE49-F238E27FC236}">
                <a16:creationId xmlns:a16="http://schemas.microsoft.com/office/drawing/2014/main" id="{5FF67D9E-BFF1-4663-8040-B838A9FC5AA0}"/>
              </a:ext>
            </a:extLst>
          </p:cNvPr>
          <p:cNvGraphicFramePr>
            <a:graphicFrameLocks noGrp="1"/>
          </p:cNvGraphicFramePr>
          <p:nvPr>
            <p:ph idx="1"/>
            <p:extLst>
              <p:ext uri="{D42A27DB-BD31-4B8C-83A1-F6EECF244321}">
                <p14:modId xmlns:p14="http://schemas.microsoft.com/office/powerpoint/2010/main" val="641369362"/>
              </p:ext>
            </p:extLst>
          </p:nvPr>
        </p:nvGraphicFramePr>
        <p:xfrm>
          <a:off x="838200" y="1429840"/>
          <a:ext cx="10515600" cy="5034280"/>
        </p:xfrm>
        <a:graphic>
          <a:graphicData uri="http://schemas.openxmlformats.org/drawingml/2006/table">
            <a:tbl>
              <a:tblPr firstRow="1" bandRow="1">
                <a:tableStyleId>{5C22544A-7EE6-4342-B048-85BDC9FD1C3A}</a:tableStyleId>
              </a:tblPr>
              <a:tblGrid>
                <a:gridCol w="1427328">
                  <a:extLst>
                    <a:ext uri="{9D8B030D-6E8A-4147-A177-3AD203B41FA5}">
                      <a16:colId xmlns:a16="http://schemas.microsoft.com/office/drawing/2014/main" val="3538711325"/>
                    </a:ext>
                  </a:extLst>
                </a:gridCol>
                <a:gridCol w="9088272">
                  <a:extLst>
                    <a:ext uri="{9D8B030D-6E8A-4147-A177-3AD203B41FA5}">
                      <a16:colId xmlns:a16="http://schemas.microsoft.com/office/drawing/2014/main" val="2485603275"/>
                    </a:ext>
                  </a:extLst>
                </a:gridCol>
              </a:tblGrid>
              <a:tr h="370840">
                <a:tc>
                  <a:txBody>
                    <a:bodyPr/>
                    <a:lstStyle/>
                    <a:p>
                      <a:r>
                        <a:rPr lang="en-US" dirty="0"/>
                        <a:t>Challenges </a:t>
                      </a:r>
                    </a:p>
                  </a:txBody>
                  <a:tcPr/>
                </a:tc>
                <a:tc>
                  <a:txBody>
                    <a:bodyPr/>
                    <a:lstStyle/>
                    <a:p>
                      <a:r>
                        <a:rPr lang="en-US" dirty="0"/>
                        <a:t>Description</a:t>
                      </a:r>
                    </a:p>
                  </a:txBody>
                  <a:tcPr/>
                </a:tc>
                <a:extLst>
                  <a:ext uri="{0D108BD9-81ED-4DB2-BD59-A6C34878D82A}">
                    <a16:rowId xmlns:a16="http://schemas.microsoft.com/office/drawing/2014/main" val="2805765768"/>
                  </a:ext>
                </a:extLst>
              </a:tr>
              <a:tr h="370840">
                <a:tc>
                  <a:txBody>
                    <a:bodyPr/>
                    <a:lstStyle/>
                    <a:p>
                      <a:r>
                        <a:rPr lang="en-US" dirty="0"/>
                        <a:t>Scale</a:t>
                      </a:r>
                    </a:p>
                  </a:txBody>
                  <a:tcPr/>
                </a:tc>
                <a:tc>
                  <a:txBody>
                    <a:bodyPr/>
                    <a:lstStyle/>
                    <a:p>
                      <a:r>
                        <a:rPr lang="en-US" dirty="0"/>
                        <a:t>While the scale of IT networks can be large, the scale of OT can be several orders of magnitude larger. For example, one large electrical utility in Asia  recently began deploying IPv6-based smart meters on its electrical grid. While this utility company has tens of thousands of employees (which can be considered IP nodes in the network), the number of meters in the  service area is tens of millions. This means the scale of the network the utility is managing has increased by more than 1,000-fold! </a:t>
                      </a:r>
                    </a:p>
                  </a:txBody>
                  <a:tcPr/>
                </a:tc>
                <a:extLst>
                  <a:ext uri="{0D108BD9-81ED-4DB2-BD59-A6C34878D82A}">
                    <a16:rowId xmlns:a16="http://schemas.microsoft.com/office/drawing/2014/main" val="2288193072"/>
                  </a:ext>
                </a:extLst>
              </a:tr>
              <a:tr h="370840">
                <a:tc>
                  <a:txBody>
                    <a:bodyPr/>
                    <a:lstStyle/>
                    <a:p>
                      <a:r>
                        <a:rPr lang="en-US" dirty="0"/>
                        <a:t>Security</a:t>
                      </a:r>
                    </a:p>
                  </a:txBody>
                  <a:tcPr/>
                </a:tc>
                <a:tc>
                  <a:txBody>
                    <a:bodyPr/>
                    <a:lstStyle/>
                    <a:p>
                      <a:r>
                        <a:rPr lang="en-US" dirty="0"/>
                        <a:t>With more “things” becoming connected with other “things” and people, security is an increasingly complex issue for IoT. Your threat surface is now greatly expanded, and if a device gets hacked, its connectivity is a major concern. A compromised device can serve as a launching point to attack other devices and systems. IoT security is also pervasive across just about every facet of IoT</a:t>
                      </a:r>
                    </a:p>
                  </a:txBody>
                  <a:tcPr/>
                </a:tc>
                <a:extLst>
                  <a:ext uri="{0D108BD9-81ED-4DB2-BD59-A6C34878D82A}">
                    <a16:rowId xmlns:a16="http://schemas.microsoft.com/office/drawing/2014/main" val="3792275822"/>
                  </a:ext>
                </a:extLst>
              </a:tr>
              <a:tr h="1366299">
                <a:tc>
                  <a:txBody>
                    <a:bodyPr/>
                    <a:lstStyle/>
                    <a:p>
                      <a:r>
                        <a:rPr lang="en-US" dirty="0"/>
                        <a:t>Privacy</a:t>
                      </a:r>
                    </a:p>
                  </a:txBody>
                  <a:tcPr/>
                </a:tc>
                <a:tc>
                  <a:txBody>
                    <a:bodyPr/>
                    <a:lstStyle/>
                    <a:p>
                      <a:r>
                        <a:rPr lang="en-US" dirty="0"/>
                        <a:t>As sensors become more prolific in our everyday lives, much of the data they gather will be specific to individuals and their activities. This data can range from health information to shopping patterns and transactions at a retail establishment. For businesses, this data has monetary value. Organizations are now discussing who owns this data and how individuals </a:t>
                      </a:r>
                    </a:p>
                    <a:p>
                      <a:r>
                        <a:rPr lang="en-US" dirty="0"/>
                        <a:t>can control whether it is shared and with whom</a:t>
                      </a:r>
                    </a:p>
                  </a:txBody>
                  <a:tcPr/>
                </a:tc>
                <a:extLst>
                  <a:ext uri="{0D108BD9-81ED-4DB2-BD59-A6C34878D82A}">
                    <a16:rowId xmlns:a16="http://schemas.microsoft.com/office/drawing/2014/main" val="3831710826"/>
                  </a:ext>
                </a:extLst>
              </a:tr>
            </a:tbl>
          </a:graphicData>
        </a:graphic>
      </p:graphicFrame>
    </p:spTree>
    <p:extLst>
      <p:ext uri="{BB962C8B-B14F-4D97-AF65-F5344CB8AC3E}">
        <p14:creationId xmlns:p14="http://schemas.microsoft.com/office/powerpoint/2010/main" val="687305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248F6-15A7-43EB-AFB1-B2ECB15F8EBD}"/>
              </a:ext>
            </a:extLst>
          </p:cNvPr>
          <p:cNvSpPr>
            <a:spLocks noGrp="1"/>
          </p:cNvSpPr>
          <p:nvPr>
            <p:ph type="title"/>
          </p:nvPr>
        </p:nvSpPr>
        <p:spPr/>
        <p:txBody>
          <a:bodyPr/>
          <a:lstStyle/>
          <a:p>
            <a:r>
              <a:rPr lang="en-US" dirty="0"/>
              <a:t>IoT Challenges</a:t>
            </a:r>
          </a:p>
        </p:txBody>
      </p:sp>
      <p:graphicFrame>
        <p:nvGraphicFramePr>
          <p:cNvPr id="4" name="Table 4">
            <a:extLst>
              <a:ext uri="{FF2B5EF4-FFF2-40B4-BE49-F238E27FC236}">
                <a16:creationId xmlns:a16="http://schemas.microsoft.com/office/drawing/2014/main" id="{5FF67D9E-BFF1-4663-8040-B838A9FC5AA0}"/>
              </a:ext>
            </a:extLst>
          </p:cNvPr>
          <p:cNvGraphicFramePr>
            <a:graphicFrameLocks noGrp="1"/>
          </p:cNvGraphicFramePr>
          <p:nvPr>
            <p:ph idx="1"/>
            <p:extLst>
              <p:ext uri="{D42A27DB-BD31-4B8C-83A1-F6EECF244321}">
                <p14:modId xmlns:p14="http://schemas.microsoft.com/office/powerpoint/2010/main" val="1484613745"/>
              </p:ext>
            </p:extLst>
          </p:nvPr>
        </p:nvGraphicFramePr>
        <p:xfrm>
          <a:off x="838200" y="1429839"/>
          <a:ext cx="10515600" cy="4184897"/>
        </p:xfrm>
        <a:graphic>
          <a:graphicData uri="http://schemas.openxmlformats.org/drawingml/2006/table">
            <a:tbl>
              <a:tblPr firstRow="1" bandRow="1">
                <a:tableStyleId>{5C22544A-7EE6-4342-B048-85BDC9FD1C3A}</a:tableStyleId>
              </a:tblPr>
              <a:tblGrid>
                <a:gridCol w="1937084">
                  <a:extLst>
                    <a:ext uri="{9D8B030D-6E8A-4147-A177-3AD203B41FA5}">
                      <a16:colId xmlns:a16="http://schemas.microsoft.com/office/drawing/2014/main" val="3538711325"/>
                    </a:ext>
                  </a:extLst>
                </a:gridCol>
                <a:gridCol w="8578516">
                  <a:extLst>
                    <a:ext uri="{9D8B030D-6E8A-4147-A177-3AD203B41FA5}">
                      <a16:colId xmlns:a16="http://schemas.microsoft.com/office/drawing/2014/main" val="2485603275"/>
                    </a:ext>
                  </a:extLst>
                </a:gridCol>
              </a:tblGrid>
              <a:tr h="434563">
                <a:tc>
                  <a:txBody>
                    <a:bodyPr/>
                    <a:lstStyle/>
                    <a:p>
                      <a:r>
                        <a:rPr lang="en-US" dirty="0"/>
                        <a:t>Challenges </a:t>
                      </a:r>
                    </a:p>
                  </a:txBody>
                  <a:tcPr/>
                </a:tc>
                <a:tc>
                  <a:txBody>
                    <a:bodyPr/>
                    <a:lstStyle/>
                    <a:p>
                      <a:r>
                        <a:rPr lang="en-US" dirty="0"/>
                        <a:t>Description</a:t>
                      </a:r>
                    </a:p>
                  </a:txBody>
                  <a:tcPr/>
                </a:tc>
                <a:extLst>
                  <a:ext uri="{0D108BD9-81ED-4DB2-BD59-A6C34878D82A}">
                    <a16:rowId xmlns:a16="http://schemas.microsoft.com/office/drawing/2014/main" val="2805765768"/>
                  </a:ext>
                </a:extLst>
              </a:tr>
              <a:tr h="1392981">
                <a:tc>
                  <a:txBody>
                    <a:bodyPr/>
                    <a:lstStyle/>
                    <a:p>
                      <a:r>
                        <a:rPr lang="en-US" dirty="0"/>
                        <a:t>Big data and </a:t>
                      </a:r>
                    </a:p>
                    <a:p>
                      <a:r>
                        <a:rPr lang="en-US" dirty="0"/>
                        <a:t>data analytics</a:t>
                      </a:r>
                    </a:p>
                  </a:txBody>
                  <a:tcPr/>
                </a:tc>
                <a:tc>
                  <a:txBody>
                    <a:bodyPr/>
                    <a:lstStyle/>
                    <a:p>
                      <a:r>
                        <a:rPr lang="en-US" dirty="0"/>
                        <a:t>IoT and its large number of sensors is going to trigger a deluge of data that must be handled. This data will provide critical information and insights if it can be processed in an efficient manner. The challenge, however, is  evaluating massive amounts of data arriving from different sources in  various forms and doing so in a timely manner</a:t>
                      </a:r>
                    </a:p>
                  </a:txBody>
                  <a:tcPr/>
                </a:tc>
                <a:extLst>
                  <a:ext uri="{0D108BD9-81ED-4DB2-BD59-A6C34878D82A}">
                    <a16:rowId xmlns:a16="http://schemas.microsoft.com/office/drawing/2014/main" val="2288193072"/>
                  </a:ext>
                </a:extLst>
              </a:tr>
              <a:tr h="2357353">
                <a:tc>
                  <a:txBody>
                    <a:bodyPr/>
                    <a:lstStyle/>
                    <a:p>
                      <a:r>
                        <a:rPr lang="en-US" dirty="0"/>
                        <a:t>Interoperability </a:t>
                      </a:r>
                    </a:p>
                  </a:txBody>
                  <a:tcPr/>
                </a:tc>
                <a:tc>
                  <a:txBody>
                    <a:bodyPr/>
                    <a:lstStyle/>
                    <a:p>
                      <a:r>
                        <a:rPr lang="en-US" dirty="0"/>
                        <a:t>As with any other nascent technology, various protocols and architectures are jockeying for market share and standardization within IoT. Some of  these protocols and architectures are based on proprietary elements, and  others are open. Recent IoT standards are helping minimize this problem, but there are often various protocols and implementations available </a:t>
                      </a:r>
                      <a:r>
                        <a:rPr lang="en-US"/>
                        <a:t>for  IoT </a:t>
                      </a:r>
                      <a:r>
                        <a:rPr lang="en-US" dirty="0"/>
                        <a:t>networks. The prominent protocols and architectures—especially  open, standards-based implementations</a:t>
                      </a:r>
                    </a:p>
                  </a:txBody>
                  <a:tcPr/>
                </a:tc>
                <a:extLst>
                  <a:ext uri="{0D108BD9-81ED-4DB2-BD59-A6C34878D82A}">
                    <a16:rowId xmlns:a16="http://schemas.microsoft.com/office/drawing/2014/main" val="3792275822"/>
                  </a:ext>
                </a:extLst>
              </a:tr>
            </a:tbl>
          </a:graphicData>
        </a:graphic>
      </p:graphicFrame>
    </p:spTree>
    <p:extLst>
      <p:ext uri="{BB962C8B-B14F-4D97-AF65-F5344CB8AC3E}">
        <p14:creationId xmlns:p14="http://schemas.microsoft.com/office/powerpoint/2010/main" val="3134625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956FE-E3F4-441A-963D-1220A19DE8E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2995985-F658-461A-B5FF-02E9C3A39608}"/>
              </a:ext>
            </a:extLst>
          </p:cNvPr>
          <p:cNvSpPr>
            <a:spLocks noGrp="1"/>
          </p:cNvSpPr>
          <p:nvPr>
            <p:ph idx="1"/>
          </p:nvPr>
        </p:nvSpPr>
        <p:spPr/>
        <p:txBody>
          <a:bodyPr/>
          <a:lstStyle/>
          <a:p>
            <a:r>
              <a:rPr lang="en-US" dirty="0"/>
              <a:t>IoT is about connecting the unconnected, enabling smart objects to communicate with other objects, systems, and people</a:t>
            </a:r>
          </a:p>
          <a:p>
            <a:r>
              <a:rPr lang="en-US" dirty="0"/>
              <a:t>High-level use cases discussed to show the impact of IoT</a:t>
            </a:r>
          </a:p>
          <a:p>
            <a:r>
              <a:rPr lang="en-US" dirty="0"/>
              <a:t>Difference between IoT and Digitization was discussed </a:t>
            </a:r>
          </a:p>
          <a:p>
            <a:r>
              <a:rPr lang="en-US" dirty="0"/>
              <a:t>Challenges faced by IoT</a:t>
            </a:r>
          </a:p>
        </p:txBody>
      </p:sp>
    </p:spTree>
    <p:extLst>
      <p:ext uri="{BB962C8B-B14F-4D97-AF65-F5344CB8AC3E}">
        <p14:creationId xmlns:p14="http://schemas.microsoft.com/office/powerpoint/2010/main" val="1033932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DAF6-633D-4A49-A041-815F512506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BD9435-27FF-CB90-6022-EDB387EB2CBC}"/>
              </a:ext>
            </a:extLst>
          </p:cNvPr>
          <p:cNvSpPr>
            <a:spLocks noGrp="1"/>
          </p:cNvSpPr>
          <p:nvPr>
            <p:ph idx="1"/>
          </p:nvPr>
        </p:nvSpPr>
        <p:spPr>
          <a:xfrm>
            <a:off x="838200" y="495946"/>
            <a:ext cx="10515600" cy="5681017"/>
          </a:xfrm>
        </p:spPr>
        <p:txBody>
          <a:bodyPr>
            <a:normAutofit fontScale="55000" lnSpcReduction="20000"/>
          </a:bodyPr>
          <a:lstStyle/>
          <a:p>
            <a:pPr marL="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Active mode (AM)</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All clocks are active</a:t>
            </a:r>
            <a:endParaRPr lang="en-US" sz="3400" dirty="0">
              <a:effectLst/>
              <a:latin typeface="Times New Roman" panose="02020603050405020304" pitchFamily="18" charset="0"/>
              <a:ea typeface="Times New Roman" panose="02020603050405020304" pitchFamily="18" charset="0"/>
            </a:endParaRPr>
          </a:p>
          <a:p>
            <a:pPr marL="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Low-power mode 0 (LPM0)</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CPU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ACLK and SMCLK remain active, MCLK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FLL loop control remains active</a:t>
            </a:r>
            <a:endParaRPr lang="en-US" sz="3400" dirty="0">
              <a:effectLst/>
              <a:latin typeface="Times New Roman" panose="02020603050405020304" pitchFamily="18" charset="0"/>
              <a:ea typeface="Times New Roman" panose="02020603050405020304" pitchFamily="18" charset="0"/>
            </a:endParaRPr>
          </a:p>
          <a:p>
            <a:pPr marL="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Low-power mode 1 (LPM1)</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CPU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FLL loop control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ACLK and SMCLK remain active, MCLK is disabled</a:t>
            </a:r>
            <a:endParaRPr lang="en-US" sz="3400" dirty="0">
              <a:effectLst/>
              <a:latin typeface="Times New Roman" panose="02020603050405020304" pitchFamily="18" charset="0"/>
              <a:ea typeface="Times New Roman" panose="02020603050405020304" pitchFamily="18" charset="0"/>
            </a:endParaRPr>
          </a:p>
          <a:p>
            <a:pPr marL="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Low-power mode 2 (LPM2)</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CPU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MCLK and FLL loop control and DCOCLK are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DCO's dc-generator remains enabled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ACLK remains active</a:t>
            </a:r>
            <a:endParaRPr lang="en-US" sz="3400" dirty="0">
              <a:effectLst/>
              <a:latin typeface="Times New Roman" panose="02020603050405020304" pitchFamily="18" charset="0"/>
              <a:ea typeface="Times New Roman" panose="02020603050405020304" pitchFamily="18" charset="0"/>
            </a:endParaRPr>
          </a:p>
          <a:p>
            <a:pPr marL="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Low-power mode 3 (LPM3)</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CPU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MCLK, FLL loop control, and DCOCLK are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DCO's dc generator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ACLK remains active</a:t>
            </a:r>
            <a:endParaRPr lang="en-US" sz="3400" dirty="0">
              <a:effectLst/>
              <a:latin typeface="Times New Roman" panose="02020603050405020304" pitchFamily="18" charset="0"/>
              <a:ea typeface="Times New Roman" panose="02020603050405020304" pitchFamily="18" charset="0"/>
            </a:endParaRPr>
          </a:p>
          <a:p>
            <a:pPr marL="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Low-power mode 4 (LPM4)</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CPU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ACLK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MCLK, FLL loop control, and DCOCLK are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DCO's dc generator is disabled</a:t>
            </a:r>
            <a:endParaRPr lang="en-US" sz="3400" dirty="0">
              <a:effectLst/>
              <a:latin typeface="Times New Roman" panose="02020603050405020304" pitchFamily="18" charset="0"/>
              <a:ea typeface="Times New Roman" panose="02020603050405020304" pitchFamily="18" charset="0"/>
            </a:endParaRPr>
          </a:p>
          <a:p>
            <a:pPr marL="90170" marR="0" indent="0" algn="l">
              <a:spcBef>
                <a:spcPts val="0"/>
              </a:spcBef>
              <a:spcAft>
                <a:spcPts val="0"/>
              </a:spcAft>
              <a:buNone/>
            </a:pPr>
            <a:r>
              <a:rPr lang="en-GB" sz="3400" dirty="0">
                <a:effectLst/>
                <a:latin typeface="Candara" panose="020E0502030303020204" pitchFamily="34" charset="0"/>
                <a:ea typeface="Times New Roman" panose="02020603050405020304" pitchFamily="18" charset="0"/>
                <a:cs typeface="CMBX12"/>
              </a:rPr>
              <a:t>– Crystal oscillator is stopped</a:t>
            </a:r>
            <a:endParaRPr lang="en-US" sz="3400" dirty="0">
              <a:effectLst/>
              <a:latin typeface="Times New Roman" panose="02020603050405020304" pitchFamily="18" charset="0"/>
              <a:ea typeface="Times New Roman" panose="02020603050405020304" pitchFamily="18" charset="0"/>
            </a:endParaRPr>
          </a:p>
          <a:p>
            <a:pPr marL="90170" marR="0" indent="367030" algn="l">
              <a:spcBef>
                <a:spcPts val="0"/>
              </a:spcBef>
              <a:spcAft>
                <a:spcPts val="0"/>
              </a:spcAft>
            </a:pPr>
            <a:r>
              <a:rPr lang="en-GB" sz="3400" dirty="0">
                <a:effectLst/>
                <a:latin typeface="Candara" panose="020E0502030303020204" pitchFamily="34" charset="0"/>
                <a:ea typeface="Times New Roman" panose="02020603050405020304" pitchFamily="18" charset="0"/>
                <a:cs typeface="CMBX12"/>
              </a:rPr>
              <a:t>– Complete data retention</a:t>
            </a:r>
            <a:endParaRPr lang="en-US" sz="34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506142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11733</TotalTime>
  <Words>2572</Words>
  <Application>Microsoft Office PowerPoint</Application>
  <PresentationFormat>Widescreen</PresentationFormat>
  <Paragraphs>262</Paragraphs>
  <Slides>35</Slides>
  <Notes>1</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Calibri Light</vt:lpstr>
      <vt:lpstr>Candara</vt:lpstr>
      <vt:lpstr>Garamond</vt:lpstr>
      <vt:lpstr>Times New Roman</vt:lpstr>
      <vt:lpstr>Wingdings</vt:lpstr>
      <vt:lpstr>Office Theme</vt:lpstr>
      <vt:lpstr>CPE 445-Internet of Things</vt:lpstr>
      <vt:lpstr>About the Instructor</vt:lpstr>
      <vt:lpstr>PowerPoint Presentation</vt:lpstr>
      <vt:lpstr>Contents</vt:lpstr>
      <vt:lpstr>What is IoT?</vt:lpstr>
      <vt:lpstr>Genesis of IoT</vt:lpstr>
      <vt:lpstr>Evolution of IoT</vt:lpstr>
      <vt:lpstr> Evolutionary Phases of the Internet</vt:lpstr>
      <vt:lpstr>IoT and Digitization</vt:lpstr>
      <vt:lpstr>Any-­‐X Point of View</vt:lpstr>
      <vt:lpstr>Characteristics of IoT</vt:lpstr>
      <vt:lpstr>Architecture for Open IoT Services</vt:lpstr>
      <vt:lpstr>IoT Impact </vt:lpstr>
      <vt:lpstr>IoT Impact- Connected Roadways</vt:lpstr>
      <vt:lpstr>IoT Impact- Current Challenges Being Addressed by Connected Roadways</vt:lpstr>
      <vt:lpstr>IoT Impact- Connected Roadways</vt:lpstr>
      <vt:lpstr>IoT Roadmap-Connected Car</vt:lpstr>
      <vt:lpstr>PowerPoint Presentation</vt:lpstr>
      <vt:lpstr>IoT Impact-Connected Roadways</vt:lpstr>
      <vt:lpstr>IoT Impact: Connected Factory</vt:lpstr>
      <vt:lpstr>IoT Impact: Connected Factory</vt:lpstr>
      <vt:lpstr>IoT Impact: Industry Revolution </vt:lpstr>
      <vt:lpstr>Industry 4.0</vt:lpstr>
      <vt:lpstr>IoT Impact- Smart Connected Buildings</vt:lpstr>
      <vt:lpstr>IoT Impact- Smart Connected Buildings</vt:lpstr>
      <vt:lpstr>IoT Impact- Smart Connected Buildings</vt:lpstr>
      <vt:lpstr>Smart Connected Building- LED Digital Ceiling</vt:lpstr>
      <vt:lpstr>IoT Impact: Smart Creatures</vt:lpstr>
      <vt:lpstr>PowerPoint Presentation</vt:lpstr>
      <vt:lpstr>Comparing OT and IT Network</vt:lpstr>
      <vt:lpstr>Convergence of IT and OT</vt:lpstr>
      <vt:lpstr>IoT Challenges</vt:lpstr>
      <vt:lpstr>IoT Challenges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445-Internet of Things</dc:title>
  <dc:creator>A</dc:creator>
  <cp:lastModifiedBy>Dr. Abbas Javed</cp:lastModifiedBy>
  <cp:revision>18</cp:revision>
  <dcterms:created xsi:type="dcterms:W3CDTF">2022-02-14T11:35:12Z</dcterms:created>
  <dcterms:modified xsi:type="dcterms:W3CDTF">2025-09-05T10:57:25Z</dcterms:modified>
</cp:coreProperties>
</file>