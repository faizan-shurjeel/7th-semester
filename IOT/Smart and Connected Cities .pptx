
<file path=[Content_Types].xml><?xml version="1.0" encoding="utf-8"?>
<Types xmlns="http://schemas.openxmlformats.org/package/2006/content-types">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976" autoAdjust="0"/>
    <p:restoredTop sz="94660"/>
  </p:normalViewPr>
  <p:slideViewPr>
    <p:cSldViewPr snapToGrid="0">
      <p:cViewPr>
        <p:scale>
          <a:sx n="80" d="100"/>
          <a:sy n="80" d="100"/>
        </p:scale>
        <p:origin x="180" y="-22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E5A237-D250-A5BE-D2F6-5528DC9DE0E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43BA3A0E-BD5B-2845-37B1-1E35F86F086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50CABB3B-3B65-F21D-E13D-49E2479E21DE}"/>
              </a:ext>
            </a:extLst>
          </p:cNvPr>
          <p:cNvSpPr>
            <a:spLocks noGrp="1"/>
          </p:cNvSpPr>
          <p:nvPr>
            <p:ph type="dt" sz="half" idx="10"/>
          </p:nvPr>
        </p:nvSpPr>
        <p:spPr/>
        <p:txBody>
          <a:bodyPr/>
          <a:lstStyle/>
          <a:p>
            <a:fld id="{6B8DBAAF-9F6E-432D-B67F-D2CA76042802}" type="datetimeFigureOut">
              <a:rPr lang="en-US" smtClean="0"/>
              <a:t>6/22/2022</a:t>
            </a:fld>
            <a:endParaRPr lang="en-US"/>
          </a:p>
        </p:txBody>
      </p:sp>
      <p:sp>
        <p:nvSpPr>
          <p:cNvPr id="5" name="Footer Placeholder 4">
            <a:extLst>
              <a:ext uri="{FF2B5EF4-FFF2-40B4-BE49-F238E27FC236}">
                <a16:creationId xmlns:a16="http://schemas.microsoft.com/office/drawing/2014/main" id="{DFF3B689-E61E-E901-4A0F-A75DDAF1B4A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EAD2A5C-6CD7-D56F-2409-1D302CA8144C}"/>
              </a:ext>
            </a:extLst>
          </p:cNvPr>
          <p:cNvSpPr>
            <a:spLocks noGrp="1"/>
          </p:cNvSpPr>
          <p:nvPr>
            <p:ph type="sldNum" sz="quarter" idx="12"/>
          </p:nvPr>
        </p:nvSpPr>
        <p:spPr/>
        <p:txBody>
          <a:bodyPr/>
          <a:lstStyle/>
          <a:p>
            <a:fld id="{B1BA5BE5-BCE6-4F70-8BE1-DFFB0746DC93}" type="slidenum">
              <a:rPr lang="en-US" smtClean="0"/>
              <a:t>‹#›</a:t>
            </a:fld>
            <a:endParaRPr lang="en-US"/>
          </a:p>
        </p:txBody>
      </p:sp>
    </p:spTree>
    <p:extLst>
      <p:ext uri="{BB962C8B-B14F-4D97-AF65-F5344CB8AC3E}">
        <p14:creationId xmlns:p14="http://schemas.microsoft.com/office/powerpoint/2010/main" val="121012408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BA75CC-749C-20E9-1DF0-413883599A9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BF266F1-6BF7-0AC4-4BC8-AE4BFEAB970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216953A-80A8-4BF9-907D-56096907D738}"/>
              </a:ext>
            </a:extLst>
          </p:cNvPr>
          <p:cNvSpPr>
            <a:spLocks noGrp="1"/>
          </p:cNvSpPr>
          <p:nvPr>
            <p:ph type="dt" sz="half" idx="10"/>
          </p:nvPr>
        </p:nvSpPr>
        <p:spPr/>
        <p:txBody>
          <a:bodyPr/>
          <a:lstStyle/>
          <a:p>
            <a:fld id="{6B8DBAAF-9F6E-432D-B67F-D2CA76042802}" type="datetimeFigureOut">
              <a:rPr lang="en-US" smtClean="0"/>
              <a:t>6/22/2022</a:t>
            </a:fld>
            <a:endParaRPr lang="en-US"/>
          </a:p>
        </p:txBody>
      </p:sp>
      <p:sp>
        <p:nvSpPr>
          <p:cNvPr id="5" name="Footer Placeholder 4">
            <a:extLst>
              <a:ext uri="{FF2B5EF4-FFF2-40B4-BE49-F238E27FC236}">
                <a16:creationId xmlns:a16="http://schemas.microsoft.com/office/drawing/2014/main" id="{14723380-7C10-56F8-EB6E-50A6F2562A7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7D27E9C-2AEB-22BC-82A5-A18F7A71B1FA}"/>
              </a:ext>
            </a:extLst>
          </p:cNvPr>
          <p:cNvSpPr>
            <a:spLocks noGrp="1"/>
          </p:cNvSpPr>
          <p:nvPr>
            <p:ph type="sldNum" sz="quarter" idx="12"/>
          </p:nvPr>
        </p:nvSpPr>
        <p:spPr/>
        <p:txBody>
          <a:bodyPr/>
          <a:lstStyle/>
          <a:p>
            <a:fld id="{B1BA5BE5-BCE6-4F70-8BE1-DFFB0746DC93}" type="slidenum">
              <a:rPr lang="en-US" smtClean="0"/>
              <a:t>‹#›</a:t>
            </a:fld>
            <a:endParaRPr lang="en-US"/>
          </a:p>
        </p:txBody>
      </p:sp>
    </p:spTree>
    <p:extLst>
      <p:ext uri="{BB962C8B-B14F-4D97-AF65-F5344CB8AC3E}">
        <p14:creationId xmlns:p14="http://schemas.microsoft.com/office/powerpoint/2010/main" val="18156276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6729E3-61AC-3D50-BA0F-A03ECAAB4DB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7EB1D51E-5D56-959D-A184-FCC7BA52DF7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23DEC6D-E230-EDD3-6F0F-61E94D57E599}"/>
              </a:ext>
            </a:extLst>
          </p:cNvPr>
          <p:cNvSpPr>
            <a:spLocks noGrp="1"/>
          </p:cNvSpPr>
          <p:nvPr>
            <p:ph type="dt" sz="half" idx="10"/>
          </p:nvPr>
        </p:nvSpPr>
        <p:spPr/>
        <p:txBody>
          <a:bodyPr/>
          <a:lstStyle/>
          <a:p>
            <a:fld id="{6B8DBAAF-9F6E-432D-B67F-D2CA76042802}" type="datetimeFigureOut">
              <a:rPr lang="en-US" smtClean="0"/>
              <a:t>6/22/2022</a:t>
            </a:fld>
            <a:endParaRPr lang="en-US"/>
          </a:p>
        </p:txBody>
      </p:sp>
      <p:sp>
        <p:nvSpPr>
          <p:cNvPr id="5" name="Footer Placeholder 4">
            <a:extLst>
              <a:ext uri="{FF2B5EF4-FFF2-40B4-BE49-F238E27FC236}">
                <a16:creationId xmlns:a16="http://schemas.microsoft.com/office/drawing/2014/main" id="{81016327-9CCD-6B4A-A908-70B990433F2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B563798-A08B-406B-641A-352D92C5B75E}"/>
              </a:ext>
            </a:extLst>
          </p:cNvPr>
          <p:cNvSpPr>
            <a:spLocks noGrp="1"/>
          </p:cNvSpPr>
          <p:nvPr>
            <p:ph type="sldNum" sz="quarter" idx="12"/>
          </p:nvPr>
        </p:nvSpPr>
        <p:spPr/>
        <p:txBody>
          <a:bodyPr/>
          <a:lstStyle/>
          <a:p>
            <a:fld id="{B1BA5BE5-BCE6-4F70-8BE1-DFFB0746DC93}" type="slidenum">
              <a:rPr lang="en-US" smtClean="0"/>
              <a:t>‹#›</a:t>
            </a:fld>
            <a:endParaRPr lang="en-US"/>
          </a:p>
        </p:txBody>
      </p:sp>
    </p:spTree>
    <p:extLst>
      <p:ext uri="{BB962C8B-B14F-4D97-AF65-F5344CB8AC3E}">
        <p14:creationId xmlns:p14="http://schemas.microsoft.com/office/powerpoint/2010/main" val="26989741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EAAE05-6FDC-C231-2FBA-8B1BA38D728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25D433F-C934-E777-CAE2-1A79B7D2448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85DEA97-A53D-C33B-55F0-DB53B952584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F4823BC-1E7E-AF36-46C2-7936A163DE2E}"/>
              </a:ext>
            </a:extLst>
          </p:cNvPr>
          <p:cNvSpPr>
            <a:spLocks noGrp="1"/>
          </p:cNvSpPr>
          <p:nvPr>
            <p:ph type="dt" sz="half" idx="10"/>
          </p:nvPr>
        </p:nvSpPr>
        <p:spPr/>
        <p:txBody>
          <a:bodyPr/>
          <a:lstStyle/>
          <a:p>
            <a:fld id="{6B8DBAAF-9F6E-432D-B67F-D2CA76042802}" type="datetimeFigureOut">
              <a:rPr lang="en-US" smtClean="0"/>
              <a:t>6/22/2022</a:t>
            </a:fld>
            <a:endParaRPr lang="en-US"/>
          </a:p>
        </p:txBody>
      </p:sp>
      <p:sp>
        <p:nvSpPr>
          <p:cNvPr id="6" name="Footer Placeholder 5">
            <a:extLst>
              <a:ext uri="{FF2B5EF4-FFF2-40B4-BE49-F238E27FC236}">
                <a16:creationId xmlns:a16="http://schemas.microsoft.com/office/drawing/2014/main" id="{0772DE2C-F636-16A9-249F-273697E30F7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2FE1908-E398-D6AD-7019-93F08E22EB97}"/>
              </a:ext>
            </a:extLst>
          </p:cNvPr>
          <p:cNvSpPr>
            <a:spLocks noGrp="1"/>
          </p:cNvSpPr>
          <p:nvPr>
            <p:ph type="sldNum" sz="quarter" idx="12"/>
          </p:nvPr>
        </p:nvSpPr>
        <p:spPr/>
        <p:txBody>
          <a:bodyPr/>
          <a:lstStyle/>
          <a:p>
            <a:fld id="{B1BA5BE5-BCE6-4F70-8BE1-DFFB0746DC93}" type="slidenum">
              <a:rPr lang="en-US" smtClean="0"/>
              <a:t>‹#›</a:t>
            </a:fld>
            <a:endParaRPr lang="en-US"/>
          </a:p>
        </p:txBody>
      </p:sp>
    </p:spTree>
    <p:extLst>
      <p:ext uri="{BB962C8B-B14F-4D97-AF65-F5344CB8AC3E}">
        <p14:creationId xmlns:p14="http://schemas.microsoft.com/office/powerpoint/2010/main" val="234528015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9C7C61-108A-1F00-6D05-475BFF7EF7EC}"/>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4C31C700-8706-ECED-5247-C518734F786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A366052-FDED-F491-EB71-0C408DE53CF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CCDD2671-F0FE-C521-E369-6238125604E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7442120-CE51-C3FF-B50B-5DAF84D8D17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774B9DE-8E7A-C786-B7E4-D3B2B2C72A53}"/>
              </a:ext>
            </a:extLst>
          </p:cNvPr>
          <p:cNvSpPr>
            <a:spLocks noGrp="1"/>
          </p:cNvSpPr>
          <p:nvPr>
            <p:ph type="dt" sz="half" idx="10"/>
          </p:nvPr>
        </p:nvSpPr>
        <p:spPr/>
        <p:txBody>
          <a:bodyPr/>
          <a:lstStyle/>
          <a:p>
            <a:fld id="{6B8DBAAF-9F6E-432D-B67F-D2CA76042802}" type="datetimeFigureOut">
              <a:rPr lang="en-US" smtClean="0"/>
              <a:t>6/22/2022</a:t>
            </a:fld>
            <a:endParaRPr lang="en-US"/>
          </a:p>
        </p:txBody>
      </p:sp>
      <p:sp>
        <p:nvSpPr>
          <p:cNvPr id="8" name="Footer Placeholder 7">
            <a:extLst>
              <a:ext uri="{FF2B5EF4-FFF2-40B4-BE49-F238E27FC236}">
                <a16:creationId xmlns:a16="http://schemas.microsoft.com/office/drawing/2014/main" id="{182D6A19-A7BA-6F1D-F535-5BE54394D8B8}"/>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7B2C561F-0901-0E9A-C99F-445E117341E0}"/>
              </a:ext>
            </a:extLst>
          </p:cNvPr>
          <p:cNvSpPr>
            <a:spLocks noGrp="1"/>
          </p:cNvSpPr>
          <p:nvPr>
            <p:ph type="sldNum" sz="quarter" idx="12"/>
          </p:nvPr>
        </p:nvSpPr>
        <p:spPr/>
        <p:txBody>
          <a:bodyPr/>
          <a:lstStyle/>
          <a:p>
            <a:fld id="{B1BA5BE5-BCE6-4F70-8BE1-DFFB0746DC93}" type="slidenum">
              <a:rPr lang="en-US" smtClean="0"/>
              <a:t>‹#›</a:t>
            </a:fld>
            <a:endParaRPr lang="en-US"/>
          </a:p>
        </p:txBody>
      </p:sp>
    </p:spTree>
    <p:extLst>
      <p:ext uri="{BB962C8B-B14F-4D97-AF65-F5344CB8AC3E}">
        <p14:creationId xmlns:p14="http://schemas.microsoft.com/office/powerpoint/2010/main" val="302655443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EFEC27-9136-3353-0696-0199467B6F3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F79A91F0-EBEA-5F18-C2A3-4DA308140A3E}"/>
              </a:ext>
            </a:extLst>
          </p:cNvPr>
          <p:cNvSpPr>
            <a:spLocks noGrp="1"/>
          </p:cNvSpPr>
          <p:nvPr>
            <p:ph type="dt" sz="half" idx="10"/>
          </p:nvPr>
        </p:nvSpPr>
        <p:spPr/>
        <p:txBody>
          <a:bodyPr/>
          <a:lstStyle/>
          <a:p>
            <a:fld id="{6B8DBAAF-9F6E-432D-B67F-D2CA76042802}" type="datetimeFigureOut">
              <a:rPr lang="en-US" smtClean="0"/>
              <a:t>6/22/2022</a:t>
            </a:fld>
            <a:endParaRPr lang="en-US"/>
          </a:p>
        </p:txBody>
      </p:sp>
      <p:sp>
        <p:nvSpPr>
          <p:cNvPr id="4" name="Footer Placeholder 3">
            <a:extLst>
              <a:ext uri="{FF2B5EF4-FFF2-40B4-BE49-F238E27FC236}">
                <a16:creationId xmlns:a16="http://schemas.microsoft.com/office/drawing/2014/main" id="{3D9EA904-FAEE-10A8-2D15-5FB46CD21D0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9D45913-6BDB-6F41-54AF-E2A18B7BD1A0}"/>
              </a:ext>
            </a:extLst>
          </p:cNvPr>
          <p:cNvSpPr>
            <a:spLocks noGrp="1"/>
          </p:cNvSpPr>
          <p:nvPr>
            <p:ph type="sldNum" sz="quarter" idx="12"/>
          </p:nvPr>
        </p:nvSpPr>
        <p:spPr/>
        <p:txBody>
          <a:bodyPr/>
          <a:lstStyle/>
          <a:p>
            <a:fld id="{B1BA5BE5-BCE6-4F70-8BE1-DFFB0746DC93}" type="slidenum">
              <a:rPr lang="en-US" smtClean="0"/>
              <a:t>‹#›</a:t>
            </a:fld>
            <a:endParaRPr lang="en-US"/>
          </a:p>
        </p:txBody>
      </p:sp>
    </p:spTree>
    <p:extLst>
      <p:ext uri="{BB962C8B-B14F-4D97-AF65-F5344CB8AC3E}">
        <p14:creationId xmlns:p14="http://schemas.microsoft.com/office/powerpoint/2010/main" val="336465639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02F3EA1-E4F2-4852-F683-050330FD98E3}"/>
              </a:ext>
            </a:extLst>
          </p:cNvPr>
          <p:cNvSpPr>
            <a:spLocks noGrp="1"/>
          </p:cNvSpPr>
          <p:nvPr>
            <p:ph type="dt" sz="half" idx="10"/>
          </p:nvPr>
        </p:nvSpPr>
        <p:spPr/>
        <p:txBody>
          <a:bodyPr/>
          <a:lstStyle/>
          <a:p>
            <a:fld id="{6B8DBAAF-9F6E-432D-B67F-D2CA76042802}" type="datetimeFigureOut">
              <a:rPr lang="en-US" smtClean="0"/>
              <a:t>6/22/2022</a:t>
            </a:fld>
            <a:endParaRPr lang="en-US"/>
          </a:p>
        </p:txBody>
      </p:sp>
      <p:sp>
        <p:nvSpPr>
          <p:cNvPr id="3" name="Footer Placeholder 2">
            <a:extLst>
              <a:ext uri="{FF2B5EF4-FFF2-40B4-BE49-F238E27FC236}">
                <a16:creationId xmlns:a16="http://schemas.microsoft.com/office/drawing/2014/main" id="{817DC350-1EA6-119E-65D7-5DC9F35CB97F}"/>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D60C8B9B-0046-BADC-F20C-8925A44382AE}"/>
              </a:ext>
            </a:extLst>
          </p:cNvPr>
          <p:cNvSpPr>
            <a:spLocks noGrp="1"/>
          </p:cNvSpPr>
          <p:nvPr>
            <p:ph type="sldNum" sz="quarter" idx="12"/>
          </p:nvPr>
        </p:nvSpPr>
        <p:spPr/>
        <p:txBody>
          <a:bodyPr/>
          <a:lstStyle/>
          <a:p>
            <a:fld id="{B1BA5BE5-BCE6-4F70-8BE1-DFFB0746DC93}" type="slidenum">
              <a:rPr lang="en-US" smtClean="0"/>
              <a:t>‹#›</a:t>
            </a:fld>
            <a:endParaRPr lang="en-US"/>
          </a:p>
        </p:txBody>
      </p:sp>
    </p:spTree>
    <p:extLst>
      <p:ext uri="{BB962C8B-B14F-4D97-AF65-F5344CB8AC3E}">
        <p14:creationId xmlns:p14="http://schemas.microsoft.com/office/powerpoint/2010/main" val="68298234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AF7F3F-7D74-261D-5DAD-E7841CDB650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1C1D29C-D3A9-C836-702A-6A478E013C4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17C31A17-9F66-80C2-28B5-1D18BDAAEC3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35B77AC-FA9D-6A3B-7297-721F6ABE0F4A}"/>
              </a:ext>
            </a:extLst>
          </p:cNvPr>
          <p:cNvSpPr>
            <a:spLocks noGrp="1"/>
          </p:cNvSpPr>
          <p:nvPr>
            <p:ph type="dt" sz="half" idx="10"/>
          </p:nvPr>
        </p:nvSpPr>
        <p:spPr/>
        <p:txBody>
          <a:bodyPr/>
          <a:lstStyle/>
          <a:p>
            <a:fld id="{6B8DBAAF-9F6E-432D-B67F-D2CA76042802}" type="datetimeFigureOut">
              <a:rPr lang="en-US" smtClean="0"/>
              <a:t>6/22/2022</a:t>
            </a:fld>
            <a:endParaRPr lang="en-US"/>
          </a:p>
        </p:txBody>
      </p:sp>
      <p:sp>
        <p:nvSpPr>
          <p:cNvPr id="6" name="Footer Placeholder 5">
            <a:extLst>
              <a:ext uri="{FF2B5EF4-FFF2-40B4-BE49-F238E27FC236}">
                <a16:creationId xmlns:a16="http://schemas.microsoft.com/office/drawing/2014/main" id="{F1F0E6CE-FC63-6452-E508-D497D66EF77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54A3B0D-9C54-F2B5-B5C4-2426BB61BC24}"/>
              </a:ext>
            </a:extLst>
          </p:cNvPr>
          <p:cNvSpPr>
            <a:spLocks noGrp="1"/>
          </p:cNvSpPr>
          <p:nvPr>
            <p:ph type="sldNum" sz="quarter" idx="12"/>
          </p:nvPr>
        </p:nvSpPr>
        <p:spPr/>
        <p:txBody>
          <a:bodyPr/>
          <a:lstStyle/>
          <a:p>
            <a:fld id="{B1BA5BE5-BCE6-4F70-8BE1-DFFB0746DC93}" type="slidenum">
              <a:rPr lang="en-US" smtClean="0"/>
              <a:t>‹#›</a:t>
            </a:fld>
            <a:endParaRPr lang="en-US"/>
          </a:p>
        </p:txBody>
      </p:sp>
    </p:spTree>
    <p:extLst>
      <p:ext uri="{BB962C8B-B14F-4D97-AF65-F5344CB8AC3E}">
        <p14:creationId xmlns:p14="http://schemas.microsoft.com/office/powerpoint/2010/main" val="37914224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124487-7CCA-8FE2-2721-0F1FA59FFD5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2D3416F6-6370-A567-FCD8-D27A29704DA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37C1B36E-E4F3-FF01-D541-741347A4FB1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7D2D965-0B54-14B4-3C55-7E98EE6B5480}"/>
              </a:ext>
            </a:extLst>
          </p:cNvPr>
          <p:cNvSpPr>
            <a:spLocks noGrp="1"/>
          </p:cNvSpPr>
          <p:nvPr>
            <p:ph type="dt" sz="half" idx="10"/>
          </p:nvPr>
        </p:nvSpPr>
        <p:spPr/>
        <p:txBody>
          <a:bodyPr/>
          <a:lstStyle/>
          <a:p>
            <a:fld id="{6B8DBAAF-9F6E-432D-B67F-D2CA76042802}" type="datetimeFigureOut">
              <a:rPr lang="en-US" smtClean="0"/>
              <a:t>6/22/2022</a:t>
            </a:fld>
            <a:endParaRPr lang="en-US"/>
          </a:p>
        </p:txBody>
      </p:sp>
      <p:sp>
        <p:nvSpPr>
          <p:cNvPr id="6" name="Footer Placeholder 5">
            <a:extLst>
              <a:ext uri="{FF2B5EF4-FFF2-40B4-BE49-F238E27FC236}">
                <a16:creationId xmlns:a16="http://schemas.microsoft.com/office/drawing/2014/main" id="{CD680A24-561F-31E0-1371-6CD8C2CA5A5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386C293-7477-4858-E6F2-76F58A554A6A}"/>
              </a:ext>
            </a:extLst>
          </p:cNvPr>
          <p:cNvSpPr>
            <a:spLocks noGrp="1"/>
          </p:cNvSpPr>
          <p:nvPr>
            <p:ph type="sldNum" sz="quarter" idx="12"/>
          </p:nvPr>
        </p:nvSpPr>
        <p:spPr/>
        <p:txBody>
          <a:bodyPr/>
          <a:lstStyle/>
          <a:p>
            <a:fld id="{B1BA5BE5-BCE6-4F70-8BE1-DFFB0746DC93}" type="slidenum">
              <a:rPr lang="en-US" smtClean="0"/>
              <a:t>‹#›</a:t>
            </a:fld>
            <a:endParaRPr lang="en-US"/>
          </a:p>
        </p:txBody>
      </p:sp>
    </p:spTree>
    <p:extLst>
      <p:ext uri="{BB962C8B-B14F-4D97-AF65-F5344CB8AC3E}">
        <p14:creationId xmlns:p14="http://schemas.microsoft.com/office/powerpoint/2010/main" val="395237238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9F84F5-19EB-128C-6E17-C5AEA9FDAF8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DDAB8629-991A-2393-BB71-DAEAAC49771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04B7EFB-32E4-70AF-F602-AE7D2B9216B9}"/>
              </a:ext>
            </a:extLst>
          </p:cNvPr>
          <p:cNvSpPr>
            <a:spLocks noGrp="1"/>
          </p:cNvSpPr>
          <p:nvPr>
            <p:ph type="dt" sz="half" idx="10"/>
          </p:nvPr>
        </p:nvSpPr>
        <p:spPr/>
        <p:txBody>
          <a:bodyPr/>
          <a:lstStyle/>
          <a:p>
            <a:fld id="{6B8DBAAF-9F6E-432D-B67F-D2CA76042802}" type="datetimeFigureOut">
              <a:rPr lang="en-US" smtClean="0"/>
              <a:t>6/22/2022</a:t>
            </a:fld>
            <a:endParaRPr lang="en-US"/>
          </a:p>
        </p:txBody>
      </p:sp>
      <p:sp>
        <p:nvSpPr>
          <p:cNvPr id="5" name="Footer Placeholder 4">
            <a:extLst>
              <a:ext uri="{FF2B5EF4-FFF2-40B4-BE49-F238E27FC236}">
                <a16:creationId xmlns:a16="http://schemas.microsoft.com/office/drawing/2014/main" id="{9571084D-ACF3-6466-F86B-0D2E46FC8F9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EFFBF67-821E-C2C8-217B-239658E439E8}"/>
              </a:ext>
            </a:extLst>
          </p:cNvPr>
          <p:cNvSpPr>
            <a:spLocks noGrp="1"/>
          </p:cNvSpPr>
          <p:nvPr>
            <p:ph type="sldNum" sz="quarter" idx="12"/>
          </p:nvPr>
        </p:nvSpPr>
        <p:spPr/>
        <p:txBody>
          <a:bodyPr/>
          <a:lstStyle/>
          <a:p>
            <a:fld id="{B1BA5BE5-BCE6-4F70-8BE1-DFFB0746DC93}" type="slidenum">
              <a:rPr lang="en-US" smtClean="0"/>
              <a:t>‹#›</a:t>
            </a:fld>
            <a:endParaRPr lang="en-US"/>
          </a:p>
        </p:txBody>
      </p:sp>
    </p:spTree>
    <p:extLst>
      <p:ext uri="{BB962C8B-B14F-4D97-AF65-F5344CB8AC3E}">
        <p14:creationId xmlns:p14="http://schemas.microsoft.com/office/powerpoint/2010/main" val="21692799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435621C-FFBC-90FB-97B1-846FC5DE0B5F}"/>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938B91F-ACF4-B763-E48B-3271072494D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ECE0E8D-6AEF-CF26-C0AC-0724A37B2D45}"/>
              </a:ext>
            </a:extLst>
          </p:cNvPr>
          <p:cNvSpPr>
            <a:spLocks noGrp="1"/>
          </p:cNvSpPr>
          <p:nvPr>
            <p:ph type="dt" sz="half" idx="10"/>
          </p:nvPr>
        </p:nvSpPr>
        <p:spPr/>
        <p:txBody>
          <a:bodyPr/>
          <a:lstStyle/>
          <a:p>
            <a:fld id="{6B8DBAAF-9F6E-432D-B67F-D2CA76042802}" type="datetimeFigureOut">
              <a:rPr lang="en-US" smtClean="0"/>
              <a:t>6/22/2022</a:t>
            </a:fld>
            <a:endParaRPr lang="en-US"/>
          </a:p>
        </p:txBody>
      </p:sp>
      <p:sp>
        <p:nvSpPr>
          <p:cNvPr id="5" name="Footer Placeholder 4">
            <a:extLst>
              <a:ext uri="{FF2B5EF4-FFF2-40B4-BE49-F238E27FC236}">
                <a16:creationId xmlns:a16="http://schemas.microsoft.com/office/drawing/2014/main" id="{7C686997-4E3F-60E8-492E-9F5CD61E306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FD8D3FA-ECB9-AC35-5F89-CEDFE7931A6F}"/>
              </a:ext>
            </a:extLst>
          </p:cNvPr>
          <p:cNvSpPr>
            <a:spLocks noGrp="1"/>
          </p:cNvSpPr>
          <p:nvPr>
            <p:ph type="sldNum" sz="quarter" idx="12"/>
          </p:nvPr>
        </p:nvSpPr>
        <p:spPr/>
        <p:txBody>
          <a:bodyPr/>
          <a:lstStyle/>
          <a:p>
            <a:fld id="{B1BA5BE5-BCE6-4F70-8BE1-DFFB0746DC93}" type="slidenum">
              <a:rPr lang="en-US" smtClean="0"/>
              <a:t>‹#›</a:t>
            </a:fld>
            <a:endParaRPr lang="en-US"/>
          </a:p>
        </p:txBody>
      </p:sp>
    </p:spTree>
    <p:extLst>
      <p:ext uri="{BB962C8B-B14F-4D97-AF65-F5344CB8AC3E}">
        <p14:creationId xmlns:p14="http://schemas.microsoft.com/office/powerpoint/2010/main" val="55084783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D8E46B9-AA6B-4C59-147A-158CCDAEF97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E3BFACD-C814-12F1-34F0-F0620126429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179D202-AEBA-9188-0508-2D7B1531FD8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B8DBAAF-9F6E-432D-B67F-D2CA76042802}" type="datetimeFigureOut">
              <a:rPr lang="en-US" smtClean="0"/>
              <a:t>6/22/2022</a:t>
            </a:fld>
            <a:endParaRPr lang="en-US"/>
          </a:p>
        </p:txBody>
      </p:sp>
      <p:sp>
        <p:nvSpPr>
          <p:cNvPr id="5" name="Footer Placeholder 4">
            <a:extLst>
              <a:ext uri="{FF2B5EF4-FFF2-40B4-BE49-F238E27FC236}">
                <a16:creationId xmlns:a16="http://schemas.microsoft.com/office/drawing/2014/main" id="{6B595238-63EA-D033-59AB-B42AB2FEAB9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6BCCCE4F-6840-E891-DC16-0E59B2209CB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1BA5BE5-BCE6-4F70-8BE1-DFFB0746DC93}" type="slidenum">
              <a:rPr lang="en-US" smtClean="0"/>
              <a:t>‹#›</a:t>
            </a:fld>
            <a:endParaRPr lang="en-US"/>
          </a:p>
        </p:txBody>
      </p:sp>
    </p:spTree>
    <p:extLst>
      <p:ext uri="{BB962C8B-B14F-4D97-AF65-F5344CB8AC3E}">
        <p14:creationId xmlns:p14="http://schemas.microsoft.com/office/powerpoint/2010/main" val="356536696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mailto:abbasjaved@cuilahore.edu.pk"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7C7009-667F-4F97-8974-6E0CB68BADE8}"/>
              </a:ext>
            </a:extLst>
          </p:cNvPr>
          <p:cNvSpPr>
            <a:spLocks noGrp="1"/>
          </p:cNvSpPr>
          <p:nvPr>
            <p:ph type="ctrTitle"/>
          </p:nvPr>
        </p:nvSpPr>
        <p:spPr/>
        <p:txBody>
          <a:bodyPr>
            <a:normAutofit fontScale="90000"/>
          </a:bodyPr>
          <a:lstStyle/>
          <a:p>
            <a:br>
              <a:rPr lang="en-US" dirty="0"/>
            </a:br>
            <a:br>
              <a:rPr lang="en-US" dirty="0"/>
            </a:br>
            <a:r>
              <a:rPr lang="en-US" dirty="0"/>
              <a:t>Smart and Connected Cities</a:t>
            </a:r>
          </a:p>
        </p:txBody>
      </p:sp>
      <p:sp>
        <p:nvSpPr>
          <p:cNvPr id="3" name="Subtitle 2">
            <a:extLst>
              <a:ext uri="{FF2B5EF4-FFF2-40B4-BE49-F238E27FC236}">
                <a16:creationId xmlns:a16="http://schemas.microsoft.com/office/drawing/2014/main" id="{E6E45546-75B8-4229-9A3B-FD201B44EBED}"/>
              </a:ext>
            </a:extLst>
          </p:cNvPr>
          <p:cNvSpPr>
            <a:spLocks noGrp="1"/>
          </p:cNvSpPr>
          <p:nvPr>
            <p:ph type="subTitle" idx="1"/>
          </p:nvPr>
        </p:nvSpPr>
        <p:spPr/>
        <p:txBody>
          <a:bodyPr>
            <a:normAutofit fontScale="77500" lnSpcReduction="20000"/>
          </a:bodyPr>
          <a:lstStyle/>
          <a:p>
            <a:r>
              <a:rPr lang="en-US" dirty="0"/>
              <a:t>Dr. Abbas </a:t>
            </a:r>
            <a:r>
              <a:rPr lang="en-US" dirty="0" err="1"/>
              <a:t>Javed</a:t>
            </a:r>
            <a:endParaRPr lang="en-US" dirty="0"/>
          </a:p>
          <a:p>
            <a:r>
              <a:rPr lang="en-US" dirty="0"/>
              <a:t>Assistant Professor</a:t>
            </a:r>
          </a:p>
          <a:p>
            <a:r>
              <a:rPr lang="en-US" dirty="0"/>
              <a:t>Department of Electrical and Computer Engineering, </a:t>
            </a:r>
          </a:p>
          <a:p>
            <a:r>
              <a:rPr lang="en-US" dirty="0"/>
              <a:t>COMSATS University Islamabad, Lahore Campus</a:t>
            </a:r>
          </a:p>
          <a:p>
            <a:r>
              <a:rPr lang="en-US" dirty="0">
                <a:hlinkClick r:id="rId2"/>
              </a:rPr>
              <a:t>abbasjaved@cuilahore.edu.pk</a:t>
            </a:r>
            <a:endParaRPr lang="en-US" dirty="0"/>
          </a:p>
          <a:p>
            <a:endParaRPr lang="en-US" dirty="0"/>
          </a:p>
        </p:txBody>
      </p:sp>
    </p:spTree>
    <p:extLst>
      <p:ext uri="{BB962C8B-B14F-4D97-AF65-F5344CB8AC3E}">
        <p14:creationId xmlns:p14="http://schemas.microsoft.com/office/powerpoint/2010/main" val="70730770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822CB5-9E51-1609-F17D-BA3A6773DB1A}"/>
              </a:ext>
            </a:extLst>
          </p:cNvPr>
          <p:cNvSpPr>
            <a:spLocks noGrp="1"/>
          </p:cNvSpPr>
          <p:nvPr>
            <p:ph type="title"/>
          </p:nvPr>
        </p:nvSpPr>
        <p:spPr/>
        <p:txBody>
          <a:bodyPr/>
          <a:lstStyle/>
          <a:p>
            <a:r>
              <a:rPr lang="en-US" dirty="0"/>
              <a:t>Background</a:t>
            </a:r>
          </a:p>
        </p:txBody>
      </p:sp>
      <p:sp>
        <p:nvSpPr>
          <p:cNvPr id="3" name="Content Placeholder 2">
            <a:extLst>
              <a:ext uri="{FF2B5EF4-FFF2-40B4-BE49-F238E27FC236}">
                <a16:creationId xmlns:a16="http://schemas.microsoft.com/office/drawing/2014/main" id="{99841015-169F-DCCA-7704-719CFC197BD0}"/>
              </a:ext>
            </a:extLst>
          </p:cNvPr>
          <p:cNvSpPr>
            <a:spLocks noGrp="1"/>
          </p:cNvSpPr>
          <p:nvPr>
            <p:ph idx="1"/>
          </p:nvPr>
        </p:nvSpPr>
        <p:spPr/>
        <p:txBody>
          <a:bodyPr>
            <a:normAutofit fontScale="92500" lnSpcReduction="10000"/>
          </a:bodyPr>
          <a:lstStyle/>
          <a:p>
            <a:pPr algn="l"/>
            <a:r>
              <a:rPr lang="en-US" dirty="0">
                <a:solidFill>
                  <a:srgbClr val="231F20"/>
                </a:solidFill>
                <a:latin typeface="CiscoSerif-Regular"/>
              </a:rPr>
              <a:t>O</a:t>
            </a:r>
            <a:r>
              <a:rPr lang="en-US" sz="2800" b="0" i="0" u="none" strike="noStrike" baseline="0" dirty="0">
                <a:solidFill>
                  <a:srgbClr val="231F20"/>
                </a:solidFill>
                <a:latin typeface="CiscoSerif-Regular"/>
              </a:rPr>
              <a:t>ne-third of the world’s population lived in cities in 1950; by 2050, two-thirds of our planet’s population will be city dwellers.</a:t>
            </a:r>
          </a:p>
          <a:p>
            <a:pPr algn="l"/>
            <a:r>
              <a:rPr lang="en-US" sz="2800" b="0" i="0" u="none" strike="noStrike" baseline="0" dirty="0">
                <a:solidFill>
                  <a:srgbClr val="231F20"/>
                </a:solidFill>
                <a:latin typeface="CiscoSerif-Regular"/>
              </a:rPr>
              <a:t>Africa and Asia, which today account for 90% of the world’s rural population, are projected to have 56% and 64%, respectively, of their populations urbanize</a:t>
            </a:r>
          </a:p>
          <a:p>
            <a:pPr algn="l"/>
            <a:r>
              <a:rPr lang="en-US" sz="2800" b="0" i="0" u="none" strike="noStrike" baseline="0" dirty="0">
                <a:solidFill>
                  <a:srgbClr val="231F20"/>
                </a:solidFill>
                <a:latin typeface="CiscoSerif-Regular"/>
              </a:rPr>
              <a:t>In terms of raw numbers, the urban population of the world has grown to nearly 4 billion, from just 746 million in 1950. By 2050, this figure will grow by another 2.5 billion.</a:t>
            </a:r>
          </a:p>
          <a:p>
            <a:pPr algn="l"/>
            <a:r>
              <a:rPr lang="en-US" sz="2800" b="0" i="0" u="none" strike="noStrike" baseline="0" dirty="0">
                <a:solidFill>
                  <a:srgbClr val="231F20"/>
                </a:solidFill>
                <a:latin typeface="CiscoSerif-Regular"/>
              </a:rPr>
              <a:t>Today, cities are responsible for 60% to 80% of the world’s energy and greenhouse emissions and consume 60% of all potable water, losing as much as 20% in leakage</a:t>
            </a:r>
            <a:endParaRPr lang="en-US" dirty="0"/>
          </a:p>
        </p:txBody>
      </p:sp>
    </p:spTree>
    <p:extLst>
      <p:ext uri="{BB962C8B-B14F-4D97-AF65-F5344CB8AC3E}">
        <p14:creationId xmlns:p14="http://schemas.microsoft.com/office/powerpoint/2010/main" val="235547606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0B56AF3-C50E-37D0-B35C-7D5F59AA6540}"/>
              </a:ext>
            </a:extLst>
          </p:cNvPr>
          <p:cNvSpPr>
            <a:spLocks noGrp="1"/>
          </p:cNvSpPr>
          <p:nvPr>
            <p:ph idx="1"/>
          </p:nvPr>
        </p:nvSpPr>
        <p:spPr>
          <a:xfrm>
            <a:off x="838200" y="619432"/>
            <a:ext cx="10515600" cy="5557531"/>
          </a:xfrm>
        </p:spPr>
        <p:txBody>
          <a:bodyPr>
            <a:normAutofit fontScale="77500" lnSpcReduction="20000"/>
          </a:bodyPr>
          <a:lstStyle/>
          <a:p>
            <a:pPr algn="l"/>
            <a:r>
              <a:rPr lang="en-US" sz="2800" b="0" i="0" u="none" strike="noStrike" baseline="0" dirty="0">
                <a:solidFill>
                  <a:srgbClr val="231F20"/>
                </a:solidFill>
                <a:latin typeface="CiscoSerif-Regular"/>
              </a:rPr>
              <a:t>A recent Cisco study, as illustrated in Figure 12-1, expects IoT to have the following economic impact over a 10-year period:</a:t>
            </a:r>
            <a:r>
              <a:rPr lang="en-US" sz="800" b="0" i="0" u="none" strike="noStrike" baseline="0" dirty="0">
                <a:solidFill>
                  <a:srgbClr val="231F20"/>
                </a:solidFill>
                <a:latin typeface="CiscoSerif-Regular"/>
              </a:rPr>
              <a:t>3</a:t>
            </a:r>
          </a:p>
          <a:p>
            <a:pPr algn="l"/>
            <a:r>
              <a:rPr lang="en-US" sz="2800" b="1" i="0" u="none" strike="noStrike" baseline="0" dirty="0">
                <a:solidFill>
                  <a:srgbClr val="231F20"/>
                </a:solidFill>
                <a:latin typeface="CiscoSerif-Bold"/>
              </a:rPr>
              <a:t>Smart buildings: </a:t>
            </a:r>
            <a:r>
              <a:rPr lang="en-US" sz="2800" b="0" i="0" u="none" strike="noStrike" baseline="0" dirty="0">
                <a:solidFill>
                  <a:srgbClr val="231F20"/>
                </a:solidFill>
                <a:latin typeface="CiscoSerif-Regular"/>
              </a:rPr>
              <a:t>Smart buildings have the potential to save $100 billion by lowering operating costs by reducing energy consumption through the efficient integration of heating, ventilation, and air-conditioning (HVAC) and other building infrastructure systems. </a:t>
            </a:r>
          </a:p>
          <a:p>
            <a:pPr algn="l"/>
            <a:r>
              <a:rPr lang="en-US" sz="2800" b="1" i="0" u="none" strike="noStrike" baseline="0" dirty="0">
                <a:solidFill>
                  <a:srgbClr val="231F20"/>
                </a:solidFill>
                <a:latin typeface="CiscoSerif-Bold"/>
              </a:rPr>
              <a:t>Gas monitoring: </a:t>
            </a:r>
            <a:r>
              <a:rPr lang="en-US" sz="2800" b="0" i="0" u="none" strike="noStrike" baseline="0" dirty="0">
                <a:solidFill>
                  <a:srgbClr val="231F20"/>
                </a:solidFill>
                <a:latin typeface="CiscoSerif-Regular"/>
              </a:rPr>
              <a:t>Monitoring gas could save $69 billion by reducing meter-reading costs and increasing the accuracy of readings for citizens and municipal utility agencies. </a:t>
            </a:r>
          </a:p>
          <a:p>
            <a:pPr algn="l"/>
            <a:r>
              <a:rPr lang="en-US" sz="2800" b="1" i="0" u="none" strike="noStrike" baseline="0" dirty="0">
                <a:solidFill>
                  <a:srgbClr val="231F20"/>
                </a:solidFill>
                <a:latin typeface="CiscoSerif-Bold"/>
              </a:rPr>
              <a:t>Smart parking: </a:t>
            </a:r>
            <a:r>
              <a:rPr lang="en-US" sz="2800" b="0" i="0" u="none" strike="noStrike" baseline="0" dirty="0">
                <a:solidFill>
                  <a:srgbClr val="231F20"/>
                </a:solidFill>
                <a:latin typeface="CiscoSerif-Regular"/>
              </a:rPr>
              <a:t>Smart parking could create $41 billion by providing real-time visibility into parking space availability across a city. Residents can identify and reserve the closest available space, traffic wardens can identify noncompliant usage, and municipalities can introduce demand-based pricing.</a:t>
            </a:r>
          </a:p>
          <a:p>
            <a:pPr algn="l"/>
            <a:r>
              <a:rPr lang="en-US" sz="2800" b="1" i="0" u="none" strike="noStrike" baseline="0" dirty="0">
                <a:solidFill>
                  <a:srgbClr val="231F20"/>
                </a:solidFill>
                <a:latin typeface="CiscoSerif-Bold"/>
              </a:rPr>
              <a:t>Water management: </a:t>
            </a:r>
            <a:r>
              <a:rPr lang="en-US" sz="2800" b="0" i="0" u="none" strike="noStrike" baseline="0" dirty="0">
                <a:solidFill>
                  <a:srgbClr val="231F20"/>
                </a:solidFill>
                <a:latin typeface="CiscoSerif-Regular"/>
              </a:rPr>
              <a:t>Smart water management could save $39 billion by connecting household water meters over an IP network to provide remote usage and status information. </a:t>
            </a:r>
          </a:p>
          <a:p>
            <a:pPr algn="l"/>
            <a:r>
              <a:rPr lang="en-US" sz="2800" b="1" i="0" u="none" strike="noStrike" baseline="0" dirty="0">
                <a:solidFill>
                  <a:srgbClr val="231F20"/>
                </a:solidFill>
                <a:latin typeface="CiscoSerif-Bold"/>
              </a:rPr>
              <a:t>Road pricing: </a:t>
            </a:r>
            <a:r>
              <a:rPr lang="en-US" sz="2800" b="0" i="0" u="none" strike="noStrike" baseline="0" dirty="0">
                <a:solidFill>
                  <a:srgbClr val="231F20"/>
                </a:solidFill>
                <a:latin typeface="CiscoSerif-Regular"/>
              </a:rPr>
              <a:t>Cities could create $18 billion in new revenues by implementing automatic payments as vehicles enter busy city zones while improving overall traffic conditions</a:t>
            </a:r>
            <a:endParaRPr lang="en-US" dirty="0"/>
          </a:p>
        </p:txBody>
      </p:sp>
    </p:spTree>
    <p:extLst>
      <p:ext uri="{BB962C8B-B14F-4D97-AF65-F5344CB8AC3E}">
        <p14:creationId xmlns:p14="http://schemas.microsoft.com/office/powerpoint/2010/main" val="318105148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B82999-AFFA-5E20-60EF-45F04E98CEF0}"/>
              </a:ext>
            </a:extLst>
          </p:cNvPr>
          <p:cNvSpPr>
            <a:spLocks noGrp="1"/>
          </p:cNvSpPr>
          <p:nvPr>
            <p:ph type="title"/>
          </p:nvPr>
        </p:nvSpPr>
        <p:spPr/>
        <p:txBody>
          <a:bodyPr/>
          <a:lstStyle/>
          <a:p>
            <a:endParaRPr lang="en-US"/>
          </a:p>
        </p:txBody>
      </p:sp>
      <p:pic>
        <p:nvPicPr>
          <p:cNvPr id="5" name="Content Placeholder 4">
            <a:extLst>
              <a:ext uri="{FF2B5EF4-FFF2-40B4-BE49-F238E27FC236}">
                <a16:creationId xmlns:a16="http://schemas.microsoft.com/office/drawing/2014/main" id="{2B92BC82-E44F-D498-23ED-C69E3D9D6F33}"/>
              </a:ext>
            </a:extLst>
          </p:cNvPr>
          <p:cNvPicPr>
            <a:picLocks noGrp="1" noChangeAspect="1"/>
          </p:cNvPicPr>
          <p:nvPr>
            <p:ph idx="1"/>
          </p:nvPr>
        </p:nvPicPr>
        <p:blipFill>
          <a:blip r:embed="rId2"/>
          <a:stretch>
            <a:fillRect/>
          </a:stretch>
        </p:blipFill>
        <p:spPr>
          <a:xfrm>
            <a:off x="2550019" y="365125"/>
            <a:ext cx="7577905" cy="5307128"/>
          </a:xfrm>
        </p:spPr>
      </p:pic>
    </p:spTree>
    <p:extLst>
      <p:ext uri="{BB962C8B-B14F-4D97-AF65-F5344CB8AC3E}">
        <p14:creationId xmlns:p14="http://schemas.microsoft.com/office/powerpoint/2010/main" val="286792708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12192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239BC3E-CFFE-9799-A950-F83B9F75AA10}"/>
              </a:ext>
            </a:extLst>
          </p:cNvPr>
          <p:cNvSpPr>
            <a:spLocks noGrp="1"/>
          </p:cNvSpPr>
          <p:nvPr>
            <p:ph type="title"/>
          </p:nvPr>
        </p:nvSpPr>
        <p:spPr>
          <a:xfrm>
            <a:off x="556532" y="643467"/>
            <a:ext cx="11210925" cy="744836"/>
          </a:xfrm>
        </p:spPr>
        <p:txBody>
          <a:bodyPr vert="horz" lIns="91440" tIns="45720" rIns="91440" bIns="45720" rtlCol="0" anchor="ctr">
            <a:normAutofit/>
          </a:bodyPr>
          <a:lstStyle/>
          <a:p>
            <a:pPr algn="ctr"/>
            <a:r>
              <a:rPr lang="en-US" sz="3200" b="1" i="0" u="none" strike="noStrike" kern="1200" baseline="0">
                <a:solidFill>
                  <a:schemeClr val="bg1"/>
                </a:solidFill>
                <a:latin typeface="+mj-lt"/>
                <a:ea typeface="+mj-ea"/>
                <a:cs typeface="+mj-cs"/>
              </a:rPr>
              <a:t>Smart City IoT Architecture</a:t>
            </a:r>
            <a:endParaRPr lang="en-US" sz="3200" kern="1200">
              <a:solidFill>
                <a:schemeClr val="bg1"/>
              </a:solidFill>
              <a:latin typeface="+mj-lt"/>
              <a:ea typeface="+mj-ea"/>
              <a:cs typeface="+mj-cs"/>
            </a:endParaRPr>
          </a:p>
        </p:txBody>
      </p:sp>
      <p:pic>
        <p:nvPicPr>
          <p:cNvPr id="5" name="Content Placeholder 4">
            <a:extLst>
              <a:ext uri="{FF2B5EF4-FFF2-40B4-BE49-F238E27FC236}">
                <a16:creationId xmlns:a16="http://schemas.microsoft.com/office/drawing/2014/main" id="{43BDD974-8847-DC66-1037-6F0E753C7A5F}"/>
              </a:ext>
            </a:extLst>
          </p:cNvPr>
          <p:cNvPicPr>
            <a:picLocks noGrp="1" noChangeAspect="1"/>
          </p:cNvPicPr>
          <p:nvPr>
            <p:ph idx="1"/>
          </p:nvPr>
        </p:nvPicPr>
        <p:blipFill>
          <a:blip r:embed="rId2"/>
          <a:stretch>
            <a:fillRect/>
          </a:stretch>
        </p:blipFill>
        <p:spPr>
          <a:xfrm>
            <a:off x="390903" y="1388303"/>
            <a:ext cx="10293139" cy="5469697"/>
          </a:xfrm>
          <a:prstGeom prst="rect">
            <a:avLst/>
          </a:prstGeom>
        </p:spPr>
      </p:pic>
    </p:spTree>
    <p:extLst>
      <p:ext uri="{BB962C8B-B14F-4D97-AF65-F5344CB8AC3E}">
        <p14:creationId xmlns:p14="http://schemas.microsoft.com/office/powerpoint/2010/main" val="426506530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ED232B-F4D7-0742-703C-3DCCCAF0B104}"/>
              </a:ext>
            </a:extLst>
          </p:cNvPr>
          <p:cNvSpPr>
            <a:spLocks noGrp="1"/>
          </p:cNvSpPr>
          <p:nvPr>
            <p:ph type="title"/>
          </p:nvPr>
        </p:nvSpPr>
        <p:spPr/>
        <p:txBody>
          <a:bodyPr/>
          <a:lstStyle/>
          <a:p>
            <a:r>
              <a:rPr lang="en-US" dirty="0"/>
              <a:t>Smart City IoT Architecture</a:t>
            </a:r>
          </a:p>
        </p:txBody>
      </p:sp>
      <p:sp>
        <p:nvSpPr>
          <p:cNvPr id="3" name="Content Placeholder 2">
            <a:extLst>
              <a:ext uri="{FF2B5EF4-FFF2-40B4-BE49-F238E27FC236}">
                <a16:creationId xmlns:a16="http://schemas.microsoft.com/office/drawing/2014/main" id="{FDC6751E-327F-2F54-0F67-5CB25E9B620A}"/>
              </a:ext>
            </a:extLst>
          </p:cNvPr>
          <p:cNvSpPr>
            <a:spLocks noGrp="1"/>
          </p:cNvSpPr>
          <p:nvPr>
            <p:ph idx="1"/>
          </p:nvPr>
        </p:nvSpPr>
        <p:spPr>
          <a:xfrm>
            <a:off x="838200" y="1540042"/>
            <a:ext cx="10515600" cy="4636921"/>
          </a:xfrm>
        </p:spPr>
        <p:txBody>
          <a:bodyPr>
            <a:normAutofit fontScale="70000" lnSpcReduction="20000"/>
          </a:bodyPr>
          <a:lstStyle/>
          <a:p>
            <a:pPr algn="l"/>
            <a:r>
              <a:rPr lang="en-US" sz="2900" b="1" dirty="0">
                <a:solidFill>
                  <a:srgbClr val="231F20"/>
                </a:solidFill>
                <a:latin typeface="CiscoSerif-Regular"/>
              </a:rPr>
              <a:t>Street Layer: </a:t>
            </a:r>
            <a:r>
              <a:rPr lang="en-US" sz="2900" dirty="0">
                <a:solidFill>
                  <a:srgbClr val="231F20"/>
                </a:solidFill>
                <a:latin typeface="CiscoSerif-Regular"/>
              </a:rPr>
              <a:t>The street layer is composed of devices and sensors that collect data and take action based on instructions from the overall solution, as well as the networking components needed to aggregate and collect data</a:t>
            </a:r>
          </a:p>
          <a:p>
            <a:pPr marL="0" indent="0" algn="l">
              <a:buNone/>
            </a:pPr>
            <a:r>
              <a:rPr lang="en-US" sz="2800" b="0" i="0" u="none" strike="noStrike" baseline="0" dirty="0">
                <a:solidFill>
                  <a:srgbClr val="231F20"/>
                </a:solidFill>
                <a:latin typeface="CiscoSerif-Regular"/>
              </a:rPr>
              <a:t>A variety of sensors are used at the street layer for a variety of smart city use cases. Here is a short representative list:</a:t>
            </a:r>
          </a:p>
          <a:p>
            <a:pPr algn="l"/>
            <a:r>
              <a:rPr lang="en-US" sz="2800" b="0" i="0" u="none" strike="noStrike" baseline="0" dirty="0">
                <a:solidFill>
                  <a:srgbClr val="231F20"/>
                </a:solidFill>
                <a:latin typeface="CiscoSerif-Regular"/>
              </a:rPr>
              <a:t>A </a:t>
            </a:r>
            <a:r>
              <a:rPr lang="en-US" sz="2800" b="1" i="0" u="none" strike="noStrike" baseline="0" dirty="0">
                <a:solidFill>
                  <a:srgbClr val="231F20"/>
                </a:solidFill>
                <a:latin typeface="CiscoSerif-Regular"/>
              </a:rPr>
              <a:t>magnetic sensor </a:t>
            </a:r>
            <a:r>
              <a:rPr lang="en-US" sz="2800" b="0" i="0" u="none" strike="noStrike" baseline="0" dirty="0">
                <a:solidFill>
                  <a:srgbClr val="231F20"/>
                </a:solidFill>
                <a:latin typeface="CiscoSerif-Regular"/>
              </a:rPr>
              <a:t>can detect a parking event by analyzing changes in the surrounding magnetic field when a heavy metal object, such as a car or a truck, comes close to it (or on top of it).</a:t>
            </a:r>
          </a:p>
          <a:p>
            <a:pPr algn="l"/>
            <a:r>
              <a:rPr lang="en-US" sz="2800" b="0" i="0" u="none" strike="noStrike" baseline="0" dirty="0">
                <a:solidFill>
                  <a:srgbClr val="231F20"/>
                </a:solidFill>
                <a:latin typeface="CiscoSerif-Regular"/>
              </a:rPr>
              <a:t>A </a:t>
            </a:r>
            <a:r>
              <a:rPr lang="en-US" sz="2800" b="1" i="0" u="none" strike="noStrike" baseline="0" dirty="0">
                <a:solidFill>
                  <a:srgbClr val="231F20"/>
                </a:solidFill>
                <a:latin typeface="CiscoSerif-Regular"/>
              </a:rPr>
              <a:t>lighting controller </a:t>
            </a:r>
            <a:r>
              <a:rPr lang="en-US" sz="2800" b="0" i="0" u="none" strike="noStrike" baseline="0" dirty="0">
                <a:solidFill>
                  <a:srgbClr val="231F20"/>
                </a:solidFill>
                <a:latin typeface="CiscoSerif-Regular"/>
              </a:rPr>
              <a:t>can dim and brighten a light based on a combination of time-based and ambient conditions.</a:t>
            </a:r>
          </a:p>
          <a:p>
            <a:pPr algn="l"/>
            <a:r>
              <a:rPr lang="en-US" sz="2800" b="1" i="0" u="none" strike="noStrike" baseline="0" dirty="0">
                <a:solidFill>
                  <a:srgbClr val="231F20"/>
                </a:solidFill>
                <a:latin typeface="CiscoSerif-Regular"/>
              </a:rPr>
              <a:t>Video cameras </a:t>
            </a:r>
            <a:r>
              <a:rPr lang="en-US" sz="2800" b="0" i="0" u="none" strike="noStrike" baseline="0" dirty="0">
                <a:solidFill>
                  <a:srgbClr val="231F20"/>
                </a:solidFill>
                <a:latin typeface="CiscoSerif-Regular"/>
              </a:rPr>
              <a:t>combined with video analytics can detect vehicles, faces, and traffic conditions for various traffic and security use cases.</a:t>
            </a:r>
          </a:p>
          <a:p>
            <a:pPr algn="l"/>
            <a:r>
              <a:rPr lang="en-US" sz="2800" b="0" i="0" u="none" strike="noStrike" baseline="0" dirty="0">
                <a:solidFill>
                  <a:srgbClr val="231F20"/>
                </a:solidFill>
                <a:latin typeface="CiscoSerif-Regular"/>
              </a:rPr>
              <a:t>An </a:t>
            </a:r>
            <a:r>
              <a:rPr lang="en-US" sz="2800" b="1" i="0" u="none" strike="noStrike" baseline="0" dirty="0">
                <a:solidFill>
                  <a:srgbClr val="231F20"/>
                </a:solidFill>
                <a:latin typeface="CiscoSerif-Regular"/>
              </a:rPr>
              <a:t>air quality sensor </a:t>
            </a:r>
            <a:r>
              <a:rPr lang="en-US" sz="2800" b="0" i="0" u="none" strike="noStrike" baseline="0" dirty="0">
                <a:solidFill>
                  <a:srgbClr val="231F20"/>
                </a:solidFill>
                <a:latin typeface="CiscoSerif-Regular"/>
              </a:rPr>
              <a:t>can detect and measure gas and particulate matter concentrations to give a hyper-localized perspective on pollution in a given area.</a:t>
            </a:r>
          </a:p>
          <a:p>
            <a:pPr algn="l"/>
            <a:r>
              <a:rPr lang="en-US" sz="2800" b="1" i="0" u="none" strike="noStrike" baseline="0" dirty="0">
                <a:solidFill>
                  <a:srgbClr val="231F20"/>
                </a:solidFill>
                <a:latin typeface="CiscoSerif-Regular"/>
              </a:rPr>
              <a:t>Device counters </a:t>
            </a:r>
            <a:r>
              <a:rPr lang="en-US" sz="2800" b="0" i="0" u="none" strike="noStrike" baseline="0" dirty="0">
                <a:solidFill>
                  <a:srgbClr val="231F20"/>
                </a:solidFill>
                <a:latin typeface="CiscoSerif-Regular"/>
              </a:rPr>
              <a:t>give an estimate of the number of devices in the area, which provides a rough idea of the number of vehicles moving or parked in a street or a public parking area, of pedestrians on a sidewalk, or even of birds in public parks or on public monuments—for cities where bird control has become an issue</a:t>
            </a:r>
            <a:endParaRPr lang="en-US" dirty="0"/>
          </a:p>
        </p:txBody>
      </p:sp>
    </p:spTree>
    <p:extLst>
      <p:ext uri="{BB962C8B-B14F-4D97-AF65-F5344CB8AC3E}">
        <p14:creationId xmlns:p14="http://schemas.microsoft.com/office/powerpoint/2010/main" val="338430529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062E86A-D468-2B69-A1D2-4A05D19A8546}"/>
              </a:ext>
            </a:extLst>
          </p:cNvPr>
          <p:cNvSpPr>
            <a:spLocks noGrp="1"/>
          </p:cNvSpPr>
          <p:nvPr>
            <p:ph idx="1"/>
          </p:nvPr>
        </p:nvSpPr>
        <p:spPr>
          <a:xfrm>
            <a:off x="838200" y="733926"/>
            <a:ext cx="10515600" cy="5443037"/>
          </a:xfrm>
        </p:spPr>
        <p:txBody>
          <a:bodyPr>
            <a:normAutofit/>
          </a:bodyPr>
          <a:lstStyle/>
          <a:p>
            <a:pPr algn="l"/>
            <a:r>
              <a:rPr lang="en-US" b="1" dirty="0"/>
              <a:t>City Layer: </a:t>
            </a:r>
            <a:r>
              <a:rPr lang="en-US" dirty="0">
                <a:solidFill>
                  <a:srgbClr val="231F20"/>
                </a:solidFill>
                <a:latin typeface="CiscoSerif-Regular"/>
              </a:rPr>
              <a:t>At the city layer, which is above the street layer, network routers and switches must be deployed to match the size of city data that needs to be transported. This layer aggregates all data collected by sensors and the end-node network into a single transport network.</a:t>
            </a:r>
          </a:p>
          <a:p>
            <a:pPr algn="l"/>
            <a:r>
              <a:rPr lang="en-US" sz="2800" b="0" i="0" u="none" strike="noStrike" baseline="0" dirty="0">
                <a:solidFill>
                  <a:srgbClr val="231F20"/>
                </a:solidFill>
                <a:latin typeface="CiscoSerif-Regular"/>
              </a:rPr>
              <a:t>one key consideration of the city layer is that it needs to transport multiple types of protocols, for multiple types of IoT applications. </a:t>
            </a:r>
          </a:p>
          <a:p>
            <a:pPr algn="l"/>
            <a:r>
              <a:rPr lang="en-US" sz="2800" b="0" i="0" u="none" strike="noStrike" baseline="0" dirty="0">
                <a:solidFill>
                  <a:srgbClr val="231F20"/>
                </a:solidFill>
                <a:latin typeface="CiscoSerif-Regular"/>
              </a:rPr>
              <a:t>Some applications are delay- and jitter-sensitive, and some other applications require a deterministic approach to frame delivery.</a:t>
            </a:r>
          </a:p>
          <a:p>
            <a:pPr algn="l"/>
            <a:r>
              <a:rPr lang="en-US" sz="2800" b="0" i="0" u="none" strike="noStrike" baseline="0" dirty="0">
                <a:solidFill>
                  <a:srgbClr val="231F20"/>
                </a:solidFill>
                <a:latin typeface="CiscoSerif-Regular"/>
              </a:rPr>
              <a:t>the city layer must be built around resiliency, to ensure that a packet coming from a sensor or a gateway will always be forwarded successfully to the headend station</a:t>
            </a:r>
            <a:endParaRPr lang="en-US" dirty="0"/>
          </a:p>
        </p:txBody>
      </p:sp>
    </p:spTree>
    <p:extLst>
      <p:ext uri="{BB962C8B-B14F-4D97-AF65-F5344CB8AC3E}">
        <p14:creationId xmlns:p14="http://schemas.microsoft.com/office/powerpoint/2010/main" val="35300092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90C0F6-1A83-1448-8FBD-57F49F6C03C4}"/>
              </a:ext>
            </a:extLst>
          </p:cNvPr>
          <p:cNvSpPr>
            <a:spLocks noGrp="1"/>
          </p:cNvSpPr>
          <p:nvPr>
            <p:ph type="title"/>
          </p:nvPr>
        </p:nvSpPr>
        <p:spPr/>
        <p:txBody>
          <a:bodyPr/>
          <a:lstStyle/>
          <a:p>
            <a:endParaRPr lang="en-US"/>
          </a:p>
        </p:txBody>
      </p:sp>
      <p:pic>
        <p:nvPicPr>
          <p:cNvPr id="5" name="Content Placeholder 4">
            <a:extLst>
              <a:ext uri="{FF2B5EF4-FFF2-40B4-BE49-F238E27FC236}">
                <a16:creationId xmlns:a16="http://schemas.microsoft.com/office/drawing/2014/main" id="{B087475B-325D-91C7-FC28-5211739FE489}"/>
              </a:ext>
            </a:extLst>
          </p:cNvPr>
          <p:cNvPicPr>
            <a:picLocks noGrp="1" noChangeAspect="1"/>
          </p:cNvPicPr>
          <p:nvPr>
            <p:ph idx="1"/>
          </p:nvPr>
        </p:nvPicPr>
        <p:blipFill>
          <a:blip r:embed="rId2"/>
          <a:stretch>
            <a:fillRect/>
          </a:stretch>
        </p:blipFill>
        <p:spPr>
          <a:xfrm>
            <a:off x="2141622" y="365125"/>
            <a:ext cx="7202118" cy="5790894"/>
          </a:xfrm>
        </p:spPr>
      </p:pic>
    </p:spTree>
    <p:extLst>
      <p:ext uri="{BB962C8B-B14F-4D97-AF65-F5344CB8AC3E}">
        <p14:creationId xmlns:p14="http://schemas.microsoft.com/office/powerpoint/2010/main" val="238102055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A44788B-208E-5439-93EB-A9EE2465C221}"/>
              </a:ext>
            </a:extLst>
          </p:cNvPr>
          <p:cNvSpPr>
            <a:spLocks noGrp="1"/>
          </p:cNvSpPr>
          <p:nvPr>
            <p:ph idx="1"/>
          </p:nvPr>
        </p:nvSpPr>
        <p:spPr>
          <a:xfrm>
            <a:off x="838200" y="469232"/>
            <a:ext cx="10515600" cy="5707731"/>
          </a:xfrm>
        </p:spPr>
        <p:txBody>
          <a:bodyPr/>
          <a:lstStyle/>
          <a:p>
            <a:pPr algn="l"/>
            <a:r>
              <a:rPr lang="en-US" sz="2800" b="1" i="0" u="none" strike="noStrike" baseline="0" dirty="0">
                <a:solidFill>
                  <a:srgbClr val="231F20"/>
                </a:solidFill>
                <a:latin typeface="Cisco-Bold"/>
              </a:rPr>
              <a:t>Data Center Layer: </a:t>
            </a:r>
            <a:r>
              <a:rPr lang="en-US" sz="1800" b="0" i="0" u="none" strike="noStrike" baseline="0" dirty="0">
                <a:solidFill>
                  <a:srgbClr val="231F20"/>
                </a:solidFill>
                <a:latin typeface="CiscoSerif-Regular"/>
              </a:rPr>
              <a:t>Ultimately, data collected from the sensors is sent to a data center, where it can be processed and correlated. Based on this processing of data, meaningful information and trends can be derived, and information can be provided back</a:t>
            </a:r>
            <a:endParaRPr lang="en-US" dirty="0"/>
          </a:p>
        </p:txBody>
      </p:sp>
      <p:pic>
        <p:nvPicPr>
          <p:cNvPr id="5" name="Picture 4">
            <a:extLst>
              <a:ext uri="{FF2B5EF4-FFF2-40B4-BE49-F238E27FC236}">
                <a16:creationId xmlns:a16="http://schemas.microsoft.com/office/drawing/2014/main" id="{A4B8365F-D858-E9AB-FC31-A3E24E2B9780}"/>
              </a:ext>
            </a:extLst>
          </p:cNvPr>
          <p:cNvPicPr>
            <a:picLocks noChangeAspect="1"/>
          </p:cNvPicPr>
          <p:nvPr/>
        </p:nvPicPr>
        <p:blipFill>
          <a:blip r:embed="rId2"/>
          <a:stretch>
            <a:fillRect/>
          </a:stretch>
        </p:blipFill>
        <p:spPr>
          <a:xfrm>
            <a:off x="1985211" y="1515979"/>
            <a:ext cx="8735504" cy="5003061"/>
          </a:xfrm>
          <a:prstGeom prst="rect">
            <a:avLst/>
          </a:prstGeom>
        </p:spPr>
      </p:pic>
    </p:spTree>
    <p:extLst>
      <p:ext uri="{BB962C8B-B14F-4D97-AF65-F5344CB8AC3E}">
        <p14:creationId xmlns:p14="http://schemas.microsoft.com/office/powerpoint/2010/main" val="189858854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1CDF0C-7326-5827-E4D9-8D1D2720631D}"/>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AD701182-E219-6229-EB9F-ACE549378BA5}"/>
              </a:ext>
            </a:extLst>
          </p:cNvPr>
          <p:cNvSpPr>
            <a:spLocks noGrp="1"/>
          </p:cNvSpPr>
          <p:nvPr>
            <p:ph idx="1"/>
          </p:nvPr>
        </p:nvSpPr>
        <p:spPr/>
        <p:txBody>
          <a:bodyPr/>
          <a:lstStyle/>
          <a:p>
            <a:pPr algn="l"/>
            <a:r>
              <a:rPr lang="en-US" dirty="0"/>
              <a:t>Services Layer: </a:t>
            </a:r>
            <a:r>
              <a:rPr lang="en-US" sz="2800" b="0" i="0" u="none" strike="noStrike" baseline="0" dirty="0">
                <a:solidFill>
                  <a:srgbClr val="231F20"/>
                </a:solidFill>
                <a:latin typeface="CiscoSerif-Regular"/>
              </a:rPr>
              <a:t>Ultimately, the true value of ICT connectivity comes from the services that the measured data can provide to different users operating within a city</a:t>
            </a:r>
          </a:p>
          <a:p>
            <a:pPr algn="l"/>
            <a:r>
              <a:rPr lang="en-US" dirty="0">
                <a:solidFill>
                  <a:srgbClr val="231F20"/>
                </a:solidFill>
                <a:latin typeface="CiscoSerif-Regular"/>
              </a:rPr>
              <a:t>Examples: </a:t>
            </a:r>
          </a:p>
          <a:p>
            <a:pPr lvl="1"/>
            <a:r>
              <a:rPr lang="en-US" dirty="0">
                <a:solidFill>
                  <a:srgbClr val="231F20"/>
                </a:solidFill>
                <a:latin typeface="CiscoSerif-Regular"/>
              </a:rPr>
              <a:t>Parking data</a:t>
            </a:r>
          </a:p>
          <a:p>
            <a:pPr lvl="1"/>
            <a:r>
              <a:rPr lang="en-US" dirty="0">
                <a:solidFill>
                  <a:srgbClr val="231F20"/>
                </a:solidFill>
                <a:latin typeface="CiscoSerif-Regular"/>
              </a:rPr>
              <a:t>Traffic Information</a:t>
            </a:r>
          </a:p>
          <a:p>
            <a:pPr lvl="1"/>
            <a:r>
              <a:rPr lang="en-US" dirty="0">
                <a:solidFill>
                  <a:srgbClr val="231F20"/>
                </a:solidFill>
                <a:latin typeface="CiscoSerif-Regular"/>
              </a:rPr>
              <a:t>Street Lighting </a:t>
            </a:r>
          </a:p>
          <a:p>
            <a:pPr lvl="1"/>
            <a:r>
              <a:rPr lang="en-US" dirty="0">
                <a:solidFill>
                  <a:srgbClr val="231F20"/>
                </a:solidFill>
                <a:latin typeface="CiscoSerif-Regular"/>
              </a:rPr>
              <a:t>Waste Management </a:t>
            </a:r>
            <a:endParaRPr lang="en-US" dirty="0"/>
          </a:p>
        </p:txBody>
      </p:sp>
    </p:spTree>
    <p:extLst>
      <p:ext uri="{BB962C8B-B14F-4D97-AF65-F5344CB8AC3E}">
        <p14:creationId xmlns:p14="http://schemas.microsoft.com/office/powerpoint/2010/main" val="251058963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32FACF-A0BE-3EB6-7932-E6172AE4CD9D}"/>
              </a:ext>
            </a:extLst>
          </p:cNvPr>
          <p:cNvSpPr>
            <a:spLocks noGrp="1"/>
          </p:cNvSpPr>
          <p:nvPr>
            <p:ph type="title"/>
          </p:nvPr>
        </p:nvSpPr>
        <p:spPr/>
        <p:txBody>
          <a:bodyPr/>
          <a:lstStyle/>
          <a:p>
            <a:r>
              <a:rPr lang="en-US" dirty="0"/>
              <a:t>Smart City Use Case Examples</a:t>
            </a:r>
          </a:p>
        </p:txBody>
      </p:sp>
      <p:pic>
        <p:nvPicPr>
          <p:cNvPr id="7" name="Content Placeholder 6">
            <a:extLst>
              <a:ext uri="{FF2B5EF4-FFF2-40B4-BE49-F238E27FC236}">
                <a16:creationId xmlns:a16="http://schemas.microsoft.com/office/drawing/2014/main" id="{9C03698E-9308-C981-29E0-37E4B3560906}"/>
              </a:ext>
            </a:extLst>
          </p:cNvPr>
          <p:cNvPicPr>
            <a:picLocks noGrp="1" noChangeAspect="1"/>
          </p:cNvPicPr>
          <p:nvPr>
            <p:ph idx="1"/>
          </p:nvPr>
        </p:nvPicPr>
        <p:blipFill>
          <a:blip r:embed="rId2"/>
          <a:stretch>
            <a:fillRect/>
          </a:stretch>
        </p:blipFill>
        <p:spPr>
          <a:xfrm>
            <a:off x="1565944" y="1251284"/>
            <a:ext cx="7744718" cy="5241591"/>
          </a:xfrm>
        </p:spPr>
      </p:pic>
    </p:spTree>
    <p:extLst>
      <p:ext uri="{BB962C8B-B14F-4D97-AF65-F5344CB8AC3E}">
        <p14:creationId xmlns:p14="http://schemas.microsoft.com/office/powerpoint/2010/main" val="61577184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82FA9D-C5BF-6770-1F75-3428DE859853}"/>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CD401E03-0C2B-4E58-5E67-8C199B64C663}"/>
              </a:ext>
            </a:extLst>
          </p:cNvPr>
          <p:cNvSpPr>
            <a:spLocks noGrp="1"/>
          </p:cNvSpPr>
          <p:nvPr>
            <p:ph idx="1"/>
          </p:nvPr>
        </p:nvSpPr>
        <p:spPr/>
        <p:txBody>
          <a:bodyPr>
            <a:normAutofit lnSpcReduction="10000"/>
          </a:bodyPr>
          <a:lstStyle/>
          <a:p>
            <a:pPr algn="l"/>
            <a:r>
              <a:rPr lang="en-US" sz="2800" b="0" i="0" u="none" strike="noStrike" baseline="0" dirty="0">
                <a:solidFill>
                  <a:srgbClr val="231F20"/>
                </a:solidFill>
                <a:latin typeface="CiscoSerif-Regular"/>
              </a:rPr>
              <a:t>A human or automated operator can use a cloud application to perform automated scheduling for lights and even get light sensors to perform automated dimming or brightening, as needed</a:t>
            </a:r>
          </a:p>
          <a:p>
            <a:pPr algn="l"/>
            <a:r>
              <a:rPr lang="en-US" sz="2800" b="0" i="0" u="none" strike="noStrike" baseline="0" dirty="0">
                <a:solidFill>
                  <a:srgbClr val="231F20"/>
                </a:solidFill>
                <a:latin typeface="CiscoSerif-Regular"/>
              </a:rPr>
              <a:t>Lighting nodes vary widely in the industry, especially with respect to elements such as what communication protocol they use (for example, Wi-Fi, cellular, ZigBee, 802.15.4g [Wi-SUN], </a:t>
            </a:r>
            <a:r>
              <a:rPr lang="en-US" sz="2800" b="0" i="0" u="none" strike="noStrike" baseline="0" dirty="0" err="1">
                <a:solidFill>
                  <a:srgbClr val="231F20"/>
                </a:solidFill>
                <a:latin typeface="CiscoSerif-Regular"/>
              </a:rPr>
              <a:t>LoRaWAN</a:t>
            </a:r>
            <a:r>
              <a:rPr lang="en-US" sz="2800" b="0" i="0" u="none" strike="noStrike" baseline="0" dirty="0">
                <a:solidFill>
                  <a:srgbClr val="231F20"/>
                </a:solidFill>
                <a:latin typeface="CiscoSerif-Regular"/>
              </a:rPr>
              <a:t>)</a:t>
            </a:r>
          </a:p>
          <a:p>
            <a:pPr algn="l"/>
            <a:r>
              <a:rPr lang="en-US" sz="2800" b="0" i="0" u="none" strike="noStrike" baseline="0" dirty="0">
                <a:solidFill>
                  <a:srgbClr val="231F20"/>
                </a:solidFill>
                <a:latin typeface="CiscoSerif-Regular"/>
              </a:rPr>
              <a:t>LED light bulbs are commonly equipped with basic sensors that can detect light (driving local on/off and dimming actions) and that can also detect many other environmental parameters, such as temperature, motion, pressure, or humidity. </a:t>
            </a:r>
            <a:r>
              <a:rPr lang="en-US" dirty="0">
                <a:solidFill>
                  <a:srgbClr val="231F20"/>
                </a:solidFill>
                <a:latin typeface="CiscoSerif-Regular"/>
              </a:rPr>
              <a:t>S</a:t>
            </a:r>
            <a:r>
              <a:rPr lang="en-US" sz="2800" b="0" i="0" u="none" strike="noStrike" baseline="0" dirty="0">
                <a:solidFill>
                  <a:srgbClr val="231F20"/>
                </a:solidFill>
                <a:latin typeface="CiscoSerif-Regular"/>
              </a:rPr>
              <a:t>treet lights can also become local weather reporting stations</a:t>
            </a:r>
            <a:endParaRPr lang="en-US" dirty="0"/>
          </a:p>
        </p:txBody>
      </p:sp>
    </p:spTree>
    <p:extLst>
      <p:ext uri="{BB962C8B-B14F-4D97-AF65-F5344CB8AC3E}">
        <p14:creationId xmlns:p14="http://schemas.microsoft.com/office/powerpoint/2010/main" val="381584179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B75950-89AD-598C-6063-E46EDB40B345}"/>
              </a:ext>
            </a:extLst>
          </p:cNvPr>
          <p:cNvSpPr>
            <a:spLocks noGrp="1"/>
          </p:cNvSpPr>
          <p:nvPr>
            <p:ph type="title"/>
          </p:nvPr>
        </p:nvSpPr>
        <p:spPr>
          <a:xfrm>
            <a:off x="838200" y="365125"/>
            <a:ext cx="10515600" cy="522453"/>
          </a:xfrm>
        </p:spPr>
        <p:txBody>
          <a:bodyPr>
            <a:normAutofit fontScale="90000"/>
          </a:bodyPr>
          <a:lstStyle/>
          <a:p>
            <a:r>
              <a:rPr lang="en-US" sz="4400" b="0" i="0" u="none" strike="noStrike" baseline="0" dirty="0">
                <a:solidFill>
                  <a:srgbClr val="231F20"/>
                </a:solidFill>
                <a:latin typeface="Cisco-Regular"/>
              </a:rPr>
              <a:t>Smart Parking</a:t>
            </a:r>
            <a:endParaRPr lang="en-US" dirty="0"/>
          </a:p>
        </p:txBody>
      </p:sp>
      <p:pic>
        <p:nvPicPr>
          <p:cNvPr id="5" name="Content Placeholder 4">
            <a:extLst>
              <a:ext uri="{FF2B5EF4-FFF2-40B4-BE49-F238E27FC236}">
                <a16:creationId xmlns:a16="http://schemas.microsoft.com/office/drawing/2014/main" id="{A8F67096-944C-71B6-B533-9313960A69AB}"/>
              </a:ext>
            </a:extLst>
          </p:cNvPr>
          <p:cNvPicPr>
            <a:picLocks noGrp="1" noChangeAspect="1"/>
          </p:cNvPicPr>
          <p:nvPr>
            <p:ph idx="1"/>
          </p:nvPr>
        </p:nvPicPr>
        <p:blipFill>
          <a:blip r:embed="rId2"/>
          <a:stretch>
            <a:fillRect/>
          </a:stretch>
        </p:blipFill>
        <p:spPr>
          <a:xfrm>
            <a:off x="963931" y="887577"/>
            <a:ext cx="8968476" cy="5605297"/>
          </a:xfrm>
        </p:spPr>
      </p:pic>
    </p:spTree>
    <p:extLst>
      <p:ext uri="{BB962C8B-B14F-4D97-AF65-F5344CB8AC3E}">
        <p14:creationId xmlns:p14="http://schemas.microsoft.com/office/powerpoint/2010/main" val="42304649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0ED532-ABCE-EBA4-600A-33A9BC5DBB71}"/>
              </a:ext>
            </a:extLst>
          </p:cNvPr>
          <p:cNvSpPr>
            <a:spLocks noGrp="1"/>
          </p:cNvSpPr>
          <p:nvPr>
            <p:ph type="title"/>
          </p:nvPr>
        </p:nvSpPr>
        <p:spPr/>
        <p:txBody>
          <a:bodyPr/>
          <a:lstStyle/>
          <a:p>
            <a:r>
              <a:rPr lang="en-US" sz="4400" b="0" i="0" u="none" strike="noStrike" baseline="0" dirty="0">
                <a:solidFill>
                  <a:srgbClr val="231F20"/>
                </a:solidFill>
                <a:latin typeface="Cisco-Regular"/>
              </a:rPr>
              <a:t>Smart Traffic Control Architecture</a:t>
            </a:r>
            <a:endParaRPr lang="en-US" dirty="0"/>
          </a:p>
        </p:txBody>
      </p:sp>
      <p:pic>
        <p:nvPicPr>
          <p:cNvPr id="5" name="Content Placeholder 4">
            <a:extLst>
              <a:ext uri="{FF2B5EF4-FFF2-40B4-BE49-F238E27FC236}">
                <a16:creationId xmlns:a16="http://schemas.microsoft.com/office/drawing/2014/main" id="{4039FA4D-1E72-978A-BCC9-3CEFEA8A1F9E}"/>
              </a:ext>
            </a:extLst>
          </p:cNvPr>
          <p:cNvPicPr>
            <a:picLocks noGrp="1" noChangeAspect="1"/>
          </p:cNvPicPr>
          <p:nvPr>
            <p:ph idx="1"/>
          </p:nvPr>
        </p:nvPicPr>
        <p:blipFill>
          <a:blip r:embed="rId2"/>
          <a:stretch>
            <a:fillRect/>
          </a:stretch>
        </p:blipFill>
        <p:spPr>
          <a:xfrm>
            <a:off x="1031986" y="1263315"/>
            <a:ext cx="10321813" cy="5567609"/>
          </a:xfrm>
        </p:spPr>
      </p:pic>
    </p:spTree>
    <p:extLst>
      <p:ext uri="{BB962C8B-B14F-4D97-AF65-F5344CB8AC3E}">
        <p14:creationId xmlns:p14="http://schemas.microsoft.com/office/powerpoint/2010/main" val="290866223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B11583-9003-026E-D16A-298E57EC2B1C}"/>
              </a:ext>
            </a:extLst>
          </p:cNvPr>
          <p:cNvSpPr>
            <a:spLocks noGrp="1"/>
          </p:cNvSpPr>
          <p:nvPr>
            <p:ph type="title"/>
          </p:nvPr>
        </p:nvSpPr>
        <p:spPr/>
        <p:txBody>
          <a:bodyPr/>
          <a:lstStyle/>
          <a:p>
            <a:r>
              <a:rPr lang="en-US" dirty="0"/>
              <a:t>Connected Environment Architecture</a:t>
            </a:r>
          </a:p>
        </p:txBody>
      </p:sp>
      <p:pic>
        <p:nvPicPr>
          <p:cNvPr id="5" name="Content Placeholder 4">
            <a:extLst>
              <a:ext uri="{FF2B5EF4-FFF2-40B4-BE49-F238E27FC236}">
                <a16:creationId xmlns:a16="http://schemas.microsoft.com/office/drawing/2014/main" id="{DF92CB78-B143-5D5D-05C4-5E67557F45D0}"/>
              </a:ext>
            </a:extLst>
          </p:cNvPr>
          <p:cNvPicPr>
            <a:picLocks noGrp="1" noChangeAspect="1"/>
          </p:cNvPicPr>
          <p:nvPr>
            <p:ph idx="1"/>
          </p:nvPr>
        </p:nvPicPr>
        <p:blipFill>
          <a:blip r:embed="rId2"/>
          <a:stretch>
            <a:fillRect/>
          </a:stretch>
        </p:blipFill>
        <p:spPr>
          <a:xfrm>
            <a:off x="1431758" y="1361641"/>
            <a:ext cx="9324474" cy="5277037"/>
          </a:xfrm>
        </p:spPr>
      </p:pic>
    </p:spTree>
    <p:extLst>
      <p:ext uri="{BB962C8B-B14F-4D97-AF65-F5344CB8AC3E}">
        <p14:creationId xmlns:p14="http://schemas.microsoft.com/office/powerpoint/2010/main" val="152245900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130</TotalTime>
  <Words>943</Words>
  <Application>Microsoft Office PowerPoint</Application>
  <PresentationFormat>Widescreen</PresentationFormat>
  <Paragraphs>44</Paragraphs>
  <Slides>15</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15</vt:i4>
      </vt:variant>
    </vt:vector>
  </HeadingPairs>
  <TitlesOfParts>
    <vt:vector size="23" baseType="lpstr">
      <vt:lpstr>Arial</vt:lpstr>
      <vt:lpstr>Calibri</vt:lpstr>
      <vt:lpstr>Calibri Light</vt:lpstr>
      <vt:lpstr>Cisco-Bold</vt:lpstr>
      <vt:lpstr>Cisco-Regular</vt:lpstr>
      <vt:lpstr>CiscoSerif-Bold</vt:lpstr>
      <vt:lpstr>CiscoSerif-Regular</vt:lpstr>
      <vt:lpstr>Office Theme</vt:lpstr>
      <vt:lpstr>  Smart and Connected Cities</vt:lpstr>
      <vt:lpstr>Background</vt:lpstr>
      <vt:lpstr>PowerPoint Presentation</vt:lpstr>
      <vt:lpstr>PowerPoint Presentation</vt:lpstr>
      <vt:lpstr>Smart City IoT Architecture</vt:lpstr>
      <vt:lpstr>Smart City IoT Architecture</vt:lpstr>
      <vt:lpstr>PowerPoint Presentation</vt:lpstr>
      <vt:lpstr>PowerPoint Presentation</vt:lpstr>
      <vt:lpstr>PowerPoint Presentation</vt:lpstr>
      <vt:lpstr>PowerPoint Presentation</vt:lpstr>
      <vt:lpstr>Smart City Use Case Examples</vt:lpstr>
      <vt:lpstr>PowerPoint Presentation</vt:lpstr>
      <vt:lpstr>Smart Parking</vt:lpstr>
      <vt:lpstr>Smart Traffic Control Architecture</vt:lpstr>
      <vt:lpstr>Connected Environment Architecture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Smart and Connected Cities</dc:title>
  <dc:creator>Dr. Abbas Javed</dc:creator>
  <cp:lastModifiedBy>Dr. Abbas Javed</cp:lastModifiedBy>
  <cp:revision>2</cp:revision>
  <dcterms:created xsi:type="dcterms:W3CDTF">2022-06-22T06:00:30Z</dcterms:created>
  <dcterms:modified xsi:type="dcterms:W3CDTF">2022-06-22T08:11:22Z</dcterms:modified>
</cp:coreProperties>
</file>