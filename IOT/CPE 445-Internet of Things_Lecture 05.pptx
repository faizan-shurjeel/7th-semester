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10/2/2025</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10/2/2025</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normAutofit fontScale="90000"/>
          </a:bodyPr>
          <a:lstStyle/>
          <a:p>
            <a:br>
              <a:rPr lang="en-US" dirty="0"/>
            </a:br>
            <a:br>
              <a:rPr lang="en-US" dirty="0"/>
            </a:br>
            <a:r>
              <a:rPr lang="en-US" dirty="0"/>
              <a:t>IP as the IoT Network Layer</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690688"/>
            <a:ext cx="10515600" cy="4507940"/>
          </a:xfrm>
        </p:spPr>
        <p:txBody>
          <a:bodyPr>
            <a:normAutofit/>
          </a:bodyPr>
          <a:lstStyle/>
          <a:p>
            <a:pPr algn="l"/>
            <a:r>
              <a:rPr lang="en-US" sz="2800" b="1" i="0" u="none" strike="noStrike" baseline="0" dirty="0">
                <a:solidFill>
                  <a:srgbClr val="231F20"/>
                </a:solidFill>
                <a:latin typeface="CiscoSerif-Bold"/>
              </a:rPr>
              <a:t>The Business Case for IP: </a:t>
            </a:r>
            <a:r>
              <a:rPr lang="en-US" sz="2800" b="0" i="0" u="none" strike="noStrike" baseline="0" dirty="0">
                <a:solidFill>
                  <a:srgbClr val="231F20"/>
                </a:solidFill>
                <a:latin typeface="CiscoSerif-Regular"/>
              </a:rPr>
              <a:t>This section discusses the advantages of IP from an IoT perspective and introduces the concepts of adoption and adaptation.</a:t>
            </a:r>
          </a:p>
          <a:p>
            <a:pPr algn="l"/>
            <a:r>
              <a:rPr lang="en-US" sz="2800" b="1" i="0" u="none" strike="noStrike" baseline="0" dirty="0">
                <a:solidFill>
                  <a:srgbClr val="231F20"/>
                </a:solidFill>
                <a:latin typeface="CiscoSerif-Bold"/>
              </a:rPr>
              <a:t>The Need for Optimization: </a:t>
            </a:r>
            <a:r>
              <a:rPr lang="en-US" sz="2800" b="0" i="0" u="none" strike="noStrike" baseline="0" dirty="0">
                <a:solidFill>
                  <a:srgbClr val="231F20"/>
                </a:solidFill>
                <a:latin typeface="CiscoSerif-Regular"/>
              </a:rPr>
              <a:t>This section dives into the challenges of constrained nodes and devices when deploying IP. This section also looks at the migration from IPv4 to IPv6 and how it affects IoT networks.</a:t>
            </a:r>
          </a:p>
          <a:p>
            <a:pPr algn="l"/>
            <a:r>
              <a:rPr lang="en-US" sz="2800" b="1" i="0" u="none" strike="noStrike" baseline="0" dirty="0">
                <a:solidFill>
                  <a:srgbClr val="231F20"/>
                </a:solidFill>
                <a:latin typeface="CiscoSerif-Bold"/>
              </a:rPr>
              <a:t>Optimizing IP for IoT: </a:t>
            </a:r>
            <a:r>
              <a:rPr lang="en-US" sz="2800" b="0" i="0" u="none" strike="noStrike" baseline="0" dirty="0">
                <a:solidFill>
                  <a:srgbClr val="231F20"/>
                </a:solidFill>
                <a:latin typeface="CiscoSerif-Regular"/>
              </a:rPr>
              <a:t>This section explores the common protocols and technologies in IoT networks utilizing IP, including 6LoWPAN, 6TiSCH, and RPL.</a:t>
            </a:r>
          </a:p>
        </p:txBody>
      </p:sp>
    </p:spTree>
    <p:extLst>
      <p:ext uri="{BB962C8B-B14F-4D97-AF65-F5344CB8AC3E}">
        <p14:creationId xmlns:p14="http://schemas.microsoft.com/office/powerpoint/2010/main" val="380393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1909-33D2-4845-8518-DBF6BFD34AA2}"/>
              </a:ext>
            </a:extLst>
          </p:cNvPr>
          <p:cNvSpPr>
            <a:spLocks noGrp="1"/>
          </p:cNvSpPr>
          <p:nvPr>
            <p:ph type="title"/>
          </p:nvPr>
        </p:nvSpPr>
        <p:spPr/>
        <p:txBody>
          <a:bodyPr/>
          <a:lstStyle/>
          <a:p>
            <a:r>
              <a:rPr lang="en-US" dirty="0"/>
              <a:t>Key Advantages of Internet Protocol</a:t>
            </a:r>
          </a:p>
        </p:txBody>
      </p:sp>
      <p:sp>
        <p:nvSpPr>
          <p:cNvPr id="3" name="Content Placeholder 2">
            <a:extLst>
              <a:ext uri="{FF2B5EF4-FFF2-40B4-BE49-F238E27FC236}">
                <a16:creationId xmlns:a16="http://schemas.microsoft.com/office/drawing/2014/main" id="{4100F6AD-75EB-45E8-8138-2011D93482DF}"/>
              </a:ext>
            </a:extLst>
          </p:cNvPr>
          <p:cNvSpPr>
            <a:spLocks noGrp="1"/>
          </p:cNvSpPr>
          <p:nvPr>
            <p:ph idx="1"/>
          </p:nvPr>
        </p:nvSpPr>
        <p:spPr/>
        <p:txBody>
          <a:bodyPr/>
          <a:lstStyle/>
          <a:p>
            <a:r>
              <a:rPr lang="en-US" dirty="0"/>
              <a:t>Open and standards-based</a:t>
            </a:r>
          </a:p>
          <a:p>
            <a:r>
              <a:rPr lang="en-US" dirty="0"/>
              <a:t>Versatile</a:t>
            </a:r>
          </a:p>
          <a:p>
            <a:r>
              <a:rPr lang="en-US" dirty="0"/>
              <a:t>Ubiquitous</a:t>
            </a:r>
          </a:p>
          <a:p>
            <a:r>
              <a:rPr lang="en-US" dirty="0"/>
              <a:t>Scalable</a:t>
            </a:r>
          </a:p>
          <a:p>
            <a:r>
              <a:rPr lang="en-US" dirty="0"/>
              <a:t>Manageable and highly secure</a:t>
            </a:r>
          </a:p>
          <a:p>
            <a:r>
              <a:rPr lang="en-US" dirty="0"/>
              <a:t>Stable and resilient</a:t>
            </a:r>
          </a:p>
          <a:p>
            <a:r>
              <a:rPr lang="en-US" dirty="0"/>
              <a:t>Consumers’ market adoption</a:t>
            </a:r>
          </a:p>
          <a:p>
            <a:r>
              <a:rPr lang="en-US" dirty="0"/>
              <a:t>The innovation factor</a:t>
            </a:r>
          </a:p>
        </p:txBody>
      </p:sp>
    </p:spTree>
    <p:extLst>
      <p:ext uri="{BB962C8B-B14F-4D97-AF65-F5344CB8AC3E}">
        <p14:creationId xmlns:p14="http://schemas.microsoft.com/office/powerpoint/2010/main" val="1010021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BF4D-0B83-4ED0-B24C-6457697D515E}"/>
              </a:ext>
            </a:extLst>
          </p:cNvPr>
          <p:cNvSpPr>
            <a:spLocks noGrp="1"/>
          </p:cNvSpPr>
          <p:nvPr>
            <p:ph type="title"/>
          </p:nvPr>
        </p:nvSpPr>
        <p:spPr/>
        <p:txBody>
          <a:bodyPr/>
          <a:lstStyle/>
          <a:p>
            <a:r>
              <a:rPr lang="en-US" sz="4400" b="1" i="0" u="none" strike="noStrike" baseline="0" dirty="0">
                <a:solidFill>
                  <a:srgbClr val="231F20"/>
                </a:solidFill>
                <a:latin typeface="Cisco-Bold"/>
              </a:rPr>
              <a:t>Adoption or Adaptation of the Internet Protocol</a:t>
            </a:r>
            <a:endParaRPr lang="en-US" dirty="0"/>
          </a:p>
        </p:txBody>
      </p:sp>
      <p:sp>
        <p:nvSpPr>
          <p:cNvPr id="3" name="Content Placeholder 2">
            <a:extLst>
              <a:ext uri="{FF2B5EF4-FFF2-40B4-BE49-F238E27FC236}">
                <a16:creationId xmlns:a16="http://schemas.microsoft.com/office/drawing/2014/main" id="{A573608E-F47E-453C-A9D4-D0AE8A94BDFE}"/>
              </a:ext>
            </a:extLst>
          </p:cNvPr>
          <p:cNvSpPr>
            <a:spLocks noGrp="1"/>
          </p:cNvSpPr>
          <p:nvPr>
            <p:ph idx="1"/>
          </p:nvPr>
        </p:nvSpPr>
        <p:spPr/>
        <p:txBody>
          <a:bodyPr/>
          <a:lstStyle/>
          <a:p>
            <a:pPr algn="l"/>
            <a:r>
              <a:rPr lang="en-US" sz="2800" b="1" i="1" u="none" strike="noStrike" baseline="0" dirty="0">
                <a:solidFill>
                  <a:srgbClr val="231F20"/>
                </a:solidFill>
                <a:latin typeface="CiscoSerif-Italic-Regular"/>
              </a:rPr>
              <a:t>Adaptation</a:t>
            </a:r>
            <a:r>
              <a:rPr lang="en-US" sz="2800" b="0" i="1" u="none" strike="noStrike" baseline="0" dirty="0">
                <a:solidFill>
                  <a:srgbClr val="231F20"/>
                </a:solidFill>
                <a:latin typeface="CiscoSerif-Italic-Regular"/>
              </a:rPr>
              <a:t> </a:t>
            </a:r>
            <a:r>
              <a:rPr lang="en-US" sz="2800" b="0" i="0" u="none" strike="noStrike" baseline="0" dirty="0">
                <a:solidFill>
                  <a:srgbClr val="231F20"/>
                </a:solidFill>
                <a:latin typeface="CiscoSerif-Regular"/>
              </a:rPr>
              <a:t>means application layered gateways (ALGs) must be implemented to ensure the translation between non-IP and IP layers.</a:t>
            </a:r>
          </a:p>
          <a:p>
            <a:pPr algn="l"/>
            <a:r>
              <a:rPr lang="en-US" sz="2800" b="1" i="1" u="none" strike="noStrike" baseline="0" dirty="0">
                <a:solidFill>
                  <a:srgbClr val="231F20"/>
                </a:solidFill>
                <a:latin typeface="CiscoSerif-Italic-Regular"/>
              </a:rPr>
              <a:t>Adoption</a:t>
            </a:r>
            <a:r>
              <a:rPr lang="en-US" sz="2800" b="0" i="1" u="none" strike="noStrike" baseline="0" dirty="0">
                <a:solidFill>
                  <a:srgbClr val="231F20"/>
                </a:solidFill>
                <a:latin typeface="CiscoSerif-Italic-Regular"/>
              </a:rPr>
              <a:t> </a:t>
            </a:r>
            <a:r>
              <a:rPr lang="en-US" sz="2800" b="0" i="0" u="none" strike="noStrike" baseline="0" dirty="0">
                <a:solidFill>
                  <a:srgbClr val="231F20"/>
                </a:solidFill>
                <a:latin typeface="CiscoSerif-Regular"/>
              </a:rPr>
              <a:t>involves replacing all non-IP layers with their IP layer counterparts, simplifying the deployment model and operations. </a:t>
            </a:r>
            <a:endParaRPr lang="en-US" dirty="0"/>
          </a:p>
        </p:txBody>
      </p:sp>
    </p:spTree>
    <p:extLst>
      <p:ext uri="{BB962C8B-B14F-4D97-AF65-F5344CB8AC3E}">
        <p14:creationId xmlns:p14="http://schemas.microsoft.com/office/powerpoint/2010/main" val="1887873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04B7-42E8-4889-9367-2AE9A38EDF65}"/>
              </a:ext>
            </a:extLst>
          </p:cNvPr>
          <p:cNvSpPr>
            <a:spLocks noGrp="1"/>
          </p:cNvSpPr>
          <p:nvPr>
            <p:ph type="title"/>
          </p:nvPr>
        </p:nvSpPr>
        <p:spPr/>
        <p:txBody>
          <a:bodyPr/>
          <a:lstStyle/>
          <a:p>
            <a:r>
              <a:rPr lang="en-US" dirty="0"/>
              <a:t>Factors for determining the model</a:t>
            </a:r>
          </a:p>
        </p:txBody>
      </p:sp>
      <p:sp>
        <p:nvSpPr>
          <p:cNvPr id="3" name="Content Placeholder 2">
            <a:extLst>
              <a:ext uri="{FF2B5EF4-FFF2-40B4-BE49-F238E27FC236}">
                <a16:creationId xmlns:a16="http://schemas.microsoft.com/office/drawing/2014/main" id="{C0A2B4DB-94D6-4399-876A-DEE03505133E}"/>
              </a:ext>
            </a:extLst>
          </p:cNvPr>
          <p:cNvSpPr>
            <a:spLocks noGrp="1"/>
          </p:cNvSpPr>
          <p:nvPr>
            <p:ph idx="1"/>
          </p:nvPr>
        </p:nvSpPr>
        <p:spPr/>
        <p:txBody>
          <a:bodyPr/>
          <a:lstStyle/>
          <a:p>
            <a:r>
              <a:rPr lang="en-US" sz="2800" i="0" u="none" strike="noStrike" baseline="0" dirty="0">
                <a:solidFill>
                  <a:srgbClr val="231F20"/>
                </a:solidFill>
                <a:latin typeface="Calibri" panose="020F0502020204030204" pitchFamily="34" charset="0"/>
                <a:cs typeface="Calibri" panose="020F0502020204030204" pitchFamily="34" charset="0"/>
              </a:rPr>
              <a:t>Bidirectional versus unidirectional data flow</a:t>
            </a:r>
          </a:p>
          <a:p>
            <a:r>
              <a:rPr lang="en-US" sz="2800" i="0" u="none" strike="noStrike" baseline="0" dirty="0">
                <a:solidFill>
                  <a:srgbClr val="231F20"/>
                </a:solidFill>
                <a:latin typeface="Calibri" panose="020F0502020204030204" pitchFamily="34" charset="0"/>
                <a:cs typeface="Calibri" panose="020F0502020204030204" pitchFamily="34" charset="0"/>
              </a:rPr>
              <a:t>Overhead for last-mile communications paths </a:t>
            </a:r>
            <a:r>
              <a:rPr lang="en-US" sz="1800" i="0" u="none" strike="noStrike" baseline="0" dirty="0">
                <a:solidFill>
                  <a:srgbClr val="231F20"/>
                </a:solidFill>
                <a:latin typeface="Calibri" panose="020F0502020204030204" pitchFamily="34" charset="0"/>
                <a:cs typeface="Calibri" panose="020F0502020204030204" pitchFamily="34" charset="0"/>
              </a:rPr>
              <a:t>(require optimization)</a:t>
            </a:r>
          </a:p>
          <a:p>
            <a:r>
              <a:rPr lang="en-US" dirty="0"/>
              <a:t>Data flow model</a:t>
            </a:r>
          </a:p>
          <a:p>
            <a:r>
              <a:rPr lang="en-US" dirty="0"/>
              <a:t>Network diversity</a:t>
            </a:r>
          </a:p>
          <a:p>
            <a:endParaRPr lang="en-US" dirty="0"/>
          </a:p>
        </p:txBody>
      </p:sp>
    </p:spTree>
    <p:extLst>
      <p:ext uri="{BB962C8B-B14F-4D97-AF65-F5344CB8AC3E}">
        <p14:creationId xmlns:p14="http://schemas.microsoft.com/office/powerpoint/2010/main" val="200884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04B7-42E8-4889-9367-2AE9A38EDF65}"/>
              </a:ext>
            </a:extLst>
          </p:cNvPr>
          <p:cNvSpPr>
            <a:spLocks noGrp="1"/>
          </p:cNvSpPr>
          <p:nvPr>
            <p:ph type="title"/>
          </p:nvPr>
        </p:nvSpPr>
        <p:spPr/>
        <p:txBody>
          <a:bodyPr>
            <a:normAutofit/>
          </a:bodyPr>
          <a:lstStyle/>
          <a:p>
            <a:r>
              <a:rPr lang="en-US" dirty="0"/>
              <a:t>The Need for Optimization</a:t>
            </a:r>
          </a:p>
        </p:txBody>
      </p:sp>
      <p:sp>
        <p:nvSpPr>
          <p:cNvPr id="3" name="Content Placeholder 2">
            <a:extLst>
              <a:ext uri="{FF2B5EF4-FFF2-40B4-BE49-F238E27FC236}">
                <a16:creationId xmlns:a16="http://schemas.microsoft.com/office/drawing/2014/main" id="{C0A2B4DB-94D6-4399-876A-DEE03505133E}"/>
              </a:ext>
            </a:extLst>
          </p:cNvPr>
          <p:cNvSpPr>
            <a:spLocks noGrp="1"/>
          </p:cNvSpPr>
          <p:nvPr>
            <p:ph idx="1"/>
          </p:nvPr>
        </p:nvSpPr>
        <p:spPr/>
        <p:txBody>
          <a:bodyPr>
            <a:normAutofit fontScale="70000" lnSpcReduction="20000"/>
          </a:bodyPr>
          <a:lstStyle/>
          <a:p>
            <a:r>
              <a:rPr lang="en-US" sz="2800" i="0" u="none" strike="noStrike" baseline="0" dirty="0">
                <a:solidFill>
                  <a:srgbClr val="231F20"/>
                </a:solidFill>
                <a:latin typeface="Calibri" panose="020F0502020204030204" pitchFamily="34" charset="0"/>
                <a:cs typeface="Calibri" panose="020F0502020204030204" pitchFamily="34" charset="0"/>
              </a:rPr>
              <a:t>Constrained Nodes</a:t>
            </a:r>
          </a:p>
          <a:p>
            <a:pPr lvl="1"/>
            <a:r>
              <a:rPr lang="en-US" dirty="0">
                <a:solidFill>
                  <a:srgbClr val="231F20"/>
                </a:solidFill>
                <a:latin typeface="Calibri" panose="020F0502020204030204" pitchFamily="34" charset="0"/>
                <a:cs typeface="Calibri" panose="020F0502020204030204" pitchFamily="34" charset="0"/>
              </a:rPr>
              <a:t>“thing” architecture may or may not offer similar characteristics compared to generic PC or server in an IT environment </a:t>
            </a:r>
          </a:p>
          <a:p>
            <a:pPr lvl="1"/>
            <a:r>
              <a:rPr lang="en-US" dirty="0">
                <a:solidFill>
                  <a:srgbClr val="231F20"/>
                </a:solidFill>
                <a:latin typeface="Calibri" panose="020F0502020204030204" pitchFamily="34" charset="0"/>
                <a:cs typeface="Calibri" panose="020F0502020204030204" pitchFamily="34" charset="0"/>
              </a:rPr>
              <a:t>Unreliable communication path </a:t>
            </a:r>
          </a:p>
          <a:p>
            <a:pPr lvl="1"/>
            <a:r>
              <a:rPr lang="en-US" dirty="0">
                <a:solidFill>
                  <a:srgbClr val="231F20"/>
                </a:solidFill>
                <a:latin typeface="Calibri" panose="020F0502020204030204" pitchFamily="34" charset="0"/>
                <a:cs typeface="Calibri" panose="020F0502020204030204" pitchFamily="34" charset="0"/>
              </a:rPr>
              <a:t>Power consumption</a:t>
            </a:r>
            <a:endParaRPr lang="en-US" dirty="0"/>
          </a:p>
          <a:p>
            <a:pPr algn="l"/>
            <a:r>
              <a:rPr lang="en-US" sz="2800" b="1" i="0" u="none" strike="noStrike" baseline="0" dirty="0">
                <a:solidFill>
                  <a:srgbClr val="231F20"/>
                </a:solidFill>
                <a:latin typeface="CiscoSerif-Bold"/>
              </a:rPr>
              <a:t>Devices that are very constrained in resources, may communicate infrequently to transmit a few bytes, and may have limited security and management capabilities: </a:t>
            </a:r>
            <a:r>
              <a:rPr lang="en-US" sz="2800" b="0" i="0" u="none" strike="noStrike" baseline="0" dirty="0">
                <a:solidFill>
                  <a:srgbClr val="231F20"/>
                </a:solidFill>
                <a:latin typeface="CiscoSerif-Regular"/>
              </a:rPr>
              <a:t>This drives the need for the IP adaptation model, where nodes communicate through gateways and proxies.</a:t>
            </a:r>
          </a:p>
          <a:p>
            <a:pPr algn="l"/>
            <a:r>
              <a:rPr lang="en-US" sz="2800" b="1" i="0" u="none" strike="noStrike" baseline="0" dirty="0">
                <a:solidFill>
                  <a:srgbClr val="231F20"/>
                </a:solidFill>
                <a:latin typeface="CiscoSerif-Bold"/>
              </a:rPr>
              <a:t>Devices with enough power and capacities to implement a stripped-down IP stack or non-IP stack: </a:t>
            </a:r>
            <a:r>
              <a:rPr lang="en-US" sz="2800" b="0" i="0" u="none" strike="noStrike" baseline="0" dirty="0">
                <a:solidFill>
                  <a:srgbClr val="231F20"/>
                </a:solidFill>
                <a:latin typeface="CiscoSerif-Regular"/>
              </a:rPr>
              <a:t>In this case, you may implement either an optimized IP stack and directly communicate with application servers (adoption model) or go for an IP or non-IP stack and communicate through gateways and proxies (adaptation model).</a:t>
            </a:r>
          </a:p>
          <a:p>
            <a:pPr algn="l"/>
            <a:r>
              <a:rPr lang="en-US" sz="2800" b="1" i="0" u="none" strike="noStrike" baseline="0" dirty="0">
                <a:solidFill>
                  <a:srgbClr val="231F20"/>
                </a:solidFill>
                <a:latin typeface="CiscoSerif-Bold"/>
              </a:rPr>
              <a:t>Devices that are similar to generic PCs in terms of computing and power resources but have constrained networking capacities, such as bandwidth: </a:t>
            </a:r>
            <a:r>
              <a:rPr lang="en-US" sz="2800" b="0" i="0" u="none" strike="noStrike" baseline="0" dirty="0">
                <a:solidFill>
                  <a:srgbClr val="231F20"/>
                </a:solidFill>
                <a:latin typeface="CiscoSerif-Regular"/>
              </a:rPr>
              <a:t>These nodes usually implement a full IP stack (adoption model), but network design and application behaviors must cope with the bandwidth constraints.</a:t>
            </a:r>
            <a:endParaRPr lang="en-US" dirty="0"/>
          </a:p>
        </p:txBody>
      </p:sp>
    </p:spTree>
    <p:extLst>
      <p:ext uri="{BB962C8B-B14F-4D97-AF65-F5344CB8AC3E}">
        <p14:creationId xmlns:p14="http://schemas.microsoft.com/office/powerpoint/2010/main" val="3669856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04B7-42E8-4889-9367-2AE9A38EDF65}"/>
              </a:ext>
            </a:extLst>
          </p:cNvPr>
          <p:cNvSpPr>
            <a:spLocks noGrp="1"/>
          </p:cNvSpPr>
          <p:nvPr>
            <p:ph type="title"/>
          </p:nvPr>
        </p:nvSpPr>
        <p:spPr/>
        <p:txBody>
          <a:bodyPr>
            <a:normAutofit/>
          </a:bodyPr>
          <a:lstStyle/>
          <a:p>
            <a:r>
              <a:rPr lang="en-US" dirty="0"/>
              <a:t>The Need for Optimization</a:t>
            </a:r>
          </a:p>
        </p:txBody>
      </p:sp>
      <p:sp>
        <p:nvSpPr>
          <p:cNvPr id="3" name="Content Placeholder 2">
            <a:extLst>
              <a:ext uri="{FF2B5EF4-FFF2-40B4-BE49-F238E27FC236}">
                <a16:creationId xmlns:a16="http://schemas.microsoft.com/office/drawing/2014/main" id="{C0A2B4DB-94D6-4399-876A-DEE03505133E}"/>
              </a:ext>
            </a:extLst>
          </p:cNvPr>
          <p:cNvSpPr>
            <a:spLocks noGrp="1"/>
          </p:cNvSpPr>
          <p:nvPr>
            <p:ph idx="1"/>
          </p:nvPr>
        </p:nvSpPr>
        <p:spPr/>
        <p:txBody>
          <a:bodyPr>
            <a:normAutofit lnSpcReduction="10000"/>
          </a:bodyPr>
          <a:lstStyle/>
          <a:p>
            <a:r>
              <a:rPr lang="en-US" sz="2800" i="0" u="none" strike="noStrike" baseline="0" dirty="0">
                <a:solidFill>
                  <a:srgbClr val="231F20"/>
                </a:solidFill>
                <a:latin typeface="Calibri" panose="020F0502020204030204" pitchFamily="34" charset="0"/>
                <a:cs typeface="Calibri" panose="020F0502020204030204" pitchFamily="34" charset="0"/>
              </a:rPr>
              <a:t>Constrained Networks</a:t>
            </a:r>
          </a:p>
          <a:p>
            <a:pPr lvl="1"/>
            <a:r>
              <a:rPr lang="en-US" dirty="0">
                <a:solidFill>
                  <a:srgbClr val="231F20"/>
                </a:solidFill>
                <a:latin typeface="Calibri" panose="020F0502020204030204" pitchFamily="34" charset="0"/>
                <a:cs typeface="Calibri" panose="020F0502020204030204" pitchFamily="34" charset="0"/>
              </a:rPr>
              <a:t>Constrained networks can have high latency and a high potential for packet loss. </a:t>
            </a:r>
          </a:p>
          <a:p>
            <a:pPr lvl="1"/>
            <a:r>
              <a:rPr lang="en-US" i="0" u="none" strike="noStrike" baseline="0" dirty="0">
                <a:solidFill>
                  <a:srgbClr val="231F20"/>
                </a:solidFill>
                <a:latin typeface="Calibri" panose="020F0502020204030204" pitchFamily="34" charset="0"/>
                <a:cs typeface="Calibri" panose="020F0502020204030204" pitchFamily="34" charset="0"/>
              </a:rPr>
              <a:t>Constrained networks are often referred to as low-power and lossy networks (LLNs). Lossy in this context refers to network unreliability that is caused by disruptions in the data flow or packet loss</a:t>
            </a:r>
          </a:p>
          <a:p>
            <a:pPr lvl="1"/>
            <a:r>
              <a:rPr lang="en-US" i="0" u="none" strike="noStrike" baseline="0" dirty="0">
                <a:solidFill>
                  <a:srgbClr val="231F20"/>
                </a:solidFill>
                <a:latin typeface="Calibri" panose="020F0502020204030204" pitchFamily="34" charset="0"/>
                <a:cs typeface="Calibri" panose="020F0502020204030204" pitchFamily="34" charset="0"/>
              </a:rPr>
              <a:t>Constrained networks are limited by low-power, low-bandwidth links (wireless and wired). They operate between a few kbps and a few hundred kbps and may utilize a star, mesh, or combined network topologies, ensuring proper operations</a:t>
            </a:r>
          </a:p>
          <a:p>
            <a:pPr lvl="1"/>
            <a:r>
              <a:rPr lang="en-US" dirty="0">
                <a:solidFill>
                  <a:srgbClr val="231F20"/>
                </a:solidFill>
                <a:latin typeface="Calibri" panose="020F0502020204030204" pitchFamily="34" charset="0"/>
                <a:cs typeface="Calibri" panose="020F0502020204030204" pitchFamily="34" charset="0"/>
              </a:rPr>
              <a:t>Packet delivery rate (PDR) Variation</a:t>
            </a:r>
          </a:p>
          <a:p>
            <a:pPr lvl="1"/>
            <a:r>
              <a:rPr lang="en-US" i="0" u="none" strike="noStrike" baseline="0" dirty="0">
                <a:solidFill>
                  <a:srgbClr val="231F20"/>
                </a:solidFill>
                <a:latin typeface="Calibri" panose="020F0502020204030204" pitchFamily="34" charset="0"/>
                <a:cs typeface="Calibri" panose="020F0502020204030204" pitchFamily="34" charset="0"/>
              </a:rPr>
              <a:t>Power Consumption</a:t>
            </a:r>
          </a:p>
        </p:txBody>
      </p:sp>
    </p:spTree>
    <p:extLst>
      <p:ext uri="{BB962C8B-B14F-4D97-AF65-F5344CB8AC3E}">
        <p14:creationId xmlns:p14="http://schemas.microsoft.com/office/powerpoint/2010/main" val="1260617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CFDC-3622-4CC4-810E-B70B4DF7E876}"/>
              </a:ext>
            </a:extLst>
          </p:cNvPr>
          <p:cNvSpPr>
            <a:spLocks noGrp="1"/>
          </p:cNvSpPr>
          <p:nvPr>
            <p:ph type="title"/>
          </p:nvPr>
        </p:nvSpPr>
        <p:spPr/>
        <p:txBody>
          <a:bodyPr/>
          <a:lstStyle/>
          <a:p>
            <a:r>
              <a:rPr lang="en-US" dirty="0"/>
              <a:t>Factors for IPv4 and IPv6 Support</a:t>
            </a:r>
          </a:p>
        </p:txBody>
      </p:sp>
      <p:sp>
        <p:nvSpPr>
          <p:cNvPr id="3" name="Content Placeholder 2">
            <a:extLst>
              <a:ext uri="{FF2B5EF4-FFF2-40B4-BE49-F238E27FC236}">
                <a16:creationId xmlns:a16="http://schemas.microsoft.com/office/drawing/2014/main" id="{6DDBCDD1-A66A-4EC2-841E-07A5E4FCF2FF}"/>
              </a:ext>
            </a:extLst>
          </p:cNvPr>
          <p:cNvSpPr>
            <a:spLocks noGrp="1"/>
          </p:cNvSpPr>
          <p:nvPr>
            <p:ph idx="1"/>
          </p:nvPr>
        </p:nvSpPr>
        <p:spPr/>
        <p:txBody>
          <a:bodyPr>
            <a:normAutofit/>
          </a:bodyPr>
          <a:lstStyle/>
          <a:p>
            <a:r>
              <a:rPr lang="en-US" b="1" dirty="0"/>
              <a:t>Application Protocol</a:t>
            </a:r>
            <a:r>
              <a:rPr lang="en-US" dirty="0"/>
              <a:t>: </a:t>
            </a:r>
            <a:r>
              <a:rPr lang="en-US" sz="2000" dirty="0"/>
              <a:t>IoT devices implementing Ethernet or Wi-Fi interfaces can communicate over both IPv4 and IPv6, but the application protocol may dictate the choice of the IP version. For example, SCADA protocols such as DNP3/IP (IEEE 1815), Modbus TCP, or the IEC 60870-5-104 standards are specified only for IPv4</a:t>
            </a:r>
          </a:p>
          <a:p>
            <a:r>
              <a:rPr lang="en-US" dirty="0"/>
              <a:t>Cellular Provider and Technology: </a:t>
            </a:r>
            <a:r>
              <a:rPr lang="en-US" sz="2000" dirty="0"/>
              <a:t>For the first three generations of data services—GPRS, Edge, and 3G—IPv4 is the base protocol version. if IPv6 is used with these generations, it must be tunneled over IPv4. On 4G/LTE networks, data services can use IPv4 or IPv6 as a base protocol, depending on the provider </a:t>
            </a:r>
          </a:p>
          <a:p>
            <a:r>
              <a:rPr lang="en-US" dirty="0"/>
              <a:t>Serial Communications</a:t>
            </a:r>
            <a:endParaRPr lang="en-US" i="1" dirty="0"/>
          </a:p>
          <a:p>
            <a:pPr algn="l"/>
            <a:r>
              <a:rPr lang="en-US" dirty="0"/>
              <a:t>IPv6 Adaptation Layer</a:t>
            </a:r>
            <a:r>
              <a:rPr lang="en-US" sz="2000" dirty="0"/>
              <a:t>: </a:t>
            </a:r>
            <a:r>
              <a:rPr lang="en-US" sz="2000" b="0" i="0" u="none" strike="noStrike" baseline="0" dirty="0">
                <a:solidFill>
                  <a:srgbClr val="231F20"/>
                </a:solidFill>
              </a:rPr>
              <a:t>newer technologies, such as IEEE 802.15.4 (Wireless Personal Area Network), IEEE 1901.2, and ITU G.9903 (Narrowband Power Line Communications) only have an IPv6 adaptation layer specified.</a:t>
            </a:r>
            <a:endParaRPr lang="en-US" sz="2000" dirty="0"/>
          </a:p>
        </p:txBody>
      </p:sp>
    </p:spTree>
    <p:extLst>
      <p:ext uri="{BB962C8B-B14F-4D97-AF65-F5344CB8AC3E}">
        <p14:creationId xmlns:p14="http://schemas.microsoft.com/office/powerpoint/2010/main" val="1810067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BCD01-CE0C-42B1-A41F-6DE603AC1966}"/>
              </a:ext>
            </a:extLst>
          </p:cNvPr>
          <p:cNvSpPr>
            <a:spLocks noGrp="1"/>
          </p:cNvSpPr>
          <p:nvPr>
            <p:ph type="title"/>
          </p:nvPr>
        </p:nvSpPr>
        <p:spPr/>
        <p:txBody>
          <a:bodyPr/>
          <a:lstStyle/>
          <a:p>
            <a:r>
              <a:rPr lang="en-US" dirty="0"/>
              <a:t>Optimizing IP for IoT</a:t>
            </a:r>
          </a:p>
        </p:txBody>
      </p:sp>
      <p:sp>
        <p:nvSpPr>
          <p:cNvPr id="3" name="Content Placeholder 2">
            <a:extLst>
              <a:ext uri="{FF2B5EF4-FFF2-40B4-BE49-F238E27FC236}">
                <a16:creationId xmlns:a16="http://schemas.microsoft.com/office/drawing/2014/main" id="{93B5AA64-F26A-4606-B4FD-3293ACC849D0}"/>
              </a:ext>
            </a:extLst>
          </p:cNvPr>
          <p:cNvSpPr>
            <a:spLocks noGrp="1"/>
          </p:cNvSpPr>
          <p:nvPr>
            <p:ph idx="1"/>
          </p:nvPr>
        </p:nvSpPr>
        <p:spPr/>
        <p:txBody>
          <a:bodyPr/>
          <a:lstStyle/>
          <a:p>
            <a:pPr algn="l"/>
            <a:r>
              <a:rPr lang="en-US" sz="2800" b="0" i="0" u="none" strike="noStrike" baseline="0" dirty="0">
                <a:solidFill>
                  <a:srgbClr val="231F20"/>
                </a:solidFill>
                <a:latin typeface="CiscoSerif-Regular"/>
              </a:rPr>
              <a:t>Constrained nodes and constrained networks mandate optimization at various layers and on multiple protocols of the IP architecture.</a:t>
            </a:r>
            <a:endParaRPr lang="en-US" dirty="0"/>
          </a:p>
        </p:txBody>
      </p:sp>
      <p:pic>
        <p:nvPicPr>
          <p:cNvPr id="7" name="Picture 6">
            <a:extLst>
              <a:ext uri="{FF2B5EF4-FFF2-40B4-BE49-F238E27FC236}">
                <a16:creationId xmlns:a16="http://schemas.microsoft.com/office/drawing/2014/main" id="{4CB7876A-A467-44F4-9261-6EB8CB17571F}"/>
              </a:ext>
            </a:extLst>
          </p:cNvPr>
          <p:cNvPicPr>
            <a:picLocks noChangeAspect="1"/>
          </p:cNvPicPr>
          <p:nvPr/>
        </p:nvPicPr>
        <p:blipFill>
          <a:blip r:embed="rId2"/>
          <a:stretch>
            <a:fillRect/>
          </a:stretch>
        </p:blipFill>
        <p:spPr>
          <a:xfrm>
            <a:off x="3687778" y="2639291"/>
            <a:ext cx="4604167" cy="3672609"/>
          </a:xfrm>
          <a:prstGeom prst="rect">
            <a:avLst/>
          </a:prstGeom>
        </p:spPr>
      </p:pic>
    </p:spTree>
    <p:extLst>
      <p:ext uri="{BB962C8B-B14F-4D97-AF65-F5344CB8AC3E}">
        <p14:creationId xmlns:p14="http://schemas.microsoft.com/office/powerpoint/2010/main" val="2098054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DA189-BC27-4647-B312-BC7C6018ED02}"/>
              </a:ext>
            </a:extLst>
          </p:cNvPr>
          <p:cNvSpPr>
            <a:spLocks noGrp="1"/>
          </p:cNvSpPr>
          <p:nvPr>
            <p:ph type="title"/>
          </p:nvPr>
        </p:nvSpPr>
        <p:spPr/>
        <p:txBody>
          <a:bodyPr/>
          <a:lstStyle/>
          <a:p>
            <a:r>
              <a:rPr lang="en-US" dirty="0"/>
              <a:t>From 6LoWPAN to 6Lo</a:t>
            </a:r>
          </a:p>
        </p:txBody>
      </p:sp>
      <p:sp>
        <p:nvSpPr>
          <p:cNvPr id="3" name="Content Placeholder 2">
            <a:extLst>
              <a:ext uri="{FF2B5EF4-FFF2-40B4-BE49-F238E27FC236}">
                <a16:creationId xmlns:a16="http://schemas.microsoft.com/office/drawing/2014/main" id="{F0A54702-5B4A-4BD1-8DE3-F81F0EF75C82}"/>
              </a:ext>
            </a:extLst>
          </p:cNvPr>
          <p:cNvSpPr>
            <a:spLocks noGrp="1"/>
          </p:cNvSpPr>
          <p:nvPr>
            <p:ph idx="1"/>
          </p:nvPr>
        </p:nvSpPr>
        <p:spPr/>
        <p:txBody>
          <a:bodyPr/>
          <a:lstStyle/>
          <a:p>
            <a:pPr algn="l"/>
            <a:r>
              <a:rPr lang="en-US" sz="2800" b="0" i="0" u="none" strike="noStrike" baseline="0" dirty="0">
                <a:solidFill>
                  <a:srgbClr val="231F20"/>
                </a:solidFill>
                <a:latin typeface="CiscoSerif-Regular"/>
              </a:rPr>
              <a:t>The initial focus of the 6LoWPAN working group was to optimize the transmission of IPv6 packets over constrained networks such as IEEE 802.15.4</a:t>
            </a:r>
            <a:endParaRPr lang="en-US" dirty="0"/>
          </a:p>
        </p:txBody>
      </p:sp>
      <p:pic>
        <p:nvPicPr>
          <p:cNvPr id="5" name="Picture 4">
            <a:extLst>
              <a:ext uri="{FF2B5EF4-FFF2-40B4-BE49-F238E27FC236}">
                <a16:creationId xmlns:a16="http://schemas.microsoft.com/office/drawing/2014/main" id="{E9C5E6B2-735F-4424-A585-DF3C19AB1F94}"/>
              </a:ext>
            </a:extLst>
          </p:cNvPr>
          <p:cNvPicPr>
            <a:picLocks noChangeAspect="1"/>
          </p:cNvPicPr>
          <p:nvPr/>
        </p:nvPicPr>
        <p:blipFill>
          <a:blip r:embed="rId2"/>
          <a:stretch>
            <a:fillRect/>
          </a:stretch>
        </p:blipFill>
        <p:spPr>
          <a:xfrm>
            <a:off x="2580968" y="2722391"/>
            <a:ext cx="6041387" cy="3770484"/>
          </a:xfrm>
          <a:prstGeom prst="rect">
            <a:avLst/>
          </a:prstGeom>
        </p:spPr>
      </p:pic>
    </p:spTree>
    <p:extLst>
      <p:ext uri="{BB962C8B-B14F-4D97-AF65-F5344CB8AC3E}">
        <p14:creationId xmlns:p14="http://schemas.microsoft.com/office/powerpoint/2010/main" val="950500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24146-EB0A-49A2-A032-379FFB68DCC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D3E93DC-3C1A-4FBE-AF4C-F4DEE668FED9}"/>
              </a:ext>
            </a:extLst>
          </p:cNvPr>
          <p:cNvPicPr>
            <a:picLocks noGrp="1" noChangeAspect="1"/>
          </p:cNvPicPr>
          <p:nvPr>
            <p:ph idx="1"/>
          </p:nvPr>
        </p:nvPicPr>
        <p:blipFill>
          <a:blip r:embed="rId2"/>
          <a:stretch>
            <a:fillRect/>
          </a:stretch>
        </p:blipFill>
        <p:spPr>
          <a:xfrm>
            <a:off x="838200" y="1690688"/>
            <a:ext cx="7929046" cy="4227657"/>
          </a:xfrm>
        </p:spPr>
      </p:pic>
      <p:sp>
        <p:nvSpPr>
          <p:cNvPr id="6" name="TextBox 5">
            <a:extLst>
              <a:ext uri="{FF2B5EF4-FFF2-40B4-BE49-F238E27FC236}">
                <a16:creationId xmlns:a16="http://schemas.microsoft.com/office/drawing/2014/main" id="{B0D16F91-B41C-41F0-BDFC-4C984EA8893F}"/>
              </a:ext>
            </a:extLst>
          </p:cNvPr>
          <p:cNvSpPr txBox="1"/>
          <p:nvPr/>
        </p:nvSpPr>
        <p:spPr>
          <a:xfrm>
            <a:off x="8170606" y="1946787"/>
            <a:ext cx="3183195" cy="4247317"/>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6LoWPAN working group published several Request for comments (RFCs), but RFC 4994 is foundational because it defines frame headers for the capabilities of header compression, fragmentation, and mesh addressing.</a:t>
            </a:r>
          </a:p>
          <a:p>
            <a:pPr marL="285750" indent="-285750" algn="just">
              <a:buFont typeface="Arial" panose="020B0604020202020204" pitchFamily="34" charset="0"/>
              <a:buChar char="•"/>
            </a:pPr>
            <a:r>
              <a:rPr lang="en-US" dirty="0"/>
              <a:t>These headers can be stacked in the adaptation layer to keep these concepts separate while enforcing a structured method for expressing each capability.</a:t>
            </a:r>
          </a:p>
        </p:txBody>
      </p:sp>
    </p:spTree>
    <p:extLst>
      <p:ext uri="{BB962C8B-B14F-4D97-AF65-F5344CB8AC3E}">
        <p14:creationId xmlns:p14="http://schemas.microsoft.com/office/powerpoint/2010/main" val="1997529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6F04-58B6-4B48-B755-C10145EFF73D}"/>
              </a:ext>
            </a:extLst>
          </p:cNvPr>
          <p:cNvSpPr>
            <a:spLocks noGrp="1"/>
          </p:cNvSpPr>
          <p:nvPr>
            <p:ph type="title"/>
          </p:nvPr>
        </p:nvSpPr>
        <p:spPr/>
        <p:txBody>
          <a:bodyPr/>
          <a:lstStyle/>
          <a:p>
            <a:r>
              <a:rPr lang="en-US" dirty="0"/>
              <a:t>Header Compression</a:t>
            </a:r>
          </a:p>
        </p:txBody>
      </p:sp>
      <p:sp>
        <p:nvSpPr>
          <p:cNvPr id="3" name="Content Placeholder 2">
            <a:extLst>
              <a:ext uri="{FF2B5EF4-FFF2-40B4-BE49-F238E27FC236}">
                <a16:creationId xmlns:a16="http://schemas.microsoft.com/office/drawing/2014/main" id="{278ADF7E-0A8A-471A-90E2-5410A361DFDC}"/>
              </a:ext>
            </a:extLst>
          </p:cNvPr>
          <p:cNvSpPr>
            <a:spLocks noGrp="1"/>
          </p:cNvSpPr>
          <p:nvPr>
            <p:ph idx="1"/>
          </p:nvPr>
        </p:nvSpPr>
        <p:spPr/>
        <p:txBody>
          <a:bodyPr>
            <a:normAutofit fontScale="92500"/>
          </a:bodyPr>
          <a:lstStyle/>
          <a:p>
            <a:pPr algn="l"/>
            <a:r>
              <a:rPr lang="en-US" sz="2800" b="0" i="0" u="none" strike="noStrike" baseline="0" dirty="0">
                <a:solidFill>
                  <a:srgbClr val="231F20"/>
                </a:solidFill>
                <a:latin typeface="CiscoSerif-Regular"/>
              </a:rPr>
              <a:t>IPv6 header compression for 6LoWPAN was defined initially in RFC 4944 and subsequently updated by RFC 6282. This capability shrinks the size of IPv6’s 40-byte headers and User Datagram Protocol’s (UDP’s) 8-byte headers down as low as 6 bytes combined in some cases.</a:t>
            </a:r>
          </a:p>
          <a:p>
            <a:pPr algn="l"/>
            <a:r>
              <a:rPr lang="en-US" sz="2800" b="0" i="0" u="none" strike="noStrike" baseline="0" dirty="0">
                <a:solidFill>
                  <a:srgbClr val="231F20"/>
                </a:solidFill>
                <a:latin typeface="CiscoSerif-Regular"/>
              </a:rPr>
              <a:t>header compression for 6LoWPAN is only defined for an IPv6 header and not IPv4.</a:t>
            </a:r>
          </a:p>
          <a:p>
            <a:pPr algn="l"/>
            <a:r>
              <a:rPr lang="en-US" sz="2800" b="0" i="0" u="none" strike="noStrike" baseline="0" dirty="0">
                <a:solidFill>
                  <a:srgbClr val="231F20"/>
                </a:solidFill>
                <a:latin typeface="CiscoSerif-Regular"/>
              </a:rPr>
              <a:t>At a high level, 6LoWPAN works by taking advantage of shared information known by all nodes from their participation in the local network</a:t>
            </a:r>
          </a:p>
          <a:p>
            <a:pPr algn="l"/>
            <a:r>
              <a:rPr lang="en-US" sz="2800" b="0" i="0" u="none" strike="noStrike" baseline="0" dirty="0">
                <a:solidFill>
                  <a:srgbClr val="231F20"/>
                </a:solidFill>
                <a:latin typeface="CiscoSerif-Regular"/>
              </a:rPr>
              <a:t>it omits some standard header fields by assuming commonly used values</a:t>
            </a:r>
            <a:endParaRPr lang="en-US" dirty="0"/>
          </a:p>
        </p:txBody>
      </p:sp>
    </p:spTree>
    <p:extLst>
      <p:ext uri="{BB962C8B-B14F-4D97-AF65-F5344CB8AC3E}">
        <p14:creationId xmlns:p14="http://schemas.microsoft.com/office/powerpoint/2010/main" val="2423371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38AD0-D274-44B6-9863-C69BC6813AD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A7A318A-C42E-42D6-BFA8-725E99063C3A}"/>
              </a:ext>
            </a:extLst>
          </p:cNvPr>
          <p:cNvPicPr>
            <a:picLocks noGrp="1" noChangeAspect="1"/>
          </p:cNvPicPr>
          <p:nvPr>
            <p:ph idx="1"/>
          </p:nvPr>
        </p:nvPicPr>
        <p:blipFill>
          <a:blip r:embed="rId2"/>
          <a:stretch>
            <a:fillRect/>
          </a:stretch>
        </p:blipFill>
        <p:spPr>
          <a:xfrm>
            <a:off x="1356852" y="365125"/>
            <a:ext cx="8421329" cy="5428755"/>
          </a:xfrm>
        </p:spPr>
      </p:pic>
    </p:spTree>
    <p:extLst>
      <p:ext uri="{BB962C8B-B14F-4D97-AF65-F5344CB8AC3E}">
        <p14:creationId xmlns:p14="http://schemas.microsoft.com/office/powerpoint/2010/main" val="4155494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05301-1308-4F22-B75B-1932844FCBD5}"/>
              </a:ext>
            </a:extLst>
          </p:cNvPr>
          <p:cNvSpPr>
            <a:spLocks noGrp="1"/>
          </p:cNvSpPr>
          <p:nvPr>
            <p:ph type="title"/>
          </p:nvPr>
        </p:nvSpPr>
        <p:spPr/>
        <p:txBody>
          <a:bodyPr/>
          <a:lstStyle/>
          <a:p>
            <a:r>
              <a:rPr lang="en-US" dirty="0"/>
              <a:t>Fragmentation</a:t>
            </a:r>
          </a:p>
        </p:txBody>
      </p:sp>
      <p:sp>
        <p:nvSpPr>
          <p:cNvPr id="3" name="Content Placeholder 2">
            <a:extLst>
              <a:ext uri="{FF2B5EF4-FFF2-40B4-BE49-F238E27FC236}">
                <a16:creationId xmlns:a16="http://schemas.microsoft.com/office/drawing/2014/main" id="{98E833AD-45B3-4526-8C52-91997702C5F8}"/>
              </a:ext>
            </a:extLst>
          </p:cNvPr>
          <p:cNvSpPr>
            <a:spLocks noGrp="1"/>
          </p:cNvSpPr>
          <p:nvPr>
            <p:ph idx="1"/>
          </p:nvPr>
        </p:nvSpPr>
        <p:spPr/>
        <p:txBody>
          <a:bodyPr/>
          <a:lstStyle/>
          <a:p>
            <a:r>
              <a:rPr lang="en-US" sz="2800" b="0" i="0" u="none" strike="noStrike" baseline="0" dirty="0">
                <a:solidFill>
                  <a:srgbClr val="231F20"/>
                </a:solidFill>
                <a:latin typeface="CiscoSerif-Regular"/>
              </a:rPr>
              <a:t>The maximum transmission unit (MTU) for an IPv6 network must be at least 1280 bytes.</a:t>
            </a:r>
          </a:p>
          <a:p>
            <a:pPr algn="l"/>
            <a:r>
              <a:rPr lang="en-US" sz="2800" b="0" i="0" u="none" strike="noStrike" baseline="0" dirty="0">
                <a:solidFill>
                  <a:srgbClr val="231F20"/>
                </a:solidFill>
                <a:latin typeface="CiscoSerif-Regular"/>
              </a:rPr>
              <a:t>For IEEE 802.15.4, 127 bytes is the MTU.</a:t>
            </a:r>
          </a:p>
          <a:p>
            <a:pPr algn="l"/>
            <a:r>
              <a:rPr lang="en-US" sz="2800" b="0" i="0" u="none" strike="noStrike" baseline="0" dirty="0">
                <a:solidFill>
                  <a:srgbClr val="231F20"/>
                </a:solidFill>
                <a:latin typeface="CiscoSerif-Regular"/>
              </a:rPr>
              <a:t>You can see that this is a problem because IPv6, with a much larger MTU, is carried inside the 802.15.4 frame with a much smaller one.</a:t>
            </a:r>
          </a:p>
          <a:p>
            <a:pPr algn="l"/>
            <a:r>
              <a:rPr lang="en-US" sz="2800" b="0" i="0" u="none" strike="noStrike" baseline="0" dirty="0">
                <a:solidFill>
                  <a:srgbClr val="231F20"/>
                </a:solidFill>
                <a:latin typeface="CiscoSerif-Regular"/>
              </a:rPr>
              <a:t>To remedy this situation, large IPv6 packets must be fragmented across multiple 802.15.4 frames at Layer 2.</a:t>
            </a:r>
            <a:endParaRPr lang="en-US" dirty="0"/>
          </a:p>
        </p:txBody>
      </p:sp>
    </p:spTree>
    <p:extLst>
      <p:ext uri="{BB962C8B-B14F-4D97-AF65-F5344CB8AC3E}">
        <p14:creationId xmlns:p14="http://schemas.microsoft.com/office/powerpoint/2010/main" val="749887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D9A05-8EE7-486D-95F7-BD8906B620C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C23B1CB-50AB-4F38-AF3F-796121640683}"/>
              </a:ext>
            </a:extLst>
          </p:cNvPr>
          <p:cNvPicPr>
            <a:picLocks noGrp="1" noChangeAspect="1"/>
          </p:cNvPicPr>
          <p:nvPr>
            <p:ph idx="1"/>
          </p:nvPr>
        </p:nvPicPr>
        <p:blipFill>
          <a:blip r:embed="rId2"/>
          <a:stretch>
            <a:fillRect/>
          </a:stretch>
        </p:blipFill>
        <p:spPr>
          <a:xfrm>
            <a:off x="1620982" y="1039091"/>
            <a:ext cx="9206345" cy="4724328"/>
          </a:xfrm>
        </p:spPr>
      </p:pic>
    </p:spTree>
    <p:extLst>
      <p:ext uri="{BB962C8B-B14F-4D97-AF65-F5344CB8AC3E}">
        <p14:creationId xmlns:p14="http://schemas.microsoft.com/office/powerpoint/2010/main" val="137678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BE0E8-A6A7-46AA-8B5C-E87BA8C20B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F2EA71-94D4-4AEB-9739-15C79D6A9289}"/>
              </a:ext>
            </a:extLst>
          </p:cNvPr>
          <p:cNvSpPr>
            <a:spLocks noGrp="1"/>
          </p:cNvSpPr>
          <p:nvPr>
            <p:ph idx="1"/>
          </p:nvPr>
        </p:nvSpPr>
        <p:spPr/>
        <p:txBody>
          <a:bodyPr/>
          <a:lstStyle/>
          <a:p>
            <a:pPr algn="l"/>
            <a:r>
              <a:rPr lang="en-US" sz="2800" b="0" i="0" u="none" strike="noStrike" baseline="0" dirty="0">
                <a:solidFill>
                  <a:srgbClr val="231F20"/>
                </a:solidFill>
                <a:latin typeface="CiscoSerif-Regular"/>
              </a:rPr>
              <a:t>The fragment header utilized by 6LoWPAN is composed of three primary fields: </a:t>
            </a:r>
            <a:r>
              <a:rPr lang="sv-SE" sz="2800" b="0" i="0" u="none" strike="noStrike" baseline="0" dirty="0">
                <a:solidFill>
                  <a:srgbClr val="231F20"/>
                </a:solidFill>
                <a:latin typeface="CiscoSerif-Regular"/>
              </a:rPr>
              <a:t>Datagram Size, Datagram Tag, and Datagram Offset</a:t>
            </a:r>
          </a:p>
          <a:p>
            <a:pPr algn="l"/>
            <a:r>
              <a:rPr lang="en-US" sz="2800" b="0" i="0" u="none" strike="noStrike" baseline="0" dirty="0">
                <a:solidFill>
                  <a:srgbClr val="231F20"/>
                </a:solidFill>
                <a:latin typeface="CiscoSerif-Regular"/>
              </a:rPr>
              <a:t>The 1-byte Datagram Size field specifies the total size of the unfragmented payload.</a:t>
            </a:r>
          </a:p>
          <a:p>
            <a:pPr algn="l"/>
            <a:r>
              <a:rPr lang="en-US" sz="2800" b="0" i="0" u="none" strike="noStrike" baseline="0" dirty="0">
                <a:solidFill>
                  <a:srgbClr val="231F20"/>
                </a:solidFill>
                <a:latin typeface="CiscoSerif-Regular"/>
              </a:rPr>
              <a:t>Datagram Tag identifies the set of fragments for a payload.</a:t>
            </a:r>
          </a:p>
          <a:p>
            <a:pPr algn="l"/>
            <a:r>
              <a:rPr lang="en-US" sz="2800" b="0" i="0" u="none" strike="noStrike" baseline="0" dirty="0">
                <a:solidFill>
                  <a:srgbClr val="231F20"/>
                </a:solidFill>
                <a:latin typeface="CiscoSerif-Regular"/>
              </a:rPr>
              <a:t>Finally, the Datagram Offset field delineates how far into a </a:t>
            </a:r>
            <a:r>
              <a:rPr lang="fr-FR" sz="2800" b="0" i="0" u="none" strike="noStrike" baseline="0" dirty="0" err="1">
                <a:solidFill>
                  <a:srgbClr val="231F20"/>
                </a:solidFill>
                <a:latin typeface="CiscoSerif-Regular"/>
              </a:rPr>
              <a:t>payload</a:t>
            </a:r>
            <a:r>
              <a:rPr lang="fr-FR" sz="2800" b="0" i="0" u="none" strike="noStrike" baseline="0" dirty="0">
                <a:solidFill>
                  <a:srgbClr val="231F20"/>
                </a:solidFill>
                <a:latin typeface="CiscoSerif-Regular"/>
              </a:rPr>
              <a:t> a </a:t>
            </a:r>
            <a:r>
              <a:rPr lang="fr-FR" sz="2800" b="0" i="0" u="none" strike="noStrike" baseline="0" dirty="0" err="1">
                <a:solidFill>
                  <a:srgbClr val="231F20"/>
                </a:solidFill>
                <a:latin typeface="CiscoSerif-Regular"/>
              </a:rPr>
              <a:t>particular</a:t>
            </a:r>
            <a:r>
              <a:rPr lang="fr-FR" sz="2800" b="0" i="0" u="none" strike="noStrike" baseline="0" dirty="0">
                <a:solidFill>
                  <a:srgbClr val="231F20"/>
                </a:solidFill>
                <a:latin typeface="CiscoSerif-Regular"/>
              </a:rPr>
              <a:t> fragment </a:t>
            </a:r>
            <a:r>
              <a:rPr lang="fr-FR" sz="2800" b="0" i="0" u="none" strike="noStrike" baseline="0" dirty="0" err="1">
                <a:solidFill>
                  <a:srgbClr val="231F20"/>
                </a:solidFill>
                <a:latin typeface="CiscoSerif-Regular"/>
              </a:rPr>
              <a:t>occurs</a:t>
            </a:r>
            <a:r>
              <a:rPr lang="fr-FR" sz="2800" b="0" i="0" u="none" strike="noStrike" baseline="0" dirty="0">
                <a:solidFill>
                  <a:srgbClr val="231F20"/>
                </a:solidFill>
                <a:latin typeface="CiscoSerif-Regular"/>
              </a:rPr>
              <a:t>.</a:t>
            </a:r>
            <a:endParaRPr lang="en-US" dirty="0"/>
          </a:p>
        </p:txBody>
      </p:sp>
    </p:spTree>
    <p:extLst>
      <p:ext uri="{BB962C8B-B14F-4D97-AF65-F5344CB8AC3E}">
        <p14:creationId xmlns:p14="http://schemas.microsoft.com/office/powerpoint/2010/main" val="3941297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EB93-6D8E-4647-AFD5-511BFE453F41}"/>
              </a:ext>
            </a:extLst>
          </p:cNvPr>
          <p:cNvSpPr>
            <a:spLocks noGrp="1"/>
          </p:cNvSpPr>
          <p:nvPr>
            <p:ph type="title"/>
          </p:nvPr>
        </p:nvSpPr>
        <p:spPr/>
        <p:txBody>
          <a:bodyPr/>
          <a:lstStyle/>
          <a:p>
            <a:r>
              <a:rPr lang="en-US" sz="4400" b="1" i="0" u="none" strike="noStrike" baseline="0" dirty="0">
                <a:solidFill>
                  <a:srgbClr val="231F20"/>
                </a:solidFill>
                <a:latin typeface="Cisco-Bold"/>
              </a:rPr>
              <a:t>Mesh Addressing</a:t>
            </a:r>
            <a:endParaRPr lang="en-US" dirty="0"/>
          </a:p>
        </p:txBody>
      </p:sp>
      <p:sp>
        <p:nvSpPr>
          <p:cNvPr id="3" name="Content Placeholder 2">
            <a:extLst>
              <a:ext uri="{FF2B5EF4-FFF2-40B4-BE49-F238E27FC236}">
                <a16:creationId xmlns:a16="http://schemas.microsoft.com/office/drawing/2014/main" id="{91112608-A81A-4145-9DA6-4DC3479E2AE6}"/>
              </a:ext>
            </a:extLst>
          </p:cNvPr>
          <p:cNvSpPr>
            <a:spLocks noGrp="1"/>
          </p:cNvSpPr>
          <p:nvPr>
            <p:ph idx="1"/>
          </p:nvPr>
        </p:nvSpPr>
        <p:spPr/>
        <p:txBody>
          <a:bodyPr>
            <a:normAutofit fontScale="92500" lnSpcReduction="10000"/>
          </a:bodyPr>
          <a:lstStyle/>
          <a:p>
            <a:pPr algn="l"/>
            <a:r>
              <a:rPr lang="en-US" sz="2800" b="0" i="0" u="none" strike="noStrike" baseline="0" dirty="0">
                <a:solidFill>
                  <a:srgbClr val="231F20"/>
                </a:solidFill>
                <a:latin typeface="CiscoSerif-Regular"/>
              </a:rPr>
              <a:t>The purpose of the 6LoWPAN mesh addressing function is to forward packets over multiple hops</a:t>
            </a:r>
          </a:p>
          <a:p>
            <a:pPr algn="l"/>
            <a:r>
              <a:rPr lang="en-US" sz="2800" b="0" i="0" u="none" strike="noStrike" baseline="0" dirty="0">
                <a:solidFill>
                  <a:srgbClr val="231F20"/>
                </a:solidFill>
                <a:latin typeface="CiscoSerif-Regular"/>
              </a:rPr>
              <a:t>Three fields are defined for this header: Hop Limit, Source Address, and Destination Address</a:t>
            </a:r>
          </a:p>
          <a:p>
            <a:pPr algn="l"/>
            <a:r>
              <a:rPr lang="en-US" sz="2800" b="0" i="0" u="none" strike="noStrike" baseline="0" dirty="0">
                <a:solidFill>
                  <a:srgbClr val="231F20"/>
                </a:solidFill>
                <a:latin typeface="CiscoSerif-Regular"/>
              </a:rPr>
              <a:t>Analogous to the IPv6 hop limit field, the hop limit for mesh addressing also provides an upper limit on how many times the frame can be forwarded</a:t>
            </a:r>
          </a:p>
          <a:p>
            <a:pPr algn="l"/>
            <a:r>
              <a:rPr lang="en-US" sz="2800" b="0" i="0" u="none" strike="noStrike" baseline="0" dirty="0">
                <a:solidFill>
                  <a:srgbClr val="231F20"/>
                </a:solidFill>
                <a:latin typeface="CiscoSerif-Regular"/>
              </a:rPr>
              <a:t>Each hop decrements this value by 1 as it is forwarded. Once the value hits 0, it is dropped and no longer forwarded.</a:t>
            </a:r>
          </a:p>
          <a:p>
            <a:pPr algn="l"/>
            <a:r>
              <a:rPr lang="en-US" sz="2800" b="0" i="0" u="none" strike="noStrike" baseline="0" dirty="0">
                <a:solidFill>
                  <a:srgbClr val="231F20"/>
                </a:solidFill>
                <a:latin typeface="CiscoSerif-Regular"/>
              </a:rPr>
              <a:t>The Source Address and Destination Address fields for mesh addressing are IEEE 802.15.4 addresses indicating the endpoints of an IP hop</a:t>
            </a:r>
            <a:endParaRPr lang="en-US" dirty="0"/>
          </a:p>
        </p:txBody>
      </p:sp>
    </p:spTree>
    <p:extLst>
      <p:ext uri="{BB962C8B-B14F-4D97-AF65-F5344CB8AC3E}">
        <p14:creationId xmlns:p14="http://schemas.microsoft.com/office/powerpoint/2010/main" val="2649058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75523-7C56-4805-9720-6C8436DB3C6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D2979C6-A906-43E2-BB7E-02C8ED08BA4F}"/>
              </a:ext>
            </a:extLst>
          </p:cNvPr>
          <p:cNvPicPr>
            <a:picLocks noGrp="1" noChangeAspect="1"/>
          </p:cNvPicPr>
          <p:nvPr>
            <p:ph idx="1"/>
          </p:nvPr>
        </p:nvPicPr>
        <p:blipFill>
          <a:blip r:embed="rId2"/>
          <a:stretch>
            <a:fillRect/>
          </a:stretch>
        </p:blipFill>
        <p:spPr>
          <a:xfrm>
            <a:off x="1080655" y="1246909"/>
            <a:ext cx="10030690" cy="4033765"/>
          </a:xfrm>
        </p:spPr>
      </p:pic>
    </p:spTree>
    <p:extLst>
      <p:ext uri="{BB962C8B-B14F-4D97-AF65-F5344CB8AC3E}">
        <p14:creationId xmlns:p14="http://schemas.microsoft.com/office/powerpoint/2010/main" val="3460012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CCD9A-DFA9-4593-83F0-67E234756A60}"/>
              </a:ext>
            </a:extLst>
          </p:cNvPr>
          <p:cNvSpPr>
            <a:spLocks noGrp="1"/>
          </p:cNvSpPr>
          <p:nvPr>
            <p:ph type="title"/>
          </p:nvPr>
        </p:nvSpPr>
        <p:spPr>
          <a:xfrm>
            <a:off x="838200" y="365126"/>
            <a:ext cx="10515600" cy="632402"/>
          </a:xfrm>
        </p:spPr>
        <p:txBody>
          <a:bodyPr>
            <a:normAutofit fontScale="90000"/>
          </a:bodyPr>
          <a:lstStyle/>
          <a:p>
            <a:r>
              <a:rPr lang="en-US" dirty="0"/>
              <a:t>6LowPAN Packet</a:t>
            </a:r>
          </a:p>
        </p:txBody>
      </p:sp>
      <p:sp>
        <p:nvSpPr>
          <p:cNvPr id="4" name="Content Placeholder 2">
            <a:extLst>
              <a:ext uri="{FF2B5EF4-FFF2-40B4-BE49-F238E27FC236}">
                <a16:creationId xmlns:a16="http://schemas.microsoft.com/office/drawing/2014/main" id="{0368C0B3-5A94-4C42-9A6F-A8F03A540931}"/>
              </a:ext>
            </a:extLst>
          </p:cNvPr>
          <p:cNvSpPr>
            <a:spLocks noGrp="1"/>
          </p:cNvSpPr>
          <p:nvPr>
            <p:ph idx="1"/>
          </p:nvPr>
        </p:nvSpPr>
        <p:spPr>
          <a:xfrm>
            <a:off x="838200" y="997528"/>
            <a:ext cx="10515600" cy="5179435"/>
          </a:xfrm>
        </p:spPr>
        <p:txBody>
          <a:bodyPr>
            <a:normAutofit/>
          </a:bodyPr>
          <a:lstStyle/>
          <a:p>
            <a:pPr marL="0" indent="0">
              <a:buNone/>
            </a:pPr>
            <a:r>
              <a:rPr lang="en-US" sz="1400" dirty="0"/>
              <a:t>IEEE 802.15.4 DATA #74</a:t>
            </a:r>
          </a:p>
          <a:p>
            <a:pPr marL="0" indent="0">
              <a:buNone/>
            </a:pPr>
            <a:r>
              <a:rPr lang="en-US" sz="1400" dirty="0">
                <a:solidFill>
                  <a:srgbClr val="FF0000"/>
                </a:solidFill>
              </a:rPr>
              <a:t>From</a:t>
            </a:r>
            <a:r>
              <a:rPr lang="en-US" sz="1400" dirty="0"/>
              <a:t> 0xABCD/00:12:74:02:00:02:02:02</a:t>
            </a:r>
          </a:p>
          <a:p>
            <a:pPr marL="0" indent="0">
              <a:buNone/>
            </a:pPr>
            <a:r>
              <a:rPr lang="en-US" sz="1400" dirty="0">
                <a:solidFill>
                  <a:srgbClr val="FF0000"/>
                </a:solidFill>
              </a:rPr>
              <a:t>to</a:t>
            </a:r>
            <a:r>
              <a:rPr lang="en-US" sz="1400" dirty="0"/>
              <a:t>   0xABCD/00:12:74:06:00:06:06:06</a:t>
            </a:r>
          </a:p>
          <a:p>
            <a:pPr marL="0" indent="0">
              <a:buNone/>
            </a:pPr>
            <a:r>
              <a:rPr lang="en-US" sz="1400" dirty="0"/>
              <a:t>Sec = false, Pend = false, ACK = true, </a:t>
            </a:r>
            <a:r>
              <a:rPr lang="en-US" sz="1400" dirty="0" err="1"/>
              <a:t>iPAN</a:t>
            </a:r>
            <a:r>
              <a:rPr lang="en-US" sz="1400" dirty="0"/>
              <a:t> = true,</a:t>
            </a:r>
          </a:p>
          <a:p>
            <a:pPr marL="0" indent="0">
              <a:buNone/>
            </a:pPr>
            <a:r>
              <a:rPr lang="en-US" sz="1400" dirty="0" err="1"/>
              <a:t>DestAddr</a:t>
            </a:r>
            <a:r>
              <a:rPr lang="en-US" sz="1400" dirty="0"/>
              <a:t> = Long, </a:t>
            </a:r>
            <a:r>
              <a:rPr lang="en-US" sz="1400" dirty="0" err="1"/>
              <a:t>Vers</a:t>
            </a:r>
            <a:r>
              <a:rPr lang="en-US" sz="1400" dirty="0"/>
              <a:t>. = 1, </a:t>
            </a:r>
            <a:r>
              <a:rPr lang="en-US" sz="1400" dirty="0" err="1"/>
              <a:t>SrcAddr</a:t>
            </a:r>
            <a:r>
              <a:rPr lang="en-US" sz="1400" dirty="0"/>
              <a:t> = Long</a:t>
            </a:r>
          </a:p>
          <a:p>
            <a:pPr marL="0" indent="0">
              <a:buNone/>
            </a:pPr>
            <a:r>
              <a:rPr lang="en-US" sz="1400" dirty="0"/>
              <a:t>IPHC HC-06 TF = 3, NH = compressed, HLIM = 64, CID = 1,</a:t>
            </a:r>
          </a:p>
          <a:p>
            <a:pPr marL="0" indent="0">
              <a:buNone/>
            </a:pPr>
            <a:r>
              <a:rPr lang="en-US" sz="1400" dirty="0"/>
              <a:t>SAC = stateful, SAM = 3, </a:t>
            </a:r>
            <a:r>
              <a:rPr lang="en-US" sz="1400" dirty="0" err="1"/>
              <a:t>MCast</a:t>
            </a:r>
            <a:r>
              <a:rPr lang="en-US" sz="1400" dirty="0"/>
              <a:t> = false, DAC = stateful, DAM = 3</a:t>
            </a:r>
          </a:p>
          <a:p>
            <a:pPr marL="0" indent="0">
              <a:buNone/>
            </a:pPr>
            <a:r>
              <a:rPr lang="en-US" sz="1400" dirty="0"/>
              <a:t>Contexts: sci=0 dci=0</a:t>
            </a:r>
          </a:p>
          <a:p>
            <a:pPr marL="0" indent="0">
              <a:buNone/>
            </a:pPr>
            <a:r>
              <a:rPr lang="en-US" sz="1400" dirty="0"/>
              <a:t>IPv6 TC = 0, FL = 0, </a:t>
            </a:r>
            <a:r>
              <a:rPr lang="en-US" sz="1400" dirty="0" err="1"/>
              <a:t>ttl</a:t>
            </a:r>
            <a:r>
              <a:rPr lang="en-US" sz="1400" dirty="0"/>
              <a:t> = 64</a:t>
            </a:r>
          </a:p>
          <a:p>
            <a:pPr marL="0" indent="0">
              <a:buNone/>
            </a:pPr>
            <a:r>
              <a:rPr lang="en-US" sz="1400" dirty="0"/>
              <a:t>From aaaa:0000:0000:0000:0012:7402:0002:0202</a:t>
            </a:r>
          </a:p>
          <a:p>
            <a:pPr marL="0" indent="0">
              <a:buNone/>
            </a:pPr>
            <a:r>
              <a:rPr lang="en-US" sz="1400" dirty="0"/>
              <a:t>to   aaaa:0000:0000:0000:0012:7406:0006:0606</a:t>
            </a:r>
          </a:p>
          <a:p>
            <a:pPr marL="0" indent="0">
              <a:buNone/>
            </a:pPr>
            <a:r>
              <a:rPr lang="en-US" sz="1400" dirty="0"/>
              <a:t>Frag Header nth size = 262, tag = 0x6304, offset = 0</a:t>
            </a:r>
          </a:p>
          <a:p>
            <a:pPr marL="0" indent="0">
              <a:buNone/>
            </a:pPr>
            <a:r>
              <a:rPr lang="en-US" sz="1400" dirty="0"/>
              <a:t>Payload (17 bytes) (hex dump)</a:t>
            </a:r>
          </a:p>
          <a:p>
            <a:pPr marL="0" indent="0">
              <a:buNone/>
            </a:pPr>
            <a:r>
              <a:rPr lang="en-US" sz="1400" dirty="0"/>
              <a:t>00 01 16 F0 22 3D 16 2E 5E 34 68 65 6C </a:t>
            </a:r>
            <a:r>
              <a:rPr lang="en-US" sz="1400" dirty="0" err="1"/>
              <a:t>6C</a:t>
            </a:r>
            <a:r>
              <a:rPr lang="en-US" sz="1400" dirty="0"/>
              <a:t> 6F 20 37</a:t>
            </a:r>
          </a:p>
          <a:p>
            <a:pPr marL="0" indent="0">
              <a:buNone/>
            </a:pPr>
            <a:r>
              <a:rPr lang="en-US" sz="1400" dirty="0"/>
              <a:t>ASCII (partial):   ...^4hello 7</a:t>
            </a:r>
          </a:p>
        </p:txBody>
      </p:sp>
    </p:spTree>
    <p:extLst>
      <p:ext uri="{BB962C8B-B14F-4D97-AF65-F5344CB8AC3E}">
        <p14:creationId xmlns:p14="http://schemas.microsoft.com/office/powerpoint/2010/main" val="1151378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4C29-4FB4-42C9-81D8-89E9DDAB2068}"/>
              </a:ext>
            </a:extLst>
          </p:cNvPr>
          <p:cNvSpPr>
            <a:spLocks noGrp="1"/>
          </p:cNvSpPr>
          <p:nvPr>
            <p:ph type="title"/>
          </p:nvPr>
        </p:nvSpPr>
        <p:spPr/>
        <p:txBody>
          <a:bodyPr/>
          <a:lstStyle/>
          <a:p>
            <a:r>
              <a:rPr lang="en-US" dirty="0"/>
              <a:t>MAC layer (IEEE 802.15.4)</a:t>
            </a:r>
          </a:p>
        </p:txBody>
      </p:sp>
      <p:sp>
        <p:nvSpPr>
          <p:cNvPr id="3" name="Content Placeholder 2">
            <a:extLst>
              <a:ext uri="{FF2B5EF4-FFF2-40B4-BE49-F238E27FC236}">
                <a16:creationId xmlns:a16="http://schemas.microsoft.com/office/drawing/2014/main" id="{1A79B40B-BB85-40E8-B6FC-96215C76DCD2}"/>
              </a:ext>
            </a:extLst>
          </p:cNvPr>
          <p:cNvSpPr>
            <a:spLocks noGrp="1"/>
          </p:cNvSpPr>
          <p:nvPr>
            <p:ph idx="1"/>
          </p:nvPr>
        </p:nvSpPr>
        <p:spPr/>
        <p:txBody>
          <a:bodyPr>
            <a:normAutofit fontScale="85000" lnSpcReduction="10000"/>
          </a:bodyPr>
          <a:lstStyle/>
          <a:p>
            <a:r>
              <a:rPr lang="en-US" dirty="0"/>
              <a:t>Frame source &amp; destination:</a:t>
            </a:r>
          </a:p>
          <a:p>
            <a:r>
              <a:rPr lang="en-US" dirty="0"/>
              <a:t>PAN ID = 0xABCD (both endpoints use same PAN — a Personal Area Network).</a:t>
            </a:r>
          </a:p>
          <a:p>
            <a:r>
              <a:rPr lang="en-US" dirty="0"/>
              <a:t>Source MAC = 00:12:74:02:00:02:02:02 (64-bit long address).</a:t>
            </a:r>
          </a:p>
          <a:p>
            <a:r>
              <a:rPr lang="en-US" dirty="0"/>
              <a:t>Destination MAC = 00:12:74:06:00:06:06:06 (64-bit).</a:t>
            </a:r>
          </a:p>
          <a:p>
            <a:r>
              <a:rPr lang="en-US" dirty="0" err="1"/>
              <a:t>Flags:Sec</a:t>
            </a:r>
            <a:r>
              <a:rPr lang="en-US" dirty="0"/>
              <a:t> = false → no 802.15.4 MAC security (no MAC-layer encryption/auth).</a:t>
            </a:r>
          </a:p>
          <a:p>
            <a:r>
              <a:rPr lang="en-US" dirty="0"/>
              <a:t>ACK = true → acknowledgements are enabled; sender expects an ACK from receiver.</a:t>
            </a:r>
          </a:p>
          <a:p>
            <a:r>
              <a:rPr lang="en-US" dirty="0" err="1"/>
              <a:t>iPAN</a:t>
            </a:r>
            <a:r>
              <a:rPr lang="en-US" dirty="0"/>
              <a:t> = true → indicates an intra-PAN packet (PAN ID compression may be used).</a:t>
            </a:r>
          </a:p>
          <a:p>
            <a:r>
              <a:rPr lang="en-US" dirty="0" err="1"/>
              <a:t>DestAddr</a:t>
            </a:r>
            <a:r>
              <a:rPr lang="en-US" dirty="0"/>
              <a:t> = Long and </a:t>
            </a:r>
            <a:r>
              <a:rPr lang="en-US" dirty="0" err="1"/>
              <a:t>SrcAddr</a:t>
            </a:r>
            <a:r>
              <a:rPr lang="en-US" dirty="0"/>
              <a:t> = Long → 64-bit addresses used (not short 16-bit).</a:t>
            </a:r>
          </a:p>
        </p:txBody>
      </p:sp>
    </p:spTree>
    <p:extLst>
      <p:ext uri="{BB962C8B-B14F-4D97-AF65-F5344CB8AC3E}">
        <p14:creationId xmlns:p14="http://schemas.microsoft.com/office/powerpoint/2010/main" val="2627448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B9789-4FBC-4F8E-BD00-6C34306E00B4}"/>
              </a:ext>
            </a:extLst>
          </p:cNvPr>
          <p:cNvSpPr>
            <a:spLocks noGrp="1"/>
          </p:cNvSpPr>
          <p:nvPr>
            <p:ph type="title"/>
          </p:nvPr>
        </p:nvSpPr>
        <p:spPr/>
        <p:txBody>
          <a:bodyPr/>
          <a:lstStyle/>
          <a:p>
            <a:r>
              <a:rPr lang="en-US" b="1" dirty="0"/>
              <a:t>6LoWPAN IPHC </a:t>
            </a:r>
            <a:r>
              <a:rPr lang="en-US" dirty="0"/>
              <a:t>(IPv6 Header Compression)</a:t>
            </a:r>
          </a:p>
        </p:txBody>
      </p:sp>
      <p:sp>
        <p:nvSpPr>
          <p:cNvPr id="3" name="Content Placeholder 2">
            <a:extLst>
              <a:ext uri="{FF2B5EF4-FFF2-40B4-BE49-F238E27FC236}">
                <a16:creationId xmlns:a16="http://schemas.microsoft.com/office/drawing/2014/main" id="{FB0B0F8D-E07B-4812-8581-F415CE680A0D}"/>
              </a:ext>
            </a:extLst>
          </p:cNvPr>
          <p:cNvSpPr>
            <a:spLocks noGrp="1"/>
          </p:cNvSpPr>
          <p:nvPr>
            <p:ph idx="1"/>
          </p:nvPr>
        </p:nvSpPr>
        <p:spPr/>
        <p:txBody>
          <a:bodyPr>
            <a:normAutofit fontScale="70000" lnSpcReduction="20000"/>
          </a:bodyPr>
          <a:lstStyle/>
          <a:p>
            <a:r>
              <a:rPr lang="en-US" dirty="0"/>
              <a:t>TF = 3</a:t>
            </a:r>
          </a:p>
          <a:p>
            <a:pPr lvl="1"/>
            <a:r>
              <a:rPr lang="en-US" dirty="0"/>
              <a:t>Traffic Class &amp; Flow Label compression indicator. TF=3 here means Traffic Class and Flow Label are elided (they are not carried in the packet) — the receiver must assume default values (TF = 0/0) when reconstructing IPv6 header.</a:t>
            </a:r>
          </a:p>
          <a:p>
            <a:r>
              <a:rPr lang="en-US" dirty="0"/>
              <a:t>NH = compressed </a:t>
            </a:r>
          </a:p>
          <a:p>
            <a:pPr lvl="1"/>
            <a:r>
              <a:rPr lang="en-US" dirty="0"/>
              <a:t>Next Header is compressed (i.e., a NHC — Next Header Compression — is used). This often means the next header is UDP (and UDP is compressed using LOWPAN_NHC_UDP) or another compressed protocol. </a:t>
            </a:r>
          </a:p>
          <a:p>
            <a:r>
              <a:rPr lang="en-US" dirty="0"/>
              <a:t>HLIM = 64</a:t>
            </a:r>
          </a:p>
          <a:p>
            <a:pPr lvl="1"/>
            <a:r>
              <a:rPr lang="en-US" dirty="0"/>
              <a:t>The Hop Limit (TTL) value for IPv6 packets is 64 (explicitly present or indicated).CID = 1A Context Identifier Extension is present — a 6LoWPAN context is in use. Contexts allow IPv6 prefixes to be replaced by a short ID to compress addresses.</a:t>
            </a:r>
          </a:p>
          <a:p>
            <a:r>
              <a:rPr lang="en-US" dirty="0"/>
              <a:t>SAC / DAC = stateful;</a:t>
            </a:r>
          </a:p>
          <a:p>
            <a:pPr lvl="1"/>
            <a:r>
              <a:rPr lang="en-US" dirty="0"/>
              <a:t> SAM / DAM = 3 These say that source/destination addressing uses stateful (context-based) compression and the addressing mode value (SAM/DAM) = 3. In practice this means the full interface identifier (IID) is derived from the link-layer address or from a context, not carried as 128-bit inline address. (In your packet the decompressed IPv6 addresses are shown, so the receiver used MAC/context info to reconstruct them.)</a:t>
            </a:r>
          </a:p>
          <a:p>
            <a:endParaRPr lang="en-US" dirty="0"/>
          </a:p>
        </p:txBody>
      </p:sp>
    </p:spTree>
    <p:extLst>
      <p:ext uri="{BB962C8B-B14F-4D97-AF65-F5344CB8AC3E}">
        <p14:creationId xmlns:p14="http://schemas.microsoft.com/office/powerpoint/2010/main" val="227706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7A566-CF72-4D16-BFBF-028ED4A96535}"/>
              </a:ext>
            </a:extLst>
          </p:cNvPr>
          <p:cNvSpPr>
            <a:spLocks noGrp="1"/>
          </p:cNvSpPr>
          <p:nvPr>
            <p:ph type="title"/>
          </p:nvPr>
        </p:nvSpPr>
        <p:spPr/>
        <p:txBody>
          <a:bodyPr/>
          <a:lstStyle/>
          <a:p>
            <a:r>
              <a:rPr lang="en-US"/>
              <a:t>Reconstructed IPv6 addresses</a:t>
            </a:r>
          </a:p>
        </p:txBody>
      </p:sp>
      <p:sp>
        <p:nvSpPr>
          <p:cNvPr id="3" name="Content Placeholder 2">
            <a:extLst>
              <a:ext uri="{FF2B5EF4-FFF2-40B4-BE49-F238E27FC236}">
                <a16:creationId xmlns:a16="http://schemas.microsoft.com/office/drawing/2014/main" id="{D2099790-80D2-4981-A08D-D63CAAD0B23F}"/>
              </a:ext>
            </a:extLst>
          </p:cNvPr>
          <p:cNvSpPr>
            <a:spLocks noGrp="1"/>
          </p:cNvSpPr>
          <p:nvPr>
            <p:ph idx="1"/>
          </p:nvPr>
        </p:nvSpPr>
        <p:spPr/>
        <p:txBody>
          <a:bodyPr/>
          <a:lstStyle/>
          <a:p>
            <a:r>
              <a:rPr lang="en-US" dirty="0"/>
              <a:t>The packet lists the reconstructed IPv6 addresses:</a:t>
            </a:r>
          </a:p>
          <a:p>
            <a:pPr lvl="1"/>
            <a:r>
              <a:rPr lang="en-US" dirty="0"/>
              <a:t>Source IPv6: aaaa:0000:0000:0000:0012:7402:0002:0202</a:t>
            </a:r>
          </a:p>
          <a:p>
            <a:pPr lvl="1"/>
            <a:r>
              <a:rPr lang="en-US" dirty="0"/>
              <a:t>Destination IPv6: aaaa:0000:0000:0000:0012:7406:0006:0606</a:t>
            </a:r>
          </a:p>
          <a:p>
            <a:r>
              <a:rPr lang="en-US" dirty="0"/>
              <a:t>The low 64 bits of the IPv6 addresses (the Interface Identifier / IID) match the source/</a:t>
            </a:r>
            <a:r>
              <a:rPr lang="en-US" dirty="0" err="1"/>
              <a:t>dest</a:t>
            </a:r>
            <a:r>
              <a:rPr lang="en-US" dirty="0"/>
              <a:t> 64-bit MACs shown at MAC-layer (the 0012:7402:0002:0202 part looks like the 64-bit MAC mapped directly as IID). Thus the compressor elided the IPv6 IID and the receiver reconstructed it from the MAC or context.</a:t>
            </a:r>
          </a:p>
        </p:txBody>
      </p:sp>
    </p:spTree>
    <p:extLst>
      <p:ext uri="{BB962C8B-B14F-4D97-AF65-F5344CB8AC3E}">
        <p14:creationId xmlns:p14="http://schemas.microsoft.com/office/powerpoint/2010/main" val="435070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E28A5-2FE5-41BF-8195-3F3314137FC5}"/>
              </a:ext>
            </a:extLst>
          </p:cNvPr>
          <p:cNvSpPr>
            <a:spLocks noGrp="1"/>
          </p:cNvSpPr>
          <p:nvPr>
            <p:ph type="title"/>
          </p:nvPr>
        </p:nvSpPr>
        <p:spPr/>
        <p:txBody>
          <a:bodyPr/>
          <a:lstStyle/>
          <a:p>
            <a:r>
              <a:rPr lang="en-US" dirty="0"/>
              <a:t>Fragmentation header</a:t>
            </a:r>
          </a:p>
        </p:txBody>
      </p:sp>
      <p:sp>
        <p:nvSpPr>
          <p:cNvPr id="3" name="Content Placeholder 2">
            <a:extLst>
              <a:ext uri="{FF2B5EF4-FFF2-40B4-BE49-F238E27FC236}">
                <a16:creationId xmlns:a16="http://schemas.microsoft.com/office/drawing/2014/main" id="{35B0F3A6-BD8D-43D9-AFB4-A1A6B9975999}"/>
              </a:ext>
            </a:extLst>
          </p:cNvPr>
          <p:cNvSpPr>
            <a:spLocks noGrp="1"/>
          </p:cNvSpPr>
          <p:nvPr>
            <p:ph idx="1"/>
          </p:nvPr>
        </p:nvSpPr>
        <p:spPr/>
        <p:txBody>
          <a:bodyPr/>
          <a:lstStyle/>
          <a:p>
            <a:r>
              <a:rPr lang="en-US" dirty="0"/>
              <a:t>Frag Header nth size = 262, tag = 0x6304, offset = 0</a:t>
            </a:r>
          </a:p>
          <a:p>
            <a:pPr lvl="1"/>
            <a:r>
              <a:rPr lang="en-US" dirty="0"/>
              <a:t>This is a 6LoWPAN fragmentation header.</a:t>
            </a:r>
          </a:p>
          <a:p>
            <a:pPr lvl="1"/>
            <a:r>
              <a:rPr lang="en-US" dirty="0"/>
              <a:t>size = 262 → the full IPv6 datagram length (262 bytes) before fragmentation.</a:t>
            </a:r>
          </a:p>
          <a:p>
            <a:pPr lvl="1"/>
            <a:r>
              <a:rPr lang="en-US" dirty="0"/>
              <a:t>tag = 0x6304 → a tag to group fragments belonging to the same IPv6 datagram.</a:t>
            </a:r>
          </a:p>
          <a:p>
            <a:pPr lvl="1"/>
            <a:r>
              <a:rPr lang="en-US" dirty="0"/>
              <a:t>offset = 0 → this is the first fragment (offset zero).</a:t>
            </a:r>
          </a:p>
          <a:p>
            <a:pPr lvl="1"/>
            <a:r>
              <a:rPr lang="en-US" dirty="0"/>
              <a:t>The actual payload here is only 17 bytes because this is the first fragment; other fragments (if present) will contain the rest of the 262-byte IPv6 datagram.</a:t>
            </a:r>
          </a:p>
        </p:txBody>
      </p:sp>
    </p:spTree>
    <p:extLst>
      <p:ext uri="{BB962C8B-B14F-4D97-AF65-F5344CB8AC3E}">
        <p14:creationId xmlns:p14="http://schemas.microsoft.com/office/powerpoint/2010/main" val="922349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18635</TotalTime>
  <Words>1821</Words>
  <Application>Microsoft Office PowerPoint</Application>
  <PresentationFormat>Widescreen</PresentationFormat>
  <Paragraphs>119</Paragraphs>
  <Slides>23</Slides>
  <Notes>0</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Cisco-Bold</vt:lpstr>
      <vt:lpstr>CiscoSerif-Bold</vt:lpstr>
      <vt:lpstr>CiscoSerif-Italic-Regular</vt:lpstr>
      <vt:lpstr>CiscoSerif-Regular</vt:lpstr>
      <vt:lpstr>Office Theme</vt:lpstr>
      <vt:lpstr>  IP as the IoT Network Layer</vt:lpstr>
      <vt:lpstr>Contents</vt:lpstr>
      <vt:lpstr>Key Advantages of Internet Protocol</vt:lpstr>
      <vt:lpstr>Adoption or Adaptation of the Internet Protocol</vt:lpstr>
      <vt:lpstr>Factors for determining the model</vt:lpstr>
      <vt:lpstr>The Need for Optimization</vt:lpstr>
      <vt:lpstr>The Need for Optimization</vt:lpstr>
      <vt:lpstr>Factors for IPv4 and IPv6 Support</vt:lpstr>
      <vt:lpstr>Optimizing IP for IoT</vt:lpstr>
      <vt:lpstr>From 6LoWPAN to 6Lo</vt:lpstr>
      <vt:lpstr>PowerPoint Presentation</vt:lpstr>
      <vt:lpstr>Header Compression</vt:lpstr>
      <vt:lpstr>PowerPoint Presentation</vt:lpstr>
      <vt:lpstr>Fragmentation</vt:lpstr>
      <vt:lpstr>PowerPoint Presentation</vt:lpstr>
      <vt:lpstr>PowerPoint Presentation</vt:lpstr>
      <vt:lpstr>Mesh Addressing</vt:lpstr>
      <vt:lpstr>PowerPoint Presentation</vt:lpstr>
      <vt:lpstr>6LowPAN Packet</vt:lpstr>
      <vt:lpstr>MAC layer (IEEE 802.15.4)</vt:lpstr>
      <vt:lpstr>6LoWPAN IPHC (IPv6 Header Compression)</vt:lpstr>
      <vt:lpstr>Reconstructed IPv6 addresses</vt:lpstr>
      <vt:lpstr>Fragmentation header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23</cp:revision>
  <dcterms:created xsi:type="dcterms:W3CDTF">2022-02-14T11:35:12Z</dcterms:created>
  <dcterms:modified xsi:type="dcterms:W3CDTF">2025-10-03T10:58:04Z</dcterms:modified>
</cp:coreProperties>
</file>