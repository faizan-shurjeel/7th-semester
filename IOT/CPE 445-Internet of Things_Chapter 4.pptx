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5" r:id="rId28"/>
    <p:sldId id="286" r:id="rId29"/>
    <p:sldId id="284" r:id="rId30"/>
    <p:sldId id="287" r:id="rId31"/>
    <p:sldId id="288" r:id="rId32"/>
    <p:sldId id="289" r:id="rId33"/>
    <p:sldId id="290" r:id="rId34"/>
    <p:sldId id="291" r:id="rId35"/>
    <p:sldId id="292" r:id="rId36"/>
    <p:sldId id="293" r:id="rId37"/>
    <p:sldId id="294" r:id="rId38"/>
    <p:sldId id="295" r:id="rId39"/>
    <p:sldId id="312" r:id="rId40"/>
    <p:sldId id="314" r:id="rId41"/>
    <p:sldId id="303" r:id="rId42"/>
    <p:sldId id="304" r:id="rId43"/>
    <p:sldId id="305" r:id="rId44"/>
    <p:sldId id="306" r:id="rId45"/>
    <p:sldId id="311" r:id="rId46"/>
    <p:sldId id="307" r:id="rId47"/>
    <p:sldId id="308" r:id="rId48"/>
    <p:sldId id="309" r:id="rId49"/>
    <p:sldId id="310" r:id="rId50"/>
    <p:sldId id="313" r:id="rId51"/>
    <p:sldId id="296" r:id="rId52"/>
    <p:sldId id="297" r:id="rId53"/>
    <p:sldId id="302" r:id="rId54"/>
    <p:sldId id="298" r:id="rId55"/>
    <p:sldId id="299" r:id="rId56"/>
    <p:sldId id="315" r:id="rId57"/>
    <p:sldId id="316" r:id="rId58"/>
    <p:sldId id="317" r:id="rId59"/>
    <p:sldId id="300" r:id="rId60"/>
    <p:sldId id="301"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40" r:id="rId77"/>
    <p:sldId id="341" r:id="rId78"/>
    <p:sldId id="342" r:id="rId79"/>
    <p:sldId id="333" r:id="rId80"/>
    <p:sldId id="343" r:id="rId81"/>
    <p:sldId id="334" r:id="rId82"/>
    <p:sldId id="336" r:id="rId83"/>
    <p:sldId id="337" r:id="rId84"/>
    <p:sldId id="344" r:id="rId85"/>
    <p:sldId id="345" r:id="rId86"/>
    <p:sldId id="338" r:id="rId87"/>
    <p:sldId id="339" r:id="rId88"/>
    <p:sldId id="364" r:id="rId89"/>
    <p:sldId id="365" r:id="rId90"/>
    <p:sldId id="366" r:id="rId91"/>
    <p:sldId id="367" r:id="rId92"/>
    <p:sldId id="362" r:id="rId93"/>
    <p:sldId id="363" r:id="rId94"/>
    <p:sldId id="352" r:id="rId95"/>
    <p:sldId id="353" r:id="rId96"/>
    <p:sldId id="354" r:id="rId97"/>
    <p:sldId id="355" r:id="rId98"/>
    <p:sldId id="356" r:id="rId99"/>
    <p:sldId id="357" r:id="rId100"/>
    <p:sldId id="358" r:id="rId101"/>
    <p:sldId id="359" r:id="rId102"/>
    <p:sldId id="361" r:id="rId103"/>
    <p:sldId id="360" r:id="rId104"/>
    <p:sldId id="346" r:id="rId105"/>
    <p:sldId id="350" r:id="rId106"/>
    <p:sldId id="347" r:id="rId107"/>
    <p:sldId id="348" r:id="rId108"/>
    <p:sldId id="368" r:id="rId109"/>
    <p:sldId id="369" r:id="rId110"/>
    <p:sldId id="370" r:id="rId111"/>
    <p:sldId id="349" r:id="rId112"/>
    <p:sldId id="351" r:id="rId113"/>
    <p:sldId id="371" r:id="rId114"/>
    <p:sldId id="372" r:id="rId115"/>
    <p:sldId id="373" r:id="rId116"/>
    <p:sldId id="374" r:id="rId117"/>
    <p:sldId id="375" r:id="rId118"/>
    <p:sldId id="376" r:id="rId119"/>
    <p:sldId id="377"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3" d="100"/>
          <a:sy n="43" d="100"/>
        </p:scale>
        <p:origin x="86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47EC-79BE-4418-A9A0-139BD3118B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6372B0-43C0-4CAE-B58C-76D1DCA43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23709-B0F7-485E-A14D-7FA7DD2DE7D3}"/>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272BA470-F93D-41C4-B946-B4F4DE22B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D7D0C7-2B39-4EDC-BC0D-049D579B127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645970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8BE5D-180B-4988-A991-012051D66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0DDBC-21C7-49A9-8668-988224135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ED9AC5-03C3-497D-8C69-DFC497B4EA57}"/>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241847F8-7C3D-4B7B-88F1-721E2DB5B8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E0D2B-BC2D-4EF7-87F2-A98BC4F94301}"/>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47015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3E55-AE0D-4BC9-A185-A8BA1365E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78092A-D248-4F67-9198-A721200A7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1DFC0-4CF4-4047-9C95-B6ADC2AB529D}"/>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54FEF40D-6A47-4FF2-9BAD-31586E6FB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F30A1-E439-46BF-88C1-9FB7123D254C}"/>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38785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CBD9-A0AF-406D-B0AE-2D5E21A7D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381BD2-62EF-4138-9E84-C760E18F7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786715-E895-49DF-856E-C8BB191570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86FC06-4674-410F-B306-9B19258AE0C7}"/>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6" name="Footer Placeholder 5">
            <a:extLst>
              <a:ext uri="{FF2B5EF4-FFF2-40B4-BE49-F238E27FC236}">
                <a16:creationId xmlns:a16="http://schemas.microsoft.com/office/drawing/2014/main" id="{DD38CD9F-C9ED-42F3-AA5D-1AC66C32AB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4BD4F4-9458-4611-9E95-F425861AA4C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35534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8232-37CA-4FBA-8267-CEF1DBEE19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6C4CCE-BDF4-4877-B66C-A143E4938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CC5BD8-FBDD-490E-8A69-DF27ECFFB7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BEA564-3112-455E-BE0A-8F46CC1C8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6B119A-78C4-442D-B4B7-EAF59F1409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CF93-0DBB-4FF7-8EBF-E144A77DCEE3}"/>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8" name="Footer Placeholder 7">
            <a:extLst>
              <a:ext uri="{FF2B5EF4-FFF2-40B4-BE49-F238E27FC236}">
                <a16:creationId xmlns:a16="http://schemas.microsoft.com/office/drawing/2014/main" id="{20B13545-7BD6-4D37-86DC-CFFBC585E0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313F5C-A906-46DD-82B8-3AE88C71567A}"/>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788152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445FF-5A7B-475C-882B-D41CD9769C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67D389-7267-414F-B5E4-D7D6672AAD96}"/>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4" name="Footer Placeholder 3">
            <a:extLst>
              <a:ext uri="{FF2B5EF4-FFF2-40B4-BE49-F238E27FC236}">
                <a16:creationId xmlns:a16="http://schemas.microsoft.com/office/drawing/2014/main" id="{8789291F-8CEC-4C07-AE6F-C452ADDFA1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FB8CF-A5C3-451B-83EB-716001BC5733}"/>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909923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679A4-7B1F-4762-ABBE-414A34BB08F1}"/>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3" name="Footer Placeholder 2">
            <a:extLst>
              <a:ext uri="{FF2B5EF4-FFF2-40B4-BE49-F238E27FC236}">
                <a16:creationId xmlns:a16="http://schemas.microsoft.com/office/drawing/2014/main" id="{94AFA26C-A11D-4C91-AA29-29203E8E37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88ACD4-E37A-4392-B7A4-814A52DCD97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414692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5A23E-0EDC-4BDA-8736-D62CFCF416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541926-B521-457A-9E9B-68C0A47DE6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557F50-2B45-4FA0-8D86-1CB309281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A6E42-0AF7-4341-8DB3-2402107BF1E7}"/>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6" name="Footer Placeholder 5">
            <a:extLst>
              <a:ext uri="{FF2B5EF4-FFF2-40B4-BE49-F238E27FC236}">
                <a16:creationId xmlns:a16="http://schemas.microsoft.com/office/drawing/2014/main" id="{D09ACB2E-7A92-4BD5-ABE6-A6EC382C99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C9B64-977C-4277-AEC0-4F1E199E7E04}"/>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218128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1972-4E44-477A-B552-644400898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81B900-76CA-4E1D-B7F4-55B7298CD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5F5480-9816-45A0-9371-47FF8C522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02A00-1E1E-4BA9-B0D8-44208A9067CE}"/>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6" name="Footer Placeholder 5">
            <a:extLst>
              <a:ext uri="{FF2B5EF4-FFF2-40B4-BE49-F238E27FC236}">
                <a16:creationId xmlns:a16="http://schemas.microsoft.com/office/drawing/2014/main" id="{04A20E30-FAF4-453B-BC8B-D93C5FCB91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0A56B-4461-4BE9-B576-8112D3C134FD}"/>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553259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9A17-6365-4003-8F46-650B00880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9DF9D-F4EB-4978-A89D-AD16B55D5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430709-80C9-4162-983A-F9C2BDF3EDF0}"/>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29495828-C20A-4D83-8ACD-85C081ED1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19DB0-44EC-4480-9720-AB80DE4705EF}"/>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21178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8B18D-3BA9-456C-8C9C-861E54301E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98729-4EAD-4FE1-B22D-990078A20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C89957-7105-4955-974A-E9C1EDCB146F}"/>
              </a:ext>
            </a:extLst>
          </p:cNvPr>
          <p:cNvSpPr>
            <a:spLocks noGrp="1"/>
          </p:cNvSpPr>
          <p:nvPr>
            <p:ph type="dt" sz="half" idx="10"/>
          </p:nvPr>
        </p:nvSpPr>
        <p:spPr/>
        <p:txBody>
          <a:body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665373BB-E5C3-4FE4-A464-6ED93F481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F2E1F-845D-477A-96FD-5250B1C177E7}"/>
              </a:ext>
            </a:extLst>
          </p:cNvPr>
          <p:cNvSpPr>
            <a:spLocks noGrp="1"/>
          </p:cNvSpPr>
          <p:nvPr>
            <p:ph type="sldNum" sz="quarter" idx="12"/>
          </p:nvPr>
        </p:nvSpPr>
        <p:spPr/>
        <p:txBody>
          <a:bodyPr/>
          <a:lstStyle/>
          <a:p>
            <a:fld id="{F466207E-3B12-4681-9E12-034CB6A7BDCC}" type="slidenum">
              <a:rPr lang="en-US" smtClean="0"/>
              <a:t>‹#›</a:t>
            </a:fld>
            <a:endParaRPr lang="en-US"/>
          </a:p>
        </p:txBody>
      </p:sp>
    </p:spTree>
    <p:extLst>
      <p:ext uri="{BB962C8B-B14F-4D97-AF65-F5344CB8AC3E}">
        <p14:creationId xmlns:p14="http://schemas.microsoft.com/office/powerpoint/2010/main" val="1329548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92AAFA-F146-4065-A19D-BEABBC356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64567-D102-4B21-A1A4-D69B16687F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17A7D-F3B5-4936-8933-547EBACD3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F173C1-2F5E-4A02-9636-4A8EA7DDCA41}" type="datetimeFigureOut">
              <a:rPr lang="en-US" smtClean="0"/>
              <a:t>9/23/2024</a:t>
            </a:fld>
            <a:endParaRPr lang="en-US"/>
          </a:p>
        </p:txBody>
      </p:sp>
      <p:sp>
        <p:nvSpPr>
          <p:cNvPr id="5" name="Footer Placeholder 4">
            <a:extLst>
              <a:ext uri="{FF2B5EF4-FFF2-40B4-BE49-F238E27FC236}">
                <a16:creationId xmlns:a16="http://schemas.microsoft.com/office/drawing/2014/main" id="{372F0130-AD76-4B24-9237-5AF8ED67B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767A22-F168-4F07-A116-E2D77AED8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6207E-3B12-4681-9E12-034CB6A7BDCC}" type="slidenum">
              <a:rPr lang="en-US" smtClean="0"/>
              <a:t>‹#›</a:t>
            </a:fld>
            <a:endParaRPr lang="en-US"/>
          </a:p>
        </p:txBody>
      </p:sp>
    </p:spTree>
    <p:extLst>
      <p:ext uri="{BB962C8B-B14F-4D97-AF65-F5344CB8AC3E}">
        <p14:creationId xmlns:p14="http://schemas.microsoft.com/office/powerpoint/2010/main" val="2582103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bbasjaved@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009-667F-4F97-8974-6E0CB68BADE8}"/>
              </a:ext>
            </a:extLst>
          </p:cNvPr>
          <p:cNvSpPr>
            <a:spLocks noGrp="1"/>
          </p:cNvSpPr>
          <p:nvPr>
            <p:ph type="ctrTitle"/>
          </p:nvPr>
        </p:nvSpPr>
        <p:spPr/>
        <p:txBody>
          <a:bodyPr/>
          <a:lstStyle/>
          <a:p>
            <a:r>
              <a:rPr lang="en-US" dirty="0"/>
              <a:t>CPE 445-Internet of Things</a:t>
            </a:r>
          </a:p>
        </p:txBody>
      </p:sp>
      <p:sp>
        <p:nvSpPr>
          <p:cNvPr id="3" name="Subtitle 2">
            <a:extLst>
              <a:ext uri="{FF2B5EF4-FFF2-40B4-BE49-F238E27FC236}">
                <a16:creationId xmlns:a16="http://schemas.microsoft.com/office/drawing/2014/main" id="{E6E45546-75B8-4229-9A3B-FD201B44EBED}"/>
              </a:ext>
            </a:extLst>
          </p:cNvPr>
          <p:cNvSpPr>
            <a:spLocks noGrp="1"/>
          </p:cNvSpPr>
          <p:nvPr>
            <p:ph type="subTitle" idx="1"/>
          </p:nvPr>
        </p:nvSpPr>
        <p:spPr/>
        <p:txBody>
          <a:bodyPr>
            <a:normAutofit fontScale="77500" lnSpcReduction="20000"/>
          </a:bodyPr>
          <a:lstStyle/>
          <a:p>
            <a:r>
              <a:rPr lang="en-US" dirty="0"/>
              <a:t>Dr. Abbas </a:t>
            </a:r>
            <a:r>
              <a:rPr lang="en-US" dirty="0" err="1"/>
              <a:t>Javed</a:t>
            </a:r>
            <a:endParaRPr lang="en-US" dirty="0"/>
          </a:p>
          <a:p>
            <a:r>
              <a:rPr lang="en-US" dirty="0"/>
              <a:t>Assistant Professor</a:t>
            </a:r>
          </a:p>
          <a:p>
            <a:r>
              <a:rPr lang="en-US" dirty="0"/>
              <a:t>Department of Electrical and Computer Engineering, </a:t>
            </a:r>
          </a:p>
          <a:p>
            <a:r>
              <a:rPr lang="en-US" dirty="0"/>
              <a:t>COMSATS University Islamabad, Lahore Campus</a:t>
            </a:r>
          </a:p>
          <a:p>
            <a:r>
              <a:rPr lang="en-US" dirty="0">
                <a:hlinkClick r:id="rId2"/>
              </a:rPr>
              <a:t>abbasjaved@cuilahore.edu.pk</a:t>
            </a:r>
            <a:endParaRPr lang="en-US" dirty="0"/>
          </a:p>
          <a:p>
            <a:endParaRPr lang="en-US" dirty="0"/>
          </a:p>
        </p:txBody>
      </p:sp>
    </p:spTree>
    <p:extLst>
      <p:ext uri="{BB962C8B-B14F-4D97-AF65-F5344CB8AC3E}">
        <p14:creationId xmlns:p14="http://schemas.microsoft.com/office/powerpoint/2010/main" val="707307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2298-78F5-4772-881E-6109FEE2542C}"/>
              </a:ext>
            </a:extLst>
          </p:cNvPr>
          <p:cNvSpPr>
            <a:spLocks noGrp="1"/>
          </p:cNvSpPr>
          <p:nvPr>
            <p:ph type="title"/>
          </p:nvPr>
        </p:nvSpPr>
        <p:spPr/>
        <p:txBody>
          <a:bodyPr/>
          <a:lstStyle/>
          <a:p>
            <a:r>
              <a:rPr lang="en-US" sz="4400" b="0" i="0" u="none" strike="noStrike" baseline="0" dirty="0">
                <a:latin typeface="Cisco-Light"/>
              </a:rPr>
              <a:t>Connecting Smart Objects</a:t>
            </a:r>
            <a:endParaRPr lang="en-US" dirty="0"/>
          </a:p>
        </p:txBody>
      </p:sp>
      <p:sp>
        <p:nvSpPr>
          <p:cNvPr id="3" name="Content Placeholder 2">
            <a:extLst>
              <a:ext uri="{FF2B5EF4-FFF2-40B4-BE49-F238E27FC236}">
                <a16:creationId xmlns:a16="http://schemas.microsoft.com/office/drawing/2014/main" id="{69360546-8625-4595-BE63-40A9E5922F3A}"/>
              </a:ext>
            </a:extLst>
          </p:cNvPr>
          <p:cNvSpPr>
            <a:spLocks noGrp="1"/>
          </p:cNvSpPr>
          <p:nvPr>
            <p:ph idx="1"/>
          </p:nvPr>
        </p:nvSpPr>
        <p:spPr>
          <a:xfrm>
            <a:off x="838200" y="1690688"/>
            <a:ext cx="10515600" cy="4507940"/>
          </a:xfrm>
        </p:spPr>
        <p:txBody>
          <a:bodyPr>
            <a:normAutofit/>
          </a:bodyPr>
          <a:lstStyle/>
          <a:p>
            <a:pPr algn="l"/>
            <a:r>
              <a:rPr lang="en-US" b="1" dirty="0"/>
              <a:t>Communication Criteria: </a:t>
            </a:r>
            <a:r>
              <a:rPr lang="en-US" sz="2800" b="0" i="0" u="none" strike="noStrike" baseline="0" dirty="0">
                <a:solidFill>
                  <a:srgbClr val="231F20"/>
                </a:solidFill>
                <a:latin typeface="CiscoSerif-Regular"/>
              </a:rPr>
              <a:t>The characteristics and attributes you should consider when selecting and dealing with connecting smart objects</a:t>
            </a:r>
            <a:endParaRPr lang="en-US" b="1" dirty="0"/>
          </a:p>
          <a:p>
            <a:r>
              <a:rPr lang="en-US" b="1" dirty="0"/>
              <a:t>IoT Access Technologies:</a:t>
            </a:r>
            <a:r>
              <a:rPr lang="en-US" dirty="0"/>
              <a:t> provides an in-depth look at some of the technologies that are considered when connecting smart objects</a:t>
            </a:r>
          </a:p>
        </p:txBody>
      </p:sp>
    </p:spTree>
    <p:extLst>
      <p:ext uri="{BB962C8B-B14F-4D97-AF65-F5344CB8AC3E}">
        <p14:creationId xmlns:p14="http://schemas.microsoft.com/office/powerpoint/2010/main" val="380393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8E39-1A1C-4389-9132-5404D9B85AD1}"/>
              </a:ext>
            </a:extLst>
          </p:cNvPr>
          <p:cNvSpPr>
            <a:spLocks noGrp="1"/>
          </p:cNvSpPr>
          <p:nvPr>
            <p:ph type="title"/>
          </p:nvPr>
        </p:nvSpPr>
        <p:spPr/>
        <p:txBody>
          <a:bodyPr/>
          <a:lstStyle/>
          <a:p>
            <a:r>
              <a:rPr lang="en-US" dirty="0">
                <a:solidFill>
                  <a:srgbClr val="231F20"/>
                </a:solidFill>
                <a:latin typeface="CiscoSerif-Regular"/>
              </a:rPr>
              <a:t>Communication Criteria</a:t>
            </a:r>
          </a:p>
        </p:txBody>
      </p:sp>
      <p:sp>
        <p:nvSpPr>
          <p:cNvPr id="3" name="Content Placeholder 2">
            <a:extLst>
              <a:ext uri="{FF2B5EF4-FFF2-40B4-BE49-F238E27FC236}">
                <a16:creationId xmlns:a16="http://schemas.microsoft.com/office/drawing/2014/main" id="{F929EBAF-B0D1-4BB6-8D36-EA7396887D49}"/>
              </a:ext>
            </a:extLst>
          </p:cNvPr>
          <p:cNvSpPr>
            <a:spLocks noGrp="1"/>
          </p:cNvSpPr>
          <p:nvPr>
            <p:ph idx="1"/>
          </p:nvPr>
        </p:nvSpPr>
        <p:spPr/>
        <p:txBody>
          <a:bodyPr>
            <a:normAutofit fontScale="92500" lnSpcReduction="20000"/>
          </a:bodyPr>
          <a:lstStyle/>
          <a:p>
            <a:r>
              <a:rPr lang="en-US" b="1" dirty="0"/>
              <a:t>Range</a:t>
            </a:r>
            <a:r>
              <a:rPr lang="en-US" dirty="0"/>
              <a:t>: This section examines the importance of signal propagation and distance.</a:t>
            </a:r>
          </a:p>
          <a:p>
            <a:r>
              <a:rPr lang="en-US" b="1" dirty="0"/>
              <a:t>Frequency Bands</a:t>
            </a:r>
            <a:r>
              <a:rPr lang="en-US" dirty="0"/>
              <a:t>: This section describes licensed and unlicensed spectrum, including sub-GHz frequencies.</a:t>
            </a:r>
          </a:p>
          <a:p>
            <a:r>
              <a:rPr lang="en-US" b="1" dirty="0"/>
              <a:t>Power Consumption</a:t>
            </a:r>
            <a:r>
              <a:rPr lang="en-US" dirty="0"/>
              <a:t>: This section discusses the considerations required for devices connected to a stable power source compared to those that are battery powered.</a:t>
            </a:r>
          </a:p>
          <a:p>
            <a:r>
              <a:rPr lang="en-US" b="1" dirty="0"/>
              <a:t>Topology</a:t>
            </a:r>
            <a:r>
              <a:rPr lang="en-US" dirty="0"/>
              <a:t>: This section highlights the various layouts that may be supported for connecting multiple smart objects.</a:t>
            </a:r>
          </a:p>
          <a:p>
            <a:r>
              <a:rPr lang="en-US" b="1" dirty="0"/>
              <a:t>Constrained Devices</a:t>
            </a:r>
            <a:r>
              <a:rPr lang="en-US" dirty="0"/>
              <a:t>: This section details the limitations of certain smart objects from a connectivity perspective.</a:t>
            </a:r>
          </a:p>
          <a:p>
            <a:r>
              <a:rPr lang="en-US" b="1" dirty="0"/>
              <a:t>Constrained-Node Networks</a:t>
            </a:r>
            <a:r>
              <a:rPr lang="en-US" dirty="0"/>
              <a:t>: This section highlights the challenges that are often encountered with networks connecting smart objects.</a:t>
            </a:r>
          </a:p>
        </p:txBody>
      </p:sp>
    </p:spTree>
    <p:extLst>
      <p:ext uri="{BB962C8B-B14F-4D97-AF65-F5344CB8AC3E}">
        <p14:creationId xmlns:p14="http://schemas.microsoft.com/office/powerpoint/2010/main" val="426627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BA62-81E8-47BE-B7E4-B356AC483B9B}"/>
              </a:ext>
            </a:extLst>
          </p:cNvPr>
          <p:cNvSpPr>
            <a:spLocks noGrp="1"/>
          </p:cNvSpPr>
          <p:nvPr>
            <p:ph type="title"/>
          </p:nvPr>
        </p:nvSpPr>
        <p:spPr/>
        <p:txBody>
          <a:bodyPr/>
          <a:lstStyle/>
          <a:p>
            <a:r>
              <a:rPr lang="en-US" sz="4400" b="0" i="0" u="none" strike="noStrike" baseline="0" dirty="0">
                <a:solidFill>
                  <a:srgbClr val="231F20"/>
                </a:solidFill>
                <a:latin typeface="CiscoSerif-Regular"/>
              </a:rPr>
              <a:t>IoT Access Technologies</a:t>
            </a:r>
            <a:endParaRPr lang="en-US" dirty="0"/>
          </a:p>
        </p:txBody>
      </p:sp>
      <p:sp>
        <p:nvSpPr>
          <p:cNvPr id="3" name="Content Placeholder 2">
            <a:extLst>
              <a:ext uri="{FF2B5EF4-FFF2-40B4-BE49-F238E27FC236}">
                <a16:creationId xmlns:a16="http://schemas.microsoft.com/office/drawing/2014/main" id="{9ADD0355-89D3-4717-A448-A0675CF737F4}"/>
              </a:ext>
            </a:extLst>
          </p:cNvPr>
          <p:cNvSpPr>
            <a:spLocks noGrp="1"/>
          </p:cNvSpPr>
          <p:nvPr>
            <p:ph idx="1"/>
          </p:nvPr>
        </p:nvSpPr>
        <p:spPr>
          <a:xfrm>
            <a:off x="838200" y="1690688"/>
            <a:ext cx="10515600" cy="4486275"/>
          </a:xfrm>
        </p:spPr>
        <p:txBody>
          <a:bodyPr>
            <a:normAutofit fontScale="85000" lnSpcReduction="20000"/>
          </a:bodyPr>
          <a:lstStyle/>
          <a:p>
            <a:pPr algn="l"/>
            <a:r>
              <a:rPr lang="en-US" sz="2800" b="1" i="0" u="none" strike="noStrike" baseline="0" dirty="0">
                <a:solidFill>
                  <a:srgbClr val="231F20"/>
                </a:solidFill>
                <a:latin typeface="CiscoSerif-Bold"/>
              </a:rPr>
              <a:t>IEEE 802.15.4: </a:t>
            </a:r>
            <a:r>
              <a:rPr lang="en-US" sz="2800" b="0" i="0" u="none" strike="noStrike" baseline="0" dirty="0">
                <a:solidFill>
                  <a:srgbClr val="231F20"/>
                </a:solidFill>
                <a:latin typeface="CiscoSerif-Regular"/>
              </a:rPr>
              <a:t>This section highlights IEEE 802.15.4, an older but foundational wireless protocol for connecting smart objects.</a:t>
            </a:r>
          </a:p>
          <a:p>
            <a:pPr algn="l"/>
            <a:r>
              <a:rPr lang="en-US" sz="2800" b="1" i="0" u="none" strike="noStrike" baseline="0" dirty="0">
                <a:solidFill>
                  <a:srgbClr val="231F20"/>
                </a:solidFill>
                <a:latin typeface="CiscoSerif-Bold"/>
              </a:rPr>
              <a:t>IEEE 802.15.4g and IEEE 802.15.4e: </a:t>
            </a:r>
            <a:r>
              <a:rPr lang="en-US" sz="2800" b="0" i="0" u="none" strike="noStrike" baseline="0" dirty="0">
                <a:solidFill>
                  <a:srgbClr val="231F20"/>
                </a:solidFill>
                <a:latin typeface="CiscoSerif-Regular"/>
              </a:rPr>
              <a:t>This section discusses improvements to 802.15.4 that are targeted to utilities and smart cities deployments.</a:t>
            </a:r>
          </a:p>
          <a:p>
            <a:pPr algn="l"/>
            <a:r>
              <a:rPr lang="en-US" sz="2800" b="1" i="0" u="none" strike="noStrike" baseline="0" dirty="0">
                <a:solidFill>
                  <a:srgbClr val="231F20"/>
                </a:solidFill>
                <a:latin typeface="CiscoSerif-Bold"/>
              </a:rPr>
              <a:t>IEEE 1901.2a: </a:t>
            </a:r>
            <a:r>
              <a:rPr lang="en-US" sz="2800" b="0" i="0" u="none" strike="noStrike" baseline="0" dirty="0">
                <a:solidFill>
                  <a:srgbClr val="231F20"/>
                </a:solidFill>
                <a:latin typeface="CiscoSerif-Regular"/>
              </a:rPr>
              <a:t>This section discusses IEEE 1901.2a, which is a technology for connecting smart objects over power lines.</a:t>
            </a:r>
          </a:p>
          <a:p>
            <a:pPr algn="l"/>
            <a:r>
              <a:rPr lang="en-US" sz="2800" b="1" i="0" u="none" strike="noStrike" baseline="0" dirty="0">
                <a:solidFill>
                  <a:srgbClr val="231F20"/>
                </a:solidFill>
                <a:latin typeface="CiscoSerif-Bold"/>
              </a:rPr>
              <a:t>IEEE 802.11ah: </a:t>
            </a:r>
            <a:r>
              <a:rPr lang="en-US" sz="2800" b="0" i="0" u="none" strike="noStrike" baseline="0" dirty="0">
                <a:solidFill>
                  <a:srgbClr val="231F20"/>
                </a:solidFill>
                <a:latin typeface="CiscoSerif-Regular"/>
              </a:rPr>
              <a:t>This section discusses IEEE 802.11ah, a technology built on the well-known 802.11 Wi-Fi standards that is specifically for smart objects.</a:t>
            </a:r>
          </a:p>
          <a:p>
            <a:pPr algn="l"/>
            <a:r>
              <a:rPr lang="en-US" sz="2800" b="1" i="0" u="none" strike="noStrike" baseline="0" dirty="0" err="1">
                <a:solidFill>
                  <a:srgbClr val="231F20"/>
                </a:solidFill>
                <a:latin typeface="CiscoSerif-Bold"/>
              </a:rPr>
              <a:t>LoRaWAN</a:t>
            </a:r>
            <a:r>
              <a:rPr lang="en-US" sz="2800" b="1" i="0" u="none" strike="noStrike" baseline="0" dirty="0">
                <a:solidFill>
                  <a:srgbClr val="231F20"/>
                </a:solidFill>
                <a:latin typeface="CiscoSerif-Bold"/>
              </a:rPr>
              <a:t>: </a:t>
            </a:r>
            <a:r>
              <a:rPr lang="en-US" sz="2800" b="0" i="0" u="none" strike="noStrike" baseline="0" dirty="0">
                <a:solidFill>
                  <a:srgbClr val="231F20"/>
                </a:solidFill>
                <a:latin typeface="CiscoSerif-Regular"/>
              </a:rPr>
              <a:t>This section discusses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a scalable technology designed for longer distances with low power requirements in the unlicensed spectrum.</a:t>
            </a:r>
          </a:p>
          <a:p>
            <a:pPr algn="l"/>
            <a:r>
              <a:rPr lang="en-US" sz="2800" b="1" i="0" u="none" strike="noStrike" baseline="0" dirty="0">
                <a:solidFill>
                  <a:srgbClr val="231F20"/>
                </a:solidFill>
                <a:latin typeface="CiscoSerif-Bold"/>
              </a:rPr>
              <a:t>NB-IoT and Other LTE Variations: </a:t>
            </a:r>
            <a:r>
              <a:rPr lang="en-US" sz="2800" b="0" i="0" u="none" strike="noStrike" baseline="0" dirty="0">
                <a:solidFill>
                  <a:srgbClr val="231F20"/>
                </a:solidFill>
                <a:latin typeface="CiscoSerif-Regular"/>
              </a:rPr>
              <a:t>This section discusses NB-IoT and other LTE variations, which are often the choice of mobile service providers looking to connect smart objects over longer distances in the licensed spectrum.</a:t>
            </a:r>
            <a:endParaRPr lang="en-US" dirty="0"/>
          </a:p>
        </p:txBody>
      </p:sp>
    </p:spTree>
    <p:extLst>
      <p:ext uri="{BB962C8B-B14F-4D97-AF65-F5344CB8AC3E}">
        <p14:creationId xmlns:p14="http://schemas.microsoft.com/office/powerpoint/2010/main" val="73365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634D-7B65-4E20-A1BB-11B297804970}"/>
              </a:ext>
            </a:extLst>
          </p:cNvPr>
          <p:cNvSpPr>
            <a:spLocks noGrp="1"/>
          </p:cNvSpPr>
          <p:nvPr>
            <p:ph type="title"/>
          </p:nvPr>
        </p:nvSpPr>
        <p:spPr/>
        <p:txBody>
          <a:bodyPr/>
          <a:lstStyle/>
          <a:p>
            <a:r>
              <a:rPr lang="en-US" sz="4400" b="1" i="0" u="none" strike="noStrike" baseline="0" dirty="0">
                <a:solidFill>
                  <a:srgbClr val="231F20"/>
                </a:solidFill>
                <a:latin typeface="Cisco-Bold"/>
              </a:rPr>
              <a:t>Communications Criteria</a:t>
            </a:r>
            <a:endParaRPr lang="en-US" dirty="0"/>
          </a:p>
        </p:txBody>
      </p:sp>
      <p:sp>
        <p:nvSpPr>
          <p:cNvPr id="3" name="Content Placeholder 2">
            <a:extLst>
              <a:ext uri="{FF2B5EF4-FFF2-40B4-BE49-F238E27FC236}">
                <a16:creationId xmlns:a16="http://schemas.microsoft.com/office/drawing/2014/main" id="{4636519B-4159-4AE5-82E8-E69C384A8AB9}"/>
              </a:ext>
            </a:extLst>
          </p:cNvPr>
          <p:cNvSpPr>
            <a:spLocks noGrp="1"/>
          </p:cNvSpPr>
          <p:nvPr>
            <p:ph idx="1"/>
          </p:nvPr>
        </p:nvSpPr>
        <p:spPr>
          <a:xfrm>
            <a:off x="838199" y="1879413"/>
            <a:ext cx="5257800" cy="4351338"/>
          </a:xfrm>
        </p:spPr>
        <p:txBody>
          <a:bodyPr/>
          <a:lstStyle/>
          <a:p>
            <a:pPr marL="0" indent="0">
              <a:buNone/>
            </a:pPr>
            <a:r>
              <a:rPr lang="en-US" b="1" dirty="0"/>
              <a:t>Range </a:t>
            </a:r>
          </a:p>
          <a:p>
            <a:pPr lvl="1"/>
            <a:r>
              <a:rPr lang="en-US" b="1" dirty="0"/>
              <a:t>How far does the signal need to be propagated? </a:t>
            </a:r>
          </a:p>
          <a:p>
            <a:pPr lvl="1"/>
            <a:r>
              <a:rPr lang="en-US" b="1" dirty="0"/>
              <a:t>Area of coverage for a selected wireless technology? </a:t>
            </a:r>
          </a:p>
          <a:p>
            <a:pPr lvl="1"/>
            <a:r>
              <a:rPr lang="en-US" b="1" dirty="0"/>
              <a:t>Should indoor vs outdoor deployments be differentiated?</a:t>
            </a:r>
          </a:p>
          <a:p>
            <a:pPr lvl="1"/>
            <a:r>
              <a:rPr lang="en-US" b="1" dirty="0"/>
              <a:t>Simplest answer is to categorize these technologies as shown in Figure 4.1</a:t>
            </a:r>
          </a:p>
        </p:txBody>
      </p:sp>
      <p:pic>
        <p:nvPicPr>
          <p:cNvPr id="7" name="Picture 6">
            <a:extLst>
              <a:ext uri="{FF2B5EF4-FFF2-40B4-BE49-F238E27FC236}">
                <a16:creationId xmlns:a16="http://schemas.microsoft.com/office/drawing/2014/main" id="{EC243B6E-9FF1-431A-B1E1-7519220FFC4F}"/>
              </a:ext>
            </a:extLst>
          </p:cNvPr>
          <p:cNvPicPr>
            <a:picLocks noChangeAspect="1"/>
          </p:cNvPicPr>
          <p:nvPr/>
        </p:nvPicPr>
        <p:blipFill>
          <a:blip r:embed="rId2"/>
          <a:stretch>
            <a:fillRect/>
          </a:stretch>
        </p:blipFill>
        <p:spPr>
          <a:xfrm>
            <a:off x="6096001" y="1690688"/>
            <a:ext cx="5257800" cy="4172230"/>
          </a:xfrm>
          <a:prstGeom prst="rect">
            <a:avLst/>
          </a:prstGeom>
        </p:spPr>
      </p:pic>
    </p:spTree>
    <p:extLst>
      <p:ext uri="{BB962C8B-B14F-4D97-AF65-F5344CB8AC3E}">
        <p14:creationId xmlns:p14="http://schemas.microsoft.com/office/powerpoint/2010/main" val="806359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DF30-0452-46AE-994B-FA29BB640314}"/>
              </a:ext>
            </a:extLst>
          </p:cNvPr>
          <p:cNvSpPr>
            <a:spLocks noGrp="1"/>
          </p:cNvSpPr>
          <p:nvPr>
            <p:ph type="title"/>
          </p:nvPr>
        </p:nvSpPr>
        <p:spPr/>
        <p:txBody>
          <a:bodyPr/>
          <a:lstStyle/>
          <a:p>
            <a:r>
              <a:rPr lang="en-US" b="1" dirty="0"/>
              <a:t>Communication Criteria-Range</a:t>
            </a:r>
          </a:p>
        </p:txBody>
      </p:sp>
      <p:sp>
        <p:nvSpPr>
          <p:cNvPr id="3" name="Content Placeholder 2">
            <a:extLst>
              <a:ext uri="{FF2B5EF4-FFF2-40B4-BE49-F238E27FC236}">
                <a16:creationId xmlns:a16="http://schemas.microsoft.com/office/drawing/2014/main" id="{B4E6C542-40D7-411C-8C93-FE3C992D8751}"/>
              </a:ext>
            </a:extLst>
          </p:cNvPr>
          <p:cNvSpPr>
            <a:spLocks noGrp="1"/>
          </p:cNvSpPr>
          <p:nvPr>
            <p:ph idx="1"/>
          </p:nvPr>
        </p:nvSpPr>
        <p:spPr/>
        <p:txBody>
          <a:bodyPr>
            <a:normAutofit fontScale="85000" lnSpcReduction="20000"/>
          </a:bodyPr>
          <a:lstStyle/>
          <a:p>
            <a:pPr algn="just"/>
            <a:r>
              <a:rPr lang="en-US" b="1" dirty="0"/>
              <a:t>Short range</a:t>
            </a:r>
            <a:r>
              <a:rPr lang="en-US" dirty="0"/>
              <a:t>: The classical wired example is a serial cable. Wireless short-range technologies are often considered as an alternative to a serial cable, supporting tens of meters of maximum distance between two devices. Examples of short-range wireless technologies are IEEE 802.15.1 Bluetooth and IEEE 802.15.7 Visible Light Communications (VLC).</a:t>
            </a:r>
          </a:p>
          <a:p>
            <a:pPr algn="just"/>
            <a:r>
              <a:rPr lang="en-US" sz="2800" b="1" i="0" u="none" strike="noStrike" baseline="0" dirty="0">
                <a:solidFill>
                  <a:srgbClr val="231F20"/>
                </a:solidFill>
                <a:latin typeface="CiscoSerif-Bold"/>
              </a:rPr>
              <a:t>Medium range: </a:t>
            </a:r>
            <a:r>
              <a:rPr lang="en-US" sz="2800" b="0" i="0" u="none" strike="noStrike" baseline="0" dirty="0">
                <a:solidFill>
                  <a:srgbClr val="231F20"/>
                </a:solidFill>
                <a:latin typeface="CiscoSerif-Regular"/>
              </a:rPr>
              <a:t>This range is the main category of IoT access technologies. In the range of tens to hundreds of meters, many specifications and implementations are available. The maximum distance is generally less than 1 mile between two devices, although RF technologies do not have real maximum distances defined, as long as the radio signal is transmitted and received in the scope of the applicable specification. Examples of medium-range wireless technologies include IEEE 802.11 Wi-Fi, IEEE 802.15.4, and 802.15.4g WPAN. Wired technologies such as IEEE 802.3 Ethernet and IEEE 1901.2 Narrowband Power Line Communications (PLC) may also be classified as medium range, depending on their physical media characteristics.</a:t>
            </a:r>
            <a:endParaRPr lang="en-US" dirty="0"/>
          </a:p>
        </p:txBody>
      </p:sp>
    </p:spTree>
    <p:extLst>
      <p:ext uri="{BB962C8B-B14F-4D97-AF65-F5344CB8AC3E}">
        <p14:creationId xmlns:p14="http://schemas.microsoft.com/office/powerpoint/2010/main" val="323503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DF30-0452-46AE-994B-FA29BB640314}"/>
              </a:ext>
            </a:extLst>
          </p:cNvPr>
          <p:cNvSpPr>
            <a:spLocks noGrp="1"/>
          </p:cNvSpPr>
          <p:nvPr>
            <p:ph type="title"/>
          </p:nvPr>
        </p:nvSpPr>
        <p:spPr/>
        <p:txBody>
          <a:bodyPr/>
          <a:lstStyle/>
          <a:p>
            <a:r>
              <a:rPr lang="en-US" b="1" dirty="0"/>
              <a:t>Communication Criteria-Range</a:t>
            </a:r>
          </a:p>
        </p:txBody>
      </p:sp>
      <p:sp>
        <p:nvSpPr>
          <p:cNvPr id="3" name="Content Placeholder 2">
            <a:extLst>
              <a:ext uri="{FF2B5EF4-FFF2-40B4-BE49-F238E27FC236}">
                <a16:creationId xmlns:a16="http://schemas.microsoft.com/office/drawing/2014/main" id="{B4E6C542-40D7-411C-8C93-FE3C992D8751}"/>
              </a:ext>
            </a:extLst>
          </p:cNvPr>
          <p:cNvSpPr>
            <a:spLocks noGrp="1"/>
          </p:cNvSpPr>
          <p:nvPr>
            <p:ph idx="1"/>
          </p:nvPr>
        </p:nvSpPr>
        <p:spPr/>
        <p:txBody>
          <a:bodyPr>
            <a:normAutofit/>
          </a:bodyPr>
          <a:lstStyle/>
          <a:p>
            <a:pPr algn="just"/>
            <a:r>
              <a:rPr lang="en-US" sz="2400" b="1" i="0" u="none" strike="noStrike" baseline="0" dirty="0">
                <a:solidFill>
                  <a:srgbClr val="231F20"/>
                </a:solidFill>
                <a:latin typeface="CiscoSerif-Bold"/>
              </a:rPr>
              <a:t>Long range: </a:t>
            </a:r>
            <a:r>
              <a:rPr lang="en-US" sz="2400" b="0" i="0" u="none" strike="noStrike" baseline="0" dirty="0">
                <a:solidFill>
                  <a:srgbClr val="231F20"/>
                </a:solidFill>
                <a:latin typeface="CiscoSerif-Regular"/>
              </a:rPr>
              <a:t>Distances greater than 1 mile between two devices require long-range technologies. Wireless examples are cellular (2G, 3G, 4G) and some applications of outdoor IEEE 802.11 Wi-Fi and Low-Power Wide-Area (LPWA) technologies. LPWA communications have the ability to communicate over a large area without consuming much power. These technologies are therefore ideal for battery-powered IoT sensors. Found mainly in industrial networks, IEEE 802.3 over optical fiber and IEEE 1901 Broadband Power Line Communications are classified as long range</a:t>
            </a:r>
            <a:endParaRPr lang="en-US" sz="2400" dirty="0"/>
          </a:p>
        </p:txBody>
      </p:sp>
    </p:spTree>
    <p:extLst>
      <p:ext uri="{BB962C8B-B14F-4D97-AF65-F5344CB8AC3E}">
        <p14:creationId xmlns:p14="http://schemas.microsoft.com/office/powerpoint/2010/main" val="1941646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AE83-2383-41E8-8D92-0F82F7FC67FE}"/>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Frequency Bands</a:t>
            </a:r>
            <a:endParaRPr lang="en-US" dirty="0"/>
          </a:p>
        </p:txBody>
      </p:sp>
      <p:sp>
        <p:nvSpPr>
          <p:cNvPr id="3" name="Content Placeholder 2">
            <a:extLst>
              <a:ext uri="{FF2B5EF4-FFF2-40B4-BE49-F238E27FC236}">
                <a16:creationId xmlns:a16="http://schemas.microsoft.com/office/drawing/2014/main" id="{BBBE6E26-51DA-4D9E-BEFF-AF6915A1AF67}"/>
              </a:ext>
            </a:extLst>
          </p:cNvPr>
          <p:cNvSpPr>
            <a:spLocks noGrp="1"/>
          </p:cNvSpPr>
          <p:nvPr>
            <p:ph idx="1"/>
          </p:nvPr>
        </p:nvSpPr>
        <p:spPr/>
        <p:txBody>
          <a:bodyPr>
            <a:normAutofit fontScale="92500" lnSpcReduction="20000"/>
          </a:bodyPr>
          <a:lstStyle/>
          <a:p>
            <a:pPr algn="l"/>
            <a:r>
              <a:rPr lang="en-US" dirty="0">
                <a:solidFill>
                  <a:srgbClr val="231F20"/>
                </a:solidFill>
                <a:latin typeface="CiscoSerif-Regular"/>
              </a:rPr>
              <a:t>T</a:t>
            </a:r>
            <a:r>
              <a:rPr lang="en-US" sz="2800" b="0" i="0" u="none" strike="noStrike" baseline="0" dirty="0">
                <a:solidFill>
                  <a:srgbClr val="231F20"/>
                </a:solidFill>
                <a:latin typeface="CiscoSerif-Regular"/>
              </a:rPr>
              <a:t>he frequency bands leveraged by wireless communications are split between </a:t>
            </a:r>
            <a:r>
              <a:rPr lang="en-US" sz="2800" b="1" i="0" u="none" strike="noStrike" baseline="0" dirty="0">
                <a:solidFill>
                  <a:srgbClr val="231F20"/>
                </a:solidFill>
                <a:latin typeface="CiscoSerif-Regular"/>
              </a:rPr>
              <a:t>licensed</a:t>
            </a:r>
            <a:r>
              <a:rPr lang="en-US" sz="2800" b="0" i="0" u="none" strike="noStrike" baseline="0" dirty="0">
                <a:solidFill>
                  <a:srgbClr val="231F20"/>
                </a:solidFill>
                <a:latin typeface="CiscoSerif-Regular"/>
              </a:rPr>
              <a:t> and </a:t>
            </a:r>
            <a:r>
              <a:rPr lang="en-US" sz="2800" b="1" i="0" u="none" strike="noStrike" baseline="0" dirty="0">
                <a:solidFill>
                  <a:srgbClr val="231F20"/>
                </a:solidFill>
                <a:latin typeface="CiscoSerif-Regular"/>
              </a:rPr>
              <a:t>unlicensed</a:t>
            </a:r>
            <a:r>
              <a:rPr lang="en-US" sz="2800" b="0" i="0" u="none" strike="noStrike" baseline="0" dirty="0">
                <a:solidFill>
                  <a:srgbClr val="231F20"/>
                </a:solidFill>
                <a:latin typeface="CiscoSerif-Regular"/>
              </a:rPr>
              <a:t> bands</a:t>
            </a:r>
          </a:p>
          <a:p>
            <a:pPr algn="just"/>
            <a:r>
              <a:rPr lang="en-US" sz="2800" b="0" i="0" u="none" strike="noStrike" baseline="0" dirty="0">
                <a:solidFill>
                  <a:srgbClr val="231F20"/>
                </a:solidFill>
                <a:latin typeface="CiscoSerif-Regular"/>
              </a:rPr>
              <a:t>Licensed spectrum is generally applicable to IoT long-range access technologies and allocated to communications infrastructures deployed by services providers, public services (for example, first responders, military), broadcasters, and utilities.</a:t>
            </a:r>
          </a:p>
          <a:p>
            <a:pPr algn="just"/>
            <a:r>
              <a:rPr lang="en-US" dirty="0">
                <a:solidFill>
                  <a:srgbClr val="231F20"/>
                </a:solidFill>
                <a:latin typeface="CiscoSerif-Regular"/>
              </a:rPr>
              <a:t>In licensed spectrum, </a:t>
            </a:r>
            <a:r>
              <a:rPr lang="en-US" sz="2800" b="0" i="0" u="none" strike="noStrike" baseline="0" dirty="0">
                <a:solidFill>
                  <a:srgbClr val="231F20"/>
                </a:solidFill>
                <a:latin typeface="CiscoSerif-Regular"/>
              </a:rPr>
              <a:t>users must subscribe to services when connecting their IoT devices</a:t>
            </a:r>
          </a:p>
          <a:p>
            <a:pPr algn="l"/>
            <a:r>
              <a:rPr lang="en-US" dirty="0">
                <a:solidFill>
                  <a:srgbClr val="231F20"/>
                </a:solidFill>
                <a:latin typeface="CiscoSerif-Regular"/>
              </a:rPr>
              <a:t>I</a:t>
            </a:r>
            <a:r>
              <a:rPr lang="en-US" sz="2800" b="0" i="0" u="none" strike="noStrike" baseline="0" dirty="0">
                <a:solidFill>
                  <a:srgbClr val="231F20"/>
                </a:solidFill>
                <a:latin typeface="CiscoSerif-Regular"/>
              </a:rPr>
              <a:t>n exchange for the subscription fee, the network operator can guarantee the exclusivity of the frequency usage over the target area and can therefore sell a better guarantee of service</a:t>
            </a:r>
          </a:p>
          <a:p>
            <a:pPr algn="l"/>
            <a:r>
              <a:rPr lang="en-US" sz="2800" b="0" i="0" u="none" strike="noStrike" baseline="0" dirty="0">
                <a:solidFill>
                  <a:srgbClr val="231F20"/>
                </a:solidFill>
                <a:latin typeface="CiscoSerif-Regular"/>
              </a:rPr>
              <a:t>Examples of licensed spectrum commonly used for IoT access are cellular, WiMAX, and Narrowband IoT (NB-IoT) technologies</a:t>
            </a:r>
            <a:endParaRPr lang="en-US" dirty="0"/>
          </a:p>
        </p:txBody>
      </p:sp>
    </p:spTree>
    <p:extLst>
      <p:ext uri="{BB962C8B-B14F-4D97-AF65-F5344CB8AC3E}">
        <p14:creationId xmlns:p14="http://schemas.microsoft.com/office/powerpoint/2010/main" val="2350667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4DF4-CFE2-4FE7-8FA4-0999829C56D0}"/>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Frequency Bands</a:t>
            </a:r>
            <a:endParaRPr lang="en-US" dirty="0"/>
          </a:p>
        </p:txBody>
      </p:sp>
      <p:sp>
        <p:nvSpPr>
          <p:cNvPr id="3" name="Content Placeholder 2">
            <a:extLst>
              <a:ext uri="{FF2B5EF4-FFF2-40B4-BE49-F238E27FC236}">
                <a16:creationId xmlns:a16="http://schemas.microsoft.com/office/drawing/2014/main" id="{CB50AEBC-B1F0-45B6-BEBA-EBDBEF843285}"/>
              </a:ext>
            </a:extLst>
          </p:cNvPr>
          <p:cNvSpPr>
            <a:spLocks noGrp="1"/>
          </p:cNvSpPr>
          <p:nvPr>
            <p:ph idx="1"/>
          </p:nvPr>
        </p:nvSpPr>
        <p:spPr/>
        <p:txBody>
          <a:bodyPr>
            <a:normAutofit fontScale="70000" lnSpcReduction="20000"/>
          </a:bodyPr>
          <a:lstStyle/>
          <a:p>
            <a:pPr algn="l"/>
            <a:r>
              <a:rPr lang="en-US" sz="2800" b="0" i="0" u="none" strike="noStrike" baseline="0" dirty="0">
                <a:solidFill>
                  <a:srgbClr val="231F20"/>
                </a:solidFill>
                <a:latin typeface="CiscoSerif-Regular"/>
              </a:rPr>
              <a:t>International Telecommunication Union (ITU) has also defined unlicensed spectrum for the industrial, scientific, and medical (ISM) portions of the radio bands</a:t>
            </a:r>
          </a:p>
          <a:p>
            <a:pPr algn="l"/>
            <a:r>
              <a:rPr lang="en-US" sz="2800" b="0" i="1" u="none" strike="noStrike" baseline="0" dirty="0">
                <a:solidFill>
                  <a:srgbClr val="231F20"/>
                </a:solidFill>
                <a:latin typeface="CiscoSerif-Italic-Regular"/>
              </a:rPr>
              <a:t>Unlicensed </a:t>
            </a:r>
            <a:r>
              <a:rPr lang="en-US" sz="2800" b="0" i="0" u="none" strike="noStrike" baseline="0" dirty="0">
                <a:solidFill>
                  <a:srgbClr val="231F20"/>
                </a:solidFill>
                <a:latin typeface="CiscoSerif-Regular"/>
              </a:rPr>
              <a:t>means that no guarantees or protections are offered in the ISM bands for device communications. For IoT access, these are the most well-known ISM bands:</a:t>
            </a:r>
          </a:p>
          <a:p>
            <a:pPr lvl="1">
              <a:buFont typeface="Courier New" panose="02070309020205020404" pitchFamily="49" charset="0"/>
              <a:buChar char="o"/>
            </a:pPr>
            <a:r>
              <a:rPr lang="en-US" b="0" i="0" u="none" strike="noStrike" baseline="0" dirty="0">
                <a:solidFill>
                  <a:srgbClr val="231F20"/>
                </a:solidFill>
                <a:latin typeface="CiscoSerif-Regular"/>
              </a:rPr>
              <a:t>2.4 GHz band as used by IEEE 802.11b/g/n Wi-Fi</a:t>
            </a:r>
          </a:p>
          <a:p>
            <a:pPr lvl="1">
              <a:buFont typeface="Courier New" panose="02070309020205020404" pitchFamily="49" charset="0"/>
              <a:buChar char="o"/>
            </a:pPr>
            <a:r>
              <a:rPr lang="en-US" b="0" i="0" u="none" strike="noStrike" baseline="0" dirty="0">
                <a:solidFill>
                  <a:srgbClr val="231F20"/>
                </a:solidFill>
                <a:latin typeface="CiscoSerif-Regular"/>
              </a:rPr>
              <a:t>IEEE 802.15.1 Bluetooth</a:t>
            </a:r>
          </a:p>
          <a:p>
            <a:pPr lvl="1">
              <a:buFont typeface="Courier New" panose="02070309020205020404" pitchFamily="49" charset="0"/>
              <a:buChar char="o"/>
            </a:pPr>
            <a:r>
              <a:rPr lang="en-US" b="0" i="0" u="none" strike="noStrike" baseline="0" dirty="0">
                <a:solidFill>
                  <a:srgbClr val="231F20"/>
                </a:solidFill>
                <a:latin typeface="CiscoSerif-Regular"/>
              </a:rPr>
              <a:t>IEEE 802.15.4 WPAN</a:t>
            </a:r>
          </a:p>
          <a:p>
            <a:pPr algn="l"/>
            <a:r>
              <a:rPr lang="en-US" dirty="0">
                <a:solidFill>
                  <a:srgbClr val="231F20"/>
                </a:solidFill>
                <a:latin typeface="CiscoSerif-Regular"/>
              </a:rPr>
              <a:t>National and regional regulations exists for unlicensed frequency bands. </a:t>
            </a:r>
            <a:r>
              <a:rPr lang="en-US" sz="2800" b="0" i="0" u="none" strike="noStrike" baseline="0" dirty="0">
                <a:solidFill>
                  <a:srgbClr val="231F20"/>
                </a:solidFill>
                <a:latin typeface="CiscoSerif-Regular"/>
              </a:rPr>
              <a:t>These regulations mandate device compliance on parameters such as transmit power, duty cycle and dwell time, channel bandwidth, and channel hopping</a:t>
            </a:r>
          </a:p>
          <a:p>
            <a:pPr algn="l"/>
            <a:r>
              <a:rPr lang="en-US" dirty="0">
                <a:solidFill>
                  <a:srgbClr val="231F20"/>
                </a:solidFill>
                <a:latin typeface="CiscoSerif-Regular"/>
              </a:rPr>
              <a:t>Licensed or unlicensed? </a:t>
            </a:r>
            <a:r>
              <a:rPr lang="en-US" sz="2800" b="0" i="0" u="none" strike="noStrike" baseline="0" dirty="0">
                <a:solidFill>
                  <a:srgbClr val="231F20"/>
                </a:solidFill>
                <a:latin typeface="CiscoSerif-Regular"/>
              </a:rPr>
              <a:t>LPWA communications are able to cover long distances that in the past required the licensed bands offered by service providers for cellular devices</a:t>
            </a:r>
          </a:p>
          <a:p>
            <a:pPr algn="l"/>
            <a:r>
              <a:rPr lang="en-US" sz="2800" b="0" i="0" u="none" strike="noStrike" baseline="0" dirty="0">
                <a:solidFill>
                  <a:srgbClr val="231F20"/>
                </a:solidFill>
                <a:latin typeface="CiscoSerif-Regular"/>
              </a:rPr>
              <a:t>Sub-GHz bands are used by protocols such as IEEE 802.15.4, 802.15.4g, and 802.11ah, and LPWA technologies such as LoRa and Sigfox.</a:t>
            </a:r>
          </a:p>
          <a:p>
            <a:pPr algn="l"/>
            <a:r>
              <a:rPr lang="en-US" dirty="0">
                <a:solidFill>
                  <a:srgbClr val="231F20"/>
                </a:solidFill>
                <a:latin typeface="CiscoSerif-Regular"/>
              </a:rPr>
              <a:t>Sub-GHz frequency bands allow greater distance. These bands have a greater ability than the 2.4 GHZ ISM band to penetrate building infrastructures.</a:t>
            </a:r>
            <a:endParaRPr lang="en-US" sz="2800" b="0" i="0" u="none" strike="noStrike" baseline="0" dirty="0">
              <a:solidFill>
                <a:srgbClr val="231F20"/>
              </a:solidFill>
              <a:latin typeface="CiscoSerif-Regular"/>
            </a:endParaRPr>
          </a:p>
        </p:txBody>
      </p:sp>
    </p:spTree>
    <p:extLst>
      <p:ext uri="{BB962C8B-B14F-4D97-AF65-F5344CB8AC3E}">
        <p14:creationId xmlns:p14="http://schemas.microsoft.com/office/powerpoint/2010/main" val="357513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4DF4-CFE2-4FE7-8FA4-0999829C56D0}"/>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Frequency Bands</a:t>
            </a:r>
            <a:endParaRPr lang="en-US" dirty="0"/>
          </a:p>
        </p:txBody>
      </p:sp>
      <p:sp>
        <p:nvSpPr>
          <p:cNvPr id="3" name="Content Placeholder 2">
            <a:extLst>
              <a:ext uri="{FF2B5EF4-FFF2-40B4-BE49-F238E27FC236}">
                <a16:creationId xmlns:a16="http://schemas.microsoft.com/office/drawing/2014/main" id="{CB50AEBC-B1F0-45B6-BEBA-EBDBEF843285}"/>
              </a:ext>
            </a:extLst>
          </p:cNvPr>
          <p:cNvSpPr>
            <a:spLocks noGrp="1"/>
          </p:cNvSpPr>
          <p:nvPr>
            <p:ph idx="1"/>
          </p:nvPr>
        </p:nvSpPr>
        <p:spPr/>
        <p:txBody>
          <a:bodyPr>
            <a:normAutofit lnSpcReduction="10000"/>
          </a:bodyPr>
          <a:lstStyle/>
          <a:p>
            <a:pPr algn="just"/>
            <a:r>
              <a:rPr lang="en-US" dirty="0">
                <a:solidFill>
                  <a:srgbClr val="231F20"/>
                </a:solidFill>
                <a:latin typeface="CiscoSerif-Regular"/>
              </a:rPr>
              <a:t>D</a:t>
            </a:r>
            <a:r>
              <a:rPr lang="en-US" sz="2800" b="0" i="0" u="none" strike="noStrike" baseline="0" dirty="0">
                <a:solidFill>
                  <a:srgbClr val="231F20"/>
                </a:solidFill>
                <a:latin typeface="CiscoSerif-Regular"/>
              </a:rPr>
              <a:t>isadvantage of sub-GHz frequency bands is lower data rate</a:t>
            </a:r>
          </a:p>
          <a:p>
            <a:pPr algn="just"/>
            <a:r>
              <a:rPr lang="en-US" dirty="0">
                <a:solidFill>
                  <a:srgbClr val="231F20"/>
                </a:solidFill>
                <a:latin typeface="CiscoSerif-Regular"/>
              </a:rPr>
              <a:t>I</a:t>
            </a:r>
            <a:r>
              <a:rPr lang="en-US" sz="2800" b="0" i="0" u="none" strike="noStrike" baseline="0" dirty="0">
                <a:solidFill>
                  <a:srgbClr val="231F20"/>
                </a:solidFill>
                <a:latin typeface="CiscoSerif-Regular"/>
              </a:rPr>
              <a:t>n most European countries, the 169 MHz band is often considered best suited for wireless water and gas metering applications. This is due to its good deep building basement signal penetration.</a:t>
            </a:r>
          </a:p>
          <a:p>
            <a:pPr algn="just"/>
            <a:r>
              <a:rPr lang="en-US" sz="2800" b="0" i="0" u="none" strike="noStrike" baseline="0" dirty="0">
                <a:solidFill>
                  <a:srgbClr val="231F20"/>
                </a:solidFill>
                <a:latin typeface="CiscoSerif-Regular"/>
              </a:rPr>
              <a:t>Several sub-GHz ranges have been defined in the ISM band. The most well-known ranges are centered on 169 MHz, 433 MHz, 868 MHz, and 915 </a:t>
            </a:r>
            <a:r>
              <a:rPr lang="en-US" sz="2800" b="0" i="0" u="none" strike="noStrike" baseline="0" dirty="0" err="1">
                <a:solidFill>
                  <a:srgbClr val="231F20"/>
                </a:solidFill>
                <a:latin typeface="CiscoSerif-Regular"/>
              </a:rPr>
              <a:t>MHz.</a:t>
            </a:r>
            <a:endParaRPr lang="en-US" sz="2800" b="0" i="0" u="none" strike="noStrike" baseline="0" dirty="0">
              <a:solidFill>
                <a:srgbClr val="231F20"/>
              </a:solidFill>
              <a:latin typeface="CiscoSerif-Regular"/>
            </a:endParaRPr>
          </a:p>
          <a:p>
            <a:pPr algn="just"/>
            <a:r>
              <a:rPr lang="en-US" sz="2800" b="1" i="0" u="none" strike="noStrike" baseline="0" dirty="0">
                <a:solidFill>
                  <a:srgbClr val="231F20"/>
                </a:solidFill>
                <a:latin typeface="Cisco-Bold"/>
              </a:rPr>
              <a:t>Note </a:t>
            </a:r>
            <a:r>
              <a:rPr lang="en-US" sz="2800" b="0" i="0" u="none" strike="noStrike" baseline="0" dirty="0">
                <a:solidFill>
                  <a:srgbClr val="231F20"/>
                </a:solidFill>
                <a:latin typeface="CiscoSerif-Regular"/>
              </a:rPr>
              <a:t>Countries may also specify other unlicensed bands. For example, China has provisioned the 779–787 MHz spectrum as documented in 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1.0 specifications and IEEE 802.15.4g standard.</a:t>
            </a:r>
          </a:p>
          <a:p>
            <a:pPr algn="l"/>
            <a:endParaRPr lang="en-US" sz="2800" b="0" i="0" u="none" strike="noStrike" baseline="0" dirty="0">
              <a:solidFill>
                <a:srgbClr val="231F20"/>
              </a:solidFill>
              <a:latin typeface="CiscoSerif-Regular"/>
            </a:endParaRPr>
          </a:p>
        </p:txBody>
      </p:sp>
    </p:spTree>
    <p:extLst>
      <p:ext uri="{BB962C8B-B14F-4D97-AF65-F5344CB8AC3E}">
        <p14:creationId xmlns:p14="http://schemas.microsoft.com/office/powerpoint/2010/main" val="2030023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4DF4-CFE2-4FE7-8FA4-0999829C56D0}"/>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Frequency Bands</a:t>
            </a:r>
            <a:endParaRPr lang="en-US" dirty="0"/>
          </a:p>
        </p:txBody>
      </p:sp>
      <p:sp>
        <p:nvSpPr>
          <p:cNvPr id="3" name="Content Placeholder 2">
            <a:extLst>
              <a:ext uri="{FF2B5EF4-FFF2-40B4-BE49-F238E27FC236}">
                <a16:creationId xmlns:a16="http://schemas.microsoft.com/office/drawing/2014/main" id="{CB50AEBC-B1F0-45B6-BEBA-EBDBEF843285}"/>
              </a:ext>
            </a:extLst>
          </p:cNvPr>
          <p:cNvSpPr>
            <a:spLocks noGrp="1"/>
          </p:cNvSpPr>
          <p:nvPr>
            <p:ph idx="1"/>
          </p:nvPr>
        </p:nvSpPr>
        <p:spPr/>
        <p:txBody>
          <a:bodyPr>
            <a:normAutofit fontScale="85000" lnSpcReduction="20000"/>
          </a:bodyPr>
          <a:lstStyle/>
          <a:p>
            <a:pPr algn="l"/>
            <a:r>
              <a:rPr lang="en-US" sz="2800" b="0" i="0" u="none" strike="noStrike" baseline="0" dirty="0">
                <a:solidFill>
                  <a:srgbClr val="231F20"/>
                </a:solidFill>
                <a:latin typeface="CiscoSerif-Regular"/>
              </a:rPr>
              <a:t>European Conference of Postal and Telecommunications Administrations (CEPT), in the European Radiocommunications Committee (ERC) Recommendation 70-03, defines the 868 MHz frequency band</a:t>
            </a:r>
          </a:p>
          <a:p>
            <a:pPr algn="l"/>
            <a:r>
              <a:rPr lang="en-US" sz="2800" b="0" i="0" u="none" strike="noStrike" baseline="0" dirty="0">
                <a:solidFill>
                  <a:srgbClr val="231F20"/>
                </a:solidFill>
                <a:latin typeface="CiscoSerif-Regular"/>
              </a:rPr>
              <a:t>European countries generally apply Recommendation 70-03 to their national telecommunications regulations, but the 868 MHz definition is also applicable to regions and countries outside Europe. Examples: India, Middle East, Africa and Russia</a:t>
            </a:r>
          </a:p>
          <a:p>
            <a:pPr algn="l"/>
            <a:r>
              <a:rPr lang="en-US" sz="2800" b="0" i="0" u="none" strike="noStrike" baseline="0" dirty="0">
                <a:solidFill>
                  <a:srgbClr val="231F20"/>
                </a:solidFill>
                <a:latin typeface="CiscoSerif-Regular"/>
              </a:rPr>
              <a:t>Recommendation 70-03 mostly characterizes the use of the 863–870 MHz band, the allowed transmit power, or EIRP (effective isotropic radiated power), and duty cycle (that is, the percentage of time a device can be active in transmission)</a:t>
            </a:r>
          </a:p>
          <a:p>
            <a:pPr algn="l"/>
            <a:r>
              <a:rPr lang="en-US" sz="2800" b="0" i="0" u="none" strike="noStrike" baseline="0" dirty="0">
                <a:solidFill>
                  <a:srgbClr val="231F20"/>
                </a:solidFill>
                <a:latin typeface="CiscoSerif-Regular"/>
              </a:rPr>
              <a:t>EIRP is the amount of power that an antenna would emit to produce the peak power density observed in the direction of maximum antenna gain</a:t>
            </a:r>
          </a:p>
          <a:p>
            <a:pPr algn="l"/>
            <a:r>
              <a:rPr lang="en-US" sz="2800" b="0" i="0" u="none" strike="noStrike" baseline="0" dirty="0">
                <a:solidFill>
                  <a:srgbClr val="231F20"/>
                </a:solidFill>
                <a:latin typeface="CiscoSerif-Regular"/>
              </a:rPr>
              <a:t>Centered on 915 MHz, the 902–928 MHz frequency band is the main unlicensed sub-GHz band available in North America, Australia and Japan</a:t>
            </a:r>
          </a:p>
          <a:p>
            <a:pPr algn="l"/>
            <a:endParaRPr lang="en-US" sz="2800" b="0" i="0" u="none" strike="noStrike" baseline="0" dirty="0">
              <a:solidFill>
                <a:srgbClr val="231F20"/>
              </a:solidFill>
              <a:latin typeface="CiscoSerif-Regular"/>
            </a:endParaRPr>
          </a:p>
        </p:txBody>
      </p:sp>
    </p:spTree>
    <p:extLst>
      <p:ext uri="{BB962C8B-B14F-4D97-AF65-F5344CB8AC3E}">
        <p14:creationId xmlns:p14="http://schemas.microsoft.com/office/powerpoint/2010/main" val="100152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4DF4-CFE2-4FE7-8FA4-0999829C56D0}"/>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Power Consumption</a:t>
            </a:r>
            <a:endParaRPr lang="en-US" dirty="0"/>
          </a:p>
        </p:txBody>
      </p:sp>
      <p:sp>
        <p:nvSpPr>
          <p:cNvPr id="3" name="Content Placeholder 2">
            <a:extLst>
              <a:ext uri="{FF2B5EF4-FFF2-40B4-BE49-F238E27FC236}">
                <a16:creationId xmlns:a16="http://schemas.microsoft.com/office/drawing/2014/main" id="{CB50AEBC-B1F0-45B6-BEBA-EBDBEF843285}"/>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IoT wireless access technologies must address the needs of low power consumption and connectivity for battery-powered nodes</a:t>
            </a:r>
          </a:p>
          <a:p>
            <a:pPr algn="l"/>
            <a:r>
              <a:rPr lang="en-US" sz="2800" b="0" i="0" u="none" strike="noStrike" baseline="0" dirty="0">
                <a:solidFill>
                  <a:srgbClr val="231F20"/>
                </a:solidFill>
                <a:latin typeface="CiscoSerif-Regular"/>
              </a:rPr>
              <a:t>This has led to the evolution of a new wireless environment known as Low-Power Wide-Area (LPWA)</a:t>
            </a:r>
          </a:p>
          <a:p>
            <a:pPr algn="l"/>
            <a:r>
              <a:rPr lang="en-US" sz="2800" b="0" i="0" u="none" strike="noStrike" baseline="0" dirty="0">
                <a:solidFill>
                  <a:srgbClr val="231F20"/>
                </a:solidFill>
                <a:latin typeface="CiscoSerif-Regular"/>
              </a:rPr>
              <a:t>Wired IoT access technologies consisting of powered nodes are not exempt from power optimization</a:t>
            </a:r>
          </a:p>
          <a:p>
            <a:pPr algn="l"/>
            <a:r>
              <a:rPr lang="en-US" sz="2800" b="0" i="0" u="none" strike="noStrike" baseline="0" dirty="0">
                <a:solidFill>
                  <a:srgbClr val="231F20"/>
                </a:solidFill>
                <a:latin typeface="CiscoSerif-Regular"/>
              </a:rPr>
              <a:t>Smart meter over PLC can’t consume 5 to 10 watts of power. For 20 million meters deployment, 100 to 200 megawatts of energy will be consumed.</a:t>
            </a:r>
          </a:p>
        </p:txBody>
      </p:sp>
    </p:spTree>
    <p:extLst>
      <p:ext uri="{BB962C8B-B14F-4D97-AF65-F5344CB8AC3E}">
        <p14:creationId xmlns:p14="http://schemas.microsoft.com/office/powerpoint/2010/main" val="2239331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731DD-2F98-4B56-BFC7-12FFA3E90351}"/>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Topology</a:t>
            </a:r>
            <a:endParaRPr lang="en-US" dirty="0"/>
          </a:p>
        </p:txBody>
      </p:sp>
      <p:sp>
        <p:nvSpPr>
          <p:cNvPr id="3" name="Content Placeholder 2">
            <a:extLst>
              <a:ext uri="{FF2B5EF4-FFF2-40B4-BE49-F238E27FC236}">
                <a16:creationId xmlns:a16="http://schemas.microsoft.com/office/drawing/2014/main" id="{E45C03E7-34A9-455C-A124-5909969689FB}"/>
              </a:ext>
            </a:extLst>
          </p:cNvPr>
          <p:cNvSpPr>
            <a:spLocks noGrp="1"/>
          </p:cNvSpPr>
          <p:nvPr>
            <p:ph idx="1"/>
          </p:nvPr>
        </p:nvSpPr>
        <p:spPr/>
        <p:txBody>
          <a:bodyPr>
            <a:normAutofit lnSpcReduction="10000"/>
          </a:bodyPr>
          <a:lstStyle/>
          <a:p>
            <a:pPr algn="l"/>
            <a:r>
              <a:rPr lang="en-US" sz="2800" b="0" i="0" u="none" strike="noStrike" baseline="0" dirty="0">
                <a:solidFill>
                  <a:srgbClr val="231F20"/>
                </a:solidFill>
                <a:latin typeface="CiscoSerif-Regular"/>
              </a:rPr>
              <a:t>three main topology schemes are dominant: star, mesh, and peer-to-peer</a:t>
            </a:r>
          </a:p>
          <a:p>
            <a:pPr algn="l"/>
            <a:r>
              <a:rPr lang="en-US" sz="2800" b="0" i="0" u="none" strike="noStrike" baseline="0" dirty="0">
                <a:solidFill>
                  <a:srgbClr val="231F20"/>
                </a:solidFill>
                <a:latin typeface="CiscoSerif-Regular"/>
              </a:rPr>
              <a:t>For long-range and short-range technologies, a star topology is prevalent, as seen with cellular, LPWA, and Bluetooth networks</a:t>
            </a:r>
          </a:p>
          <a:p>
            <a:pPr algn="l"/>
            <a:r>
              <a:rPr lang="en-US" sz="2800" b="0" i="0" u="none" strike="noStrike" baseline="0" dirty="0">
                <a:solidFill>
                  <a:srgbClr val="231F20"/>
                </a:solidFill>
                <a:latin typeface="CiscoSerif-Regular"/>
              </a:rPr>
              <a:t>Star topologies utilize a single central base station or controller to allow communications with endpoints.</a:t>
            </a:r>
          </a:p>
          <a:p>
            <a:pPr algn="l"/>
            <a:r>
              <a:rPr lang="en-US" sz="2800" b="0" i="0" u="none" strike="noStrike" baseline="0" dirty="0">
                <a:solidFill>
                  <a:srgbClr val="231F20"/>
                </a:solidFill>
                <a:latin typeface="CiscoSerif-Regular"/>
              </a:rPr>
              <a:t>For medium-range technologies, a star, peer-to-peer, or mesh topology is common, as shown in Figure 4-2</a:t>
            </a:r>
          </a:p>
          <a:p>
            <a:pPr algn="l"/>
            <a:r>
              <a:rPr lang="en-US" sz="2800" b="0" i="0" u="none" strike="noStrike" baseline="0" dirty="0">
                <a:solidFill>
                  <a:srgbClr val="231F20"/>
                </a:solidFill>
                <a:latin typeface="CiscoSerif-Regular"/>
              </a:rPr>
              <a:t>Peer-to-peer topologies allow any device to communicate with any other device as long as they are in range of each other</a:t>
            </a:r>
            <a:endParaRPr lang="en-US" dirty="0"/>
          </a:p>
        </p:txBody>
      </p:sp>
    </p:spTree>
    <p:extLst>
      <p:ext uri="{BB962C8B-B14F-4D97-AF65-F5344CB8AC3E}">
        <p14:creationId xmlns:p14="http://schemas.microsoft.com/office/powerpoint/2010/main" val="1464472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44DD-BF2C-402E-B425-EC6163F58C0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C95D3E4-35B1-4010-A69E-CE366ACB46CD}"/>
              </a:ext>
            </a:extLst>
          </p:cNvPr>
          <p:cNvPicPr>
            <a:picLocks noGrp="1" noChangeAspect="1"/>
          </p:cNvPicPr>
          <p:nvPr>
            <p:ph idx="1"/>
          </p:nvPr>
        </p:nvPicPr>
        <p:blipFill>
          <a:blip r:embed="rId2"/>
          <a:stretch>
            <a:fillRect/>
          </a:stretch>
        </p:blipFill>
        <p:spPr>
          <a:xfrm>
            <a:off x="1840889" y="526228"/>
            <a:ext cx="7182628" cy="4422289"/>
          </a:xfrm>
        </p:spPr>
      </p:pic>
      <p:sp>
        <p:nvSpPr>
          <p:cNvPr id="6" name="TextBox 5">
            <a:extLst>
              <a:ext uri="{FF2B5EF4-FFF2-40B4-BE49-F238E27FC236}">
                <a16:creationId xmlns:a16="http://schemas.microsoft.com/office/drawing/2014/main" id="{BCF04E96-0796-4D5A-9053-51098F6EEEC5}"/>
              </a:ext>
            </a:extLst>
          </p:cNvPr>
          <p:cNvSpPr txBox="1"/>
          <p:nvPr/>
        </p:nvSpPr>
        <p:spPr>
          <a:xfrm>
            <a:off x="522194" y="5141035"/>
            <a:ext cx="11147612" cy="1477328"/>
          </a:xfrm>
          <a:prstGeom prst="rect">
            <a:avLst/>
          </a:prstGeom>
          <a:noFill/>
        </p:spPr>
        <p:txBody>
          <a:bodyPr wrap="square" rtlCol="0">
            <a:spAutoFit/>
          </a:bodyPr>
          <a:lstStyle/>
          <a:p>
            <a:pPr algn="l"/>
            <a:r>
              <a:rPr lang="en-US" sz="1800" b="0" i="0" u="none" strike="noStrike" baseline="0" dirty="0">
                <a:solidFill>
                  <a:srgbClr val="231F20"/>
                </a:solidFill>
                <a:latin typeface="CiscoSerif-Regular"/>
              </a:rPr>
              <a:t>For example, indoor Wi-Fi deployments are mostly a set of nodes forming a star topology around their access points (APs). Meanwhile, outdoor Wi-Fi may consist of a mesh topology for the backbone of APs, with nodes connecting to the APs in a star topology. Similarly, IEEE 802.15.4 and 802.15.4g and even wired IEEE 1901.2a PLC are generally deployed as a mesh topology. A mesh topology helps cope with low transmit power, searching to reach a greater overall distance, and coverage by having intermediate nodes relaying traffic for other nodes.</a:t>
            </a:r>
            <a:endParaRPr lang="en-US" dirty="0"/>
          </a:p>
        </p:txBody>
      </p:sp>
    </p:spTree>
    <p:extLst>
      <p:ext uri="{BB962C8B-B14F-4D97-AF65-F5344CB8AC3E}">
        <p14:creationId xmlns:p14="http://schemas.microsoft.com/office/powerpoint/2010/main" val="1421798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4F63-B302-4E1C-8F41-79649BA1F41F}"/>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Topology</a:t>
            </a:r>
            <a:endParaRPr lang="en-US" dirty="0"/>
          </a:p>
        </p:txBody>
      </p:sp>
      <p:sp>
        <p:nvSpPr>
          <p:cNvPr id="3" name="Content Placeholder 2">
            <a:extLst>
              <a:ext uri="{FF2B5EF4-FFF2-40B4-BE49-F238E27FC236}">
                <a16:creationId xmlns:a16="http://schemas.microsoft.com/office/drawing/2014/main" id="{FBDC1A64-C1B8-4FE9-A8ED-4EA5020DFA3C}"/>
              </a:ext>
            </a:extLst>
          </p:cNvPr>
          <p:cNvSpPr>
            <a:spLocks noGrp="1"/>
          </p:cNvSpPr>
          <p:nvPr>
            <p:ph idx="1"/>
          </p:nvPr>
        </p:nvSpPr>
        <p:spPr/>
        <p:txBody>
          <a:bodyPr/>
          <a:lstStyle/>
          <a:p>
            <a:pPr algn="l"/>
            <a:r>
              <a:rPr lang="en-US" dirty="0">
                <a:solidFill>
                  <a:srgbClr val="231F20"/>
                </a:solidFill>
                <a:latin typeface="CiscoSerif-Regular"/>
              </a:rPr>
              <a:t>M</a:t>
            </a:r>
            <a:r>
              <a:rPr lang="en-US" sz="2800" b="0" i="0" u="none" strike="noStrike" baseline="0" dirty="0">
                <a:solidFill>
                  <a:srgbClr val="231F20"/>
                </a:solidFill>
                <a:latin typeface="CiscoSerif-Regular"/>
              </a:rPr>
              <a:t>esh topology requires a properly optimized implementation for battery-powered nodes</a:t>
            </a:r>
          </a:p>
          <a:p>
            <a:pPr algn="l"/>
            <a:r>
              <a:rPr lang="en-US" sz="2800" b="0" i="0" u="none" strike="noStrike" baseline="0" dirty="0">
                <a:solidFill>
                  <a:srgbClr val="231F20"/>
                </a:solidFill>
                <a:latin typeface="CiscoSerif-Regular"/>
              </a:rPr>
              <a:t>Battery-powered nodes are often placed in a “sleep mode” to preserve battery life when not transmitting</a:t>
            </a:r>
          </a:p>
          <a:p>
            <a:pPr algn="l"/>
            <a:r>
              <a:rPr lang="en-US" sz="2800" b="0" i="0" u="none" strike="noStrike" baseline="0" dirty="0">
                <a:solidFill>
                  <a:srgbClr val="231F20"/>
                </a:solidFill>
                <a:latin typeface="CiscoSerif-Regular"/>
              </a:rPr>
              <a:t>In the case of mesh topology, either the battery-powered nodes act as leaf nodes or as a “last resource path” to relay traffic when used as intermediate nodes</a:t>
            </a:r>
            <a:endParaRPr lang="en-US" dirty="0"/>
          </a:p>
        </p:txBody>
      </p:sp>
    </p:spTree>
    <p:extLst>
      <p:ext uri="{BB962C8B-B14F-4D97-AF65-F5344CB8AC3E}">
        <p14:creationId xmlns:p14="http://schemas.microsoft.com/office/powerpoint/2010/main" val="217605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8F7A-0A97-41A5-9B6C-988FE4404477}"/>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 Devices</a:t>
            </a:r>
            <a:endParaRPr lang="en-US" dirty="0"/>
          </a:p>
        </p:txBody>
      </p:sp>
      <p:sp>
        <p:nvSpPr>
          <p:cNvPr id="3" name="Content Placeholder 2">
            <a:extLst>
              <a:ext uri="{FF2B5EF4-FFF2-40B4-BE49-F238E27FC236}">
                <a16:creationId xmlns:a16="http://schemas.microsoft.com/office/drawing/2014/main" id="{866DD28B-5F61-4B60-964C-3D2115D2E308}"/>
              </a:ext>
            </a:extLst>
          </p:cNvPr>
          <p:cNvSpPr>
            <a:spLocks noGrp="1"/>
          </p:cNvSpPr>
          <p:nvPr>
            <p:ph idx="1"/>
          </p:nvPr>
        </p:nvSpPr>
        <p:spPr/>
        <p:txBody>
          <a:bodyPr>
            <a:normAutofit/>
          </a:bodyPr>
          <a:lstStyle/>
          <a:p>
            <a:r>
              <a:rPr lang="en-US" b="1" dirty="0"/>
              <a:t>Class 0: </a:t>
            </a:r>
            <a:r>
              <a:rPr lang="en-US" dirty="0"/>
              <a:t>This class of nodes is severely constrained, with less than </a:t>
            </a:r>
            <a:r>
              <a:rPr lang="en-US" b="1" dirty="0"/>
              <a:t>10 KB of memory and less than 100 KB</a:t>
            </a:r>
            <a:r>
              <a:rPr lang="en-US" dirty="0"/>
              <a:t> of Flash processing and storage capability. These nodes are typically battery powered. They do not have the resources required to directly implement an IP stack and associated security mechanisms. An example of a Class 0 node is a push button that sends 1 byte of information when changing its status. This class is particularly well suited to leveraging new unlicensed LPWA wireless technology.</a:t>
            </a:r>
          </a:p>
        </p:txBody>
      </p:sp>
    </p:spTree>
    <p:extLst>
      <p:ext uri="{BB962C8B-B14F-4D97-AF65-F5344CB8AC3E}">
        <p14:creationId xmlns:p14="http://schemas.microsoft.com/office/powerpoint/2010/main" val="3580342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8F7A-0A97-41A5-9B6C-988FE4404477}"/>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 Devices</a:t>
            </a:r>
            <a:endParaRPr lang="en-US" dirty="0"/>
          </a:p>
        </p:txBody>
      </p:sp>
      <p:sp>
        <p:nvSpPr>
          <p:cNvPr id="3" name="Content Placeholder 2">
            <a:extLst>
              <a:ext uri="{FF2B5EF4-FFF2-40B4-BE49-F238E27FC236}">
                <a16:creationId xmlns:a16="http://schemas.microsoft.com/office/drawing/2014/main" id="{866DD28B-5F61-4B60-964C-3D2115D2E308}"/>
              </a:ext>
            </a:extLst>
          </p:cNvPr>
          <p:cNvSpPr>
            <a:spLocks noGrp="1"/>
          </p:cNvSpPr>
          <p:nvPr>
            <p:ph idx="1"/>
          </p:nvPr>
        </p:nvSpPr>
        <p:spPr/>
        <p:txBody>
          <a:bodyPr>
            <a:normAutofit/>
          </a:bodyPr>
          <a:lstStyle/>
          <a:p>
            <a:pPr algn="l"/>
            <a:r>
              <a:rPr lang="en-US" sz="2800" b="1" i="0" u="none" strike="noStrike" baseline="0" dirty="0">
                <a:solidFill>
                  <a:srgbClr val="231F20"/>
                </a:solidFill>
                <a:latin typeface="CiscoSerif-Regular"/>
              </a:rPr>
              <a:t>Class 1: </a:t>
            </a:r>
            <a:r>
              <a:rPr lang="en-US" sz="2800" b="0" i="0" u="none" strike="noStrike" baseline="0" dirty="0">
                <a:solidFill>
                  <a:srgbClr val="231F20"/>
                </a:solidFill>
                <a:latin typeface="CiscoSerif-Regular"/>
              </a:rPr>
              <a:t>While greater than Class 0, the processing and code space characteristics (approximately 10 KB RAM and approximately 100 KB Flash) of Class 1 are still lower than expected for a complete IP stack implementation. They cannot easily communicate with nodes employing a full IP stack. However, these nodes can implement an optimized stack specifically designed for constrained nodes, such as Constrained Application Protocol (CoAP). This allows Class 1 nodes to engage in meaningful conversations with the network without the help of a gateway and provides support for the necessary security functions. Environmental sensors are an example of Class 1 nodes</a:t>
            </a:r>
            <a:endParaRPr lang="en-US" dirty="0"/>
          </a:p>
        </p:txBody>
      </p:sp>
    </p:spTree>
    <p:extLst>
      <p:ext uri="{BB962C8B-B14F-4D97-AF65-F5344CB8AC3E}">
        <p14:creationId xmlns:p14="http://schemas.microsoft.com/office/powerpoint/2010/main" val="1062949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8F7A-0A97-41A5-9B6C-988FE4404477}"/>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 Devices</a:t>
            </a:r>
            <a:endParaRPr lang="en-US" dirty="0"/>
          </a:p>
        </p:txBody>
      </p:sp>
      <p:sp>
        <p:nvSpPr>
          <p:cNvPr id="3" name="Content Placeholder 2">
            <a:extLst>
              <a:ext uri="{FF2B5EF4-FFF2-40B4-BE49-F238E27FC236}">
                <a16:creationId xmlns:a16="http://schemas.microsoft.com/office/drawing/2014/main" id="{866DD28B-5F61-4B60-964C-3D2115D2E308}"/>
              </a:ext>
            </a:extLst>
          </p:cNvPr>
          <p:cNvSpPr>
            <a:spLocks noGrp="1"/>
          </p:cNvSpPr>
          <p:nvPr>
            <p:ph idx="1"/>
          </p:nvPr>
        </p:nvSpPr>
        <p:spPr/>
        <p:txBody>
          <a:bodyPr>
            <a:normAutofit/>
          </a:bodyPr>
          <a:lstStyle/>
          <a:p>
            <a:pPr algn="l"/>
            <a:r>
              <a:rPr lang="en-US" sz="2800" b="1" i="0" u="none" strike="noStrike" baseline="0" dirty="0">
                <a:solidFill>
                  <a:srgbClr val="231F20"/>
                </a:solidFill>
                <a:latin typeface="CiscoSerif-Regular"/>
              </a:rPr>
              <a:t>Class 2 </a:t>
            </a:r>
            <a:r>
              <a:rPr lang="en-US" sz="2800" b="0" i="0" u="none" strike="noStrike" baseline="0" dirty="0">
                <a:solidFill>
                  <a:srgbClr val="231F20"/>
                </a:solidFill>
                <a:latin typeface="CiscoSerif-Regular"/>
              </a:rPr>
              <a:t>nodes are characterized by running full implementations of an IP stack on embedded devices. They contain more than </a:t>
            </a:r>
            <a:r>
              <a:rPr lang="en-US" sz="2800" b="1" i="0" u="none" strike="noStrike" baseline="0" dirty="0">
                <a:solidFill>
                  <a:srgbClr val="231F20"/>
                </a:solidFill>
                <a:latin typeface="CiscoSerif-Regular"/>
              </a:rPr>
              <a:t>50 KB of memory and 250 KB of Flash</a:t>
            </a:r>
            <a:r>
              <a:rPr lang="en-US" sz="2800" b="0" i="0" u="none" strike="noStrike" baseline="0" dirty="0">
                <a:solidFill>
                  <a:srgbClr val="231F20"/>
                </a:solidFill>
                <a:latin typeface="CiscoSerif-Regular"/>
              </a:rPr>
              <a:t>, so they can be fully integrated in IP networks. A smart power meter is an example of a Class 2 node.</a:t>
            </a:r>
            <a:endParaRPr lang="en-US" dirty="0"/>
          </a:p>
        </p:txBody>
      </p:sp>
    </p:spTree>
    <p:extLst>
      <p:ext uri="{BB962C8B-B14F-4D97-AF65-F5344CB8AC3E}">
        <p14:creationId xmlns:p14="http://schemas.microsoft.com/office/powerpoint/2010/main" val="3966256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C281F-A0C2-4BC9-82DA-AA3BD0F73DBC}"/>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Constrained-Node Networks</a:t>
            </a:r>
            <a:endParaRPr lang="en-US" dirty="0"/>
          </a:p>
        </p:txBody>
      </p:sp>
      <p:sp>
        <p:nvSpPr>
          <p:cNvPr id="3" name="Content Placeholder 2">
            <a:extLst>
              <a:ext uri="{FF2B5EF4-FFF2-40B4-BE49-F238E27FC236}">
                <a16:creationId xmlns:a16="http://schemas.microsoft.com/office/drawing/2014/main" id="{13F687A3-FFB3-4068-AFA6-C8FC8F6702B6}"/>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IEEE 802.15.4 and 802.15.4g RF, IEEE 1901.2a PLC, LPWA, and IEEE 802.11ah access technologies are suitable to connect constrained devices. </a:t>
            </a:r>
          </a:p>
          <a:p>
            <a:pPr algn="l"/>
            <a:r>
              <a:rPr lang="en-US" sz="2800" b="0" i="0" u="none" strike="noStrike" baseline="0" dirty="0">
                <a:solidFill>
                  <a:srgbClr val="231F20"/>
                </a:solidFill>
                <a:latin typeface="CiscoSerif-Regular"/>
              </a:rPr>
              <a:t>Constrained-node networks are often referred to as low-power and lossy networks (LLNs)</a:t>
            </a:r>
          </a:p>
          <a:p>
            <a:pPr algn="l"/>
            <a:r>
              <a:rPr lang="en-US" sz="2800" b="0" i="1" u="none" strike="noStrike" baseline="0" dirty="0">
                <a:solidFill>
                  <a:srgbClr val="231F20"/>
                </a:solidFill>
                <a:latin typeface="CiscoSerif-Italic-Regular"/>
              </a:rPr>
              <a:t>Low-power </a:t>
            </a:r>
            <a:r>
              <a:rPr lang="en-US" sz="2800" b="0" i="0" u="none" strike="noStrike" baseline="0" dirty="0">
                <a:solidFill>
                  <a:srgbClr val="231F20"/>
                </a:solidFill>
                <a:latin typeface="CiscoSerif-Regular"/>
              </a:rPr>
              <a:t>in the context of LLNs refers to the fact that nodes must cope with the requirements from powered and battery powered constrained nodes</a:t>
            </a:r>
          </a:p>
          <a:p>
            <a:pPr algn="l"/>
            <a:r>
              <a:rPr lang="en-US" sz="2800" b="0" i="1" u="none" strike="noStrike" baseline="0" dirty="0">
                <a:solidFill>
                  <a:srgbClr val="231F20"/>
                </a:solidFill>
                <a:latin typeface="CiscoSerif-Italic-Regular"/>
              </a:rPr>
              <a:t>Lossy networks </a:t>
            </a:r>
            <a:r>
              <a:rPr lang="en-US" sz="2800" b="0" i="0" u="none" strike="noStrike" baseline="0" dirty="0">
                <a:solidFill>
                  <a:srgbClr val="231F20"/>
                </a:solidFill>
                <a:latin typeface="CiscoSerif-Regular"/>
              </a:rPr>
              <a:t>indicates that network performance may suffer from interference and variability due to harsh radio environments</a:t>
            </a:r>
          </a:p>
          <a:p>
            <a:pPr algn="l"/>
            <a:r>
              <a:rPr lang="en-US" sz="2800" b="0" i="0" u="none" strike="noStrike" baseline="0" dirty="0">
                <a:solidFill>
                  <a:srgbClr val="231F20"/>
                </a:solidFill>
                <a:latin typeface="CiscoSerif-Regular"/>
              </a:rPr>
              <a:t>Layer 1 and Layer 2 protocols that can be used for constrained-node networks must be evaluated in the context of the following characteristics for use-case applicability: data rate and throughput, latency and determinism, and overhead and payload</a:t>
            </a:r>
          </a:p>
          <a:p>
            <a:pPr algn="l"/>
            <a:endParaRPr lang="en-US" dirty="0"/>
          </a:p>
        </p:txBody>
      </p:sp>
    </p:spTree>
    <p:extLst>
      <p:ext uri="{BB962C8B-B14F-4D97-AF65-F5344CB8AC3E}">
        <p14:creationId xmlns:p14="http://schemas.microsoft.com/office/powerpoint/2010/main" val="3386600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DB57-2F05-4943-BE4B-977CBF57B20C}"/>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Constrained-Node Networks</a:t>
            </a:r>
            <a:endParaRPr lang="en-US" dirty="0"/>
          </a:p>
        </p:txBody>
      </p:sp>
      <p:sp>
        <p:nvSpPr>
          <p:cNvPr id="3" name="Content Placeholder 2">
            <a:extLst>
              <a:ext uri="{FF2B5EF4-FFF2-40B4-BE49-F238E27FC236}">
                <a16:creationId xmlns:a16="http://schemas.microsoft.com/office/drawing/2014/main" id="{7048B1B6-7618-4FA8-AD70-8F11DDA439C5}"/>
              </a:ext>
            </a:extLst>
          </p:cNvPr>
          <p:cNvSpPr>
            <a:spLocks noGrp="1"/>
          </p:cNvSpPr>
          <p:nvPr>
            <p:ph idx="1"/>
          </p:nvPr>
        </p:nvSpPr>
        <p:spPr/>
        <p:txBody>
          <a:bodyPr>
            <a:normAutofit fontScale="85000" lnSpcReduction="20000"/>
          </a:bodyPr>
          <a:lstStyle/>
          <a:p>
            <a:pPr marL="0" indent="0">
              <a:buNone/>
            </a:pP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Data rate and Throughput</a:t>
            </a:r>
          </a:p>
          <a:p>
            <a:pPr>
              <a:spcBef>
                <a:spcPts val="500"/>
              </a:spcBef>
              <a:defRPr/>
            </a:pPr>
            <a:r>
              <a:rPr lang="en-US" dirty="0">
                <a:solidFill>
                  <a:srgbClr val="231F20"/>
                </a:solidFill>
                <a:latin typeface="CiscoSerif-Regular"/>
              </a:rPr>
              <a:t>The data rates available from IoT access technologies range from 100 bps with protocols such as Sigfox to tens of megabits per second with technologies such as LTE and IEEE 802.11ac. However, the actual throughput is less—sometimes much less—than the data rate</a:t>
            </a:r>
          </a:p>
          <a:p>
            <a:r>
              <a:rPr lang="en-US" dirty="0">
                <a:solidFill>
                  <a:srgbClr val="231F20"/>
                </a:solidFill>
                <a:latin typeface="CiscoSerif-Regular"/>
              </a:rPr>
              <a:t>Cellular and Wi-Fi, match up well to IoT applications with high bandwidth requirements</a:t>
            </a:r>
          </a:p>
          <a:p>
            <a:pPr algn="l"/>
            <a:r>
              <a:rPr lang="en-US" dirty="0">
                <a:solidFill>
                  <a:srgbClr val="231F20"/>
                </a:solidFill>
                <a:latin typeface="CiscoSerif-Regular"/>
              </a:rPr>
              <a:t>Real throughput is often very important for constrained devices implementing an IP stack.</a:t>
            </a:r>
          </a:p>
          <a:p>
            <a:pPr algn="l"/>
            <a:r>
              <a:rPr lang="en-US" dirty="0">
                <a:solidFill>
                  <a:srgbClr val="231F20"/>
                </a:solidFill>
                <a:latin typeface="CiscoSerif-Regular"/>
              </a:rPr>
              <a:t>T</a:t>
            </a:r>
            <a:r>
              <a:rPr lang="en-US" sz="2800" b="0" i="0" u="none" strike="noStrike" baseline="0" dirty="0">
                <a:solidFill>
                  <a:srgbClr val="231F20"/>
                </a:solidFill>
                <a:latin typeface="CiscoSerif-Regular"/>
              </a:rPr>
              <a:t>hroughput is a lower percentage of the data rate, even if the node gets the full constrained network at a given time</a:t>
            </a:r>
          </a:p>
          <a:p>
            <a:pPr algn="l"/>
            <a:r>
              <a:rPr lang="en-US" sz="2800" b="0" i="0" u="none" strike="noStrike" baseline="0" dirty="0">
                <a:solidFill>
                  <a:srgbClr val="231F20"/>
                </a:solidFill>
                <a:latin typeface="CiscoSerif-Regular"/>
              </a:rPr>
              <a:t>Majority of IoT devices initiate the communication. Upstream traffic toward an application server is usually more common than downstream traffic from the application server.</a:t>
            </a:r>
            <a:endPar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endParaRPr>
          </a:p>
          <a:p>
            <a:endParaRPr lang="en-US" dirty="0"/>
          </a:p>
        </p:txBody>
      </p:sp>
    </p:spTree>
    <p:extLst>
      <p:ext uri="{BB962C8B-B14F-4D97-AF65-F5344CB8AC3E}">
        <p14:creationId xmlns:p14="http://schemas.microsoft.com/office/powerpoint/2010/main" val="3126483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DB57-2F05-4943-BE4B-977CBF57B20C}"/>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Constrained-Node Networks</a:t>
            </a:r>
            <a:endParaRPr lang="en-US" dirty="0"/>
          </a:p>
        </p:txBody>
      </p:sp>
      <p:sp>
        <p:nvSpPr>
          <p:cNvPr id="3" name="Content Placeholder 2">
            <a:extLst>
              <a:ext uri="{FF2B5EF4-FFF2-40B4-BE49-F238E27FC236}">
                <a16:creationId xmlns:a16="http://schemas.microsoft.com/office/drawing/2014/main" id="{7048B1B6-7618-4FA8-AD70-8F11DDA439C5}"/>
              </a:ext>
            </a:extLst>
          </p:cNvPr>
          <p:cNvSpPr>
            <a:spLocks noGrp="1"/>
          </p:cNvSpPr>
          <p:nvPr>
            <p:ph idx="1"/>
          </p:nvPr>
        </p:nvSpPr>
        <p:spPr/>
        <p:txBody>
          <a:bodyPr>
            <a:normAutofit fontScale="92500" lnSpcReduction="10000"/>
          </a:bodyPr>
          <a:lstStyle/>
          <a:p>
            <a:pPr marL="0" indent="0">
              <a:spcBef>
                <a:spcPts val="500"/>
              </a:spcBef>
              <a:buNone/>
              <a:defRPr/>
            </a:pPr>
            <a:r>
              <a:rPr lang="en-US" sz="2800" b="1" i="0" u="none" strike="noStrike" baseline="0" dirty="0">
                <a:solidFill>
                  <a:srgbClr val="231F20"/>
                </a:solidFill>
                <a:latin typeface="Cisco-Regular"/>
              </a:rPr>
              <a:t>Latency and Determinism</a:t>
            </a:r>
            <a:endParaRPr lang="en-US" b="1" dirty="0">
              <a:solidFill>
                <a:srgbClr val="231F20"/>
              </a:solidFill>
              <a:latin typeface="CiscoSerif-Regular"/>
            </a:endParaRPr>
          </a:p>
          <a:p>
            <a:pPr algn="l"/>
            <a:r>
              <a:rPr lang="en-US" sz="2800" b="0" i="0" u="none" strike="noStrike" baseline="0" dirty="0">
                <a:solidFill>
                  <a:srgbClr val="231F20"/>
                </a:solidFill>
                <a:latin typeface="CiscoSerif-Regular"/>
              </a:rPr>
              <a:t>Much like throughput requirements, latency expectations of IoT applications should beknown when selecting an access technology</a:t>
            </a:r>
          </a:p>
          <a:p>
            <a:pPr algn="l"/>
            <a:r>
              <a:rPr lang="en-US" sz="2800" b="0" i="0" u="none" strike="noStrike" baseline="0" dirty="0">
                <a:solidFill>
                  <a:srgbClr val="231F20"/>
                </a:solidFill>
                <a:latin typeface="CiscoSerif-Regular"/>
              </a:rPr>
              <a:t>This is particularly true for wireless networks, where packet loss and retransmissions due to interference, collisions, and noise are normal behaviors.</a:t>
            </a:r>
          </a:p>
          <a:p>
            <a:pPr algn="l"/>
            <a:r>
              <a:rPr lang="en-US" sz="2800" b="0" i="0" u="none" strike="noStrike" baseline="0" dirty="0">
                <a:solidFill>
                  <a:srgbClr val="231F20"/>
                </a:solidFill>
                <a:latin typeface="CiscoSerif-Regular"/>
              </a:rPr>
              <a:t>On constrained networks, latency may range from a few milliseconds to seconds, and applications and protocol stacks must cope with these wide-ranging values</a:t>
            </a:r>
          </a:p>
          <a:p>
            <a:pPr lvl="1"/>
            <a:r>
              <a:rPr lang="en-US" sz="2000" b="0" i="0" u="none" strike="noStrike" baseline="0" dirty="0">
                <a:solidFill>
                  <a:srgbClr val="231F20"/>
                </a:solidFill>
                <a:latin typeface="CiscoSerif-Regular"/>
              </a:rPr>
              <a:t>For example, UDP (user datagram protocol) at the transport layer is strongly recommended for IP endpoints communicating over LLNs. In the case of mesh topologies, if communications are needed between two devices inside the mesh, the forwarding path may call for some routing optimization, which is available using the IPv6 RPL protocol.</a:t>
            </a:r>
            <a:endParaRPr lang="en-US" dirty="0"/>
          </a:p>
        </p:txBody>
      </p:sp>
    </p:spTree>
    <p:extLst>
      <p:ext uri="{BB962C8B-B14F-4D97-AF65-F5344CB8AC3E}">
        <p14:creationId xmlns:p14="http://schemas.microsoft.com/office/powerpoint/2010/main" val="541332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ADB57-2F05-4943-BE4B-977CBF57B20C}"/>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Communication Criteria- Constrained-Node Networks</a:t>
            </a:r>
            <a:endParaRPr lang="en-US" dirty="0"/>
          </a:p>
        </p:txBody>
      </p:sp>
      <p:sp>
        <p:nvSpPr>
          <p:cNvPr id="3" name="Content Placeholder 2">
            <a:extLst>
              <a:ext uri="{FF2B5EF4-FFF2-40B4-BE49-F238E27FC236}">
                <a16:creationId xmlns:a16="http://schemas.microsoft.com/office/drawing/2014/main" id="{7048B1B6-7618-4FA8-AD70-8F11DDA439C5}"/>
              </a:ext>
            </a:extLst>
          </p:cNvPr>
          <p:cNvSpPr>
            <a:spLocks noGrp="1"/>
          </p:cNvSpPr>
          <p:nvPr>
            <p:ph idx="1"/>
          </p:nvPr>
        </p:nvSpPr>
        <p:spPr/>
        <p:txBody>
          <a:bodyPr>
            <a:normAutofit fontScale="92500"/>
          </a:bodyPr>
          <a:lstStyle/>
          <a:p>
            <a:pPr marL="0" indent="0">
              <a:spcBef>
                <a:spcPts val="500"/>
              </a:spcBef>
              <a:buNone/>
              <a:defRPr/>
            </a:pPr>
            <a:r>
              <a:rPr lang="en-US" sz="2800" b="1" i="0" u="none" strike="noStrike" baseline="0" dirty="0">
                <a:solidFill>
                  <a:srgbClr val="231F20"/>
                </a:solidFill>
                <a:latin typeface="Cisco-Regular"/>
              </a:rPr>
              <a:t>Overhead and Payload</a:t>
            </a:r>
          </a:p>
          <a:p>
            <a:pPr algn="l"/>
            <a:r>
              <a:rPr lang="en-US" sz="2800" b="0" i="0" u="none" strike="noStrike" baseline="0" dirty="0">
                <a:solidFill>
                  <a:srgbClr val="231F20"/>
                </a:solidFill>
                <a:latin typeface="CiscoSerif-Regular"/>
              </a:rPr>
              <a:t>When considering constrained access network technologies, it is important to review the MAC payload size characteristics required by applications</a:t>
            </a:r>
          </a:p>
          <a:p>
            <a:pPr algn="l"/>
            <a:r>
              <a:rPr lang="en-US" sz="2800" b="0" i="0" u="none" strike="noStrike" baseline="0" dirty="0">
                <a:solidFill>
                  <a:srgbClr val="231F20"/>
                </a:solidFill>
                <a:latin typeface="CiscoSerif-Regular"/>
              </a:rPr>
              <a:t>Most LPWA technologies offer small payload sizes</a:t>
            </a:r>
          </a:p>
          <a:p>
            <a:pPr algn="l"/>
            <a:r>
              <a:rPr lang="en-US" sz="2800" b="0" i="0" u="none" strike="noStrike" baseline="0" dirty="0">
                <a:solidFill>
                  <a:srgbClr val="231F20"/>
                </a:solidFill>
                <a:latin typeface="CiscoSerif-Regular"/>
              </a:rPr>
              <a:t>These small payload sizes are defined to cope with the low data rate and time over the air or duty cycle requirements of IoT nodes and sensors.</a:t>
            </a:r>
          </a:p>
          <a:p>
            <a:pPr algn="l"/>
            <a:r>
              <a:rPr lang="en-US" sz="2800" b="0" i="0" u="none" strike="noStrike" baseline="0" dirty="0">
                <a:solidFill>
                  <a:srgbClr val="231F20"/>
                </a:solidFill>
                <a:latin typeface="CiscoSerif-Regular"/>
              </a:rPr>
              <a:t>For example, payloads may be as little as 19 bytes using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technology or up to 250 bytes, depending on the adaptive data rate (ADR).</a:t>
            </a:r>
            <a:endParaRPr lang="en-US" b="1" dirty="0">
              <a:solidFill>
                <a:srgbClr val="231F20"/>
              </a:solidFill>
              <a:latin typeface="CiscoSerif-Regular"/>
            </a:endParaRPr>
          </a:p>
        </p:txBody>
      </p:sp>
    </p:spTree>
    <p:extLst>
      <p:ext uri="{BB962C8B-B14F-4D97-AF65-F5344CB8AC3E}">
        <p14:creationId xmlns:p14="http://schemas.microsoft.com/office/powerpoint/2010/main" val="116045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BD447-9D65-4146-8C69-130A1B101EA1}"/>
              </a:ext>
            </a:extLst>
          </p:cNvPr>
          <p:cNvSpPr>
            <a:spLocks noGrp="1"/>
          </p:cNvSpPr>
          <p:nvPr>
            <p:ph type="title"/>
          </p:nvPr>
        </p:nvSpPr>
        <p:spPr/>
        <p:txBody>
          <a:bodyPr/>
          <a:lstStyle/>
          <a:p>
            <a:r>
              <a:rPr lang="en-US" dirty="0"/>
              <a:t>IoT Access Technologies</a:t>
            </a:r>
          </a:p>
        </p:txBody>
      </p:sp>
      <p:sp>
        <p:nvSpPr>
          <p:cNvPr id="3" name="Content Placeholder 2">
            <a:extLst>
              <a:ext uri="{FF2B5EF4-FFF2-40B4-BE49-F238E27FC236}">
                <a16:creationId xmlns:a16="http://schemas.microsoft.com/office/drawing/2014/main" id="{D900E7BF-5D1B-4A6E-8D2C-CC27CC1499FB}"/>
              </a:ext>
            </a:extLst>
          </p:cNvPr>
          <p:cNvSpPr>
            <a:spLocks noGrp="1"/>
          </p:cNvSpPr>
          <p:nvPr>
            <p:ph idx="1"/>
          </p:nvPr>
        </p:nvSpPr>
        <p:spPr/>
        <p:txBody>
          <a:bodyPr>
            <a:normAutofit lnSpcReduction="10000"/>
          </a:bodyPr>
          <a:lstStyle/>
          <a:p>
            <a:pPr algn="l"/>
            <a:r>
              <a:rPr lang="en-US" sz="2800" b="1" i="0" u="none" strike="noStrike" baseline="0" dirty="0">
                <a:solidFill>
                  <a:srgbClr val="231F20"/>
                </a:solidFill>
                <a:latin typeface="CiscoSerif-Bold"/>
              </a:rPr>
              <a:t>Standardization and alliances: </a:t>
            </a:r>
            <a:r>
              <a:rPr lang="en-US" sz="2800" b="0" i="0" u="none" strike="noStrike" baseline="0" dirty="0">
                <a:solidFill>
                  <a:srgbClr val="231F20"/>
                </a:solidFill>
                <a:latin typeface="CiscoSerif-Regular"/>
              </a:rPr>
              <a:t>The standards bodies that maintain the protocols for a technology</a:t>
            </a:r>
          </a:p>
          <a:p>
            <a:pPr algn="l"/>
            <a:r>
              <a:rPr lang="en-US" sz="2800" b="1" i="0" u="none" strike="noStrike" baseline="0" dirty="0">
                <a:solidFill>
                  <a:srgbClr val="231F20"/>
                </a:solidFill>
                <a:latin typeface="CiscoSerif-Bold"/>
              </a:rPr>
              <a:t>Physical layer: </a:t>
            </a:r>
            <a:r>
              <a:rPr lang="en-US" sz="2800" b="0" i="0" u="none" strike="noStrike" baseline="0" dirty="0">
                <a:solidFill>
                  <a:srgbClr val="231F20"/>
                </a:solidFill>
                <a:latin typeface="CiscoSerif-Regular"/>
              </a:rPr>
              <a:t>The wired or wireless methods and relevant frequencies</a:t>
            </a:r>
          </a:p>
          <a:p>
            <a:pPr algn="l"/>
            <a:r>
              <a:rPr lang="en-US" sz="2800" b="1" i="0" u="none" strike="noStrike" baseline="0" dirty="0">
                <a:solidFill>
                  <a:srgbClr val="231F20"/>
                </a:solidFill>
                <a:latin typeface="CiscoSerif-Bold"/>
              </a:rPr>
              <a:t>MAC layer: </a:t>
            </a:r>
            <a:r>
              <a:rPr lang="en-US" sz="2800" b="0" i="0" u="none" strike="noStrike" baseline="0" dirty="0">
                <a:solidFill>
                  <a:srgbClr val="231F20"/>
                </a:solidFill>
                <a:latin typeface="CiscoSerif-Regular"/>
              </a:rPr>
              <a:t>Considerations at the Media Access Control (MAC) layer, which bridges the physical layer with data link control</a:t>
            </a:r>
          </a:p>
          <a:p>
            <a:pPr algn="l"/>
            <a:r>
              <a:rPr lang="en-US" sz="2800" b="1" i="0" u="none" strike="noStrike" baseline="0" dirty="0">
                <a:solidFill>
                  <a:srgbClr val="231F20"/>
                </a:solidFill>
                <a:latin typeface="CiscoSerif-Bold"/>
              </a:rPr>
              <a:t>Topology: </a:t>
            </a:r>
            <a:r>
              <a:rPr lang="en-US" sz="2800" b="0" i="0" u="none" strike="noStrike" baseline="0" dirty="0">
                <a:solidFill>
                  <a:srgbClr val="231F20"/>
                </a:solidFill>
                <a:latin typeface="CiscoSerif-Regular"/>
              </a:rPr>
              <a:t>The topologies supported by the technology</a:t>
            </a:r>
          </a:p>
          <a:p>
            <a:pPr algn="l"/>
            <a:r>
              <a:rPr lang="en-US" sz="2800" b="1" i="0" u="none" strike="noStrike" baseline="0" dirty="0">
                <a:solidFill>
                  <a:srgbClr val="231F20"/>
                </a:solidFill>
                <a:latin typeface="CiscoSerif-Bold"/>
              </a:rPr>
              <a:t>Security: </a:t>
            </a:r>
            <a:r>
              <a:rPr lang="en-US" sz="2800" b="0" i="0" u="none" strike="noStrike" baseline="0" dirty="0">
                <a:solidFill>
                  <a:srgbClr val="231F20"/>
                </a:solidFill>
                <a:latin typeface="CiscoSerif-Regular"/>
              </a:rPr>
              <a:t>Security aspects of the technology</a:t>
            </a:r>
          </a:p>
          <a:p>
            <a:pPr algn="l"/>
            <a:r>
              <a:rPr lang="en-US" sz="2800" b="1" i="0" u="none" strike="noStrike" baseline="0" dirty="0">
                <a:solidFill>
                  <a:srgbClr val="231F20"/>
                </a:solidFill>
                <a:latin typeface="CiscoSerif-Bold"/>
              </a:rPr>
              <a:t>Competitive technologies: </a:t>
            </a:r>
            <a:r>
              <a:rPr lang="en-US" sz="2800" b="0" i="0" u="none" strike="noStrike" baseline="0" dirty="0">
                <a:solidFill>
                  <a:srgbClr val="231F20"/>
                </a:solidFill>
                <a:latin typeface="CiscoSerif-Regular"/>
              </a:rPr>
              <a:t>Other technologies that are similar and may be suitable alternatives to the given technology</a:t>
            </a:r>
            <a:endParaRPr lang="en-US" dirty="0"/>
          </a:p>
        </p:txBody>
      </p:sp>
    </p:spTree>
    <p:extLst>
      <p:ext uri="{BB962C8B-B14F-4D97-AF65-F5344CB8AC3E}">
        <p14:creationId xmlns:p14="http://schemas.microsoft.com/office/powerpoint/2010/main" val="3670096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BD447-9D65-4146-8C69-130A1B101EA1}"/>
              </a:ext>
            </a:extLst>
          </p:cNvPr>
          <p:cNvSpPr>
            <a:spLocks noGrp="1"/>
          </p:cNvSpPr>
          <p:nvPr>
            <p:ph type="title"/>
          </p:nvPr>
        </p:nvSpPr>
        <p:spPr/>
        <p:txBody>
          <a:bodyPr/>
          <a:lstStyle/>
          <a:p>
            <a:r>
              <a:rPr lang="en-US" sz="4400" b="1" i="0" u="none" strike="noStrike" baseline="0" dirty="0">
                <a:solidFill>
                  <a:srgbClr val="231F20"/>
                </a:solidFill>
                <a:latin typeface="Cisco-Bold"/>
              </a:rPr>
              <a:t>IEEE 802.15.4</a:t>
            </a:r>
            <a:endParaRPr lang="en-US" dirty="0"/>
          </a:p>
        </p:txBody>
      </p:sp>
      <p:sp>
        <p:nvSpPr>
          <p:cNvPr id="3" name="Content Placeholder 2">
            <a:extLst>
              <a:ext uri="{FF2B5EF4-FFF2-40B4-BE49-F238E27FC236}">
                <a16:creationId xmlns:a16="http://schemas.microsoft.com/office/drawing/2014/main" id="{D900E7BF-5D1B-4A6E-8D2C-CC27CC1499FB}"/>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IEEE 802.15.4 is a wireless access technology for low-cost and low-data-rate devices that are powered or run on batteries</a:t>
            </a:r>
          </a:p>
          <a:p>
            <a:pPr algn="l"/>
            <a:r>
              <a:rPr lang="en-US" dirty="0">
                <a:solidFill>
                  <a:srgbClr val="231F20"/>
                </a:solidFill>
                <a:latin typeface="CiscoSerif-Regular"/>
              </a:rPr>
              <a:t>T</a:t>
            </a:r>
            <a:r>
              <a:rPr lang="en-US" sz="2800" b="0" i="0" u="none" strike="noStrike" baseline="0" dirty="0">
                <a:solidFill>
                  <a:srgbClr val="231F20"/>
                </a:solidFill>
                <a:latin typeface="CiscoSerif-Regular"/>
              </a:rPr>
              <a:t>his access technology enables easy installation using a compact protocol stack while remaining both simple and flexible.</a:t>
            </a:r>
          </a:p>
          <a:p>
            <a:pPr algn="l"/>
            <a:r>
              <a:rPr lang="en-US" sz="2800" b="0" i="0" u="none" strike="noStrike" baseline="0" dirty="0">
                <a:solidFill>
                  <a:srgbClr val="231F20"/>
                </a:solidFill>
                <a:latin typeface="CiscoSerif-Regular"/>
              </a:rPr>
              <a:t>IEEE 802.15.4 is commonly found in the following types of deployments:</a:t>
            </a:r>
          </a:p>
          <a:p>
            <a:pPr lvl="1"/>
            <a:r>
              <a:rPr lang="en-US" b="0" i="0" u="none" strike="noStrike" baseline="0" dirty="0">
                <a:solidFill>
                  <a:srgbClr val="231F20"/>
                </a:solidFill>
                <a:latin typeface="CiscoSerif-Regular"/>
              </a:rPr>
              <a:t>Home and building automation</a:t>
            </a:r>
          </a:p>
          <a:p>
            <a:pPr lvl="1"/>
            <a:r>
              <a:rPr lang="en-US" b="0" i="0" u="none" strike="noStrike" baseline="0" dirty="0">
                <a:solidFill>
                  <a:srgbClr val="231F20"/>
                </a:solidFill>
                <a:latin typeface="CiscoSerif-Regular"/>
              </a:rPr>
              <a:t>Automotive networks</a:t>
            </a:r>
          </a:p>
          <a:p>
            <a:pPr lvl="1"/>
            <a:r>
              <a:rPr lang="en-US" b="0" i="0" u="none" strike="noStrike" baseline="0" dirty="0">
                <a:solidFill>
                  <a:srgbClr val="231F20"/>
                </a:solidFill>
                <a:latin typeface="CiscoSerif-Regular"/>
              </a:rPr>
              <a:t>Industrial wireless sensor networks</a:t>
            </a:r>
          </a:p>
          <a:p>
            <a:pPr lvl="1"/>
            <a:r>
              <a:rPr lang="en-US" b="0" i="0" u="none" strike="noStrike" baseline="0" dirty="0">
                <a:solidFill>
                  <a:srgbClr val="231F20"/>
                </a:solidFill>
                <a:latin typeface="CiscoSerif-Regular"/>
              </a:rPr>
              <a:t>Interactive toys and remote controls</a:t>
            </a:r>
            <a:endParaRPr lang="en-US" dirty="0"/>
          </a:p>
        </p:txBody>
      </p:sp>
    </p:spTree>
    <p:extLst>
      <p:ext uri="{BB962C8B-B14F-4D97-AF65-F5344CB8AC3E}">
        <p14:creationId xmlns:p14="http://schemas.microsoft.com/office/powerpoint/2010/main" val="541189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2682C-2F84-4644-9F1C-0B0E7CEA0BD9}"/>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231F20"/>
                </a:solidFill>
                <a:effectLst/>
                <a:uLnTx/>
                <a:uFillTx/>
                <a:latin typeface="Cisco-Bold"/>
                <a:ea typeface="+mj-ea"/>
                <a:cs typeface="+mj-cs"/>
              </a:rPr>
              <a:t>IEEE 802.15.4</a:t>
            </a:r>
            <a:endParaRPr lang="en-US" dirty="0"/>
          </a:p>
        </p:txBody>
      </p:sp>
      <p:sp>
        <p:nvSpPr>
          <p:cNvPr id="3" name="Content Placeholder 2">
            <a:extLst>
              <a:ext uri="{FF2B5EF4-FFF2-40B4-BE49-F238E27FC236}">
                <a16:creationId xmlns:a16="http://schemas.microsoft.com/office/drawing/2014/main" id="{3FBC3B78-20D0-4FD8-9FEB-035B66AFE20E}"/>
              </a:ext>
            </a:extLst>
          </p:cNvPr>
          <p:cNvSpPr>
            <a:spLocks noGrp="1"/>
          </p:cNvSpPr>
          <p:nvPr>
            <p:ph idx="1"/>
          </p:nvPr>
        </p:nvSpPr>
        <p:spPr/>
        <p:txBody>
          <a:bodyPr>
            <a:normAutofit fontScale="92500"/>
          </a:bodyPr>
          <a:lstStyle/>
          <a:p>
            <a:pPr algn="l"/>
            <a:r>
              <a:rPr lang="en-US" sz="2800" b="0" i="0" u="none" strike="noStrike" baseline="0" dirty="0">
                <a:solidFill>
                  <a:srgbClr val="231F20"/>
                </a:solidFill>
                <a:latin typeface="CiscoSerif-Regular"/>
              </a:rPr>
              <a:t>Criticisms of IEEE 802.15.4 often focus on its MAC reliability, unbounded latency, and susceptibility to interference and multipath fading</a:t>
            </a:r>
          </a:p>
          <a:p>
            <a:pPr algn="l"/>
            <a:r>
              <a:rPr lang="en-US" sz="2800" b="0" i="0" u="none" strike="noStrike" baseline="0" dirty="0">
                <a:solidFill>
                  <a:srgbClr val="231F20"/>
                </a:solidFill>
                <a:latin typeface="CiscoSerif-Regular"/>
              </a:rPr>
              <a:t>The negatives around reliability and latency often have to do with the Collision Sense Multiple Access/Collision Avoidance (CSMA/CA) algorithm</a:t>
            </a:r>
          </a:p>
          <a:p>
            <a:pPr algn="l"/>
            <a:r>
              <a:rPr lang="en-US" sz="2800" b="0" i="0" u="none" strike="noStrike" baseline="0" dirty="0">
                <a:solidFill>
                  <a:srgbClr val="231F20"/>
                </a:solidFill>
                <a:latin typeface="CiscoSerif-Regular"/>
              </a:rPr>
              <a:t>CSMA/CA is an access method in which a device “listens” to make sure no other devices are transmitting before starting its own transmission. If another device is transmitting, a wait time (which is usually random) occurs before “listening” occurs again</a:t>
            </a:r>
          </a:p>
          <a:p>
            <a:pPr algn="l"/>
            <a:r>
              <a:rPr lang="en-US" sz="2800" b="0" i="0" u="none" strike="noStrike" baseline="0" dirty="0">
                <a:solidFill>
                  <a:srgbClr val="231F20"/>
                </a:solidFill>
                <a:latin typeface="CiscoSerif-Regular"/>
              </a:rPr>
              <a:t>Interference and multipath fading occur with IEEE 802.15.4 because it lacks a frequency-hopping technique</a:t>
            </a:r>
            <a:endParaRPr lang="en-US" dirty="0"/>
          </a:p>
        </p:txBody>
      </p:sp>
    </p:spTree>
    <p:extLst>
      <p:ext uri="{BB962C8B-B14F-4D97-AF65-F5344CB8AC3E}">
        <p14:creationId xmlns:p14="http://schemas.microsoft.com/office/powerpoint/2010/main" val="3538815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DB10-E9A2-41CC-8C6D-388AD4CF1C60}"/>
              </a:ext>
            </a:extLst>
          </p:cNvPr>
          <p:cNvSpPr>
            <a:spLocks noGrp="1"/>
          </p:cNvSpPr>
          <p:nvPr>
            <p:ph type="title"/>
          </p:nvPr>
        </p:nvSpPr>
        <p:spPr/>
        <p:txBody>
          <a:bodyPr/>
          <a:lstStyle/>
          <a:p>
            <a:r>
              <a:rPr lang="en-US" dirty="0"/>
              <a:t>Protocol Stacks Utilizing IEEE 802.15.4</a:t>
            </a:r>
          </a:p>
        </p:txBody>
      </p:sp>
      <p:sp>
        <p:nvSpPr>
          <p:cNvPr id="3" name="Content Placeholder 2">
            <a:extLst>
              <a:ext uri="{FF2B5EF4-FFF2-40B4-BE49-F238E27FC236}">
                <a16:creationId xmlns:a16="http://schemas.microsoft.com/office/drawing/2014/main" id="{E4512D58-43B2-4D9E-89EE-7EA5E93D1510}"/>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ZigBee Promoted through the ZigBee Alliance, ZigBee defines upper-layer components (network through application) as well as application profiles. Common profiles include building automation, home automation, and healthcare. ZigBee also defines device object functions, such as device role, device discovery, network join, and security</a:t>
            </a:r>
          </a:p>
          <a:p>
            <a:pPr algn="l"/>
            <a:r>
              <a:rPr lang="en-US" sz="2800" b="0" i="0" u="none" strike="noStrike" baseline="0" dirty="0">
                <a:solidFill>
                  <a:srgbClr val="231F20"/>
                </a:solidFill>
                <a:latin typeface="CiscoSerif-Regular"/>
              </a:rPr>
              <a:t>6LoWPAN is an IPv6 adaptation layer defined by the IETF 6LoWPAN working group that describes how to transport IPv6 packets over IEEE 802.15.4 layers. RFCs document header compression and IPv6 enhancements to cope with the specific details of IEEE 802.15.4</a:t>
            </a:r>
            <a:endParaRPr lang="en-US" dirty="0"/>
          </a:p>
        </p:txBody>
      </p:sp>
    </p:spTree>
    <p:extLst>
      <p:ext uri="{BB962C8B-B14F-4D97-AF65-F5344CB8AC3E}">
        <p14:creationId xmlns:p14="http://schemas.microsoft.com/office/powerpoint/2010/main" val="2734711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BDB10-E9A2-41CC-8C6D-388AD4CF1C60}"/>
              </a:ext>
            </a:extLst>
          </p:cNvPr>
          <p:cNvSpPr>
            <a:spLocks noGrp="1"/>
          </p:cNvSpPr>
          <p:nvPr>
            <p:ph type="title"/>
          </p:nvPr>
        </p:nvSpPr>
        <p:spPr/>
        <p:txBody>
          <a:bodyPr/>
          <a:lstStyle/>
          <a:p>
            <a:r>
              <a:rPr lang="en-US" dirty="0"/>
              <a:t>Protocol Stacks Utilizing IEEE 802.15.4</a:t>
            </a:r>
          </a:p>
        </p:txBody>
      </p:sp>
      <p:sp>
        <p:nvSpPr>
          <p:cNvPr id="3" name="Content Placeholder 2">
            <a:extLst>
              <a:ext uri="{FF2B5EF4-FFF2-40B4-BE49-F238E27FC236}">
                <a16:creationId xmlns:a16="http://schemas.microsoft.com/office/drawing/2014/main" id="{E4512D58-43B2-4D9E-89EE-7EA5E93D1510}"/>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ISA100.11a is developed by the International Society of Automation (ISA) as “Wireless Systems for Industrial Automation: Process Control and Related Applications.” It is based on IEEE 802.15.4-2006, and specifications were published in 2010 and then as IEC 62734. The network and transport layers are based on IETF 6LoWPAN, IPv6, and UDP standards.</a:t>
            </a:r>
          </a:p>
          <a:p>
            <a:pPr algn="l"/>
            <a:r>
              <a:rPr lang="en-US" sz="2800" b="0" i="0" u="none" strike="noStrike" baseline="0" dirty="0" err="1">
                <a:solidFill>
                  <a:srgbClr val="231F20"/>
                </a:solidFill>
                <a:latin typeface="CiscoSerif-Regular"/>
              </a:rPr>
              <a:t>WirelessHART</a:t>
            </a:r>
            <a:r>
              <a:rPr lang="en-US" sz="2800" b="0" i="0" u="none" strike="noStrike" baseline="0" dirty="0">
                <a:solidFill>
                  <a:srgbClr val="231F20"/>
                </a:solidFill>
                <a:latin typeface="CiscoSerif-Regular"/>
              </a:rPr>
              <a:t>, promoted by the HART (</a:t>
            </a:r>
            <a:r>
              <a:rPr lang="en-US" b="0" i="0" dirty="0">
                <a:solidFill>
                  <a:srgbClr val="202124"/>
                </a:solidFill>
                <a:effectLst/>
                <a:latin typeface="arial" panose="020B0604020202020204" pitchFamily="34" charset="0"/>
              </a:rPr>
              <a:t>highway addressable remote transducer)</a:t>
            </a:r>
            <a:r>
              <a:rPr lang="en-US" sz="2800" b="0" i="0" u="none" strike="noStrike" baseline="0" dirty="0">
                <a:solidFill>
                  <a:srgbClr val="231F20"/>
                </a:solidFill>
                <a:latin typeface="CiscoSerif-Regular"/>
              </a:rPr>
              <a:t> Communication Foundation, is a protocol stack that offers a time-synchronized, self-organizing, and self-healing mesh architecture, leveraging IEEE 802.15.4-2006 over the 2.4 GHz frequency band.</a:t>
            </a:r>
          </a:p>
          <a:p>
            <a:pPr algn="l"/>
            <a:r>
              <a:rPr lang="en-US" sz="2800" b="0" i="0" u="none" strike="noStrike" baseline="0" dirty="0">
                <a:solidFill>
                  <a:srgbClr val="231F20"/>
                </a:solidFill>
                <a:latin typeface="CiscoSerif-Regular"/>
              </a:rPr>
              <a:t>Constructed on top of IETF 6LoWPAN/IPv6, Thread is a protocol stack for a secure and reliable mesh network to connect and control products in the home</a:t>
            </a:r>
            <a:endParaRPr lang="en-US" dirty="0"/>
          </a:p>
        </p:txBody>
      </p:sp>
    </p:spTree>
    <p:extLst>
      <p:ext uri="{BB962C8B-B14F-4D97-AF65-F5344CB8AC3E}">
        <p14:creationId xmlns:p14="http://schemas.microsoft.com/office/powerpoint/2010/main" val="3757208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D0EC1-BCCB-4879-B9CC-A5E6A76E5FA2}"/>
              </a:ext>
            </a:extLst>
          </p:cNvPr>
          <p:cNvSpPr>
            <a:spLocks noGrp="1"/>
          </p:cNvSpPr>
          <p:nvPr>
            <p:ph type="title"/>
          </p:nvPr>
        </p:nvSpPr>
        <p:spPr/>
        <p:txBody>
          <a:bodyPr/>
          <a:lstStyle/>
          <a:p>
            <a:r>
              <a:rPr lang="en-US" dirty="0"/>
              <a:t>ZigBee</a:t>
            </a:r>
          </a:p>
        </p:txBody>
      </p:sp>
      <p:sp>
        <p:nvSpPr>
          <p:cNvPr id="3" name="Content Placeholder 2">
            <a:extLst>
              <a:ext uri="{FF2B5EF4-FFF2-40B4-BE49-F238E27FC236}">
                <a16:creationId xmlns:a16="http://schemas.microsoft.com/office/drawing/2014/main" id="{8A854756-734A-465C-A618-020446449A2D}"/>
              </a:ext>
            </a:extLst>
          </p:cNvPr>
          <p:cNvSpPr>
            <a:spLocks noGrp="1"/>
          </p:cNvSpPr>
          <p:nvPr>
            <p:ph idx="1"/>
          </p:nvPr>
        </p:nvSpPr>
        <p:spPr/>
        <p:txBody>
          <a:bodyPr>
            <a:normAutofit fontScale="70000" lnSpcReduction="20000"/>
          </a:bodyPr>
          <a:lstStyle/>
          <a:p>
            <a:pPr algn="l"/>
            <a:r>
              <a:rPr lang="en-US" sz="2800" b="0" i="0" u="none" strike="noStrike" baseline="0" dirty="0">
                <a:solidFill>
                  <a:srgbClr val="231F20"/>
                </a:solidFill>
                <a:latin typeface="CiscoSerif-Regular"/>
              </a:rPr>
              <a:t>The first ZigBee specification was ratified in 2004</a:t>
            </a:r>
          </a:p>
          <a:p>
            <a:pPr algn="l"/>
            <a:r>
              <a:rPr lang="en-US" sz="2800" b="0" i="0" u="none" strike="noStrike" baseline="0" dirty="0">
                <a:solidFill>
                  <a:srgbClr val="231F20"/>
                </a:solidFill>
                <a:latin typeface="CiscoSerif-Regular"/>
              </a:rPr>
              <a:t>Zigbee Alliance is an industry group formed to certify interoperability between vendors and it is committed to driving and evolving ZigBee as an IoT solution for interconnecting smart objects</a:t>
            </a:r>
          </a:p>
          <a:p>
            <a:pPr algn="l"/>
            <a:r>
              <a:rPr lang="en-US" sz="2800" b="0" i="0" u="none" strike="noStrike" baseline="0" dirty="0">
                <a:solidFill>
                  <a:srgbClr val="231F20"/>
                </a:solidFill>
                <a:latin typeface="CiscoSerif-Regular"/>
              </a:rPr>
              <a:t>More than 400 companies that are members of the ZigBee Alliance</a:t>
            </a:r>
          </a:p>
          <a:p>
            <a:pPr algn="l"/>
            <a:r>
              <a:rPr lang="en-US" dirty="0"/>
              <a:t>ZigBee solutions are aimed at smart objects and sensors that have low bandwidth and low power needs</a:t>
            </a:r>
          </a:p>
          <a:p>
            <a:pPr algn="l"/>
            <a:r>
              <a:rPr lang="en-US" sz="2800" b="0" i="0" u="none" strike="noStrike" baseline="0" dirty="0">
                <a:solidFill>
                  <a:srgbClr val="231F20"/>
                </a:solidFill>
                <a:latin typeface="CiscoSerif-Regular"/>
              </a:rPr>
              <a:t>For home automation, ZigBee can control lighting, thermostats, and security functions</a:t>
            </a:r>
          </a:p>
          <a:p>
            <a:pPr algn="l"/>
            <a:r>
              <a:rPr lang="en-US" sz="2800" b="0" i="0" u="none" strike="noStrike" baseline="0" dirty="0">
                <a:solidFill>
                  <a:srgbClr val="231F20"/>
                </a:solidFill>
                <a:latin typeface="CiscoSerif-Regular"/>
              </a:rPr>
              <a:t>The ZigBee network and security layer provides mechanisms for </a:t>
            </a:r>
            <a:r>
              <a:rPr lang="en-US" sz="2800" b="1" i="0" u="none" strike="noStrike" baseline="0" dirty="0">
                <a:solidFill>
                  <a:srgbClr val="231F20"/>
                </a:solidFill>
                <a:latin typeface="CiscoSerif-Regular"/>
              </a:rPr>
              <a:t>network startup</a:t>
            </a:r>
            <a:r>
              <a:rPr lang="en-US" sz="2800" b="0" i="0" u="none" strike="noStrike" baseline="0" dirty="0">
                <a:solidFill>
                  <a:srgbClr val="231F20"/>
                </a:solidFill>
                <a:latin typeface="CiscoSerif-Regular"/>
              </a:rPr>
              <a:t>, </a:t>
            </a:r>
            <a:r>
              <a:rPr lang="en-US" sz="2800" b="1" i="0" u="none" strike="noStrike" baseline="0" dirty="0">
                <a:solidFill>
                  <a:srgbClr val="231F20"/>
                </a:solidFill>
                <a:latin typeface="CiscoSerif-Regular"/>
              </a:rPr>
              <a:t>configuration</a:t>
            </a:r>
            <a:r>
              <a:rPr lang="en-US" sz="2800" b="0" i="0" u="none" strike="noStrike" baseline="0" dirty="0">
                <a:solidFill>
                  <a:srgbClr val="231F20"/>
                </a:solidFill>
                <a:latin typeface="CiscoSerif-Regular"/>
              </a:rPr>
              <a:t>, </a:t>
            </a:r>
            <a:r>
              <a:rPr lang="en-US" sz="2800" b="1" i="0" u="none" strike="noStrike" baseline="0" dirty="0">
                <a:solidFill>
                  <a:srgbClr val="231F20"/>
                </a:solidFill>
                <a:latin typeface="CiscoSerif-Regular"/>
              </a:rPr>
              <a:t>routing, and securing communications</a:t>
            </a:r>
            <a:r>
              <a:rPr lang="en-US" sz="2800" b="0" i="0" u="none" strike="noStrike" baseline="0" dirty="0">
                <a:solidFill>
                  <a:srgbClr val="231F20"/>
                </a:solidFill>
                <a:latin typeface="CiscoSerif-Regular"/>
              </a:rPr>
              <a:t>. Calculating routing paths in what is often a changing topology, discovering neighbors, and managing the routing tables as devices join for the first time</a:t>
            </a:r>
          </a:p>
          <a:p>
            <a:pPr algn="l"/>
            <a:r>
              <a:rPr lang="en-US" dirty="0">
                <a:solidFill>
                  <a:srgbClr val="231F20"/>
                </a:solidFill>
                <a:latin typeface="CiscoSerif-Regular"/>
              </a:rPr>
              <a:t>Network layer is responsible for forming the appropriate topology, mesh, tree, star.</a:t>
            </a:r>
          </a:p>
          <a:p>
            <a:pPr algn="l"/>
            <a:r>
              <a:rPr lang="en-US" sz="2800" b="0" i="0" u="none" strike="noStrike" baseline="0" dirty="0">
                <a:solidFill>
                  <a:srgbClr val="231F20"/>
                </a:solidFill>
                <a:latin typeface="CiscoSerif-Regular"/>
              </a:rPr>
              <a:t>ZigBee utilizes 802.15.4 for security at the MAC layer, using the Advanced Encryption Standard (AES) with a 128-bit key and also provides security at the network and application layer</a:t>
            </a:r>
            <a:endParaRPr lang="en-US" dirty="0"/>
          </a:p>
        </p:txBody>
      </p:sp>
    </p:spTree>
    <p:extLst>
      <p:ext uri="{BB962C8B-B14F-4D97-AF65-F5344CB8AC3E}">
        <p14:creationId xmlns:p14="http://schemas.microsoft.com/office/powerpoint/2010/main" val="89640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95F39-D062-42D9-B333-EF594E30C91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64B28E7-17D2-47E6-90B1-EE8D64DBB0F8}"/>
              </a:ext>
            </a:extLst>
          </p:cNvPr>
          <p:cNvPicPr>
            <a:picLocks noGrp="1" noChangeAspect="1"/>
          </p:cNvPicPr>
          <p:nvPr>
            <p:ph idx="1"/>
          </p:nvPr>
        </p:nvPicPr>
        <p:blipFill>
          <a:blip r:embed="rId2"/>
          <a:stretch>
            <a:fillRect/>
          </a:stretch>
        </p:blipFill>
        <p:spPr>
          <a:xfrm>
            <a:off x="2583180" y="193406"/>
            <a:ext cx="7025640" cy="4023824"/>
          </a:xfrm>
        </p:spPr>
      </p:pic>
      <p:sp>
        <p:nvSpPr>
          <p:cNvPr id="6" name="TextBox 5">
            <a:extLst>
              <a:ext uri="{FF2B5EF4-FFF2-40B4-BE49-F238E27FC236}">
                <a16:creationId xmlns:a16="http://schemas.microsoft.com/office/drawing/2014/main" id="{4F1D7142-114F-46EF-BBDF-541A61B33257}"/>
              </a:ext>
            </a:extLst>
          </p:cNvPr>
          <p:cNvSpPr txBox="1"/>
          <p:nvPr/>
        </p:nvSpPr>
        <p:spPr>
          <a:xfrm>
            <a:off x="838200" y="4464838"/>
            <a:ext cx="10672481" cy="2031325"/>
          </a:xfrm>
          <a:prstGeom prst="rect">
            <a:avLst/>
          </a:prstGeom>
          <a:noFill/>
        </p:spPr>
        <p:txBody>
          <a:bodyPr wrap="square" rtlCol="0">
            <a:spAutoFit/>
          </a:bodyPr>
          <a:lstStyle/>
          <a:p>
            <a:pPr algn="just"/>
            <a:r>
              <a:rPr lang="en-US" sz="1800" b="0" i="0" u="none" strike="noStrike" baseline="0" dirty="0">
                <a:solidFill>
                  <a:srgbClr val="231F20"/>
                </a:solidFill>
                <a:latin typeface="CiscoSerif-Regular"/>
              </a:rPr>
              <a:t>ZigBee uses </a:t>
            </a:r>
            <a:r>
              <a:rPr lang="en-US" sz="1800" b="1" i="0" u="none" strike="noStrike" baseline="0" dirty="0">
                <a:solidFill>
                  <a:srgbClr val="231F20"/>
                </a:solidFill>
                <a:latin typeface="CiscoSerif-Regular"/>
              </a:rPr>
              <a:t>Ad hoc On-Demand Distance Vector (AODV) </a:t>
            </a:r>
            <a:r>
              <a:rPr lang="en-US" sz="1800" b="0" i="0" u="none" strike="noStrike" baseline="0" dirty="0">
                <a:solidFill>
                  <a:srgbClr val="231F20"/>
                </a:solidFill>
                <a:latin typeface="CiscoSerif-Regular"/>
              </a:rPr>
              <a:t>routing across a mesh network. Interestingly, this routing algorithm does not send a message until a route is needed. Assuming that the next hop for a route is not in its routing table, a network node broadcasts a request for a routing connection. This causes a burst of routing-related traffic, but after a comparison of various responses, the path with the lowest number of hops is determined for the connection. This process is quite different from standard enterprise routing protocols, which usually learn the entire network topology in some manner and then store a consolidated but complete routing table.</a:t>
            </a:r>
            <a:endParaRPr lang="en-US" dirty="0"/>
          </a:p>
        </p:txBody>
      </p:sp>
    </p:spTree>
    <p:extLst>
      <p:ext uri="{BB962C8B-B14F-4D97-AF65-F5344CB8AC3E}">
        <p14:creationId xmlns:p14="http://schemas.microsoft.com/office/powerpoint/2010/main" val="2460281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D9C-F979-407A-8552-E6849A66D887}"/>
              </a:ext>
            </a:extLst>
          </p:cNvPr>
          <p:cNvSpPr>
            <a:spLocks noGrp="1"/>
          </p:cNvSpPr>
          <p:nvPr>
            <p:ph type="title"/>
          </p:nvPr>
        </p:nvSpPr>
        <p:spPr/>
        <p:txBody>
          <a:bodyPr/>
          <a:lstStyle/>
          <a:p>
            <a:r>
              <a:rPr lang="en-US" dirty="0"/>
              <a:t>ZigBee IP</a:t>
            </a:r>
          </a:p>
        </p:txBody>
      </p:sp>
      <p:sp>
        <p:nvSpPr>
          <p:cNvPr id="3" name="Content Placeholder 2">
            <a:extLst>
              <a:ext uri="{FF2B5EF4-FFF2-40B4-BE49-F238E27FC236}">
                <a16:creationId xmlns:a16="http://schemas.microsoft.com/office/drawing/2014/main" id="{B663C08B-7FBD-45D0-A758-60729DAC333C}"/>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With the introduction of ZigBee IP, the support of IEEE 802.15.4 continues, but the IP and TCP/UDP protocols and various other open standards are now supported at the network and transport layers</a:t>
            </a:r>
          </a:p>
          <a:p>
            <a:pPr algn="l"/>
            <a:r>
              <a:rPr lang="en-US" sz="2800" b="0" i="0" u="none" strike="noStrike" baseline="0" dirty="0">
                <a:solidFill>
                  <a:srgbClr val="231F20"/>
                </a:solidFill>
                <a:latin typeface="CiscoSerif-Regular"/>
              </a:rPr>
              <a:t>ZigBee IP was created to embrace the open standards coming from the IETF’s work on LLNs, such as IPv6, 6LoWPAN, and RPL</a:t>
            </a:r>
          </a:p>
          <a:p>
            <a:pPr algn="l"/>
            <a:r>
              <a:rPr lang="en-US" sz="2800" b="0" i="0" u="none" strike="noStrike" baseline="0" dirty="0">
                <a:solidFill>
                  <a:srgbClr val="231F20"/>
                </a:solidFill>
                <a:latin typeface="CiscoSerif-Regular"/>
              </a:rPr>
              <a:t>ZigBee IP is a critical part of the Smart Energy (SE) Profile 2.0 specification from the ZigBee Alliance. SE 2.0 is aimed at smart metering and residential energy management systems</a:t>
            </a:r>
          </a:p>
          <a:p>
            <a:pPr algn="l"/>
            <a:r>
              <a:rPr lang="en-US" sz="2800" b="0" i="0" u="none" strike="noStrike" baseline="0" dirty="0">
                <a:solidFill>
                  <a:srgbClr val="231F20"/>
                </a:solidFill>
                <a:latin typeface="CiscoSerif-Regular"/>
              </a:rPr>
              <a:t>Unlike traditional ZigBee, discussed in the previous section, ZigBee IP supports 6LoWPAN as an adaptation layer</a:t>
            </a:r>
          </a:p>
          <a:p>
            <a:pPr algn="l"/>
            <a:r>
              <a:rPr lang="en-US" sz="2800" b="0" i="0" u="none" strike="noStrike" baseline="0" dirty="0">
                <a:solidFill>
                  <a:srgbClr val="231F20"/>
                </a:solidFill>
                <a:latin typeface="CiscoSerif-Regular"/>
              </a:rPr>
              <a:t>The 6LoWPAN mesh addressing header is not required as ZigBee IP utilizes the mesh-over or route-over method for forwarding packets.</a:t>
            </a:r>
            <a:endParaRPr lang="en-US" dirty="0"/>
          </a:p>
        </p:txBody>
      </p:sp>
    </p:spTree>
    <p:extLst>
      <p:ext uri="{BB962C8B-B14F-4D97-AF65-F5344CB8AC3E}">
        <p14:creationId xmlns:p14="http://schemas.microsoft.com/office/powerpoint/2010/main" val="3894979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D9C-F979-407A-8552-E6849A66D887}"/>
              </a:ext>
            </a:extLst>
          </p:cNvPr>
          <p:cNvSpPr>
            <a:spLocks noGrp="1"/>
          </p:cNvSpPr>
          <p:nvPr>
            <p:ph type="title"/>
          </p:nvPr>
        </p:nvSpPr>
        <p:spPr/>
        <p:txBody>
          <a:bodyPr/>
          <a:lstStyle/>
          <a:p>
            <a:r>
              <a:rPr lang="en-US" dirty="0"/>
              <a:t>ZigBee IP</a:t>
            </a:r>
          </a:p>
        </p:txBody>
      </p:sp>
      <p:pic>
        <p:nvPicPr>
          <p:cNvPr id="5" name="Content Placeholder 4">
            <a:extLst>
              <a:ext uri="{FF2B5EF4-FFF2-40B4-BE49-F238E27FC236}">
                <a16:creationId xmlns:a16="http://schemas.microsoft.com/office/drawing/2014/main" id="{1D3D46CB-3D6D-42F3-B210-AF826AA124B5}"/>
              </a:ext>
            </a:extLst>
          </p:cNvPr>
          <p:cNvPicPr>
            <a:picLocks noGrp="1" noChangeAspect="1"/>
          </p:cNvPicPr>
          <p:nvPr>
            <p:ph idx="1"/>
          </p:nvPr>
        </p:nvPicPr>
        <p:blipFill>
          <a:blip r:embed="rId2"/>
          <a:stretch>
            <a:fillRect/>
          </a:stretch>
        </p:blipFill>
        <p:spPr>
          <a:xfrm>
            <a:off x="2316480" y="1559347"/>
            <a:ext cx="6812280" cy="4826213"/>
          </a:xfrm>
        </p:spPr>
      </p:pic>
    </p:spTree>
    <p:extLst>
      <p:ext uri="{BB962C8B-B14F-4D97-AF65-F5344CB8AC3E}">
        <p14:creationId xmlns:p14="http://schemas.microsoft.com/office/powerpoint/2010/main" val="1835629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8BF6-43F2-4AD1-B3E7-D0B60086B5A1}"/>
              </a:ext>
            </a:extLst>
          </p:cNvPr>
          <p:cNvSpPr>
            <a:spLocks noGrp="1"/>
          </p:cNvSpPr>
          <p:nvPr>
            <p:ph type="title"/>
          </p:nvPr>
        </p:nvSpPr>
        <p:spPr/>
        <p:txBody>
          <a:bodyPr/>
          <a:lstStyle/>
          <a:p>
            <a:r>
              <a:rPr lang="en-US" dirty="0"/>
              <a:t>ZigBee IP</a:t>
            </a:r>
          </a:p>
        </p:txBody>
      </p:sp>
      <p:sp>
        <p:nvSpPr>
          <p:cNvPr id="3" name="Content Placeholder 2">
            <a:extLst>
              <a:ext uri="{FF2B5EF4-FFF2-40B4-BE49-F238E27FC236}">
                <a16:creationId xmlns:a16="http://schemas.microsoft.com/office/drawing/2014/main" id="{0711CAAA-4F3B-46CA-8609-B52C7C7F7D43}"/>
              </a:ext>
            </a:extLst>
          </p:cNvPr>
          <p:cNvSpPr>
            <a:spLocks noGrp="1"/>
          </p:cNvSpPr>
          <p:nvPr>
            <p:ph idx="1"/>
          </p:nvPr>
        </p:nvSpPr>
        <p:spPr/>
        <p:txBody>
          <a:bodyPr/>
          <a:lstStyle/>
          <a:p>
            <a:pPr algn="l"/>
            <a:r>
              <a:rPr lang="en-US" sz="2800" b="0" i="0" u="none" strike="noStrike" baseline="0" dirty="0">
                <a:solidFill>
                  <a:srgbClr val="231F20"/>
                </a:solidFill>
                <a:latin typeface="CiscoSerif-Regular"/>
              </a:rPr>
              <a:t>At the network layer, all ZigBee IP nodes support IPv6, ICMPv6, and 6LoWPAN Neighbor Discovery (ND), and utilize RPL for the routing of packets across the mesh network.</a:t>
            </a:r>
          </a:p>
          <a:p>
            <a:pPr algn="l"/>
            <a:r>
              <a:rPr lang="en-US" sz="2800" b="0" i="0" u="none" strike="noStrike" baseline="0" dirty="0">
                <a:solidFill>
                  <a:srgbClr val="231F20"/>
                </a:solidFill>
                <a:latin typeface="CiscoSerif-Regular"/>
              </a:rPr>
              <a:t>TCP and UDP are also supported, to provide both connection-oriented and connectionless service.</a:t>
            </a:r>
          </a:p>
          <a:p>
            <a:pPr algn="l"/>
            <a:r>
              <a:rPr lang="en-US" dirty="0">
                <a:solidFill>
                  <a:srgbClr val="231F20"/>
                </a:solidFill>
                <a:latin typeface="CiscoSerif-Regular"/>
              </a:rPr>
              <a:t>ZigBee IP is based on current IoT standards at every layer under the application layer. </a:t>
            </a:r>
          </a:p>
          <a:p>
            <a:pPr algn="l"/>
            <a:r>
              <a:rPr lang="en-US" dirty="0">
                <a:solidFill>
                  <a:srgbClr val="231F20"/>
                </a:solidFill>
                <a:latin typeface="CiscoSerif-Regular"/>
              </a:rPr>
              <a:t>ZigBee IP can integrate and interoperate on just about any 802.15.4 network</a:t>
            </a:r>
            <a:endParaRPr lang="en-US" dirty="0"/>
          </a:p>
        </p:txBody>
      </p:sp>
    </p:spTree>
    <p:extLst>
      <p:ext uri="{BB962C8B-B14F-4D97-AF65-F5344CB8AC3E}">
        <p14:creationId xmlns:p14="http://schemas.microsoft.com/office/powerpoint/2010/main" val="1343047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902F-8AB2-4CFA-8F2C-F03FD8D067BB}"/>
              </a:ext>
            </a:extLst>
          </p:cNvPr>
          <p:cNvSpPr>
            <a:spLocks noGrp="1"/>
          </p:cNvSpPr>
          <p:nvPr>
            <p:ph type="title"/>
          </p:nvPr>
        </p:nvSpPr>
        <p:spPr/>
        <p:txBody>
          <a:bodyPr/>
          <a:lstStyle/>
          <a:p>
            <a:r>
              <a:rPr lang="en-US" dirty="0"/>
              <a:t>Physical Layer</a:t>
            </a:r>
          </a:p>
        </p:txBody>
      </p:sp>
      <p:sp>
        <p:nvSpPr>
          <p:cNvPr id="3" name="Content Placeholder 2">
            <a:extLst>
              <a:ext uri="{FF2B5EF4-FFF2-40B4-BE49-F238E27FC236}">
                <a16:creationId xmlns:a16="http://schemas.microsoft.com/office/drawing/2014/main" id="{2523F051-369E-4F68-B93F-BDBA16E0B5D5}"/>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The 802.15.4 standard supports an extensive number of PHY options that range from 2.4 GHz to sub-GHz frequencies in ISM bands</a:t>
            </a:r>
          </a:p>
          <a:p>
            <a:pPr algn="l"/>
            <a:r>
              <a:rPr lang="en-US" sz="2800" b="0" i="0" u="none" strike="noStrike" baseline="0" dirty="0">
                <a:solidFill>
                  <a:srgbClr val="231F20"/>
                </a:solidFill>
                <a:latin typeface="CiscoSerif-Regular"/>
              </a:rPr>
              <a:t>The original IEEE 802.15.4-2003 standard specified only three PHY options based on direct sequence spread spectrum (DSSS)modulation</a:t>
            </a:r>
          </a:p>
          <a:p>
            <a:pPr algn="l"/>
            <a:r>
              <a:rPr lang="en-US" sz="2800" b="0" i="0" u="none" strike="noStrike" baseline="0" dirty="0">
                <a:solidFill>
                  <a:srgbClr val="231F20"/>
                </a:solidFill>
                <a:latin typeface="CiscoSerif-Regular"/>
              </a:rPr>
              <a:t>DSSS is a modulation technique in which a signal is intentionally spread in the frequency domain, resulting in greater bandwidth</a:t>
            </a:r>
          </a:p>
          <a:p>
            <a:pPr algn="l"/>
            <a:r>
              <a:rPr lang="en-US" sz="2800" b="0" i="0" u="none" strike="noStrike" baseline="0" dirty="0">
                <a:solidFill>
                  <a:srgbClr val="231F20"/>
                </a:solidFill>
                <a:latin typeface="CiscoSerif-Regular"/>
              </a:rPr>
              <a:t>The original physical layer transmission options were as follows:</a:t>
            </a:r>
          </a:p>
          <a:p>
            <a:pPr lvl="1"/>
            <a:r>
              <a:rPr lang="en-US" b="0" i="0" u="none" strike="noStrike" baseline="0" dirty="0">
                <a:solidFill>
                  <a:srgbClr val="231F20"/>
                </a:solidFill>
                <a:latin typeface="CiscoSerif-Regular"/>
              </a:rPr>
              <a:t>2.4 GHz, 16 channels, with a data rate of 250 kbps</a:t>
            </a:r>
          </a:p>
          <a:p>
            <a:pPr lvl="1"/>
            <a:r>
              <a:rPr lang="en-US" b="0" i="0" u="none" strike="noStrike" baseline="0" dirty="0">
                <a:solidFill>
                  <a:srgbClr val="231F20"/>
                </a:solidFill>
                <a:latin typeface="CiscoSerif-Regular"/>
              </a:rPr>
              <a:t>915 MHz, 10 channels, with a data rate of 40 kbps</a:t>
            </a:r>
          </a:p>
          <a:p>
            <a:pPr lvl="1"/>
            <a:r>
              <a:rPr lang="en-US" b="0" i="0" u="none" strike="noStrike" baseline="0" dirty="0">
                <a:solidFill>
                  <a:srgbClr val="231F20"/>
                </a:solidFill>
                <a:latin typeface="CiscoSerif-Regular"/>
              </a:rPr>
              <a:t>868 MHz, 1 channel, with a data rate of 20 kbps</a:t>
            </a:r>
            <a:endParaRPr lang="en-US" dirty="0"/>
          </a:p>
        </p:txBody>
      </p:sp>
    </p:spTree>
    <p:extLst>
      <p:ext uri="{BB962C8B-B14F-4D97-AF65-F5344CB8AC3E}">
        <p14:creationId xmlns:p14="http://schemas.microsoft.com/office/powerpoint/2010/main" val="3692007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54F46-C0A7-44E2-935D-A0433F9D9E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24E3EF-B6AF-4E2D-BA79-2819F0F6C777}"/>
              </a:ext>
            </a:extLst>
          </p:cNvPr>
          <p:cNvSpPr>
            <a:spLocks noGrp="1"/>
          </p:cNvSpPr>
          <p:nvPr>
            <p:ph idx="1"/>
          </p:nvPr>
        </p:nvSpPr>
        <p:spPr/>
        <p:txBody>
          <a:bodyPr>
            <a:normAutofit fontScale="77500" lnSpcReduction="20000"/>
          </a:bodyPr>
          <a:lstStyle/>
          <a:p>
            <a:pPr algn="l"/>
            <a:r>
              <a:rPr lang="en-US" sz="2800" b="0" i="0" u="none" strike="noStrike" baseline="0" dirty="0">
                <a:solidFill>
                  <a:srgbClr val="231F20"/>
                </a:solidFill>
                <a:latin typeface="CiscoSerif-Regular"/>
              </a:rPr>
              <a:t>IEEE 802.15.4-2006, 802.15.4-2011, and IEEE 802.15.4-2015 introduced additional PHY communication options, including the following:</a:t>
            </a:r>
          </a:p>
          <a:p>
            <a:pPr algn="l"/>
            <a:r>
              <a:rPr lang="en-US" sz="2800" b="1" i="0" u="none" strike="noStrike" baseline="0" dirty="0">
                <a:solidFill>
                  <a:srgbClr val="231F20"/>
                </a:solidFill>
                <a:latin typeface="CiscoSerif-Bold"/>
              </a:rPr>
              <a:t>OQPSK PHY: </a:t>
            </a:r>
            <a:r>
              <a:rPr lang="en-US" sz="2800" b="0" i="0" u="none" strike="noStrike" baseline="0" dirty="0">
                <a:solidFill>
                  <a:srgbClr val="231F20"/>
                </a:solidFill>
                <a:latin typeface="CiscoSerif-Regular"/>
              </a:rPr>
              <a:t>This is DSSS PHY, employing offset quadrature phase-shift keying (OQPSK) modulation. OQPSK is a modulation technique that uses four unique bit values that are signaled by phase changes. An offset function that is present during phase shifts allows data to be transmitted more reliably.</a:t>
            </a:r>
          </a:p>
          <a:p>
            <a:pPr algn="l"/>
            <a:r>
              <a:rPr lang="en-US" sz="2800" b="1" i="0" u="none" strike="noStrike" baseline="0" dirty="0">
                <a:solidFill>
                  <a:srgbClr val="231F20"/>
                </a:solidFill>
                <a:latin typeface="CiscoSerif-Bold"/>
              </a:rPr>
              <a:t>BPSK PHY: </a:t>
            </a:r>
            <a:r>
              <a:rPr lang="en-US" sz="2800" b="0" i="0" u="none" strike="noStrike" baseline="0" dirty="0">
                <a:solidFill>
                  <a:srgbClr val="231F20"/>
                </a:solidFill>
                <a:latin typeface="CiscoSerif-Regular"/>
              </a:rPr>
              <a:t>This is DSSS PHY, employing binary phase-shift keying (BPSK) modulation. BPSK specifies two unique phase shifts as its data encoding scheme.</a:t>
            </a:r>
          </a:p>
          <a:p>
            <a:pPr algn="l"/>
            <a:r>
              <a:rPr lang="en-US" sz="2800" b="1" i="0" u="none" strike="noStrike" baseline="0" dirty="0">
                <a:solidFill>
                  <a:srgbClr val="231F20"/>
                </a:solidFill>
                <a:latin typeface="CiscoSerif-Bold"/>
              </a:rPr>
              <a:t>ASK PHY: </a:t>
            </a:r>
            <a:r>
              <a:rPr lang="en-US" sz="2800" b="0" i="0" u="none" strike="noStrike" baseline="0" dirty="0">
                <a:solidFill>
                  <a:srgbClr val="231F20"/>
                </a:solidFill>
                <a:latin typeface="CiscoSerif-Regular"/>
              </a:rPr>
              <a:t>This is parallel sequence spread spectrum (PSSS) PHY, employing amplitude shift keying (ASK) and BPSK modulation. PSSS is an advanced encoding scheme that offers increased range, throughput, data rates, and signal integrity compared to DSSS. ASK uses amplitude shifts instead of phase shifts to signal different bit values.</a:t>
            </a:r>
          </a:p>
          <a:p>
            <a:pPr algn="l"/>
            <a:r>
              <a:rPr lang="en-US" sz="2800" b="0" i="0" u="none" strike="noStrike" baseline="0" dirty="0">
                <a:solidFill>
                  <a:srgbClr val="231F20"/>
                </a:solidFill>
                <a:latin typeface="CiscoSerif-Regular"/>
              </a:rPr>
              <a:t>These improvements increase the maximum data rate for both 868 MHz and 915 MHz to 100 kbps and 250 kbps, respectively</a:t>
            </a:r>
            <a:endParaRPr lang="en-US" dirty="0"/>
          </a:p>
        </p:txBody>
      </p:sp>
    </p:spTree>
    <p:extLst>
      <p:ext uri="{BB962C8B-B14F-4D97-AF65-F5344CB8AC3E}">
        <p14:creationId xmlns:p14="http://schemas.microsoft.com/office/powerpoint/2010/main" val="1334785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379D-1D2E-4019-A862-12E55220DF9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91AC561-221B-407B-9137-B1492CB1F15D}"/>
              </a:ext>
            </a:extLst>
          </p:cNvPr>
          <p:cNvPicPr>
            <a:picLocks noGrp="1" noChangeAspect="1"/>
          </p:cNvPicPr>
          <p:nvPr>
            <p:ph idx="1"/>
          </p:nvPr>
        </p:nvPicPr>
        <p:blipFill>
          <a:blip r:embed="rId2"/>
          <a:stretch>
            <a:fillRect/>
          </a:stretch>
        </p:blipFill>
        <p:spPr>
          <a:xfrm>
            <a:off x="975360" y="486252"/>
            <a:ext cx="10241280" cy="2408872"/>
          </a:xfrm>
        </p:spPr>
      </p:pic>
      <p:sp>
        <p:nvSpPr>
          <p:cNvPr id="6" name="TextBox 5">
            <a:extLst>
              <a:ext uri="{FF2B5EF4-FFF2-40B4-BE49-F238E27FC236}">
                <a16:creationId xmlns:a16="http://schemas.microsoft.com/office/drawing/2014/main" id="{021BAA60-EC44-4BA1-BFA3-A72B0D018D9F}"/>
              </a:ext>
            </a:extLst>
          </p:cNvPr>
          <p:cNvSpPr txBox="1"/>
          <p:nvPr/>
        </p:nvSpPr>
        <p:spPr>
          <a:xfrm>
            <a:off x="564775" y="2895124"/>
            <a:ext cx="11080377" cy="3139321"/>
          </a:xfrm>
          <a:prstGeom prst="rect">
            <a:avLst/>
          </a:prstGeom>
          <a:noFill/>
        </p:spPr>
        <p:txBody>
          <a:bodyPr wrap="square" rtlCol="0">
            <a:spAutoFit/>
          </a:bodyPr>
          <a:lstStyle/>
          <a:p>
            <a:pPr marL="285750" indent="-285750" algn="l">
              <a:buFont typeface="Arial" panose="020B0604020202020204" pitchFamily="34" charset="0"/>
              <a:buChar char="•"/>
            </a:pPr>
            <a:r>
              <a:rPr lang="en-US" sz="2200" b="0" i="0" u="none" strike="noStrike" baseline="0" dirty="0">
                <a:solidFill>
                  <a:srgbClr val="231F20"/>
                </a:solidFill>
                <a:latin typeface="CiscoSerif-Regular"/>
              </a:rPr>
              <a:t>Figure 4-5 shows the frame for the 802.15.4 physical layer. The synchronization header for this frame is composed of the Preamble and the Start of Frame Delimiter fields. The Preamble field is a 32-bit 4-byte (for parallel construction) pattern that identifies the start of the frame and is used to synchronize the data transmission</a:t>
            </a:r>
          </a:p>
          <a:p>
            <a:pPr marL="285750" indent="-285750" algn="l">
              <a:buFont typeface="Arial" panose="020B0604020202020204" pitchFamily="34" charset="0"/>
              <a:buChar char="•"/>
            </a:pPr>
            <a:r>
              <a:rPr lang="en-US" sz="2200" b="0" i="0" u="none" strike="noStrike" baseline="0" dirty="0">
                <a:solidFill>
                  <a:srgbClr val="231F20"/>
                </a:solidFill>
                <a:latin typeface="CiscoSerif-Regular"/>
              </a:rPr>
              <a:t>The Start of Frame Delimiter field informs the receiver that frame contents start immediately after this byte.</a:t>
            </a:r>
          </a:p>
          <a:p>
            <a:pPr marL="285750" indent="-285750" algn="l">
              <a:buFont typeface="Arial" panose="020B0604020202020204" pitchFamily="34" charset="0"/>
              <a:buChar char="•"/>
            </a:pPr>
            <a:r>
              <a:rPr lang="en-US" sz="2200" b="0" i="0" u="none" strike="noStrike" baseline="0" dirty="0">
                <a:solidFill>
                  <a:srgbClr val="231F20"/>
                </a:solidFill>
                <a:latin typeface="CiscoSerif-Regular"/>
              </a:rPr>
              <a:t>The PHY Header portion of the PHY frame shown in Figure 4-5 is simply a frame length value. It lets the receiver know how much total data to expect in the PHY service data unit (PSDU) portion of the 802.4.15 PHY. The PSDU is the data field or payload.</a:t>
            </a:r>
            <a:endParaRPr lang="en-US" sz="2200" dirty="0"/>
          </a:p>
        </p:txBody>
      </p:sp>
    </p:spTree>
    <p:extLst>
      <p:ext uri="{BB962C8B-B14F-4D97-AF65-F5344CB8AC3E}">
        <p14:creationId xmlns:p14="http://schemas.microsoft.com/office/powerpoint/2010/main" val="3498410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8C663-0108-4D40-8283-7FD7B01B62C3}"/>
              </a:ext>
            </a:extLst>
          </p:cNvPr>
          <p:cNvSpPr>
            <a:spLocks noGrp="1"/>
          </p:cNvSpPr>
          <p:nvPr>
            <p:ph type="title"/>
          </p:nvPr>
        </p:nvSpPr>
        <p:spPr/>
        <p:txBody>
          <a:bodyPr/>
          <a:lstStyle/>
          <a:p>
            <a:r>
              <a:rPr lang="en-US" dirty="0"/>
              <a:t>MAC Layer</a:t>
            </a:r>
          </a:p>
        </p:txBody>
      </p:sp>
      <p:sp>
        <p:nvSpPr>
          <p:cNvPr id="3" name="Content Placeholder 2">
            <a:extLst>
              <a:ext uri="{FF2B5EF4-FFF2-40B4-BE49-F238E27FC236}">
                <a16:creationId xmlns:a16="http://schemas.microsoft.com/office/drawing/2014/main" id="{4804F484-F053-4D8C-A202-0036EA33F125}"/>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IEEE 802.15.4 MAC layer manages access to the PHY channel by defining how devices in the same area will share the frequencies allocated</a:t>
            </a:r>
          </a:p>
          <a:p>
            <a:pPr algn="l"/>
            <a:r>
              <a:rPr lang="en-US" dirty="0">
                <a:solidFill>
                  <a:srgbClr val="231F20"/>
                </a:solidFill>
                <a:latin typeface="CiscoSerif-Regular"/>
              </a:rPr>
              <a:t>T</a:t>
            </a:r>
            <a:r>
              <a:rPr lang="en-US" sz="2800" b="0" i="0" u="none" strike="noStrike" baseline="0" dirty="0">
                <a:solidFill>
                  <a:srgbClr val="231F20"/>
                </a:solidFill>
                <a:latin typeface="CiscoSerif-Regular"/>
              </a:rPr>
              <a:t>he scheduling and routing of data frames are also coordinated</a:t>
            </a:r>
          </a:p>
          <a:p>
            <a:pPr lvl="1"/>
            <a:r>
              <a:rPr lang="en-US" sz="2000" b="0" i="0" u="none" strike="noStrike" baseline="0" dirty="0">
                <a:solidFill>
                  <a:srgbClr val="231F20"/>
                </a:solidFill>
                <a:latin typeface="CiscoSerif-Regular"/>
              </a:rPr>
              <a:t>Network beaconing for devices acting as coordinators (New devices use beacons to join an 802.15.4 network)</a:t>
            </a:r>
          </a:p>
          <a:p>
            <a:pPr lvl="1"/>
            <a:r>
              <a:rPr lang="en-US" sz="2000" b="0" i="0" u="none" strike="noStrike" baseline="0" dirty="0">
                <a:solidFill>
                  <a:srgbClr val="231F20"/>
                </a:solidFill>
                <a:latin typeface="CiscoSerif-Regular"/>
              </a:rPr>
              <a:t>PAN association and disassociation by a device</a:t>
            </a:r>
          </a:p>
          <a:p>
            <a:pPr lvl="1"/>
            <a:r>
              <a:rPr lang="en-US" sz="2000" b="0" i="0" u="none" strike="noStrike" baseline="0" dirty="0">
                <a:solidFill>
                  <a:srgbClr val="231F20"/>
                </a:solidFill>
                <a:latin typeface="CiscoSerif-Regular"/>
              </a:rPr>
              <a:t>Device security</a:t>
            </a:r>
          </a:p>
          <a:p>
            <a:pPr lvl="1"/>
            <a:r>
              <a:rPr lang="en-US" sz="2000" b="0" i="0" u="none" strike="noStrike" baseline="0" dirty="0">
                <a:solidFill>
                  <a:srgbClr val="231F20"/>
                </a:solidFill>
                <a:latin typeface="CiscoSerif-Regular"/>
              </a:rPr>
              <a:t>Reliable link communications between two peer MAC entities</a:t>
            </a:r>
          </a:p>
          <a:p>
            <a:pPr algn="l"/>
            <a:r>
              <a:rPr lang="en-US" sz="2000" b="0" i="0" u="none" strike="noStrike" baseline="0" dirty="0">
                <a:solidFill>
                  <a:srgbClr val="231F20"/>
                </a:solidFill>
                <a:latin typeface="CiscoSerif-Regular"/>
              </a:rPr>
              <a:t>The MAC layer achieves these tasks by using various predefined frame types. In fact, four types of MAC frames are specified in 802.15.4:</a:t>
            </a:r>
          </a:p>
          <a:p>
            <a:pPr lvl="1"/>
            <a:r>
              <a:rPr lang="en-US" sz="2100" b="1" dirty="0">
                <a:solidFill>
                  <a:srgbClr val="231F20"/>
                </a:solidFill>
                <a:latin typeface="CiscoSerif-Regular"/>
              </a:rPr>
              <a:t>Data frame</a:t>
            </a:r>
            <a:r>
              <a:rPr lang="en-US" sz="2100" dirty="0">
                <a:solidFill>
                  <a:srgbClr val="231F20"/>
                </a:solidFill>
                <a:latin typeface="CiscoSerif-Regular"/>
              </a:rPr>
              <a:t>: Handles all transfers of data</a:t>
            </a:r>
          </a:p>
          <a:p>
            <a:pPr lvl="1"/>
            <a:r>
              <a:rPr lang="en-US" sz="2100" b="1" dirty="0">
                <a:solidFill>
                  <a:srgbClr val="231F20"/>
                </a:solidFill>
                <a:latin typeface="CiscoSerif-Regular"/>
              </a:rPr>
              <a:t>Beacon frame</a:t>
            </a:r>
            <a:r>
              <a:rPr lang="en-US" sz="2100" dirty="0">
                <a:solidFill>
                  <a:srgbClr val="231F20"/>
                </a:solidFill>
                <a:latin typeface="CiscoSerif-Regular"/>
              </a:rPr>
              <a:t>: Used in the transmission of beacons from a PAN coordinator</a:t>
            </a:r>
          </a:p>
          <a:p>
            <a:pPr lvl="1"/>
            <a:r>
              <a:rPr lang="en-US" sz="2100" b="1" dirty="0">
                <a:solidFill>
                  <a:srgbClr val="231F20"/>
                </a:solidFill>
                <a:latin typeface="CiscoSerif-Regular"/>
              </a:rPr>
              <a:t>Acknowledgement frame</a:t>
            </a:r>
            <a:r>
              <a:rPr lang="en-US" sz="2100" dirty="0">
                <a:solidFill>
                  <a:srgbClr val="231F20"/>
                </a:solidFill>
                <a:latin typeface="CiscoSerif-Regular"/>
              </a:rPr>
              <a:t>: Confirms the successful reception of a frame</a:t>
            </a:r>
          </a:p>
          <a:p>
            <a:pPr lvl="1"/>
            <a:r>
              <a:rPr lang="en-US" sz="2100" b="1" dirty="0">
                <a:solidFill>
                  <a:srgbClr val="231F20"/>
                </a:solidFill>
                <a:latin typeface="CiscoSerif-Regular"/>
              </a:rPr>
              <a:t>MAC command frame</a:t>
            </a:r>
            <a:r>
              <a:rPr lang="en-US" sz="2100" dirty="0">
                <a:solidFill>
                  <a:srgbClr val="231F20"/>
                </a:solidFill>
                <a:latin typeface="CiscoSerif-Regular"/>
              </a:rPr>
              <a:t>: Responsible for control communication between devices</a:t>
            </a:r>
          </a:p>
        </p:txBody>
      </p:sp>
    </p:spTree>
    <p:extLst>
      <p:ext uri="{BB962C8B-B14F-4D97-AF65-F5344CB8AC3E}">
        <p14:creationId xmlns:p14="http://schemas.microsoft.com/office/powerpoint/2010/main" val="3833695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3937-F2DD-4553-A772-26D6537218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BF55DD8-FC7C-404E-ADAD-E55421A4C5F7}"/>
              </a:ext>
            </a:extLst>
          </p:cNvPr>
          <p:cNvPicPr>
            <a:picLocks noGrp="1" noChangeAspect="1"/>
          </p:cNvPicPr>
          <p:nvPr>
            <p:ph idx="1"/>
          </p:nvPr>
        </p:nvPicPr>
        <p:blipFill>
          <a:blip r:embed="rId2"/>
          <a:stretch>
            <a:fillRect/>
          </a:stretch>
        </p:blipFill>
        <p:spPr>
          <a:xfrm>
            <a:off x="1022873" y="1027906"/>
            <a:ext cx="9359153" cy="4306094"/>
          </a:xfrm>
        </p:spPr>
      </p:pic>
    </p:spTree>
    <p:extLst>
      <p:ext uri="{BB962C8B-B14F-4D97-AF65-F5344CB8AC3E}">
        <p14:creationId xmlns:p14="http://schemas.microsoft.com/office/powerpoint/2010/main" val="29227542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1D7F-9FEF-4EEC-8C46-5BAC480418CD}"/>
              </a:ext>
            </a:extLst>
          </p:cNvPr>
          <p:cNvSpPr>
            <a:spLocks noGrp="1"/>
          </p:cNvSpPr>
          <p:nvPr>
            <p:ph type="title"/>
          </p:nvPr>
        </p:nvSpPr>
        <p:spPr/>
        <p:txBody>
          <a:bodyPr/>
          <a:lstStyle/>
          <a:p>
            <a:r>
              <a:rPr lang="en-US" dirty="0"/>
              <a:t>Topology</a:t>
            </a:r>
          </a:p>
        </p:txBody>
      </p:sp>
      <p:pic>
        <p:nvPicPr>
          <p:cNvPr id="5" name="Content Placeholder 4">
            <a:extLst>
              <a:ext uri="{FF2B5EF4-FFF2-40B4-BE49-F238E27FC236}">
                <a16:creationId xmlns:a16="http://schemas.microsoft.com/office/drawing/2014/main" id="{AAEF20AB-FBC8-48C3-9C95-C07133D72EF0}"/>
              </a:ext>
            </a:extLst>
          </p:cNvPr>
          <p:cNvPicPr>
            <a:picLocks noGrp="1" noChangeAspect="1"/>
          </p:cNvPicPr>
          <p:nvPr>
            <p:ph idx="1"/>
          </p:nvPr>
        </p:nvPicPr>
        <p:blipFill>
          <a:blip r:embed="rId2"/>
          <a:stretch>
            <a:fillRect/>
          </a:stretch>
        </p:blipFill>
        <p:spPr>
          <a:xfrm>
            <a:off x="2244743" y="1423195"/>
            <a:ext cx="6451022" cy="2820352"/>
          </a:xfrm>
        </p:spPr>
      </p:pic>
      <p:sp>
        <p:nvSpPr>
          <p:cNvPr id="6" name="TextBox 5">
            <a:extLst>
              <a:ext uri="{FF2B5EF4-FFF2-40B4-BE49-F238E27FC236}">
                <a16:creationId xmlns:a16="http://schemas.microsoft.com/office/drawing/2014/main" id="{1EE4B165-6600-4170-94D3-C1BC73FF65F8}"/>
              </a:ext>
            </a:extLst>
          </p:cNvPr>
          <p:cNvSpPr txBox="1"/>
          <p:nvPr/>
        </p:nvSpPr>
        <p:spPr>
          <a:xfrm>
            <a:off x="973566" y="4280643"/>
            <a:ext cx="10380233" cy="2308324"/>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31F20"/>
                </a:solidFill>
                <a:latin typeface="CiscoSerif-Regular"/>
              </a:rPr>
              <a:t>802.15.4 PAN should be set up with a unique ID.</a:t>
            </a:r>
          </a:p>
          <a:p>
            <a:pPr marL="285750" indent="-285750" algn="l">
              <a:buFont typeface="Arial" panose="020B0604020202020204" pitchFamily="34" charset="0"/>
              <a:buChar char="•"/>
            </a:pPr>
            <a:r>
              <a:rPr lang="en-US" sz="1800" b="0" i="0" u="none" strike="noStrike" baseline="0" dirty="0">
                <a:solidFill>
                  <a:srgbClr val="231F20"/>
                </a:solidFill>
                <a:latin typeface="CiscoSerif-Regular"/>
              </a:rPr>
              <a:t>Full-function devices (FFDs) and reduced-function devices (RFDs) are defined in IEEE 802.15.4.</a:t>
            </a:r>
          </a:p>
          <a:p>
            <a:pPr marL="285750" indent="-285750" algn="l">
              <a:buFont typeface="Arial" panose="020B0604020202020204" pitchFamily="34" charset="0"/>
              <a:buChar char="•"/>
            </a:pPr>
            <a:r>
              <a:rPr lang="en-US" sz="1800" b="0" i="0" u="none" strike="noStrike" baseline="0" dirty="0">
                <a:solidFill>
                  <a:srgbClr val="231F20"/>
                </a:solidFill>
                <a:latin typeface="CiscoSerif-Regular"/>
              </a:rPr>
              <a:t>A minimum of one FFD acting as a PAN coordinator is required to deliver services that allow other devices to associate and form a cell or PAN</a:t>
            </a:r>
          </a:p>
          <a:p>
            <a:pPr marL="285750" indent="-285750" algn="l">
              <a:buFont typeface="Arial" panose="020B0604020202020204" pitchFamily="34" charset="0"/>
              <a:buChar char="•"/>
            </a:pPr>
            <a:r>
              <a:rPr lang="en-US" sz="1800" b="0" i="0" u="none" strike="noStrike" baseline="0" dirty="0">
                <a:solidFill>
                  <a:srgbClr val="231F20"/>
                </a:solidFill>
                <a:latin typeface="CiscoSerif-Regular"/>
              </a:rPr>
              <a:t>FFD devices can communicate with any other devices, whereas RFD devices can communicate only with FFD devices</a:t>
            </a:r>
          </a:p>
          <a:p>
            <a:pPr marL="285750" indent="-285750" algn="l">
              <a:buFont typeface="Arial" panose="020B0604020202020204" pitchFamily="34" charset="0"/>
              <a:buChar char="•"/>
            </a:pPr>
            <a:endParaRPr lang="en-US" sz="1800" b="0" i="0" u="none" strike="noStrike" baseline="0" dirty="0">
              <a:solidFill>
                <a:srgbClr val="231F20"/>
              </a:solidFill>
              <a:latin typeface="CiscoSerif-Regular"/>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758098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DECEF-63AD-4FCF-93D2-CA772CEB7631}"/>
              </a:ext>
            </a:extLst>
          </p:cNvPr>
          <p:cNvSpPr>
            <a:spLocks noGrp="1"/>
          </p:cNvSpPr>
          <p:nvPr>
            <p:ph type="title"/>
          </p:nvPr>
        </p:nvSpPr>
        <p:spPr/>
        <p:txBody>
          <a:bodyPr/>
          <a:lstStyle/>
          <a:p>
            <a:r>
              <a:rPr lang="en-US" dirty="0"/>
              <a:t>Zigbee Network Architecture</a:t>
            </a:r>
          </a:p>
        </p:txBody>
      </p:sp>
      <p:pic>
        <p:nvPicPr>
          <p:cNvPr id="4" name="Content Placeholder 3">
            <a:extLst>
              <a:ext uri="{FF2B5EF4-FFF2-40B4-BE49-F238E27FC236}">
                <a16:creationId xmlns:a16="http://schemas.microsoft.com/office/drawing/2014/main" id="{9D75368F-DAAB-442C-96FC-4F947D5E8E2C}"/>
              </a:ext>
            </a:extLst>
          </p:cNvPr>
          <p:cNvPicPr>
            <a:picLocks noGrp="1" noChangeAspect="1"/>
          </p:cNvPicPr>
          <p:nvPr>
            <p:ph idx="1"/>
          </p:nvPr>
        </p:nvPicPr>
        <p:blipFill>
          <a:blip r:embed="rId2"/>
          <a:stretch>
            <a:fillRect/>
          </a:stretch>
        </p:blipFill>
        <p:spPr>
          <a:xfrm>
            <a:off x="2341756" y="1690688"/>
            <a:ext cx="6797481" cy="4802187"/>
          </a:xfrm>
          <a:prstGeom prst="rect">
            <a:avLst/>
          </a:prstGeom>
        </p:spPr>
      </p:pic>
    </p:spTree>
    <p:extLst>
      <p:ext uri="{BB962C8B-B14F-4D97-AF65-F5344CB8AC3E}">
        <p14:creationId xmlns:p14="http://schemas.microsoft.com/office/powerpoint/2010/main" val="3218298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342A2-A391-4FEC-B70E-11038877A87F}"/>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6F043295-CB5F-4252-B475-9DAEEFD54588}"/>
              </a:ext>
            </a:extLst>
          </p:cNvPr>
          <p:cNvPicPr>
            <a:picLocks noGrp="1" noChangeAspect="1"/>
          </p:cNvPicPr>
          <p:nvPr>
            <p:ph idx="1"/>
          </p:nvPr>
        </p:nvPicPr>
        <p:blipFill rotWithShape="1">
          <a:blip r:embed="rId2"/>
          <a:srcRect t="8148" r="46253" b="10009"/>
          <a:stretch/>
        </p:blipFill>
        <p:spPr>
          <a:xfrm>
            <a:off x="838200" y="541519"/>
            <a:ext cx="10515600" cy="5935314"/>
          </a:xfrm>
        </p:spPr>
      </p:pic>
    </p:spTree>
    <p:extLst>
      <p:ext uri="{BB962C8B-B14F-4D97-AF65-F5344CB8AC3E}">
        <p14:creationId xmlns:p14="http://schemas.microsoft.com/office/powerpoint/2010/main" val="3073032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73EB-1353-4E87-A5CB-EE1B9330AF3D}"/>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D60285AA-3551-4F43-A519-6EB4F46851C1}"/>
              </a:ext>
            </a:extLst>
          </p:cNvPr>
          <p:cNvSpPr>
            <a:spLocks noGrp="1"/>
          </p:cNvSpPr>
          <p:nvPr>
            <p:ph idx="1"/>
          </p:nvPr>
        </p:nvSpPr>
        <p:spPr/>
        <p:txBody>
          <a:bodyPr/>
          <a:lstStyle/>
          <a:p>
            <a:pPr marL="0" indent="0">
              <a:buNone/>
            </a:pPr>
            <a:r>
              <a:rPr lang="en-US" dirty="0"/>
              <a:t>6LowPAN</a:t>
            </a:r>
          </a:p>
          <a:p>
            <a:pPr marL="0" indent="0">
              <a:buNone/>
            </a:pPr>
            <a:r>
              <a:rPr lang="en-US" dirty="0"/>
              <a:t>IPv6 over Low-Power Wireless Personal Area Networks is a networking technology or adaption layer that allows IPv6 packets to be carried effectively within small link layer frames, such as those defined by IEEE 802.15.4</a:t>
            </a:r>
          </a:p>
        </p:txBody>
      </p:sp>
    </p:spTree>
    <p:extLst>
      <p:ext uri="{BB962C8B-B14F-4D97-AF65-F5344CB8AC3E}">
        <p14:creationId xmlns:p14="http://schemas.microsoft.com/office/powerpoint/2010/main" val="3084471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7E357-07B4-458C-9AC0-7CC3E40E55F3}"/>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C2E831DC-CA6A-491E-B7D9-A5EC36901F16}"/>
              </a:ext>
            </a:extLst>
          </p:cNvPr>
          <p:cNvSpPr>
            <a:spLocks noGrp="1"/>
          </p:cNvSpPr>
          <p:nvPr>
            <p:ph idx="1"/>
          </p:nvPr>
        </p:nvSpPr>
        <p:spPr/>
        <p:txBody>
          <a:bodyPr/>
          <a:lstStyle/>
          <a:p>
            <a:pPr marL="0" indent="0">
              <a:buNone/>
            </a:pPr>
            <a:r>
              <a:rPr lang="en-US" dirty="0"/>
              <a:t>6LoWPAN: Why IPv6?</a:t>
            </a:r>
          </a:p>
          <a:p>
            <a:r>
              <a:rPr lang="en-US" dirty="0"/>
              <a:t>Pros</a:t>
            </a:r>
          </a:p>
          <a:p>
            <a:pPr lvl="1"/>
            <a:r>
              <a:rPr lang="en-US" dirty="0"/>
              <a:t>More suitable for higher density</a:t>
            </a:r>
          </a:p>
          <a:p>
            <a:pPr lvl="1"/>
            <a:r>
              <a:rPr lang="en-US" dirty="0"/>
              <a:t>No Network Address Translation (NAT) necessary (less expensive)</a:t>
            </a:r>
          </a:p>
          <a:p>
            <a:pPr lvl="1"/>
            <a:r>
              <a:rPr lang="en-US" dirty="0"/>
              <a:t>Possibility of adding innovating techniques such as location aware addressing</a:t>
            </a:r>
          </a:p>
          <a:p>
            <a:r>
              <a:rPr lang="en-US" dirty="0"/>
              <a:t>Cons</a:t>
            </a:r>
          </a:p>
          <a:p>
            <a:pPr lvl="1"/>
            <a:r>
              <a:rPr lang="en-US" dirty="0"/>
              <a:t>Large address width</a:t>
            </a:r>
          </a:p>
          <a:p>
            <a:pPr lvl="1"/>
            <a:r>
              <a:rPr lang="en-US" dirty="0"/>
              <a:t>Complying to IPv6 node requirements</a:t>
            </a:r>
          </a:p>
        </p:txBody>
      </p:sp>
    </p:spTree>
    <p:extLst>
      <p:ext uri="{BB962C8B-B14F-4D97-AF65-F5344CB8AC3E}">
        <p14:creationId xmlns:p14="http://schemas.microsoft.com/office/powerpoint/2010/main" val="3665761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55EF-935A-4F5A-BE8E-BEE65293E69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IEEE 802.15.4</a:t>
            </a:r>
            <a:endParaRPr lang="en-US" dirty="0"/>
          </a:p>
        </p:txBody>
      </p:sp>
      <p:sp>
        <p:nvSpPr>
          <p:cNvPr id="3" name="Content Placeholder 2">
            <a:extLst>
              <a:ext uri="{FF2B5EF4-FFF2-40B4-BE49-F238E27FC236}">
                <a16:creationId xmlns:a16="http://schemas.microsoft.com/office/drawing/2014/main" id="{B3ADD145-07E0-4BF4-9EE9-6B39103BEF26}"/>
              </a:ext>
            </a:extLst>
          </p:cNvPr>
          <p:cNvSpPr>
            <a:spLocks noGrp="1"/>
          </p:cNvSpPr>
          <p:nvPr>
            <p:ph idx="1"/>
          </p:nvPr>
        </p:nvSpPr>
        <p:spPr/>
        <p:txBody>
          <a:bodyPr>
            <a:normAutofit lnSpcReduction="10000"/>
          </a:bodyPr>
          <a:lstStyle/>
          <a:p>
            <a:pPr marL="0" indent="0">
              <a:buNone/>
            </a:pPr>
            <a:r>
              <a:rPr lang="en-US" dirty="0"/>
              <a:t>6LoWPAN Characteristics</a:t>
            </a:r>
          </a:p>
          <a:p>
            <a:r>
              <a:rPr lang="en-US" dirty="0"/>
              <a:t>Small packet size</a:t>
            </a:r>
          </a:p>
          <a:p>
            <a:r>
              <a:rPr lang="en-US" dirty="0"/>
              <a:t>16-bit short or IEEE 64-bit extended media access control addresses</a:t>
            </a:r>
          </a:p>
          <a:p>
            <a:r>
              <a:rPr lang="en-US" dirty="0"/>
              <a:t>Low bandwidth (250/40/20 kbps)</a:t>
            </a:r>
          </a:p>
          <a:p>
            <a:r>
              <a:rPr lang="en-US" dirty="0"/>
              <a:t>Range between 10m to 30m</a:t>
            </a:r>
          </a:p>
          <a:p>
            <a:r>
              <a:rPr lang="en-US" dirty="0"/>
              <a:t>Topologies include star and mesh </a:t>
            </a:r>
          </a:p>
          <a:p>
            <a:r>
              <a:rPr lang="en-US" dirty="0"/>
              <a:t>Low power, typically battery operated</a:t>
            </a:r>
          </a:p>
          <a:p>
            <a:r>
              <a:rPr lang="en-US" dirty="0"/>
              <a:t>Relatively low cost</a:t>
            </a:r>
          </a:p>
          <a:p>
            <a:r>
              <a:rPr lang="en-US" dirty="0"/>
              <a:t>Inherently unreliable due to nature of devices in the wireless medium</a:t>
            </a:r>
          </a:p>
        </p:txBody>
      </p:sp>
    </p:spTree>
    <p:extLst>
      <p:ext uri="{BB962C8B-B14F-4D97-AF65-F5344CB8AC3E}">
        <p14:creationId xmlns:p14="http://schemas.microsoft.com/office/powerpoint/2010/main" val="2008594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55EF-935A-4F5A-BE8E-BEE65293E69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IEEE 802.15.4</a:t>
            </a:r>
            <a:endParaRPr lang="en-US" dirty="0"/>
          </a:p>
        </p:txBody>
      </p:sp>
      <p:sp>
        <p:nvSpPr>
          <p:cNvPr id="3" name="Content Placeholder 2">
            <a:extLst>
              <a:ext uri="{FF2B5EF4-FFF2-40B4-BE49-F238E27FC236}">
                <a16:creationId xmlns:a16="http://schemas.microsoft.com/office/drawing/2014/main" id="{B3ADD145-07E0-4BF4-9EE9-6B39103BEF26}"/>
              </a:ext>
            </a:extLst>
          </p:cNvPr>
          <p:cNvSpPr>
            <a:spLocks noGrp="1"/>
          </p:cNvSpPr>
          <p:nvPr>
            <p:ph idx="1"/>
          </p:nvPr>
        </p:nvSpPr>
        <p:spPr/>
        <p:txBody>
          <a:bodyPr>
            <a:normAutofit/>
          </a:bodyPr>
          <a:lstStyle/>
          <a:p>
            <a:pPr marL="0" indent="0">
              <a:buNone/>
            </a:pPr>
            <a:r>
              <a:rPr lang="en-US" dirty="0"/>
              <a:t>6LoWPAN applications</a:t>
            </a:r>
          </a:p>
          <a:p>
            <a:r>
              <a:rPr lang="en-US" dirty="0"/>
              <a:t>Equipment health monitoring</a:t>
            </a:r>
          </a:p>
          <a:p>
            <a:r>
              <a:rPr lang="en-US" dirty="0"/>
              <a:t>Environment monitoring</a:t>
            </a:r>
          </a:p>
          <a:p>
            <a:r>
              <a:rPr lang="en-US" dirty="0"/>
              <a:t>Security </a:t>
            </a:r>
          </a:p>
          <a:p>
            <a:r>
              <a:rPr lang="en-US" dirty="0"/>
              <a:t>Home </a:t>
            </a:r>
          </a:p>
          <a:p>
            <a:r>
              <a:rPr lang="en-US" dirty="0"/>
              <a:t>Building Automation</a:t>
            </a:r>
          </a:p>
        </p:txBody>
      </p:sp>
    </p:spTree>
    <p:extLst>
      <p:ext uri="{BB962C8B-B14F-4D97-AF65-F5344CB8AC3E}">
        <p14:creationId xmlns:p14="http://schemas.microsoft.com/office/powerpoint/2010/main" val="677482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B23A0-84D7-4997-9918-9FE9B112AE66}"/>
              </a:ext>
            </a:extLst>
          </p:cNvPr>
          <p:cNvSpPr>
            <a:spLocks noGrp="1"/>
          </p:cNvSpPr>
          <p:nvPr>
            <p:ph type="title"/>
          </p:nvPr>
        </p:nvSpPr>
        <p:spPr/>
        <p:txBody>
          <a:bodyPr/>
          <a:lstStyle/>
          <a:p>
            <a:r>
              <a:rPr lang="en-US" dirty="0"/>
              <a:t>6LoWPAN Network Architecture</a:t>
            </a:r>
          </a:p>
        </p:txBody>
      </p:sp>
      <p:pic>
        <p:nvPicPr>
          <p:cNvPr id="4" name="Content Placeholder 3">
            <a:extLst>
              <a:ext uri="{FF2B5EF4-FFF2-40B4-BE49-F238E27FC236}">
                <a16:creationId xmlns:a16="http://schemas.microsoft.com/office/drawing/2014/main" id="{CFD752F5-B3E6-4FC0-89B9-FA09AB82F8C0}"/>
              </a:ext>
            </a:extLst>
          </p:cNvPr>
          <p:cNvPicPr>
            <a:picLocks noGrp="1" noChangeAspect="1"/>
          </p:cNvPicPr>
          <p:nvPr>
            <p:ph idx="1"/>
          </p:nvPr>
        </p:nvPicPr>
        <p:blipFill>
          <a:blip r:embed="rId2"/>
          <a:stretch>
            <a:fillRect/>
          </a:stretch>
        </p:blipFill>
        <p:spPr>
          <a:xfrm>
            <a:off x="3419475" y="1872456"/>
            <a:ext cx="5353050" cy="4257675"/>
          </a:xfrm>
          <a:prstGeom prst="rect">
            <a:avLst/>
          </a:prstGeom>
        </p:spPr>
      </p:pic>
    </p:spTree>
    <p:extLst>
      <p:ext uri="{BB962C8B-B14F-4D97-AF65-F5344CB8AC3E}">
        <p14:creationId xmlns:p14="http://schemas.microsoft.com/office/powerpoint/2010/main" val="35215752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74E6-43BD-4699-913D-7A3C6278034F}"/>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B0748B70-A719-454C-A42B-F4B4516E4ABD}"/>
              </a:ext>
            </a:extLst>
          </p:cNvPr>
          <p:cNvSpPr>
            <a:spLocks noGrp="1"/>
          </p:cNvSpPr>
          <p:nvPr>
            <p:ph idx="1"/>
          </p:nvPr>
        </p:nvSpPr>
        <p:spPr/>
        <p:txBody>
          <a:bodyPr/>
          <a:lstStyle/>
          <a:p>
            <a:pPr marL="0" indent="0">
              <a:buNone/>
            </a:pPr>
            <a:r>
              <a:rPr lang="en-US" dirty="0"/>
              <a:t>Thread</a:t>
            </a:r>
          </a:p>
          <a:p>
            <a:pPr marL="0" indent="0">
              <a:buNone/>
            </a:pPr>
            <a:r>
              <a:rPr lang="en-US" dirty="0"/>
              <a:t>Thread is a low power, secure and internet-based mesh networking technology for home and commercial IoT products</a:t>
            </a:r>
          </a:p>
          <a:p>
            <a:pPr marL="0" indent="0">
              <a:buNone/>
            </a:pPr>
            <a:endParaRPr lang="en-US" dirty="0"/>
          </a:p>
          <a:p>
            <a:pPr marL="0" indent="0">
              <a:buNone/>
            </a:pPr>
            <a:r>
              <a:rPr lang="en-US" dirty="0"/>
              <a:t>The thread standard is a stack built on top of IEEE 802.15.4 PHY and MAC. The thread stack has built in features for IP routing, 6LoWPAN, security and commission.</a:t>
            </a:r>
          </a:p>
        </p:txBody>
      </p:sp>
    </p:spTree>
    <p:extLst>
      <p:ext uri="{BB962C8B-B14F-4D97-AF65-F5344CB8AC3E}">
        <p14:creationId xmlns:p14="http://schemas.microsoft.com/office/powerpoint/2010/main" val="28306326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74E6-43BD-4699-913D-7A3C6278034F}"/>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B0748B70-A719-454C-A42B-F4B4516E4ABD}"/>
              </a:ext>
            </a:extLst>
          </p:cNvPr>
          <p:cNvSpPr>
            <a:spLocks noGrp="1"/>
          </p:cNvSpPr>
          <p:nvPr>
            <p:ph idx="1"/>
          </p:nvPr>
        </p:nvSpPr>
        <p:spPr/>
        <p:txBody>
          <a:bodyPr/>
          <a:lstStyle/>
          <a:p>
            <a:pPr marL="0" indent="0">
              <a:buNone/>
            </a:pPr>
            <a:r>
              <a:rPr lang="en-US" dirty="0"/>
              <a:t>Thread Characteristics</a:t>
            </a:r>
          </a:p>
          <a:p>
            <a:r>
              <a:rPr lang="en-US" dirty="0"/>
              <a:t>Simple network installation, start-up and operation</a:t>
            </a:r>
          </a:p>
          <a:p>
            <a:r>
              <a:rPr lang="en-US" dirty="0"/>
              <a:t>Secure: Devices do not join the network unless authorized and all communications are encrypted and secure. </a:t>
            </a:r>
          </a:p>
          <a:p>
            <a:r>
              <a:rPr lang="en-US" dirty="0"/>
              <a:t>Data rate up to 250 Kbits/s and can support as many as 250 devices in one local network mesh</a:t>
            </a:r>
          </a:p>
          <a:p>
            <a:r>
              <a:rPr lang="en-US" dirty="0"/>
              <a:t>The thread domain model allows scalability up to 10,000s of thread devices in a single deployment, using a combination of different connectivity technologies (Thread, Ethernet, </a:t>
            </a:r>
            <a:r>
              <a:rPr lang="en-US" dirty="0" err="1"/>
              <a:t>Wifi</a:t>
            </a:r>
            <a:r>
              <a:rPr lang="en-US" dirty="0"/>
              <a:t> and so on)</a:t>
            </a:r>
          </a:p>
        </p:txBody>
      </p:sp>
    </p:spTree>
    <p:extLst>
      <p:ext uri="{BB962C8B-B14F-4D97-AF65-F5344CB8AC3E}">
        <p14:creationId xmlns:p14="http://schemas.microsoft.com/office/powerpoint/2010/main" val="39077781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A203A-001F-4CE2-A6D9-C647F317F214}"/>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E1DD506A-2FB5-4341-83D8-6B5FD0016024}"/>
              </a:ext>
            </a:extLst>
          </p:cNvPr>
          <p:cNvSpPr>
            <a:spLocks noGrp="1"/>
          </p:cNvSpPr>
          <p:nvPr>
            <p:ph idx="1"/>
          </p:nvPr>
        </p:nvSpPr>
        <p:spPr/>
        <p:txBody>
          <a:bodyPr>
            <a:normAutofit fontScale="92500"/>
          </a:bodyPr>
          <a:lstStyle/>
          <a:p>
            <a:pPr marL="0" indent="0">
              <a:buNone/>
            </a:pPr>
            <a:r>
              <a:rPr lang="en-US" dirty="0"/>
              <a:t>Thread Characteristics</a:t>
            </a:r>
          </a:p>
          <a:p>
            <a:r>
              <a:rPr lang="en-US" dirty="0"/>
              <a:t>Range: Typical devices support sufficient range to cover a normal home.</a:t>
            </a:r>
          </a:p>
          <a:p>
            <a:r>
              <a:rPr lang="en-US" dirty="0"/>
              <a:t>Low power: Devices efficiently communicate to deliver an enhanced user experience with years of expected life under normal battery conditions. </a:t>
            </a:r>
          </a:p>
          <a:p>
            <a:r>
              <a:rPr lang="en-US" dirty="0"/>
              <a:t>Devices can typically operate for several years on AA type batteries using suitable duty </a:t>
            </a:r>
            <a:r>
              <a:rPr lang="en-US" dirty="0" err="1"/>
              <a:t>cyle</a:t>
            </a:r>
            <a:endParaRPr lang="en-US" dirty="0"/>
          </a:p>
          <a:p>
            <a:r>
              <a:rPr lang="en-US" dirty="0"/>
              <a:t>Cost-effective: Compatible chipsets and software stacks from multiple vendors are prices for mass deployment, and designed from the ground up to have extremely low-power consumption. </a:t>
            </a:r>
          </a:p>
        </p:txBody>
      </p:sp>
    </p:spTree>
    <p:extLst>
      <p:ext uri="{BB962C8B-B14F-4D97-AF65-F5344CB8AC3E}">
        <p14:creationId xmlns:p14="http://schemas.microsoft.com/office/powerpoint/2010/main" val="3064689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DD35-4B76-4D2E-8E99-DE6CF3F4D36D}"/>
              </a:ext>
            </a:extLst>
          </p:cNvPr>
          <p:cNvSpPr>
            <a:spLocks noGrp="1"/>
          </p:cNvSpPr>
          <p:nvPr>
            <p:ph type="title"/>
          </p:nvPr>
        </p:nvSpPr>
        <p:spPr/>
        <p:txBody>
          <a:bodyPr/>
          <a:lstStyle/>
          <a:p>
            <a:r>
              <a:rPr lang="en-US" dirty="0"/>
              <a:t>Thread Network Architecture</a:t>
            </a:r>
          </a:p>
        </p:txBody>
      </p:sp>
      <p:pic>
        <p:nvPicPr>
          <p:cNvPr id="4" name="Content Placeholder 3">
            <a:extLst>
              <a:ext uri="{FF2B5EF4-FFF2-40B4-BE49-F238E27FC236}">
                <a16:creationId xmlns:a16="http://schemas.microsoft.com/office/drawing/2014/main" id="{C17639C3-1CBF-4C2A-A03C-D973446DE554}"/>
              </a:ext>
            </a:extLst>
          </p:cNvPr>
          <p:cNvPicPr>
            <a:picLocks noGrp="1" noChangeAspect="1"/>
          </p:cNvPicPr>
          <p:nvPr>
            <p:ph idx="1"/>
          </p:nvPr>
        </p:nvPicPr>
        <p:blipFill>
          <a:blip r:embed="rId2"/>
          <a:stretch>
            <a:fillRect/>
          </a:stretch>
        </p:blipFill>
        <p:spPr>
          <a:xfrm>
            <a:off x="2253401" y="1825625"/>
            <a:ext cx="7685198" cy="4351338"/>
          </a:xfrm>
          <a:prstGeom prst="rect">
            <a:avLst/>
          </a:prstGeom>
        </p:spPr>
      </p:pic>
    </p:spTree>
    <p:extLst>
      <p:ext uri="{BB962C8B-B14F-4D97-AF65-F5344CB8AC3E}">
        <p14:creationId xmlns:p14="http://schemas.microsoft.com/office/powerpoint/2010/main" val="4000259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47CC3-FF8F-4D76-9C7F-A05AB28161B7}"/>
              </a:ext>
            </a:extLst>
          </p:cNvPr>
          <p:cNvSpPr>
            <a:spLocks noGrp="1"/>
          </p:cNvSpPr>
          <p:nvPr>
            <p:ph type="title"/>
          </p:nvPr>
        </p:nvSpPr>
        <p:spPr/>
        <p:txBody>
          <a:bodyPr/>
          <a:lstStyle/>
          <a:p>
            <a:r>
              <a:rPr lang="en-US" dirty="0"/>
              <a:t>IEEE 802.15.4</a:t>
            </a:r>
          </a:p>
        </p:txBody>
      </p:sp>
      <p:sp>
        <p:nvSpPr>
          <p:cNvPr id="3" name="Content Placeholder 2">
            <a:extLst>
              <a:ext uri="{FF2B5EF4-FFF2-40B4-BE49-F238E27FC236}">
                <a16:creationId xmlns:a16="http://schemas.microsoft.com/office/drawing/2014/main" id="{BFF1C219-679A-4BC0-A806-FFBB8267D015}"/>
              </a:ext>
            </a:extLst>
          </p:cNvPr>
          <p:cNvSpPr>
            <a:spLocks noGrp="1"/>
          </p:cNvSpPr>
          <p:nvPr>
            <p:ph idx="1"/>
          </p:nvPr>
        </p:nvSpPr>
        <p:spPr/>
        <p:txBody>
          <a:bodyPr/>
          <a:lstStyle/>
          <a:p>
            <a:r>
              <a:rPr lang="en-US" dirty="0"/>
              <a:t>Thread Applications</a:t>
            </a:r>
          </a:p>
          <a:p>
            <a:r>
              <a:rPr lang="en-US" dirty="0"/>
              <a:t>Being an IP-based open standard, Thread allows smart home devices to securely and reliably connect directly to the cloud.</a:t>
            </a:r>
          </a:p>
          <a:p>
            <a:r>
              <a:rPr lang="en-US" dirty="0"/>
              <a:t>Home automation using IoT devices such as lights, thermostats, door locks, and securing cameras</a:t>
            </a:r>
          </a:p>
        </p:txBody>
      </p:sp>
    </p:spTree>
    <p:extLst>
      <p:ext uri="{BB962C8B-B14F-4D97-AF65-F5344CB8AC3E}">
        <p14:creationId xmlns:p14="http://schemas.microsoft.com/office/powerpoint/2010/main" val="38509214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F180-EA65-4B60-846A-FBAA567A66AC}"/>
              </a:ext>
            </a:extLst>
          </p:cNvPr>
          <p:cNvSpPr>
            <a:spLocks noGrp="1"/>
          </p:cNvSpPr>
          <p:nvPr>
            <p:ph type="title"/>
          </p:nvPr>
        </p:nvSpPr>
        <p:spPr/>
        <p:txBody>
          <a:bodyPr/>
          <a:lstStyle/>
          <a:p>
            <a:r>
              <a:rPr lang="en-US" sz="4400" b="1" i="0" u="none" strike="noStrike" baseline="0" dirty="0">
                <a:solidFill>
                  <a:srgbClr val="231F20"/>
                </a:solidFill>
                <a:latin typeface="Cisco-Bold"/>
              </a:rPr>
              <a:t>IEEE 802.15.4g and 802.15.4e</a:t>
            </a:r>
            <a:endParaRPr lang="en-US" dirty="0"/>
          </a:p>
        </p:txBody>
      </p:sp>
      <p:sp>
        <p:nvSpPr>
          <p:cNvPr id="3" name="Content Placeholder 2">
            <a:extLst>
              <a:ext uri="{FF2B5EF4-FFF2-40B4-BE49-F238E27FC236}">
                <a16:creationId xmlns:a16="http://schemas.microsoft.com/office/drawing/2014/main" id="{A2AE0EC4-A792-4AE6-94CA-0B049B744022}"/>
              </a:ext>
            </a:extLst>
          </p:cNvPr>
          <p:cNvSpPr>
            <a:spLocks noGrp="1"/>
          </p:cNvSpPr>
          <p:nvPr>
            <p:ph idx="1"/>
          </p:nvPr>
        </p:nvSpPr>
        <p:spPr/>
        <p:txBody>
          <a:bodyPr>
            <a:normAutofit fontScale="92500" lnSpcReduction="20000"/>
          </a:bodyPr>
          <a:lstStyle/>
          <a:p>
            <a:pPr algn="just"/>
            <a:r>
              <a:rPr lang="en-US" sz="2800" b="0" i="0" u="none" strike="noStrike" baseline="0" dirty="0">
                <a:solidFill>
                  <a:srgbClr val="231F20"/>
                </a:solidFill>
                <a:latin typeface="CiscoSerif-Regular"/>
              </a:rPr>
              <a:t>IEEE 802.15.4e amendment of 802.15.4-2011 expands the MAC layer feature set to remedy the disadvantages associated with 802.15.4, including MAC reliability, unbounded latency, and multipath fading</a:t>
            </a:r>
          </a:p>
          <a:p>
            <a:pPr algn="just"/>
            <a:r>
              <a:rPr lang="en-US" sz="2800" b="0" i="0" u="none" strike="noStrike" baseline="0" dirty="0">
                <a:solidFill>
                  <a:srgbClr val="231F20"/>
                </a:solidFill>
                <a:latin typeface="CiscoSerif-Regular"/>
              </a:rPr>
              <a:t>IEEE 802.15.4e-2012 enhanced the IEEE 802.15.4 MAC layer capabilities in the areas of frame format, security, determinism mechanism, and frequency hopping.</a:t>
            </a:r>
          </a:p>
          <a:p>
            <a:pPr algn="just"/>
            <a:r>
              <a:rPr lang="en-US" sz="2800" b="0" i="0" u="none" strike="noStrike" baseline="0" dirty="0">
                <a:solidFill>
                  <a:srgbClr val="231F20"/>
                </a:solidFill>
                <a:latin typeface="CiscoSerif-Regular"/>
              </a:rPr>
              <a:t>The IEEE continues to improve the 802.15.4 specification through amendments. For example, IEEE 802.15.4u defines the PHY layer characteristics for India (865–867 MHz). Meanwhile, IEEE 802.15.4v defines changes to the SUN PHYs, enabling the use of the 870–876 MHz and 915–921 MHz bands in Europe, the 902–928 MHz band in Mexico, the 902–907.5 MHz and 915–928 MHz bands in Brazil, the 915–928 MHz band in Australia/New Zealand, and Asian regional frequency bands that are not in IEEE 802.15.4-2015.</a:t>
            </a:r>
          </a:p>
          <a:p>
            <a:pPr algn="l"/>
            <a:endParaRPr lang="en-US" dirty="0"/>
          </a:p>
        </p:txBody>
      </p:sp>
    </p:spTree>
    <p:extLst>
      <p:ext uri="{BB962C8B-B14F-4D97-AF65-F5344CB8AC3E}">
        <p14:creationId xmlns:p14="http://schemas.microsoft.com/office/powerpoint/2010/main" val="26317472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74B61-313D-4411-BB2D-E2B96126B613}"/>
              </a:ext>
            </a:extLst>
          </p:cNvPr>
          <p:cNvSpPr>
            <a:spLocks noGrp="1"/>
          </p:cNvSpPr>
          <p:nvPr>
            <p:ph type="title"/>
          </p:nvPr>
        </p:nvSpPr>
        <p:spPr/>
        <p:txBody>
          <a:bodyPr/>
          <a:lstStyle/>
          <a:p>
            <a:r>
              <a:rPr lang="en-US" sz="4400" b="0" i="0" u="none" strike="noStrike" baseline="0" dirty="0">
                <a:solidFill>
                  <a:srgbClr val="231F20"/>
                </a:solidFill>
                <a:latin typeface="Cisco-Regular"/>
              </a:rPr>
              <a:t>Standardization and Alliances</a:t>
            </a:r>
            <a:endParaRPr lang="en-US" dirty="0"/>
          </a:p>
        </p:txBody>
      </p:sp>
      <p:sp>
        <p:nvSpPr>
          <p:cNvPr id="3" name="Content Placeholder 2">
            <a:extLst>
              <a:ext uri="{FF2B5EF4-FFF2-40B4-BE49-F238E27FC236}">
                <a16:creationId xmlns:a16="http://schemas.microsoft.com/office/drawing/2014/main" id="{C3DC4F10-C437-44D2-AB48-421C5B8E525F}"/>
              </a:ext>
            </a:extLst>
          </p:cNvPr>
          <p:cNvSpPr>
            <a:spLocks noGrp="1"/>
          </p:cNvSpPr>
          <p:nvPr>
            <p:ph idx="1"/>
          </p:nvPr>
        </p:nvSpPr>
        <p:spPr>
          <a:xfrm>
            <a:off x="838200" y="1376446"/>
            <a:ext cx="10515600" cy="4351338"/>
          </a:xfrm>
        </p:spPr>
        <p:txBody>
          <a:bodyPr/>
          <a:lstStyle/>
          <a:p>
            <a:pPr algn="l"/>
            <a:r>
              <a:rPr lang="en-US" sz="2800" b="0" i="0" u="none" strike="noStrike" baseline="0" dirty="0">
                <a:solidFill>
                  <a:srgbClr val="231F20"/>
                </a:solidFill>
                <a:latin typeface="CiscoSerif-Regular"/>
              </a:rPr>
              <a:t>To guarantee interoperability, the Wi-SUN Alliance was formed. (SUN stands for </a:t>
            </a:r>
            <a:r>
              <a:rPr lang="en-US" sz="2800" b="0" i="1" u="none" strike="noStrike" baseline="0" dirty="0">
                <a:solidFill>
                  <a:srgbClr val="231F20"/>
                </a:solidFill>
                <a:latin typeface="CiscoSerif-Italic-Regular"/>
              </a:rPr>
              <a:t>smart utility network</a:t>
            </a:r>
            <a:r>
              <a:rPr lang="en-US" sz="2800" b="0" i="0" u="none" strike="noStrike" baseline="0" dirty="0">
                <a:solidFill>
                  <a:srgbClr val="231F20"/>
                </a:solidFill>
                <a:latin typeface="CiscoSerif-Regular"/>
              </a:rPr>
              <a:t>.</a:t>
            </a:r>
          </a:p>
          <a:p>
            <a:pPr algn="l"/>
            <a:r>
              <a:rPr lang="en-US" sz="2800" b="0" i="0" u="none" strike="noStrike" baseline="0" dirty="0">
                <a:solidFill>
                  <a:srgbClr val="231F20"/>
                </a:solidFill>
                <a:latin typeface="CiscoSerif-Regular"/>
              </a:rPr>
              <a:t>This organization is not a standards body but is instead an industry alliance that defines communication profiles for smart utility and related networks</a:t>
            </a:r>
          </a:p>
          <a:p>
            <a:pPr algn="l"/>
            <a:r>
              <a:rPr lang="en-US" sz="2800" b="0" i="0" u="none" strike="noStrike" baseline="0" dirty="0">
                <a:solidFill>
                  <a:srgbClr val="231F20"/>
                </a:solidFill>
                <a:latin typeface="CiscoSerif-Regular"/>
              </a:rPr>
              <a:t>These profiles are based on open standards, such as 802.15.4g-2012, 802.15.4e-2012, IPv6, 6LoWPAN, and UDP for the FAN profile</a:t>
            </a:r>
          </a:p>
          <a:p>
            <a:pPr marL="0" indent="0" algn="l">
              <a:buNone/>
            </a:pPr>
            <a:endParaRPr lang="en-US" dirty="0"/>
          </a:p>
        </p:txBody>
      </p:sp>
      <p:pic>
        <p:nvPicPr>
          <p:cNvPr id="5" name="Picture 4">
            <a:extLst>
              <a:ext uri="{FF2B5EF4-FFF2-40B4-BE49-F238E27FC236}">
                <a16:creationId xmlns:a16="http://schemas.microsoft.com/office/drawing/2014/main" id="{A90B3607-1302-4A0E-9C71-755103C5F87B}"/>
              </a:ext>
            </a:extLst>
          </p:cNvPr>
          <p:cNvPicPr>
            <a:picLocks noChangeAspect="1"/>
          </p:cNvPicPr>
          <p:nvPr/>
        </p:nvPicPr>
        <p:blipFill>
          <a:blip r:embed="rId2"/>
          <a:stretch>
            <a:fillRect/>
          </a:stretch>
        </p:blipFill>
        <p:spPr>
          <a:xfrm>
            <a:off x="1187116" y="4368216"/>
            <a:ext cx="10515600" cy="2124660"/>
          </a:xfrm>
          <a:prstGeom prst="rect">
            <a:avLst/>
          </a:prstGeom>
        </p:spPr>
      </p:pic>
    </p:spTree>
    <p:extLst>
      <p:ext uri="{BB962C8B-B14F-4D97-AF65-F5344CB8AC3E}">
        <p14:creationId xmlns:p14="http://schemas.microsoft.com/office/powerpoint/2010/main" val="35408940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55F5-C0CE-4A98-BBD9-424615BE298F}"/>
              </a:ext>
            </a:extLst>
          </p:cNvPr>
          <p:cNvSpPr>
            <a:spLocks noGrp="1"/>
          </p:cNvSpPr>
          <p:nvPr>
            <p:ph type="title"/>
          </p:nvPr>
        </p:nvSpPr>
        <p:spPr/>
        <p:txBody>
          <a:bodyPr/>
          <a:lstStyle/>
          <a:p>
            <a:r>
              <a:rPr lang="en-US" dirty="0"/>
              <a:t>IEEE 802.15.4 (WI-SUN)</a:t>
            </a:r>
          </a:p>
        </p:txBody>
      </p:sp>
      <p:sp>
        <p:nvSpPr>
          <p:cNvPr id="3" name="Content Placeholder 2">
            <a:extLst>
              <a:ext uri="{FF2B5EF4-FFF2-40B4-BE49-F238E27FC236}">
                <a16:creationId xmlns:a16="http://schemas.microsoft.com/office/drawing/2014/main" id="{FA5FD451-F523-4D70-B492-155F6F64FBD4}"/>
              </a:ext>
            </a:extLst>
          </p:cNvPr>
          <p:cNvSpPr>
            <a:spLocks noGrp="1"/>
          </p:cNvSpPr>
          <p:nvPr>
            <p:ph idx="1"/>
          </p:nvPr>
        </p:nvSpPr>
        <p:spPr/>
        <p:txBody>
          <a:bodyPr/>
          <a:lstStyle/>
          <a:p>
            <a:pPr marL="0" indent="0">
              <a:buNone/>
            </a:pPr>
            <a:r>
              <a:rPr lang="en-US" dirty="0"/>
              <a:t>Security</a:t>
            </a:r>
          </a:p>
          <a:p>
            <a:r>
              <a:rPr lang="en-US" dirty="0"/>
              <a:t>The IEEE 802.15.4 specification uses Advanced Encryption Standard (AES) with 128-bit key length as the base encryption algorithm for securing its data. </a:t>
            </a:r>
          </a:p>
        </p:txBody>
      </p:sp>
    </p:spTree>
    <p:extLst>
      <p:ext uri="{BB962C8B-B14F-4D97-AF65-F5344CB8AC3E}">
        <p14:creationId xmlns:p14="http://schemas.microsoft.com/office/powerpoint/2010/main" val="23595982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3BDC7-F421-49F6-94F3-164C8B553CAE}"/>
              </a:ext>
            </a:extLst>
          </p:cNvPr>
          <p:cNvSpPr>
            <a:spLocks noGrp="1"/>
          </p:cNvSpPr>
          <p:nvPr>
            <p:ph type="title"/>
          </p:nvPr>
        </p:nvSpPr>
        <p:spPr/>
        <p:txBody>
          <a:bodyPr/>
          <a:lstStyle/>
          <a:p>
            <a:r>
              <a:rPr lang="en-US" dirty="0"/>
              <a:t>Physical Layer</a:t>
            </a:r>
          </a:p>
        </p:txBody>
      </p:sp>
      <p:sp>
        <p:nvSpPr>
          <p:cNvPr id="3" name="Content Placeholder 2">
            <a:extLst>
              <a:ext uri="{FF2B5EF4-FFF2-40B4-BE49-F238E27FC236}">
                <a16:creationId xmlns:a16="http://schemas.microsoft.com/office/drawing/2014/main" id="{B5732807-91E5-45FF-8B93-57378E2AD1B0}"/>
              </a:ext>
            </a:extLst>
          </p:cNvPr>
          <p:cNvSpPr>
            <a:spLocks noGrp="1"/>
          </p:cNvSpPr>
          <p:nvPr>
            <p:ph idx="1"/>
          </p:nvPr>
        </p:nvSpPr>
        <p:spPr/>
        <p:txBody>
          <a:bodyPr>
            <a:normAutofit lnSpcReduction="10000"/>
          </a:bodyPr>
          <a:lstStyle/>
          <a:p>
            <a:pPr algn="l"/>
            <a:r>
              <a:rPr lang="en-US" sz="2800" b="0" i="0" u="none" strike="noStrike" baseline="0" dirty="0">
                <a:solidFill>
                  <a:srgbClr val="231F20"/>
                </a:solidFill>
                <a:latin typeface="CiscoSerif-Regular"/>
              </a:rPr>
              <a:t>IEEE 802.15.4g-2012, the original IEEE 802.15.4 maximum PSDU or payload size of 127 bytes was increased for the SUN PHY to 2047 bytes</a:t>
            </a:r>
          </a:p>
          <a:p>
            <a:pPr algn="l"/>
            <a:r>
              <a:rPr lang="en-US" sz="2800" b="0" i="0" u="none" strike="noStrike" baseline="0" dirty="0">
                <a:solidFill>
                  <a:srgbClr val="231F20"/>
                </a:solidFill>
                <a:latin typeface="CiscoSerif-Regular"/>
              </a:rPr>
              <a:t>the default IPv6 MTU setting is 1280 bytes</a:t>
            </a:r>
          </a:p>
          <a:p>
            <a:pPr algn="l"/>
            <a:r>
              <a:rPr lang="en-US" sz="2800" b="0" i="0" u="none" strike="noStrike" baseline="0" dirty="0">
                <a:solidFill>
                  <a:srgbClr val="231F20"/>
                </a:solidFill>
                <a:latin typeface="CiscoSerif-Regular"/>
              </a:rPr>
              <a:t>Fragmentation is no longer necessary at Layer 2 when IPv6 packets are transmitted over IEEE 802.15.4g MAC frames</a:t>
            </a:r>
          </a:p>
          <a:p>
            <a:pPr algn="l"/>
            <a:r>
              <a:rPr lang="en-US" sz="2800" b="0" i="0" u="none" strike="noStrike" baseline="0" dirty="0">
                <a:solidFill>
                  <a:srgbClr val="231F20"/>
                </a:solidFill>
                <a:latin typeface="CiscoSerif-Regular"/>
              </a:rPr>
              <a:t>the error protection was improved in IEEE 802.15.4g by evolving the CRC from 16 to 32 bits</a:t>
            </a:r>
          </a:p>
          <a:p>
            <a:pPr algn="l"/>
            <a:r>
              <a:rPr lang="en-US" sz="2800" b="0" i="0" u="none" strike="noStrike" baseline="0" dirty="0">
                <a:solidFill>
                  <a:srgbClr val="231F20"/>
                </a:solidFill>
                <a:latin typeface="CiscoSerif-Regular"/>
              </a:rPr>
              <a:t>IEEE 802.15.4g-2012, supports multiple data rates in bands ranging from 169 MHz to 2.4 GHz</a:t>
            </a:r>
          </a:p>
          <a:p>
            <a:pPr algn="l"/>
            <a:endParaRPr lang="en-US" dirty="0"/>
          </a:p>
        </p:txBody>
      </p:sp>
    </p:spTree>
    <p:extLst>
      <p:ext uri="{BB962C8B-B14F-4D97-AF65-F5344CB8AC3E}">
        <p14:creationId xmlns:p14="http://schemas.microsoft.com/office/powerpoint/2010/main" val="2537137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04284-E808-457D-8F50-B742D985789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7F44F6-67A2-481F-9502-C44756FD5840}"/>
              </a:ext>
            </a:extLst>
          </p:cNvPr>
          <p:cNvPicPr>
            <a:picLocks noGrp="1" noChangeAspect="1"/>
          </p:cNvPicPr>
          <p:nvPr>
            <p:ph idx="1"/>
          </p:nvPr>
        </p:nvPicPr>
        <p:blipFill>
          <a:blip r:embed="rId2"/>
          <a:stretch>
            <a:fillRect/>
          </a:stretch>
        </p:blipFill>
        <p:spPr>
          <a:xfrm>
            <a:off x="838200" y="365125"/>
            <a:ext cx="10515600" cy="4809041"/>
          </a:xfrm>
        </p:spPr>
      </p:pic>
      <p:sp>
        <p:nvSpPr>
          <p:cNvPr id="6" name="TextBox 5">
            <a:extLst>
              <a:ext uri="{FF2B5EF4-FFF2-40B4-BE49-F238E27FC236}">
                <a16:creationId xmlns:a16="http://schemas.microsoft.com/office/drawing/2014/main" id="{B84EE3E0-EB07-4B7F-98A6-6DB7C966055E}"/>
              </a:ext>
            </a:extLst>
          </p:cNvPr>
          <p:cNvSpPr txBox="1"/>
          <p:nvPr/>
        </p:nvSpPr>
        <p:spPr>
          <a:xfrm>
            <a:off x="1159726" y="5441795"/>
            <a:ext cx="10194073" cy="1200329"/>
          </a:xfrm>
          <a:prstGeom prst="rect">
            <a:avLst/>
          </a:prstGeom>
          <a:noFill/>
        </p:spPr>
        <p:txBody>
          <a:bodyPr wrap="square" rtlCol="0">
            <a:spAutoFit/>
          </a:bodyPr>
          <a:lstStyle/>
          <a:p>
            <a:r>
              <a:rPr lang="en-US" dirty="0"/>
              <a:t>The main changes shown in the IEEE 802.15.4e header in Figure 4-9 are the presence of the Auxiliary Security Header and Information Element field.</a:t>
            </a:r>
            <a:br>
              <a:rPr lang="en-US" dirty="0"/>
            </a:br>
            <a:r>
              <a:rPr lang="en-US" dirty="0"/>
              <a:t>IE field contains one or more information elements that allow for additional information to be exchanged at the MAC layer.</a:t>
            </a:r>
          </a:p>
        </p:txBody>
      </p:sp>
    </p:spTree>
    <p:extLst>
      <p:ext uri="{BB962C8B-B14F-4D97-AF65-F5344CB8AC3E}">
        <p14:creationId xmlns:p14="http://schemas.microsoft.com/office/powerpoint/2010/main" val="255026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9E86C-0621-4FA2-9A3B-0DFFE3168680}"/>
              </a:ext>
            </a:extLst>
          </p:cNvPr>
          <p:cNvSpPr>
            <a:spLocks noGrp="1"/>
          </p:cNvSpPr>
          <p:nvPr>
            <p:ph type="title"/>
          </p:nvPr>
        </p:nvSpPr>
        <p:spPr/>
        <p:txBody>
          <a:bodyPr/>
          <a:lstStyle/>
          <a:p>
            <a:r>
              <a:rPr lang="en-US" dirty="0"/>
              <a:t>MAC Layer IEEE 802.15.4 e</a:t>
            </a:r>
          </a:p>
        </p:txBody>
      </p:sp>
      <p:sp>
        <p:nvSpPr>
          <p:cNvPr id="3" name="Content Placeholder 2">
            <a:extLst>
              <a:ext uri="{FF2B5EF4-FFF2-40B4-BE49-F238E27FC236}">
                <a16:creationId xmlns:a16="http://schemas.microsoft.com/office/drawing/2014/main" id="{01AA153F-FA1C-44D0-ADC7-966707FB3A0C}"/>
              </a:ext>
            </a:extLst>
          </p:cNvPr>
          <p:cNvSpPr>
            <a:spLocks noGrp="1"/>
          </p:cNvSpPr>
          <p:nvPr>
            <p:ph idx="1"/>
          </p:nvPr>
        </p:nvSpPr>
        <p:spPr>
          <a:xfrm>
            <a:off x="838199" y="1825625"/>
            <a:ext cx="10674927" cy="4351338"/>
          </a:xfrm>
        </p:spPr>
        <p:txBody>
          <a:bodyPr>
            <a:normAutofit fontScale="92500" lnSpcReduction="20000"/>
          </a:bodyPr>
          <a:lstStyle/>
          <a:p>
            <a:pPr algn="l"/>
            <a:r>
              <a:rPr lang="en-US" sz="2800" b="1" i="0" u="none" strike="noStrike" baseline="0" dirty="0">
                <a:solidFill>
                  <a:srgbClr val="231F20"/>
                </a:solidFill>
                <a:latin typeface="CiscoSerif-Bold"/>
              </a:rPr>
              <a:t>Time-Slotted Channel Hopping (TSCH): </a:t>
            </a:r>
            <a:r>
              <a:rPr lang="en-US" sz="2800" b="0" i="0" u="none" strike="noStrike" baseline="0" dirty="0">
                <a:solidFill>
                  <a:srgbClr val="231F20"/>
                </a:solidFill>
                <a:latin typeface="CiscoSerif-Regular"/>
              </a:rPr>
              <a:t>TSCH is an IEEE 802.15.4e-2012 MAC operation mode that works to guarantee media access and channel diversity. Channel hopping, also known as frequency hopping, utilizes different channels for transmission at different times. TSCH divides time into fixed time periods, or “time slots,” which offer guaranteed bandwidth and predictable latency. In a </a:t>
            </a:r>
            <a:r>
              <a:rPr lang="en-US" sz="2800" b="1" i="0" u="none" strike="noStrike" baseline="0" dirty="0">
                <a:solidFill>
                  <a:srgbClr val="231F20"/>
                </a:solidFill>
                <a:latin typeface="CiscoSerif-Regular"/>
              </a:rPr>
              <a:t>time slot, one packet and its acknowledgement can be transmitted, increasing network capacity because multiple nodes can communicate in the same time slot, using different channels</a:t>
            </a:r>
            <a:r>
              <a:rPr lang="en-US" sz="2800" b="0" i="0" u="none" strike="noStrike" baseline="0" dirty="0">
                <a:solidFill>
                  <a:srgbClr val="231F20"/>
                </a:solidFill>
                <a:latin typeface="CiscoSerif-Regular"/>
              </a:rPr>
              <a:t>. A number of time slots are defined as a “slot frame,” which is regularly repeated to provide “guaranteed access.” The </a:t>
            </a:r>
            <a:r>
              <a:rPr lang="en-US" sz="2800" b="1" i="0" u="none" strike="noStrike" baseline="0" dirty="0">
                <a:solidFill>
                  <a:srgbClr val="231F20"/>
                </a:solidFill>
                <a:latin typeface="CiscoSerif-Regular"/>
              </a:rPr>
              <a:t>transmitter and receiver agree on the channels and the timing for switching between channels through the combination of a global time slot counter and a global channel hopping </a:t>
            </a:r>
            <a:r>
              <a:rPr lang="en-US" sz="2800" b="0" i="0" u="none" strike="noStrike" baseline="0" dirty="0">
                <a:solidFill>
                  <a:srgbClr val="231F20"/>
                </a:solidFill>
                <a:latin typeface="CiscoSerif-Regular"/>
              </a:rPr>
              <a:t>sequence list, as computed on each node to determine the channel of each time slot. </a:t>
            </a:r>
            <a:endParaRPr lang="en-US" dirty="0"/>
          </a:p>
        </p:txBody>
      </p:sp>
    </p:spTree>
    <p:extLst>
      <p:ext uri="{BB962C8B-B14F-4D97-AF65-F5344CB8AC3E}">
        <p14:creationId xmlns:p14="http://schemas.microsoft.com/office/powerpoint/2010/main" val="801173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9E86C-0621-4FA2-9A3B-0DFFE3168680}"/>
              </a:ext>
            </a:extLst>
          </p:cNvPr>
          <p:cNvSpPr>
            <a:spLocks noGrp="1"/>
          </p:cNvSpPr>
          <p:nvPr>
            <p:ph type="title"/>
          </p:nvPr>
        </p:nvSpPr>
        <p:spPr/>
        <p:txBody>
          <a:bodyPr/>
          <a:lstStyle/>
          <a:p>
            <a:r>
              <a:rPr lang="en-US" dirty="0"/>
              <a:t>MAC Layer IEEE 802.15.4 e</a:t>
            </a:r>
          </a:p>
        </p:txBody>
      </p:sp>
      <p:sp>
        <p:nvSpPr>
          <p:cNvPr id="3" name="Content Placeholder 2">
            <a:extLst>
              <a:ext uri="{FF2B5EF4-FFF2-40B4-BE49-F238E27FC236}">
                <a16:creationId xmlns:a16="http://schemas.microsoft.com/office/drawing/2014/main" id="{01AA153F-FA1C-44D0-ADC7-966707FB3A0C}"/>
              </a:ext>
            </a:extLst>
          </p:cNvPr>
          <p:cNvSpPr>
            <a:spLocks noGrp="1"/>
          </p:cNvSpPr>
          <p:nvPr>
            <p:ph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231F20"/>
                </a:solidFill>
                <a:effectLst/>
                <a:uLnTx/>
                <a:uFillTx/>
                <a:latin typeface="CiscoSerif-Bold"/>
                <a:ea typeface="+mn-ea"/>
                <a:cs typeface="+mn-cs"/>
              </a:rPr>
              <a:t>Information elements: </a:t>
            </a:r>
            <a:r>
              <a:rPr kumimoji="0" lang="en-US" sz="2800" b="0" i="0" u="none" strike="noStrike" kern="1200" cap="none" spc="0" normalizeH="0" baseline="0" noProof="0" dirty="0">
                <a:ln>
                  <a:noFill/>
                </a:ln>
                <a:solidFill>
                  <a:srgbClr val="231F20"/>
                </a:solidFill>
                <a:effectLst/>
                <a:uLnTx/>
                <a:uFillTx/>
                <a:latin typeface="CiscoSerif-Regular"/>
                <a:ea typeface="+mn-ea"/>
                <a:cs typeface="+mn-cs"/>
              </a:rPr>
              <a:t>Information elements (IEs) allow for the exchange of information at the MAC layer in an extensible manner, either as header IEs (standardized) and/or payload IEs (private). Specified in a tag, length, value (TLV) format, the IE field allows frames to carry additional metadata to support MAC layer services. These services may include IEEE 802.15.9 </a:t>
            </a:r>
            <a:r>
              <a:rPr kumimoji="0" lang="en-US" sz="2800" b="1" i="0" u="none" strike="noStrike" kern="1200" cap="none" spc="0" normalizeH="0" baseline="0" noProof="0" dirty="0">
                <a:ln>
                  <a:noFill/>
                </a:ln>
                <a:solidFill>
                  <a:srgbClr val="231F20"/>
                </a:solidFill>
                <a:effectLst/>
                <a:uLnTx/>
                <a:uFillTx/>
                <a:latin typeface="CiscoSerif-Regular"/>
                <a:ea typeface="+mn-ea"/>
                <a:cs typeface="+mn-cs"/>
              </a:rPr>
              <a:t>key management, Wi-SUN 1.0 IEs to broadcast and unicast schedule timing information, and frequency hopping synchronization </a:t>
            </a:r>
            <a:r>
              <a:rPr kumimoji="0" lang="en-US" sz="2800" b="0" i="0" u="none" strike="noStrike" kern="1200" cap="none" spc="0" normalizeH="0" baseline="0" noProof="0" dirty="0">
                <a:ln>
                  <a:noFill/>
                </a:ln>
                <a:solidFill>
                  <a:srgbClr val="231F20"/>
                </a:solidFill>
                <a:effectLst/>
                <a:uLnTx/>
                <a:uFillTx/>
                <a:latin typeface="CiscoSerif-Regular"/>
                <a:ea typeface="+mn-ea"/>
                <a:cs typeface="+mn-cs"/>
              </a:rPr>
              <a:t>information for the 6TiSCH architecture.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lang="en-US" sz="2800" b="1" i="0" u="none" strike="noStrike" baseline="0" dirty="0">
                <a:solidFill>
                  <a:srgbClr val="231F20"/>
                </a:solidFill>
                <a:latin typeface="CiscoSerif-Bold"/>
              </a:rPr>
              <a:t>Enhanced beacons (EBs): </a:t>
            </a:r>
            <a:r>
              <a:rPr lang="en-US" sz="2800" b="0" i="0" u="none" strike="noStrike" baseline="0" dirty="0">
                <a:solidFill>
                  <a:srgbClr val="231F20"/>
                </a:solidFill>
                <a:latin typeface="CiscoSerif-Regular"/>
              </a:rPr>
              <a:t>EBs extend the flexibility of IEEE 802.15.4 beacons to allow the construction of application-specific beacon content. This is accomplished by including relevant IEs in EB frames. Some IEs that may be found in EBs include </a:t>
            </a:r>
            <a:r>
              <a:rPr lang="en-US" sz="2800" b="1" i="0" u="none" strike="noStrike" baseline="0" dirty="0">
                <a:solidFill>
                  <a:srgbClr val="231F20"/>
                </a:solidFill>
                <a:latin typeface="CiscoSerif-Regular"/>
              </a:rPr>
              <a:t>network metrics</a:t>
            </a:r>
            <a:r>
              <a:rPr lang="en-US" sz="2800" b="0" i="0" u="none" strike="noStrike" baseline="0" dirty="0">
                <a:solidFill>
                  <a:srgbClr val="231F20"/>
                </a:solidFill>
                <a:latin typeface="CiscoSerif-Regular"/>
              </a:rPr>
              <a:t>, </a:t>
            </a:r>
            <a:r>
              <a:rPr lang="en-US" sz="2800" b="1" i="0" u="none" strike="noStrike" baseline="0" dirty="0">
                <a:solidFill>
                  <a:srgbClr val="231F20"/>
                </a:solidFill>
                <a:latin typeface="CiscoSerif-Regular"/>
              </a:rPr>
              <a:t>frequency hopping broadcast schedule, and PAN information version</a:t>
            </a:r>
            <a:r>
              <a:rPr lang="en-US" sz="2800" b="0" i="0" u="none" strike="noStrike" baseline="0" dirty="0">
                <a:solidFill>
                  <a:srgbClr val="231F20"/>
                </a:solidFill>
                <a:latin typeface="CiscoSerif-Regular"/>
              </a:rPr>
              <a:t>.</a:t>
            </a:r>
            <a:endParaRPr lang="en-US" dirty="0"/>
          </a:p>
        </p:txBody>
      </p:sp>
    </p:spTree>
    <p:extLst>
      <p:ext uri="{BB962C8B-B14F-4D97-AF65-F5344CB8AC3E}">
        <p14:creationId xmlns:p14="http://schemas.microsoft.com/office/powerpoint/2010/main" val="6082400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4856-C90C-4D72-A38E-2D0E6B62DA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8E00C5-6164-4429-AC02-BFD3E7FCF733}"/>
              </a:ext>
            </a:extLst>
          </p:cNvPr>
          <p:cNvSpPr>
            <a:spLocks noGrp="1"/>
          </p:cNvSpPr>
          <p:nvPr>
            <p:ph idx="1"/>
          </p:nvPr>
        </p:nvSpPr>
        <p:spPr/>
        <p:txBody>
          <a:bodyPr>
            <a:normAutofit lnSpcReduction="10000"/>
          </a:bodyPr>
          <a:lstStyle/>
          <a:p>
            <a:pPr algn="l"/>
            <a:r>
              <a:rPr lang="en-US" sz="2800" b="1" i="0" u="none" strike="noStrike" baseline="0" dirty="0">
                <a:solidFill>
                  <a:srgbClr val="231F20"/>
                </a:solidFill>
                <a:latin typeface="CiscoSerif-Bold"/>
              </a:rPr>
              <a:t>Enhanced beacon requests (EBRs): </a:t>
            </a:r>
            <a:r>
              <a:rPr lang="en-US" sz="2800" b="0" i="0" u="none" strike="noStrike" baseline="0" dirty="0">
                <a:solidFill>
                  <a:srgbClr val="231F20"/>
                </a:solidFill>
                <a:latin typeface="CiscoSerif-Regular"/>
              </a:rPr>
              <a:t>Like enhanced beacons, an enhanced beacon request (EBRs) also leverages IEs. The IEs in EBRs allow the sender to selectively specify the request of information. Beacon responses are then limited to what was requested in the EBR. For example, a </a:t>
            </a:r>
            <a:r>
              <a:rPr lang="en-US" sz="2800" b="1" i="0" u="none" strike="noStrike" baseline="0" dirty="0">
                <a:solidFill>
                  <a:srgbClr val="231F20"/>
                </a:solidFill>
                <a:latin typeface="CiscoSerif-Regular"/>
              </a:rPr>
              <a:t>device can query for a PAN that is allowing new devices to join </a:t>
            </a:r>
            <a:r>
              <a:rPr lang="en-US" sz="2800" b="0" i="0" u="none" strike="noStrike" baseline="0" dirty="0">
                <a:solidFill>
                  <a:srgbClr val="231F20"/>
                </a:solidFill>
                <a:latin typeface="CiscoSerif-Regular"/>
              </a:rPr>
              <a:t>or a PAN that supports a certain set of MAC/PHY capabilities.</a:t>
            </a:r>
          </a:p>
          <a:p>
            <a:pPr algn="l"/>
            <a:r>
              <a:rPr lang="en-US" sz="2800" b="1" i="0" u="none" strike="noStrike" baseline="0" dirty="0">
                <a:solidFill>
                  <a:srgbClr val="231F20"/>
                </a:solidFill>
                <a:latin typeface="CiscoSerif-Bold"/>
              </a:rPr>
              <a:t>Enhanced Acknowledgement: </a:t>
            </a:r>
            <a:r>
              <a:rPr lang="en-US" sz="2800" b="0" i="0" u="none" strike="noStrike" baseline="0" dirty="0">
                <a:solidFill>
                  <a:srgbClr val="231F20"/>
                </a:solidFill>
                <a:latin typeface="CiscoSerif-Regular"/>
              </a:rPr>
              <a:t>The Enhanced Acknowledgement frame allows for the </a:t>
            </a:r>
            <a:r>
              <a:rPr lang="en-US" sz="2800" b="1" i="0" u="none" strike="noStrike" baseline="0" dirty="0">
                <a:solidFill>
                  <a:srgbClr val="231F20"/>
                </a:solidFill>
                <a:latin typeface="CiscoSerif-Regular"/>
              </a:rPr>
              <a:t>integration of a frame counter </a:t>
            </a:r>
            <a:r>
              <a:rPr lang="en-US" sz="2800" b="0" i="0" u="none" strike="noStrike" baseline="0" dirty="0">
                <a:solidFill>
                  <a:srgbClr val="231F20"/>
                </a:solidFill>
                <a:latin typeface="CiscoSerif-Regular"/>
              </a:rPr>
              <a:t>for the frame being acknowledged. This feature helps protect against certain attacks that occur when Acknowledgement frames are spoofed.</a:t>
            </a:r>
            <a:endParaRPr lang="en-US" dirty="0"/>
          </a:p>
        </p:txBody>
      </p:sp>
    </p:spTree>
    <p:extLst>
      <p:ext uri="{BB962C8B-B14F-4D97-AF65-F5344CB8AC3E}">
        <p14:creationId xmlns:p14="http://schemas.microsoft.com/office/powerpoint/2010/main" val="14830445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AF031-9987-47F3-8AED-AF848BC8F908}"/>
              </a:ext>
            </a:extLst>
          </p:cNvPr>
          <p:cNvSpPr>
            <a:spLocks noGrp="1"/>
          </p:cNvSpPr>
          <p:nvPr>
            <p:ph type="title"/>
          </p:nvPr>
        </p:nvSpPr>
        <p:spPr/>
        <p:txBody>
          <a:bodyPr/>
          <a:lstStyle/>
          <a:p>
            <a:r>
              <a:rPr lang="en-US" sz="4400" b="1" i="0" u="none" strike="noStrike" baseline="0" dirty="0">
                <a:solidFill>
                  <a:srgbClr val="231F20"/>
                </a:solidFill>
                <a:latin typeface="Cisco-Bold"/>
              </a:rPr>
              <a:t>IEEE 1901.2a</a:t>
            </a:r>
            <a:endParaRPr lang="en-US" dirty="0"/>
          </a:p>
        </p:txBody>
      </p:sp>
      <p:sp>
        <p:nvSpPr>
          <p:cNvPr id="3" name="Content Placeholder 2">
            <a:extLst>
              <a:ext uri="{FF2B5EF4-FFF2-40B4-BE49-F238E27FC236}">
                <a16:creationId xmlns:a16="http://schemas.microsoft.com/office/drawing/2014/main" id="{2061CDBE-0FB1-4CBD-BB3F-81BFB229CDC2}"/>
              </a:ext>
            </a:extLst>
          </p:cNvPr>
          <p:cNvSpPr>
            <a:spLocks noGrp="1"/>
          </p:cNvSpPr>
          <p:nvPr>
            <p:ph idx="1"/>
          </p:nvPr>
        </p:nvSpPr>
        <p:spPr>
          <a:xfrm>
            <a:off x="838200" y="1540042"/>
            <a:ext cx="10515600" cy="4636921"/>
          </a:xfrm>
        </p:spPr>
        <p:txBody>
          <a:bodyPr>
            <a:normAutofit/>
          </a:bodyPr>
          <a:lstStyle/>
          <a:p>
            <a:pPr algn="l"/>
            <a:r>
              <a:rPr lang="en-US" sz="2800" b="0" i="0" u="none" strike="noStrike" baseline="0" dirty="0">
                <a:solidFill>
                  <a:srgbClr val="231F20"/>
                </a:solidFill>
                <a:latin typeface="CiscoSerif-Regular"/>
              </a:rPr>
              <a:t>IEEE 1901.2a-2013 is a wired technology that is an update to the original IEEE 1901.2 specification. This is a standard for Narrowband Power Line Communication (NB-PLC).</a:t>
            </a:r>
          </a:p>
          <a:p>
            <a:pPr algn="l"/>
            <a:r>
              <a:rPr lang="en-US" sz="2800" b="0" i="0" u="none" strike="noStrike" baseline="0" dirty="0">
                <a:solidFill>
                  <a:srgbClr val="231F20"/>
                </a:solidFill>
                <a:latin typeface="CiscoSerif-Regular"/>
              </a:rPr>
              <a:t>NB-PLC leverages a narrowband spectrum for low power, long range, and resistance to interference over the same wires that carry electric power</a:t>
            </a:r>
          </a:p>
          <a:p>
            <a:pPr algn="l"/>
            <a:r>
              <a:rPr lang="en-US" sz="2800" b="0" i="0" u="none" strike="noStrike" baseline="0" dirty="0">
                <a:solidFill>
                  <a:srgbClr val="231F20"/>
                </a:solidFill>
                <a:latin typeface="CiscoSerif-Regular"/>
              </a:rPr>
              <a:t>NB-PLC is often found in use cases such as the following:</a:t>
            </a:r>
          </a:p>
          <a:p>
            <a:pPr lvl="1"/>
            <a:r>
              <a:rPr lang="en-US" b="1" i="0" u="none" strike="noStrike" baseline="0" dirty="0">
                <a:solidFill>
                  <a:srgbClr val="231F20"/>
                </a:solidFill>
                <a:latin typeface="CiscoSerif-Bold"/>
              </a:rPr>
              <a:t>Smart metering: </a:t>
            </a:r>
            <a:r>
              <a:rPr lang="en-US" b="0" i="0" u="none" strike="noStrike" baseline="0" dirty="0">
                <a:solidFill>
                  <a:srgbClr val="231F20"/>
                </a:solidFill>
                <a:latin typeface="CiscoSerif-Regular"/>
              </a:rPr>
              <a:t>NB-PLC can be used to automate the reading of utility meters, such as electric, gas, and water meters. This is true particularly in Europe, where PLC is the preferred technology for utilities deploying smart meter solutions.</a:t>
            </a:r>
            <a:endParaRPr lang="en-US" dirty="0"/>
          </a:p>
        </p:txBody>
      </p:sp>
    </p:spTree>
    <p:extLst>
      <p:ext uri="{BB962C8B-B14F-4D97-AF65-F5344CB8AC3E}">
        <p14:creationId xmlns:p14="http://schemas.microsoft.com/office/powerpoint/2010/main" val="36746194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AF031-9987-47F3-8AED-AF848BC8F908}"/>
              </a:ext>
            </a:extLst>
          </p:cNvPr>
          <p:cNvSpPr>
            <a:spLocks noGrp="1"/>
          </p:cNvSpPr>
          <p:nvPr>
            <p:ph type="title"/>
          </p:nvPr>
        </p:nvSpPr>
        <p:spPr/>
        <p:txBody>
          <a:bodyPr/>
          <a:lstStyle/>
          <a:p>
            <a:r>
              <a:rPr lang="en-US" sz="4400" b="1" i="0" u="none" strike="noStrike" baseline="0" dirty="0">
                <a:solidFill>
                  <a:srgbClr val="231F20"/>
                </a:solidFill>
                <a:latin typeface="Cisco-Bold"/>
              </a:rPr>
              <a:t>IEEE 1901.2a</a:t>
            </a:r>
            <a:endParaRPr lang="en-US" dirty="0"/>
          </a:p>
        </p:txBody>
      </p:sp>
      <p:sp>
        <p:nvSpPr>
          <p:cNvPr id="3" name="Content Placeholder 2">
            <a:extLst>
              <a:ext uri="{FF2B5EF4-FFF2-40B4-BE49-F238E27FC236}">
                <a16:creationId xmlns:a16="http://schemas.microsoft.com/office/drawing/2014/main" id="{2061CDBE-0FB1-4CBD-BB3F-81BFB229CDC2}"/>
              </a:ext>
            </a:extLst>
          </p:cNvPr>
          <p:cNvSpPr>
            <a:spLocks noGrp="1"/>
          </p:cNvSpPr>
          <p:nvPr>
            <p:ph idx="1"/>
          </p:nvPr>
        </p:nvSpPr>
        <p:spPr>
          <a:xfrm>
            <a:off x="838200" y="1540042"/>
            <a:ext cx="10515600" cy="4636921"/>
          </a:xfrm>
        </p:spPr>
        <p:txBody>
          <a:bodyPr>
            <a:normAutofit fontScale="92500"/>
          </a:bodyPr>
          <a:lstStyle/>
          <a:p>
            <a:pPr algn="l"/>
            <a:r>
              <a:rPr lang="en-US" sz="2800" b="1" i="0" u="none" strike="noStrike" baseline="0" dirty="0">
                <a:solidFill>
                  <a:srgbClr val="231F20"/>
                </a:solidFill>
                <a:latin typeface="CiscoSerif-Bold"/>
              </a:rPr>
              <a:t>Distribution automation: </a:t>
            </a:r>
            <a:r>
              <a:rPr lang="en-US" sz="2800" b="0" i="0" u="none" strike="noStrike" baseline="0" dirty="0">
                <a:solidFill>
                  <a:srgbClr val="231F20"/>
                </a:solidFill>
                <a:latin typeface="CiscoSerif-Regular"/>
              </a:rPr>
              <a:t>NB-PLC can be used for distribution automation, which involves monitoring and controlling all the devices in the power grid.</a:t>
            </a:r>
          </a:p>
          <a:p>
            <a:pPr algn="l"/>
            <a:r>
              <a:rPr lang="en-US" sz="2800" b="1" i="0" u="none" strike="noStrike" baseline="0" dirty="0">
                <a:solidFill>
                  <a:srgbClr val="231F20"/>
                </a:solidFill>
                <a:latin typeface="CiscoSerif-Bold"/>
              </a:rPr>
              <a:t>Public lighting: </a:t>
            </a:r>
            <a:r>
              <a:rPr lang="en-US" sz="2800" b="0" i="0" u="none" strike="noStrike" baseline="0" dirty="0">
                <a:solidFill>
                  <a:srgbClr val="231F20"/>
                </a:solidFill>
                <a:latin typeface="CiscoSerif-Regular"/>
              </a:rPr>
              <a:t>A common use for NB-PLC is with public lighting—the lights found in cities and along streets, highways, and public areas such as parks.</a:t>
            </a:r>
          </a:p>
          <a:p>
            <a:pPr algn="l"/>
            <a:r>
              <a:rPr lang="en-US" sz="2800" b="1" i="0" u="none" strike="noStrike" baseline="0" dirty="0">
                <a:solidFill>
                  <a:srgbClr val="231F20"/>
                </a:solidFill>
                <a:latin typeface="CiscoSerif-Bold"/>
              </a:rPr>
              <a:t>Electric vehicle charging stations: </a:t>
            </a:r>
            <a:r>
              <a:rPr lang="en-US" sz="2800" b="0" i="0" u="none" strike="noStrike" baseline="0" dirty="0">
                <a:solidFill>
                  <a:srgbClr val="231F20"/>
                </a:solidFill>
                <a:latin typeface="CiscoSerif-Regular"/>
              </a:rPr>
              <a:t>NB-PLC can be used for electric vehicle charging stations, where the batteries of electric vehicles can be recharged.</a:t>
            </a:r>
          </a:p>
          <a:p>
            <a:pPr algn="l"/>
            <a:r>
              <a:rPr lang="en-US" sz="2800" b="1" i="0" u="none" strike="noStrike" baseline="0" dirty="0">
                <a:solidFill>
                  <a:srgbClr val="231F20"/>
                </a:solidFill>
                <a:latin typeface="CiscoSerif-Bold"/>
              </a:rPr>
              <a:t>Microgrids: </a:t>
            </a:r>
            <a:r>
              <a:rPr lang="en-US" sz="2800" b="0" i="0" u="none" strike="noStrike" baseline="0" dirty="0">
                <a:solidFill>
                  <a:srgbClr val="231F20"/>
                </a:solidFill>
                <a:latin typeface="CiscoSerif-Regular"/>
              </a:rPr>
              <a:t>NB-PLC can be used for microgrids, local energy grids that can disconnect from the traditional grid and operate independently.</a:t>
            </a:r>
          </a:p>
          <a:p>
            <a:pPr algn="l"/>
            <a:r>
              <a:rPr lang="en-US" sz="2800" b="1" i="0" u="none" strike="noStrike" baseline="0" dirty="0">
                <a:solidFill>
                  <a:srgbClr val="231F20"/>
                </a:solidFill>
                <a:latin typeface="CiscoSerif-Bold"/>
              </a:rPr>
              <a:t>Renewable energy: </a:t>
            </a:r>
            <a:r>
              <a:rPr lang="en-US" sz="2800" b="0" i="0" u="none" strike="noStrike" baseline="0" dirty="0">
                <a:solidFill>
                  <a:srgbClr val="231F20"/>
                </a:solidFill>
                <a:latin typeface="CiscoSerif-Regular"/>
              </a:rPr>
              <a:t>NB-PLC can be used in renewable energy applications, such as solar, wind power, hydroelectric, and geothermal heat.</a:t>
            </a:r>
            <a:endParaRPr lang="en-US" dirty="0"/>
          </a:p>
        </p:txBody>
      </p:sp>
    </p:spTree>
    <p:extLst>
      <p:ext uri="{BB962C8B-B14F-4D97-AF65-F5344CB8AC3E}">
        <p14:creationId xmlns:p14="http://schemas.microsoft.com/office/powerpoint/2010/main" val="28392166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B2727-1DE6-4763-9931-4645F118DF37}"/>
              </a:ext>
            </a:extLst>
          </p:cNvPr>
          <p:cNvSpPr>
            <a:spLocks noGrp="1"/>
          </p:cNvSpPr>
          <p:nvPr>
            <p:ph type="title"/>
          </p:nvPr>
        </p:nvSpPr>
        <p:spPr/>
        <p:txBody>
          <a:bodyPr/>
          <a:lstStyle/>
          <a:p>
            <a:r>
              <a:rPr lang="en-US" dirty="0"/>
              <a:t>IEEE 1901.2a- Physical Layer</a:t>
            </a:r>
          </a:p>
        </p:txBody>
      </p:sp>
      <p:pic>
        <p:nvPicPr>
          <p:cNvPr id="7" name="Content Placeholder 6">
            <a:extLst>
              <a:ext uri="{FF2B5EF4-FFF2-40B4-BE49-F238E27FC236}">
                <a16:creationId xmlns:a16="http://schemas.microsoft.com/office/drawing/2014/main" id="{F283D4F6-B029-491D-B657-F5ADC0B1F218}"/>
              </a:ext>
            </a:extLst>
          </p:cNvPr>
          <p:cNvPicPr>
            <a:picLocks noGrp="1" noChangeAspect="1"/>
          </p:cNvPicPr>
          <p:nvPr>
            <p:ph idx="1"/>
          </p:nvPr>
        </p:nvPicPr>
        <p:blipFill>
          <a:blip r:embed="rId2"/>
          <a:stretch>
            <a:fillRect/>
          </a:stretch>
        </p:blipFill>
        <p:spPr>
          <a:xfrm>
            <a:off x="587477" y="1762432"/>
            <a:ext cx="9972367" cy="3333136"/>
          </a:xfrm>
        </p:spPr>
      </p:pic>
      <p:sp>
        <p:nvSpPr>
          <p:cNvPr id="9" name="TextBox 8">
            <a:extLst>
              <a:ext uri="{FF2B5EF4-FFF2-40B4-BE49-F238E27FC236}">
                <a16:creationId xmlns:a16="http://schemas.microsoft.com/office/drawing/2014/main" id="{257780A7-6466-4583-B7AE-AE84CE0538C7}"/>
              </a:ext>
            </a:extLst>
          </p:cNvPr>
          <p:cNvSpPr txBox="1"/>
          <p:nvPr/>
        </p:nvSpPr>
        <p:spPr>
          <a:xfrm>
            <a:off x="969705" y="5167312"/>
            <a:ext cx="10209571" cy="646331"/>
          </a:xfrm>
          <a:prstGeom prst="rect">
            <a:avLst/>
          </a:prstGeom>
          <a:noFill/>
        </p:spPr>
        <p:txBody>
          <a:bodyPr wrap="square">
            <a:spAutoFit/>
          </a:bodyPr>
          <a:lstStyle/>
          <a:p>
            <a:r>
              <a:rPr lang="en-US" dirty="0"/>
              <a:t>CENELEC is the French </a:t>
            </a:r>
            <a:r>
              <a:rPr lang="en-US" dirty="0" err="1"/>
              <a:t>Comité</a:t>
            </a:r>
            <a:r>
              <a:rPr lang="en-US" dirty="0"/>
              <a:t> </a:t>
            </a:r>
            <a:r>
              <a:rPr lang="en-US" dirty="0" err="1"/>
              <a:t>Européen</a:t>
            </a:r>
            <a:r>
              <a:rPr lang="en-US" dirty="0"/>
              <a:t> de </a:t>
            </a:r>
            <a:r>
              <a:rPr lang="en-US" dirty="0" err="1"/>
              <a:t>Normalisation</a:t>
            </a:r>
            <a:r>
              <a:rPr lang="en-US" dirty="0"/>
              <a:t> </a:t>
            </a:r>
            <a:r>
              <a:rPr lang="en-US" dirty="0" err="1"/>
              <a:t>Électrotechnique</a:t>
            </a:r>
            <a:r>
              <a:rPr lang="en-US" dirty="0"/>
              <a:t>, which in English translates to</a:t>
            </a:r>
          </a:p>
          <a:p>
            <a:r>
              <a:rPr lang="en-US" dirty="0"/>
              <a:t>European Committee for Electrotechnical Standardization.</a:t>
            </a:r>
          </a:p>
        </p:txBody>
      </p:sp>
    </p:spTree>
    <p:extLst>
      <p:ext uri="{BB962C8B-B14F-4D97-AF65-F5344CB8AC3E}">
        <p14:creationId xmlns:p14="http://schemas.microsoft.com/office/powerpoint/2010/main" val="23471207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B0C3D-BC77-44E1-8EE6-C8D7BB6CDC90}"/>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IEEE 1901.2a- MAC Layer</a:t>
            </a:r>
            <a:endParaRPr lang="en-US" dirty="0"/>
          </a:p>
        </p:txBody>
      </p:sp>
      <p:sp>
        <p:nvSpPr>
          <p:cNvPr id="3" name="Content Placeholder 2">
            <a:extLst>
              <a:ext uri="{FF2B5EF4-FFF2-40B4-BE49-F238E27FC236}">
                <a16:creationId xmlns:a16="http://schemas.microsoft.com/office/drawing/2014/main" id="{25A6751C-1CEF-40BB-AC75-160706FAD86C}"/>
              </a:ext>
            </a:extLst>
          </p:cNvPr>
          <p:cNvSpPr>
            <a:spLocks noGrp="1"/>
          </p:cNvSpPr>
          <p:nvPr>
            <p:ph idx="1"/>
          </p:nvPr>
        </p:nvSpPr>
        <p:spPr/>
        <p:txBody>
          <a:bodyPr/>
          <a:lstStyle/>
          <a:p>
            <a:pPr algn="l"/>
            <a:r>
              <a:rPr lang="en-US" sz="2800" b="0" i="0" u="none" strike="noStrike" baseline="0" dirty="0">
                <a:solidFill>
                  <a:srgbClr val="231F20"/>
                </a:solidFill>
                <a:latin typeface="CiscoSerif-Regular"/>
              </a:rPr>
              <a:t>MAC frame format of IEEE 1901.2a is based on the IEEE 802.15.4 MAC frame but integrates the latest IEEE 802.15.4e-2012 amendment</a:t>
            </a:r>
          </a:p>
          <a:p>
            <a:pPr algn="l"/>
            <a:endParaRPr lang="en-US" dirty="0"/>
          </a:p>
        </p:txBody>
      </p:sp>
      <p:pic>
        <p:nvPicPr>
          <p:cNvPr id="5" name="Picture 4">
            <a:extLst>
              <a:ext uri="{FF2B5EF4-FFF2-40B4-BE49-F238E27FC236}">
                <a16:creationId xmlns:a16="http://schemas.microsoft.com/office/drawing/2014/main" id="{D4EF5CE9-D20D-4079-9D3A-637FFE2B6A06}"/>
              </a:ext>
            </a:extLst>
          </p:cNvPr>
          <p:cNvPicPr>
            <a:picLocks noChangeAspect="1"/>
          </p:cNvPicPr>
          <p:nvPr/>
        </p:nvPicPr>
        <p:blipFill>
          <a:blip r:embed="rId2"/>
          <a:stretch>
            <a:fillRect/>
          </a:stretch>
        </p:blipFill>
        <p:spPr>
          <a:xfrm>
            <a:off x="838199" y="2698955"/>
            <a:ext cx="10768781" cy="3113033"/>
          </a:xfrm>
          <a:prstGeom prst="rect">
            <a:avLst/>
          </a:prstGeom>
        </p:spPr>
      </p:pic>
    </p:spTree>
    <p:extLst>
      <p:ext uri="{BB962C8B-B14F-4D97-AF65-F5344CB8AC3E}">
        <p14:creationId xmlns:p14="http://schemas.microsoft.com/office/powerpoint/2010/main" val="13387567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721A-75BF-4BF8-8D88-90AB7825EC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0F8578-6994-4AF9-B091-27AE56A4C5AC}"/>
              </a:ext>
            </a:extLst>
          </p:cNvPr>
          <p:cNvSpPr>
            <a:spLocks noGrp="1"/>
          </p:cNvSpPr>
          <p:nvPr>
            <p:ph idx="1"/>
          </p:nvPr>
        </p:nvSpPr>
        <p:spPr/>
        <p:txBody>
          <a:bodyPr/>
          <a:lstStyle/>
          <a:p>
            <a:pPr algn="l"/>
            <a:r>
              <a:rPr lang="en-US" sz="2800" b="0" i="0" u="none" strike="noStrike" baseline="0" dirty="0">
                <a:solidFill>
                  <a:srgbClr val="231F20"/>
                </a:solidFill>
                <a:latin typeface="CiscoSerif-Regular"/>
              </a:rPr>
              <a:t>As shown in Figure 4-12, IEEE 1901.2 has a Segment Control field. This is a new field that was not present in our previous discussions of the MAC frame for 802.15.4 and 802.15.4e. This field handles the segmentation or fragmentation of upper-layer packets with sizes larger than what can be carried in the MAC protocol data unit (MPDU).</a:t>
            </a:r>
            <a:endParaRPr lang="en-US" dirty="0"/>
          </a:p>
        </p:txBody>
      </p:sp>
    </p:spTree>
    <p:extLst>
      <p:ext uri="{BB962C8B-B14F-4D97-AF65-F5344CB8AC3E}">
        <p14:creationId xmlns:p14="http://schemas.microsoft.com/office/powerpoint/2010/main" val="11340267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1104-0092-4349-A709-F695E97DB346}"/>
              </a:ext>
            </a:extLst>
          </p:cNvPr>
          <p:cNvSpPr>
            <a:spLocks noGrp="1"/>
          </p:cNvSpPr>
          <p:nvPr>
            <p:ph type="title"/>
          </p:nvPr>
        </p:nvSpPr>
        <p:spPr/>
        <p:txBody>
          <a:bodyPr/>
          <a:lstStyle/>
          <a:p>
            <a:r>
              <a:rPr lang="en-US" dirty="0"/>
              <a:t>Topology</a:t>
            </a:r>
          </a:p>
        </p:txBody>
      </p:sp>
      <p:sp>
        <p:nvSpPr>
          <p:cNvPr id="3" name="Content Placeholder 2">
            <a:extLst>
              <a:ext uri="{FF2B5EF4-FFF2-40B4-BE49-F238E27FC236}">
                <a16:creationId xmlns:a16="http://schemas.microsoft.com/office/drawing/2014/main" id="{A1EDA7A2-0D36-49C4-B147-3B10E3B747CE}"/>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Use cases and deployment topologies for IEEE 1901.2a are tied to the physical power lines. As with wireless technologies, signal propagation is limited by factors such as noise, interference, distortion, and attenuation. These factors become more prevalent with distance, so most NB-PLC deployments use some sort of mesh topology. Mesh networks offer the advantage of devices relaying the traffic of other devices so longer distances can be segmented. Figure 4-13 highlights a network scenario in which a PLC mesh network is applied to a neighborhood.</a:t>
            </a:r>
            <a:endParaRPr lang="en-US" dirty="0"/>
          </a:p>
        </p:txBody>
      </p:sp>
    </p:spTree>
    <p:extLst>
      <p:ext uri="{BB962C8B-B14F-4D97-AF65-F5344CB8AC3E}">
        <p14:creationId xmlns:p14="http://schemas.microsoft.com/office/powerpoint/2010/main" val="25528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16E57-62CB-418C-9891-ADEAAA0479E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1BCA54D-5A6F-4D6A-BB44-A3708EBC5449}"/>
              </a:ext>
            </a:extLst>
          </p:cNvPr>
          <p:cNvPicPr>
            <a:picLocks noGrp="1" noChangeAspect="1"/>
          </p:cNvPicPr>
          <p:nvPr>
            <p:ph idx="1"/>
          </p:nvPr>
        </p:nvPicPr>
        <p:blipFill>
          <a:blip r:embed="rId2"/>
          <a:stretch>
            <a:fillRect/>
          </a:stretch>
        </p:blipFill>
        <p:spPr>
          <a:xfrm>
            <a:off x="838200" y="365126"/>
            <a:ext cx="10515600" cy="5673198"/>
          </a:xfrm>
        </p:spPr>
      </p:pic>
    </p:spTree>
    <p:extLst>
      <p:ext uri="{BB962C8B-B14F-4D97-AF65-F5344CB8AC3E}">
        <p14:creationId xmlns:p14="http://schemas.microsoft.com/office/powerpoint/2010/main" val="1223076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B600A-9534-4A84-9D73-3696702CA9B1}"/>
              </a:ext>
            </a:extLst>
          </p:cNvPr>
          <p:cNvSpPr>
            <a:spLocks noGrp="1"/>
          </p:cNvSpPr>
          <p:nvPr>
            <p:ph type="title"/>
          </p:nvPr>
        </p:nvSpPr>
        <p:spPr/>
        <p:txBody>
          <a:bodyPr/>
          <a:lstStyle/>
          <a:p>
            <a:r>
              <a:rPr lang="en-US" dirty="0"/>
              <a:t>IEEE 1901.2a Security</a:t>
            </a:r>
          </a:p>
        </p:txBody>
      </p:sp>
      <p:sp>
        <p:nvSpPr>
          <p:cNvPr id="3" name="Content Placeholder 2">
            <a:extLst>
              <a:ext uri="{FF2B5EF4-FFF2-40B4-BE49-F238E27FC236}">
                <a16:creationId xmlns:a16="http://schemas.microsoft.com/office/drawing/2014/main" id="{C1670D64-DDE4-4908-9B54-42E1DC26AFE5}"/>
              </a:ext>
            </a:extLst>
          </p:cNvPr>
          <p:cNvSpPr>
            <a:spLocks noGrp="1"/>
          </p:cNvSpPr>
          <p:nvPr>
            <p:ph idx="1"/>
          </p:nvPr>
        </p:nvSpPr>
        <p:spPr/>
        <p:txBody>
          <a:bodyPr/>
          <a:lstStyle/>
          <a:p>
            <a:pPr algn="l"/>
            <a:r>
              <a:rPr lang="en-US" sz="2800" b="0" i="0" u="none" strike="noStrike" baseline="0" dirty="0">
                <a:solidFill>
                  <a:srgbClr val="231F20"/>
                </a:solidFill>
                <a:latin typeface="CiscoSerif-Regular"/>
              </a:rPr>
              <a:t>IEEE 1901.2a security offers similar features to IEEE 802.15.4g. Encryption and authentication are performed using AES. In addition, IEEE 1901.2a aligns with 802.15.4g in its ability to support the IEEE 802.15.9 Key Management Protocol. However, some differences exist. These differences are mostly tied to the PHY layer fragmentation capabilities of IEEE 1901.2a and include the following:</a:t>
            </a:r>
            <a:endParaRPr lang="en-US" dirty="0"/>
          </a:p>
        </p:txBody>
      </p:sp>
    </p:spTree>
    <p:extLst>
      <p:ext uri="{BB962C8B-B14F-4D97-AF65-F5344CB8AC3E}">
        <p14:creationId xmlns:p14="http://schemas.microsoft.com/office/powerpoint/2010/main" val="5167705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C3967-B7BE-4634-A89F-930E4E4A5EFC}"/>
              </a:ext>
            </a:extLst>
          </p:cNvPr>
          <p:cNvSpPr>
            <a:spLocks noGrp="1"/>
          </p:cNvSpPr>
          <p:nvPr>
            <p:ph type="title"/>
          </p:nvPr>
        </p:nvSpPr>
        <p:spPr/>
        <p:txBody>
          <a:bodyPr/>
          <a:lstStyle/>
          <a:p>
            <a:r>
              <a:rPr lang="en-US" sz="4400" b="1" i="0" u="none" strike="noStrike" baseline="0" dirty="0">
                <a:solidFill>
                  <a:srgbClr val="231F20"/>
                </a:solidFill>
                <a:latin typeface="Cisco-Bold"/>
              </a:rPr>
              <a:t>IEEE 802.11ah</a:t>
            </a:r>
            <a:endParaRPr lang="en-US" dirty="0"/>
          </a:p>
        </p:txBody>
      </p:sp>
      <p:sp>
        <p:nvSpPr>
          <p:cNvPr id="3" name="Content Placeholder 2">
            <a:extLst>
              <a:ext uri="{FF2B5EF4-FFF2-40B4-BE49-F238E27FC236}">
                <a16:creationId xmlns:a16="http://schemas.microsoft.com/office/drawing/2014/main" id="{55107999-4B1E-49A9-ABA5-B402A14EBB0B}"/>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IEEE 802.11 Wi-Fi is certainly the most successfully deployed wireless technology</a:t>
            </a:r>
          </a:p>
          <a:p>
            <a:pPr algn="l"/>
            <a:r>
              <a:rPr lang="en-US" sz="2800" b="0" i="0" u="none" strike="noStrike" baseline="0" dirty="0">
                <a:solidFill>
                  <a:srgbClr val="231F20"/>
                </a:solidFill>
                <a:latin typeface="CiscoSerif-Regular"/>
              </a:rPr>
              <a:t>A key IoT wireless access technology, either for connecting endpoints such as fog computing nodes, high-data-rate sensors, and audio or video analytics devices or for deploying Wi-Fi backhaul infrastructures, such as outdoor Wi-Fi mesh in smart cities, oil and mining, or other environments</a:t>
            </a:r>
          </a:p>
          <a:p>
            <a:pPr algn="l"/>
            <a:r>
              <a:rPr lang="en-US" sz="2800" b="0" i="0" u="none" strike="noStrike" baseline="0" dirty="0">
                <a:solidFill>
                  <a:srgbClr val="231F20"/>
                </a:solidFill>
                <a:latin typeface="CiscoSerif-Regular"/>
              </a:rPr>
              <a:t>Wi-Fi lacks sub-GHz support for better signal penetration, low power for battery powered nodes, and the ability to support a large number of devices</a:t>
            </a:r>
          </a:p>
          <a:p>
            <a:pPr algn="l"/>
            <a:r>
              <a:rPr lang="en-US" sz="2800" b="0" i="0" u="none" strike="noStrike" baseline="0" dirty="0">
                <a:solidFill>
                  <a:srgbClr val="231F20"/>
                </a:solidFill>
                <a:latin typeface="CiscoSerif-Regular"/>
              </a:rPr>
              <a:t>For these reasons, the IEEE 802.11 working group launched a task group named IEEE 802.11ah to specify a sub-GHz version of Wi-Fi</a:t>
            </a:r>
          </a:p>
          <a:p>
            <a:pPr algn="l"/>
            <a:endParaRPr lang="en-US" dirty="0"/>
          </a:p>
        </p:txBody>
      </p:sp>
    </p:spTree>
    <p:extLst>
      <p:ext uri="{BB962C8B-B14F-4D97-AF65-F5344CB8AC3E}">
        <p14:creationId xmlns:p14="http://schemas.microsoft.com/office/powerpoint/2010/main" val="37539744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720F8-708E-4350-B217-71763A3C3503}"/>
              </a:ext>
            </a:extLst>
          </p:cNvPr>
          <p:cNvSpPr>
            <a:spLocks noGrp="1"/>
          </p:cNvSpPr>
          <p:nvPr>
            <p:ph type="title"/>
          </p:nvPr>
        </p:nvSpPr>
        <p:spPr/>
        <p:txBody>
          <a:bodyPr/>
          <a:lstStyle/>
          <a:p>
            <a:r>
              <a:rPr lang="en-US" dirty="0"/>
              <a:t>IEEE 802.11 use cases</a:t>
            </a:r>
          </a:p>
        </p:txBody>
      </p:sp>
      <p:sp>
        <p:nvSpPr>
          <p:cNvPr id="3" name="Content Placeholder 2">
            <a:extLst>
              <a:ext uri="{FF2B5EF4-FFF2-40B4-BE49-F238E27FC236}">
                <a16:creationId xmlns:a16="http://schemas.microsoft.com/office/drawing/2014/main" id="{25574F29-2F9A-4649-88BC-5A661B122295}"/>
              </a:ext>
            </a:extLst>
          </p:cNvPr>
          <p:cNvSpPr>
            <a:spLocks noGrp="1"/>
          </p:cNvSpPr>
          <p:nvPr>
            <p:ph idx="1"/>
          </p:nvPr>
        </p:nvSpPr>
        <p:spPr/>
        <p:txBody>
          <a:bodyPr>
            <a:normAutofit/>
          </a:bodyPr>
          <a:lstStyle/>
          <a:p>
            <a:pPr algn="l"/>
            <a:r>
              <a:rPr lang="en-US" sz="2800" b="1" i="0" u="none" strike="noStrike" baseline="0" dirty="0">
                <a:solidFill>
                  <a:srgbClr val="231F20"/>
                </a:solidFill>
                <a:latin typeface="CiscoSerif-Bold"/>
              </a:rPr>
              <a:t>Sensors and meters covering a smart grid: </a:t>
            </a:r>
            <a:r>
              <a:rPr lang="en-US" sz="2800" b="0" i="0" u="none" strike="noStrike" baseline="0" dirty="0">
                <a:solidFill>
                  <a:srgbClr val="231F20"/>
                </a:solidFill>
                <a:latin typeface="CiscoSerif-Regular"/>
              </a:rPr>
              <a:t>Meter to pole, environmental/agricultural monitoring, industrial process sensors, indoor healthcare system and fitness sensors, home and building automation sensors</a:t>
            </a:r>
          </a:p>
          <a:p>
            <a:pPr algn="l"/>
            <a:r>
              <a:rPr lang="en-US" sz="2800" b="1" i="0" u="none" strike="noStrike" baseline="0" dirty="0">
                <a:solidFill>
                  <a:srgbClr val="231F20"/>
                </a:solidFill>
                <a:latin typeface="CiscoSerif-Bold"/>
              </a:rPr>
              <a:t>Backhaul aggregation of industrial sensors and meter data: </a:t>
            </a:r>
            <a:r>
              <a:rPr lang="en-US" sz="2800" b="0" i="0" u="none" strike="noStrike" baseline="0" dirty="0">
                <a:solidFill>
                  <a:srgbClr val="231F20"/>
                </a:solidFill>
                <a:latin typeface="CiscoSerif-Regular"/>
              </a:rPr>
              <a:t>Potentially connecting IEEE 802.15.4g subnetworks</a:t>
            </a:r>
          </a:p>
          <a:p>
            <a:pPr algn="l"/>
            <a:r>
              <a:rPr lang="en-US" sz="2800" b="1" i="0" u="none" strike="noStrike" baseline="0" dirty="0">
                <a:solidFill>
                  <a:srgbClr val="231F20"/>
                </a:solidFill>
                <a:latin typeface="CiscoSerif-Bold"/>
              </a:rPr>
              <a:t>Extended range Wi-Fi: </a:t>
            </a:r>
            <a:r>
              <a:rPr lang="en-US" sz="2800" b="0" i="0" u="none" strike="noStrike" baseline="0" dirty="0">
                <a:solidFill>
                  <a:srgbClr val="231F20"/>
                </a:solidFill>
                <a:latin typeface="CiscoSerif-Regular"/>
              </a:rPr>
              <a:t>For outdoor extended-range hotspot or cellular traffic offloading when distances already covered by IEEE 802.11a/b/g/n/ac are not good enough</a:t>
            </a:r>
            <a:endParaRPr lang="en-US" dirty="0"/>
          </a:p>
        </p:txBody>
      </p:sp>
    </p:spTree>
    <p:extLst>
      <p:ext uri="{BB962C8B-B14F-4D97-AF65-F5344CB8AC3E}">
        <p14:creationId xmlns:p14="http://schemas.microsoft.com/office/powerpoint/2010/main" val="3235422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5B022-D6BC-44F4-8B8D-5C023B1969E5}"/>
              </a:ext>
            </a:extLst>
          </p:cNvPr>
          <p:cNvSpPr>
            <a:spLocks noGrp="1"/>
          </p:cNvSpPr>
          <p:nvPr>
            <p:ph type="title"/>
          </p:nvPr>
        </p:nvSpPr>
        <p:spPr/>
        <p:txBody>
          <a:bodyPr/>
          <a:lstStyle/>
          <a:p>
            <a:r>
              <a:rPr lang="en-US" dirty="0"/>
              <a:t>Standardization and Alliances</a:t>
            </a:r>
          </a:p>
        </p:txBody>
      </p:sp>
      <p:sp>
        <p:nvSpPr>
          <p:cNvPr id="3" name="Content Placeholder 2">
            <a:extLst>
              <a:ext uri="{FF2B5EF4-FFF2-40B4-BE49-F238E27FC236}">
                <a16:creationId xmlns:a16="http://schemas.microsoft.com/office/drawing/2014/main" id="{65CD1212-3BE4-4111-A879-DF17EAC577C1}"/>
              </a:ext>
            </a:extLst>
          </p:cNvPr>
          <p:cNvSpPr>
            <a:spLocks noGrp="1"/>
          </p:cNvSpPr>
          <p:nvPr>
            <p:ph idx="1"/>
          </p:nvPr>
        </p:nvSpPr>
        <p:spPr/>
        <p:txBody>
          <a:bodyPr/>
          <a:lstStyle/>
          <a:p>
            <a:pPr algn="l"/>
            <a:r>
              <a:rPr lang="en-US" sz="2800" b="0" i="0" u="none" strike="noStrike" baseline="0" dirty="0">
                <a:solidFill>
                  <a:srgbClr val="231F20"/>
                </a:solidFill>
                <a:latin typeface="CiscoSerif-Regular"/>
              </a:rPr>
              <a:t>In July 2010, the IEEE 802.11 working group decided to work on an “industrial Wi-Fi” and created the IEEE 802.11ah group. The 802.11ah specification would operate in unlicensed sub-GHz frequency bands, similar to IEEE 802.15.4 and other LPWA technologies.</a:t>
            </a:r>
          </a:p>
          <a:p>
            <a:pPr algn="l"/>
            <a:r>
              <a:rPr lang="en-US" sz="2800" b="0" i="0" u="none" strike="noStrike" baseline="0" dirty="0">
                <a:solidFill>
                  <a:srgbClr val="231F20"/>
                </a:solidFill>
                <a:latin typeface="CiscoSerif-Regular"/>
              </a:rPr>
              <a:t>For the 802.11ah standard, the Wi-Fi Alliance defined a new brand called Wi-Fi </a:t>
            </a:r>
            <a:r>
              <a:rPr lang="en-US" sz="2800" b="0" i="0" u="none" strike="noStrike" baseline="0" dirty="0" err="1">
                <a:solidFill>
                  <a:srgbClr val="231F20"/>
                </a:solidFill>
                <a:latin typeface="CiscoSerif-Regular"/>
              </a:rPr>
              <a:t>HaLow</a:t>
            </a:r>
            <a:r>
              <a:rPr lang="en-US" sz="2800" b="0" i="0" u="none" strike="noStrike" baseline="0" dirty="0">
                <a:solidFill>
                  <a:srgbClr val="231F20"/>
                </a:solidFill>
                <a:latin typeface="CiscoSerif-Regular"/>
              </a:rPr>
              <a:t>. This marketing name is based on a play on words between “11ah” in reverse and “low power.” It is similar to the word “hello” but it is pronounced “hay-low.”</a:t>
            </a:r>
            <a:endParaRPr lang="en-US" dirty="0"/>
          </a:p>
        </p:txBody>
      </p:sp>
    </p:spTree>
    <p:extLst>
      <p:ext uri="{BB962C8B-B14F-4D97-AF65-F5344CB8AC3E}">
        <p14:creationId xmlns:p14="http://schemas.microsoft.com/office/powerpoint/2010/main" val="27375816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D27F7-013D-4155-A561-7D7425CE433D}"/>
              </a:ext>
            </a:extLst>
          </p:cNvPr>
          <p:cNvSpPr>
            <a:spLocks noGrp="1"/>
          </p:cNvSpPr>
          <p:nvPr>
            <p:ph type="title"/>
          </p:nvPr>
        </p:nvSpPr>
        <p:spPr/>
        <p:txBody>
          <a:bodyPr/>
          <a:lstStyle/>
          <a:p>
            <a:r>
              <a:rPr lang="en-US"/>
              <a:t>IEEE 802.11ah Physical Layer</a:t>
            </a:r>
            <a:endParaRPr lang="en-US" dirty="0"/>
          </a:p>
        </p:txBody>
      </p:sp>
      <p:sp>
        <p:nvSpPr>
          <p:cNvPr id="3" name="Content Placeholder 2">
            <a:extLst>
              <a:ext uri="{FF2B5EF4-FFF2-40B4-BE49-F238E27FC236}">
                <a16:creationId xmlns:a16="http://schemas.microsoft.com/office/drawing/2014/main" id="{6DDA23CD-2A64-49C1-A9DD-474BA86305E1}"/>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IEEE 802.11ah essentially provides an additional 802.11 physical layer operating in unlicensed sub-GHz bands. For example, various countries and regions use the following bands for IEEE 802.11ah: 868–868.6 MHz for EMEAR, 902–928 MHz and associated subsets for North America and Asia-Pacific regions, and 314–316 MHz, 430–434 MHz, 470–510 MHz, and 779–787 MHz for China.</a:t>
            </a:r>
          </a:p>
          <a:p>
            <a:pPr algn="l"/>
            <a:r>
              <a:rPr lang="en-US" sz="2800" b="0" i="0" u="none" strike="noStrike" baseline="0" dirty="0">
                <a:solidFill>
                  <a:srgbClr val="231F20"/>
                </a:solidFill>
                <a:latin typeface="CiscoSerif-Regular"/>
              </a:rPr>
              <a:t>Based on OFDM modulation, IEEE 802.11ah uses channels of 2, 4, 8, or 16 MHz (and also 1 MHz for low-bandwidth transmission).</a:t>
            </a:r>
          </a:p>
          <a:p>
            <a:pPr algn="l"/>
            <a:r>
              <a:rPr lang="en-US" sz="2800" b="0" i="0" u="none" strike="noStrike" baseline="0" dirty="0">
                <a:solidFill>
                  <a:srgbClr val="231F20"/>
                </a:solidFill>
                <a:latin typeface="CiscoSerif-Regular"/>
              </a:rPr>
              <a:t>data rate of 100 kbps, the outdoor transmission range for IEEE 802.11ah is expected to be 0.62 mile.</a:t>
            </a:r>
            <a:endParaRPr lang="en-US" dirty="0"/>
          </a:p>
        </p:txBody>
      </p:sp>
    </p:spTree>
    <p:extLst>
      <p:ext uri="{BB962C8B-B14F-4D97-AF65-F5344CB8AC3E}">
        <p14:creationId xmlns:p14="http://schemas.microsoft.com/office/powerpoint/2010/main" val="16043878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107F-CC24-4FBB-A6AF-ED79DBD3927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IEEE 802.11ah MAC Layer</a:t>
            </a:r>
            <a:endParaRPr lang="en-US" dirty="0"/>
          </a:p>
        </p:txBody>
      </p:sp>
      <p:sp>
        <p:nvSpPr>
          <p:cNvPr id="3" name="Content Placeholder 2">
            <a:extLst>
              <a:ext uri="{FF2B5EF4-FFF2-40B4-BE49-F238E27FC236}">
                <a16:creationId xmlns:a16="http://schemas.microsoft.com/office/drawing/2014/main" id="{9C1D1FBF-5724-41C9-BC9D-1971DAC8D8D1}"/>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The IEEE 802.11ah MAC layer is optimized to support the new sub-GHz Wi-Fi PHY while providing low power consumption and the ability to support a larger number of endpoints. Enhancements and features specified by IEEE 802.11ah for the MAC layer include the following:</a:t>
            </a:r>
          </a:p>
          <a:p>
            <a:pPr algn="l"/>
            <a:r>
              <a:rPr lang="en-US" sz="2800" b="1" i="0" u="none" strike="noStrike" baseline="0" dirty="0">
                <a:solidFill>
                  <a:srgbClr val="231F20"/>
                </a:solidFill>
                <a:latin typeface="CiscoSerif-Bold"/>
              </a:rPr>
              <a:t>Number of devices: </a:t>
            </a:r>
            <a:r>
              <a:rPr lang="en-US" sz="2800" b="0" i="0" u="none" strike="noStrike" baseline="0" dirty="0">
                <a:solidFill>
                  <a:srgbClr val="231F20"/>
                </a:solidFill>
                <a:latin typeface="CiscoSerif-Regular"/>
              </a:rPr>
              <a:t>Has been scaled up to 8192 per access point</a:t>
            </a:r>
          </a:p>
          <a:p>
            <a:pPr algn="l"/>
            <a:r>
              <a:rPr lang="en-US" sz="2800" b="1" i="0" u="none" strike="noStrike" baseline="0" dirty="0">
                <a:solidFill>
                  <a:srgbClr val="231F20"/>
                </a:solidFill>
                <a:latin typeface="CiscoSerif-Bold"/>
              </a:rPr>
              <a:t>MAC header: </a:t>
            </a:r>
            <a:r>
              <a:rPr lang="en-US" sz="2800" b="0" i="0" u="none" strike="noStrike" baseline="0" dirty="0">
                <a:solidFill>
                  <a:srgbClr val="231F20"/>
                </a:solidFill>
                <a:latin typeface="CiscoSerif-Regular"/>
              </a:rPr>
              <a:t>Has been shortened to allow more efficient communication.</a:t>
            </a:r>
          </a:p>
          <a:p>
            <a:r>
              <a:rPr lang="en-US" sz="2800" b="1" i="0" u="none" strike="noStrike" baseline="0" dirty="0">
                <a:solidFill>
                  <a:srgbClr val="231F20"/>
                </a:solidFill>
                <a:latin typeface="CiscoSerif-Bold"/>
              </a:rPr>
              <a:t>Null data packet (NDP) support: </a:t>
            </a:r>
            <a:r>
              <a:rPr lang="en-US" sz="2800" b="0" i="0" u="none" strike="noStrike" baseline="0" dirty="0">
                <a:solidFill>
                  <a:srgbClr val="231F20"/>
                </a:solidFill>
                <a:latin typeface="CiscoSerif-Regular"/>
              </a:rPr>
              <a:t>Is extended to cover several control and management frames. Relevant information is concentrated in the PHY header, and the additional overhead associated with decoding the MAC header and data payload is avoided. This change makes the control frame exchanges efficient and less power consuming for the receiving stations.</a:t>
            </a:r>
            <a:endParaRPr lang="en-US" dirty="0"/>
          </a:p>
        </p:txBody>
      </p:sp>
    </p:spTree>
    <p:extLst>
      <p:ext uri="{BB962C8B-B14F-4D97-AF65-F5344CB8AC3E}">
        <p14:creationId xmlns:p14="http://schemas.microsoft.com/office/powerpoint/2010/main" val="39970062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65062-090E-41A2-87F6-F08E91AA14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704388-A038-438D-AAF6-2116955BAFD5}"/>
              </a:ext>
            </a:extLst>
          </p:cNvPr>
          <p:cNvSpPr>
            <a:spLocks noGrp="1"/>
          </p:cNvSpPr>
          <p:nvPr>
            <p:ph idx="1"/>
          </p:nvPr>
        </p:nvSpPr>
        <p:spPr/>
        <p:txBody>
          <a:bodyPr>
            <a:normAutofit fontScale="77500" lnSpcReduction="20000"/>
          </a:bodyPr>
          <a:lstStyle/>
          <a:p>
            <a:pPr algn="l"/>
            <a:r>
              <a:rPr lang="en-US" sz="2800" b="1" i="0" u="none" strike="noStrike" baseline="0" dirty="0">
                <a:solidFill>
                  <a:srgbClr val="231F20"/>
                </a:solidFill>
                <a:latin typeface="CiscoSerif-Bold"/>
              </a:rPr>
              <a:t>Grouping and sectorization: </a:t>
            </a:r>
            <a:r>
              <a:rPr lang="en-US" sz="2800" b="0" i="0" u="none" strike="noStrike" baseline="0" dirty="0">
                <a:solidFill>
                  <a:srgbClr val="231F20"/>
                </a:solidFill>
                <a:latin typeface="CiscoSerif-Regular"/>
              </a:rPr>
              <a:t>Enables an AP to use sector antennas and also group stations (distributing a group ID). In combination with RAW and TWT, this mechanism reduces contention in large cells with many clients by restricting which group, in which sector, can contend during which time window</a:t>
            </a:r>
          </a:p>
          <a:p>
            <a:pPr algn="l"/>
            <a:r>
              <a:rPr lang="en-US" sz="2800" b="1" i="0" u="none" strike="noStrike" baseline="0" dirty="0">
                <a:solidFill>
                  <a:srgbClr val="231F20"/>
                </a:solidFill>
                <a:latin typeface="CiscoSerif-Bold"/>
              </a:rPr>
              <a:t>Restricted access window (RAW): </a:t>
            </a:r>
            <a:r>
              <a:rPr lang="en-US" sz="2800" b="0" i="0" u="none" strike="noStrike" baseline="0" dirty="0">
                <a:solidFill>
                  <a:srgbClr val="231F20"/>
                </a:solidFill>
                <a:latin typeface="CiscoSerif-Regular"/>
              </a:rPr>
              <a:t>Is a control algorithm that avoids simultaneous transmissions when many devices are present and provides fair access to the wireless network. By providing more efficient access to the medium, additional power savings for battery-powered devices can be achieved, and collisions are reduced.</a:t>
            </a:r>
          </a:p>
          <a:p>
            <a:pPr algn="l"/>
            <a:r>
              <a:rPr lang="en-US" sz="2800" b="1" i="0" u="none" strike="noStrike" baseline="0" dirty="0">
                <a:solidFill>
                  <a:srgbClr val="231F20"/>
                </a:solidFill>
                <a:latin typeface="CiscoSerif-Bold"/>
              </a:rPr>
              <a:t>Target wake time (TWT): </a:t>
            </a:r>
            <a:r>
              <a:rPr lang="en-US" sz="2800" b="0" i="0" u="none" strike="noStrike" baseline="0" dirty="0">
                <a:solidFill>
                  <a:srgbClr val="231F20"/>
                </a:solidFill>
                <a:latin typeface="CiscoSerif-Regular"/>
              </a:rPr>
              <a:t>Reduces energy consumption by permitting an access point to define times when a device can access the network. This allows devices to enter a low-power state until their TWT time arrives. It also reduces the probability of collisions in large cells with many clients.</a:t>
            </a:r>
          </a:p>
          <a:p>
            <a:pPr algn="l"/>
            <a:r>
              <a:rPr lang="en-US" sz="2800" b="1" i="0" u="none" strike="noStrike" baseline="0" dirty="0">
                <a:solidFill>
                  <a:srgbClr val="231F20"/>
                </a:solidFill>
                <a:latin typeface="CiscoSerif-Bold"/>
              </a:rPr>
              <a:t>Speed frame exchange: </a:t>
            </a:r>
            <a:r>
              <a:rPr lang="en-US" sz="2800" b="0" i="0" u="none" strike="noStrike" baseline="0" dirty="0">
                <a:solidFill>
                  <a:srgbClr val="231F20"/>
                </a:solidFill>
                <a:latin typeface="CiscoSerif-Regular"/>
              </a:rPr>
              <a:t>Enables an AP and endpoint to exchange frames during a reserved transmit opportunity (TXOP). This reduces contention on the medium, minimizes the number of frame exchanges to improve channel efficiency, and extends battery life by keeping awake times short.</a:t>
            </a:r>
            <a:endParaRPr lang="en-US" dirty="0"/>
          </a:p>
        </p:txBody>
      </p:sp>
    </p:spTree>
    <p:extLst>
      <p:ext uri="{BB962C8B-B14F-4D97-AF65-F5344CB8AC3E}">
        <p14:creationId xmlns:p14="http://schemas.microsoft.com/office/powerpoint/2010/main" val="283638432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A9D2-E456-42C7-84D7-B5EF51F8A704}"/>
              </a:ext>
            </a:extLst>
          </p:cNvPr>
          <p:cNvSpPr>
            <a:spLocks noGrp="1"/>
          </p:cNvSpPr>
          <p:nvPr>
            <p:ph type="title"/>
          </p:nvPr>
        </p:nvSpPr>
        <p:spPr/>
        <p:txBody>
          <a:bodyPr/>
          <a:lstStyle/>
          <a:p>
            <a:r>
              <a:rPr lang="en-US" dirty="0"/>
              <a:t>Topology</a:t>
            </a:r>
          </a:p>
        </p:txBody>
      </p:sp>
      <p:pic>
        <p:nvPicPr>
          <p:cNvPr id="5" name="Content Placeholder 4">
            <a:extLst>
              <a:ext uri="{FF2B5EF4-FFF2-40B4-BE49-F238E27FC236}">
                <a16:creationId xmlns:a16="http://schemas.microsoft.com/office/drawing/2014/main" id="{6BFDD088-9D85-4E85-9C65-0BE2F7E52D29}"/>
              </a:ext>
            </a:extLst>
          </p:cNvPr>
          <p:cNvPicPr>
            <a:picLocks noGrp="1" noChangeAspect="1"/>
          </p:cNvPicPr>
          <p:nvPr>
            <p:ph idx="1"/>
          </p:nvPr>
        </p:nvPicPr>
        <p:blipFill>
          <a:blip r:embed="rId2"/>
          <a:stretch>
            <a:fillRect/>
          </a:stretch>
        </p:blipFill>
        <p:spPr>
          <a:xfrm>
            <a:off x="1887794" y="1946788"/>
            <a:ext cx="8288593" cy="3498534"/>
          </a:xfrm>
        </p:spPr>
      </p:pic>
    </p:spTree>
    <p:extLst>
      <p:ext uri="{BB962C8B-B14F-4D97-AF65-F5344CB8AC3E}">
        <p14:creationId xmlns:p14="http://schemas.microsoft.com/office/powerpoint/2010/main" val="32128553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2D0B4-F2EA-41D1-A7AB-26DC42EDC074}"/>
              </a:ext>
            </a:extLst>
          </p:cNvPr>
          <p:cNvSpPr>
            <a:spLocks noGrp="1"/>
          </p:cNvSpPr>
          <p:nvPr>
            <p:ph type="title"/>
          </p:nvPr>
        </p:nvSpPr>
        <p:spPr/>
        <p:txBody>
          <a:bodyPr/>
          <a:lstStyle/>
          <a:p>
            <a:r>
              <a:rPr lang="en-US" dirty="0"/>
              <a:t>Security</a:t>
            </a:r>
          </a:p>
        </p:txBody>
      </p:sp>
      <p:sp>
        <p:nvSpPr>
          <p:cNvPr id="3" name="Content Placeholder 2">
            <a:extLst>
              <a:ext uri="{FF2B5EF4-FFF2-40B4-BE49-F238E27FC236}">
                <a16:creationId xmlns:a16="http://schemas.microsoft.com/office/drawing/2014/main" id="{E1C04F53-8A75-4ABF-9991-79D0A65CEB0E}"/>
              </a:ext>
            </a:extLst>
          </p:cNvPr>
          <p:cNvSpPr>
            <a:spLocks noGrp="1"/>
          </p:cNvSpPr>
          <p:nvPr>
            <p:ph idx="1"/>
          </p:nvPr>
        </p:nvSpPr>
        <p:spPr/>
        <p:txBody>
          <a:bodyPr/>
          <a:lstStyle/>
          <a:p>
            <a:pPr algn="l"/>
            <a:r>
              <a:rPr lang="en-US" sz="2800" b="0" i="0" u="none" strike="noStrike" baseline="0" dirty="0">
                <a:solidFill>
                  <a:srgbClr val="231F20"/>
                </a:solidFill>
                <a:latin typeface="CiscoSerif-Regular"/>
              </a:rPr>
              <a:t>No additional security has been identified for IEEE 802.11ah compared to other IEEE 802.11 specifications</a:t>
            </a:r>
            <a:endParaRPr lang="en-US" dirty="0"/>
          </a:p>
        </p:txBody>
      </p:sp>
    </p:spTree>
    <p:extLst>
      <p:ext uri="{BB962C8B-B14F-4D97-AF65-F5344CB8AC3E}">
        <p14:creationId xmlns:p14="http://schemas.microsoft.com/office/powerpoint/2010/main" val="808855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4513C-D1A0-4E00-BCD7-CA18EBE66A08}"/>
              </a:ext>
            </a:extLst>
          </p:cNvPr>
          <p:cNvSpPr>
            <a:spLocks noGrp="1"/>
          </p:cNvSpPr>
          <p:nvPr>
            <p:ph type="title"/>
          </p:nvPr>
        </p:nvSpPr>
        <p:spPr/>
        <p:txBody>
          <a:bodyPr/>
          <a:lstStyle/>
          <a:p>
            <a:r>
              <a:rPr lang="en-US" dirty="0"/>
              <a:t>Long Range IoT Access Technologies-LPWA</a:t>
            </a:r>
          </a:p>
        </p:txBody>
      </p:sp>
      <p:sp>
        <p:nvSpPr>
          <p:cNvPr id="3" name="Content Placeholder 2">
            <a:extLst>
              <a:ext uri="{FF2B5EF4-FFF2-40B4-BE49-F238E27FC236}">
                <a16:creationId xmlns:a16="http://schemas.microsoft.com/office/drawing/2014/main" id="{17ABC56C-AC28-4C6A-9289-449E3D1386DF}"/>
              </a:ext>
            </a:extLst>
          </p:cNvPr>
          <p:cNvSpPr>
            <a:spLocks noGrp="1"/>
          </p:cNvSpPr>
          <p:nvPr>
            <p:ph idx="1"/>
          </p:nvPr>
        </p:nvSpPr>
        <p:spPr/>
        <p:txBody>
          <a:bodyPr/>
          <a:lstStyle/>
          <a:p>
            <a:endParaRPr lang="en-US"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231F20"/>
                </a:solidFill>
                <a:effectLst/>
                <a:uLnTx/>
                <a:uFillTx/>
                <a:latin typeface="CiscoSerif-Regular"/>
                <a:ea typeface="+mn-ea"/>
                <a:cs typeface="+mn-cs"/>
              </a:rPr>
              <a:t>In recent years, a new set of wireless technologies known as Low-Power Wide-Area (LPWA) has received a lot of attention from the industry and press</a:t>
            </a:r>
          </a:p>
          <a:p>
            <a:pPr algn="l"/>
            <a:r>
              <a:rPr lang="en-US" sz="2800" b="0" i="0" u="none" strike="noStrike" baseline="0" dirty="0">
                <a:solidFill>
                  <a:srgbClr val="231F20"/>
                </a:solidFill>
                <a:latin typeface="CiscoSerif-Regular"/>
              </a:rPr>
              <a:t>Well adapted for long-range and battery-powered endpoints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t>We will explore few examples of unlicensed-band LPWA technology such as </a:t>
            </a:r>
          </a:p>
          <a:p>
            <a:pPr lvl="1"/>
            <a:r>
              <a:rPr lang="en-US" dirty="0"/>
              <a:t>LoRa/</a:t>
            </a:r>
            <a:r>
              <a:rPr lang="en-US" dirty="0" err="1"/>
              <a:t>LoRaWAN</a:t>
            </a:r>
            <a:endParaRPr lang="en-US" dirty="0"/>
          </a:p>
          <a:p>
            <a:pPr lvl="1"/>
            <a:r>
              <a:rPr lang="en-US" dirty="0"/>
              <a:t>NB-IoT</a:t>
            </a:r>
          </a:p>
        </p:txBody>
      </p:sp>
    </p:spTree>
    <p:extLst>
      <p:ext uri="{BB962C8B-B14F-4D97-AF65-F5344CB8AC3E}">
        <p14:creationId xmlns:p14="http://schemas.microsoft.com/office/powerpoint/2010/main" val="34866629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AEDB-F8BD-49C9-ACDA-E94FE6ECB85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791AAB5-F50B-4368-890D-C1E6B5E3C25D}"/>
              </a:ext>
            </a:extLst>
          </p:cNvPr>
          <p:cNvPicPr>
            <a:picLocks noGrp="1" noChangeAspect="1"/>
          </p:cNvPicPr>
          <p:nvPr>
            <p:ph idx="1"/>
          </p:nvPr>
        </p:nvPicPr>
        <p:blipFill>
          <a:blip r:embed="rId2"/>
          <a:stretch>
            <a:fillRect/>
          </a:stretch>
        </p:blipFill>
        <p:spPr>
          <a:xfrm>
            <a:off x="819685" y="365125"/>
            <a:ext cx="10515600" cy="6127749"/>
          </a:xfrm>
        </p:spPr>
      </p:pic>
    </p:spTree>
    <p:extLst>
      <p:ext uri="{BB962C8B-B14F-4D97-AF65-F5344CB8AC3E}">
        <p14:creationId xmlns:p14="http://schemas.microsoft.com/office/powerpoint/2010/main" val="12444970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1348-863B-4041-BAEC-90CA3E9473B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EED18A4-D7CD-4BE3-9135-9193B788CC1C}"/>
              </a:ext>
            </a:extLst>
          </p:cNvPr>
          <p:cNvPicPr>
            <a:picLocks noGrp="1" noChangeAspect="1"/>
          </p:cNvPicPr>
          <p:nvPr>
            <p:ph idx="1"/>
          </p:nvPr>
        </p:nvPicPr>
        <p:blipFill>
          <a:blip r:embed="rId2"/>
          <a:stretch>
            <a:fillRect/>
          </a:stretch>
        </p:blipFill>
        <p:spPr>
          <a:xfrm>
            <a:off x="838199" y="365125"/>
            <a:ext cx="10515599" cy="5963103"/>
          </a:xfrm>
        </p:spPr>
      </p:pic>
    </p:spTree>
    <p:extLst>
      <p:ext uri="{BB962C8B-B14F-4D97-AF65-F5344CB8AC3E}">
        <p14:creationId xmlns:p14="http://schemas.microsoft.com/office/powerpoint/2010/main" val="26078840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537B-2197-456B-AB00-00BE1369B7C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5C16A29-F516-47E5-BDD4-24A29B1E3AD8}"/>
              </a:ext>
            </a:extLst>
          </p:cNvPr>
          <p:cNvPicPr>
            <a:picLocks noGrp="1" noChangeAspect="1"/>
          </p:cNvPicPr>
          <p:nvPr>
            <p:ph idx="1"/>
          </p:nvPr>
        </p:nvPicPr>
        <p:blipFill>
          <a:blip r:embed="rId2"/>
          <a:stretch>
            <a:fillRect/>
          </a:stretch>
        </p:blipFill>
        <p:spPr>
          <a:xfrm>
            <a:off x="838200" y="580571"/>
            <a:ext cx="10515600" cy="5283199"/>
          </a:xfrm>
        </p:spPr>
      </p:pic>
    </p:spTree>
    <p:extLst>
      <p:ext uri="{BB962C8B-B14F-4D97-AF65-F5344CB8AC3E}">
        <p14:creationId xmlns:p14="http://schemas.microsoft.com/office/powerpoint/2010/main" val="23213955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5E5EB-1151-41BC-ABFB-F9948D0D5C79}"/>
              </a:ext>
            </a:extLst>
          </p:cNvPr>
          <p:cNvSpPr>
            <a:spLocks noGrp="1"/>
          </p:cNvSpPr>
          <p:nvPr>
            <p:ph type="title"/>
          </p:nvPr>
        </p:nvSpPr>
        <p:spPr/>
        <p:txBody>
          <a:bodyPr/>
          <a:lstStyle/>
          <a:p>
            <a:r>
              <a:rPr lang="en-US" dirty="0"/>
              <a:t>LoRa/</a:t>
            </a:r>
            <a:r>
              <a:rPr lang="en-US" dirty="0" err="1"/>
              <a:t>LoRaWAN</a:t>
            </a:r>
            <a:endParaRPr lang="en-US" dirty="0"/>
          </a:p>
        </p:txBody>
      </p:sp>
      <p:sp>
        <p:nvSpPr>
          <p:cNvPr id="3" name="Content Placeholder 2">
            <a:extLst>
              <a:ext uri="{FF2B5EF4-FFF2-40B4-BE49-F238E27FC236}">
                <a16:creationId xmlns:a16="http://schemas.microsoft.com/office/drawing/2014/main" id="{FB05F60F-AFBA-42FE-8A5A-AAD9ECF2AF80}"/>
              </a:ext>
            </a:extLst>
          </p:cNvPr>
          <p:cNvSpPr>
            <a:spLocks noGrp="1"/>
          </p:cNvSpPr>
          <p:nvPr>
            <p:ph idx="1"/>
          </p:nvPr>
        </p:nvSpPr>
        <p:spPr/>
        <p:txBody>
          <a:bodyPr>
            <a:normAutofit fontScale="92500" lnSpcReduction="10000"/>
          </a:bodyPr>
          <a:lstStyle/>
          <a:p>
            <a:pPr algn="l"/>
            <a:r>
              <a:rPr lang="en-US" sz="2800" b="0" i="0" u="none" strike="noStrike" baseline="0" dirty="0">
                <a:solidFill>
                  <a:srgbClr val="231F20"/>
                </a:solidFill>
                <a:latin typeface="CiscoSerif-Regular"/>
              </a:rPr>
              <a:t>Initially, LoRa was a physical layer, or Layer 1, modulation that was developed by a French company named </a:t>
            </a:r>
            <a:r>
              <a:rPr lang="en-US" sz="2800" b="0" i="0" u="none" strike="noStrike" baseline="0" dirty="0" err="1">
                <a:solidFill>
                  <a:srgbClr val="231F20"/>
                </a:solidFill>
                <a:latin typeface="CiscoSerif-Regular"/>
              </a:rPr>
              <a:t>Cycleo</a:t>
            </a:r>
            <a:r>
              <a:rPr lang="en-US" sz="2800" b="0" i="0" u="none" strike="noStrike" baseline="0" dirty="0">
                <a:solidFill>
                  <a:srgbClr val="231F20"/>
                </a:solidFill>
                <a:latin typeface="CiscoSerif-Regular"/>
              </a:rPr>
              <a:t>. Later, </a:t>
            </a:r>
            <a:r>
              <a:rPr lang="en-US" sz="2800" b="0" i="0" u="none" strike="noStrike" baseline="0" dirty="0" err="1">
                <a:solidFill>
                  <a:srgbClr val="231F20"/>
                </a:solidFill>
                <a:latin typeface="CiscoSerif-Regular"/>
              </a:rPr>
              <a:t>Cycleo</a:t>
            </a:r>
            <a:r>
              <a:rPr lang="en-US" sz="2800" b="0" i="0" u="none" strike="noStrike" baseline="0" dirty="0">
                <a:solidFill>
                  <a:srgbClr val="231F20"/>
                </a:solidFill>
                <a:latin typeface="CiscoSerif-Regular"/>
              </a:rPr>
              <a:t> was acquired by </a:t>
            </a:r>
            <a:r>
              <a:rPr lang="en-US" sz="2800" b="0" i="0" u="none" strike="noStrike" baseline="0" dirty="0" err="1">
                <a:solidFill>
                  <a:srgbClr val="231F20"/>
                </a:solidFill>
                <a:latin typeface="CiscoSerif-Regular"/>
              </a:rPr>
              <a:t>Semtech</a:t>
            </a:r>
            <a:endParaRPr lang="en-US" sz="2800" b="0" i="0" u="none" strike="noStrike" baseline="0" dirty="0">
              <a:solidFill>
                <a:srgbClr val="231F20"/>
              </a:solidFill>
              <a:latin typeface="CiscoSerif-Regular"/>
            </a:endParaRPr>
          </a:p>
          <a:p>
            <a:pPr algn="l"/>
            <a:r>
              <a:rPr lang="en-US" sz="2800" b="0" i="0" u="none" strike="noStrike" baseline="0" dirty="0">
                <a:solidFill>
                  <a:srgbClr val="231F20"/>
                </a:solidFill>
                <a:latin typeface="CiscoSerif-Regular"/>
              </a:rPr>
              <a:t>Optimized for long-range, two-way communications and low power consumption, the technology evolved from Layer 1 to a broader scope through the creation of the LoRa Alliance</a:t>
            </a:r>
          </a:p>
          <a:p>
            <a:pPr algn="l"/>
            <a:r>
              <a:rPr lang="en-US" sz="2800" b="0" i="0" u="none" strike="noStrike" baseline="0" dirty="0" err="1">
                <a:solidFill>
                  <a:srgbClr val="231F20"/>
                </a:solidFill>
                <a:latin typeface="CiscoSerif-Regular"/>
              </a:rPr>
              <a:t>Semtech</a:t>
            </a:r>
            <a:r>
              <a:rPr lang="en-US" sz="2800" b="0" i="0" u="none" strike="noStrike" baseline="0" dirty="0">
                <a:solidFill>
                  <a:srgbClr val="231F20"/>
                </a:solidFill>
                <a:latin typeface="CiscoSerif-Regular"/>
              </a:rPr>
              <a:t> LoRa as a Layer 1 PHY modulation technology is available through multiple chipset vendors.</a:t>
            </a:r>
          </a:p>
          <a:p>
            <a:pPr algn="l"/>
            <a:r>
              <a:rPr lang="en-US" sz="2800" b="0" i="0" u="none" strike="noStrike" baseline="0" dirty="0">
                <a:solidFill>
                  <a:srgbClr val="231F20"/>
                </a:solidFill>
                <a:latin typeface="CiscoSerif-Regular"/>
              </a:rPr>
              <a:t>To differentiate from the physical layer modulation known as LoRa, the LoRa Alliance uses the term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to refer to its architecture and its specifications that describe end-to-end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communications and protocols</a:t>
            </a:r>
            <a:endParaRPr lang="en-US" dirty="0"/>
          </a:p>
        </p:txBody>
      </p:sp>
    </p:spTree>
    <p:extLst>
      <p:ext uri="{BB962C8B-B14F-4D97-AF65-F5344CB8AC3E}">
        <p14:creationId xmlns:p14="http://schemas.microsoft.com/office/powerpoint/2010/main" val="23032540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E94BD-EFB9-4A30-83F1-4CD355633DB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3C6D5AB-1EAE-4DB4-8257-C8C15E218E2C}"/>
              </a:ext>
            </a:extLst>
          </p:cNvPr>
          <p:cNvPicPr>
            <a:picLocks noGrp="1" noChangeAspect="1"/>
          </p:cNvPicPr>
          <p:nvPr>
            <p:ph idx="1"/>
          </p:nvPr>
        </p:nvPicPr>
        <p:blipFill>
          <a:blip r:embed="rId2"/>
          <a:stretch>
            <a:fillRect/>
          </a:stretch>
        </p:blipFill>
        <p:spPr>
          <a:xfrm>
            <a:off x="1233714" y="365125"/>
            <a:ext cx="9231086" cy="5585732"/>
          </a:xfrm>
        </p:spPr>
      </p:pic>
    </p:spTree>
    <p:extLst>
      <p:ext uri="{BB962C8B-B14F-4D97-AF65-F5344CB8AC3E}">
        <p14:creationId xmlns:p14="http://schemas.microsoft.com/office/powerpoint/2010/main" val="20886950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8D01-F304-4799-9A42-CF0AAA7B7106}"/>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LoRa/</a:t>
            </a:r>
            <a:r>
              <a:rPr kumimoji="0" lang="en-US" sz="4400" b="0" i="0" u="none" strike="noStrike" kern="1200" cap="none" spc="0" normalizeH="0" baseline="0" noProof="0" dirty="0" err="1">
                <a:ln>
                  <a:noFill/>
                </a:ln>
                <a:solidFill>
                  <a:prstClr val="black"/>
                </a:solidFill>
                <a:effectLst/>
                <a:uLnTx/>
                <a:uFillTx/>
                <a:latin typeface="Calibri Light" panose="020F0302020204030204"/>
                <a:ea typeface="+mj-ea"/>
                <a:cs typeface="+mj-cs"/>
              </a:rPr>
              <a:t>LoRaWAN</a:t>
            </a:r>
            <a:endParaRPr lang="en-US" dirty="0"/>
          </a:p>
        </p:txBody>
      </p:sp>
      <p:sp>
        <p:nvSpPr>
          <p:cNvPr id="3" name="Content Placeholder 2">
            <a:extLst>
              <a:ext uri="{FF2B5EF4-FFF2-40B4-BE49-F238E27FC236}">
                <a16:creationId xmlns:a16="http://schemas.microsoft.com/office/drawing/2014/main" id="{78B7C87F-BB2C-4A0D-A999-98CD25826E54}"/>
              </a:ext>
            </a:extLst>
          </p:cNvPr>
          <p:cNvSpPr>
            <a:spLocks noGrp="1"/>
          </p:cNvSpPr>
          <p:nvPr>
            <p:ph idx="1"/>
          </p:nvPr>
        </p:nvSpPr>
        <p:spPr/>
        <p:txBody>
          <a:bodyPr/>
          <a:lstStyle/>
          <a:p>
            <a:pPr algn="l"/>
            <a:r>
              <a:rPr lang="en-US" sz="2800" b="0" i="0" u="none" strike="noStrike" baseline="0" dirty="0">
                <a:solidFill>
                  <a:srgbClr val="231F20"/>
                </a:solidFill>
                <a:latin typeface="CiscoSerif-Regular"/>
              </a:rPr>
              <a:t>Figure 4-15 provides a high-level overview of 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layers. In this figure, notice that </a:t>
            </a:r>
            <a:r>
              <a:rPr lang="en-US" sz="2800" b="0" i="0" u="none" strike="noStrike" baseline="0" dirty="0" err="1">
                <a:solidFill>
                  <a:srgbClr val="231F20"/>
                </a:solidFill>
                <a:latin typeface="CiscoSerif-Regular"/>
              </a:rPr>
              <a:t>Semtech</a:t>
            </a:r>
            <a:r>
              <a:rPr lang="en-US" sz="2800" b="0" i="0" u="none" strike="noStrike" baseline="0" dirty="0">
                <a:solidFill>
                  <a:srgbClr val="231F20"/>
                </a:solidFill>
                <a:latin typeface="CiscoSerif-Regular"/>
              </a:rPr>
              <a:t> is responsible for the PHY layer, while the LoRa Alliance handles the MAC layer and regional frequency bands.</a:t>
            </a:r>
            <a:endParaRPr lang="en-US" dirty="0"/>
          </a:p>
        </p:txBody>
      </p:sp>
      <p:pic>
        <p:nvPicPr>
          <p:cNvPr id="5" name="Picture 4">
            <a:extLst>
              <a:ext uri="{FF2B5EF4-FFF2-40B4-BE49-F238E27FC236}">
                <a16:creationId xmlns:a16="http://schemas.microsoft.com/office/drawing/2014/main" id="{4B9CC993-C8BA-48AF-8635-F4DB35688DB0}"/>
              </a:ext>
            </a:extLst>
          </p:cNvPr>
          <p:cNvPicPr>
            <a:picLocks noChangeAspect="1"/>
          </p:cNvPicPr>
          <p:nvPr/>
        </p:nvPicPr>
        <p:blipFill>
          <a:blip r:embed="rId2"/>
          <a:stretch>
            <a:fillRect/>
          </a:stretch>
        </p:blipFill>
        <p:spPr>
          <a:xfrm>
            <a:off x="1480457" y="3429000"/>
            <a:ext cx="8810171" cy="3198132"/>
          </a:xfrm>
          <a:prstGeom prst="rect">
            <a:avLst/>
          </a:prstGeom>
        </p:spPr>
      </p:pic>
    </p:spTree>
    <p:extLst>
      <p:ext uri="{BB962C8B-B14F-4D97-AF65-F5344CB8AC3E}">
        <p14:creationId xmlns:p14="http://schemas.microsoft.com/office/powerpoint/2010/main" val="36154650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853F8-3ED4-48E0-8634-436E2422A21E}"/>
              </a:ext>
            </a:extLst>
          </p:cNvPr>
          <p:cNvSpPr>
            <a:spLocks noGrp="1"/>
          </p:cNvSpPr>
          <p:nvPr>
            <p:ph type="title"/>
          </p:nvPr>
        </p:nvSpPr>
        <p:spPr/>
        <p:txBody>
          <a:bodyPr/>
          <a:lstStyle/>
          <a:p>
            <a:r>
              <a:rPr lang="en-US" dirty="0"/>
              <a:t>Physical Layer</a:t>
            </a:r>
          </a:p>
        </p:txBody>
      </p:sp>
      <p:sp>
        <p:nvSpPr>
          <p:cNvPr id="3" name="Content Placeholder 2">
            <a:extLst>
              <a:ext uri="{FF2B5EF4-FFF2-40B4-BE49-F238E27FC236}">
                <a16:creationId xmlns:a16="http://schemas.microsoft.com/office/drawing/2014/main" id="{630A5A9D-E15B-498C-BEDC-F608F8081F8A}"/>
              </a:ext>
            </a:extLst>
          </p:cNvPr>
          <p:cNvSpPr>
            <a:spLocks noGrp="1"/>
          </p:cNvSpPr>
          <p:nvPr>
            <p:ph idx="1"/>
          </p:nvPr>
        </p:nvSpPr>
        <p:spPr/>
        <p:txBody>
          <a:bodyPr>
            <a:normAutofit fontScale="92500" lnSpcReduction="20000"/>
          </a:bodyPr>
          <a:lstStyle/>
          <a:p>
            <a:r>
              <a:rPr lang="en-US" sz="2800" b="0" i="0" u="none" strike="noStrike" baseline="0" dirty="0" err="1">
                <a:solidFill>
                  <a:srgbClr val="231F20"/>
                </a:solidFill>
                <a:latin typeface="CiscoSerif-Regular"/>
              </a:rPr>
              <a:t>Semtech</a:t>
            </a:r>
            <a:r>
              <a:rPr lang="en-US" sz="2800" b="0" i="0" u="none" strike="noStrike" baseline="0" dirty="0">
                <a:solidFill>
                  <a:srgbClr val="231F20"/>
                </a:solidFill>
                <a:latin typeface="CiscoSerif-Regular"/>
              </a:rPr>
              <a:t> LoRa modulation is based on chirp spread spectrum modulation</a:t>
            </a:r>
          </a:p>
          <a:p>
            <a:pPr algn="l"/>
            <a:r>
              <a:rPr lang="en-US" sz="2800" b="0" i="0" u="none" strike="noStrike" baseline="0" dirty="0">
                <a:solidFill>
                  <a:srgbClr val="231F20"/>
                </a:solidFill>
                <a:latin typeface="CiscoSerif-Regular"/>
              </a:rPr>
              <a:t>it allows demodulation below the noise floor, offers robustness to noise and interference, and manages a single channel occupation by different spreading factors</a:t>
            </a:r>
          </a:p>
          <a:p>
            <a:pPr algn="l"/>
            <a:r>
              <a:rPr lang="en-US" sz="2800" b="0" i="0" u="none" strike="noStrike" baseline="0" dirty="0">
                <a:solidFill>
                  <a:srgbClr val="231F20"/>
                </a:solidFill>
                <a:latin typeface="CiscoSerif-Regular"/>
              </a:rPr>
              <a:t>This enables LoRa devices to receive on multiple channels in parallel.</a:t>
            </a:r>
          </a:p>
          <a:p>
            <a:pPr algn="l"/>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1.0.2 regional specifications describe the use of the main unlicensed sub-GHz frequency bands of 433 MHz, 779–787 MHz, 863–870 MHz, and 902–928 MHz, as well as regional profiles for a subset of the 902–928 MHz bandwidth. For example, Australia utilizes 915–928 MHz frequency bands, while South Korea uses 920–923 MHz and Japan uses 920–928 </a:t>
            </a:r>
            <a:r>
              <a:rPr lang="en-US" sz="2800" b="0" i="0" u="none" strike="noStrike" baseline="0" dirty="0" err="1">
                <a:solidFill>
                  <a:srgbClr val="231F20"/>
                </a:solidFill>
                <a:latin typeface="CiscoSerif-Regular"/>
              </a:rPr>
              <a:t>MHz.</a:t>
            </a:r>
            <a:endParaRPr lang="en-US" sz="2800" b="0" i="0" u="none" strike="noStrike" baseline="0" dirty="0">
              <a:solidFill>
                <a:srgbClr val="231F20"/>
              </a:solidFill>
              <a:latin typeface="CiscoSerif-Regular"/>
            </a:endParaRPr>
          </a:p>
          <a:p>
            <a:pPr algn="l"/>
            <a:r>
              <a:rPr lang="en-US" dirty="0">
                <a:solidFill>
                  <a:srgbClr val="231F20"/>
                </a:solidFill>
                <a:latin typeface="CiscoSerif-Regular"/>
              </a:rPr>
              <a:t>Recently, </a:t>
            </a:r>
            <a:r>
              <a:rPr lang="en-US" dirty="0" err="1">
                <a:solidFill>
                  <a:srgbClr val="231F20"/>
                </a:solidFill>
                <a:latin typeface="CiscoSerif-Regular"/>
              </a:rPr>
              <a:t>LoRaWAN</a:t>
            </a:r>
            <a:r>
              <a:rPr lang="en-US" dirty="0">
                <a:solidFill>
                  <a:srgbClr val="231F20"/>
                </a:solidFill>
                <a:latin typeface="CiscoSerif-Regular"/>
              </a:rPr>
              <a:t> introduced transceiver for 2.4 GHz</a:t>
            </a:r>
            <a:endParaRPr lang="en-US" dirty="0"/>
          </a:p>
        </p:txBody>
      </p:sp>
    </p:spTree>
    <p:extLst>
      <p:ext uri="{BB962C8B-B14F-4D97-AF65-F5344CB8AC3E}">
        <p14:creationId xmlns:p14="http://schemas.microsoft.com/office/powerpoint/2010/main" val="26657590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2E42F-B3A4-47A9-8D0F-522F5901B8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029DE9-33A2-4423-8E58-B020C68F556E}"/>
              </a:ext>
            </a:extLst>
          </p:cNvPr>
          <p:cNvSpPr>
            <a:spLocks noGrp="1"/>
          </p:cNvSpPr>
          <p:nvPr>
            <p:ph idx="1"/>
          </p:nvPr>
        </p:nvSpPr>
        <p:spPr/>
        <p:txBody>
          <a:bodyPr>
            <a:normAutofit/>
          </a:bodyPr>
          <a:lstStyle/>
          <a:p>
            <a:pPr algn="l"/>
            <a:r>
              <a:rPr lang="en-US" sz="2800" b="0" i="0" u="none" strike="noStrike" baseline="0" dirty="0">
                <a:solidFill>
                  <a:srgbClr val="231F20"/>
                </a:solidFill>
                <a:latin typeface="CiscoSerif-Regular"/>
              </a:rPr>
              <a:t>Understanding LoRa gateways is critical to understanding a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system. A LoRa gateway is deployed as the center hub of a star network architecture. It uses multiple transceivers and channels and can demodulate multiple channels at once or even demodulate multiple signals on the same channel simultaneously</a:t>
            </a:r>
          </a:p>
          <a:p>
            <a:pPr algn="l"/>
            <a:r>
              <a:rPr lang="en-US" sz="2800" b="0" i="0" u="none" strike="noStrike" baseline="0" dirty="0">
                <a:solidFill>
                  <a:srgbClr val="231F20"/>
                </a:solidFill>
                <a:latin typeface="CiscoSerif-Regular"/>
              </a:rPr>
              <a:t>LoRa gateways serve as a transparent bridge relaying data between endpoints, and the endpoints use a single-hop wireless connection to communicate with one or many gateways.</a:t>
            </a:r>
          </a:p>
          <a:p>
            <a:pPr algn="l"/>
            <a:r>
              <a:rPr lang="en-US" sz="2800" b="0" i="0" u="none" strike="noStrike" baseline="0" dirty="0">
                <a:solidFill>
                  <a:srgbClr val="231F20"/>
                </a:solidFill>
                <a:latin typeface="CiscoSerif-Regular"/>
              </a:rPr>
              <a:t>The data rate in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varies depending on the frequency bands and adaptive data rate (ADR).</a:t>
            </a:r>
            <a:endParaRPr lang="en-US" dirty="0"/>
          </a:p>
        </p:txBody>
      </p:sp>
    </p:spTree>
    <p:extLst>
      <p:ext uri="{BB962C8B-B14F-4D97-AF65-F5344CB8AC3E}">
        <p14:creationId xmlns:p14="http://schemas.microsoft.com/office/powerpoint/2010/main" val="31676634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F04-364D-4990-9963-779FE2D2C61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534FB5D-1FDB-4771-B858-A2E50D9B037D}"/>
              </a:ext>
            </a:extLst>
          </p:cNvPr>
          <p:cNvPicPr>
            <a:picLocks noGrp="1" noChangeAspect="1"/>
          </p:cNvPicPr>
          <p:nvPr>
            <p:ph idx="1"/>
          </p:nvPr>
        </p:nvPicPr>
        <p:blipFill>
          <a:blip r:embed="rId2"/>
          <a:stretch>
            <a:fillRect/>
          </a:stretch>
        </p:blipFill>
        <p:spPr>
          <a:xfrm>
            <a:off x="838201" y="365125"/>
            <a:ext cx="10515600" cy="5745389"/>
          </a:xfrm>
        </p:spPr>
      </p:pic>
    </p:spTree>
    <p:extLst>
      <p:ext uri="{BB962C8B-B14F-4D97-AF65-F5344CB8AC3E}">
        <p14:creationId xmlns:p14="http://schemas.microsoft.com/office/powerpoint/2010/main" val="36383336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03AF9-8496-4098-9AD6-BFD7FD2FD0F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8574980-67A8-483C-922B-04C925E996B4}"/>
              </a:ext>
            </a:extLst>
          </p:cNvPr>
          <p:cNvPicPr>
            <a:picLocks noGrp="1" noChangeAspect="1"/>
          </p:cNvPicPr>
          <p:nvPr>
            <p:ph idx="1"/>
          </p:nvPr>
        </p:nvPicPr>
        <p:blipFill>
          <a:blip r:embed="rId2"/>
          <a:stretch>
            <a:fillRect/>
          </a:stretch>
        </p:blipFill>
        <p:spPr>
          <a:xfrm>
            <a:off x="838200" y="471054"/>
            <a:ext cx="10515600" cy="4690558"/>
          </a:xfrm>
        </p:spPr>
      </p:pic>
    </p:spTree>
    <p:extLst>
      <p:ext uri="{BB962C8B-B14F-4D97-AF65-F5344CB8AC3E}">
        <p14:creationId xmlns:p14="http://schemas.microsoft.com/office/powerpoint/2010/main" val="28161107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2B88F-C647-439B-B135-9345AE5C02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430342-B4A9-4340-A4A5-F14F1E3F7DBB}"/>
              </a:ext>
            </a:extLst>
          </p:cNvPr>
          <p:cNvSpPr>
            <a:spLocks noGrp="1"/>
          </p:cNvSpPr>
          <p:nvPr>
            <p:ph idx="1"/>
          </p:nvPr>
        </p:nvSpPr>
        <p:spPr/>
        <p:txBody>
          <a:bodyPr>
            <a:normAutofit/>
          </a:bodyPr>
          <a:lstStyle/>
          <a:p>
            <a:r>
              <a:rPr lang="en-US" sz="2800" b="0" i="0" u="none" strike="noStrike" baseline="0" dirty="0">
                <a:solidFill>
                  <a:srgbClr val="231F20"/>
                </a:solidFill>
                <a:latin typeface="CiscoSerif-Regular"/>
              </a:rPr>
              <a:t>ADR is an algorithm that manages the data rate and radio signal for each endpoint.</a:t>
            </a:r>
          </a:p>
          <a:p>
            <a:pPr algn="l"/>
            <a:r>
              <a:rPr lang="en-US" sz="2800" b="0" i="0" u="none" strike="noStrike" baseline="0" dirty="0">
                <a:solidFill>
                  <a:srgbClr val="231F20"/>
                </a:solidFill>
                <a:latin typeface="CiscoSerif-Regular"/>
              </a:rPr>
              <a:t>ADR algorithm ensures that packets are delivered at the best data rate possible and that network performance is both optimal and scalable</a:t>
            </a:r>
          </a:p>
          <a:p>
            <a:pPr algn="l"/>
            <a:r>
              <a:rPr lang="en-US" sz="2800" b="0" i="0" u="none" strike="noStrike" baseline="0" dirty="0">
                <a:solidFill>
                  <a:srgbClr val="231F20"/>
                </a:solidFill>
                <a:latin typeface="CiscoSerif-Regular"/>
              </a:rPr>
              <a:t>Endpoints close to the gateways with good signal values transmit with the highest data rate, which enables a shorter transmission time over the wireless network, and the lowest transmit power</a:t>
            </a:r>
          </a:p>
          <a:p>
            <a:pPr algn="l"/>
            <a:r>
              <a:rPr lang="en-US" sz="2800" b="0" i="0" u="none" strike="noStrike" baseline="0" dirty="0">
                <a:solidFill>
                  <a:srgbClr val="231F20"/>
                </a:solidFill>
                <a:latin typeface="CiscoSerif-Regular"/>
              </a:rPr>
              <a:t>endpoints at the edge of the link budget communicate at the lowest data rate and highest transmit power</a:t>
            </a:r>
            <a:endParaRPr lang="en-US" dirty="0"/>
          </a:p>
        </p:txBody>
      </p:sp>
    </p:spTree>
    <p:extLst>
      <p:ext uri="{BB962C8B-B14F-4D97-AF65-F5344CB8AC3E}">
        <p14:creationId xmlns:p14="http://schemas.microsoft.com/office/powerpoint/2010/main" val="83015705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B2DE-87D6-42F3-9269-93F7207A1F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19332E-927A-413A-8E0E-6D23B08BCAE7}"/>
              </a:ext>
            </a:extLst>
          </p:cNvPr>
          <p:cNvSpPr>
            <a:spLocks noGrp="1"/>
          </p:cNvSpPr>
          <p:nvPr>
            <p:ph idx="1"/>
          </p:nvPr>
        </p:nvSpPr>
        <p:spPr/>
        <p:txBody>
          <a:bodyPr/>
          <a:lstStyle/>
          <a:p>
            <a:pPr algn="l"/>
            <a:r>
              <a:rPr lang="en-US" sz="2800" b="0" i="0" u="none" strike="noStrike" baseline="0" dirty="0">
                <a:solidFill>
                  <a:srgbClr val="231F20"/>
                </a:solidFill>
                <a:latin typeface="CiscoSerif-Regular"/>
              </a:rPr>
              <a:t>An important feature of LoRa is its ability to handle various data rates via the spreading factor</a:t>
            </a:r>
          </a:p>
          <a:p>
            <a:pPr algn="l"/>
            <a:r>
              <a:rPr lang="en-US" sz="2800" b="0" i="0" u="none" strike="noStrike" baseline="0" dirty="0">
                <a:solidFill>
                  <a:srgbClr val="231F20"/>
                </a:solidFill>
                <a:latin typeface="CiscoSerif-Regular"/>
              </a:rPr>
              <a:t>Devices with a low spreading factor (SF) achieve less distance in their communications but transmit at faster speeds, resulting in less airtime</a:t>
            </a:r>
          </a:p>
          <a:p>
            <a:pPr algn="l"/>
            <a:r>
              <a:rPr lang="en-US" sz="2800" b="0" i="0" u="none" strike="noStrike" baseline="0" dirty="0">
                <a:solidFill>
                  <a:srgbClr val="231F20"/>
                </a:solidFill>
                <a:latin typeface="CiscoSerif-Regular"/>
              </a:rPr>
              <a:t>A higher SF provides slower transmission rates but achieves a higher reliability at longer distances</a:t>
            </a:r>
            <a:endParaRPr lang="en-US" dirty="0"/>
          </a:p>
        </p:txBody>
      </p:sp>
    </p:spTree>
    <p:extLst>
      <p:ext uri="{BB962C8B-B14F-4D97-AF65-F5344CB8AC3E}">
        <p14:creationId xmlns:p14="http://schemas.microsoft.com/office/powerpoint/2010/main" val="35494579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C685B-2B31-4FE9-97ED-138713E12B1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8F5B14D-48D7-464A-A0E6-5C362F4B23A4}"/>
              </a:ext>
            </a:extLst>
          </p:cNvPr>
          <p:cNvPicPr>
            <a:picLocks noGrp="1" noChangeAspect="1"/>
          </p:cNvPicPr>
          <p:nvPr>
            <p:ph idx="1"/>
          </p:nvPr>
        </p:nvPicPr>
        <p:blipFill>
          <a:blip r:embed="rId2"/>
          <a:stretch>
            <a:fillRect/>
          </a:stretch>
        </p:blipFill>
        <p:spPr>
          <a:xfrm>
            <a:off x="838200" y="748145"/>
            <a:ext cx="10515600" cy="5428818"/>
          </a:xfrm>
        </p:spPr>
      </p:pic>
    </p:spTree>
    <p:extLst>
      <p:ext uri="{BB962C8B-B14F-4D97-AF65-F5344CB8AC3E}">
        <p14:creationId xmlns:p14="http://schemas.microsoft.com/office/powerpoint/2010/main" val="590101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2909-D4CE-4300-9753-EE19F6B0AE06}"/>
              </a:ext>
            </a:extLst>
          </p:cNvPr>
          <p:cNvSpPr>
            <a:spLocks noGrp="1"/>
          </p:cNvSpPr>
          <p:nvPr>
            <p:ph type="title"/>
          </p:nvPr>
        </p:nvSpPr>
        <p:spPr/>
        <p:txBody>
          <a:bodyPr/>
          <a:lstStyle/>
          <a:p>
            <a:r>
              <a:rPr lang="en-US" sz="4400" b="0" i="0" u="none" strike="noStrike" baseline="0" dirty="0">
                <a:solidFill>
                  <a:srgbClr val="000000"/>
                </a:solidFill>
                <a:latin typeface="Calibri" panose="020F0502020204030204" pitchFamily="34" charset="0"/>
              </a:rPr>
              <a:t>Chirp Spread Spectrum Modulation</a:t>
            </a:r>
            <a:endParaRPr lang="en-US" dirty="0"/>
          </a:p>
        </p:txBody>
      </p:sp>
      <p:sp>
        <p:nvSpPr>
          <p:cNvPr id="3" name="Content Placeholder 2">
            <a:extLst>
              <a:ext uri="{FF2B5EF4-FFF2-40B4-BE49-F238E27FC236}">
                <a16:creationId xmlns:a16="http://schemas.microsoft.com/office/drawing/2014/main" id="{7B23F2E2-4E6D-4BDD-B10B-6FA8B4889CB1}"/>
              </a:ext>
            </a:extLst>
          </p:cNvPr>
          <p:cNvSpPr>
            <a:spLocks noGrp="1"/>
          </p:cNvSpPr>
          <p:nvPr>
            <p:ph idx="1"/>
          </p:nvPr>
        </p:nvSpPr>
        <p:spPr/>
        <p:txBody>
          <a:bodyPr>
            <a:normAutofit fontScale="92500"/>
          </a:bodyPr>
          <a:lstStyle/>
          <a:p>
            <a:r>
              <a:rPr lang="en-US" sz="2400" b="0" i="0" u="none" strike="noStrike" baseline="0" dirty="0">
                <a:solidFill>
                  <a:srgbClr val="000000"/>
                </a:solidFill>
                <a:latin typeface="Arial" panose="020B0604020202020204" pitchFamily="34" charset="0"/>
                <a:cs typeface="Arial" panose="020B0604020202020204" pitchFamily="34" charset="0"/>
              </a:rPr>
              <a:t>Besides the 3 basic modulation types there are many other modulation types. </a:t>
            </a:r>
          </a:p>
          <a:p>
            <a:r>
              <a:rPr lang="en-US" sz="2400" b="0" i="0" u="none" strike="noStrike" baseline="0" dirty="0">
                <a:solidFill>
                  <a:srgbClr val="000000"/>
                </a:solidFill>
                <a:latin typeface="Arial" panose="020B0604020202020204" pitchFamily="34" charset="0"/>
                <a:cs typeface="Arial" panose="020B0604020202020204" pitchFamily="34" charset="0"/>
              </a:rPr>
              <a:t>LoRa is a proprietary spread spectrum modulation scheme that is based on Chirp Spread Spectrum modulation (CSS). </a:t>
            </a:r>
          </a:p>
          <a:p>
            <a:r>
              <a:rPr lang="en-US" sz="2400" b="0" i="0" u="none" strike="noStrike" baseline="0" dirty="0">
                <a:solidFill>
                  <a:srgbClr val="000000"/>
                </a:solidFill>
                <a:latin typeface="Arial" panose="020B0604020202020204" pitchFamily="34" charset="0"/>
                <a:cs typeface="Arial" panose="020B0604020202020204" pitchFamily="34" charset="0"/>
              </a:rPr>
              <a:t>Chirp Spread Spectrum is a spread spectrum technique that uses wideband linear frequency modulated chirp pulses to encode information.</a:t>
            </a:r>
          </a:p>
          <a:p>
            <a:r>
              <a:rPr lang="en-US" sz="2400" b="0" i="0" u="none" strike="noStrike" baseline="0" dirty="0">
                <a:solidFill>
                  <a:srgbClr val="000000"/>
                </a:solidFill>
                <a:latin typeface="Arial" panose="020B0604020202020204" pitchFamily="34" charset="0"/>
                <a:cs typeface="Arial" panose="020B0604020202020204" pitchFamily="34" charset="0"/>
              </a:rPr>
              <a:t>Spread spectrum techniques are methods by which a signal is deliberately spread in the frequency domain. For example a signal is transmitted in short bursts, "hopping" between frequencies in a pseudo random sequence.</a:t>
            </a:r>
          </a:p>
          <a:p>
            <a:r>
              <a:rPr lang="en-US" sz="2400" b="0" i="0" u="none" strike="noStrike" baseline="0" dirty="0">
                <a:solidFill>
                  <a:srgbClr val="000000"/>
                </a:solidFill>
                <a:latin typeface="Arial" panose="020B0604020202020204" pitchFamily="34" charset="0"/>
                <a:cs typeface="Arial" panose="020B0604020202020204" pitchFamily="34" charset="0"/>
              </a:rPr>
              <a:t>A chirp, often called a sweep signal, is a tone in which the frequency increases (up-chirp) or decreases (down-chirp) with time. These chirp signals are used as carrier signals where a message is encoded on.</a:t>
            </a:r>
          </a:p>
          <a:p>
            <a:endParaRPr lang="en-US" dirty="0"/>
          </a:p>
        </p:txBody>
      </p:sp>
    </p:spTree>
    <p:extLst>
      <p:ext uri="{BB962C8B-B14F-4D97-AF65-F5344CB8AC3E}">
        <p14:creationId xmlns:p14="http://schemas.microsoft.com/office/powerpoint/2010/main" val="19424175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F447-34F2-4181-9AD8-F8721840432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CD26F4B-8370-4039-AA6C-5E41BEB940E9}"/>
              </a:ext>
            </a:extLst>
          </p:cNvPr>
          <p:cNvPicPr>
            <a:picLocks noGrp="1" noChangeAspect="1"/>
          </p:cNvPicPr>
          <p:nvPr>
            <p:ph idx="1"/>
          </p:nvPr>
        </p:nvPicPr>
        <p:blipFill>
          <a:blip r:embed="rId2"/>
          <a:stretch>
            <a:fillRect/>
          </a:stretch>
        </p:blipFill>
        <p:spPr>
          <a:xfrm>
            <a:off x="838199" y="365125"/>
            <a:ext cx="10515601" cy="5759904"/>
          </a:xfrm>
        </p:spPr>
      </p:pic>
    </p:spTree>
    <p:extLst>
      <p:ext uri="{BB962C8B-B14F-4D97-AF65-F5344CB8AC3E}">
        <p14:creationId xmlns:p14="http://schemas.microsoft.com/office/powerpoint/2010/main" val="25978946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CC73-2013-43D7-84E2-B791CCFDA90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E942ED-0DC1-424D-9152-D674EEBC7448}"/>
              </a:ext>
            </a:extLst>
          </p:cNvPr>
          <p:cNvPicPr>
            <a:picLocks noGrp="1" noChangeAspect="1"/>
          </p:cNvPicPr>
          <p:nvPr>
            <p:ph idx="1"/>
          </p:nvPr>
        </p:nvPicPr>
        <p:blipFill>
          <a:blip r:embed="rId2"/>
          <a:stretch>
            <a:fillRect/>
          </a:stretch>
        </p:blipFill>
        <p:spPr>
          <a:xfrm>
            <a:off x="838200" y="350611"/>
            <a:ext cx="10515600" cy="5469617"/>
          </a:xfrm>
        </p:spPr>
      </p:pic>
    </p:spTree>
    <p:extLst>
      <p:ext uri="{BB962C8B-B14F-4D97-AF65-F5344CB8AC3E}">
        <p14:creationId xmlns:p14="http://schemas.microsoft.com/office/powerpoint/2010/main" val="28869931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6324-C502-4AF1-BB01-B5171A1D5F3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D8DE11D-6642-4301-9E61-6E7F8B29E820}"/>
              </a:ext>
            </a:extLst>
          </p:cNvPr>
          <p:cNvPicPr>
            <a:picLocks noGrp="1" noChangeAspect="1"/>
          </p:cNvPicPr>
          <p:nvPr>
            <p:ph idx="1"/>
          </p:nvPr>
        </p:nvPicPr>
        <p:blipFill>
          <a:blip r:embed="rId2"/>
          <a:stretch>
            <a:fillRect/>
          </a:stretch>
        </p:blipFill>
        <p:spPr>
          <a:xfrm>
            <a:off x="838200" y="365124"/>
            <a:ext cx="10515600" cy="5633893"/>
          </a:xfrm>
        </p:spPr>
      </p:pic>
    </p:spTree>
    <p:extLst>
      <p:ext uri="{BB962C8B-B14F-4D97-AF65-F5344CB8AC3E}">
        <p14:creationId xmlns:p14="http://schemas.microsoft.com/office/powerpoint/2010/main" val="6541350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3C458-A903-4043-B579-4337EA6E96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CD6BF3-F894-4719-B250-9F0EA53E2DA2}"/>
              </a:ext>
            </a:extLst>
          </p:cNvPr>
          <p:cNvSpPr>
            <a:spLocks noGrp="1"/>
          </p:cNvSpPr>
          <p:nvPr>
            <p:ph idx="1"/>
          </p:nvPr>
        </p:nvSpPr>
        <p:spPr/>
        <p:txBody>
          <a:bodyPr>
            <a:normAutofit lnSpcReduction="10000"/>
          </a:bodyPr>
          <a:lstStyle/>
          <a:p>
            <a:pPr algn="l"/>
            <a:endParaRPr lang="en-US" sz="1200" b="0" i="0" u="none" strike="noStrike" baseline="0" dirty="0">
              <a:solidFill>
                <a:srgbClr val="000000"/>
              </a:solidFill>
              <a:latin typeface="Arial" panose="020B0604020202020204" pitchFamily="34" charset="0"/>
            </a:endParaRPr>
          </a:p>
          <a:p>
            <a:r>
              <a:rPr lang="en-US" sz="2800" b="0" i="0" u="none" strike="noStrike" baseline="0" dirty="0">
                <a:solidFill>
                  <a:srgbClr val="090909"/>
                </a:solidFill>
                <a:latin typeface="Arial" panose="020B0604020202020204" pitchFamily="34" charset="0"/>
              </a:rPr>
              <a:t>Another example, lets assume SF=12 Each symbol can carry 12 raw bits of information and there are 2^12 = 4096 unique chip values ranging from 0 to 4095. </a:t>
            </a:r>
          </a:p>
          <a:p>
            <a:r>
              <a:rPr lang="en-US" sz="2800" b="0" i="0" u="none" strike="noStrike" baseline="0" dirty="0">
                <a:solidFill>
                  <a:srgbClr val="090909"/>
                </a:solidFill>
                <a:latin typeface="Arial" panose="020B0604020202020204" pitchFamily="34" charset="0"/>
              </a:rPr>
              <a:t>The Spreading Factor (SF) defines two values: -The number of raw bits that can be encoded by that symbol: SF -Each symbol can hold 2^SF chips Please be aware of the difference between a chirp and a chip.</a:t>
            </a:r>
          </a:p>
          <a:p>
            <a:r>
              <a:rPr lang="en-US" sz="2800" b="0" i="0" u="none" strike="noStrike" baseline="0" dirty="0">
                <a:solidFill>
                  <a:srgbClr val="090909"/>
                </a:solidFill>
                <a:latin typeface="Arial" panose="020B0604020202020204" pitchFamily="34" charset="0"/>
              </a:rPr>
              <a:t>A symbol holds 2^SF chips. </a:t>
            </a:r>
          </a:p>
          <a:p>
            <a:r>
              <a:rPr lang="en-US" sz="2800" b="0" i="0" u="none" strike="noStrike" baseline="0" dirty="0">
                <a:solidFill>
                  <a:srgbClr val="090909"/>
                </a:solidFill>
                <a:latin typeface="Arial" panose="020B0604020202020204" pitchFamily="34" charset="0"/>
              </a:rPr>
              <a:t>Chirps are simply a ramp from flow to </a:t>
            </a:r>
            <a:r>
              <a:rPr lang="en-US" sz="2800" b="0" i="0" u="none" strike="noStrike" baseline="0" dirty="0" err="1">
                <a:solidFill>
                  <a:srgbClr val="090909"/>
                </a:solidFill>
                <a:latin typeface="Arial" panose="020B0604020202020204" pitchFamily="34" charset="0"/>
              </a:rPr>
              <a:t>fhigh</a:t>
            </a:r>
            <a:r>
              <a:rPr lang="en-US" sz="2800" b="0" i="0" u="none" strike="noStrike" baseline="0" dirty="0">
                <a:solidFill>
                  <a:srgbClr val="090909"/>
                </a:solidFill>
                <a:latin typeface="Arial" panose="020B0604020202020204" pitchFamily="34" charset="0"/>
              </a:rPr>
              <a:t>(up-chirp) or </a:t>
            </a:r>
            <a:r>
              <a:rPr lang="en-US" sz="2800" b="0" i="0" u="none" strike="noStrike" baseline="0" dirty="0" err="1">
                <a:solidFill>
                  <a:srgbClr val="090909"/>
                </a:solidFill>
                <a:latin typeface="Arial" panose="020B0604020202020204" pitchFamily="34" charset="0"/>
              </a:rPr>
              <a:t>fhigh</a:t>
            </a:r>
            <a:r>
              <a:rPr lang="en-US" sz="2800" b="0" i="0" u="none" strike="noStrike" baseline="0" dirty="0">
                <a:solidFill>
                  <a:srgbClr val="090909"/>
                </a:solidFill>
                <a:latin typeface="Arial" panose="020B0604020202020204" pitchFamily="34" charset="0"/>
              </a:rPr>
              <a:t> to flow (down-chirp).</a:t>
            </a:r>
          </a:p>
          <a:p>
            <a:endParaRPr lang="en-US" dirty="0"/>
          </a:p>
        </p:txBody>
      </p:sp>
    </p:spTree>
    <p:extLst>
      <p:ext uri="{BB962C8B-B14F-4D97-AF65-F5344CB8AC3E}">
        <p14:creationId xmlns:p14="http://schemas.microsoft.com/office/powerpoint/2010/main" val="34571048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852B-F08F-4C1D-A094-233BC6E82EE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1511B66-BE9D-4180-80E6-3B2EF4AC68E9}"/>
              </a:ext>
            </a:extLst>
          </p:cNvPr>
          <p:cNvPicPr>
            <a:picLocks noGrp="1" noChangeAspect="1"/>
          </p:cNvPicPr>
          <p:nvPr>
            <p:ph idx="1"/>
          </p:nvPr>
        </p:nvPicPr>
        <p:blipFill>
          <a:blip r:embed="rId2"/>
          <a:stretch>
            <a:fillRect/>
          </a:stretch>
        </p:blipFill>
        <p:spPr>
          <a:xfrm>
            <a:off x="972457" y="595745"/>
            <a:ext cx="10381343" cy="5442198"/>
          </a:xfrm>
        </p:spPr>
      </p:pic>
    </p:spTree>
    <p:extLst>
      <p:ext uri="{BB962C8B-B14F-4D97-AF65-F5344CB8AC3E}">
        <p14:creationId xmlns:p14="http://schemas.microsoft.com/office/powerpoint/2010/main" val="14926137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37AB-BB65-43F4-8FDB-498F33E1E7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DF3CB8-177C-4E0F-B460-797279358F5F}"/>
              </a:ext>
            </a:extLst>
          </p:cNvPr>
          <p:cNvSpPr>
            <a:spLocks noGrp="1"/>
          </p:cNvSpPr>
          <p:nvPr>
            <p:ph idx="1"/>
          </p:nvPr>
        </p:nvSpPr>
        <p:spPr/>
        <p:txBody>
          <a:bodyPr>
            <a:normAutofit fontScale="77500" lnSpcReduction="20000"/>
          </a:bodyPr>
          <a:lstStyle/>
          <a:p>
            <a:pPr marL="0" indent="0">
              <a:buNone/>
            </a:pPr>
            <a:r>
              <a:rPr lang="en-US" sz="2800" b="0" i="0" u="none" strike="noStrike" baseline="0" dirty="0">
                <a:solidFill>
                  <a:srgbClr val="000000"/>
                </a:solidFill>
                <a:latin typeface="Calibri" panose="020F0502020204030204" pitchFamily="34" charset="0"/>
              </a:rPr>
              <a:t>To calculate the data rate (DR) or bit rate (Rb):</a:t>
            </a:r>
          </a:p>
          <a:p>
            <a:pPr marL="0" indent="0">
              <a:buNone/>
            </a:pPr>
            <a:r>
              <a:rPr lang="en-US" sz="2800" b="0" i="0" u="none" strike="noStrike" baseline="0" dirty="0">
                <a:solidFill>
                  <a:srgbClr val="000000"/>
                </a:solidFill>
                <a:latin typeface="Calibri" panose="020F0502020204030204" pitchFamily="34" charset="0"/>
              </a:rPr>
              <a:t>                         Rb(bits/sec) = SF x (BW / 2^SF) x  (4/(4+CR))    </a:t>
            </a:r>
          </a:p>
          <a:p>
            <a:pPr marL="0" indent="0">
              <a:buNone/>
            </a:pPr>
            <a:r>
              <a:rPr lang="en-US" sz="2800" b="0" i="0" u="none" strike="noStrike" baseline="0" dirty="0">
                <a:solidFill>
                  <a:srgbClr val="000000"/>
                </a:solidFill>
                <a:latin typeface="Calibri" panose="020F0502020204030204" pitchFamily="34" charset="0"/>
              </a:rPr>
              <a:t>                         Bandwidth (BW) in Hz</a:t>
            </a:r>
          </a:p>
          <a:p>
            <a:pPr marL="0" indent="0">
              <a:buNone/>
            </a:pPr>
            <a:r>
              <a:rPr lang="en-US" sz="2800" b="0" i="0" u="none" strike="noStrike" baseline="0" dirty="0">
                <a:solidFill>
                  <a:srgbClr val="000000"/>
                </a:solidFill>
                <a:latin typeface="Calibri" panose="020F0502020204030204" pitchFamily="34" charset="0"/>
              </a:rPr>
              <a:t>                         Spreading Factor (SF): 7-12</a:t>
            </a:r>
          </a:p>
          <a:p>
            <a:pPr marL="0" indent="0">
              <a:buNone/>
            </a:pPr>
            <a:r>
              <a:rPr lang="en-US" sz="2800" b="0" i="0" u="none" strike="noStrike" baseline="0" dirty="0">
                <a:solidFill>
                  <a:srgbClr val="000000"/>
                </a:solidFill>
                <a:latin typeface="Calibri" panose="020F0502020204030204" pitchFamily="34" charset="0"/>
              </a:rPr>
              <a:t>                         Code Rate (CR): 1-4</a:t>
            </a:r>
          </a:p>
          <a:p>
            <a:pPr marL="0" indent="0">
              <a:buNone/>
            </a:pPr>
            <a:r>
              <a:rPr lang="en-US" sz="2800" b="0" i="0" u="none" strike="noStrike" baseline="0" dirty="0">
                <a:solidFill>
                  <a:srgbClr val="000000"/>
                </a:solidFill>
                <a:latin typeface="Calibri" panose="020F0502020204030204" pitchFamily="34" charset="0"/>
              </a:rPr>
              <a:t>Because </a:t>
            </a:r>
            <a:r>
              <a:rPr lang="en-US" sz="2800" b="0" i="0" u="none" strike="noStrike" baseline="0" dirty="0" err="1">
                <a:solidFill>
                  <a:srgbClr val="000000"/>
                </a:solidFill>
                <a:latin typeface="Calibri" panose="020F0502020204030204" pitchFamily="34" charset="0"/>
              </a:rPr>
              <a:t>Rc</a:t>
            </a:r>
            <a:r>
              <a:rPr lang="en-US" sz="2800" b="0" i="0" u="none" strike="noStrike" baseline="0" dirty="0">
                <a:solidFill>
                  <a:srgbClr val="000000"/>
                </a:solidFill>
                <a:latin typeface="Calibri" panose="020F0502020204030204" pitchFamily="34" charset="0"/>
              </a:rPr>
              <a:t>= BW , the chip duration is calculated as follow: </a:t>
            </a:r>
          </a:p>
          <a:p>
            <a:pPr marL="0" indent="0">
              <a:buNone/>
            </a:pPr>
            <a:r>
              <a:rPr lang="en-US" sz="2800" b="0" i="0" u="none" strike="noStrike" baseline="0" dirty="0">
                <a:solidFill>
                  <a:srgbClr val="000000"/>
                </a:solidFill>
                <a:latin typeface="Calibri" panose="020F0502020204030204" pitchFamily="34" charset="0"/>
              </a:rPr>
              <a:t>                         Tc (sec) = 1 / BW</a:t>
            </a:r>
          </a:p>
          <a:p>
            <a:pPr marL="0" indent="0">
              <a:buNone/>
            </a:pPr>
            <a:r>
              <a:rPr lang="en-US" sz="2800" b="0" i="0" u="none" strike="noStrike" baseline="0" dirty="0">
                <a:solidFill>
                  <a:srgbClr val="000000"/>
                </a:solidFill>
                <a:latin typeface="Calibri" panose="020F0502020204030204" pitchFamily="34" charset="0"/>
              </a:rPr>
              <a:t>                         Bandwidth (BW) in Hz</a:t>
            </a:r>
          </a:p>
          <a:p>
            <a:pPr marL="0" indent="0">
              <a:buNone/>
            </a:pPr>
            <a:r>
              <a:rPr lang="en-US" sz="2800" b="0" i="0" u="none" strike="noStrike" baseline="0" dirty="0">
                <a:solidFill>
                  <a:srgbClr val="000000"/>
                </a:solidFill>
                <a:latin typeface="Calibri" panose="020F0502020204030204" pitchFamily="34" charset="0"/>
              </a:rPr>
              <a:t>                         For example: BW=125 kHz</a:t>
            </a:r>
          </a:p>
          <a:p>
            <a:pPr marL="0" indent="0">
              <a:buNone/>
            </a:pPr>
            <a:r>
              <a:rPr lang="en-US" sz="2800" b="0" i="0" u="none" strike="noStrike" baseline="0" dirty="0">
                <a:solidFill>
                  <a:srgbClr val="000000"/>
                </a:solidFill>
                <a:latin typeface="Calibri" panose="020F0502020204030204" pitchFamily="34" charset="0"/>
              </a:rPr>
              <a:t>                         Tc = 1 / 125000 = 8 µs </a:t>
            </a:r>
          </a:p>
          <a:p>
            <a:pPr marL="0" indent="0">
              <a:buNone/>
            </a:pPr>
            <a:r>
              <a:rPr lang="en-US" sz="2800" b="0" i="0" u="none" strike="noStrike" baseline="0" dirty="0">
                <a:solidFill>
                  <a:srgbClr val="000000"/>
                </a:solidFill>
                <a:latin typeface="Calibri" panose="020F0502020204030204" pitchFamily="34" charset="0"/>
              </a:rPr>
              <a:t>The symbol duration or sweep time is calculated as follow: </a:t>
            </a:r>
          </a:p>
          <a:p>
            <a:pPr marL="0" indent="0">
              <a:buNone/>
            </a:pPr>
            <a:r>
              <a:rPr lang="fr-FR" sz="2800" b="0" i="0" u="none" strike="noStrike" baseline="0" dirty="0">
                <a:solidFill>
                  <a:srgbClr val="000000"/>
                </a:solidFill>
                <a:latin typeface="Calibri" panose="020F0502020204030204" pitchFamily="34" charset="0"/>
              </a:rPr>
              <a:t>                         Ts(sec) = 2^SF / BW  [1]</a:t>
            </a:r>
            <a:endParaRPr lang="en-US" dirty="0"/>
          </a:p>
        </p:txBody>
      </p:sp>
    </p:spTree>
    <p:extLst>
      <p:ext uri="{BB962C8B-B14F-4D97-AF65-F5344CB8AC3E}">
        <p14:creationId xmlns:p14="http://schemas.microsoft.com/office/powerpoint/2010/main" val="17144166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6E8CE-CE7D-4B5B-A02B-B07230533E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722A37-FD89-454F-9FA5-84EA6ED8F65F}"/>
              </a:ext>
            </a:extLst>
          </p:cNvPr>
          <p:cNvSpPr>
            <a:spLocks noGrp="1"/>
          </p:cNvSpPr>
          <p:nvPr>
            <p:ph idx="1"/>
          </p:nvPr>
        </p:nvSpPr>
        <p:spPr/>
        <p:txBody>
          <a:bodyPr/>
          <a:lstStyle/>
          <a:p>
            <a:pPr algn="l"/>
            <a:endParaRPr lang="en-US" sz="12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For example: SF=7, CR=1</a:t>
            </a:r>
          </a:p>
          <a:p>
            <a:r>
              <a:rPr lang="en-US" sz="2800" b="0" i="0" u="none" strike="noStrike" baseline="0" dirty="0">
                <a:solidFill>
                  <a:srgbClr val="000000"/>
                </a:solidFill>
                <a:latin typeface="Calibri" panose="020F0502020204030204" pitchFamily="34" charset="0"/>
              </a:rPr>
              <a:t>BW=125 kHz, Rb= 7 x (125000 / 2^7) x (4 / (4 + 1)) = 5.5 kbits/s</a:t>
            </a:r>
          </a:p>
          <a:p>
            <a:r>
              <a:rPr lang="en-US" sz="2800" b="0" i="0" u="none" strike="noStrike" baseline="0" dirty="0">
                <a:solidFill>
                  <a:srgbClr val="000000"/>
                </a:solidFill>
                <a:latin typeface="Calibri" panose="020F0502020204030204" pitchFamily="34" charset="0"/>
              </a:rPr>
              <a:t>BW=250 kHz, Rb= 7 x (250000 / 2^7) x (4 / (4 + 1)) = 10.9 kbits/s</a:t>
            </a:r>
          </a:p>
          <a:p>
            <a:r>
              <a:rPr lang="en-US" sz="2800" b="0" i="0" u="none" strike="noStrike" baseline="0" dirty="0">
                <a:solidFill>
                  <a:srgbClr val="000000"/>
                </a:solidFill>
                <a:latin typeface="Calibri" panose="020F0502020204030204" pitchFamily="34" charset="0"/>
              </a:rPr>
              <a:t>BW=500 kHz, Rb= 7 x (500000 / 2^7) x (4 / (4 + 1)) = 21.9 kbits/s</a:t>
            </a:r>
          </a:p>
          <a:p>
            <a:r>
              <a:rPr lang="en-US" sz="2800" b="0" i="0" u="none" strike="noStrike" baseline="0" dirty="0">
                <a:solidFill>
                  <a:srgbClr val="000000"/>
                </a:solidFill>
                <a:latin typeface="Calibri" panose="020F0502020204030204" pitchFamily="34" charset="0"/>
              </a:rPr>
              <a:t>If you increase the bandwidth, the bit rate or data rate is increased.</a:t>
            </a:r>
          </a:p>
          <a:p>
            <a:endParaRPr lang="en-US" dirty="0"/>
          </a:p>
        </p:txBody>
      </p:sp>
    </p:spTree>
    <p:extLst>
      <p:ext uri="{BB962C8B-B14F-4D97-AF65-F5344CB8AC3E}">
        <p14:creationId xmlns:p14="http://schemas.microsoft.com/office/powerpoint/2010/main" val="31460639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5AD7B-3F86-4BA9-92CE-4580E14C65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85AF2F-941D-4A54-B6EA-07A7C33338EF}"/>
              </a:ext>
            </a:extLst>
          </p:cNvPr>
          <p:cNvSpPr>
            <a:spLocks noGrp="1"/>
          </p:cNvSpPr>
          <p:nvPr>
            <p:ph idx="1"/>
          </p:nvPr>
        </p:nvSpPr>
        <p:spPr/>
        <p:txBody>
          <a:bodyPr>
            <a:normAutofit lnSpcReduction="10000"/>
          </a:bodyPr>
          <a:lstStyle/>
          <a:p>
            <a:pPr marL="0" indent="0">
              <a:buNone/>
            </a:pPr>
            <a:r>
              <a:rPr lang="en-US" sz="2800" b="0" i="0" u="none" strike="noStrike" baseline="0" dirty="0">
                <a:solidFill>
                  <a:srgbClr val="000000"/>
                </a:solidFill>
                <a:latin typeface="Calibri" panose="020F0502020204030204" pitchFamily="34" charset="0"/>
              </a:rPr>
              <a:t>For example: BW=125 kHz, CR=1</a:t>
            </a:r>
          </a:p>
          <a:p>
            <a:r>
              <a:rPr lang="en-US" sz="2800" b="0" i="0" u="none" strike="noStrike" baseline="0" dirty="0">
                <a:solidFill>
                  <a:srgbClr val="000000"/>
                </a:solidFill>
                <a:latin typeface="Calibri" panose="020F0502020204030204" pitchFamily="34" charset="0"/>
              </a:rPr>
              <a:t>SF=7,  Rb= 7  x (125000/2^7 ) x (4/(4+1)) = 5.5 kbits/s</a:t>
            </a:r>
          </a:p>
          <a:p>
            <a:r>
              <a:rPr lang="en-US" sz="2800" b="0" i="0" u="none" strike="noStrike" baseline="0" dirty="0">
                <a:solidFill>
                  <a:srgbClr val="000000"/>
                </a:solidFill>
                <a:latin typeface="Calibri" panose="020F0502020204030204" pitchFamily="34" charset="0"/>
              </a:rPr>
              <a:t>SF=8,  Rb= 8  x (125000/2^8 ) x (4/(4+1)) = 3.13 kbits/s</a:t>
            </a:r>
          </a:p>
          <a:p>
            <a:r>
              <a:rPr lang="en-US" sz="2800" b="0" i="0" u="none" strike="noStrike" baseline="0" dirty="0">
                <a:solidFill>
                  <a:srgbClr val="000000"/>
                </a:solidFill>
                <a:latin typeface="Calibri" panose="020F0502020204030204" pitchFamily="34" charset="0"/>
              </a:rPr>
              <a:t>SF=9,  Rb= 9  x (125000/2^9 ) x (4/(4+1)) = 1.76 kbits/s</a:t>
            </a:r>
          </a:p>
          <a:p>
            <a:r>
              <a:rPr lang="en-US" sz="2800" b="0" i="0" u="none" strike="noStrike" baseline="0" dirty="0">
                <a:solidFill>
                  <a:srgbClr val="000000"/>
                </a:solidFill>
                <a:latin typeface="Calibri" panose="020F0502020204030204" pitchFamily="34" charset="0"/>
              </a:rPr>
              <a:t>SF=10, Rb= 10 x (125000/2^10) x (4/(4+1)) = 0.98 kbits/s</a:t>
            </a:r>
          </a:p>
          <a:p>
            <a:r>
              <a:rPr lang="en-US" sz="2800" b="0" i="0" u="none" strike="noStrike" baseline="0" dirty="0">
                <a:solidFill>
                  <a:srgbClr val="000000"/>
                </a:solidFill>
                <a:latin typeface="Calibri" panose="020F0502020204030204" pitchFamily="34" charset="0"/>
              </a:rPr>
              <a:t>SF=11, Rb= 11 x (125000/2^11) x (4/(4+1)) = 0.54 kbits/s</a:t>
            </a:r>
          </a:p>
          <a:p>
            <a:r>
              <a:rPr lang="en-US" sz="2800" b="0" i="0" u="none" strike="noStrike" baseline="0" dirty="0">
                <a:solidFill>
                  <a:srgbClr val="000000"/>
                </a:solidFill>
                <a:latin typeface="Calibri" panose="020F0502020204030204" pitchFamily="34" charset="0"/>
              </a:rPr>
              <a:t>SF=12, Rb= 12 x (125000/2^12) x (4/(4+1)) = 0.29 kbits/s</a:t>
            </a:r>
          </a:p>
          <a:p>
            <a:r>
              <a:rPr lang="en-US" sz="2800" b="0" i="0" u="none" strike="noStrike" baseline="0" dirty="0">
                <a:solidFill>
                  <a:srgbClr val="000000"/>
                </a:solidFill>
                <a:latin typeface="Calibri" panose="020F0502020204030204" pitchFamily="34" charset="0"/>
              </a:rPr>
              <a:t>If you increase the Spreading Factor, the bit rate or data rate is decreased.</a:t>
            </a:r>
          </a:p>
          <a:p>
            <a:endParaRPr lang="en-US" dirty="0"/>
          </a:p>
        </p:txBody>
      </p:sp>
    </p:spTree>
    <p:extLst>
      <p:ext uri="{BB962C8B-B14F-4D97-AF65-F5344CB8AC3E}">
        <p14:creationId xmlns:p14="http://schemas.microsoft.com/office/powerpoint/2010/main" val="10970696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2087-CFD6-40A5-B470-0EB9E401E11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86C87F4-E13B-41AC-B5C6-6C5669EDDF0D}"/>
              </a:ext>
            </a:extLst>
          </p:cNvPr>
          <p:cNvPicPr>
            <a:picLocks noGrp="1" noChangeAspect="1"/>
          </p:cNvPicPr>
          <p:nvPr>
            <p:ph idx="1"/>
          </p:nvPr>
        </p:nvPicPr>
        <p:blipFill>
          <a:blip r:embed="rId2"/>
          <a:stretch>
            <a:fillRect/>
          </a:stretch>
        </p:blipFill>
        <p:spPr>
          <a:xfrm>
            <a:off x="838200" y="512618"/>
            <a:ext cx="10411691" cy="5555673"/>
          </a:xfrm>
        </p:spPr>
      </p:pic>
    </p:spTree>
    <p:extLst>
      <p:ext uri="{BB962C8B-B14F-4D97-AF65-F5344CB8AC3E}">
        <p14:creationId xmlns:p14="http://schemas.microsoft.com/office/powerpoint/2010/main" val="31291316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3A8CA-BDB3-425D-86AA-6597F66BB9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64CC5D-9CC5-45A8-A876-8121A5AB3830}"/>
              </a:ext>
            </a:extLst>
          </p:cNvPr>
          <p:cNvSpPr>
            <a:spLocks noGrp="1"/>
          </p:cNvSpPr>
          <p:nvPr>
            <p:ph idx="1"/>
          </p:nvPr>
        </p:nvSpPr>
        <p:spPr/>
        <p:txBody>
          <a:bodyPr>
            <a:normAutofit fontScale="92500" lnSpcReduction="10000"/>
          </a:bodyPr>
          <a:lstStyle/>
          <a:p>
            <a:pPr algn="l"/>
            <a:endParaRPr lang="en-US" sz="12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For example: SF7</a:t>
            </a:r>
          </a:p>
          <a:p>
            <a:pPr lvl="1"/>
            <a:r>
              <a:rPr lang="en-US" b="0" i="0" u="none" strike="noStrike" baseline="0" dirty="0">
                <a:solidFill>
                  <a:srgbClr val="000000"/>
                </a:solidFill>
                <a:latin typeface="Calibri" panose="020F0502020204030204" pitchFamily="34" charset="0"/>
              </a:rPr>
              <a:t>BW=125 kHz, Ts = 2^7 / 125000 = 1.024 </a:t>
            </a:r>
            <a:r>
              <a:rPr lang="en-US" b="0" i="0" u="none" strike="noStrike" baseline="0" dirty="0" err="1">
                <a:solidFill>
                  <a:srgbClr val="000000"/>
                </a:solidFill>
                <a:latin typeface="Calibri" panose="020F0502020204030204" pitchFamily="34" charset="0"/>
              </a:rPr>
              <a:t>ms</a:t>
            </a:r>
            <a:endParaRPr lang="en-US" b="0" i="0" u="none" strike="noStrike" baseline="0" dirty="0">
              <a:solidFill>
                <a:srgbClr val="000000"/>
              </a:solidFill>
              <a:latin typeface="Calibri" panose="020F0502020204030204" pitchFamily="34" charset="0"/>
            </a:endParaRPr>
          </a:p>
          <a:p>
            <a:pPr lvl="1"/>
            <a:r>
              <a:rPr lang="nl-NL" b="0" i="0" u="none" strike="noStrike" baseline="0" dirty="0">
                <a:solidFill>
                  <a:srgbClr val="000000"/>
                </a:solidFill>
                <a:latin typeface="Calibri" panose="020F0502020204030204" pitchFamily="34" charset="0"/>
              </a:rPr>
              <a:t>BW=250 kHz, Ts = 2^7 / 250000 = 512 µs</a:t>
            </a:r>
          </a:p>
          <a:p>
            <a:pPr lvl="1"/>
            <a:r>
              <a:rPr lang="nl-NL" b="0" i="0" u="none" strike="noStrike" baseline="0" dirty="0">
                <a:solidFill>
                  <a:srgbClr val="000000"/>
                </a:solidFill>
                <a:latin typeface="Calibri" panose="020F0502020204030204" pitchFamily="34" charset="0"/>
              </a:rPr>
              <a:t>BW=500 kHz, Ts = 2^7 / 500000 = 256 µs</a:t>
            </a:r>
          </a:p>
          <a:p>
            <a:r>
              <a:rPr lang="en-US" sz="2800" b="0" i="0" u="none" strike="noStrike" baseline="0" dirty="0">
                <a:solidFill>
                  <a:srgbClr val="000000"/>
                </a:solidFill>
                <a:latin typeface="Calibri" panose="020F0502020204030204" pitchFamily="34" charset="0"/>
              </a:rPr>
              <a:t>If the BW increases, the Symbol duration decreases.</a:t>
            </a:r>
          </a:p>
          <a:p>
            <a:r>
              <a:rPr lang="en-US" sz="2800" b="0" i="0" u="none" strike="noStrike" baseline="0" dirty="0">
                <a:solidFill>
                  <a:srgbClr val="000000"/>
                </a:solidFill>
                <a:latin typeface="Calibri" panose="020F0502020204030204" pitchFamily="34" charset="0"/>
              </a:rPr>
              <a:t>For example: BW=125 kHz</a:t>
            </a:r>
          </a:p>
          <a:p>
            <a:pPr lvl="1"/>
            <a:r>
              <a:rPr lang="en-US" b="0" i="0" u="none" strike="noStrike" baseline="0" dirty="0">
                <a:solidFill>
                  <a:srgbClr val="000000"/>
                </a:solidFill>
                <a:latin typeface="Calibri" panose="020F0502020204030204" pitchFamily="34" charset="0"/>
              </a:rPr>
              <a:t>SF=7, Ts = 2^7 / 125000 = 1.024 </a:t>
            </a:r>
            <a:r>
              <a:rPr lang="en-US" b="0" i="0" u="none" strike="noStrike" baseline="0" dirty="0" err="1">
                <a:solidFill>
                  <a:srgbClr val="000000"/>
                </a:solidFill>
                <a:latin typeface="Calibri" panose="020F0502020204030204" pitchFamily="34" charset="0"/>
              </a:rPr>
              <a:t>ms</a:t>
            </a:r>
            <a:endParaRPr lang="en-US" b="0" i="0" u="none" strike="noStrike" baseline="0" dirty="0">
              <a:solidFill>
                <a:srgbClr val="000000"/>
              </a:solidFill>
              <a:latin typeface="Calibri" panose="020F0502020204030204" pitchFamily="34" charset="0"/>
            </a:endParaRPr>
          </a:p>
          <a:p>
            <a:pPr lvl="1"/>
            <a:r>
              <a:rPr lang="en-US" b="0" i="0" u="none" strike="noStrike" baseline="0" dirty="0">
                <a:solidFill>
                  <a:srgbClr val="000000"/>
                </a:solidFill>
                <a:latin typeface="Calibri" panose="020F0502020204030204" pitchFamily="34" charset="0"/>
              </a:rPr>
              <a:t>SF=9, Ts = 2^9 / 125000 = 4.096 </a:t>
            </a:r>
            <a:r>
              <a:rPr lang="en-US" b="0" i="0" u="none" strike="noStrike" baseline="0" dirty="0" err="1">
                <a:solidFill>
                  <a:srgbClr val="000000"/>
                </a:solidFill>
                <a:latin typeface="Calibri" panose="020F0502020204030204" pitchFamily="34" charset="0"/>
              </a:rPr>
              <a:t>ms</a:t>
            </a:r>
            <a:endParaRPr lang="en-US" b="0" i="0" u="none" strike="noStrike" baseline="0" dirty="0">
              <a:solidFill>
                <a:srgbClr val="000000"/>
              </a:solidFill>
              <a:latin typeface="Calibri" panose="020F0502020204030204" pitchFamily="34" charset="0"/>
            </a:endParaRPr>
          </a:p>
          <a:p>
            <a:pPr lvl="1"/>
            <a:r>
              <a:rPr lang="en-US" b="0" i="0" u="none" strike="noStrike" baseline="0" dirty="0">
                <a:solidFill>
                  <a:srgbClr val="000000"/>
                </a:solidFill>
                <a:latin typeface="Calibri" panose="020F0502020204030204" pitchFamily="34" charset="0"/>
              </a:rPr>
              <a:t>SF=12, Ts = 2^12 / 125000 = 32.768 </a:t>
            </a:r>
            <a:r>
              <a:rPr lang="en-US" b="0" i="0" u="none" strike="noStrike" baseline="0" dirty="0" err="1">
                <a:solidFill>
                  <a:srgbClr val="000000"/>
                </a:solidFill>
                <a:latin typeface="Calibri" panose="020F0502020204030204" pitchFamily="34" charset="0"/>
              </a:rPr>
              <a:t>ms</a:t>
            </a:r>
            <a:endParaRPr lang="en-US"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If the SF increases, the Symbol duration increases.</a:t>
            </a:r>
          </a:p>
          <a:p>
            <a:endParaRPr lang="en-US" dirty="0"/>
          </a:p>
        </p:txBody>
      </p:sp>
    </p:spTree>
    <p:extLst>
      <p:ext uri="{BB962C8B-B14F-4D97-AF65-F5344CB8AC3E}">
        <p14:creationId xmlns:p14="http://schemas.microsoft.com/office/powerpoint/2010/main" val="19818935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403CB-197F-4FAA-8A12-192C4A05356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2A6ED91-388E-4118-8945-A5DD4CA1346C}"/>
              </a:ext>
            </a:extLst>
          </p:cNvPr>
          <p:cNvPicPr>
            <a:picLocks noGrp="1" noChangeAspect="1"/>
          </p:cNvPicPr>
          <p:nvPr>
            <p:ph idx="1"/>
          </p:nvPr>
        </p:nvPicPr>
        <p:blipFill>
          <a:blip r:embed="rId2"/>
          <a:stretch>
            <a:fillRect/>
          </a:stretch>
        </p:blipFill>
        <p:spPr>
          <a:xfrm>
            <a:off x="838200" y="365125"/>
            <a:ext cx="10515600" cy="5126182"/>
          </a:xfrm>
        </p:spPr>
      </p:pic>
    </p:spTree>
    <p:extLst>
      <p:ext uri="{BB962C8B-B14F-4D97-AF65-F5344CB8AC3E}">
        <p14:creationId xmlns:p14="http://schemas.microsoft.com/office/powerpoint/2010/main" val="715281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6E1D-EAE9-42E1-B5BF-B9F4979818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A00C59-E491-4FA5-9885-D20B8F4D72CE}"/>
              </a:ext>
            </a:extLst>
          </p:cNvPr>
          <p:cNvSpPr>
            <a:spLocks noGrp="1"/>
          </p:cNvSpPr>
          <p:nvPr>
            <p:ph idx="1"/>
          </p:nvPr>
        </p:nvSpPr>
        <p:spPr>
          <a:xfrm>
            <a:off x="838200" y="1108364"/>
            <a:ext cx="10515600" cy="5068599"/>
          </a:xfrm>
        </p:spPr>
        <p:txBody>
          <a:bodyPr>
            <a:normAutofit fontScale="77500" lnSpcReduction="20000"/>
          </a:bodyPr>
          <a:lstStyle/>
          <a:p>
            <a:pPr algn="l"/>
            <a:endParaRPr lang="en-US" sz="14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If you increase the SF by 1:</a:t>
            </a:r>
          </a:p>
          <a:p>
            <a:r>
              <a:rPr lang="en-US" sz="2800" b="0" i="0" u="none" strike="noStrike" baseline="0" dirty="0">
                <a:solidFill>
                  <a:srgbClr val="000000"/>
                </a:solidFill>
                <a:latin typeface="Calibri" panose="020F0502020204030204" pitchFamily="34" charset="0"/>
              </a:rPr>
              <a:t>The symbol duration or sweep time doubles compared to the previous SF.</a:t>
            </a:r>
          </a:p>
          <a:p>
            <a:r>
              <a:rPr lang="en-US" sz="2800" b="0" i="0" u="none" strike="noStrike" baseline="0" dirty="0">
                <a:solidFill>
                  <a:srgbClr val="000000"/>
                </a:solidFill>
                <a:latin typeface="Calibri" panose="020F0502020204030204" pitchFamily="34" charset="0"/>
              </a:rPr>
              <a:t>It reduces the bit rate approximately by half compared to the previous SF.</a:t>
            </a:r>
          </a:p>
          <a:p>
            <a:r>
              <a:rPr lang="en-US" sz="2800" b="0" i="0" u="none" strike="noStrike" baseline="0" dirty="0">
                <a:solidFill>
                  <a:srgbClr val="000000"/>
                </a:solidFill>
                <a:latin typeface="Calibri" panose="020F0502020204030204" pitchFamily="34" charset="0"/>
              </a:rPr>
              <a:t>The Time on Air (</a:t>
            </a:r>
            <a:r>
              <a:rPr lang="en-US" sz="2800" b="0" i="0" u="none" strike="noStrike" baseline="0" dirty="0" err="1">
                <a:solidFill>
                  <a:srgbClr val="000000"/>
                </a:solidFill>
                <a:latin typeface="Calibri" panose="020F0502020204030204" pitchFamily="34" charset="0"/>
              </a:rPr>
              <a:t>ToA</a:t>
            </a:r>
            <a:r>
              <a:rPr lang="en-US" sz="2800" b="0" i="0" u="none" strike="noStrike" baseline="0" dirty="0">
                <a:solidFill>
                  <a:srgbClr val="000000"/>
                </a:solidFill>
                <a:latin typeface="Calibri" panose="020F0502020204030204" pitchFamily="34" charset="0"/>
              </a:rPr>
              <a:t>) (=message transmission time)  increases which means the distance increases.</a:t>
            </a:r>
          </a:p>
          <a:p>
            <a:r>
              <a:rPr lang="en-US" sz="2800" b="0" i="0" u="none" strike="noStrike" baseline="0" dirty="0">
                <a:solidFill>
                  <a:srgbClr val="000000"/>
                </a:solidFill>
                <a:latin typeface="Calibri" panose="020F0502020204030204" pitchFamily="34" charset="0"/>
              </a:rPr>
              <a:t>To give you an idea what the Time on Air is for a 10 byte payload and BW=125kHz:</a:t>
            </a:r>
          </a:p>
          <a:p>
            <a:r>
              <a:rPr lang="en-US" sz="2800" b="0" i="0" u="none" strike="noStrike" baseline="0" dirty="0">
                <a:solidFill>
                  <a:srgbClr val="000000"/>
                </a:solidFill>
                <a:latin typeface="Calibri" panose="020F0502020204030204" pitchFamily="34" charset="0"/>
              </a:rPr>
              <a:t>SF7, transmission time = 41 </a:t>
            </a:r>
            <a:r>
              <a:rPr lang="en-US" sz="2800" b="0" i="0" u="none" strike="noStrike" baseline="0" dirty="0" err="1">
                <a:solidFill>
                  <a:srgbClr val="000000"/>
                </a:solidFill>
                <a:latin typeface="Calibri" panose="020F0502020204030204" pitchFamily="34" charset="0"/>
              </a:rPr>
              <a:t>ms</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SF12, transmission time = 991 </a:t>
            </a:r>
            <a:r>
              <a:rPr lang="en-US" sz="2800" b="0" i="0" u="none" strike="noStrike" baseline="0" dirty="0" err="1">
                <a:solidFill>
                  <a:srgbClr val="000000"/>
                </a:solidFill>
                <a:latin typeface="Calibri" panose="020F0502020204030204" pitchFamily="34" charset="0"/>
              </a:rPr>
              <a:t>ms</a:t>
            </a:r>
            <a:endParaRPr lang="en-US" sz="2800" b="0" i="0" u="none" strike="noStrike" baseline="0" dirty="0">
              <a:solidFill>
                <a:srgbClr val="000000"/>
              </a:solidFill>
              <a:latin typeface="Calibri" panose="020F0502020204030204" pitchFamily="34" charset="0"/>
            </a:endParaRPr>
          </a:p>
          <a:p>
            <a:r>
              <a:rPr lang="en-US" sz="2800" b="0" i="0" u="none" strike="noStrike" baseline="0" dirty="0">
                <a:solidFill>
                  <a:srgbClr val="000000"/>
                </a:solidFill>
                <a:latin typeface="Calibri" panose="020F0502020204030204" pitchFamily="34" charset="0"/>
              </a:rPr>
              <a:t>LoRa devices uses a higher spreading factor when the signal is weak or there is lot of interference.  </a:t>
            </a:r>
          </a:p>
          <a:p>
            <a:r>
              <a:rPr lang="en-US" sz="2800" b="0" i="0" u="none" strike="noStrike" baseline="0" dirty="0">
                <a:solidFill>
                  <a:srgbClr val="000000"/>
                </a:solidFill>
                <a:latin typeface="Calibri" panose="020F0502020204030204" pitchFamily="34" charset="0"/>
              </a:rPr>
              <a:t>Using a higher spreading factor means a longer Time on Air (</a:t>
            </a:r>
            <a:r>
              <a:rPr lang="en-US" sz="2800" b="0" i="0" u="none" strike="noStrike" baseline="0" dirty="0" err="1">
                <a:solidFill>
                  <a:srgbClr val="000000"/>
                </a:solidFill>
                <a:latin typeface="Calibri" panose="020F0502020204030204" pitchFamily="34" charset="0"/>
              </a:rPr>
              <a:t>ToA</a:t>
            </a:r>
            <a:r>
              <a:rPr lang="en-US" sz="2800" b="0" i="0" u="none" strike="noStrike" baseline="0" dirty="0">
                <a:solidFill>
                  <a:srgbClr val="000000"/>
                </a:solidFill>
                <a:latin typeface="Calibri" panose="020F0502020204030204" pitchFamily="34" charset="0"/>
              </a:rPr>
              <a:t>).</a:t>
            </a:r>
          </a:p>
          <a:p>
            <a:r>
              <a:rPr lang="en-US" sz="2800" b="0" i="0" u="none" strike="noStrike" baseline="0" dirty="0">
                <a:solidFill>
                  <a:srgbClr val="000000"/>
                </a:solidFill>
                <a:latin typeface="Calibri" panose="020F0502020204030204" pitchFamily="34" charset="0"/>
              </a:rPr>
              <a:t>If an end device is further away from a gateway the signal get weaker and therefore needs a higher spreading facto</a:t>
            </a:r>
          </a:p>
          <a:p>
            <a:endParaRPr lang="en-US" dirty="0"/>
          </a:p>
        </p:txBody>
      </p:sp>
    </p:spTree>
    <p:extLst>
      <p:ext uri="{BB962C8B-B14F-4D97-AF65-F5344CB8AC3E}">
        <p14:creationId xmlns:p14="http://schemas.microsoft.com/office/powerpoint/2010/main" val="8037738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D16E-EE12-4C5A-A2A8-8D7A390BF34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A82A9D7-7407-4003-B739-D5F3CBFD8831}"/>
              </a:ext>
            </a:extLst>
          </p:cNvPr>
          <p:cNvPicPr>
            <a:picLocks noGrp="1" noChangeAspect="1"/>
          </p:cNvPicPr>
          <p:nvPr>
            <p:ph idx="1"/>
          </p:nvPr>
        </p:nvPicPr>
        <p:blipFill>
          <a:blip r:embed="rId2"/>
          <a:stretch>
            <a:fillRect/>
          </a:stretch>
        </p:blipFill>
        <p:spPr>
          <a:xfrm>
            <a:off x="838201" y="365125"/>
            <a:ext cx="10515599" cy="5251904"/>
          </a:xfrm>
        </p:spPr>
      </p:pic>
    </p:spTree>
    <p:extLst>
      <p:ext uri="{BB962C8B-B14F-4D97-AF65-F5344CB8AC3E}">
        <p14:creationId xmlns:p14="http://schemas.microsoft.com/office/powerpoint/2010/main" val="23945042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84038-4FD6-46E5-A388-31CC610E209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66D682A-ED89-4646-8B9D-CFD1B49DE9C7}"/>
              </a:ext>
            </a:extLst>
          </p:cNvPr>
          <p:cNvPicPr>
            <a:picLocks noGrp="1" noChangeAspect="1"/>
          </p:cNvPicPr>
          <p:nvPr>
            <p:ph idx="1"/>
          </p:nvPr>
        </p:nvPicPr>
        <p:blipFill>
          <a:blip r:embed="rId2"/>
          <a:stretch>
            <a:fillRect/>
          </a:stretch>
        </p:blipFill>
        <p:spPr>
          <a:xfrm>
            <a:off x="946355" y="720436"/>
            <a:ext cx="10054154" cy="5527964"/>
          </a:xfrm>
        </p:spPr>
      </p:pic>
    </p:spTree>
    <p:extLst>
      <p:ext uri="{BB962C8B-B14F-4D97-AF65-F5344CB8AC3E}">
        <p14:creationId xmlns:p14="http://schemas.microsoft.com/office/powerpoint/2010/main" val="25384265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B1775-ACCE-4CD7-934F-EC26BBCAB01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E4C3494-B79D-4575-9239-80FB825FA815}"/>
              </a:ext>
            </a:extLst>
          </p:cNvPr>
          <p:cNvPicPr>
            <a:picLocks noGrp="1" noChangeAspect="1"/>
          </p:cNvPicPr>
          <p:nvPr>
            <p:ph idx="1"/>
          </p:nvPr>
        </p:nvPicPr>
        <p:blipFill>
          <a:blip r:embed="rId2"/>
          <a:stretch>
            <a:fillRect/>
          </a:stretch>
        </p:blipFill>
        <p:spPr>
          <a:xfrm>
            <a:off x="838200" y="769257"/>
            <a:ext cx="9858829" cy="5254172"/>
          </a:xfrm>
        </p:spPr>
      </p:pic>
    </p:spTree>
    <p:extLst>
      <p:ext uri="{BB962C8B-B14F-4D97-AF65-F5344CB8AC3E}">
        <p14:creationId xmlns:p14="http://schemas.microsoft.com/office/powerpoint/2010/main" val="16010098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86CF2-67B8-4640-9E50-C278FB4416D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4551575-E6DA-4BE8-9ACB-F6AF74B3034C}"/>
              </a:ext>
            </a:extLst>
          </p:cNvPr>
          <p:cNvPicPr>
            <a:picLocks noGrp="1" noChangeAspect="1"/>
          </p:cNvPicPr>
          <p:nvPr>
            <p:ph idx="1"/>
          </p:nvPr>
        </p:nvPicPr>
        <p:blipFill>
          <a:blip r:embed="rId2"/>
          <a:stretch>
            <a:fillRect/>
          </a:stretch>
        </p:blipFill>
        <p:spPr>
          <a:xfrm>
            <a:off x="1080655" y="1027906"/>
            <a:ext cx="9670473" cy="4045094"/>
          </a:xfrm>
        </p:spPr>
      </p:pic>
      <p:sp>
        <p:nvSpPr>
          <p:cNvPr id="7" name="TextBox 6">
            <a:extLst>
              <a:ext uri="{FF2B5EF4-FFF2-40B4-BE49-F238E27FC236}">
                <a16:creationId xmlns:a16="http://schemas.microsoft.com/office/drawing/2014/main" id="{E2260C33-DC04-49D2-9336-599D3869189A}"/>
              </a:ext>
            </a:extLst>
          </p:cNvPr>
          <p:cNvSpPr txBox="1"/>
          <p:nvPr/>
        </p:nvSpPr>
        <p:spPr>
          <a:xfrm>
            <a:off x="3754580" y="5504948"/>
            <a:ext cx="5126183" cy="461665"/>
          </a:xfrm>
          <a:prstGeom prst="rect">
            <a:avLst/>
          </a:prstGeom>
          <a:noFill/>
        </p:spPr>
        <p:txBody>
          <a:bodyPr wrap="square">
            <a:spAutoFit/>
          </a:bodyPr>
          <a:lstStyle/>
          <a:p>
            <a:r>
              <a:rPr lang="en-US" sz="2400" b="1" i="0" u="none" strike="noStrike" baseline="0" dirty="0">
                <a:solidFill>
                  <a:srgbClr val="231F20"/>
                </a:solidFill>
                <a:latin typeface="Cisco-Bold"/>
              </a:rPr>
              <a:t>Figure 4-17 </a:t>
            </a:r>
            <a:r>
              <a:rPr lang="en-US" sz="2400" b="0" i="1" u="none" strike="noStrike" baseline="0" dirty="0" err="1">
                <a:solidFill>
                  <a:srgbClr val="231F20"/>
                </a:solidFill>
                <a:latin typeface="CiscoSerif-Italic-Regular"/>
              </a:rPr>
              <a:t>LoRaWAN</a:t>
            </a:r>
            <a:r>
              <a:rPr lang="en-US" sz="2400" b="0" i="1" u="none" strike="noStrike" baseline="0" dirty="0">
                <a:solidFill>
                  <a:srgbClr val="231F20"/>
                </a:solidFill>
                <a:latin typeface="CiscoSerif-Italic-Regular"/>
              </a:rPr>
              <a:t> Architecture</a:t>
            </a:r>
            <a:endParaRPr lang="en-US" sz="2400" dirty="0"/>
          </a:p>
        </p:txBody>
      </p:sp>
    </p:spTree>
    <p:extLst>
      <p:ext uri="{BB962C8B-B14F-4D97-AF65-F5344CB8AC3E}">
        <p14:creationId xmlns:p14="http://schemas.microsoft.com/office/powerpoint/2010/main" val="40610253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4051-5B4B-4C9D-8CA8-748833E9AD2F}"/>
              </a:ext>
            </a:extLst>
          </p:cNvPr>
          <p:cNvSpPr>
            <a:spLocks noGrp="1"/>
          </p:cNvSpPr>
          <p:nvPr>
            <p:ph type="title"/>
          </p:nvPr>
        </p:nvSpPr>
        <p:spPr/>
        <p:txBody>
          <a:bodyPr/>
          <a:lstStyle/>
          <a:p>
            <a:r>
              <a:rPr lang="en-US" dirty="0"/>
              <a:t>MAC Layer</a:t>
            </a:r>
          </a:p>
        </p:txBody>
      </p:sp>
      <p:sp>
        <p:nvSpPr>
          <p:cNvPr id="3" name="Content Placeholder 2">
            <a:extLst>
              <a:ext uri="{FF2B5EF4-FFF2-40B4-BE49-F238E27FC236}">
                <a16:creationId xmlns:a16="http://schemas.microsoft.com/office/drawing/2014/main" id="{9ED807C8-B40D-4337-ADA3-69412703F8CE}"/>
              </a:ext>
            </a:extLst>
          </p:cNvPr>
          <p:cNvSpPr>
            <a:spLocks noGrp="1"/>
          </p:cNvSpPr>
          <p:nvPr>
            <p:ph idx="1"/>
          </p:nvPr>
        </p:nvSpPr>
        <p:spPr/>
        <p:txBody>
          <a:bodyPr>
            <a:normAutofit/>
          </a:bodyPr>
          <a:lstStyle/>
          <a:p>
            <a:r>
              <a:rPr lang="en-US" sz="2800" b="0" i="0" u="none" strike="noStrike" baseline="0" dirty="0">
                <a:solidFill>
                  <a:srgbClr val="231F20"/>
                </a:solidFill>
                <a:latin typeface="CiscoSerif-Regular"/>
              </a:rPr>
              <a:t>MAC layer is defined in 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specification</a:t>
            </a:r>
          </a:p>
          <a:p>
            <a:pPr algn="l"/>
            <a:r>
              <a:rPr lang="en-US" sz="2800" b="0" i="0" u="none" strike="noStrike" baseline="0" dirty="0">
                <a:solidFill>
                  <a:srgbClr val="231F20"/>
                </a:solidFill>
                <a:latin typeface="CiscoSerif-Regular"/>
              </a:rPr>
              <a:t>This layer takes advantage of the LoRa physical layer and classifies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endpoints to optimize their battery life and ensure downstream communications to 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endpoints.</a:t>
            </a:r>
          </a:p>
          <a:p>
            <a:pPr algn="l"/>
            <a:r>
              <a:rPr lang="en-US" sz="2800" b="0" i="0" u="none" strike="noStrike" baseline="0" dirty="0">
                <a:solidFill>
                  <a:srgbClr val="231F20"/>
                </a:solidFill>
                <a:latin typeface="CiscoSerif-Regular"/>
              </a:rPr>
              <a:t>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specification documents three classes of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devices:</a:t>
            </a:r>
          </a:p>
          <a:p>
            <a:pPr lvl="1"/>
            <a:r>
              <a:rPr lang="en-US" b="1" i="0" u="none" strike="noStrike" baseline="0" dirty="0">
                <a:solidFill>
                  <a:srgbClr val="231F20"/>
                </a:solidFill>
                <a:latin typeface="CiscoSerif-Bold"/>
              </a:rPr>
              <a:t>Class A: </a:t>
            </a:r>
            <a:r>
              <a:rPr lang="en-US" b="0" i="0" u="none" strike="noStrike" baseline="0" dirty="0">
                <a:solidFill>
                  <a:srgbClr val="231F20"/>
                </a:solidFill>
                <a:latin typeface="CiscoSerif-Regular"/>
              </a:rPr>
              <a:t>This class is the default implementation. Optimized for battery-powered nodes, it allows bidirectional communications, where a given node is able to receive downstream traffic after transmitting. Two receive windows are available after each transmission.</a:t>
            </a:r>
            <a:endParaRPr lang="en-US" dirty="0"/>
          </a:p>
        </p:txBody>
      </p:sp>
    </p:spTree>
    <p:extLst>
      <p:ext uri="{BB962C8B-B14F-4D97-AF65-F5344CB8AC3E}">
        <p14:creationId xmlns:p14="http://schemas.microsoft.com/office/powerpoint/2010/main" val="17652720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74051-5B4B-4C9D-8CA8-748833E9AD2F}"/>
              </a:ext>
            </a:extLst>
          </p:cNvPr>
          <p:cNvSpPr>
            <a:spLocks noGrp="1"/>
          </p:cNvSpPr>
          <p:nvPr>
            <p:ph type="title"/>
          </p:nvPr>
        </p:nvSpPr>
        <p:spPr>
          <a:xfrm>
            <a:off x="838200" y="82323"/>
            <a:ext cx="10515600" cy="1325563"/>
          </a:xfrm>
        </p:spPr>
        <p:txBody>
          <a:bodyPr/>
          <a:lstStyle/>
          <a:p>
            <a:r>
              <a:rPr lang="en-US" dirty="0"/>
              <a:t>MAC Layer</a:t>
            </a:r>
          </a:p>
        </p:txBody>
      </p:sp>
      <p:sp>
        <p:nvSpPr>
          <p:cNvPr id="3" name="Content Placeholder 2">
            <a:extLst>
              <a:ext uri="{FF2B5EF4-FFF2-40B4-BE49-F238E27FC236}">
                <a16:creationId xmlns:a16="http://schemas.microsoft.com/office/drawing/2014/main" id="{9ED807C8-B40D-4337-ADA3-69412703F8CE}"/>
              </a:ext>
            </a:extLst>
          </p:cNvPr>
          <p:cNvSpPr>
            <a:spLocks noGrp="1"/>
          </p:cNvSpPr>
          <p:nvPr>
            <p:ph idx="1"/>
          </p:nvPr>
        </p:nvSpPr>
        <p:spPr>
          <a:xfrm>
            <a:off x="838200" y="1207921"/>
            <a:ext cx="10515600" cy="4769077"/>
          </a:xfrm>
        </p:spPr>
        <p:txBody>
          <a:bodyPr>
            <a:normAutofit/>
          </a:bodyPr>
          <a:lstStyle/>
          <a:p>
            <a:pPr lvl="1"/>
            <a:r>
              <a:rPr lang="en-US" sz="2200" b="1" i="0" u="none" strike="noStrike" baseline="0" dirty="0">
                <a:solidFill>
                  <a:srgbClr val="231F20"/>
                </a:solidFill>
                <a:latin typeface="CiscoSerif-Bold"/>
              </a:rPr>
              <a:t>Class B: </a:t>
            </a:r>
            <a:r>
              <a:rPr lang="en-US" sz="2200" b="0" i="0" u="none" strike="noStrike" baseline="0" dirty="0">
                <a:solidFill>
                  <a:srgbClr val="231F20"/>
                </a:solidFill>
                <a:latin typeface="CiscoSerif-Regular"/>
              </a:rPr>
              <a:t>This class was designated “experimental” in </a:t>
            </a:r>
            <a:r>
              <a:rPr lang="en-US" sz="2200" b="0" i="0" u="none" strike="noStrike" baseline="0" dirty="0" err="1">
                <a:solidFill>
                  <a:srgbClr val="231F20"/>
                </a:solidFill>
                <a:latin typeface="CiscoSerif-Regular"/>
              </a:rPr>
              <a:t>LoRaWAN</a:t>
            </a:r>
            <a:r>
              <a:rPr lang="en-US" sz="2200" b="0" i="0" u="none" strike="noStrike" baseline="0" dirty="0">
                <a:solidFill>
                  <a:srgbClr val="231F20"/>
                </a:solidFill>
                <a:latin typeface="CiscoSerif-Regular"/>
              </a:rPr>
              <a:t> 1.0.1 until it can be better defined. A Class B node or endpoint should get additional receive windows compared to Class A, but gateways must be synchronized through a beaconing process.</a:t>
            </a:r>
          </a:p>
          <a:p>
            <a:pPr lvl="1"/>
            <a:r>
              <a:rPr lang="en-US" sz="2200" b="1" i="0" u="none" strike="noStrike" baseline="0" dirty="0">
                <a:solidFill>
                  <a:srgbClr val="231F20"/>
                </a:solidFill>
                <a:latin typeface="CiscoSerif-Bold"/>
              </a:rPr>
              <a:t>Class C: </a:t>
            </a:r>
            <a:r>
              <a:rPr lang="en-US" sz="2200" b="0" i="0" u="none" strike="noStrike" baseline="0" dirty="0">
                <a:solidFill>
                  <a:srgbClr val="231F20"/>
                </a:solidFill>
                <a:latin typeface="CiscoSerif-Regular"/>
              </a:rPr>
              <a:t>This class is particularly adapted for powered nodes. This classification enables a node to be continuously listening by keeping its receive window open when not transmitting</a:t>
            </a:r>
          </a:p>
          <a:p>
            <a:pPr algn="l"/>
            <a:r>
              <a:rPr lang="en-US" sz="2200" b="0" i="0" u="none" strike="noStrike" baseline="0" dirty="0" err="1">
                <a:solidFill>
                  <a:srgbClr val="231F20"/>
                </a:solidFill>
                <a:latin typeface="CiscoSerif-Regular"/>
              </a:rPr>
              <a:t>LoRaWAN</a:t>
            </a:r>
            <a:r>
              <a:rPr lang="en-US" sz="2200" b="0" i="0" u="none" strike="noStrike" baseline="0" dirty="0">
                <a:solidFill>
                  <a:srgbClr val="231F20"/>
                </a:solidFill>
                <a:latin typeface="CiscoSerif-Regular"/>
              </a:rPr>
              <a:t> messages, either uplink or downlink, have a PHY payload composed of a 1-byte MAC header, a variable-byte MAC payload, and a MIC that is 4 bytes in length. The MAC payload size depends on the frequency band and the data rate, ranging from 59 to 230 bytes for the 863–870 MHz band and 19 to 250 bytes for the 902–928 MHz band. Figure 4-16 shows a high-level </a:t>
            </a:r>
            <a:r>
              <a:rPr lang="en-US" sz="2200" b="0" i="0" u="none" strike="noStrike" baseline="0" dirty="0" err="1">
                <a:solidFill>
                  <a:srgbClr val="231F20"/>
                </a:solidFill>
                <a:latin typeface="CiscoSerif-Regular"/>
              </a:rPr>
              <a:t>LoRaWAN</a:t>
            </a:r>
            <a:r>
              <a:rPr lang="en-US" sz="2200" b="0" i="0" u="none" strike="noStrike" baseline="0" dirty="0">
                <a:solidFill>
                  <a:srgbClr val="231F20"/>
                </a:solidFill>
                <a:latin typeface="CiscoSerif-Regular"/>
              </a:rPr>
              <a:t> MAC frame format</a:t>
            </a:r>
          </a:p>
          <a:p>
            <a:pPr algn="l"/>
            <a:endParaRPr lang="en-US" dirty="0">
              <a:solidFill>
                <a:srgbClr val="231F20"/>
              </a:solidFill>
              <a:latin typeface="CiscoSerif-Regular"/>
            </a:endParaRPr>
          </a:p>
          <a:p>
            <a:pPr algn="l"/>
            <a:endParaRPr lang="en-US" sz="2800" b="0" i="0" u="none" strike="noStrike" baseline="0" dirty="0">
              <a:solidFill>
                <a:srgbClr val="231F20"/>
              </a:solidFill>
              <a:latin typeface="CiscoSerif-Regular"/>
            </a:endParaRPr>
          </a:p>
          <a:p>
            <a:pPr marL="0" indent="0" algn="l">
              <a:buNone/>
            </a:pPr>
            <a:endParaRPr lang="en-US" sz="2800" b="0" i="0" u="none" strike="noStrike" baseline="0" dirty="0">
              <a:solidFill>
                <a:srgbClr val="231F20"/>
              </a:solidFill>
              <a:latin typeface="CiscoSerif-Regular"/>
            </a:endParaRPr>
          </a:p>
          <a:p>
            <a:pPr algn="l"/>
            <a:endParaRPr lang="en-US" b="0" i="0" u="none" strike="noStrike" baseline="0" dirty="0">
              <a:solidFill>
                <a:srgbClr val="231F20"/>
              </a:solidFill>
              <a:latin typeface="CiscoSerif-Regular"/>
            </a:endParaRPr>
          </a:p>
        </p:txBody>
      </p:sp>
      <p:pic>
        <p:nvPicPr>
          <p:cNvPr id="5" name="Picture 4">
            <a:extLst>
              <a:ext uri="{FF2B5EF4-FFF2-40B4-BE49-F238E27FC236}">
                <a16:creationId xmlns:a16="http://schemas.microsoft.com/office/drawing/2014/main" id="{2482E48F-EB21-48FB-97DE-60713A218728}"/>
              </a:ext>
            </a:extLst>
          </p:cNvPr>
          <p:cNvPicPr>
            <a:picLocks noChangeAspect="1"/>
          </p:cNvPicPr>
          <p:nvPr/>
        </p:nvPicPr>
        <p:blipFill>
          <a:blip r:embed="rId2"/>
          <a:stretch>
            <a:fillRect/>
          </a:stretch>
        </p:blipFill>
        <p:spPr>
          <a:xfrm>
            <a:off x="3762499" y="5028334"/>
            <a:ext cx="6531429" cy="1492249"/>
          </a:xfrm>
          <a:prstGeom prst="rect">
            <a:avLst/>
          </a:prstGeom>
        </p:spPr>
      </p:pic>
    </p:spTree>
    <p:extLst>
      <p:ext uri="{BB962C8B-B14F-4D97-AF65-F5344CB8AC3E}">
        <p14:creationId xmlns:p14="http://schemas.microsoft.com/office/powerpoint/2010/main" val="363296703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C288-E107-4207-B91C-A0AFBC28871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B2E6486-C5FB-4DC1-B079-699F51E4C876}"/>
              </a:ext>
            </a:extLst>
          </p:cNvPr>
          <p:cNvPicPr>
            <a:picLocks noGrp="1" noChangeAspect="1"/>
          </p:cNvPicPr>
          <p:nvPr>
            <p:ph idx="1"/>
          </p:nvPr>
        </p:nvPicPr>
        <p:blipFill>
          <a:blip r:embed="rId2"/>
          <a:stretch>
            <a:fillRect/>
          </a:stretch>
        </p:blipFill>
        <p:spPr>
          <a:xfrm>
            <a:off x="1001486" y="769257"/>
            <a:ext cx="10247085" cy="5021943"/>
          </a:xfrm>
        </p:spPr>
      </p:pic>
    </p:spTree>
    <p:extLst>
      <p:ext uri="{BB962C8B-B14F-4D97-AF65-F5344CB8AC3E}">
        <p14:creationId xmlns:p14="http://schemas.microsoft.com/office/powerpoint/2010/main" val="36310581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AC89-DF10-4EAC-A7A4-2999B6F3FBA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23BC6A4-7848-4CF9-B371-F4BA66C9DC64}"/>
              </a:ext>
            </a:extLst>
          </p:cNvPr>
          <p:cNvPicPr>
            <a:picLocks noGrp="1" noChangeAspect="1"/>
          </p:cNvPicPr>
          <p:nvPr>
            <p:ph idx="1"/>
          </p:nvPr>
        </p:nvPicPr>
        <p:blipFill>
          <a:blip r:embed="rId2"/>
          <a:stretch>
            <a:fillRect/>
          </a:stretch>
        </p:blipFill>
        <p:spPr>
          <a:xfrm>
            <a:off x="838200" y="827313"/>
            <a:ext cx="10250714" cy="5109029"/>
          </a:xfrm>
        </p:spPr>
      </p:pic>
    </p:spTree>
    <p:extLst>
      <p:ext uri="{BB962C8B-B14F-4D97-AF65-F5344CB8AC3E}">
        <p14:creationId xmlns:p14="http://schemas.microsoft.com/office/powerpoint/2010/main" val="15419389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8B6C-3DF4-4330-8B5D-B87433D7F06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A2C4EC6-C2A2-4466-B5F3-8CD5EC09252C}"/>
              </a:ext>
            </a:extLst>
          </p:cNvPr>
          <p:cNvPicPr>
            <a:picLocks noGrp="1" noChangeAspect="1"/>
          </p:cNvPicPr>
          <p:nvPr>
            <p:ph idx="1"/>
          </p:nvPr>
        </p:nvPicPr>
        <p:blipFill>
          <a:blip r:embed="rId2"/>
          <a:stretch>
            <a:fillRect/>
          </a:stretch>
        </p:blipFill>
        <p:spPr>
          <a:xfrm>
            <a:off x="1074057" y="638629"/>
            <a:ext cx="9913257" cy="5167085"/>
          </a:xfrm>
        </p:spPr>
      </p:pic>
    </p:spTree>
    <p:extLst>
      <p:ext uri="{BB962C8B-B14F-4D97-AF65-F5344CB8AC3E}">
        <p14:creationId xmlns:p14="http://schemas.microsoft.com/office/powerpoint/2010/main" val="42712562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9E231-9CF9-4293-B14A-DC337C9561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666173-39BE-49C9-8929-FDF995FF2FE5}"/>
              </a:ext>
            </a:extLst>
          </p:cNvPr>
          <p:cNvSpPr>
            <a:spLocks noGrp="1"/>
          </p:cNvSpPr>
          <p:nvPr>
            <p:ph idx="1"/>
          </p:nvPr>
        </p:nvSpPr>
        <p:spPr/>
        <p:txBody>
          <a:bodyPr>
            <a:normAutofit/>
          </a:bodyPr>
          <a:lstStyle/>
          <a:p>
            <a:pPr algn="l"/>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endpoints are uniquely addressable through a variety of methods, including the following:</a:t>
            </a:r>
          </a:p>
          <a:p>
            <a:pPr lvl="1"/>
            <a:r>
              <a:rPr lang="en-US" b="0" i="0" u="none" strike="noStrike" baseline="0" dirty="0">
                <a:solidFill>
                  <a:srgbClr val="231F20"/>
                </a:solidFill>
                <a:latin typeface="CiscoSerif-Regular"/>
              </a:rPr>
              <a:t>An endpoint can have a global end device ID or </a:t>
            </a:r>
            <a:r>
              <a:rPr lang="en-US" b="0" i="0" u="none" strike="noStrike" baseline="0" dirty="0" err="1">
                <a:solidFill>
                  <a:srgbClr val="231F20"/>
                </a:solidFill>
                <a:latin typeface="CiscoSerif-Regular"/>
              </a:rPr>
              <a:t>DevEUI</a:t>
            </a:r>
            <a:r>
              <a:rPr lang="en-US" b="0" i="0" u="none" strike="noStrike" baseline="0" dirty="0">
                <a:solidFill>
                  <a:srgbClr val="231F20"/>
                </a:solidFill>
                <a:latin typeface="CiscoSerif-Regular"/>
              </a:rPr>
              <a:t> represented as an IEEE EUI-64 address.</a:t>
            </a:r>
          </a:p>
          <a:p>
            <a:pPr lvl="1"/>
            <a:r>
              <a:rPr lang="en-US" b="0" i="0" u="none" strike="noStrike" baseline="0" dirty="0">
                <a:solidFill>
                  <a:srgbClr val="231F20"/>
                </a:solidFill>
                <a:latin typeface="CiscoSerif-Regular"/>
              </a:rPr>
              <a:t>An endpoint can have a global application ID or </a:t>
            </a:r>
            <a:r>
              <a:rPr lang="en-US" b="0" i="0" u="none" strike="noStrike" baseline="0" dirty="0" err="1">
                <a:solidFill>
                  <a:srgbClr val="231F20"/>
                </a:solidFill>
                <a:latin typeface="CiscoSerif-Regular"/>
              </a:rPr>
              <a:t>AppEUI</a:t>
            </a:r>
            <a:r>
              <a:rPr lang="en-US" b="0" i="0" u="none" strike="noStrike" baseline="0" dirty="0">
                <a:solidFill>
                  <a:srgbClr val="231F20"/>
                </a:solidFill>
                <a:latin typeface="CiscoSerif-Regular"/>
              </a:rPr>
              <a:t> represented as an IEEE EUI-64 address that uniquely identifies the application provider, such as the owner, of the end device.</a:t>
            </a:r>
          </a:p>
          <a:p>
            <a:pPr lvl="1"/>
            <a:r>
              <a:rPr lang="en-US" b="0" i="0" u="none" strike="noStrike" baseline="0" dirty="0">
                <a:solidFill>
                  <a:srgbClr val="231F20"/>
                </a:solidFill>
                <a:latin typeface="CiscoSerif-Regular"/>
              </a:rPr>
              <a:t>In a </a:t>
            </a:r>
            <a:r>
              <a:rPr lang="en-US" b="0" i="0" u="none" strike="noStrike" baseline="0" dirty="0" err="1">
                <a:solidFill>
                  <a:srgbClr val="231F20"/>
                </a:solidFill>
                <a:latin typeface="CiscoSerif-Regular"/>
              </a:rPr>
              <a:t>LoRaWAN</a:t>
            </a:r>
            <a:r>
              <a:rPr lang="en-US" b="0" i="0" u="none" strike="noStrike" baseline="0" dirty="0">
                <a:solidFill>
                  <a:srgbClr val="231F20"/>
                </a:solidFill>
                <a:latin typeface="CiscoSerif-Regular"/>
              </a:rPr>
              <a:t> network, endpoints are also known by their end device address, known as a </a:t>
            </a:r>
            <a:r>
              <a:rPr lang="en-US" b="0" i="0" u="none" strike="noStrike" baseline="0" dirty="0" err="1">
                <a:solidFill>
                  <a:srgbClr val="231F20"/>
                </a:solidFill>
                <a:latin typeface="CiscoSerif-Regular"/>
              </a:rPr>
              <a:t>DevAddr</a:t>
            </a:r>
            <a:r>
              <a:rPr lang="en-US" b="0" i="0" u="none" strike="noStrike" baseline="0" dirty="0">
                <a:solidFill>
                  <a:srgbClr val="231F20"/>
                </a:solidFill>
                <a:latin typeface="CiscoSerif-Regular"/>
              </a:rPr>
              <a:t>, a 32-bit address. The 7 most significant bits are the network identifier (</a:t>
            </a:r>
            <a:r>
              <a:rPr lang="en-US" b="0" i="0" u="none" strike="noStrike" baseline="0" dirty="0" err="1">
                <a:solidFill>
                  <a:srgbClr val="231F20"/>
                </a:solidFill>
                <a:latin typeface="CiscoSerif-Regular"/>
              </a:rPr>
              <a:t>NwkID</a:t>
            </a:r>
            <a:r>
              <a:rPr lang="en-US" b="0" i="0" u="none" strike="noStrike" baseline="0" dirty="0">
                <a:solidFill>
                  <a:srgbClr val="231F20"/>
                </a:solidFill>
                <a:latin typeface="CiscoSerif-Regular"/>
              </a:rPr>
              <a:t>), which identifies the </a:t>
            </a:r>
            <a:r>
              <a:rPr lang="en-US" b="0" i="0" u="none" strike="noStrike" baseline="0" dirty="0" err="1">
                <a:solidFill>
                  <a:srgbClr val="231F20"/>
                </a:solidFill>
                <a:latin typeface="CiscoSerif-Regular"/>
              </a:rPr>
              <a:t>LoRaWAN</a:t>
            </a:r>
            <a:r>
              <a:rPr lang="en-US" b="0" i="0" u="none" strike="noStrike" baseline="0" dirty="0">
                <a:solidFill>
                  <a:srgbClr val="231F20"/>
                </a:solidFill>
                <a:latin typeface="CiscoSerif-Regular"/>
              </a:rPr>
              <a:t> network. The 25 least significant bits are used as the network address (</a:t>
            </a:r>
            <a:r>
              <a:rPr lang="en-US" b="0" i="0" u="none" strike="noStrike" baseline="0" dirty="0" err="1">
                <a:solidFill>
                  <a:srgbClr val="231F20"/>
                </a:solidFill>
                <a:latin typeface="CiscoSerif-Regular"/>
              </a:rPr>
              <a:t>NwkAddr</a:t>
            </a:r>
            <a:r>
              <a:rPr lang="en-US" b="0" i="0" u="none" strike="noStrike" baseline="0" dirty="0">
                <a:solidFill>
                  <a:srgbClr val="231F20"/>
                </a:solidFill>
                <a:latin typeface="CiscoSerif-Regular"/>
              </a:rPr>
              <a:t>) to identify the endpoint in the network.</a:t>
            </a:r>
            <a:endParaRPr lang="en-US" dirty="0"/>
          </a:p>
        </p:txBody>
      </p:sp>
    </p:spTree>
    <p:extLst>
      <p:ext uri="{BB962C8B-B14F-4D97-AF65-F5344CB8AC3E}">
        <p14:creationId xmlns:p14="http://schemas.microsoft.com/office/powerpoint/2010/main" val="111052036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DCC5-1E30-4C38-A3D7-0FBEA4A6501F}"/>
              </a:ext>
            </a:extLst>
          </p:cNvPr>
          <p:cNvSpPr>
            <a:spLocks noGrp="1"/>
          </p:cNvSpPr>
          <p:nvPr>
            <p:ph type="title"/>
          </p:nvPr>
        </p:nvSpPr>
        <p:spPr/>
        <p:txBody>
          <a:bodyPr/>
          <a:lstStyle/>
          <a:p>
            <a:r>
              <a:rPr lang="en-US" dirty="0"/>
              <a:t>Device Activation</a:t>
            </a:r>
          </a:p>
        </p:txBody>
      </p:sp>
      <p:sp>
        <p:nvSpPr>
          <p:cNvPr id="3" name="Content Placeholder 2">
            <a:extLst>
              <a:ext uri="{FF2B5EF4-FFF2-40B4-BE49-F238E27FC236}">
                <a16:creationId xmlns:a16="http://schemas.microsoft.com/office/drawing/2014/main" id="{F9CF0C54-240A-4A45-8592-550740BC7490}"/>
              </a:ext>
            </a:extLst>
          </p:cNvPr>
          <p:cNvSpPr>
            <a:spLocks noGrp="1"/>
          </p:cNvSpPr>
          <p:nvPr>
            <p:ph idx="1"/>
          </p:nvPr>
        </p:nvSpPr>
        <p:spPr/>
        <p:txBody>
          <a:bodyPr>
            <a:normAutofit fontScale="85000" lnSpcReduction="20000"/>
          </a:bodyPr>
          <a:lstStyle/>
          <a:p>
            <a:pPr algn="l"/>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endpoints attached to a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network must get registered and authenticated. This can be achieved through one of the two join mechanisms:</a:t>
            </a:r>
          </a:p>
          <a:p>
            <a:pPr algn="l"/>
            <a:r>
              <a:rPr lang="en-US" sz="2800" b="1" i="0" u="none" strike="noStrike" baseline="0" dirty="0">
                <a:solidFill>
                  <a:srgbClr val="231F20"/>
                </a:solidFill>
                <a:latin typeface="CiscoSerif-Bold"/>
              </a:rPr>
              <a:t>Activation by personalization (ABP): </a:t>
            </a:r>
            <a:r>
              <a:rPr lang="en-US" sz="2800" b="0" i="0" u="none" strike="noStrike" baseline="0" dirty="0">
                <a:solidFill>
                  <a:srgbClr val="231F20"/>
                </a:solidFill>
                <a:latin typeface="CiscoSerif-Regular"/>
              </a:rPr>
              <a:t>Endpoints don’t need to run a join procedure as their individual details, including </a:t>
            </a:r>
            <a:r>
              <a:rPr lang="en-US" sz="2800" b="0" i="0" u="none" strike="noStrike" baseline="0" dirty="0" err="1">
                <a:solidFill>
                  <a:srgbClr val="231F20"/>
                </a:solidFill>
                <a:latin typeface="CiscoSerif-Regular"/>
              </a:rPr>
              <a:t>DevAddr</a:t>
            </a:r>
            <a:r>
              <a:rPr lang="en-US" sz="2800" b="0" i="0" u="none" strike="noStrike" baseline="0" dirty="0">
                <a:solidFill>
                  <a:srgbClr val="231F20"/>
                </a:solidFill>
                <a:latin typeface="CiscoSerif-Regular"/>
              </a:rPr>
              <a:t> and the </a:t>
            </a:r>
            <a:r>
              <a:rPr lang="en-US" sz="2800" b="0" i="0" u="none" strike="noStrike" baseline="0" dirty="0" err="1">
                <a:solidFill>
                  <a:srgbClr val="231F20"/>
                </a:solidFill>
                <a:latin typeface="CiscoSerif-Regular"/>
              </a:rPr>
              <a:t>NwkSKey</a:t>
            </a:r>
            <a:r>
              <a:rPr lang="en-US" sz="2800" b="0" i="0" u="none" strike="noStrike" baseline="0" dirty="0">
                <a:solidFill>
                  <a:srgbClr val="231F20"/>
                </a:solidFill>
                <a:latin typeface="CiscoSerif-Regular"/>
              </a:rPr>
              <a:t> and </a:t>
            </a:r>
            <a:r>
              <a:rPr lang="en-US" sz="2800" b="0" i="0" u="none" strike="noStrike" baseline="0" dirty="0" err="1">
                <a:solidFill>
                  <a:srgbClr val="231F20"/>
                </a:solidFill>
                <a:latin typeface="CiscoSerif-Regular"/>
              </a:rPr>
              <a:t>AppSKey</a:t>
            </a:r>
            <a:r>
              <a:rPr lang="en-US" sz="2800" b="0" i="0" u="none" strike="noStrike" baseline="0" dirty="0">
                <a:solidFill>
                  <a:srgbClr val="231F20"/>
                </a:solidFill>
                <a:latin typeface="CiscoSerif-Regular"/>
              </a:rPr>
              <a:t> session keys, are preconfigured and stored in the end device. This same information is registered in the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network server.</a:t>
            </a:r>
          </a:p>
          <a:p>
            <a:pPr algn="l"/>
            <a:r>
              <a:rPr lang="en-US" sz="2800" b="1" i="0" u="none" strike="noStrike" baseline="0" dirty="0">
                <a:solidFill>
                  <a:srgbClr val="231F20"/>
                </a:solidFill>
                <a:latin typeface="CiscoSerif-Bold"/>
              </a:rPr>
              <a:t>Over-the-air activation (OTAA): </a:t>
            </a:r>
            <a:r>
              <a:rPr lang="en-US" sz="2800" b="0" i="0" u="none" strike="noStrike" baseline="0" dirty="0">
                <a:solidFill>
                  <a:srgbClr val="231F20"/>
                </a:solidFill>
                <a:latin typeface="CiscoSerif-Regular"/>
              </a:rPr>
              <a:t>Endpoints are allowed to dynamically join a particular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network after successfully going through a join procedure. The join procedure must be done every time a session context is renewed. During the join process, which involves the sending and receiving of MAC layer join request and join accept messages, the node establishes its credentials with a </a:t>
            </a:r>
            <a:r>
              <a:rPr lang="en-US" sz="2800" b="0" i="0" u="none" strike="noStrike" baseline="0" dirty="0" err="1">
                <a:solidFill>
                  <a:srgbClr val="231F20"/>
                </a:solidFill>
                <a:latin typeface="CiscoSerif-Regular"/>
              </a:rPr>
              <a:t>LoRaWAN</a:t>
            </a:r>
            <a:r>
              <a:rPr lang="en-US" sz="2800" b="0" i="0" u="none" strike="noStrike" baseline="0" dirty="0">
                <a:solidFill>
                  <a:srgbClr val="231F20"/>
                </a:solidFill>
                <a:latin typeface="CiscoSerif-Regular"/>
              </a:rPr>
              <a:t> network server, exchanging its globally unique </a:t>
            </a:r>
            <a:r>
              <a:rPr lang="en-US" sz="2800" b="0" i="0" u="none" strike="noStrike" baseline="0" dirty="0" err="1">
                <a:solidFill>
                  <a:srgbClr val="231F20"/>
                </a:solidFill>
                <a:latin typeface="CiscoSerif-Regular"/>
              </a:rPr>
              <a:t>DevEUI</a:t>
            </a:r>
            <a:r>
              <a:rPr lang="en-US" sz="2800" b="0" i="0" u="none" strike="noStrike" baseline="0" dirty="0">
                <a:solidFill>
                  <a:srgbClr val="231F20"/>
                </a:solidFill>
                <a:latin typeface="CiscoSerif-Regular"/>
              </a:rPr>
              <a:t>, </a:t>
            </a:r>
            <a:r>
              <a:rPr lang="en-US" sz="2800" b="0" i="0" u="none" strike="noStrike" baseline="0" dirty="0" err="1">
                <a:solidFill>
                  <a:srgbClr val="231F20"/>
                </a:solidFill>
                <a:latin typeface="CiscoSerif-Regular"/>
              </a:rPr>
              <a:t>AppEUI</a:t>
            </a:r>
            <a:r>
              <a:rPr lang="en-US" sz="2800" b="0" i="0" u="none" strike="noStrike" baseline="0" dirty="0">
                <a:solidFill>
                  <a:srgbClr val="231F20"/>
                </a:solidFill>
                <a:latin typeface="CiscoSerif-Regular"/>
              </a:rPr>
              <a:t>, and </a:t>
            </a:r>
            <a:r>
              <a:rPr lang="en-US" sz="2800" b="0" i="0" u="none" strike="noStrike" baseline="0" dirty="0" err="1">
                <a:solidFill>
                  <a:srgbClr val="231F20"/>
                </a:solidFill>
                <a:latin typeface="CiscoSerif-Regular"/>
              </a:rPr>
              <a:t>AppKey</a:t>
            </a:r>
            <a:r>
              <a:rPr lang="en-US" sz="2800" b="0" i="0" u="none" strike="noStrike" baseline="0" dirty="0">
                <a:solidFill>
                  <a:srgbClr val="231F20"/>
                </a:solidFill>
                <a:latin typeface="CiscoSerif-Regular"/>
              </a:rPr>
              <a:t>. The </a:t>
            </a:r>
            <a:r>
              <a:rPr lang="en-US" sz="2800" b="0" i="0" u="none" strike="noStrike" baseline="0" dirty="0" err="1">
                <a:solidFill>
                  <a:srgbClr val="231F20"/>
                </a:solidFill>
                <a:latin typeface="CiscoSerif-Regular"/>
              </a:rPr>
              <a:t>AppKey</a:t>
            </a:r>
            <a:r>
              <a:rPr lang="en-US" dirty="0">
                <a:solidFill>
                  <a:srgbClr val="231F20"/>
                </a:solidFill>
                <a:latin typeface="CiscoSerif-Regular"/>
              </a:rPr>
              <a:t> </a:t>
            </a:r>
            <a:r>
              <a:rPr lang="en-US" sz="2800" b="0" i="0" u="none" strike="noStrike" baseline="0" dirty="0">
                <a:solidFill>
                  <a:srgbClr val="231F20"/>
                </a:solidFill>
                <a:latin typeface="CiscoSerif-Regular"/>
              </a:rPr>
              <a:t>is then used to derive the session </a:t>
            </a:r>
            <a:r>
              <a:rPr lang="en-US" sz="2800" b="0" i="0" u="none" strike="noStrike" baseline="0" dirty="0" err="1">
                <a:solidFill>
                  <a:srgbClr val="231F20"/>
                </a:solidFill>
                <a:latin typeface="CiscoSerif-Regular"/>
              </a:rPr>
              <a:t>NwkSKey</a:t>
            </a:r>
            <a:r>
              <a:rPr lang="en-US" sz="2800" b="0" i="0" u="none" strike="noStrike" baseline="0" dirty="0">
                <a:solidFill>
                  <a:srgbClr val="231F20"/>
                </a:solidFill>
                <a:latin typeface="CiscoSerif-Regular"/>
              </a:rPr>
              <a:t> and </a:t>
            </a:r>
            <a:r>
              <a:rPr lang="en-US" sz="2800" b="0" i="0" u="none" strike="noStrike" baseline="0" dirty="0" err="1">
                <a:solidFill>
                  <a:srgbClr val="231F20"/>
                </a:solidFill>
                <a:latin typeface="CiscoSerif-Regular"/>
              </a:rPr>
              <a:t>AppSKey</a:t>
            </a:r>
            <a:r>
              <a:rPr lang="en-US" sz="2800" b="0" i="0" u="none" strike="noStrike" baseline="0" dirty="0">
                <a:solidFill>
                  <a:srgbClr val="231F20"/>
                </a:solidFill>
                <a:latin typeface="CiscoSerif-Regular"/>
              </a:rPr>
              <a:t> keys.</a:t>
            </a:r>
            <a:endParaRPr lang="en-US" dirty="0"/>
          </a:p>
        </p:txBody>
      </p:sp>
    </p:spTree>
    <p:extLst>
      <p:ext uri="{BB962C8B-B14F-4D97-AF65-F5344CB8AC3E}">
        <p14:creationId xmlns:p14="http://schemas.microsoft.com/office/powerpoint/2010/main" val="159462537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C6FB3-2897-49A6-B6D4-260E4FD1BE6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B0434252-A858-4B94-B3D5-F6D11751ED4F}"/>
              </a:ext>
            </a:extLst>
          </p:cNvPr>
          <p:cNvPicPr>
            <a:picLocks noGrp="1" noChangeAspect="1"/>
          </p:cNvPicPr>
          <p:nvPr>
            <p:ph idx="1"/>
          </p:nvPr>
        </p:nvPicPr>
        <p:blipFill>
          <a:blip r:embed="rId2"/>
          <a:stretch>
            <a:fillRect/>
          </a:stretch>
        </p:blipFill>
        <p:spPr>
          <a:xfrm>
            <a:off x="838200" y="365125"/>
            <a:ext cx="10515600" cy="5811838"/>
          </a:xfrm>
        </p:spPr>
      </p:pic>
    </p:spTree>
    <p:extLst>
      <p:ext uri="{BB962C8B-B14F-4D97-AF65-F5344CB8AC3E}">
        <p14:creationId xmlns:p14="http://schemas.microsoft.com/office/powerpoint/2010/main" val="25113968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51ACB-7FCF-4AAE-BF94-9818B3412FB4}"/>
              </a:ext>
            </a:extLst>
          </p:cNvPr>
          <p:cNvSpPr>
            <a:spLocks noGrp="1"/>
          </p:cNvSpPr>
          <p:nvPr>
            <p:ph type="title"/>
          </p:nvPr>
        </p:nvSpPr>
        <p:spPr/>
        <p:txBody>
          <a:bodyPr/>
          <a:lstStyle/>
          <a:p>
            <a:r>
              <a:rPr lang="en-US" dirty="0"/>
              <a:t>NB-IoT and Other LTE Variations</a:t>
            </a:r>
          </a:p>
        </p:txBody>
      </p:sp>
      <p:sp>
        <p:nvSpPr>
          <p:cNvPr id="3" name="Content Placeholder 2">
            <a:extLst>
              <a:ext uri="{FF2B5EF4-FFF2-40B4-BE49-F238E27FC236}">
                <a16:creationId xmlns:a16="http://schemas.microsoft.com/office/drawing/2014/main" id="{A4960345-6DCF-4F23-A0AA-BF1492332A73}"/>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Existing cellular technologies, such as GPRS, Edge, 3G, and 4G/LTE, are not particularly well adapted to battery-powered devices and small objects specifically developed for then Internet of Things</a:t>
            </a:r>
          </a:p>
          <a:p>
            <a:pPr algn="l"/>
            <a:r>
              <a:rPr lang="en-US" sz="2800" b="0" i="0" u="none" strike="noStrike" baseline="0" dirty="0">
                <a:solidFill>
                  <a:srgbClr val="231F20"/>
                </a:solidFill>
                <a:latin typeface="CiscoSerif-Regular"/>
              </a:rPr>
              <a:t>While industry players have been developing unlicensed-band LPWA technologies, 3rd Generation Partnership Project (3GPP) and associated vendors have been working on evolving cellular technologies to better address IoT requirements</a:t>
            </a:r>
          </a:p>
          <a:p>
            <a:pPr algn="l"/>
            <a:r>
              <a:rPr lang="en-US" sz="2800" b="0" i="0" u="none" strike="noStrike" baseline="0" dirty="0">
                <a:solidFill>
                  <a:srgbClr val="231F20"/>
                </a:solidFill>
                <a:latin typeface="CiscoSerif-Regular"/>
              </a:rPr>
              <a:t>The aim was to both align with specific IoT requirements, such as low throughput and low power consumption, and decrease the complexity and cost of the LTE devices</a:t>
            </a:r>
          </a:p>
          <a:p>
            <a:pPr algn="l"/>
            <a:r>
              <a:rPr lang="en-US" sz="2800" b="0" i="0" u="none" strike="noStrike" baseline="0" dirty="0">
                <a:solidFill>
                  <a:srgbClr val="231F20"/>
                </a:solidFill>
                <a:latin typeface="CiscoSerif-Regular"/>
              </a:rPr>
              <a:t>NB-IoT specifically addresses the requirements of a massive number of low-throughput devices, low device power consumption, improved indoor coverage, and optimized network architecture</a:t>
            </a:r>
            <a:endParaRPr lang="en-US" dirty="0"/>
          </a:p>
        </p:txBody>
      </p:sp>
    </p:spTree>
    <p:extLst>
      <p:ext uri="{BB962C8B-B14F-4D97-AF65-F5344CB8AC3E}">
        <p14:creationId xmlns:p14="http://schemas.microsoft.com/office/powerpoint/2010/main" val="17869890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FA2D-C501-4FAB-B0B8-F36EDC26665D}"/>
              </a:ext>
            </a:extLst>
          </p:cNvPr>
          <p:cNvSpPr>
            <a:spLocks noGrp="1"/>
          </p:cNvSpPr>
          <p:nvPr>
            <p:ph type="title"/>
          </p:nvPr>
        </p:nvSpPr>
        <p:spPr/>
        <p:txBody>
          <a:bodyPr/>
          <a:lstStyle/>
          <a:p>
            <a:r>
              <a:rPr lang="en-US" dirty="0"/>
              <a:t>NB-IoT</a:t>
            </a:r>
          </a:p>
        </p:txBody>
      </p:sp>
      <p:sp>
        <p:nvSpPr>
          <p:cNvPr id="3" name="Content Placeholder 2">
            <a:extLst>
              <a:ext uri="{FF2B5EF4-FFF2-40B4-BE49-F238E27FC236}">
                <a16:creationId xmlns:a16="http://schemas.microsoft.com/office/drawing/2014/main" id="{7DC71FCD-BA5B-4D44-8C3C-70F50A639DD2}"/>
              </a:ext>
            </a:extLst>
          </p:cNvPr>
          <p:cNvSpPr>
            <a:spLocks noGrp="1"/>
          </p:cNvSpPr>
          <p:nvPr>
            <p:ph idx="1"/>
          </p:nvPr>
        </p:nvSpPr>
        <p:spPr/>
        <p:txBody>
          <a:bodyPr>
            <a:normAutofit fontScale="92500" lnSpcReduction="20000"/>
          </a:bodyPr>
          <a:lstStyle/>
          <a:p>
            <a:pPr algn="l"/>
            <a:r>
              <a:rPr lang="en-US" sz="2800" b="0" i="0" u="none" strike="noStrike" baseline="0" dirty="0">
                <a:solidFill>
                  <a:srgbClr val="231F20"/>
                </a:solidFill>
                <a:latin typeface="CiscoSerif-Regular"/>
              </a:rPr>
              <a:t>Definition of new  Long-Term Evolution (LTE) device categories was not sufficient to support LPWA IoT requirement, 3GPP specified Narrowband IoT (NB-IoT)</a:t>
            </a:r>
          </a:p>
          <a:p>
            <a:pPr algn="l"/>
            <a:r>
              <a:rPr lang="en-US" sz="2800" b="0" i="0" u="none" strike="noStrike" baseline="0" dirty="0">
                <a:solidFill>
                  <a:srgbClr val="231F20"/>
                </a:solidFill>
                <a:latin typeface="CiscoSerif-Regular"/>
              </a:rPr>
              <a:t>Three modes of operation are applicable to NB-IoT:</a:t>
            </a:r>
          </a:p>
          <a:p>
            <a:pPr lvl="1"/>
            <a:r>
              <a:rPr lang="en-US" b="1" i="0" u="none" strike="noStrike" baseline="0" dirty="0">
                <a:solidFill>
                  <a:srgbClr val="231F20"/>
                </a:solidFill>
                <a:latin typeface="CiscoSerif-Bold"/>
              </a:rPr>
              <a:t>Standalone: </a:t>
            </a:r>
            <a:r>
              <a:rPr lang="en-US" b="0" i="0" u="none" strike="noStrike" baseline="0" dirty="0">
                <a:solidFill>
                  <a:srgbClr val="231F20"/>
                </a:solidFill>
                <a:latin typeface="CiscoSerif-Regular"/>
              </a:rPr>
              <a:t>A GSM carrier is used as an NB-IoT carrier, enabling reuse of 900 MHz or 1800 </a:t>
            </a:r>
            <a:r>
              <a:rPr lang="en-US" b="0" i="0" u="none" strike="noStrike" baseline="0" dirty="0" err="1">
                <a:solidFill>
                  <a:srgbClr val="231F20"/>
                </a:solidFill>
                <a:latin typeface="CiscoSerif-Regular"/>
              </a:rPr>
              <a:t>MHz.</a:t>
            </a:r>
            <a:endParaRPr lang="en-US" b="0" i="0" u="none" strike="noStrike" baseline="0" dirty="0">
              <a:solidFill>
                <a:srgbClr val="231F20"/>
              </a:solidFill>
              <a:latin typeface="CiscoSerif-Regular"/>
            </a:endParaRPr>
          </a:p>
          <a:p>
            <a:pPr lvl="1"/>
            <a:r>
              <a:rPr lang="en-US" b="1" i="0" u="none" strike="noStrike" baseline="0" dirty="0">
                <a:solidFill>
                  <a:srgbClr val="231F20"/>
                </a:solidFill>
                <a:latin typeface="CiscoSerif-Bold"/>
              </a:rPr>
              <a:t>In-band: </a:t>
            </a:r>
            <a:r>
              <a:rPr lang="en-US" b="0" i="0" u="none" strike="noStrike" baseline="0" dirty="0">
                <a:solidFill>
                  <a:srgbClr val="231F20"/>
                </a:solidFill>
                <a:latin typeface="CiscoSerif-Regular"/>
              </a:rPr>
              <a:t>Part of an LTE carrier frequency band is allocated for use as an NB-IoT frequency. The service provider typically makes this allocation, and IoT devices are configured accordingly. You should be aware that if these devices must be deployed across different countries or regions using a different service provider, problems may occur unless there is some coordination between the service providers, and the NB-IoT frequency band allocations are the same.</a:t>
            </a:r>
          </a:p>
          <a:p>
            <a:pPr lvl="1"/>
            <a:r>
              <a:rPr lang="en-US" b="1" i="0" u="none" strike="noStrike" baseline="0" dirty="0">
                <a:solidFill>
                  <a:srgbClr val="231F20"/>
                </a:solidFill>
                <a:latin typeface="CiscoSerif-Bold"/>
              </a:rPr>
              <a:t>Guard band: </a:t>
            </a:r>
            <a:r>
              <a:rPr lang="en-US" b="0" i="0" u="none" strike="noStrike" baseline="0" dirty="0">
                <a:solidFill>
                  <a:srgbClr val="231F20"/>
                </a:solidFill>
                <a:latin typeface="CiscoSerif-Regular"/>
              </a:rPr>
              <a:t>An NB-IoT carrier is between the LTE or Wideband Code Division Multiple Access (WCDMA) bands. This requires coexistence between LTE and NB-IoT bands</a:t>
            </a:r>
          </a:p>
        </p:txBody>
      </p:sp>
    </p:spTree>
    <p:extLst>
      <p:ext uri="{BB962C8B-B14F-4D97-AF65-F5344CB8AC3E}">
        <p14:creationId xmlns:p14="http://schemas.microsoft.com/office/powerpoint/2010/main" val="118108206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0548-E299-463F-A884-599723384853}"/>
              </a:ext>
            </a:extLst>
          </p:cNvPr>
          <p:cNvSpPr>
            <a:spLocks noGrp="1"/>
          </p:cNvSpPr>
          <p:nvPr>
            <p:ph type="title"/>
          </p:nvPr>
        </p:nvSpPr>
        <p:spPr/>
        <p:txBody>
          <a:bodyPr/>
          <a:lstStyle/>
          <a:p>
            <a:r>
              <a:rPr lang="en-US" dirty="0"/>
              <a:t>NB-IoT</a:t>
            </a:r>
          </a:p>
        </p:txBody>
      </p:sp>
      <p:sp>
        <p:nvSpPr>
          <p:cNvPr id="3" name="Content Placeholder 2">
            <a:extLst>
              <a:ext uri="{FF2B5EF4-FFF2-40B4-BE49-F238E27FC236}">
                <a16:creationId xmlns:a16="http://schemas.microsoft.com/office/drawing/2014/main" id="{33153156-69D5-46FB-9CCF-3E667C12019B}"/>
              </a:ext>
            </a:extLst>
          </p:cNvPr>
          <p:cNvSpPr>
            <a:spLocks noGrp="1"/>
          </p:cNvSpPr>
          <p:nvPr>
            <p:ph idx="1"/>
          </p:nvPr>
        </p:nvSpPr>
        <p:spPr/>
        <p:txBody>
          <a:bodyPr/>
          <a:lstStyle/>
          <a:p>
            <a:pPr algn="l"/>
            <a:r>
              <a:rPr lang="en-US" sz="2800" b="0" i="0" u="none" strike="noStrike" baseline="0" dirty="0">
                <a:solidFill>
                  <a:srgbClr val="231F20"/>
                </a:solidFill>
                <a:latin typeface="CiscoSerif-Regular"/>
              </a:rPr>
              <a:t>Mobile service providers consider NB-IoT the target technology as it allows them to leverage their licensed spectrum to support LPWA use cases</a:t>
            </a:r>
          </a:p>
          <a:p>
            <a:pPr algn="l"/>
            <a:r>
              <a:rPr lang="en-US" sz="2800" b="0" i="0" u="none" strike="noStrike" baseline="0" dirty="0">
                <a:solidFill>
                  <a:srgbClr val="231F20"/>
                </a:solidFill>
                <a:latin typeface="CiscoSerif-Regular"/>
              </a:rPr>
              <a:t>NB-IoT is defined for a 200-kHz-wide channel in both uplink and downlink, allowing mobile service providers to optimize their spectrum, with a number of deployment options for GSM, WCDMA, and LTE spectrum, as shown in Figure 4-19.</a:t>
            </a:r>
            <a:endParaRPr lang="en-US" dirty="0"/>
          </a:p>
        </p:txBody>
      </p:sp>
    </p:spTree>
    <p:extLst>
      <p:ext uri="{BB962C8B-B14F-4D97-AF65-F5344CB8AC3E}">
        <p14:creationId xmlns:p14="http://schemas.microsoft.com/office/powerpoint/2010/main" val="7388150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1A4E-1E86-4314-977E-3700E91ACF5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F9EADDD-D7A8-4A77-810D-7EF5EA1E76CC}"/>
              </a:ext>
            </a:extLst>
          </p:cNvPr>
          <p:cNvPicPr>
            <a:picLocks noGrp="1" noChangeAspect="1"/>
          </p:cNvPicPr>
          <p:nvPr>
            <p:ph idx="1"/>
          </p:nvPr>
        </p:nvPicPr>
        <p:blipFill>
          <a:blip r:embed="rId2"/>
          <a:stretch>
            <a:fillRect/>
          </a:stretch>
        </p:blipFill>
        <p:spPr>
          <a:xfrm>
            <a:off x="838200" y="530941"/>
            <a:ext cx="10282084" cy="5589639"/>
          </a:xfrm>
        </p:spPr>
      </p:pic>
    </p:spTree>
    <p:extLst>
      <p:ext uri="{BB962C8B-B14F-4D97-AF65-F5344CB8AC3E}">
        <p14:creationId xmlns:p14="http://schemas.microsoft.com/office/powerpoint/2010/main" val="14479581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F8327-FA75-4DD5-83D2-11CBEDF3EF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462877-F87B-4BEA-B4EF-9DC9E9E383F6}"/>
              </a:ext>
            </a:extLst>
          </p:cNvPr>
          <p:cNvSpPr>
            <a:spLocks noGrp="1"/>
          </p:cNvSpPr>
          <p:nvPr>
            <p:ph idx="1"/>
          </p:nvPr>
        </p:nvSpPr>
        <p:spPr/>
        <p:txBody>
          <a:bodyPr/>
          <a:lstStyle/>
          <a:p>
            <a:pPr algn="l"/>
            <a:r>
              <a:rPr lang="en-US" sz="2800" b="0" i="0" u="none" strike="noStrike" baseline="0" dirty="0">
                <a:solidFill>
                  <a:srgbClr val="231F20"/>
                </a:solidFill>
                <a:latin typeface="CiscoSerif-Regular"/>
              </a:rPr>
              <a:t>In an LTE network, resource blocks are defined with an effective bandwidth of 180 kHz, while on NB-IoT, tone or subcarriers replace the LTE resource blocks</a:t>
            </a:r>
          </a:p>
          <a:p>
            <a:pPr algn="l"/>
            <a:r>
              <a:rPr lang="en-US" sz="2800" b="0" i="0" u="none" strike="noStrike" baseline="0" dirty="0">
                <a:solidFill>
                  <a:srgbClr val="231F20"/>
                </a:solidFill>
                <a:latin typeface="CiscoSerif-Regular"/>
              </a:rPr>
              <a:t>The uplink channel can be 15 kHz or 3.75 kHz or multi-tone (n*15 kHz, n up to 12)</a:t>
            </a:r>
          </a:p>
          <a:p>
            <a:pPr algn="l"/>
            <a:r>
              <a:rPr lang="en-US" sz="2800" b="0" i="0" u="none" strike="noStrike" baseline="0" dirty="0">
                <a:solidFill>
                  <a:srgbClr val="231F20"/>
                </a:solidFill>
                <a:latin typeface="CiscoSerif-Regular"/>
              </a:rPr>
              <a:t>NB-IoT operates in half-duplex frequency-division duplexing (FDD) mode with a maximum data rate uplink of 60 kbps and downlink of 30 kbps</a:t>
            </a:r>
            <a:endParaRPr lang="en-US" dirty="0"/>
          </a:p>
        </p:txBody>
      </p:sp>
    </p:spTree>
    <p:extLst>
      <p:ext uri="{BB962C8B-B14F-4D97-AF65-F5344CB8AC3E}">
        <p14:creationId xmlns:p14="http://schemas.microsoft.com/office/powerpoint/2010/main" val="290049984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B6960-9017-4A10-9A75-920CCBC84EAF}"/>
              </a:ext>
            </a:extLst>
          </p:cNvPr>
          <p:cNvSpPr>
            <a:spLocks noGrp="1"/>
          </p:cNvSpPr>
          <p:nvPr>
            <p:ph type="title"/>
          </p:nvPr>
        </p:nvSpPr>
        <p:spPr/>
        <p:txBody>
          <a:bodyPr/>
          <a:lstStyle/>
          <a:p>
            <a:r>
              <a:rPr lang="en-US" dirty="0"/>
              <a:t>Topology</a:t>
            </a:r>
          </a:p>
        </p:txBody>
      </p:sp>
      <p:sp>
        <p:nvSpPr>
          <p:cNvPr id="3" name="Content Placeholder 2">
            <a:extLst>
              <a:ext uri="{FF2B5EF4-FFF2-40B4-BE49-F238E27FC236}">
                <a16:creationId xmlns:a16="http://schemas.microsoft.com/office/drawing/2014/main" id="{F5707B2E-4D7C-4E0C-859E-46FBC2D60641}"/>
              </a:ext>
            </a:extLst>
          </p:cNvPr>
          <p:cNvSpPr>
            <a:spLocks noGrp="1"/>
          </p:cNvSpPr>
          <p:nvPr>
            <p:ph idx="1"/>
          </p:nvPr>
        </p:nvSpPr>
        <p:spPr/>
        <p:txBody>
          <a:bodyPr/>
          <a:lstStyle/>
          <a:p>
            <a:pPr algn="l"/>
            <a:r>
              <a:rPr lang="en-US" sz="2800" b="0" i="0" u="none" strike="noStrike" baseline="0" dirty="0">
                <a:solidFill>
                  <a:srgbClr val="231F20"/>
                </a:solidFill>
                <a:latin typeface="CiscoSerif-Regular"/>
              </a:rPr>
              <a:t>NB-IoT is defined with a link budget of 164 dB; compare this with the GPRS link budget of 144 dB, used by many machine-to-machine services. The additional 20 dB </a:t>
            </a:r>
            <a:r>
              <a:rPr lang="en-US" sz="2800" b="0" i="0" u="none" strike="noStrike" baseline="0">
                <a:solidFill>
                  <a:srgbClr val="231F20"/>
                </a:solidFill>
                <a:latin typeface="CiscoSerif-Regular"/>
              </a:rPr>
              <a:t>link budget increase </a:t>
            </a:r>
            <a:r>
              <a:rPr lang="en-US" sz="2800" b="0" i="0" u="none" strike="noStrike" baseline="0" dirty="0">
                <a:solidFill>
                  <a:srgbClr val="231F20"/>
                </a:solidFill>
                <a:latin typeface="CiscoSerif-Regular"/>
              </a:rPr>
              <a:t>should guarantee better signal penetration in buildings and </a:t>
            </a:r>
            <a:r>
              <a:rPr lang="en-US" sz="2800" b="0" i="0" u="none" strike="noStrike" baseline="0">
                <a:solidFill>
                  <a:srgbClr val="231F20"/>
                </a:solidFill>
                <a:latin typeface="CiscoSerif-Regular"/>
              </a:rPr>
              <a:t>basements while achieving </a:t>
            </a:r>
            <a:r>
              <a:rPr lang="en-US" sz="2800" b="0" i="0" u="none" strike="noStrike" baseline="0" dirty="0">
                <a:solidFill>
                  <a:srgbClr val="231F20"/>
                </a:solidFill>
                <a:latin typeface="CiscoSerif-Regular"/>
              </a:rPr>
              <a:t>battery life requirements.</a:t>
            </a:r>
            <a:endParaRPr lang="en-US" dirty="0"/>
          </a:p>
        </p:txBody>
      </p:sp>
    </p:spTree>
    <p:extLst>
      <p:ext uri="{BB962C8B-B14F-4D97-AF65-F5344CB8AC3E}">
        <p14:creationId xmlns:p14="http://schemas.microsoft.com/office/powerpoint/2010/main" val="790991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58539</TotalTime>
  <Words>8974</Words>
  <Application>Microsoft Office PowerPoint</Application>
  <PresentationFormat>Widescreen</PresentationFormat>
  <Paragraphs>445</Paragraphs>
  <Slides>119</Slides>
  <Notes>0</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119</vt:i4>
      </vt:variant>
    </vt:vector>
  </HeadingPairs>
  <TitlesOfParts>
    <vt:vector size="131" baseType="lpstr">
      <vt:lpstr>Arial</vt:lpstr>
      <vt:lpstr>Arial</vt:lpstr>
      <vt:lpstr>Calibri</vt:lpstr>
      <vt:lpstr>Calibri Light</vt:lpstr>
      <vt:lpstr>Cisco-Bold</vt:lpstr>
      <vt:lpstr>Cisco-Light</vt:lpstr>
      <vt:lpstr>Cisco-Regular</vt:lpstr>
      <vt:lpstr>CiscoSerif-Bold</vt:lpstr>
      <vt:lpstr>CiscoSerif-Italic-Regular</vt:lpstr>
      <vt:lpstr>CiscoSerif-Regular</vt:lpstr>
      <vt:lpstr>Courier New</vt:lpstr>
      <vt:lpstr>Office Theme</vt:lpstr>
      <vt:lpstr>CPE 445-Internet of Things</vt:lpstr>
      <vt:lpstr>Connecting Smart Objects</vt:lpstr>
      <vt:lpstr>Communication Criteria</vt:lpstr>
      <vt:lpstr>IoT Access Technologies</vt:lpstr>
      <vt:lpstr>Communications Criteria</vt:lpstr>
      <vt:lpstr>Communication Criteria-Range</vt:lpstr>
      <vt:lpstr>Communication Criteria-Range</vt:lpstr>
      <vt:lpstr>Communication Criteria- Frequency Bands</vt:lpstr>
      <vt:lpstr>Communication Criteria- Frequency Bands</vt:lpstr>
      <vt:lpstr>Communication Criteria- Frequency Bands</vt:lpstr>
      <vt:lpstr>Communication Criteria- Frequency Bands</vt:lpstr>
      <vt:lpstr>Communication Criteria- Power Consumption</vt:lpstr>
      <vt:lpstr>Communication Criteria- Topology</vt:lpstr>
      <vt:lpstr>PowerPoint Presentation</vt:lpstr>
      <vt:lpstr>Communication Criteria- Topology</vt:lpstr>
      <vt:lpstr>Communication Criteria- Constrained Devices</vt:lpstr>
      <vt:lpstr>Communication Criteria- Constrained Devices</vt:lpstr>
      <vt:lpstr>Communication Criteria- Constrained Devices</vt:lpstr>
      <vt:lpstr>Communication Criteria- Constrained-Node Networks</vt:lpstr>
      <vt:lpstr>Communication Criteria- Constrained-Node Networks</vt:lpstr>
      <vt:lpstr>Communication Criteria- Constrained-Node Networks</vt:lpstr>
      <vt:lpstr>Communication Criteria- Constrained-Node Networks</vt:lpstr>
      <vt:lpstr>IoT Access Technologies</vt:lpstr>
      <vt:lpstr>IEEE 802.15.4</vt:lpstr>
      <vt:lpstr>IEEE 802.15.4</vt:lpstr>
      <vt:lpstr>Protocol Stacks Utilizing IEEE 802.15.4</vt:lpstr>
      <vt:lpstr>Protocol Stacks Utilizing IEEE 802.15.4</vt:lpstr>
      <vt:lpstr>ZigBee</vt:lpstr>
      <vt:lpstr>PowerPoint Presentation</vt:lpstr>
      <vt:lpstr>ZigBee IP</vt:lpstr>
      <vt:lpstr>ZigBee IP</vt:lpstr>
      <vt:lpstr>ZigBee IP</vt:lpstr>
      <vt:lpstr>Physical Layer</vt:lpstr>
      <vt:lpstr>PowerPoint Presentation</vt:lpstr>
      <vt:lpstr>PowerPoint Presentation</vt:lpstr>
      <vt:lpstr>MAC Layer</vt:lpstr>
      <vt:lpstr>PowerPoint Presentation</vt:lpstr>
      <vt:lpstr>Topology</vt:lpstr>
      <vt:lpstr>Zigbee Network Architecture</vt:lpstr>
      <vt:lpstr>PowerPoint Presentation</vt:lpstr>
      <vt:lpstr>IEEE 802.15.4</vt:lpstr>
      <vt:lpstr>IEEE 802.15.4</vt:lpstr>
      <vt:lpstr>IEEE 802.15.4</vt:lpstr>
      <vt:lpstr>IEEE 802.15.4</vt:lpstr>
      <vt:lpstr>6LoWPAN Network Architecture</vt:lpstr>
      <vt:lpstr>IEEE 802.15.4</vt:lpstr>
      <vt:lpstr>IEEE 802.15.4</vt:lpstr>
      <vt:lpstr>IEEE 802.15.4</vt:lpstr>
      <vt:lpstr>Thread Network Architecture</vt:lpstr>
      <vt:lpstr>IEEE 802.15.4</vt:lpstr>
      <vt:lpstr>IEEE 802.15.4g and 802.15.4e</vt:lpstr>
      <vt:lpstr>Standardization and Alliances</vt:lpstr>
      <vt:lpstr>IEEE 802.15.4 (WI-SUN)</vt:lpstr>
      <vt:lpstr>Physical Layer</vt:lpstr>
      <vt:lpstr>PowerPoint Presentation</vt:lpstr>
      <vt:lpstr>MAC Layer IEEE 802.15.4 e</vt:lpstr>
      <vt:lpstr>MAC Layer IEEE 802.15.4 e</vt:lpstr>
      <vt:lpstr>PowerPoint Presentation</vt:lpstr>
      <vt:lpstr>IEEE 1901.2a</vt:lpstr>
      <vt:lpstr>IEEE 1901.2a</vt:lpstr>
      <vt:lpstr>IEEE 1901.2a- Physical Layer</vt:lpstr>
      <vt:lpstr>IEEE 1901.2a- MAC Layer</vt:lpstr>
      <vt:lpstr>PowerPoint Presentation</vt:lpstr>
      <vt:lpstr>Topology</vt:lpstr>
      <vt:lpstr>PowerPoint Presentation</vt:lpstr>
      <vt:lpstr>IEEE 1901.2a Security</vt:lpstr>
      <vt:lpstr>IEEE 802.11ah</vt:lpstr>
      <vt:lpstr>IEEE 802.11 use cases</vt:lpstr>
      <vt:lpstr>Standardization and Alliances</vt:lpstr>
      <vt:lpstr>IEEE 802.11ah Physical Layer</vt:lpstr>
      <vt:lpstr>IEEE 802.11ah MAC Layer</vt:lpstr>
      <vt:lpstr>PowerPoint Presentation</vt:lpstr>
      <vt:lpstr>Topology</vt:lpstr>
      <vt:lpstr>Security</vt:lpstr>
      <vt:lpstr>Long Range IoT Access Technologies-LPWA</vt:lpstr>
      <vt:lpstr>PowerPoint Presentation</vt:lpstr>
      <vt:lpstr>PowerPoint Presentation</vt:lpstr>
      <vt:lpstr>PowerPoint Presentation</vt:lpstr>
      <vt:lpstr>LoRa/LoRaWAN</vt:lpstr>
      <vt:lpstr>PowerPoint Presentation</vt:lpstr>
      <vt:lpstr>LoRa/LoRaWAN</vt:lpstr>
      <vt:lpstr>Physical Layer</vt:lpstr>
      <vt:lpstr>PowerPoint Presentation</vt:lpstr>
      <vt:lpstr>PowerPoint Presentation</vt:lpstr>
      <vt:lpstr>PowerPoint Presentation</vt:lpstr>
      <vt:lpstr>PowerPoint Presentation</vt:lpstr>
      <vt:lpstr>PowerPoint Presentation</vt:lpstr>
      <vt:lpstr>PowerPoint Presentation</vt:lpstr>
      <vt:lpstr>Chirp Spread Spectrum Modulation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 Layer</vt:lpstr>
      <vt:lpstr>MAC Layer</vt:lpstr>
      <vt:lpstr>PowerPoint Presentation</vt:lpstr>
      <vt:lpstr>PowerPoint Presentation</vt:lpstr>
      <vt:lpstr>PowerPoint Presentation</vt:lpstr>
      <vt:lpstr>PowerPoint Presentation</vt:lpstr>
      <vt:lpstr>Device Activation</vt:lpstr>
      <vt:lpstr>PowerPoint Presentation</vt:lpstr>
      <vt:lpstr>NB-IoT and Other LTE Variations</vt:lpstr>
      <vt:lpstr>NB-IoT</vt:lpstr>
      <vt:lpstr>NB-IoT</vt:lpstr>
      <vt:lpstr>PowerPoint Presentation</vt:lpstr>
      <vt:lpstr>PowerPoint Presentation</vt:lpstr>
      <vt:lpstr>Topology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445-Internet of Things</dc:title>
  <dc:creator>A</dc:creator>
  <cp:lastModifiedBy>Dr. Abbas Javed</cp:lastModifiedBy>
  <cp:revision>43</cp:revision>
  <dcterms:created xsi:type="dcterms:W3CDTF">2022-02-14T11:35:12Z</dcterms:created>
  <dcterms:modified xsi:type="dcterms:W3CDTF">2024-09-26T09:34:33Z</dcterms:modified>
</cp:coreProperties>
</file>