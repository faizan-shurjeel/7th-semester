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59" r:id="rId5"/>
    <p:sldId id="669" r:id="rId6"/>
    <p:sldId id="670" r:id="rId7"/>
    <p:sldId id="671" r:id="rId8"/>
    <p:sldId id="672" r:id="rId9"/>
    <p:sldId id="674" r:id="rId10"/>
    <p:sldId id="673" r:id="rId11"/>
    <p:sldId id="675" r:id="rId12"/>
    <p:sldId id="676" r:id="rId13"/>
    <p:sldId id="677" r:id="rId14"/>
    <p:sldId id="678" r:id="rId15"/>
    <p:sldId id="679" r:id="rId16"/>
    <p:sldId id="680" r:id="rId17"/>
    <p:sldId id="681" r:id="rId18"/>
    <p:sldId id="682" r:id="rId19"/>
    <p:sldId id="683" r:id="rId20"/>
    <p:sldId id="684" r:id="rId21"/>
    <p:sldId id="685" r:id="rId22"/>
    <p:sldId id="686" r:id="rId23"/>
    <p:sldId id="687" r:id="rId24"/>
    <p:sldId id="688" r:id="rId25"/>
    <p:sldId id="689" r:id="rId26"/>
    <p:sldId id="693" r:id="rId27"/>
    <p:sldId id="690" r:id="rId28"/>
    <p:sldId id="691" r:id="rId29"/>
    <p:sldId id="692" r:id="rId30"/>
    <p:sldId id="694" r:id="rId31"/>
    <p:sldId id="695" r:id="rId32"/>
    <p:sldId id="696" r:id="rId33"/>
    <p:sldId id="697" r:id="rId34"/>
    <p:sldId id="698" r:id="rId35"/>
    <p:sldId id="699" r:id="rId36"/>
    <p:sldId id="700" r:id="rId37"/>
    <p:sldId id="701" r:id="rId38"/>
    <p:sldId id="702" r:id="rId39"/>
    <p:sldId id="703" r:id="rId40"/>
    <p:sldId id="704" r:id="rId41"/>
    <p:sldId id="705"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1" d="100"/>
          <a:sy n="61" d="100"/>
        </p:scale>
        <p:origin x="10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947EC-79BE-4418-A9A0-139BD3118BC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B6372B0-43C0-4CAE-B58C-76D1DCA438E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1623709-B0F7-485E-A14D-7FA7DD2DE7D3}"/>
              </a:ext>
            </a:extLst>
          </p:cNvPr>
          <p:cNvSpPr>
            <a:spLocks noGrp="1"/>
          </p:cNvSpPr>
          <p:nvPr>
            <p:ph type="dt" sz="half" idx="10"/>
          </p:nvPr>
        </p:nvSpPr>
        <p:spPr/>
        <p:txBody>
          <a:bodyPr/>
          <a:lstStyle/>
          <a:p>
            <a:fld id="{BFF173C1-2F5E-4A02-9636-4A8EA7DDCA41}" type="datetimeFigureOut">
              <a:rPr lang="en-US" smtClean="0"/>
              <a:t>3/4/2023</a:t>
            </a:fld>
            <a:endParaRPr lang="en-US"/>
          </a:p>
        </p:txBody>
      </p:sp>
      <p:sp>
        <p:nvSpPr>
          <p:cNvPr id="5" name="Footer Placeholder 4">
            <a:extLst>
              <a:ext uri="{FF2B5EF4-FFF2-40B4-BE49-F238E27FC236}">
                <a16:creationId xmlns:a16="http://schemas.microsoft.com/office/drawing/2014/main" id="{272BA470-F93D-41C4-B946-B4F4DE22BF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D7D0C7-2B39-4EDC-BC0D-049D579B127C}"/>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26459708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8BE5D-180B-4988-A991-012051D6616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C90DDBC-21C7-49A9-8668-98822413526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ED9AC5-03C3-497D-8C69-DFC497B4EA57}"/>
              </a:ext>
            </a:extLst>
          </p:cNvPr>
          <p:cNvSpPr>
            <a:spLocks noGrp="1"/>
          </p:cNvSpPr>
          <p:nvPr>
            <p:ph type="dt" sz="half" idx="10"/>
          </p:nvPr>
        </p:nvSpPr>
        <p:spPr/>
        <p:txBody>
          <a:bodyPr/>
          <a:lstStyle/>
          <a:p>
            <a:fld id="{BFF173C1-2F5E-4A02-9636-4A8EA7DDCA41}" type="datetimeFigureOut">
              <a:rPr lang="en-US" smtClean="0"/>
              <a:t>3/4/2023</a:t>
            </a:fld>
            <a:endParaRPr lang="en-US"/>
          </a:p>
        </p:txBody>
      </p:sp>
      <p:sp>
        <p:nvSpPr>
          <p:cNvPr id="5" name="Footer Placeholder 4">
            <a:extLst>
              <a:ext uri="{FF2B5EF4-FFF2-40B4-BE49-F238E27FC236}">
                <a16:creationId xmlns:a16="http://schemas.microsoft.com/office/drawing/2014/main" id="{241847F8-7C3D-4B7B-88F1-721E2DB5B8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AE0D2B-BC2D-4EF7-87F2-A98BC4F94301}"/>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47015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03E55-AE0D-4BC9-A185-A8BA1365E1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178092A-D248-4F67-9198-A721200A78E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731DFC0-4CF4-4047-9C95-B6ADC2AB529D}"/>
              </a:ext>
            </a:extLst>
          </p:cNvPr>
          <p:cNvSpPr>
            <a:spLocks noGrp="1"/>
          </p:cNvSpPr>
          <p:nvPr>
            <p:ph type="dt" sz="half" idx="10"/>
          </p:nvPr>
        </p:nvSpPr>
        <p:spPr/>
        <p:txBody>
          <a:bodyPr/>
          <a:lstStyle/>
          <a:p>
            <a:fld id="{BFF173C1-2F5E-4A02-9636-4A8EA7DDCA41}" type="datetimeFigureOut">
              <a:rPr lang="en-US" smtClean="0"/>
              <a:t>3/4/2023</a:t>
            </a:fld>
            <a:endParaRPr lang="en-US"/>
          </a:p>
        </p:txBody>
      </p:sp>
      <p:sp>
        <p:nvSpPr>
          <p:cNvPr id="5" name="Footer Placeholder 4">
            <a:extLst>
              <a:ext uri="{FF2B5EF4-FFF2-40B4-BE49-F238E27FC236}">
                <a16:creationId xmlns:a16="http://schemas.microsoft.com/office/drawing/2014/main" id="{54FEF40D-6A47-4FF2-9BAD-31586E6FBC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DF30A1-E439-46BF-88C1-9FB7123D254C}"/>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23878588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BCBD9-A0AF-406D-B0AE-2D5E21A7DB1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A381BD2-62EF-4138-9E84-C760E18F769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F786715-E895-49DF-856E-C8BB1915705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86FC06-4674-410F-B306-9B19258AE0C7}"/>
              </a:ext>
            </a:extLst>
          </p:cNvPr>
          <p:cNvSpPr>
            <a:spLocks noGrp="1"/>
          </p:cNvSpPr>
          <p:nvPr>
            <p:ph type="dt" sz="half" idx="10"/>
          </p:nvPr>
        </p:nvSpPr>
        <p:spPr/>
        <p:txBody>
          <a:bodyPr/>
          <a:lstStyle/>
          <a:p>
            <a:fld id="{BFF173C1-2F5E-4A02-9636-4A8EA7DDCA41}" type="datetimeFigureOut">
              <a:rPr lang="en-US" smtClean="0"/>
              <a:t>3/4/2023</a:t>
            </a:fld>
            <a:endParaRPr lang="en-US"/>
          </a:p>
        </p:txBody>
      </p:sp>
      <p:sp>
        <p:nvSpPr>
          <p:cNvPr id="6" name="Footer Placeholder 5">
            <a:extLst>
              <a:ext uri="{FF2B5EF4-FFF2-40B4-BE49-F238E27FC236}">
                <a16:creationId xmlns:a16="http://schemas.microsoft.com/office/drawing/2014/main" id="{DD38CD9F-C9ED-42F3-AA5D-1AC66C32AB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4BD4F4-9458-4611-9E95-F425861AA4C4}"/>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3553476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E8232-37CA-4FBA-8267-CEF1DBEE195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B6C4CCE-BDF4-4877-B66C-A143E493842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CCC5BD8-FBDD-490E-8A69-DF27ECFFB7A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7BEA564-3112-455E-BE0A-8F46CC1C8E2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66B119A-78C4-442D-B4B7-EAF59F14099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469CF93-0DBB-4FF7-8EBF-E144A77DCEE3}"/>
              </a:ext>
            </a:extLst>
          </p:cNvPr>
          <p:cNvSpPr>
            <a:spLocks noGrp="1"/>
          </p:cNvSpPr>
          <p:nvPr>
            <p:ph type="dt" sz="half" idx="10"/>
          </p:nvPr>
        </p:nvSpPr>
        <p:spPr/>
        <p:txBody>
          <a:bodyPr/>
          <a:lstStyle/>
          <a:p>
            <a:fld id="{BFF173C1-2F5E-4A02-9636-4A8EA7DDCA41}" type="datetimeFigureOut">
              <a:rPr lang="en-US" smtClean="0"/>
              <a:t>3/4/2023</a:t>
            </a:fld>
            <a:endParaRPr lang="en-US"/>
          </a:p>
        </p:txBody>
      </p:sp>
      <p:sp>
        <p:nvSpPr>
          <p:cNvPr id="8" name="Footer Placeholder 7">
            <a:extLst>
              <a:ext uri="{FF2B5EF4-FFF2-40B4-BE49-F238E27FC236}">
                <a16:creationId xmlns:a16="http://schemas.microsoft.com/office/drawing/2014/main" id="{20B13545-7BD6-4D37-86DC-CFFBC585E07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D313F5C-A906-46DD-82B8-3AE88C71567A}"/>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27881527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445FF-5A7B-475C-882B-D41CD9769CA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867D389-7267-414F-B5E4-D7D6672AAD96}"/>
              </a:ext>
            </a:extLst>
          </p:cNvPr>
          <p:cNvSpPr>
            <a:spLocks noGrp="1"/>
          </p:cNvSpPr>
          <p:nvPr>
            <p:ph type="dt" sz="half" idx="10"/>
          </p:nvPr>
        </p:nvSpPr>
        <p:spPr/>
        <p:txBody>
          <a:bodyPr/>
          <a:lstStyle/>
          <a:p>
            <a:fld id="{BFF173C1-2F5E-4A02-9636-4A8EA7DDCA41}" type="datetimeFigureOut">
              <a:rPr lang="en-US" smtClean="0"/>
              <a:t>3/4/2023</a:t>
            </a:fld>
            <a:endParaRPr lang="en-US"/>
          </a:p>
        </p:txBody>
      </p:sp>
      <p:sp>
        <p:nvSpPr>
          <p:cNvPr id="4" name="Footer Placeholder 3">
            <a:extLst>
              <a:ext uri="{FF2B5EF4-FFF2-40B4-BE49-F238E27FC236}">
                <a16:creationId xmlns:a16="http://schemas.microsoft.com/office/drawing/2014/main" id="{8789291F-8CEC-4C07-AE6F-C452ADDFA18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AAFB8CF-A5C3-451B-83EB-716001BC5733}"/>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29099232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1679A4-7B1F-4762-ABBE-414A34BB08F1}"/>
              </a:ext>
            </a:extLst>
          </p:cNvPr>
          <p:cNvSpPr>
            <a:spLocks noGrp="1"/>
          </p:cNvSpPr>
          <p:nvPr>
            <p:ph type="dt" sz="half" idx="10"/>
          </p:nvPr>
        </p:nvSpPr>
        <p:spPr/>
        <p:txBody>
          <a:bodyPr/>
          <a:lstStyle/>
          <a:p>
            <a:fld id="{BFF173C1-2F5E-4A02-9636-4A8EA7DDCA41}" type="datetimeFigureOut">
              <a:rPr lang="en-US" smtClean="0"/>
              <a:t>3/4/2023</a:t>
            </a:fld>
            <a:endParaRPr lang="en-US"/>
          </a:p>
        </p:txBody>
      </p:sp>
      <p:sp>
        <p:nvSpPr>
          <p:cNvPr id="3" name="Footer Placeholder 2">
            <a:extLst>
              <a:ext uri="{FF2B5EF4-FFF2-40B4-BE49-F238E27FC236}">
                <a16:creationId xmlns:a16="http://schemas.microsoft.com/office/drawing/2014/main" id="{94AFA26C-A11D-4C91-AA29-29203E8E377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488ACD4-E37A-4392-B7A4-814A52DCD977}"/>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24146928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5A23E-0EDC-4BDA-8736-D62CFCF416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8541926-B521-457A-9E9B-68C0A47DE62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3557F50-2B45-4FA0-8D86-1CB3092811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FA6E42-0AF7-4341-8DB3-2402107BF1E7}"/>
              </a:ext>
            </a:extLst>
          </p:cNvPr>
          <p:cNvSpPr>
            <a:spLocks noGrp="1"/>
          </p:cNvSpPr>
          <p:nvPr>
            <p:ph type="dt" sz="half" idx="10"/>
          </p:nvPr>
        </p:nvSpPr>
        <p:spPr/>
        <p:txBody>
          <a:bodyPr/>
          <a:lstStyle/>
          <a:p>
            <a:fld id="{BFF173C1-2F5E-4A02-9636-4A8EA7DDCA41}" type="datetimeFigureOut">
              <a:rPr lang="en-US" smtClean="0"/>
              <a:t>3/4/2023</a:t>
            </a:fld>
            <a:endParaRPr lang="en-US"/>
          </a:p>
        </p:txBody>
      </p:sp>
      <p:sp>
        <p:nvSpPr>
          <p:cNvPr id="6" name="Footer Placeholder 5">
            <a:extLst>
              <a:ext uri="{FF2B5EF4-FFF2-40B4-BE49-F238E27FC236}">
                <a16:creationId xmlns:a16="http://schemas.microsoft.com/office/drawing/2014/main" id="{D09ACB2E-7A92-4BD5-ABE6-A6EC382C99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43C9B64-977C-4277-AEC0-4F1E199E7E04}"/>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21812816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D1972-4E44-477A-B552-6444008988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681B900-76CA-4E1D-B7F4-55B7298CD8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95F5480-9816-45A0-9371-47FF8C5228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B02A00-1E1E-4BA9-B0D8-44208A9067CE}"/>
              </a:ext>
            </a:extLst>
          </p:cNvPr>
          <p:cNvSpPr>
            <a:spLocks noGrp="1"/>
          </p:cNvSpPr>
          <p:nvPr>
            <p:ph type="dt" sz="half" idx="10"/>
          </p:nvPr>
        </p:nvSpPr>
        <p:spPr/>
        <p:txBody>
          <a:bodyPr/>
          <a:lstStyle/>
          <a:p>
            <a:fld id="{BFF173C1-2F5E-4A02-9636-4A8EA7DDCA41}" type="datetimeFigureOut">
              <a:rPr lang="en-US" smtClean="0"/>
              <a:t>3/4/2023</a:t>
            </a:fld>
            <a:endParaRPr lang="en-US"/>
          </a:p>
        </p:txBody>
      </p:sp>
      <p:sp>
        <p:nvSpPr>
          <p:cNvPr id="6" name="Footer Placeholder 5">
            <a:extLst>
              <a:ext uri="{FF2B5EF4-FFF2-40B4-BE49-F238E27FC236}">
                <a16:creationId xmlns:a16="http://schemas.microsoft.com/office/drawing/2014/main" id="{04A20E30-FAF4-453B-BC8B-D93C5FCB91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810A56B-4461-4BE9-B576-8112D3C134FD}"/>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5532591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99A17-6365-4003-8F46-650B00880D2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939DF9D-F4EB-4978-A89D-AD16B55D57D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430709-80C9-4162-983A-F9C2BDF3EDF0}"/>
              </a:ext>
            </a:extLst>
          </p:cNvPr>
          <p:cNvSpPr>
            <a:spLocks noGrp="1"/>
          </p:cNvSpPr>
          <p:nvPr>
            <p:ph type="dt" sz="half" idx="10"/>
          </p:nvPr>
        </p:nvSpPr>
        <p:spPr/>
        <p:txBody>
          <a:bodyPr/>
          <a:lstStyle/>
          <a:p>
            <a:fld id="{BFF173C1-2F5E-4A02-9636-4A8EA7DDCA41}" type="datetimeFigureOut">
              <a:rPr lang="en-US" smtClean="0"/>
              <a:t>3/4/2023</a:t>
            </a:fld>
            <a:endParaRPr lang="en-US"/>
          </a:p>
        </p:txBody>
      </p:sp>
      <p:sp>
        <p:nvSpPr>
          <p:cNvPr id="5" name="Footer Placeholder 4">
            <a:extLst>
              <a:ext uri="{FF2B5EF4-FFF2-40B4-BE49-F238E27FC236}">
                <a16:creationId xmlns:a16="http://schemas.microsoft.com/office/drawing/2014/main" id="{29495828-C20A-4D83-8ACD-85C081ED17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819DB0-44EC-4480-9720-AB80DE4705EF}"/>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12117855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6E8B18D-3BA9-456C-8C9C-861E54301E7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6298729-4EAD-4FE1-B22D-990078A2041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C89957-7105-4955-974A-E9C1EDCB146F}"/>
              </a:ext>
            </a:extLst>
          </p:cNvPr>
          <p:cNvSpPr>
            <a:spLocks noGrp="1"/>
          </p:cNvSpPr>
          <p:nvPr>
            <p:ph type="dt" sz="half" idx="10"/>
          </p:nvPr>
        </p:nvSpPr>
        <p:spPr/>
        <p:txBody>
          <a:bodyPr/>
          <a:lstStyle/>
          <a:p>
            <a:fld id="{BFF173C1-2F5E-4A02-9636-4A8EA7DDCA41}" type="datetimeFigureOut">
              <a:rPr lang="en-US" smtClean="0"/>
              <a:t>3/4/2023</a:t>
            </a:fld>
            <a:endParaRPr lang="en-US"/>
          </a:p>
        </p:txBody>
      </p:sp>
      <p:sp>
        <p:nvSpPr>
          <p:cNvPr id="5" name="Footer Placeholder 4">
            <a:extLst>
              <a:ext uri="{FF2B5EF4-FFF2-40B4-BE49-F238E27FC236}">
                <a16:creationId xmlns:a16="http://schemas.microsoft.com/office/drawing/2014/main" id="{665373BB-E5C3-4FE4-A464-6ED93F481D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3F2E1F-845D-477A-96FD-5250B1C177E7}"/>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13295486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992AAFA-F146-4065-A19D-BEABBC3565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6064567-D102-4B21-A1A4-D69B16687F7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917A7D-F3B5-4936-8933-547EBACD321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F173C1-2F5E-4A02-9636-4A8EA7DDCA41}" type="datetimeFigureOut">
              <a:rPr lang="en-US" smtClean="0"/>
              <a:t>3/4/2023</a:t>
            </a:fld>
            <a:endParaRPr lang="en-US"/>
          </a:p>
        </p:txBody>
      </p:sp>
      <p:sp>
        <p:nvSpPr>
          <p:cNvPr id="5" name="Footer Placeholder 4">
            <a:extLst>
              <a:ext uri="{FF2B5EF4-FFF2-40B4-BE49-F238E27FC236}">
                <a16:creationId xmlns:a16="http://schemas.microsoft.com/office/drawing/2014/main" id="{372F0130-AD76-4B24-9237-5AF8ED67BE9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C767A22-F168-4F07-A116-E2D77AED8FA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66207E-3B12-4681-9E12-034CB6A7BDCC}" type="slidenum">
              <a:rPr lang="en-US" smtClean="0"/>
              <a:t>‹#›</a:t>
            </a:fld>
            <a:endParaRPr lang="en-US"/>
          </a:p>
        </p:txBody>
      </p:sp>
    </p:spTree>
    <p:extLst>
      <p:ext uri="{BB962C8B-B14F-4D97-AF65-F5344CB8AC3E}">
        <p14:creationId xmlns:p14="http://schemas.microsoft.com/office/powerpoint/2010/main" val="25821037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abbasjaved@cuilahore.edu.pk"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C7009-667F-4F97-8974-6E0CB68BADE8}"/>
              </a:ext>
            </a:extLst>
          </p:cNvPr>
          <p:cNvSpPr>
            <a:spLocks noGrp="1"/>
          </p:cNvSpPr>
          <p:nvPr>
            <p:ph type="ctrTitle"/>
          </p:nvPr>
        </p:nvSpPr>
        <p:spPr/>
        <p:txBody>
          <a:bodyPr/>
          <a:lstStyle/>
          <a:p>
            <a:r>
              <a:rPr lang="en-US" dirty="0"/>
              <a:t>CPE 445-Internet of Things</a:t>
            </a:r>
          </a:p>
        </p:txBody>
      </p:sp>
      <p:sp>
        <p:nvSpPr>
          <p:cNvPr id="3" name="Subtitle 2">
            <a:extLst>
              <a:ext uri="{FF2B5EF4-FFF2-40B4-BE49-F238E27FC236}">
                <a16:creationId xmlns:a16="http://schemas.microsoft.com/office/drawing/2014/main" id="{E6E45546-75B8-4229-9A3B-FD201B44EBED}"/>
              </a:ext>
            </a:extLst>
          </p:cNvPr>
          <p:cNvSpPr>
            <a:spLocks noGrp="1"/>
          </p:cNvSpPr>
          <p:nvPr>
            <p:ph type="subTitle" idx="1"/>
          </p:nvPr>
        </p:nvSpPr>
        <p:spPr/>
        <p:txBody>
          <a:bodyPr>
            <a:normAutofit fontScale="77500" lnSpcReduction="20000"/>
          </a:bodyPr>
          <a:lstStyle/>
          <a:p>
            <a:r>
              <a:rPr lang="en-US" dirty="0"/>
              <a:t>Dr. Abbas </a:t>
            </a:r>
            <a:r>
              <a:rPr lang="en-US" dirty="0" err="1"/>
              <a:t>Javed</a:t>
            </a:r>
            <a:endParaRPr lang="en-US" dirty="0"/>
          </a:p>
          <a:p>
            <a:r>
              <a:rPr lang="en-US" dirty="0"/>
              <a:t>Assistant Professor</a:t>
            </a:r>
          </a:p>
          <a:p>
            <a:r>
              <a:rPr lang="en-US" dirty="0"/>
              <a:t>Department of Electrical and Computer Engineering, </a:t>
            </a:r>
          </a:p>
          <a:p>
            <a:r>
              <a:rPr lang="en-US" dirty="0"/>
              <a:t>COMSATS University Islamabad, Lahore Campus</a:t>
            </a:r>
          </a:p>
          <a:p>
            <a:r>
              <a:rPr lang="en-US" dirty="0">
                <a:hlinkClick r:id="rId2"/>
              </a:rPr>
              <a:t>abbasjaved@cuilahore.edu.pk</a:t>
            </a:r>
            <a:endParaRPr lang="en-US" dirty="0"/>
          </a:p>
          <a:p>
            <a:endParaRPr lang="en-US" dirty="0"/>
          </a:p>
        </p:txBody>
      </p:sp>
    </p:spTree>
    <p:extLst>
      <p:ext uri="{BB962C8B-B14F-4D97-AF65-F5344CB8AC3E}">
        <p14:creationId xmlns:p14="http://schemas.microsoft.com/office/powerpoint/2010/main" val="7073077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82298-78F5-4772-881E-6109FEE2542C}"/>
              </a:ext>
            </a:extLst>
          </p:cNvPr>
          <p:cNvSpPr>
            <a:spLocks noGrp="1"/>
          </p:cNvSpPr>
          <p:nvPr>
            <p:ph type="title"/>
          </p:nvPr>
        </p:nvSpPr>
        <p:spPr/>
        <p:txBody>
          <a:bodyPr/>
          <a:lstStyle/>
          <a:p>
            <a:r>
              <a:rPr lang="en-US" dirty="0"/>
              <a:t>Contents</a:t>
            </a:r>
          </a:p>
        </p:txBody>
      </p:sp>
      <p:sp>
        <p:nvSpPr>
          <p:cNvPr id="3" name="Content Placeholder 2">
            <a:extLst>
              <a:ext uri="{FF2B5EF4-FFF2-40B4-BE49-F238E27FC236}">
                <a16:creationId xmlns:a16="http://schemas.microsoft.com/office/drawing/2014/main" id="{69360546-8625-4595-BE63-40A9E5922F3A}"/>
              </a:ext>
            </a:extLst>
          </p:cNvPr>
          <p:cNvSpPr>
            <a:spLocks noGrp="1"/>
          </p:cNvSpPr>
          <p:nvPr>
            <p:ph idx="1"/>
          </p:nvPr>
        </p:nvSpPr>
        <p:spPr>
          <a:xfrm>
            <a:off x="838200" y="1690688"/>
            <a:ext cx="10515600" cy="4507940"/>
          </a:xfrm>
        </p:spPr>
        <p:txBody>
          <a:bodyPr>
            <a:normAutofit fontScale="85000" lnSpcReduction="20000"/>
          </a:bodyPr>
          <a:lstStyle/>
          <a:p>
            <a:r>
              <a:rPr lang="en-US" b="1" dirty="0"/>
              <a:t>Drivers Behind New Network Architectures: </a:t>
            </a:r>
            <a:r>
              <a:rPr lang="en-US" dirty="0"/>
              <a:t>OT networks drive core industrial business operations. They have unique characteristics and constraints that are not easily supported by traditional IT network architectures.</a:t>
            </a:r>
          </a:p>
          <a:p>
            <a:r>
              <a:rPr lang="en-US" b="1" dirty="0"/>
              <a:t>Comparing IoT Architectures: </a:t>
            </a:r>
            <a:r>
              <a:rPr lang="en-US" dirty="0"/>
              <a:t>Several architectures have been published for IoT, including those by ETSI and the IoT World Forum. This section discusses and compares these architectures.</a:t>
            </a:r>
          </a:p>
          <a:p>
            <a:r>
              <a:rPr lang="en-US" b="1" dirty="0"/>
              <a:t>A Simplified IoT Architecture: </a:t>
            </a:r>
            <a:r>
              <a:rPr lang="en-US" dirty="0"/>
              <a:t>While several IoT architectures exist, a simplified model is presented in this section to lay a foundation for rest of the material discussed in this book.</a:t>
            </a:r>
          </a:p>
          <a:p>
            <a:r>
              <a:rPr lang="en-US" b="1" dirty="0"/>
              <a:t>The Core IoT Functional Stack: </a:t>
            </a:r>
            <a:r>
              <a:rPr lang="en-US" dirty="0"/>
              <a:t>The IoT network must be designed to support its unique requirements and constraints. This section provides an overview of the full networking stack, from sensors all the way to the applications layer.</a:t>
            </a:r>
          </a:p>
          <a:p>
            <a:r>
              <a:rPr lang="en-US" b="1" dirty="0"/>
              <a:t>IoT Data Management and Compute Stack</a:t>
            </a:r>
            <a:r>
              <a:rPr lang="en-US" dirty="0"/>
              <a:t>: This section introduces data management, including storage and compute resource models for IoT, and involves edge, fog, and cloud computing.</a:t>
            </a:r>
          </a:p>
        </p:txBody>
      </p:sp>
    </p:spTree>
    <p:extLst>
      <p:ext uri="{BB962C8B-B14F-4D97-AF65-F5344CB8AC3E}">
        <p14:creationId xmlns:p14="http://schemas.microsoft.com/office/powerpoint/2010/main" val="38039331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7EE39-1B0B-44A6-998D-822985EDD1FF}"/>
              </a:ext>
            </a:extLst>
          </p:cNvPr>
          <p:cNvSpPr>
            <a:spLocks noGrp="1"/>
          </p:cNvSpPr>
          <p:nvPr>
            <p:ph type="title"/>
          </p:nvPr>
        </p:nvSpPr>
        <p:spPr/>
        <p:txBody>
          <a:bodyPr/>
          <a:lstStyle/>
          <a:p>
            <a:r>
              <a:rPr lang="en-US" dirty="0"/>
              <a:t>Drivers Behind New Network Architectures</a:t>
            </a:r>
          </a:p>
        </p:txBody>
      </p:sp>
      <p:sp>
        <p:nvSpPr>
          <p:cNvPr id="3" name="Content Placeholder 2">
            <a:extLst>
              <a:ext uri="{FF2B5EF4-FFF2-40B4-BE49-F238E27FC236}">
                <a16:creationId xmlns:a16="http://schemas.microsoft.com/office/drawing/2014/main" id="{FE9C84DC-489F-4C02-A4E9-3AB1D217F701}"/>
              </a:ext>
            </a:extLst>
          </p:cNvPr>
          <p:cNvSpPr>
            <a:spLocks noGrp="1"/>
          </p:cNvSpPr>
          <p:nvPr>
            <p:ph idx="1"/>
          </p:nvPr>
        </p:nvSpPr>
        <p:spPr/>
        <p:txBody>
          <a:bodyPr/>
          <a:lstStyle/>
          <a:p>
            <a:r>
              <a:rPr lang="en-US" dirty="0"/>
              <a:t>Traditional IT networks are not well suited to the complex requirements of IoT</a:t>
            </a:r>
          </a:p>
          <a:p>
            <a:r>
              <a:rPr lang="en-US" dirty="0"/>
              <a:t>Key difference between IT and IoT is the data</a:t>
            </a:r>
          </a:p>
          <a:p>
            <a:r>
              <a:rPr lang="en-US" dirty="0"/>
              <a:t>IT systems are mostly concerned with reliable and continuous support of business applications such as email, web, databases, CRM systems and so on, IoT is all about the data generated by sensors and how that data is used</a:t>
            </a:r>
          </a:p>
          <a:p>
            <a:r>
              <a:rPr lang="en-US" dirty="0"/>
              <a:t>The essence of IoT architectures thus involves how the data is transported, collected, analyzed, and ultimately acted upon</a:t>
            </a:r>
          </a:p>
        </p:txBody>
      </p:sp>
    </p:spTree>
    <p:extLst>
      <p:ext uri="{BB962C8B-B14F-4D97-AF65-F5344CB8AC3E}">
        <p14:creationId xmlns:p14="http://schemas.microsoft.com/office/powerpoint/2010/main" val="24941395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E518E-D2CF-4A73-8157-9A86665BEF1E}"/>
              </a:ext>
            </a:extLst>
          </p:cNvPr>
          <p:cNvSpPr>
            <a:spLocks noGrp="1"/>
          </p:cNvSpPr>
          <p:nvPr>
            <p:ph type="title"/>
          </p:nvPr>
        </p:nvSpPr>
        <p:spPr/>
        <p:txBody>
          <a:bodyPr/>
          <a:lstStyle/>
          <a:p>
            <a:r>
              <a:rPr lang="en-US" dirty="0"/>
              <a:t>IoT Architecture Drivers</a:t>
            </a:r>
          </a:p>
        </p:txBody>
      </p:sp>
      <p:graphicFrame>
        <p:nvGraphicFramePr>
          <p:cNvPr id="5" name="Table 5">
            <a:extLst>
              <a:ext uri="{FF2B5EF4-FFF2-40B4-BE49-F238E27FC236}">
                <a16:creationId xmlns:a16="http://schemas.microsoft.com/office/drawing/2014/main" id="{AE796D0E-B304-4909-ABFA-E4A41E27809A}"/>
              </a:ext>
            </a:extLst>
          </p:cNvPr>
          <p:cNvGraphicFramePr>
            <a:graphicFrameLocks noGrp="1"/>
          </p:cNvGraphicFramePr>
          <p:nvPr>
            <p:ph idx="1"/>
            <p:extLst>
              <p:ext uri="{D42A27DB-BD31-4B8C-83A1-F6EECF244321}">
                <p14:modId xmlns:p14="http://schemas.microsoft.com/office/powerpoint/2010/main" val="914070947"/>
              </p:ext>
            </p:extLst>
          </p:nvPr>
        </p:nvGraphicFramePr>
        <p:xfrm>
          <a:off x="838200" y="1368425"/>
          <a:ext cx="10515597" cy="5303520"/>
        </p:xfrm>
        <a:graphic>
          <a:graphicData uri="http://schemas.openxmlformats.org/drawingml/2006/table">
            <a:tbl>
              <a:tblPr firstRow="1" bandRow="1">
                <a:tableStyleId>{5C22544A-7EE6-4342-B048-85BDC9FD1C3A}</a:tableStyleId>
              </a:tblPr>
              <a:tblGrid>
                <a:gridCol w="1851212">
                  <a:extLst>
                    <a:ext uri="{9D8B030D-6E8A-4147-A177-3AD203B41FA5}">
                      <a16:colId xmlns:a16="http://schemas.microsoft.com/office/drawing/2014/main" val="3599879972"/>
                    </a:ext>
                  </a:extLst>
                </a:gridCol>
                <a:gridCol w="3186953">
                  <a:extLst>
                    <a:ext uri="{9D8B030D-6E8A-4147-A177-3AD203B41FA5}">
                      <a16:colId xmlns:a16="http://schemas.microsoft.com/office/drawing/2014/main" val="3285775728"/>
                    </a:ext>
                  </a:extLst>
                </a:gridCol>
                <a:gridCol w="5477432">
                  <a:extLst>
                    <a:ext uri="{9D8B030D-6E8A-4147-A177-3AD203B41FA5}">
                      <a16:colId xmlns:a16="http://schemas.microsoft.com/office/drawing/2014/main" val="1454452962"/>
                    </a:ext>
                  </a:extLst>
                </a:gridCol>
              </a:tblGrid>
              <a:tr h="353410">
                <a:tc>
                  <a:txBody>
                    <a:bodyPr/>
                    <a:lstStyle/>
                    <a:p>
                      <a:r>
                        <a:rPr lang="en-US" dirty="0"/>
                        <a:t>Challenge</a:t>
                      </a:r>
                    </a:p>
                  </a:txBody>
                  <a:tcPr/>
                </a:tc>
                <a:tc>
                  <a:txBody>
                    <a:bodyPr/>
                    <a:lstStyle/>
                    <a:p>
                      <a:r>
                        <a:rPr lang="en-US" dirty="0"/>
                        <a:t>Description</a:t>
                      </a:r>
                    </a:p>
                  </a:txBody>
                  <a:tcPr/>
                </a:tc>
                <a:tc>
                  <a:txBody>
                    <a:bodyPr/>
                    <a:lstStyle/>
                    <a:p>
                      <a:r>
                        <a:rPr lang="en-US" dirty="0"/>
                        <a:t>IoT Architectural Change Required</a:t>
                      </a:r>
                    </a:p>
                  </a:txBody>
                  <a:tcPr/>
                </a:tc>
                <a:extLst>
                  <a:ext uri="{0D108BD9-81ED-4DB2-BD59-A6C34878D82A}">
                    <a16:rowId xmlns:a16="http://schemas.microsoft.com/office/drawing/2014/main" val="3927734220"/>
                  </a:ext>
                </a:extLst>
              </a:tr>
              <a:tr h="1413641">
                <a:tc>
                  <a:txBody>
                    <a:bodyPr/>
                    <a:lstStyle/>
                    <a:p>
                      <a:r>
                        <a:rPr lang="en-US" dirty="0"/>
                        <a:t>Scale</a:t>
                      </a:r>
                    </a:p>
                  </a:txBody>
                  <a:tcPr/>
                </a:tc>
                <a:tc>
                  <a:txBody>
                    <a:bodyPr/>
                    <a:lstStyle/>
                    <a:p>
                      <a:r>
                        <a:rPr lang="en-US" dirty="0"/>
                        <a:t>The massive scale of IoT end-</a:t>
                      </a:r>
                    </a:p>
                    <a:p>
                      <a:r>
                        <a:rPr lang="en-US" dirty="0"/>
                        <a:t>points (sensors) is far beyond </a:t>
                      </a:r>
                    </a:p>
                    <a:p>
                      <a:r>
                        <a:rPr lang="en-US" dirty="0"/>
                        <a:t>that of typical IT networks.</a:t>
                      </a:r>
                    </a:p>
                  </a:txBody>
                  <a:tcPr/>
                </a:tc>
                <a:tc>
                  <a:txBody>
                    <a:bodyPr/>
                    <a:lstStyle/>
                    <a:p>
                      <a:r>
                        <a:rPr lang="en-US" dirty="0"/>
                        <a:t>The IPv4 address space has reached exhaustion and is unable to meet IoT’s scalability requirements. Scale can be met only by using IPv6. IT networks continue to use IPv4 through features like Network Address Translation (NAT)</a:t>
                      </a:r>
                    </a:p>
                  </a:txBody>
                  <a:tcPr/>
                </a:tc>
                <a:extLst>
                  <a:ext uri="{0D108BD9-81ED-4DB2-BD59-A6C34878D82A}">
                    <a16:rowId xmlns:a16="http://schemas.microsoft.com/office/drawing/2014/main" val="2783638034"/>
                  </a:ext>
                </a:extLst>
              </a:tr>
              <a:tr h="1678699">
                <a:tc>
                  <a:txBody>
                    <a:bodyPr/>
                    <a:lstStyle/>
                    <a:p>
                      <a:r>
                        <a:rPr lang="en-US" dirty="0"/>
                        <a:t>Security</a:t>
                      </a:r>
                    </a:p>
                  </a:txBody>
                  <a:tcPr/>
                </a:tc>
                <a:tc>
                  <a:txBody>
                    <a:bodyPr/>
                    <a:lstStyle/>
                    <a:p>
                      <a:r>
                        <a:rPr lang="en-US" dirty="0"/>
                        <a:t>IoT devices, especially those </a:t>
                      </a:r>
                    </a:p>
                    <a:p>
                      <a:r>
                        <a:rPr lang="en-US" dirty="0"/>
                        <a:t>on wireless sensor networks </a:t>
                      </a:r>
                    </a:p>
                    <a:p>
                      <a:r>
                        <a:rPr lang="en-US" dirty="0"/>
                        <a:t>(WSNs), are often physically </a:t>
                      </a:r>
                    </a:p>
                    <a:p>
                      <a:r>
                        <a:rPr lang="en-US" dirty="0"/>
                        <a:t>exposed to the world.</a:t>
                      </a:r>
                    </a:p>
                  </a:txBody>
                  <a:tcPr/>
                </a:tc>
                <a:tc>
                  <a:txBody>
                    <a:bodyPr/>
                    <a:lstStyle/>
                    <a:p>
                      <a:r>
                        <a:rPr lang="en-US" dirty="0"/>
                        <a:t>Security is required at every level of the IoT network. Every IoT endpoint node on the network must be part of </a:t>
                      </a:r>
                    </a:p>
                    <a:p>
                      <a:r>
                        <a:rPr lang="en-US" dirty="0"/>
                        <a:t>the overall security strategy and must support device-level authentication and link encryption. It must also be easy to deploy with some type of a zero-touch deployment  model</a:t>
                      </a:r>
                    </a:p>
                  </a:txBody>
                  <a:tcPr/>
                </a:tc>
                <a:extLst>
                  <a:ext uri="{0D108BD9-81ED-4DB2-BD59-A6C34878D82A}">
                    <a16:rowId xmlns:a16="http://schemas.microsoft.com/office/drawing/2014/main" val="2566762887"/>
                  </a:ext>
                </a:extLst>
              </a:tr>
              <a:tr h="1678699">
                <a:tc>
                  <a:txBody>
                    <a:bodyPr/>
                    <a:lstStyle/>
                    <a:p>
                      <a:r>
                        <a:rPr lang="en-US" dirty="0"/>
                        <a:t>Devices and networks constrained </a:t>
                      </a:r>
                    </a:p>
                    <a:p>
                      <a:r>
                        <a:rPr lang="en-US" dirty="0"/>
                        <a:t>by power, CPU, memory, and link Speed</a:t>
                      </a:r>
                    </a:p>
                  </a:txBody>
                  <a:tcPr/>
                </a:tc>
                <a:tc>
                  <a:txBody>
                    <a:bodyPr/>
                    <a:lstStyle/>
                    <a:p>
                      <a:r>
                        <a:rPr lang="en-US" dirty="0"/>
                        <a:t>Due to the massive scale and </a:t>
                      </a:r>
                    </a:p>
                    <a:p>
                      <a:r>
                        <a:rPr lang="en-US" dirty="0"/>
                        <a:t>longer distances, the networks </a:t>
                      </a:r>
                    </a:p>
                    <a:p>
                      <a:r>
                        <a:rPr lang="en-US" dirty="0"/>
                        <a:t>are often constrained, lossy, </a:t>
                      </a:r>
                    </a:p>
                    <a:p>
                      <a:r>
                        <a:rPr lang="en-US" dirty="0"/>
                        <a:t>and capable of supporting only </a:t>
                      </a:r>
                    </a:p>
                    <a:p>
                      <a:r>
                        <a:rPr lang="en-US" dirty="0"/>
                        <a:t>minimal data rates (tens of bps </a:t>
                      </a:r>
                    </a:p>
                    <a:p>
                      <a:r>
                        <a:rPr lang="en-US" dirty="0"/>
                        <a:t>to hundreds of Kbps).</a:t>
                      </a:r>
                    </a:p>
                  </a:txBody>
                  <a:tcPr/>
                </a:tc>
                <a:tc>
                  <a:txBody>
                    <a:bodyPr/>
                    <a:lstStyle/>
                    <a:p>
                      <a:r>
                        <a:rPr lang="en-US" dirty="0"/>
                        <a:t>New last-mile wireless technologies are needed to support constrained IoT devices over long distances. The network is also constrained, meaning modifications need </a:t>
                      </a:r>
                    </a:p>
                    <a:p>
                      <a:r>
                        <a:rPr lang="en-US" dirty="0"/>
                        <a:t>to be made to traditional network-layer transport mechanisms.</a:t>
                      </a:r>
                    </a:p>
                  </a:txBody>
                  <a:tcPr/>
                </a:tc>
                <a:extLst>
                  <a:ext uri="{0D108BD9-81ED-4DB2-BD59-A6C34878D82A}">
                    <a16:rowId xmlns:a16="http://schemas.microsoft.com/office/drawing/2014/main" val="2588659004"/>
                  </a:ext>
                </a:extLst>
              </a:tr>
            </a:tbl>
          </a:graphicData>
        </a:graphic>
      </p:graphicFrame>
    </p:spTree>
    <p:extLst>
      <p:ext uri="{BB962C8B-B14F-4D97-AF65-F5344CB8AC3E}">
        <p14:creationId xmlns:p14="http://schemas.microsoft.com/office/powerpoint/2010/main" val="6486999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E518E-D2CF-4A73-8157-9A86665BEF1E}"/>
              </a:ext>
            </a:extLst>
          </p:cNvPr>
          <p:cNvSpPr>
            <a:spLocks noGrp="1"/>
          </p:cNvSpPr>
          <p:nvPr>
            <p:ph type="title"/>
          </p:nvPr>
        </p:nvSpPr>
        <p:spPr/>
        <p:txBody>
          <a:bodyPr/>
          <a:lstStyle/>
          <a:p>
            <a:r>
              <a:rPr lang="en-US" dirty="0"/>
              <a:t>IoT Architecture Drivers</a:t>
            </a:r>
          </a:p>
        </p:txBody>
      </p:sp>
      <p:graphicFrame>
        <p:nvGraphicFramePr>
          <p:cNvPr id="5" name="Table 5">
            <a:extLst>
              <a:ext uri="{FF2B5EF4-FFF2-40B4-BE49-F238E27FC236}">
                <a16:creationId xmlns:a16="http://schemas.microsoft.com/office/drawing/2014/main" id="{AE796D0E-B304-4909-ABFA-E4A41E27809A}"/>
              </a:ext>
            </a:extLst>
          </p:cNvPr>
          <p:cNvGraphicFramePr>
            <a:graphicFrameLocks noGrp="1"/>
          </p:cNvGraphicFramePr>
          <p:nvPr>
            <p:ph idx="1"/>
            <p:extLst>
              <p:ext uri="{D42A27DB-BD31-4B8C-83A1-F6EECF244321}">
                <p14:modId xmlns:p14="http://schemas.microsoft.com/office/powerpoint/2010/main" val="2605797645"/>
              </p:ext>
            </p:extLst>
          </p:nvPr>
        </p:nvGraphicFramePr>
        <p:xfrm>
          <a:off x="838200" y="1368425"/>
          <a:ext cx="10515597" cy="4807076"/>
        </p:xfrm>
        <a:graphic>
          <a:graphicData uri="http://schemas.openxmlformats.org/drawingml/2006/table">
            <a:tbl>
              <a:tblPr firstRow="1" bandRow="1">
                <a:tableStyleId>{5C22544A-7EE6-4342-B048-85BDC9FD1C3A}</a:tableStyleId>
              </a:tblPr>
              <a:tblGrid>
                <a:gridCol w="1851212">
                  <a:extLst>
                    <a:ext uri="{9D8B030D-6E8A-4147-A177-3AD203B41FA5}">
                      <a16:colId xmlns:a16="http://schemas.microsoft.com/office/drawing/2014/main" val="3599879972"/>
                    </a:ext>
                  </a:extLst>
                </a:gridCol>
                <a:gridCol w="3186953">
                  <a:extLst>
                    <a:ext uri="{9D8B030D-6E8A-4147-A177-3AD203B41FA5}">
                      <a16:colId xmlns:a16="http://schemas.microsoft.com/office/drawing/2014/main" val="3285775728"/>
                    </a:ext>
                  </a:extLst>
                </a:gridCol>
                <a:gridCol w="5477432">
                  <a:extLst>
                    <a:ext uri="{9D8B030D-6E8A-4147-A177-3AD203B41FA5}">
                      <a16:colId xmlns:a16="http://schemas.microsoft.com/office/drawing/2014/main" val="1454452962"/>
                    </a:ext>
                  </a:extLst>
                </a:gridCol>
              </a:tblGrid>
              <a:tr h="351154">
                <a:tc>
                  <a:txBody>
                    <a:bodyPr/>
                    <a:lstStyle/>
                    <a:p>
                      <a:r>
                        <a:rPr lang="en-US" dirty="0"/>
                        <a:t>Challenge</a:t>
                      </a:r>
                    </a:p>
                  </a:txBody>
                  <a:tcPr/>
                </a:tc>
                <a:tc>
                  <a:txBody>
                    <a:bodyPr/>
                    <a:lstStyle/>
                    <a:p>
                      <a:r>
                        <a:rPr lang="en-US" dirty="0"/>
                        <a:t>Description</a:t>
                      </a:r>
                    </a:p>
                  </a:txBody>
                  <a:tcPr/>
                </a:tc>
                <a:tc>
                  <a:txBody>
                    <a:bodyPr/>
                    <a:lstStyle/>
                    <a:p>
                      <a:r>
                        <a:rPr lang="en-US" dirty="0"/>
                        <a:t>IoT Architectural Change Required</a:t>
                      </a:r>
                    </a:p>
                  </a:txBody>
                  <a:tcPr/>
                </a:tc>
                <a:extLst>
                  <a:ext uri="{0D108BD9-81ED-4DB2-BD59-A6C34878D82A}">
                    <a16:rowId xmlns:a16="http://schemas.microsoft.com/office/drawing/2014/main" val="3927734220"/>
                  </a:ext>
                </a:extLst>
              </a:tr>
              <a:tr h="1236094">
                <a:tc>
                  <a:txBody>
                    <a:bodyPr/>
                    <a:lstStyle/>
                    <a:p>
                      <a:r>
                        <a:rPr lang="en-US" dirty="0"/>
                        <a:t>The massive </a:t>
                      </a:r>
                    </a:p>
                    <a:p>
                      <a:r>
                        <a:rPr lang="en-US" dirty="0"/>
                        <a:t>volume of data generated </a:t>
                      </a:r>
                    </a:p>
                  </a:txBody>
                  <a:tcPr/>
                </a:tc>
                <a:tc>
                  <a:txBody>
                    <a:bodyPr/>
                    <a:lstStyle/>
                    <a:p>
                      <a:r>
                        <a:rPr lang="en-US" dirty="0"/>
                        <a:t>The sensors generate a massive </a:t>
                      </a:r>
                    </a:p>
                    <a:p>
                      <a:r>
                        <a:rPr lang="en-US" dirty="0"/>
                        <a:t>amount of data on a daily basis, </a:t>
                      </a:r>
                    </a:p>
                    <a:p>
                      <a:r>
                        <a:rPr lang="en-US" dirty="0"/>
                        <a:t>causing network bottlenecks </a:t>
                      </a:r>
                    </a:p>
                    <a:p>
                      <a:r>
                        <a:rPr lang="en-US" dirty="0"/>
                        <a:t>and slow analytics in the cloud</a:t>
                      </a:r>
                    </a:p>
                  </a:txBody>
                  <a:tcPr/>
                </a:tc>
                <a:tc>
                  <a:txBody>
                    <a:bodyPr/>
                    <a:lstStyle/>
                    <a:p>
                      <a:r>
                        <a:rPr lang="en-US" dirty="0"/>
                        <a:t>Data analytics capabilities need to be distributed throughout the IoT network, from the edge to the cloud. In traditional IT networks, analytics and applications </a:t>
                      </a:r>
                    </a:p>
                    <a:p>
                      <a:r>
                        <a:rPr lang="en-US" dirty="0"/>
                        <a:t>typically run only in the cloud.</a:t>
                      </a:r>
                    </a:p>
                  </a:txBody>
                  <a:tcPr/>
                </a:tc>
                <a:extLst>
                  <a:ext uri="{0D108BD9-81ED-4DB2-BD59-A6C34878D82A}">
                    <a16:rowId xmlns:a16="http://schemas.microsoft.com/office/drawing/2014/main" val="2783638034"/>
                  </a:ext>
                </a:extLst>
              </a:tr>
              <a:tr h="1667982">
                <a:tc>
                  <a:txBody>
                    <a:bodyPr/>
                    <a:lstStyle/>
                    <a:p>
                      <a:r>
                        <a:rPr lang="en-US" dirty="0"/>
                        <a:t>Support for legacy devices</a:t>
                      </a:r>
                    </a:p>
                  </a:txBody>
                  <a:tcPr/>
                </a:tc>
                <a:tc>
                  <a:txBody>
                    <a:bodyPr/>
                    <a:lstStyle/>
                    <a:p>
                      <a:r>
                        <a:rPr lang="en-US" dirty="0"/>
                        <a:t>An IoT network often comprises a collection of modern, IP capable endpoints as well as legacy, non-IP devices that rely on serial or proprietary protocols.</a:t>
                      </a:r>
                    </a:p>
                  </a:txBody>
                  <a:tcPr/>
                </a:tc>
                <a:tc>
                  <a:txBody>
                    <a:bodyPr/>
                    <a:lstStyle/>
                    <a:p>
                      <a:r>
                        <a:rPr lang="en-US" dirty="0"/>
                        <a:t>Digital transformation is a long process that may take many years, and IoT networks need to support protocol translation and/or tunneling mechanisms to support legacy protocols over standards based protocols, such as Ethernet and IP.</a:t>
                      </a:r>
                    </a:p>
                  </a:txBody>
                  <a:tcPr/>
                </a:tc>
                <a:extLst>
                  <a:ext uri="{0D108BD9-81ED-4DB2-BD59-A6C34878D82A}">
                    <a16:rowId xmlns:a16="http://schemas.microsoft.com/office/drawing/2014/main" val="2566762887"/>
                  </a:ext>
                </a:extLst>
              </a:tr>
              <a:tr h="1467862">
                <a:tc>
                  <a:txBody>
                    <a:bodyPr/>
                    <a:lstStyle/>
                    <a:p>
                      <a:r>
                        <a:rPr lang="en-US" dirty="0"/>
                        <a:t>The need for data to be analyzed in </a:t>
                      </a:r>
                    </a:p>
                    <a:p>
                      <a:r>
                        <a:rPr lang="en-US" dirty="0"/>
                        <a:t>real time</a:t>
                      </a:r>
                    </a:p>
                  </a:txBody>
                  <a:tcPr/>
                </a:tc>
                <a:tc>
                  <a:txBody>
                    <a:bodyPr/>
                    <a:lstStyle/>
                    <a:p>
                      <a:r>
                        <a:rPr lang="en-US" dirty="0"/>
                        <a:t>Whereas traditional IT </a:t>
                      </a:r>
                    </a:p>
                    <a:p>
                      <a:r>
                        <a:rPr lang="en-US" dirty="0"/>
                        <a:t>networks perform scheduled </a:t>
                      </a:r>
                    </a:p>
                    <a:p>
                      <a:r>
                        <a:rPr lang="en-US" dirty="0"/>
                        <a:t>batch processing of data, IoT </a:t>
                      </a:r>
                    </a:p>
                    <a:p>
                      <a:r>
                        <a:rPr lang="en-US" dirty="0"/>
                        <a:t>data needs to be analyzed and </a:t>
                      </a:r>
                    </a:p>
                    <a:p>
                      <a:r>
                        <a:rPr lang="en-US" dirty="0"/>
                        <a:t>responded to in real-time.</a:t>
                      </a:r>
                    </a:p>
                  </a:txBody>
                  <a:tcPr/>
                </a:tc>
                <a:tc>
                  <a:txBody>
                    <a:bodyPr/>
                    <a:lstStyle/>
                    <a:p>
                      <a:r>
                        <a:rPr lang="en-US" dirty="0"/>
                        <a:t>Analytics software needs to be positioned closer to the edge and should support real-time streaming analytics. </a:t>
                      </a:r>
                    </a:p>
                    <a:p>
                      <a:r>
                        <a:rPr lang="en-US" dirty="0"/>
                        <a:t>Traditional IT analytics software (such as relational databases or even Hadoop), are better suited to batch-level analytics that occur after the fact.</a:t>
                      </a:r>
                    </a:p>
                  </a:txBody>
                  <a:tcPr/>
                </a:tc>
                <a:extLst>
                  <a:ext uri="{0D108BD9-81ED-4DB2-BD59-A6C34878D82A}">
                    <a16:rowId xmlns:a16="http://schemas.microsoft.com/office/drawing/2014/main" val="2588659004"/>
                  </a:ext>
                </a:extLst>
              </a:tr>
            </a:tbl>
          </a:graphicData>
        </a:graphic>
      </p:graphicFrame>
    </p:spTree>
    <p:extLst>
      <p:ext uri="{BB962C8B-B14F-4D97-AF65-F5344CB8AC3E}">
        <p14:creationId xmlns:p14="http://schemas.microsoft.com/office/powerpoint/2010/main" val="19007976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6710D-B47C-4F34-860A-C815BC78035D}"/>
              </a:ext>
            </a:extLst>
          </p:cNvPr>
          <p:cNvSpPr>
            <a:spLocks noGrp="1"/>
          </p:cNvSpPr>
          <p:nvPr>
            <p:ph type="title"/>
          </p:nvPr>
        </p:nvSpPr>
        <p:spPr/>
        <p:txBody>
          <a:bodyPr/>
          <a:lstStyle/>
          <a:p>
            <a:r>
              <a:rPr lang="en-US" dirty="0"/>
              <a:t>Comparing IoT Architectures</a:t>
            </a:r>
          </a:p>
        </p:txBody>
      </p:sp>
      <p:sp>
        <p:nvSpPr>
          <p:cNvPr id="3" name="Content Placeholder 2">
            <a:extLst>
              <a:ext uri="{FF2B5EF4-FFF2-40B4-BE49-F238E27FC236}">
                <a16:creationId xmlns:a16="http://schemas.microsoft.com/office/drawing/2014/main" id="{F8904F0F-F029-4ED6-8134-CA5652ADA524}"/>
              </a:ext>
            </a:extLst>
          </p:cNvPr>
          <p:cNvSpPr>
            <a:spLocks noGrp="1"/>
          </p:cNvSpPr>
          <p:nvPr>
            <p:ph idx="1"/>
          </p:nvPr>
        </p:nvSpPr>
        <p:spPr/>
        <p:txBody>
          <a:bodyPr>
            <a:normAutofit lnSpcReduction="10000"/>
          </a:bodyPr>
          <a:lstStyle/>
          <a:p>
            <a:pPr marL="0" indent="0">
              <a:buNone/>
            </a:pPr>
            <a:r>
              <a:rPr lang="en-US" dirty="0"/>
              <a:t>The oneM2M IoT Standardized Architecture</a:t>
            </a:r>
          </a:p>
          <a:p>
            <a:r>
              <a:rPr lang="en-US" dirty="0"/>
              <a:t>In an effort to standardize the rapidly growing field of machine-to-machine (M2M) communications, the European Telecommunications Standards Institute (ETSI) created the M2M Technical Committee in 2008.</a:t>
            </a:r>
          </a:p>
          <a:p>
            <a:r>
              <a:rPr lang="en-US" dirty="0"/>
              <a:t>The goal of this committee was to create a common architecture that would help accelerate the adoption of M2M applications and devices. Over time, the scope has expanded to include the Internet of Things.</a:t>
            </a:r>
          </a:p>
          <a:p>
            <a:r>
              <a:rPr lang="en-US" dirty="0"/>
              <a:t>in 2012 ETSI and 13 other founding members launched oneM2M as a global initiative designed to promote efficient M2M communication systems and IoT</a:t>
            </a:r>
          </a:p>
        </p:txBody>
      </p:sp>
    </p:spTree>
    <p:extLst>
      <p:ext uri="{BB962C8B-B14F-4D97-AF65-F5344CB8AC3E}">
        <p14:creationId xmlns:p14="http://schemas.microsoft.com/office/powerpoint/2010/main" val="10984753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3E495-F102-4AEB-985D-85A966EAFCE1}"/>
              </a:ext>
            </a:extLst>
          </p:cNvPr>
          <p:cNvSpPr>
            <a:spLocks noGrp="1"/>
          </p:cNvSpPr>
          <p:nvPr>
            <p:ph type="title"/>
          </p:nvPr>
        </p:nvSpPr>
        <p:spPr>
          <a:xfrm>
            <a:off x="838200" y="383704"/>
            <a:ext cx="10515600" cy="1325563"/>
          </a:xfrm>
        </p:spPr>
        <p:txBody>
          <a:bodyPr/>
          <a:lstStyle/>
          <a:p>
            <a:r>
              <a:rPr lang="en-US" dirty="0"/>
              <a:t>oneM2M IoT Architecture</a:t>
            </a:r>
          </a:p>
        </p:txBody>
      </p:sp>
      <p:pic>
        <p:nvPicPr>
          <p:cNvPr id="5" name="Content Placeholder 4">
            <a:extLst>
              <a:ext uri="{FF2B5EF4-FFF2-40B4-BE49-F238E27FC236}">
                <a16:creationId xmlns:a16="http://schemas.microsoft.com/office/drawing/2014/main" id="{D05970F3-540E-4EB1-87DD-E3450A8DB8C9}"/>
              </a:ext>
            </a:extLst>
          </p:cNvPr>
          <p:cNvPicPr>
            <a:picLocks noGrp="1" noChangeAspect="1"/>
          </p:cNvPicPr>
          <p:nvPr>
            <p:ph idx="1"/>
          </p:nvPr>
        </p:nvPicPr>
        <p:blipFill>
          <a:blip r:embed="rId2"/>
          <a:stretch>
            <a:fillRect/>
          </a:stretch>
        </p:blipFill>
        <p:spPr>
          <a:xfrm>
            <a:off x="1335741" y="1465729"/>
            <a:ext cx="9520517" cy="4639235"/>
          </a:xfrm>
        </p:spPr>
      </p:pic>
      <p:sp>
        <p:nvSpPr>
          <p:cNvPr id="7" name="TextBox 6">
            <a:extLst>
              <a:ext uri="{FF2B5EF4-FFF2-40B4-BE49-F238E27FC236}">
                <a16:creationId xmlns:a16="http://schemas.microsoft.com/office/drawing/2014/main" id="{F5E58696-E6FC-4A19-9344-7510B040F9DC}"/>
              </a:ext>
            </a:extLst>
          </p:cNvPr>
          <p:cNvSpPr txBox="1"/>
          <p:nvPr/>
        </p:nvSpPr>
        <p:spPr>
          <a:xfrm>
            <a:off x="3237379" y="6104964"/>
            <a:ext cx="6098240" cy="369332"/>
          </a:xfrm>
          <a:prstGeom prst="rect">
            <a:avLst/>
          </a:prstGeom>
          <a:noFill/>
        </p:spPr>
        <p:txBody>
          <a:bodyPr wrap="square">
            <a:spAutoFit/>
          </a:bodyPr>
          <a:lstStyle/>
          <a:p>
            <a:r>
              <a:rPr lang="en-US" dirty="0"/>
              <a:t>The Main Elements of the oneM2M IoT Architecture</a:t>
            </a:r>
          </a:p>
        </p:txBody>
      </p:sp>
    </p:spTree>
    <p:extLst>
      <p:ext uri="{BB962C8B-B14F-4D97-AF65-F5344CB8AC3E}">
        <p14:creationId xmlns:p14="http://schemas.microsoft.com/office/powerpoint/2010/main" val="20265910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969B9-89A2-4E06-BD8C-C6FB2C53E748}"/>
              </a:ext>
            </a:extLst>
          </p:cNvPr>
          <p:cNvSpPr>
            <a:spLocks noGrp="1"/>
          </p:cNvSpPr>
          <p:nvPr>
            <p:ph type="title"/>
          </p:nvPr>
        </p:nvSpPr>
        <p:spPr/>
        <p:txBody>
          <a:bodyPr/>
          <a:lstStyle/>
          <a:p>
            <a:r>
              <a:rPr lang="en-US" dirty="0"/>
              <a:t>oneM2M IoT Architecture</a:t>
            </a:r>
          </a:p>
        </p:txBody>
      </p:sp>
      <p:sp>
        <p:nvSpPr>
          <p:cNvPr id="3" name="Content Placeholder 2">
            <a:extLst>
              <a:ext uri="{FF2B5EF4-FFF2-40B4-BE49-F238E27FC236}">
                <a16:creationId xmlns:a16="http://schemas.microsoft.com/office/drawing/2014/main" id="{04CE1D63-BCF5-468E-83CF-BCBD3A897E42}"/>
              </a:ext>
            </a:extLst>
          </p:cNvPr>
          <p:cNvSpPr>
            <a:spLocks noGrp="1"/>
          </p:cNvSpPr>
          <p:nvPr>
            <p:ph idx="1"/>
          </p:nvPr>
        </p:nvSpPr>
        <p:spPr/>
        <p:txBody>
          <a:bodyPr>
            <a:normAutofit lnSpcReduction="10000"/>
          </a:bodyPr>
          <a:lstStyle/>
          <a:p>
            <a:r>
              <a:rPr lang="en-US" b="1" dirty="0"/>
              <a:t>Network Layer </a:t>
            </a:r>
            <a:r>
              <a:rPr lang="en-US" dirty="0"/>
              <a:t>supports all communication and networking tasks. </a:t>
            </a:r>
          </a:p>
          <a:p>
            <a:r>
              <a:rPr lang="en-US" dirty="0"/>
              <a:t>The </a:t>
            </a:r>
            <a:r>
              <a:rPr lang="en-US" b="1" dirty="0"/>
              <a:t>common service </a:t>
            </a:r>
            <a:r>
              <a:rPr lang="en-US" dirty="0"/>
              <a:t>provides common services for the IoT system, such as security, device management, and data storage. The common services layer communicates with the other layers through a set of standard interfaces and protocols.</a:t>
            </a:r>
          </a:p>
          <a:p>
            <a:r>
              <a:rPr lang="en-US" b="1" dirty="0"/>
              <a:t>Application Layer </a:t>
            </a:r>
            <a:r>
              <a:rPr lang="en-US" dirty="0"/>
              <a:t>implements an M2M application service logic. Examples of such application entities are smart metering monitoring in a smart grid or a patient monitoring system using an IoT infrastructure. The NS provides services from the underlying network to the CS entity. Examples of NS services include device management, location services and device triggering.</a:t>
            </a:r>
          </a:p>
        </p:txBody>
      </p:sp>
    </p:spTree>
    <p:extLst>
      <p:ext uri="{BB962C8B-B14F-4D97-AF65-F5344CB8AC3E}">
        <p14:creationId xmlns:p14="http://schemas.microsoft.com/office/powerpoint/2010/main" val="15528443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D17B2-349E-4D04-A9E7-B61F0994E574}"/>
              </a:ext>
            </a:extLst>
          </p:cNvPr>
          <p:cNvSpPr>
            <a:spLocks noGrp="1"/>
          </p:cNvSpPr>
          <p:nvPr>
            <p:ph type="title"/>
          </p:nvPr>
        </p:nvSpPr>
        <p:spPr/>
        <p:txBody>
          <a:bodyPr/>
          <a:lstStyle/>
          <a:p>
            <a:r>
              <a:rPr lang="en-US" dirty="0"/>
              <a:t>IoT World Forum (</a:t>
            </a:r>
            <a:r>
              <a:rPr lang="en-US" dirty="0" err="1"/>
              <a:t>IoTWF</a:t>
            </a:r>
            <a:r>
              <a:rPr lang="en-US" dirty="0"/>
              <a:t>) Standardized Architecture</a:t>
            </a:r>
          </a:p>
        </p:txBody>
      </p:sp>
      <p:sp>
        <p:nvSpPr>
          <p:cNvPr id="3" name="Content Placeholder 2">
            <a:extLst>
              <a:ext uri="{FF2B5EF4-FFF2-40B4-BE49-F238E27FC236}">
                <a16:creationId xmlns:a16="http://schemas.microsoft.com/office/drawing/2014/main" id="{8992C7D0-E22F-4635-AE05-ECDE7FDE7485}"/>
              </a:ext>
            </a:extLst>
          </p:cNvPr>
          <p:cNvSpPr>
            <a:spLocks noGrp="1"/>
          </p:cNvSpPr>
          <p:nvPr>
            <p:ph idx="1"/>
          </p:nvPr>
        </p:nvSpPr>
        <p:spPr/>
        <p:txBody>
          <a:bodyPr>
            <a:normAutofit/>
          </a:bodyPr>
          <a:lstStyle/>
          <a:p>
            <a:r>
              <a:rPr lang="en-US" dirty="0"/>
              <a:t>In 2014 the </a:t>
            </a:r>
            <a:r>
              <a:rPr lang="en-US" dirty="0" err="1"/>
              <a:t>IoTWF</a:t>
            </a:r>
            <a:r>
              <a:rPr lang="en-US" dirty="0"/>
              <a:t> architectural committee (led by Cisco, IBM, Rockwell Automation, and others) published a seven-layer IoT architectural reference model</a:t>
            </a:r>
          </a:p>
          <a:p>
            <a:r>
              <a:rPr lang="en-US" dirty="0"/>
              <a:t>IoT World Forum offers a clean, simplified perspective on IoT and includes edge computing, data storage, and access</a:t>
            </a:r>
          </a:p>
          <a:p>
            <a:r>
              <a:rPr lang="en-US" dirty="0"/>
              <a:t>A succinct way of visualizing IoT from a technical perspective</a:t>
            </a:r>
          </a:p>
          <a:p>
            <a:r>
              <a:rPr lang="en-US" dirty="0"/>
              <a:t>The IoT Reference Model defines a set of levels with control flowing from the center (this could be either a cloud service or a dedicated data  center), to the edge, which includes sensors, devices, machines, and other types of intelligent end nodes</a:t>
            </a:r>
          </a:p>
          <a:p>
            <a:endParaRPr lang="en-US" dirty="0"/>
          </a:p>
        </p:txBody>
      </p:sp>
    </p:spTree>
    <p:extLst>
      <p:ext uri="{BB962C8B-B14F-4D97-AF65-F5344CB8AC3E}">
        <p14:creationId xmlns:p14="http://schemas.microsoft.com/office/powerpoint/2010/main" val="13922109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BF2A2-ABCB-4F9D-95F2-BC9896579F3E}"/>
              </a:ext>
            </a:extLst>
          </p:cNvPr>
          <p:cNvSpPr>
            <a:spLocks noGrp="1"/>
          </p:cNvSpPr>
          <p:nvPr>
            <p:ph type="title"/>
          </p:nvPr>
        </p:nvSpPr>
        <p:spPr/>
        <p:txBody>
          <a:bodyPr/>
          <a:lstStyle/>
          <a:p>
            <a:r>
              <a:rPr lang="en-US" dirty="0"/>
              <a:t>IoT World Forum (</a:t>
            </a:r>
            <a:r>
              <a:rPr lang="en-US" dirty="0" err="1"/>
              <a:t>IoTWF</a:t>
            </a:r>
            <a:r>
              <a:rPr lang="en-US" dirty="0"/>
              <a:t>) Standardized Architecture</a:t>
            </a:r>
          </a:p>
        </p:txBody>
      </p:sp>
      <p:pic>
        <p:nvPicPr>
          <p:cNvPr id="5" name="Content Placeholder 4">
            <a:extLst>
              <a:ext uri="{FF2B5EF4-FFF2-40B4-BE49-F238E27FC236}">
                <a16:creationId xmlns:a16="http://schemas.microsoft.com/office/drawing/2014/main" id="{0A79AE81-F98A-48B0-9FBB-4D816DAF1C7D}"/>
              </a:ext>
            </a:extLst>
          </p:cNvPr>
          <p:cNvPicPr>
            <a:picLocks noGrp="1" noChangeAspect="1"/>
          </p:cNvPicPr>
          <p:nvPr>
            <p:ph idx="1"/>
          </p:nvPr>
        </p:nvPicPr>
        <p:blipFill>
          <a:blip r:embed="rId2"/>
          <a:stretch>
            <a:fillRect/>
          </a:stretch>
        </p:blipFill>
        <p:spPr>
          <a:xfrm>
            <a:off x="1021977" y="1529323"/>
            <a:ext cx="9453282" cy="4468065"/>
          </a:xfrm>
        </p:spPr>
      </p:pic>
      <p:sp>
        <p:nvSpPr>
          <p:cNvPr id="7" name="TextBox 6">
            <a:extLst>
              <a:ext uri="{FF2B5EF4-FFF2-40B4-BE49-F238E27FC236}">
                <a16:creationId xmlns:a16="http://schemas.microsoft.com/office/drawing/2014/main" id="{D2210F2C-40A1-4858-B442-21C0F0306DBA}"/>
              </a:ext>
            </a:extLst>
          </p:cNvPr>
          <p:cNvSpPr txBox="1"/>
          <p:nvPr/>
        </p:nvSpPr>
        <p:spPr>
          <a:xfrm>
            <a:off x="3143251" y="5997388"/>
            <a:ext cx="6098240" cy="369332"/>
          </a:xfrm>
          <a:prstGeom prst="rect">
            <a:avLst/>
          </a:prstGeom>
          <a:noFill/>
        </p:spPr>
        <p:txBody>
          <a:bodyPr wrap="square">
            <a:spAutoFit/>
          </a:bodyPr>
          <a:lstStyle/>
          <a:p>
            <a:r>
              <a:rPr lang="en-US" dirty="0"/>
              <a:t>IoT Reference Model Published by the IoT World Forum</a:t>
            </a:r>
          </a:p>
        </p:txBody>
      </p:sp>
    </p:spTree>
    <p:extLst>
      <p:ext uri="{BB962C8B-B14F-4D97-AF65-F5344CB8AC3E}">
        <p14:creationId xmlns:p14="http://schemas.microsoft.com/office/powerpoint/2010/main" val="24482673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95E91-8E93-414A-9DB1-09C0CDE9B8F9}"/>
              </a:ext>
            </a:extLst>
          </p:cNvPr>
          <p:cNvSpPr>
            <a:spLocks noGrp="1"/>
          </p:cNvSpPr>
          <p:nvPr>
            <p:ph type="title"/>
          </p:nvPr>
        </p:nvSpPr>
        <p:spPr/>
        <p:txBody>
          <a:bodyPr/>
          <a:lstStyle/>
          <a:p>
            <a:r>
              <a:rPr lang="en-US" dirty="0"/>
              <a:t>Advantages of IoT World Forum (</a:t>
            </a:r>
            <a:r>
              <a:rPr lang="en-US" dirty="0" err="1"/>
              <a:t>IoTWF</a:t>
            </a:r>
            <a:r>
              <a:rPr lang="en-US" dirty="0"/>
              <a:t>) Standardized Architecture </a:t>
            </a:r>
          </a:p>
        </p:txBody>
      </p:sp>
      <p:sp>
        <p:nvSpPr>
          <p:cNvPr id="3" name="Content Placeholder 2">
            <a:extLst>
              <a:ext uri="{FF2B5EF4-FFF2-40B4-BE49-F238E27FC236}">
                <a16:creationId xmlns:a16="http://schemas.microsoft.com/office/drawing/2014/main" id="{3E02F866-EA04-4205-A514-754F7DF20938}"/>
              </a:ext>
            </a:extLst>
          </p:cNvPr>
          <p:cNvSpPr>
            <a:spLocks noGrp="1"/>
          </p:cNvSpPr>
          <p:nvPr>
            <p:ph idx="1"/>
          </p:nvPr>
        </p:nvSpPr>
        <p:spPr/>
        <p:txBody>
          <a:bodyPr/>
          <a:lstStyle/>
          <a:p>
            <a:r>
              <a:rPr lang="en-US" dirty="0"/>
              <a:t>Decompose the IoT problem into smaller parts</a:t>
            </a:r>
          </a:p>
          <a:p>
            <a:r>
              <a:rPr lang="en-US" dirty="0"/>
              <a:t>Identify different technologies at each layer and how they relate to one another</a:t>
            </a:r>
          </a:p>
          <a:p>
            <a:r>
              <a:rPr lang="en-US" dirty="0"/>
              <a:t>Define a system in which different parts can be provided by different vendors</a:t>
            </a:r>
          </a:p>
          <a:p>
            <a:r>
              <a:rPr lang="en-US" dirty="0"/>
              <a:t>Have a process of defining interfaces that leads to interoperability</a:t>
            </a:r>
          </a:p>
          <a:p>
            <a:r>
              <a:rPr lang="en-US" dirty="0"/>
              <a:t>Define a tiered security model that is enforced at the transition points between levels</a:t>
            </a:r>
          </a:p>
        </p:txBody>
      </p:sp>
    </p:spTree>
    <p:extLst>
      <p:ext uri="{BB962C8B-B14F-4D97-AF65-F5344CB8AC3E}">
        <p14:creationId xmlns:p14="http://schemas.microsoft.com/office/powerpoint/2010/main" val="31835059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7FFBD-2D32-4E12-A990-9077A44F68B0}"/>
              </a:ext>
            </a:extLst>
          </p:cNvPr>
          <p:cNvSpPr>
            <a:spLocks noGrp="1"/>
          </p:cNvSpPr>
          <p:nvPr>
            <p:ph type="title"/>
          </p:nvPr>
        </p:nvSpPr>
        <p:spPr/>
        <p:txBody>
          <a:bodyPr/>
          <a:lstStyle/>
          <a:p>
            <a:r>
              <a:rPr lang="en-US" dirty="0"/>
              <a:t>IoT World Forum (</a:t>
            </a:r>
            <a:r>
              <a:rPr lang="en-US" dirty="0" err="1"/>
              <a:t>IoTWF</a:t>
            </a:r>
            <a:r>
              <a:rPr lang="en-US" dirty="0"/>
              <a:t>) Standardized Architecture</a:t>
            </a:r>
          </a:p>
        </p:txBody>
      </p:sp>
      <p:sp>
        <p:nvSpPr>
          <p:cNvPr id="3" name="Content Placeholder 2">
            <a:extLst>
              <a:ext uri="{FF2B5EF4-FFF2-40B4-BE49-F238E27FC236}">
                <a16:creationId xmlns:a16="http://schemas.microsoft.com/office/drawing/2014/main" id="{54297A6A-7A5C-47CF-9C57-4F66F240C105}"/>
              </a:ext>
            </a:extLst>
          </p:cNvPr>
          <p:cNvSpPr>
            <a:spLocks noGrp="1"/>
          </p:cNvSpPr>
          <p:nvPr>
            <p:ph idx="1"/>
          </p:nvPr>
        </p:nvSpPr>
        <p:spPr/>
        <p:txBody>
          <a:bodyPr>
            <a:normAutofit fontScale="92500"/>
          </a:bodyPr>
          <a:lstStyle/>
          <a:p>
            <a:r>
              <a:rPr lang="en-US" dirty="0"/>
              <a:t>Layer 1: Physical Devices and Controllers Layer</a:t>
            </a:r>
          </a:p>
          <a:p>
            <a:pPr marL="457200" lvl="1" indent="0">
              <a:buNone/>
            </a:pPr>
            <a:r>
              <a:rPr lang="en-US" dirty="0"/>
              <a:t>The first layer of the IoT Reference Model is the physical devices and controllers layer. This layer is home to the “things” in the Internet of Things, including the  various endpoint devices and sensors that send and receive information</a:t>
            </a:r>
          </a:p>
          <a:p>
            <a:r>
              <a:rPr lang="en-US" dirty="0"/>
              <a:t>Layer 2: Connectivity Layer</a:t>
            </a:r>
          </a:p>
          <a:p>
            <a:pPr marL="457200" lvl="1" indent="0">
              <a:buNone/>
            </a:pPr>
            <a:r>
              <a:rPr lang="en-US" dirty="0"/>
              <a:t>In the second layer of the IoT Reference Model, the focus is on connectivity. The most </a:t>
            </a:r>
          </a:p>
          <a:p>
            <a:pPr marL="457200" lvl="1" indent="0">
              <a:buNone/>
            </a:pPr>
            <a:r>
              <a:rPr lang="en-US" dirty="0"/>
              <a:t>important function of this IoT layer is the reliable and timely transmission of data. More specifically, this includes transmissions between Layer 1 devices and the network </a:t>
            </a:r>
          </a:p>
          <a:p>
            <a:pPr marL="457200" lvl="1" indent="0">
              <a:buNone/>
            </a:pPr>
            <a:r>
              <a:rPr lang="en-US" dirty="0"/>
              <a:t>and between the network and information processing that occurs at Layer 3 (the edge </a:t>
            </a:r>
          </a:p>
          <a:p>
            <a:pPr marL="457200" lvl="1" indent="0">
              <a:buNone/>
            </a:pPr>
            <a:r>
              <a:rPr lang="en-US" dirty="0"/>
              <a:t>computing  layer).</a:t>
            </a:r>
          </a:p>
        </p:txBody>
      </p:sp>
    </p:spTree>
    <p:extLst>
      <p:ext uri="{BB962C8B-B14F-4D97-AF65-F5344CB8AC3E}">
        <p14:creationId xmlns:p14="http://schemas.microsoft.com/office/powerpoint/2010/main" val="1023138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4CD08-81AB-4C71-8A33-2FD424B0D6A9}"/>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1315E800-2E34-42BF-B2C1-41889A7361E8}"/>
              </a:ext>
            </a:extLst>
          </p:cNvPr>
          <p:cNvPicPr>
            <a:picLocks noGrp="1" noChangeAspect="1"/>
          </p:cNvPicPr>
          <p:nvPr>
            <p:ph idx="1"/>
          </p:nvPr>
        </p:nvPicPr>
        <p:blipFill>
          <a:blip r:embed="rId2"/>
          <a:stretch>
            <a:fillRect/>
          </a:stretch>
        </p:blipFill>
        <p:spPr>
          <a:xfrm>
            <a:off x="2497094" y="1845683"/>
            <a:ext cx="6629400" cy="3495675"/>
          </a:xfrm>
        </p:spPr>
      </p:pic>
      <p:sp>
        <p:nvSpPr>
          <p:cNvPr id="7" name="TextBox 6">
            <a:extLst>
              <a:ext uri="{FF2B5EF4-FFF2-40B4-BE49-F238E27FC236}">
                <a16:creationId xmlns:a16="http://schemas.microsoft.com/office/drawing/2014/main" id="{F9D2EC7D-30EF-4EB0-B7A8-DFE58B6E5C76}"/>
              </a:ext>
            </a:extLst>
          </p:cNvPr>
          <p:cNvSpPr txBox="1"/>
          <p:nvPr/>
        </p:nvSpPr>
        <p:spPr>
          <a:xfrm>
            <a:off x="3469159" y="5341358"/>
            <a:ext cx="6098058" cy="369332"/>
          </a:xfrm>
          <a:prstGeom prst="rect">
            <a:avLst/>
          </a:prstGeom>
          <a:noFill/>
        </p:spPr>
        <p:txBody>
          <a:bodyPr wrap="square">
            <a:spAutoFit/>
          </a:bodyPr>
          <a:lstStyle/>
          <a:p>
            <a:r>
              <a:rPr lang="en-US" dirty="0"/>
              <a:t>IoT Reference Model Connectivity Layer Functions</a:t>
            </a:r>
          </a:p>
        </p:txBody>
      </p:sp>
    </p:spTree>
    <p:extLst>
      <p:ext uri="{BB962C8B-B14F-4D97-AF65-F5344CB8AC3E}">
        <p14:creationId xmlns:p14="http://schemas.microsoft.com/office/powerpoint/2010/main" val="40192269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E15344E-E260-4780-872E-6680D734C31E}"/>
              </a:ext>
            </a:extLst>
          </p:cNvPr>
          <p:cNvSpPr>
            <a:spLocks noGrp="1"/>
          </p:cNvSpPr>
          <p:nvPr>
            <p:ph type="title"/>
          </p:nvPr>
        </p:nvSpPr>
        <p:spPr/>
        <p:txBody>
          <a:bodyPr/>
          <a:lstStyle/>
          <a:p>
            <a:endParaRPr lang="en-US"/>
          </a:p>
        </p:txBody>
      </p:sp>
      <p:sp>
        <p:nvSpPr>
          <p:cNvPr id="7" name="Picture Placeholder 6">
            <a:extLst>
              <a:ext uri="{FF2B5EF4-FFF2-40B4-BE49-F238E27FC236}">
                <a16:creationId xmlns:a16="http://schemas.microsoft.com/office/drawing/2014/main" id="{712A6A6F-98CC-496A-9978-4C07B8821ADF}"/>
              </a:ext>
            </a:extLst>
          </p:cNvPr>
          <p:cNvSpPr>
            <a:spLocks noGrp="1"/>
          </p:cNvSpPr>
          <p:nvPr>
            <p:ph type="pic" idx="1"/>
          </p:nvPr>
        </p:nvSpPr>
        <p:spPr/>
      </p:sp>
      <p:sp>
        <p:nvSpPr>
          <p:cNvPr id="3" name="Content Placeholder 2">
            <a:extLst>
              <a:ext uri="{FF2B5EF4-FFF2-40B4-BE49-F238E27FC236}">
                <a16:creationId xmlns:a16="http://schemas.microsoft.com/office/drawing/2014/main" id="{67BA5FD1-945F-4FEF-9978-62F07FB8842F}"/>
              </a:ext>
            </a:extLst>
          </p:cNvPr>
          <p:cNvSpPr>
            <a:spLocks noGrp="1"/>
          </p:cNvSpPr>
          <p:nvPr>
            <p:ph type="body" sz="half" idx="2"/>
          </p:nvPr>
        </p:nvSpPr>
        <p:spPr>
          <a:xfrm>
            <a:off x="839788" y="897280"/>
            <a:ext cx="3932237" cy="4971708"/>
          </a:xfrm>
        </p:spPr>
        <p:txBody>
          <a:bodyPr>
            <a:noAutofit/>
          </a:bodyPr>
          <a:lstStyle/>
          <a:p>
            <a:pPr algn="just"/>
            <a:r>
              <a:rPr lang="en-US" sz="1800" dirty="0"/>
              <a:t>Layer 3: Edge Computing Layer</a:t>
            </a:r>
          </a:p>
          <a:p>
            <a:pPr marL="457200" lvl="1" indent="0" algn="just">
              <a:buNone/>
            </a:pPr>
            <a:r>
              <a:rPr lang="en-US" sz="1800" dirty="0"/>
              <a:t>Edge computing is the role of Layer 3. Edge computing is often referred to as the “fog” layer. At this layer, the emphasis is on data reduction and converting network data flows into information that is ready for storage and processing by higher layers. One of the basic principles of this reference model is that information processing is initiated as early and as close to the edge of the network as possible.</a:t>
            </a:r>
          </a:p>
        </p:txBody>
      </p:sp>
      <p:pic>
        <p:nvPicPr>
          <p:cNvPr id="5" name="Picture 4">
            <a:extLst>
              <a:ext uri="{FF2B5EF4-FFF2-40B4-BE49-F238E27FC236}">
                <a16:creationId xmlns:a16="http://schemas.microsoft.com/office/drawing/2014/main" id="{BFAA1FDC-0A84-4A8F-925B-8B194D3FACE9}"/>
              </a:ext>
            </a:extLst>
          </p:cNvPr>
          <p:cNvPicPr>
            <a:picLocks noChangeAspect="1"/>
          </p:cNvPicPr>
          <p:nvPr/>
        </p:nvPicPr>
        <p:blipFill>
          <a:blip r:embed="rId2"/>
          <a:stretch>
            <a:fillRect/>
          </a:stretch>
        </p:blipFill>
        <p:spPr>
          <a:xfrm>
            <a:off x="5102504" y="897280"/>
            <a:ext cx="6333567" cy="4428482"/>
          </a:xfrm>
          <a:prstGeom prst="rect">
            <a:avLst/>
          </a:prstGeom>
        </p:spPr>
      </p:pic>
      <p:sp>
        <p:nvSpPr>
          <p:cNvPr id="9" name="TextBox 8">
            <a:extLst>
              <a:ext uri="{FF2B5EF4-FFF2-40B4-BE49-F238E27FC236}">
                <a16:creationId xmlns:a16="http://schemas.microsoft.com/office/drawing/2014/main" id="{44616989-9036-43EE-98C9-F296FB400DB9}"/>
              </a:ext>
            </a:extLst>
          </p:cNvPr>
          <p:cNvSpPr txBox="1"/>
          <p:nvPr/>
        </p:nvSpPr>
        <p:spPr>
          <a:xfrm>
            <a:off x="5569808" y="5415907"/>
            <a:ext cx="6098058" cy="369332"/>
          </a:xfrm>
          <a:prstGeom prst="rect">
            <a:avLst/>
          </a:prstGeom>
          <a:noFill/>
        </p:spPr>
        <p:txBody>
          <a:bodyPr wrap="square">
            <a:spAutoFit/>
          </a:bodyPr>
          <a:lstStyle/>
          <a:p>
            <a:r>
              <a:rPr lang="en-US" dirty="0"/>
              <a:t>IoT Reference Model Layer 3 Functions</a:t>
            </a:r>
          </a:p>
        </p:txBody>
      </p:sp>
    </p:spTree>
    <p:extLst>
      <p:ext uri="{BB962C8B-B14F-4D97-AF65-F5344CB8AC3E}">
        <p14:creationId xmlns:p14="http://schemas.microsoft.com/office/powerpoint/2010/main" val="24238546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0D58002-CC33-4081-B3FD-CC92EA458E84}"/>
              </a:ext>
            </a:extLst>
          </p:cNvPr>
          <p:cNvSpPr>
            <a:spLocks noGrp="1"/>
          </p:cNvSpPr>
          <p:nvPr>
            <p:ph type="title"/>
          </p:nvPr>
        </p:nvSpPr>
        <p:spPr/>
        <p:txBody>
          <a:bodyPr/>
          <a:lstStyle/>
          <a:p>
            <a:r>
              <a:rPr lang="en-US" dirty="0"/>
              <a:t>Summary of Layers 4–7 of the </a:t>
            </a:r>
            <a:r>
              <a:rPr lang="en-US" dirty="0" err="1"/>
              <a:t>IoTWF</a:t>
            </a:r>
            <a:r>
              <a:rPr lang="en-US" dirty="0"/>
              <a:t> Reference Model</a:t>
            </a:r>
          </a:p>
        </p:txBody>
      </p:sp>
      <p:graphicFrame>
        <p:nvGraphicFramePr>
          <p:cNvPr id="7" name="Table 7">
            <a:extLst>
              <a:ext uri="{FF2B5EF4-FFF2-40B4-BE49-F238E27FC236}">
                <a16:creationId xmlns:a16="http://schemas.microsoft.com/office/drawing/2014/main" id="{236DE14B-88CB-4915-B03C-681A7B615B46}"/>
              </a:ext>
            </a:extLst>
          </p:cNvPr>
          <p:cNvGraphicFramePr>
            <a:graphicFrameLocks noGrp="1"/>
          </p:cNvGraphicFramePr>
          <p:nvPr>
            <p:ph idx="1"/>
            <p:extLst>
              <p:ext uri="{D42A27DB-BD31-4B8C-83A1-F6EECF244321}">
                <p14:modId xmlns:p14="http://schemas.microsoft.com/office/powerpoint/2010/main" val="413491835"/>
              </p:ext>
            </p:extLst>
          </p:nvPr>
        </p:nvGraphicFramePr>
        <p:xfrm>
          <a:off x="838200" y="1690689"/>
          <a:ext cx="10515600" cy="4339408"/>
        </p:xfrm>
        <a:graphic>
          <a:graphicData uri="http://schemas.openxmlformats.org/drawingml/2006/table">
            <a:tbl>
              <a:tblPr firstRow="1" bandRow="1">
                <a:tableStyleId>{5C22544A-7EE6-4342-B048-85BDC9FD1C3A}</a:tableStyleId>
              </a:tblPr>
              <a:tblGrid>
                <a:gridCol w="3091249">
                  <a:extLst>
                    <a:ext uri="{9D8B030D-6E8A-4147-A177-3AD203B41FA5}">
                      <a16:colId xmlns:a16="http://schemas.microsoft.com/office/drawing/2014/main" val="4096605888"/>
                    </a:ext>
                  </a:extLst>
                </a:gridCol>
                <a:gridCol w="7424351">
                  <a:extLst>
                    <a:ext uri="{9D8B030D-6E8A-4147-A177-3AD203B41FA5}">
                      <a16:colId xmlns:a16="http://schemas.microsoft.com/office/drawing/2014/main" val="2827229126"/>
                    </a:ext>
                  </a:extLst>
                </a:gridCol>
              </a:tblGrid>
              <a:tr h="428656">
                <a:tc>
                  <a:txBody>
                    <a:bodyPr/>
                    <a:lstStyle/>
                    <a:p>
                      <a:r>
                        <a:rPr lang="en-US" dirty="0"/>
                        <a:t>IoT Reference Model Layer </a:t>
                      </a:r>
                    </a:p>
                  </a:txBody>
                  <a:tcPr/>
                </a:tc>
                <a:tc>
                  <a:txBody>
                    <a:bodyPr/>
                    <a:lstStyle/>
                    <a:p>
                      <a:r>
                        <a:rPr lang="en-US" dirty="0"/>
                        <a:t>Functions</a:t>
                      </a:r>
                    </a:p>
                  </a:txBody>
                  <a:tcPr/>
                </a:tc>
                <a:extLst>
                  <a:ext uri="{0D108BD9-81ED-4DB2-BD59-A6C34878D82A}">
                    <a16:rowId xmlns:a16="http://schemas.microsoft.com/office/drawing/2014/main" val="633203527"/>
                  </a:ext>
                </a:extLst>
              </a:tr>
              <a:tr h="739872">
                <a:tc>
                  <a:txBody>
                    <a:bodyPr/>
                    <a:lstStyle/>
                    <a:p>
                      <a:r>
                        <a:rPr lang="en-US" dirty="0"/>
                        <a:t>Layer 4: Data accumulation </a:t>
                      </a:r>
                    </a:p>
                    <a:p>
                      <a:r>
                        <a:rPr lang="en-US" dirty="0"/>
                        <a:t>layer</a:t>
                      </a:r>
                    </a:p>
                  </a:txBody>
                  <a:tcPr/>
                </a:tc>
                <a:tc>
                  <a:txBody>
                    <a:bodyPr/>
                    <a:lstStyle/>
                    <a:p>
                      <a:r>
                        <a:rPr lang="en-US" dirty="0"/>
                        <a:t>Captures data and stores it so it is usable by applications when necessary. Converts event-based data to query-based processing. </a:t>
                      </a:r>
                    </a:p>
                  </a:txBody>
                  <a:tcPr/>
                </a:tc>
                <a:extLst>
                  <a:ext uri="{0D108BD9-81ED-4DB2-BD59-A6C34878D82A}">
                    <a16:rowId xmlns:a16="http://schemas.microsoft.com/office/drawing/2014/main" val="2097508680"/>
                  </a:ext>
                </a:extLst>
              </a:tr>
              <a:tr h="1056960">
                <a:tc>
                  <a:txBody>
                    <a:bodyPr/>
                    <a:lstStyle/>
                    <a:p>
                      <a:r>
                        <a:rPr lang="en-US" dirty="0"/>
                        <a:t>Layer 5: Data abstraction layer</a:t>
                      </a:r>
                    </a:p>
                  </a:txBody>
                  <a:tcPr/>
                </a:tc>
                <a:tc>
                  <a:txBody>
                    <a:bodyPr/>
                    <a:lstStyle/>
                    <a:p>
                      <a:r>
                        <a:rPr lang="en-US" dirty="0"/>
                        <a:t>Reconciles multiple data formats and ensures consistent semantics from various sources. Confirms that the data set is complete and consolidates data into one place or  multiple data stores using virtualization.</a:t>
                      </a:r>
                    </a:p>
                  </a:txBody>
                  <a:tcPr/>
                </a:tc>
                <a:extLst>
                  <a:ext uri="{0D108BD9-81ED-4DB2-BD59-A6C34878D82A}">
                    <a16:rowId xmlns:a16="http://schemas.microsoft.com/office/drawing/2014/main" val="2189837247"/>
                  </a:ext>
                </a:extLst>
              </a:tr>
              <a:tr h="739872">
                <a:tc>
                  <a:txBody>
                    <a:bodyPr/>
                    <a:lstStyle/>
                    <a:p>
                      <a:r>
                        <a:rPr lang="en-US" dirty="0"/>
                        <a:t>Layer 6: Applications layer</a:t>
                      </a:r>
                    </a:p>
                  </a:txBody>
                  <a:tcPr/>
                </a:tc>
                <a:tc>
                  <a:txBody>
                    <a:bodyPr/>
                    <a:lstStyle/>
                    <a:p>
                      <a:r>
                        <a:rPr lang="en-US" dirty="0"/>
                        <a:t>Interprets data using software applications. Applications may monitor, control, and provide reports based on the analysis of the data.</a:t>
                      </a:r>
                    </a:p>
                  </a:txBody>
                  <a:tcPr/>
                </a:tc>
                <a:extLst>
                  <a:ext uri="{0D108BD9-81ED-4DB2-BD59-A6C34878D82A}">
                    <a16:rowId xmlns:a16="http://schemas.microsoft.com/office/drawing/2014/main" val="4178057131"/>
                  </a:ext>
                </a:extLst>
              </a:tr>
              <a:tr h="1374048">
                <a:tc>
                  <a:txBody>
                    <a:bodyPr/>
                    <a:lstStyle/>
                    <a:p>
                      <a:r>
                        <a:rPr lang="en-US" dirty="0"/>
                        <a:t>Layer 7: Collaboration and </a:t>
                      </a:r>
                    </a:p>
                    <a:p>
                      <a:r>
                        <a:rPr lang="en-US" dirty="0"/>
                        <a:t> processes  layer</a:t>
                      </a:r>
                    </a:p>
                  </a:txBody>
                  <a:tcPr/>
                </a:tc>
                <a:tc>
                  <a:txBody>
                    <a:bodyPr/>
                    <a:lstStyle/>
                    <a:p>
                      <a:r>
                        <a:rPr lang="en-US" dirty="0"/>
                        <a:t>Consumes and shares the application information. Collaborating on and communicating IoT information often requires multiple steps, and it is what makes IoT useful. This layer can change business processes and delivers the </a:t>
                      </a:r>
                    </a:p>
                    <a:p>
                      <a:r>
                        <a:rPr lang="en-US" dirty="0"/>
                        <a:t>benefits of IoT</a:t>
                      </a:r>
                    </a:p>
                  </a:txBody>
                  <a:tcPr/>
                </a:tc>
                <a:extLst>
                  <a:ext uri="{0D108BD9-81ED-4DB2-BD59-A6C34878D82A}">
                    <a16:rowId xmlns:a16="http://schemas.microsoft.com/office/drawing/2014/main" val="909404508"/>
                  </a:ext>
                </a:extLst>
              </a:tr>
            </a:tbl>
          </a:graphicData>
        </a:graphic>
      </p:graphicFrame>
    </p:spTree>
    <p:extLst>
      <p:ext uri="{BB962C8B-B14F-4D97-AF65-F5344CB8AC3E}">
        <p14:creationId xmlns:p14="http://schemas.microsoft.com/office/powerpoint/2010/main" val="13884192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CA6C5-2DB3-444A-8119-F1E0F4C7FBA7}"/>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AB793AA1-4641-4CC5-81FE-1A5A1C238B1E}"/>
              </a:ext>
            </a:extLst>
          </p:cNvPr>
          <p:cNvPicPr>
            <a:picLocks noGrp="1" noChangeAspect="1"/>
          </p:cNvPicPr>
          <p:nvPr>
            <p:ph idx="1"/>
          </p:nvPr>
        </p:nvPicPr>
        <p:blipFill>
          <a:blip r:embed="rId2"/>
          <a:stretch>
            <a:fillRect/>
          </a:stretch>
        </p:blipFill>
        <p:spPr>
          <a:xfrm>
            <a:off x="1223318" y="575190"/>
            <a:ext cx="8921579" cy="4806778"/>
          </a:xfrm>
        </p:spPr>
      </p:pic>
      <p:sp>
        <p:nvSpPr>
          <p:cNvPr id="7" name="TextBox 6">
            <a:extLst>
              <a:ext uri="{FF2B5EF4-FFF2-40B4-BE49-F238E27FC236}">
                <a16:creationId xmlns:a16="http://schemas.microsoft.com/office/drawing/2014/main" id="{8970202B-9FFE-4350-AC80-BCADEBA1032A}"/>
              </a:ext>
            </a:extLst>
          </p:cNvPr>
          <p:cNvSpPr txBox="1"/>
          <p:nvPr/>
        </p:nvSpPr>
        <p:spPr>
          <a:xfrm>
            <a:off x="3046971" y="5407367"/>
            <a:ext cx="6098058" cy="369332"/>
          </a:xfrm>
          <a:prstGeom prst="rect">
            <a:avLst/>
          </a:prstGeom>
          <a:noFill/>
        </p:spPr>
        <p:txBody>
          <a:bodyPr wrap="square">
            <a:spAutoFit/>
          </a:bodyPr>
          <a:lstStyle/>
          <a:p>
            <a:r>
              <a:rPr lang="en-US" dirty="0"/>
              <a:t>IoT Reference Model Separation of IT and OT</a:t>
            </a:r>
          </a:p>
        </p:txBody>
      </p:sp>
    </p:spTree>
    <p:extLst>
      <p:ext uri="{BB962C8B-B14F-4D97-AF65-F5344CB8AC3E}">
        <p14:creationId xmlns:p14="http://schemas.microsoft.com/office/powerpoint/2010/main" val="2788868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0B564F-6ECD-4993-BA73-8728CC25D3E7}"/>
              </a:ext>
            </a:extLst>
          </p:cNvPr>
          <p:cNvSpPr>
            <a:spLocks noGrp="1"/>
          </p:cNvSpPr>
          <p:nvPr>
            <p:ph type="title"/>
          </p:nvPr>
        </p:nvSpPr>
        <p:spPr/>
        <p:txBody>
          <a:bodyPr/>
          <a:lstStyle/>
          <a:p>
            <a:r>
              <a:rPr lang="en-US" dirty="0"/>
              <a:t>Simplified IoT Architecture</a:t>
            </a:r>
          </a:p>
        </p:txBody>
      </p:sp>
      <p:pic>
        <p:nvPicPr>
          <p:cNvPr id="5" name="Content Placeholder 4">
            <a:extLst>
              <a:ext uri="{FF2B5EF4-FFF2-40B4-BE49-F238E27FC236}">
                <a16:creationId xmlns:a16="http://schemas.microsoft.com/office/drawing/2014/main" id="{9D1DAF95-3B11-4298-A2F4-F05B5AFA71CA}"/>
              </a:ext>
            </a:extLst>
          </p:cNvPr>
          <p:cNvPicPr>
            <a:picLocks noGrp="1" noChangeAspect="1"/>
          </p:cNvPicPr>
          <p:nvPr>
            <p:ph idx="1"/>
          </p:nvPr>
        </p:nvPicPr>
        <p:blipFill>
          <a:blip r:embed="rId2"/>
          <a:stretch>
            <a:fillRect/>
          </a:stretch>
        </p:blipFill>
        <p:spPr>
          <a:xfrm>
            <a:off x="1705232" y="1690688"/>
            <a:ext cx="7661190" cy="4116987"/>
          </a:xfrm>
        </p:spPr>
      </p:pic>
    </p:spTree>
    <p:extLst>
      <p:ext uri="{BB962C8B-B14F-4D97-AF65-F5344CB8AC3E}">
        <p14:creationId xmlns:p14="http://schemas.microsoft.com/office/powerpoint/2010/main" val="3881921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1B3BA-6032-47F1-8B8E-C41DBD6344E8}"/>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037BF381-2E51-42B4-ABD0-7B1BDA29D1F9}"/>
              </a:ext>
            </a:extLst>
          </p:cNvPr>
          <p:cNvPicPr>
            <a:picLocks noGrp="1" noChangeAspect="1"/>
          </p:cNvPicPr>
          <p:nvPr>
            <p:ph idx="1"/>
          </p:nvPr>
        </p:nvPicPr>
        <p:blipFill>
          <a:blip r:embed="rId2"/>
          <a:stretch>
            <a:fillRect/>
          </a:stretch>
        </p:blipFill>
        <p:spPr>
          <a:xfrm>
            <a:off x="1060623" y="1027906"/>
            <a:ext cx="9393194" cy="4178771"/>
          </a:xfrm>
        </p:spPr>
      </p:pic>
      <p:sp>
        <p:nvSpPr>
          <p:cNvPr id="7" name="TextBox 6">
            <a:extLst>
              <a:ext uri="{FF2B5EF4-FFF2-40B4-BE49-F238E27FC236}">
                <a16:creationId xmlns:a16="http://schemas.microsoft.com/office/drawing/2014/main" id="{E76DEAD5-1AC4-4E54-9869-1D4B812F2615}"/>
              </a:ext>
            </a:extLst>
          </p:cNvPr>
          <p:cNvSpPr txBox="1"/>
          <p:nvPr/>
        </p:nvSpPr>
        <p:spPr>
          <a:xfrm>
            <a:off x="3271451" y="5233223"/>
            <a:ext cx="6098058" cy="369332"/>
          </a:xfrm>
          <a:prstGeom prst="rect">
            <a:avLst/>
          </a:prstGeom>
          <a:noFill/>
        </p:spPr>
        <p:txBody>
          <a:bodyPr wrap="square">
            <a:spAutoFit/>
          </a:bodyPr>
          <a:lstStyle/>
          <a:p>
            <a:r>
              <a:rPr lang="en-US" dirty="0"/>
              <a:t>Expanded View of the Simplified IoT Architecture</a:t>
            </a:r>
          </a:p>
        </p:txBody>
      </p:sp>
    </p:spTree>
    <p:extLst>
      <p:ext uri="{BB962C8B-B14F-4D97-AF65-F5344CB8AC3E}">
        <p14:creationId xmlns:p14="http://schemas.microsoft.com/office/powerpoint/2010/main" val="30405466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EC2DF-6CB2-4FA9-B69B-80C052C2A58B}"/>
              </a:ext>
            </a:extLst>
          </p:cNvPr>
          <p:cNvSpPr>
            <a:spLocks noGrp="1"/>
          </p:cNvSpPr>
          <p:nvPr>
            <p:ph type="title"/>
          </p:nvPr>
        </p:nvSpPr>
        <p:spPr/>
        <p:txBody>
          <a:bodyPr/>
          <a:lstStyle/>
          <a:p>
            <a:r>
              <a:rPr lang="en-US" dirty="0"/>
              <a:t>The Core IoT Functional Stack</a:t>
            </a:r>
          </a:p>
        </p:txBody>
      </p:sp>
      <p:sp>
        <p:nvSpPr>
          <p:cNvPr id="3" name="Content Placeholder 2">
            <a:extLst>
              <a:ext uri="{FF2B5EF4-FFF2-40B4-BE49-F238E27FC236}">
                <a16:creationId xmlns:a16="http://schemas.microsoft.com/office/drawing/2014/main" id="{ED79FF7F-8DAD-4863-8CB4-1AA10B3A2EA8}"/>
              </a:ext>
            </a:extLst>
          </p:cNvPr>
          <p:cNvSpPr>
            <a:spLocks noGrp="1"/>
          </p:cNvSpPr>
          <p:nvPr>
            <p:ph idx="1"/>
          </p:nvPr>
        </p:nvSpPr>
        <p:spPr>
          <a:xfrm>
            <a:off x="838200" y="1479636"/>
            <a:ext cx="10515600" cy="4351338"/>
          </a:xfrm>
        </p:spPr>
        <p:txBody>
          <a:bodyPr>
            <a:normAutofit/>
          </a:bodyPr>
          <a:lstStyle/>
          <a:p>
            <a:r>
              <a:rPr lang="en-US" b="1" dirty="0"/>
              <a:t>“Things” layer</a:t>
            </a:r>
            <a:r>
              <a:rPr lang="en-US" dirty="0"/>
              <a:t>: At this layer, the physical devices need to fit the constraints of the environment in which they are deployed while still being able to provide the information needed.</a:t>
            </a:r>
          </a:p>
          <a:p>
            <a:r>
              <a:rPr lang="en-US" b="1" dirty="0"/>
              <a:t>Communications network layer</a:t>
            </a:r>
            <a:r>
              <a:rPr lang="en-US" dirty="0"/>
              <a:t>: When smart objects are not self-contained, they need to communicate with an external system. In many cases, this communication uses a wireless technology. This layer has four sublayers:</a:t>
            </a:r>
          </a:p>
          <a:p>
            <a:pPr lvl="1"/>
            <a:r>
              <a:rPr lang="en-US" b="1" dirty="0"/>
              <a:t>Access network sublayer</a:t>
            </a:r>
            <a:r>
              <a:rPr lang="en-US" dirty="0"/>
              <a:t>: The last mile of the IoT network is the access network. This is typically made up of wireless technologies such as 802.11ah, 802.15.4g, and LoRa. The sensors connected to the access network may also be wired.</a:t>
            </a:r>
          </a:p>
        </p:txBody>
      </p:sp>
    </p:spTree>
    <p:extLst>
      <p:ext uri="{BB962C8B-B14F-4D97-AF65-F5344CB8AC3E}">
        <p14:creationId xmlns:p14="http://schemas.microsoft.com/office/powerpoint/2010/main" val="5752907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F44333-0700-40F2-A985-F98023E00522}"/>
              </a:ext>
            </a:extLst>
          </p:cNvPr>
          <p:cNvSpPr>
            <a:spLocks noGrp="1"/>
          </p:cNvSpPr>
          <p:nvPr>
            <p:ph idx="1"/>
          </p:nvPr>
        </p:nvSpPr>
        <p:spPr>
          <a:xfrm>
            <a:off x="343930" y="865680"/>
            <a:ext cx="10515600" cy="5620909"/>
          </a:xfrm>
        </p:spPr>
        <p:txBody>
          <a:bodyPr>
            <a:normAutofit fontScale="92500" lnSpcReduction="20000"/>
          </a:bodyPr>
          <a:lstStyle/>
          <a:p>
            <a:pPr lvl="1" algn="just"/>
            <a:r>
              <a:rPr lang="en-US" b="1" dirty="0"/>
              <a:t>Gateways and backhaul network sublayer</a:t>
            </a:r>
            <a:r>
              <a:rPr lang="en-US" dirty="0"/>
              <a:t>: A common communication system organizes multiple smart objects in a given area around a common gateway. The gateway communicates directly with the smart objects. The role of the gateway is to forward the collected information through a longer-range medium (called the backhaul) to a headend central station where the information is processed. This information exchange is a Layer 7 (application) function, which is the reason this object is called a gateway. On IP networks, this gateway also forwards packets from one IP network to another, and it therefore acts as a router.</a:t>
            </a:r>
          </a:p>
          <a:p>
            <a:pPr lvl="1" algn="just"/>
            <a:r>
              <a:rPr lang="en-US" b="1" dirty="0"/>
              <a:t>Network transport sublayer</a:t>
            </a:r>
            <a:r>
              <a:rPr lang="en-US" dirty="0"/>
              <a:t>: For communication to be successful, network and transport layer protocols such as IP and UDP must be implemented to support the variety of devices to connect and media to use. </a:t>
            </a:r>
          </a:p>
          <a:p>
            <a:pPr lvl="1" algn="just"/>
            <a:r>
              <a:rPr lang="en-US" b="1" dirty="0"/>
              <a:t>IoT network management sublayer</a:t>
            </a:r>
            <a:r>
              <a:rPr lang="en-US" dirty="0"/>
              <a:t>: Additional protocols must be in place to allow the headend applications to exchange data with the sensors. Examples include CoAP and MQTT.</a:t>
            </a:r>
          </a:p>
          <a:p>
            <a:r>
              <a:rPr lang="en-US" b="1" dirty="0"/>
              <a:t>Application and analytics layer</a:t>
            </a:r>
            <a:r>
              <a:rPr lang="en-US" dirty="0"/>
              <a:t>: At the upper layer, an application needs to process the collected data, not only to control the smart objects when necessary, but to make intelligent decision based on the information collected and, in turn, instruct the “things” or other systems to adapt to the analyzed conditions and change their behaviors or parameters.</a:t>
            </a:r>
          </a:p>
        </p:txBody>
      </p:sp>
    </p:spTree>
    <p:extLst>
      <p:ext uri="{BB962C8B-B14F-4D97-AF65-F5344CB8AC3E}">
        <p14:creationId xmlns:p14="http://schemas.microsoft.com/office/powerpoint/2010/main" val="28300066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1A2E9-170F-4C03-8CBD-7AC4F710BF5C}"/>
              </a:ext>
            </a:extLst>
          </p:cNvPr>
          <p:cNvSpPr>
            <a:spLocks noGrp="1"/>
          </p:cNvSpPr>
          <p:nvPr>
            <p:ph type="title"/>
          </p:nvPr>
        </p:nvSpPr>
        <p:spPr/>
        <p:txBody>
          <a:bodyPr/>
          <a:lstStyle/>
          <a:p>
            <a:r>
              <a:rPr lang="en-US" dirty="0"/>
              <a:t>Layer 1: Things: Sensors and Actuators Layer</a:t>
            </a:r>
          </a:p>
        </p:txBody>
      </p:sp>
      <p:sp>
        <p:nvSpPr>
          <p:cNvPr id="3" name="Content Placeholder 2">
            <a:extLst>
              <a:ext uri="{FF2B5EF4-FFF2-40B4-BE49-F238E27FC236}">
                <a16:creationId xmlns:a16="http://schemas.microsoft.com/office/drawing/2014/main" id="{DAF1787A-D5B8-4A31-BE0F-1904DE03CCCA}"/>
              </a:ext>
            </a:extLst>
          </p:cNvPr>
          <p:cNvSpPr>
            <a:spLocks noGrp="1"/>
          </p:cNvSpPr>
          <p:nvPr>
            <p:ph idx="1"/>
          </p:nvPr>
        </p:nvSpPr>
        <p:spPr>
          <a:xfrm>
            <a:off x="838200" y="1507524"/>
            <a:ext cx="10515600" cy="4669439"/>
          </a:xfrm>
        </p:spPr>
        <p:txBody>
          <a:bodyPr/>
          <a:lstStyle/>
          <a:p>
            <a:r>
              <a:rPr lang="en-US" b="1" dirty="0"/>
              <a:t>Battery-powered or power-connected</a:t>
            </a:r>
          </a:p>
          <a:p>
            <a:r>
              <a:rPr lang="en-US" dirty="0"/>
              <a:t>Mobile or static</a:t>
            </a:r>
          </a:p>
          <a:p>
            <a:r>
              <a:rPr lang="en-US" dirty="0"/>
              <a:t>Low or high reporting frequency</a:t>
            </a:r>
          </a:p>
          <a:p>
            <a:r>
              <a:rPr lang="en-US" dirty="0"/>
              <a:t>Simple or rich data</a:t>
            </a:r>
          </a:p>
          <a:p>
            <a:r>
              <a:rPr lang="en-US" dirty="0"/>
              <a:t>Report range</a:t>
            </a:r>
          </a:p>
          <a:p>
            <a:r>
              <a:rPr lang="en-US" dirty="0"/>
              <a:t>Object density per cell</a:t>
            </a:r>
          </a:p>
          <a:p>
            <a:endParaRPr lang="en-US" dirty="0"/>
          </a:p>
        </p:txBody>
      </p:sp>
    </p:spTree>
    <p:extLst>
      <p:ext uri="{BB962C8B-B14F-4D97-AF65-F5344CB8AC3E}">
        <p14:creationId xmlns:p14="http://schemas.microsoft.com/office/powerpoint/2010/main" val="15885694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0D32A2-7F4C-4CFE-AE1F-F6D4D502757D}"/>
              </a:ext>
            </a:extLst>
          </p:cNvPr>
          <p:cNvSpPr>
            <a:spLocks noGrp="1"/>
          </p:cNvSpPr>
          <p:nvPr>
            <p:ph type="title"/>
          </p:nvPr>
        </p:nvSpPr>
        <p:spPr/>
        <p:txBody>
          <a:bodyPr/>
          <a:lstStyle/>
          <a:p>
            <a:r>
              <a:rPr lang="en-US" dirty="0"/>
              <a:t>Layer 2: Communications Network Layer</a:t>
            </a:r>
          </a:p>
        </p:txBody>
      </p:sp>
      <p:pic>
        <p:nvPicPr>
          <p:cNvPr id="5" name="Content Placeholder 4">
            <a:extLst>
              <a:ext uri="{FF2B5EF4-FFF2-40B4-BE49-F238E27FC236}">
                <a16:creationId xmlns:a16="http://schemas.microsoft.com/office/drawing/2014/main" id="{025B5BD4-59BE-4208-8A96-291371118EEF}"/>
              </a:ext>
            </a:extLst>
          </p:cNvPr>
          <p:cNvPicPr>
            <a:picLocks noGrp="1" noChangeAspect="1"/>
          </p:cNvPicPr>
          <p:nvPr>
            <p:ph idx="1"/>
          </p:nvPr>
        </p:nvPicPr>
        <p:blipFill>
          <a:blip r:embed="rId2"/>
          <a:stretch>
            <a:fillRect/>
          </a:stretch>
        </p:blipFill>
        <p:spPr>
          <a:xfrm>
            <a:off x="1344827" y="1460131"/>
            <a:ext cx="9045146" cy="4606775"/>
          </a:xfrm>
        </p:spPr>
      </p:pic>
      <p:sp>
        <p:nvSpPr>
          <p:cNvPr id="7" name="TextBox 6">
            <a:extLst>
              <a:ext uri="{FF2B5EF4-FFF2-40B4-BE49-F238E27FC236}">
                <a16:creationId xmlns:a16="http://schemas.microsoft.com/office/drawing/2014/main" id="{708C1AC0-A64B-4201-B249-804302663AA3}"/>
              </a:ext>
            </a:extLst>
          </p:cNvPr>
          <p:cNvSpPr txBox="1"/>
          <p:nvPr/>
        </p:nvSpPr>
        <p:spPr>
          <a:xfrm>
            <a:off x="2993182" y="6066906"/>
            <a:ext cx="6789007" cy="369332"/>
          </a:xfrm>
          <a:prstGeom prst="rect">
            <a:avLst/>
          </a:prstGeom>
          <a:noFill/>
        </p:spPr>
        <p:txBody>
          <a:bodyPr wrap="square">
            <a:spAutoFit/>
          </a:bodyPr>
          <a:lstStyle/>
          <a:p>
            <a:r>
              <a:rPr lang="en-US" dirty="0"/>
              <a:t>Example of Sensor Applications Based on Mobility and Throughput</a:t>
            </a:r>
          </a:p>
        </p:txBody>
      </p:sp>
    </p:spTree>
    <p:extLst>
      <p:ext uri="{BB962C8B-B14F-4D97-AF65-F5344CB8AC3E}">
        <p14:creationId xmlns:p14="http://schemas.microsoft.com/office/powerpoint/2010/main" val="2953698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A3299-7BFF-4847-8370-8209D7FF1065}"/>
              </a:ext>
            </a:extLst>
          </p:cNvPr>
          <p:cNvSpPr>
            <a:spLocks noGrp="1"/>
          </p:cNvSpPr>
          <p:nvPr>
            <p:ph type="title"/>
          </p:nvPr>
        </p:nvSpPr>
        <p:spPr/>
        <p:txBody>
          <a:bodyPr/>
          <a:lstStyle/>
          <a:p>
            <a:r>
              <a:rPr lang="en-US" dirty="0"/>
              <a:t>Layer 2: Communications Network Layer</a:t>
            </a:r>
          </a:p>
        </p:txBody>
      </p:sp>
      <p:sp>
        <p:nvSpPr>
          <p:cNvPr id="3" name="Content Placeholder 2">
            <a:extLst>
              <a:ext uri="{FF2B5EF4-FFF2-40B4-BE49-F238E27FC236}">
                <a16:creationId xmlns:a16="http://schemas.microsoft.com/office/drawing/2014/main" id="{FBD85C03-FD60-4D0A-B898-7CCEBD917994}"/>
              </a:ext>
            </a:extLst>
          </p:cNvPr>
          <p:cNvSpPr>
            <a:spLocks noGrp="1"/>
          </p:cNvSpPr>
          <p:nvPr>
            <p:ph idx="1"/>
          </p:nvPr>
        </p:nvSpPr>
        <p:spPr>
          <a:xfrm>
            <a:off x="838200" y="1690687"/>
            <a:ext cx="10515600" cy="4486275"/>
          </a:xfrm>
        </p:spPr>
        <p:txBody>
          <a:bodyPr>
            <a:normAutofit fontScale="70000" lnSpcReduction="20000"/>
          </a:bodyPr>
          <a:lstStyle/>
          <a:p>
            <a:r>
              <a:rPr lang="en-US" b="1" dirty="0"/>
              <a:t>PAN (personal area network): </a:t>
            </a:r>
            <a:r>
              <a:rPr lang="en-US" dirty="0"/>
              <a:t>Scale of a few meters. This is the personal space around a person. A common wireless technology for this scale is Bluetooth.</a:t>
            </a:r>
          </a:p>
          <a:p>
            <a:r>
              <a:rPr lang="en-US" b="1" dirty="0"/>
              <a:t>HAN (home area network): </a:t>
            </a:r>
            <a:r>
              <a:rPr lang="en-US" dirty="0"/>
              <a:t>Scale of a few tens of meters. At this scale, common wireless technologies for IoT include ZigBee and Bluetooth Low Energy (BLE).</a:t>
            </a:r>
          </a:p>
          <a:p>
            <a:r>
              <a:rPr lang="en-US" b="1" dirty="0"/>
              <a:t>NAN (neighborhood area network): </a:t>
            </a:r>
            <a:r>
              <a:rPr lang="en-US" dirty="0"/>
              <a:t>Scale of a few hundreds of meters. The term NAN is often used to refer to a group of house units from which data is collected.</a:t>
            </a:r>
          </a:p>
          <a:p>
            <a:r>
              <a:rPr lang="en-US" b="1" dirty="0"/>
              <a:t>FAN (field area network): </a:t>
            </a:r>
            <a:r>
              <a:rPr lang="en-US" dirty="0"/>
              <a:t>Scale of several tens of meters to several hundred meters. FAN typically refers to an outdoor area larger than a single group of house units. The FAN is often seen as “open space” (and therefore not secured and not  controlled). A FAN is sometimes viewed as a group of NANs, but some verticals see the FAN as a group of HANs or a group of smaller outdoor cells. As you can see, FAN and NAN may sometimes be used interchangeably. In most cases, the vertical context is clear enough to determine the grouping hierarchy</a:t>
            </a:r>
          </a:p>
          <a:p>
            <a:r>
              <a:rPr lang="en-US" b="1" dirty="0"/>
              <a:t>LAN (local area network): </a:t>
            </a:r>
            <a:r>
              <a:rPr lang="en-US" dirty="0"/>
              <a:t>Scale of up to 100 m. This term is very common in networking, and it is therefore also commonly used in the IoT space when standard networking technologies (such as Ethernet or IEEE 802.11) are used. Other networking classifications, such as MAN (metropolitan area network, with a range of up to a few kilometers) and WAN (wide area network, with a range of more than a few kilometers), are also commonly used.</a:t>
            </a:r>
          </a:p>
        </p:txBody>
      </p:sp>
    </p:spTree>
    <p:extLst>
      <p:ext uri="{BB962C8B-B14F-4D97-AF65-F5344CB8AC3E}">
        <p14:creationId xmlns:p14="http://schemas.microsoft.com/office/powerpoint/2010/main" val="20656407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0A8B2-0E67-40FE-9826-D2C8C70C5B99}"/>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98D1D40F-DCBC-4A81-A5C7-F967E9114DAB}"/>
              </a:ext>
            </a:extLst>
          </p:cNvPr>
          <p:cNvPicPr>
            <a:picLocks noGrp="1" noChangeAspect="1"/>
          </p:cNvPicPr>
          <p:nvPr>
            <p:ph idx="1"/>
          </p:nvPr>
        </p:nvPicPr>
        <p:blipFill>
          <a:blip r:embed="rId2"/>
          <a:stretch>
            <a:fillRect/>
          </a:stretch>
        </p:blipFill>
        <p:spPr>
          <a:xfrm>
            <a:off x="2353236" y="968375"/>
            <a:ext cx="6723529" cy="4921250"/>
          </a:xfrm>
        </p:spPr>
      </p:pic>
      <p:sp>
        <p:nvSpPr>
          <p:cNvPr id="7" name="TextBox 6">
            <a:extLst>
              <a:ext uri="{FF2B5EF4-FFF2-40B4-BE49-F238E27FC236}">
                <a16:creationId xmlns:a16="http://schemas.microsoft.com/office/drawing/2014/main" id="{535BFC8B-DB9C-443E-8929-354561F41EA7}"/>
              </a:ext>
            </a:extLst>
          </p:cNvPr>
          <p:cNvSpPr txBox="1"/>
          <p:nvPr/>
        </p:nvSpPr>
        <p:spPr>
          <a:xfrm>
            <a:off x="2551580" y="5889625"/>
            <a:ext cx="6723528" cy="369332"/>
          </a:xfrm>
          <a:prstGeom prst="rect">
            <a:avLst/>
          </a:prstGeom>
          <a:noFill/>
        </p:spPr>
        <p:txBody>
          <a:bodyPr wrap="square">
            <a:spAutoFit/>
          </a:bodyPr>
          <a:lstStyle/>
          <a:p>
            <a:r>
              <a:rPr lang="en-US" dirty="0"/>
              <a:t>Range Versus Throughput for Four WHAN to WLAN Technologies</a:t>
            </a:r>
          </a:p>
        </p:txBody>
      </p:sp>
    </p:spTree>
    <p:extLst>
      <p:ext uri="{BB962C8B-B14F-4D97-AF65-F5344CB8AC3E}">
        <p14:creationId xmlns:p14="http://schemas.microsoft.com/office/powerpoint/2010/main" val="26210525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84C1B-9EBA-491C-BFF2-61DE8C818D41}"/>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82B6652A-A49B-44A0-A134-403EE517C0D7}"/>
              </a:ext>
            </a:extLst>
          </p:cNvPr>
          <p:cNvPicPr>
            <a:picLocks noGrp="1" noChangeAspect="1"/>
          </p:cNvPicPr>
          <p:nvPr>
            <p:ph idx="1"/>
          </p:nvPr>
        </p:nvPicPr>
        <p:blipFill rotWithShape="1">
          <a:blip r:embed="rId2"/>
          <a:srcRect t="4357"/>
          <a:stretch/>
        </p:blipFill>
        <p:spPr>
          <a:xfrm>
            <a:off x="1411941" y="593725"/>
            <a:ext cx="8417859" cy="4933016"/>
          </a:xfrm>
        </p:spPr>
      </p:pic>
      <p:sp>
        <p:nvSpPr>
          <p:cNvPr id="7" name="TextBox 6">
            <a:extLst>
              <a:ext uri="{FF2B5EF4-FFF2-40B4-BE49-F238E27FC236}">
                <a16:creationId xmlns:a16="http://schemas.microsoft.com/office/drawing/2014/main" id="{D862623F-8F47-4666-AD7A-CA41E0CB7624}"/>
              </a:ext>
            </a:extLst>
          </p:cNvPr>
          <p:cNvSpPr txBox="1"/>
          <p:nvPr/>
        </p:nvSpPr>
        <p:spPr>
          <a:xfrm>
            <a:off x="838200" y="5399456"/>
            <a:ext cx="10515600" cy="369332"/>
          </a:xfrm>
          <a:prstGeom prst="rect">
            <a:avLst/>
          </a:prstGeom>
          <a:noFill/>
        </p:spPr>
        <p:txBody>
          <a:bodyPr wrap="square">
            <a:spAutoFit/>
          </a:bodyPr>
          <a:lstStyle/>
          <a:p>
            <a:r>
              <a:rPr lang="en-US" dirty="0"/>
              <a:t>Comparison Between Common Last-Mile Technologies in Terms of Range Versus Cost, Power, and Bandwidth</a:t>
            </a:r>
          </a:p>
        </p:txBody>
      </p:sp>
    </p:spTree>
    <p:extLst>
      <p:ext uri="{BB962C8B-B14F-4D97-AF65-F5344CB8AC3E}">
        <p14:creationId xmlns:p14="http://schemas.microsoft.com/office/powerpoint/2010/main" val="11625172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6FFF0-C547-48BE-A545-2C382663B5B1}"/>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7FDE6418-D65B-46EC-B3C3-4BA01E9D82EE}"/>
              </a:ext>
            </a:extLst>
          </p:cNvPr>
          <p:cNvPicPr>
            <a:picLocks noGrp="1" noChangeAspect="1"/>
          </p:cNvPicPr>
          <p:nvPr>
            <p:ph idx="1"/>
          </p:nvPr>
        </p:nvPicPr>
        <p:blipFill>
          <a:blip r:embed="rId2"/>
          <a:stretch>
            <a:fillRect/>
          </a:stretch>
        </p:blipFill>
        <p:spPr>
          <a:xfrm>
            <a:off x="1104899" y="1871055"/>
            <a:ext cx="5766547" cy="3830497"/>
          </a:xfrm>
        </p:spPr>
      </p:pic>
      <p:pic>
        <p:nvPicPr>
          <p:cNvPr id="7" name="Picture 6">
            <a:extLst>
              <a:ext uri="{FF2B5EF4-FFF2-40B4-BE49-F238E27FC236}">
                <a16:creationId xmlns:a16="http://schemas.microsoft.com/office/drawing/2014/main" id="{5D1F2C5F-BA40-4E0F-82A5-2A6349012E5A}"/>
              </a:ext>
            </a:extLst>
          </p:cNvPr>
          <p:cNvPicPr>
            <a:picLocks noChangeAspect="1"/>
          </p:cNvPicPr>
          <p:nvPr/>
        </p:nvPicPr>
        <p:blipFill>
          <a:blip r:embed="rId3"/>
          <a:stretch>
            <a:fillRect/>
          </a:stretch>
        </p:blipFill>
        <p:spPr>
          <a:xfrm>
            <a:off x="7234519" y="2205037"/>
            <a:ext cx="4119282" cy="3106551"/>
          </a:xfrm>
          <a:prstGeom prst="rect">
            <a:avLst/>
          </a:prstGeom>
        </p:spPr>
      </p:pic>
    </p:spTree>
    <p:extLst>
      <p:ext uri="{BB962C8B-B14F-4D97-AF65-F5344CB8AC3E}">
        <p14:creationId xmlns:p14="http://schemas.microsoft.com/office/powerpoint/2010/main" val="16663013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5D07E-5109-48A1-AA6E-7673331EC5E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3935FF0-3C53-45A9-885B-6CE31C01D7CB}"/>
              </a:ext>
            </a:extLst>
          </p:cNvPr>
          <p:cNvSpPr>
            <a:spLocks noGrp="1"/>
          </p:cNvSpPr>
          <p:nvPr>
            <p:ph idx="1"/>
          </p:nvPr>
        </p:nvSpPr>
        <p:spPr/>
        <p:txBody>
          <a:bodyPr/>
          <a:lstStyle/>
          <a:p>
            <a:r>
              <a:rPr lang="en-US" dirty="0"/>
              <a:t>Gateways and Backhaul Sublayer:</a:t>
            </a:r>
          </a:p>
          <a:p>
            <a:pPr lvl="1"/>
            <a:r>
              <a:rPr lang="en-US" dirty="0"/>
              <a:t>data directly received from the sensor through an access technology needs to be forwarded to another medium (the backhaul) and transported to the central station. The gateway is in charge of this inter-medium communication</a:t>
            </a:r>
          </a:p>
          <a:p>
            <a:pPr lvl="1"/>
            <a:r>
              <a:rPr lang="en-US" dirty="0"/>
              <a:t>Gateway can be static or mobile (e.g. DSRC)</a:t>
            </a:r>
          </a:p>
          <a:p>
            <a:pPr lvl="1"/>
            <a:r>
              <a:rPr lang="en-US" dirty="0"/>
              <a:t>throughput decreases as node-to-node distance increases, and it also decreases as the number of hops increases</a:t>
            </a:r>
          </a:p>
          <a:p>
            <a:pPr lvl="1"/>
            <a:r>
              <a:rPr lang="en-US" dirty="0"/>
              <a:t>WiMAX (802.16) is an example of a longer-range technology</a:t>
            </a:r>
          </a:p>
          <a:p>
            <a:pPr marL="457200" lvl="1" indent="0">
              <a:buNone/>
            </a:pPr>
            <a:endParaRPr lang="en-US" dirty="0"/>
          </a:p>
        </p:txBody>
      </p:sp>
    </p:spTree>
    <p:extLst>
      <p:ext uri="{BB962C8B-B14F-4D97-AF65-F5344CB8AC3E}">
        <p14:creationId xmlns:p14="http://schemas.microsoft.com/office/powerpoint/2010/main" val="37798877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8D44A-BF01-495A-B60A-7C8013416D04}"/>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1BF5D5F5-449D-4826-B94A-634D8957907A}"/>
              </a:ext>
            </a:extLst>
          </p:cNvPr>
          <p:cNvPicPr>
            <a:picLocks noGrp="1" noChangeAspect="1"/>
          </p:cNvPicPr>
          <p:nvPr>
            <p:ph idx="1"/>
          </p:nvPr>
        </p:nvPicPr>
        <p:blipFill>
          <a:blip r:embed="rId2"/>
          <a:stretch>
            <a:fillRect/>
          </a:stretch>
        </p:blipFill>
        <p:spPr>
          <a:xfrm>
            <a:off x="1532965" y="1027906"/>
            <a:ext cx="9466729" cy="4939834"/>
          </a:xfrm>
        </p:spPr>
      </p:pic>
      <p:sp>
        <p:nvSpPr>
          <p:cNvPr id="7" name="TextBox 6">
            <a:extLst>
              <a:ext uri="{FF2B5EF4-FFF2-40B4-BE49-F238E27FC236}">
                <a16:creationId xmlns:a16="http://schemas.microsoft.com/office/drawing/2014/main" id="{14F78DE7-19C3-4EC6-8D22-B4E4A575CE5B}"/>
              </a:ext>
            </a:extLst>
          </p:cNvPr>
          <p:cNvSpPr txBox="1"/>
          <p:nvPr/>
        </p:nvSpPr>
        <p:spPr>
          <a:xfrm>
            <a:off x="2201956" y="6050740"/>
            <a:ext cx="7345456" cy="369332"/>
          </a:xfrm>
          <a:prstGeom prst="rect">
            <a:avLst/>
          </a:prstGeom>
          <a:noFill/>
        </p:spPr>
        <p:txBody>
          <a:bodyPr wrap="square">
            <a:spAutoFit/>
          </a:bodyPr>
          <a:lstStyle/>
          <a:p>
            <a:r>
              <a:rPr lang="en-US" dirty="0"/>
              <a:t>Architectural Considerations for WiMAX and Cellular Technologies</a:t>
            </a:r>
          </a:p>
        </p:txBody>
      </p:sp>
    </p:spTree>
    <p:extLst>
      <p:ext uri="{BB962C8B-B14F-4D97-AF65-F5344CB8AC3E}">
        <p14:creationId xmlns:p14="http://schemas.microsoft.com/office/powerpoint/2010/main" val="30705574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5BB5C-3718-4436-B34F-C9D33086ACB6}"/>
              </a:ext>
            </a:extLst>
          </p:cNvPr>
          <p:cNvSpPr>
            <a:spLocks noGrp="1"/>
          </p:cNvSpPr>
          <p:nvPr>
            <p:ph type="title"/>
          </p:nvPr>
        </p:nvSpPr>
        <p:spPr/>
        <p:txBody>
          <a:bodyPr/>
          <a:lstStyle/>
          <a:p>
            <a:r>
              <a:rPr lang="en-US" dirty="0"/>
              <a:t>Layer 3: Applications and Analytics Layer</a:t>
            </a:r>
          </a:p>
        </p:txBody>
      </p:sp>
      <p:sp>
        <p:nvSpPr>
          <p:cNvPr id="3" name="Content Placeholder 2">
            <a:extLst>
              <a:ext uri="{FF2B5EF4-FFF2-40B4-BE49-F238E27FC236}">
                <a16:creationId xmlns:a16="http://schemas.microsoft.com/office/drawing/2014/main" id="{075EC41E-DD19-4E7A-8D77-C946C12167D0}"/>
              </a:ext>
            </a:extLst>
          </p:cNvPr>
          <p:cNvSpPr>
            <a:spLocks noGrp="1"/>
          </p:cNvSpPr>
          <p:nvPr>
            <p:ph idx="1"/>
          </p:nvPr>
        </p:nvSpPr>
        <p:spPr/>
        <p:txBody>
          <a:bodyPr>
            <a:normAutofit lnSpcReduction="10000"/>
          </a:bodyPr>
          <a:lstStyle/>
          <a:p>
            <a:r>
              <a:rPr lang="en-US" dirty="0"/>
              <a:t>Analytics Versus Control Applications</a:t>
            </a:r>
          </a:p>
          <a:p>
            <a:pPr lvl="1"/>
            <a:r>
              <a:rPr lang="en-US" dirty="0"/>
              <a:t>Analytics application: data collection, processing and display</a:t>
            </a:r>
          </a:p>
          <a:p>
            <a:pPr lvl="1"/>
            <a:r>
              <a:rPr lang="en-US" dirty="0"/>
              <a:t>Control application: e.g. pressure control</a:t>
            </a:r>
          </a:p>
          <a:p>
            <a:r>
              <a:rPr lang="en-US" dirty="0"/>
              <a:t>Data Versus Network Analytics</a:t>
            </a:r>
          </a:p>
          <a:p>
            <a:pPr lvl="1"/>
            <a:r>
              <a:rPr lang="en-US" dirty="0"/>
              <a:t>Data analytics- e.g. dashboard</a:t>
            </a:r>
          </a:p>
          <a:p>
            <a:pPr lvl="1"/>
            <a:r>
              <a:rPr lang="en-US" dirty="0"/>
              <a:t>Network analytics- loss or degradation in connectivity</a:t>
            </a:r>
          </a:p>
          <a:p>
            <a:r>
              <a:rPr lang="en-US" dirty="0"/>
              <a:t>Data Analytics Versus Business Benefits</a:t>
            </a:r>
          </a:p>
          <a:p>
            <a:pPr lvl="1"/>
            <a:r>
              <a:rPr lang="en-US" dirty="0"/>
              <a:t>Cisco Jasper-cloud-based platform for IoT management and monetization</a:t>
            </a:r>
          </a:p>
          <a:p>
            <a:r>
              <a:rPr lang="en-US" dirty="0"/>
              <a:t>Smart Services</a:t>
            </a:r>
          </a:p>
          <a:p>
            <a:pPr lvl="1"/>
            <a:r>
              <a:rPr lang="en-US" dirty="0"/>
              <a:t>The ability to use IoT to improve operations is often termed “smart services</a:t>
            </a:r>
          </a:p>
        </p:txBody>
      </p:sp>
    </p:spTree>
    <p:extLst>
      <p:ext uri="{BB962C8B-B14F-4D97-AF65-F5344CB8AC3E}">
        <p14:creationId xmlns:p14="http://schemas.microsoft.com/office/powerpoint/2010/main" val="17956067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CE611-920A-4A2E-BD65-1BEA2EBCDAFC}"/>
              </a:ext>
            </a:extLst>
          </p:cNvPr>
          <p:cNvSpPr>
            <a:spLocks noGrp="1"/>
          </p:cNvSpPr>
          <p:nvPr>
            <p:ph type="title"/>
          </p:nvPr>
        </p:nvSpPr>
        <p:spPr/>
        <p:txBody>
          <a:bodyPr/>
          <a:lstStyle/>
          <a:p>
            <a:r>
              <a:rPr lang="en-US" dirty="0"/>
              <a:t>IoT Data Management and Compute Stack</a:t>
            </a:r>
          </a:p>
        </p:txBody>
      </p:sp>
      <p:sp>
        <p:nvSpPr>
          <p:cNvPr id="3" name="Content Placeholder 2">
            <a:extLst>
              <a:ext uri="{FF2B5EF4-FFF2-40B4-BE49-F238E27FC236}">
                <a16:creationId xmlns:a16="http://schemas.microsoft.com/office/drawing/2014/main" id="{746245B4-93C5-43C1-A9A1-BA743B328156}"/>
              </a:ext>
            </a:extLst>
          </p:cNvPr>
          <p:cNvSpPr>
            <a:spLocks noGrp="1"/>
          </p:cNvSpPr>
          <p:nvPr>
            <p:ph idx="1"/>
          </p:nvPr>
        </p:nvSpPr>
        <p:spPr/>
        <p:txBody>
          <a:bodyPr>
            <a:normAutofit fontScale="70000" lnSpcReduction="20000"/>
          </a:bodyPr>
          <a:lstStyle/>
          <a:p>
            <a:r>
              <a:rPr lang="en-US" b="1" dirty="0"/>
              <a:t>Minimizing latency</a:t>
            </a:r>
            <a:r>
              <a:rPr lang="en-US" dirty="0"/>
              <a:t>: Milliseconds matter for many types of industrial systems, such as when you are trying to prevent manufacturing line shutdowns or restore electrical service. Analyzing data close to the device that collected the data can make a difference between averting disaster and a cascading system failure</a:t>
            </a:r>
          </a:p>
          <a:p>
            <a:r>
              <a:rPr lang="en-US" b="1" dirty="0"/>
              <a:t>Conserving network bandwidth</a:t>
            </a:r>
            <a:r>
              <a:rPr lang="en-US" dirty="0"/>
              <a:t>: Offshore oil rigs generate 500 GB of data weekly. Commercial jets generate 10 TB for every 30 minutes of flight. It is not practical to transport vast amounts of data from thousands or hundreds of thousands of edge devices to the cloud. Nor is it necessary because many critical analyses do not require cloud-scale processing and storage.</a:t>
            </a:r>
          </a:p>
          <a:p>
            <a:r>
              <a:rPr lang="en-US" b="1" dirty="0"/>
              <a:t>Increasing local efficiency</a:t>
            </a:r>
            <a:r>
              <a:rPr lang="en-US" dirty="0"/>
              <a:t>: Collecting and securing data across a wide geographic area with different environmental conditions may not be useful. The environmental conditions in one area will trigger a local response independent from the conditions of another site hundreds of miles away. Analyzing both areas in the same cloud system may not be necessary for immediate efficiency.</a:t>
            </a:r>
          </a:p>
          <a:p>
            <a:pPr marL="0" indent="0">
              <a:buNone/>
            </a:pPr>
            <a:r>
              <a:rPr lang="en-US" dirty="0"/>
              <a:t>*a moderately sized smart meter network of 1 million meters will generate close to 1 billion data points each day (including meter reads and other instrumentation data), resulting in 1 TB of data.</a:t>
            </a:r>
          </a:p>
        </p:txBody>
      </p:sp>
    </p:spTree>
    <p:extLst>
      <p:ext uri="{BB962C8B-B14F-4D97-AF65-F5344CB8AC3E}">
        <p14:creationId xmlns:p14="http://schemas.microsoft.com/office/powerpoint/2010/main" val="9332374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17373-1449-4590-B2B1-024DF85C8B0E}"/>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A9E7F9A3-3158-4DCD-A2B2-4B4B8BB56E2A}"/>
              </a:ext>
            </a:extLst>
          </p:cNvPr>
          <p:cNvPicPr>
            <a:picLocks noGrp="1" noChangeAspect="1"/>
          </p:cNvPicPr>
          <p:nvPr>
            <p:ph idx="1"/>
          </p:nvPr>
        </p:nvPicPr>
        <p:blipFill>
          <a:blip r:embed="rId2"/>
          <a:stretch>
            <a:fillRect/>
          </a:stretch>
        </p:blipFill>
        <p:spPr>
          <a:xfrm>
            <a:off x="2767852" y="1027906"/>
            <a:ext cx="6656295" cy="4257628"/>
          </a:xfrm>
        </p:spPr>
      </p:pic>
      <p:sp>
        <p:nvSpPr>
          <p:cNvPr id="7" name="TextBox 6">
            <a:extLst>
              <a:ext uri="{FF2B5EF4-FFF2-40B4-BE49-F238E27FC236}">
                <a16:creationId xmlns:a16="http://schemas.microsoft.com/office/drawing/2014/main" id="{60B2E838-223B-43B0-924F-E1E3A6873BE5}"/>
              </a:ext>
            </a:extLst>
          </p:cNvPr>
          <p:cNvSpPr txBox="1"/>
          <p:nvPr/>
        </p:nvSpPr>
        <p:spPr>
          <a:xfrm>
            <a:off x="4178674" y="5100868"/>
            <a:ext cx="6098240" cy="369332"/>
          </a:xfrm>
          <a:prstGeom prst="rect">
            <a:avLst/>
          </a:prstGeom>
          <a:noFill/>
        </p:spPr>
        <p:txBody>
          <a:bodyPr wrap="square">
            <a:spAutoFit/>
          </a:bodyPr>
          <a:lstStyle/>
          <a:p>
            <a:r>
              <a:rPr lang="en-US" dirty="0"/>
              <a:t>The Traditional IT Cloud Computing Model</a:t>
            </a:r>
          </a:p>
        </p:txBody>
      </p:sp>
    </p:spTree>
    <p:extLst>
      <p:ext uri="{BB962C8B-B14F-4D97-AF65-F5344CB8AC3E}">
        <p14:creationId xmlns:p14="http://schemas.microsoft.com/office/powerpoint/2010/main" val="39520088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6F412-1EC7-4836-8AFE-BE0E0D1B023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21190FC-17E7-40EA-9E2E-D637FB9E4218}"/>
              </a:ext>
            </a:extLst>
          </p:cNvPr>
          <p:cNvSpPr>
            <a:spLocks noGrp="1"/>
          </p:cNvSpPr>
          <p:nvPr>
            <p:ph idx="1"/>
          </p:nvPr>
        </p:nvSpPr>
        <p:spPr/>
        <p:txBody>
          <a:bodyPr>
            <a:normAutofit fontScale="77500" lnSpcReduction="20000"/>
          </a:bodyPr>
          <a:lstStyle/>
          <a:p>
            <a:pPr marL="0" indent="0">
              <a:buNone/>
            </a:pPr>
            <a:r>
              <a:rPr lang="en-US" dirty="0"/>
              <a:t>IoT systems function differently. Several data-related problems need to be addressed:</a:t>
            </a:r>
          </a:p>
          <a:p>
            <a:pPr algn="just"/>
            <a:r>
              <a:rPr lang="en-US" dirty="0"/>
              <a:t>Bandwidth in last-mile IoT networks is very limited. When dealing with thousands/millions of devices, available bandwidth may be on order of tens of Kbps per device or even less.</a:t>
            </a:r>
          </a:p>
          <a:p>
            <a:pPr algn="just"/>
            <a:r>
              <a:rPr lang="en-US" dirty="0"/>
              <a:t>Latency can be very high. Instead of dealing with latency in the milliseconds range, large IoT networks often introduce latency of hundreds to thousands of milliseconds.</a:t>
            </a:r>
          </a:p>
          <a:p>
            <a:pPr algn="just"/>
            <a:r>
              <a:rPr lang="en-US" dirty="0"/>
              <a:t>Network backhaul from the gateway can be unreliable and often depends on 4G/LTE or even satellite links. Backhaul links can also be expensive if a per-byte data usage model is necessary.</a:t>
            </a:r>
          </a:p>
          <a:p>
            <a:pPr algn="just"/>
            <a:r>
              <a:rPr lang="en-US" dirty="0"/>
              <a:t>The volume of data transmitted over the backhaul can be high, and much of the data may not really be that interesting (such as simple polling messages).</a:t>
            </a:r>
          </a:p>
          <a:p>
            <a:pPr algn="just"/>
            <a:r>
              <a:rPr lang="en-US" dirty="0"/>
              <a:t>Big data is getting bigger. The concept of storing and analyzing all sensor data in the cloud is impractical. The sheer volume of data generated makes real-time analysis and response to the data almost impossible.</a:t>
            </a:r>
          </a:p>
        </p:txBody>
      </p:sp>
    </p:spTree>
    <p:extLst>
      <p:ext uri="{BB962C8B-B14F-4D97-AF65-F5344CB8AC3E}">
        <p14:creationId xmlns:p14="http://schemas.microsoft.com/office/powerpoint/2010/main" val="31415201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066CE-E0B1-4FB9-8DDF-5F925BD4FBE3}"/>
              </a:ext>
            </a:extLst>
          </p:cNvPr>
          <p:cNvSpPr>
            <a:spLocks noGrp="1"/>
          </p:cNvSpPr>
          <p:nvPr>
            <p:ph type="title"/>
          </p:nvPr>
        </p:nvSpPr>
        <p:spPr/>
        <p:txBody>
          <a:bodyPr/>
          <a:lstStyle/>
          <a:p>
            <a:r>
              <a:rPr lang="en-US" dirty="0"/>
              <a:t>Fog Computing</a:t>
            </a:r>
          </a:p>
        </p:txBody>
      </p:sp>
      <p:pic>
        <p:nvPicPr>
          <p:cNvPr id="5" name="Content Placeholder 4">
            <a:extLst>
              <a:ext uri="{FF2B5EF4-FFF2-40B4-BE49-F238E27FC236}">
                <a16:creationId xmlns:a16="http://schemas.microsoft.com/office/drawing/2014/main" id="{E1820996-3CFA-4686-9EDA-CDF618D691CC}"/>
              </a:ext>
            </a:extLst>
          </p:cNvPr>
          <p:cNvPicPr>
            <a:picLocks noGrp="1" noChangeAspect="1"/>
          </p:cNvPicPr>
          <p:nvPr>
            <p:ph idx="1"/>
          </p:nvPr>
        </p:nvPicPr>
        <p:blipFill>
          <a:blip r:embed="rId2"/>
          <a:stretch>
            <a:fillRect/>
          </a:stretch>
        </p:blipFill>
        <p:spPr>
          <a:xfrm>
            <a:off x="3200400" y="1358153"/>
            <a:ext cx="7422776" cy="4531658"/>
          </a:xfrm>
        </p:spPr>
      </p:pic>
      <p:sp>
        <p:nvSpPr>
          <p:cNvPr id="7" name="TextBox 6">
            <a:extLst>
              <a:ext uri="{FF2B5EF4-FFF2-40B4-BE49-F238E27FC236}">
                <a16:creationId xmlns:a16="http://schemas.microsoft.com/office/drawing/2014/main" id="{D70097D3-693D-4F86-8682-103AE0D5D319}"/>
              </a:ext>
            </a:extLst>
          </p:cNvPr>
          <p:cNvSpPr txBox="1"/>
          <p:nvPr/>
        </p:nvSpPr>
        <p:spPr>
          <a:xfrm>
            <a:off x="3869392" y="5889811"/>
            <a:ext cx="6995832" cy="369332"/>
          </a:xfrm>
          <a:prstGeom prst="rect">
            <a:avLst/>
          </a:prstGeom>
          <a:noFill/>
        </p:spPr>
        <p:txBody>
          <a:bodyPr wrap="square">
            <a:spAutoFit/>
          </a:bodyPr>
          <a:lstStyle/>
          <a:p>
            <a:r>
              <a:rPr lang="en-US" dirty="0"/>
              <a:t>The IoT Data Management and Compute Stack with Fog Computing</a:t>
            </a:r>
          </a:p>
        </p:txBody>
      </p:sp>
      <p:sp>
        <p:nvSpPr>
          <p:cNvPr id="8" name="TextBox 7">
            <a:extLst>
              <a:ext uri="{FF2B5EF4-FFF2-40B4-BE49-F238E27FC236}">
                <a16:creationId xmlns:a16="http://schemas.microsoft.com/office/drawing/2014/main" id="{BBC71899-A2E4-4E11-AA1A-60C5E1FB0BC4}"/>
              </a:ext>
            </a:extLst>
          </p:cNvPr>
          <p:cNvSpPr txBox="1"/>
          <p:nvPr/>
        </p:nvSpPr>
        <p:spPr>
          <a:xfrm>
            <a:off x="712694" y="2218765"/>
            <a:ext cx="2487706" cy="2308324"/>
          </a:xfrm>
          <a:prstGeom prst="rect">
            <a:avLst/>
          </a:prstGeom>
          <a:noFill/>
        </p:spPr>
        <p:txBody>
          <a:bodyPr wrap="square" rtlCol="0">
            <a:spAutoFit/>
          </a:bodyPr>
          <a:lstStyle/>
          <a:p>
            <a:r>
              <a:rPr lang="en-US" dirty="0"/>
              <a:t>* The concept of fog was first developed by Flavio Bonomi and Rodolfo Milito of Cisco Systems</a:t>
            </a:r>
          </a:p>
          <a:p>
            <a:r>
              <a:rPr lang="en-US" dirty="0"/>
              <a:t>* the term “fog” was </a:t>
            </a:r>
          </a:p>
          <a:p>
            <a:r>
              <a:rPr lang="en-US" dirty="0"/>
              <a:t>actually coined by Ginny Nichols, Rodolfo’s wife.</a:t>
            </a:r>
          </a:p>
        </p:txBody>
      </p:sp>
    </p:spTree>
    <p:extLst>
      <p:ext uri="{BB962C8B-B14F-4D97-AF65-F5344CB8AC3E}">
        <p14:creationId xmlns:p14="http://schemas.microsoft.com/office/powerpoint/2010/main" val="761381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F7E24-2301-46C6-B7B6-113823FAC580}"/>
              </a:ext>
            </a:extLst>
          </p:cNvPr>
          <p:cNvSpPr>
            <a:spLocks noGrp="1"/>
          </p:cNvSpPr>
          <p:nvPr>
            <p:ph type="title"/>
          </p:nvPr>
        </p:nvSpPr>
        <p:spPr/>
        <p:txBody>
          <a:bodyPr/>
          <a:lstStyle/>
          <a:p>
            <a:r>
              <a:rPr lang="en-US" dirty="0"/>
              <a:t>Fog Computing- Examples</a:t>
            </a:r>
          </a:p>
        </p:txBody>
      </p:sp>
      <p:sp>
        <p:nvSpPr>
          <p:cNvPr id="3" name="Content Placeholder 2">
            <a:extLst>
              <a:ext uri="{FF2B5EF4-FFF2-40B4-BE49-F238E27FC236}">
                <a16:creationId xmlns:a16="http://schemas.microsoft.com/office/drawing/2014/main" id="{B4FDE3B3-7585-4228-83FB-4777037532FC}"/>
              </a:ext>
            </a:extLst>
          </p:cNvPr>
          <p:cNvSpPr>
            <a:spLocks noGrp="1"/>
          </p:cNvSpPr>
          <p:nvPr>
            <p:ph idx="1"/>
          </p:nvPr>
        </p:nvSpPr>
        <p:spPr/>
        <p:txBody>
          <a:bodyPr/>
          <a:lstStyle/>
          <a:p>
            <a:r>
              <a:rPr lang="en-US" dirty="0"/>
              <a:t>Fog node analyzing information from the sensors on derrick</a:t>
            </a:r>
          </a:p>
          <a:p>
            <a:r>
              <a:rPr lang="en-US" dirty="0"/>
              <a:t>Fog node for monitoring tire pressures of trucks</a:t>
            </a:r>
          </a:p>
          <a:p>
            <a:r>
              <a:rPr lang="en-US" dirty="0"/>
              <a:t>Door locking</a:t>
            </a:r>
          </a:p>
          <a:p>
            <a:r>
              <a:rPr lang="en-US" dirty="0"/>
              <a:t>Applying brakes on train</a:t>
            </a:r>
          </a:p>
          <a:p>
            <a:r>
              <a:rPr lang="en-US" dirty="0"/>
              <a:t>Zooming a video camera</a:t>
            </a:r>
          </a:p>
          <a:p>
            <a:r>
              <a:rPr lang="en-US" dirty="0"/>
              <a:t>Creating a bar chart</a:t>
            </a:r>
          </a:p>
          <a:p>
            <a:r>
              <a:rPr lang="en-US" dirty="0"/>
              <a:t>Sending an alert to technician to make a preventive repair</a:t>
            </a:r>
          </a:p>
        </p:txBody>
      </p:sp>
    </p:spTree>
    <p:extLst>
      <p:ext uri="{BB962C8B-B14F-4D97-AF65-F5344CB8AC3E}">
        <p14:creationId xmlns:p14="http://schemas.microsoft.com/office/powerpoint/2010/main" val="30399311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89A9B-1EF2-4CEE-9FD1-61F202C49393}"/>
              </a:ext>
            </a:extLst>
          </p:cNvPr>
          <p:cNvSpPr>
            <a:spLocks noGrp="1"/>
          </p:cNvSpPr>
          <p:nvPr>
            <p:ph type="title"/>
          </p:nvPr>
        </p:nvSpPr>
        <p:spPr/>
        <p:txBody>
          <a:bodyPr/>
          <a:lstStyle/>
          <a:p>
            <a:r>
              <a:rPr lang="en-US" dirty="0"/>
              <a:t>Characteristic of Fog Computing</a:t>
            </a:r>
          </a:p>
        </p:txBody>
      </p:sp>
      <p:sp>
        <p:nvSpPr>
          <p:cNvPr id="3" name="Content Placeholder 2">
            <a:extLst>
              <a:ext uri="{FF2B5EF4-FFF2-40B4-BE49-F238E27FC236}">
                <a16:creationId xmlns:a16="http://schemas.microsoft.com/office/drawing/2014/main" id="{2DD125E5-C347-423F-91B6-526FF060E1E0}"/>
              </a:ext>
            </a:extLst>
          </p:cNvPr>
          <p:cNvSpPr>
            <a:spLocks noGrp="1"/>
          </p:cNvSpPr>
          <p:nvPr>
            <p:ph idx="1"/>
          </p:nvPr>
        </p:nvSpPr>
        <p:spPr>
          <a:xfrm>
            <a:off x="838200" y="1519518"/>
            <a:ext cx="10515600" cy="4612341"/>
          </a:xfrm>
        </p:spPr>
        <p:txBody>
          <a:bodyPr>
            <a:normAutofit fontScale="85000" lnSpcReduction="20000"/>
          </a:bodyPr>
          <a:lstStyle/>
          <a:p>
            <a:pPr algn="just">
              <a:lnSpc>
                <a:spcPct val="120000"/>
              </a:lnSpc>
            </a:pPr>
            <a:r>
              <a:rPr lang="en-US" sz="2400" b="1" dirty="0"/>
              <a:t>Contextual location awareness and low latency</a:t>
            </a:r>
            <a:r>
              <a:rPr lang="en-US" sz="2400" dirty="0"/>
              <a:t>: The fog node sits as close to the IoT endpoint as possible to deliver distributed computing</a:t>
            </a:r>
          </a:p>
          <a:p>
            <a:pPr algn="just">
              <a:lnSpc>
                <a:spcPct val="120000"/>
              </a:lnSpc>
            </a:pPr>
            <a:r>
              <a:rPr lang="en-US" sz="2400" b="1" dirty="0"/>
              <a:t>Geographic distribution</a:t>
            </a:r>
            <a:r>
              <a:rPr lang="en-US" sz="2400" dirty="0"/>
              <a:t>: In sharp contrast to the more centralized cloud, the services and applications targeted by the fog nodes demand widely distributed deployments</a:t>
            </a:r>
          </a:p>
          <a:p>
            <a:pPr algn="just">
              <a:lnSpc>
                <a:spcPct val="120000"/>
              </a:lnSpc>
            </a:pPr>
            <a:r>
              <a:rPr lang="en-US" sz="2400" b="1" dirty="0"/>
              <a:t>Deployment near IoT endpoints</a:t>
            </a:r>
            <a:r>
              <a:rPr lang="en-US" sz="2400" dirty="0"/>
              <a:t>: Fog nodes are typically deployed in the presence of a large number of IoT endpoints. For example, typical metering deployments often see 3000 to 4000 nodes per gateway router, which also functions as the fog computing node</a:t>
            </a:r>
          </a:p>
          <a:p>
            <a:pPr algn="just">
              <a:lnSpc>
                <a:spcPct val="120000"/>
              </a:lnSpc>
            </a:pPr>
            <a:r>
              <a:rPr lang="en-US" sz="2400" b="1" dirty="0"/>
              <a:t>Wireless communication between the fog and the IoT endpoint</a:t>
            </a:r>
            <a:r>
              <a:rPr lang="en-US" sz="2400" dirty="0"/>
              <a:t>: Although it is possible to connect wired nodes, the advantages of fog are greatest when dealing with a large number of endpoints, and wireless access is the easiest way to achieve such scale</a:t>
            </a:r>
          </a:p>
          <a:p>
            <a:pPr algn="just">
              <a:lnSpc>
                <a:spcPct val="120000"/>
              </a:lnSpc>
            </a:pPr>
            <a:r>
              <a:rPr lang="en-US" sz="2400" b="1" dirty="0"/>
              <a:t>Use for real-time interactions</a:t>
            </a:r>
            <a:r>
              <a:rPr lang="en-US" sz="2400" dirty="0"/>
              <a:t>: Important fog applications involve real-time interactions rather than batch processing. Preprocessing of data in the fog nodes allows upper-layer applications to perform batch processing on a subset of the data</a:t>
            </a:r>
          </a:p>
        </p:txBody>
      </p:sp>
    </p:spTree>
    <p:extLst>
      <p:ext uri="{BB962C8B-B14F-4D97-AF65-F5344CB8AC3E}">
        <p14:creationId xmlns:p14="http://schemas.microsoft.com/office/powerpoint/2010/main" val="25750138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0C784-2C17-4B0D-BFF1-26ED56674133}"/>
              </a:ext>
            </a:extLst>
          </p:cNvPr>
          <p:cNvSpPr>
            <a:spLocks noGrp="1"/>
          </p:cNvSpPr>
          <p:nvPr>
            <p:ph type="title"/>
          </p:nvPr>
        </p:nvSpPr>
        <p:spPr/>
        <p:txBody>
          <a:bodyPr/>
          <a:lstStyle/>
          <a:p>
            <a:r>
              <a:rPr lang="en-US" dirty="0"/>
              <a:t>Edge Computing</a:t>
            </a:r>
          </a:p>
        </p:txBody>
      </p:sp>
      <p:sp>
        <p:nvSpPr>
          <p:cNvPr id="3" name="Content Placeholder 2">
            <a:extLst>
              <a:ext uri="{FF2B5EF4-FFF2-40B4-BE49-F238E27FC236}">
                <a16:creationId xmlns:a16="http://schemas.microsoft.com/office/drawing/2014/main" id="{4D341278-1220-4DC2-A445-583578461C5A}"/>
              </a:ext>
            </a:extLst>
          </p:cNvPr>
          <p:cNvSpPr>
            <a:spLocks noGrp="1"/>
          </p:cNvSpPr>
          <p:nvPr>
            <p:ph idx="1"/>
          </p:nvPr>
        </p:nvSpPr>
        <p:spPr/>
        <p:txBody>
          <a:bodyPr>
            <a:normAutofit/>
          </a:bodyPr>
          <a:lstStyle/>
          <a:p>
            <a:r>
              <a:rPr lang="en-US" dirty="0"/>
              <a:t>Edge computing is also sometimes called “mist” computing. If clouds exist in the sky, and fog sits near the ground, then mist is what actually sits on the ground. Thus, the concept of mist is to extend fog to the furthest point possible, right into the IoT endpoint device itself.</a:t>
            </a:r>
          </a:p>
          <a:p>
            <a:r>
              <a:rPr lang="en-US" dirty="0"/>
              <a:t> Edge compute–capable meters are able to communicate with each other to share information on small subsets of the electrical distribution grid to monitor localized power quality and consumption, and they can inform a fog node of events that may pertain to only tiny sections of the grid. Models such as these help ensure the highest quality of power delivery to customers.</a:t>
            </a:r>
          </a:p>
        </p:txBody>
      </p:sp>
    </p:spTree>
    <p:extLst>
      <p:ext uri="{BB962C8B-B14F-4D97-AF65-F5344CB8AC3E}">
        <p14:creationId xmlns:p14="http://schemas.microsoft.com/office/powerpoint/2010/main" val="2433024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718632-088F-4EEE-A8C9-6833D2D59EAC}"/>
              </a:ext>
            </a:extLst>
          </p:cNvPr>
          <p:cNvSpPr>
            <a:spLocks noGrp="1"/>
          </p:cNvSpPr>
          <p:nvPr>
            <p:ph type="title"/>
          </p:nvPr>
        </p:nvSpPr>
        <p:spPr/>
        <p:txBody>
          <a:bodyPr/>
          <a:lstStyle/>
          <a:p>
            <a:r>
              <a:rPr lang="en-US" dirty="0"/>
              <a:t>The Hierarchy of Edge, Fog, and Cloud</a:t>
            </a:r>
          </a:p>
        </p:txBody>
      </p:sp>
      <p:pic>
        <p:nvPicPr>
          <p:cNvPr id="5" name="Content Placeholder 4">
            <a:extLst>
              <a:ext uri="{FF2B5EF4-FFF2-40B4-BE49-F238E27FC236}">
                <a16:creationId xmlns:a16="http://schemas.microsoft.com/office/drawing/2014/main" id="{1B664C5D-6C6E-4DDA-93A9-065E5A6F642D}"/>
              </a:ext>
            </a:extLst>
          </p:cNvPr>
          <p:cNvPicPr>
            <a:picLocks noGrp="1" noChangeAspect="1"/>
          </p:cNvPicPr>
          <p:nvPr>
            <p:ph idx="1"/>
          </p:nvPr>
        </p:nvPicPr>
        <p:blipFill>
          <a:blip r:embed="rId2"/>
          <a:stretch>
            <a:fillRect/>
          </a:stretch>
        </p:blipFill>
        <p:spPr>
          <a:xfrm>
            <a:off x="2021187" y="1224116"/>
            <a:ext cx="7177956" cy="4899427"/>
          </a:xfrm>
        </p:spPr>
      </p:pic>
      <p:sp>
        <p:nvSpPr>
          <p:cNvPr id="7" name="TextBox 6">
            <a:extLst>
              <a:ext uri="{FF2B5EF4-FFF2-40B4-BE49-F238E27FC236}">
                <a16:creationId xmlns:a16="http://schemas.microsoft.com/office/drawing/2014/main" id="{7DDE7FF2-8F38-4669-A85E-65AD814F14C9}"/>
              </a:ext>
            </a:extLst>
          </p:cNvPr>
          <p:cNvSpPr txBox="1"/>
          <p:nvPr/>
        </p:nvSpPr>
        <p:spPr>
          <a:xfrm>
            <a:off x="2579674" y="6123543"/>
            <a:ext cx="6767181" cy="369332"/>
          </a:xfrm>
          <a:prstGeom prst="rect">
            <a:avLst/>
          </a:prstGeom>
          <a:noFill/>
        </p:spPr>
        <p:txBody>
          <a:bodyPr wrap="square">
            <a:spAutoFit/>
          </a:bodyPr>
          <a:lstStyle/>
          <a:p>
            <a:r>
              <a:rPr lang="en-US" dirty="0"/>
              <a:t>Distributed Compute and Data Management Across an IoT System</a:t>
            </a:r>
          </a:p>
        </p:txBody>
      </p:sp>
    </p:spTree>
    <p:extLst>
      <p:ext uri="{BB962C8B-B14F-4D97-AF65-F5344CB8AC3E}">
        <p14:creationId xmlns:p14="http://schemas.microsoft.com/office/powerpoint/2010/main" val="32000704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A4BA9-3F55-45D7-B386-82E469FB160F}"/>
              </a:ext>
            </a:extLst>
          </p:cNvPr>
          <p:cNvSpPr>
            <a:spLocks noGrp="1"/>
          </p:cNvSpPr>
          <p:nvPr>
            <p:ph type="title"/>
          </p:nvPr>
        </p:nvSpPr>
        <p:spPr/>
        <p:txBody>
          <a:bodyPr/>
          <a:lstStyle/>
          <a:p>
            <a:r>
              <a:rPr lang="en-US" dirty="0"/>
              <a:t>Optimal place for data analysis</a:t>
            </a:r>
          </a:p>
        </p:txBody>
      </p:sp>
      <p:sp>
        <p:nvSpPr>
          <p:cNvPr id="3" name="Content Placeholder 2">
            <a:extLst>
              <a:ext uri="{FF2B5EF4-FFF2-40B4-BE49-F238E27FC236}">
                <a16:creationId xmlns:a16="http://schemas.microsoft.com/office/drawing/2014/main" id="{2C596CD4-D10D-4FD1-8046-0D294D751CFB}"/>
              </a:ext>
            </a:extLst>
          </p:cNvPr>
          <p:cNvSpPr>
            <a:spLocks noGrp="1"/>
          </p:cNvSpPr>
          <p:nvPr>
            <p:ph idx="1"/>
          </p:nvPr>
        </p:nvSpPr>
        <p:spPr/>
        <p:txBody>
          <a:bodyPr>
            <a:normAutofit/>
          </a:bodyPr>
          <a:lstStyle/>
          <a:p>
            <a:r>
              <a:rPr lang="en-US" dirty="0"/>
              <a:t>The most time-sensitive data is analyzed on the edge or fog node closest to the things generating the data.  </a:t>
            </a:r>
          </a:p>
          <a:p>
            <a:r>
              <a:rPr lang="en-US" dirty="0"/>
              <a:t>Data that can wait seconds or minutes for action is passed along to an aggregation node for analysis and action.</a:t>
            </a:r>
          </a:p>
          <a:p>
            <a:r>
              <a:rPr lang="en-US" dirty="0"/>
              <a:t>Data that is less time sensitive is sent to the cloud for historical analysis, big data analytics, and long-term storage. For example, each of thousands or hundreds of thousands of fog nodes might send periodic summaries of data to the cloud for  historical analysis and storage.</a:t>
            </a:r>
          </a:p>
        </p:txBody>
      </p:sp>
    </p:spTree>
    <p:extLst>
      <p:ext uri="{BB962C8B-B14F-4D97-AF65-F5344CB8AC3E}">
        <p14:creationId xmlns:p14="http://schemas.microsoft.com/office/powerpoint/2010/main" val="34311074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B1F056-C19A-41A0-80B5-8B66CE6D73C9}"/>
              </a:ext>
            </a:extLst>
          </p:cNvPr>
          <p:cNvSpPr>
            <a:spLocks noGrp="1"/>
          </p:cNvSpPr>
          <p:nvPr>
            <p:ph type="title"/>
          </p:nvPr>
        </p:nvSpPr>
        <p:spPr>
          <a:xfrm>
            <a:off x="838199" y="365125"/>
            <a:ext cx="10981765" cy="1325563"/>
          </a:xfrm>
        </p:spPr>
        <p:txBody>
          <a:bodyPr>
            <a:normAutofit fontScale="90000"/>
          </a:bodyPr>
          <a:lstStyle/>
          <a:p>
            <a:r>
              <a:rPr lang="en-US" dirty="0"/>
              <a:t>Case Study: Smart Random Neural Network Controller for HVAC Using Cloud Computing Technology</a:t>
            </a:r>
          </a:p>
        </p:txBody>
      </p:sp>
      <p:pic>
        <p:nvPicPr>
          <p:cNvPr id="5" name="Content Placeholder 4">
            <a:extLst>
              <a:ext uri="{FF2B5EF4-FFF2-40B4-BE49-F238E27FC236}">
                <a16:creationId xmlns:a16="http://schemas.microsoft.com/office/drawing/2014/main" id="{05658296-8D01-4A54-ABD3-BC40994D89AE}"/>
              </a:ext>
            </a:extLst>
          </p:cNvPr>
          <p:cNvPicPr>
            <a:picLocks noGrp="1" noChangeAspect="1"/>
          </p:cNvPicPr>
          <p:nvPr>
            <p:ph idx="1"/>
          </p:nvPr>
        </p:nvPicPr>
        <p:blipFill>
          <a:blip r:embed="rId2"/>
          <a:stretch>
            <a:fillRect/>
          </a:stretch>
        </p:blipFill>
        <p:spPr>
          <a:xfrm>
            <a:off x="3256428" y="1486929"/>
            <a:ext cx="6145306" cy="5005946"/>
          </a:xfrm>
        </p:spPr>
      </p:pic>
    </p:spTree>
    <p:extLst>
      <p:ext uri="{BB962C8B-B14F-4D97-AF65-F5344CB8AC3E}">
        <p14:creationId xmlns:p14="http://schemas.microsoft.com/office/powerpoint/2010/main" val="413213887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63ED8-BB53-4D28-AF97-9F5FD74E7FBA}"/>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00276055-8A14-46FB-B22C-3A84C6A3C21A}"/>
              </a:ext>
            </a:extLst>
          </p:cNvPr>
          <p:cNvPicPr>
            <a:picLocks noGrp="1" noChangeAspect="1"/>
          </p:cNvPicPr>
          <p:nvPr>
            <p:ph idx="1"/>
          </p:nvPr>
        </p:nvPicPr>
        <p:blipFill>
          <a:blip r:embed="rId2"/>
          <a:stretch>
            <a:fillRect/>
          </a:stretch>
        </p:blipFill>
        <p:spPr>
          <a:xfrm>
            <a:off x="739726" y="2644726"/>
            <a:ext cx="10515600" cy="3943419"/>
          </a:xfrm>
        </p:spPr>
      </p:pic>
      <p:sp>
        <p:nvSpPr>
          <p:cNvPr id="8" name="TextBox 7">
            <a:extLst>
              <a:ext uri="{FF2B5EF4-FFF2-40B4-BE49-F238E27FC236}">
                <a16:creationId xmlns:a16="http://schemas.microsoft.com/office/drawing/2014/main" id="{68188F6B-CE60-4685-808D-FC648CB0435D}"/>
              </a:ext>
            </a:extLst>
          </p:cNvPr>
          <p:cNvSpPr txBox="1"/>
          <p:nvPr/>
        </p:nvSpPr>
        <p:spPr>
          <a:xfrm>
            <a:off x="739726" y="1950944"/>
            <a:ext cx="3185160" cy="923330"/>
          </a:xfrm>
          <a:prstGeom prst="rect">
            <a:avLst/>
          </a:prstGeom>
          <a:noFill/>
        </p:spPr>
        <p:txBody>
          <a:bodyPr wrap="square" rtlCol="0">
            <a:spAutoFit/>
          </a:bodyPr>
          <a:lstStyle/>
          <a:p>
            <a:r>
              <a:rPr lang="en-US" dirty="0"/>
              <a:t>Case 1: Processing in Cloud</a:t>
            </a:r>
            <a:br>
              <a:rPr lang="en-US" dirty="0"/>
            </a:br>
            <a:r>
              <a:rPr lang="en-US" dirty="0"/>
              <a:t>Case 2: Processing in Fog</a:t>
            </a:r>
            <a:br>
              <a:rPr lang="en-US" dirty="0"/>
            </a:br>
            <a:r>
              <a:rPr lang="en-US" dirty="0"/>
              <a:t>Case 3: Processing in Edge</a:t>
            </a:r>
          </a:p>
        </p:txBody>
      </p:sp>
    </p:spTree>
    <p:extLst>
      <p:ext uri="{BB962C8B-B14F-4D97-AF65-F5344CB8AC3E}">
        <p14:creationId xmlns:p14="http://schemas.microsoft.com/office/powerpoint/2010/main" val="4735410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1C183-3588-4A5F-874D-72B53F2EF96C}"/>
              </a:ext>
            </a:extLst>
          </p:cNvPr>
          <p:cNvSpPr>
            <a:spLocks noGrp="1"/>
          </p:cNvSpPr>
          <p:nvPr>
            <p:ph type="title"/>
          </p:nvPr>
        </p:nvSpPr>
        <p:spPr/>
        <p:txBody>
          <a:bodyPr/>
          <a:lstStyle/>
          <a:p>
            <a:endParaRPr lang="en-US"/>
          </a:p>
        </p:txBody>
      </p:sp>
      <p:pic>
        <p:nvPicPr>
          <p:cNvPr id="8" name="Content Placeholder 7">
            <a:extLst>
              <a:ext uri="{FF2B5EF4-FFF2-40B4-BE49-F238E27FC236}">
                <a16:creationId xmlns:a16="http://schemas.microsoft.com/office/drawing/2014/main" id="{AF682C28-812B-4CC1-B8C1-15ABBA846D4C}"/>
              </a:ext>
            </a:extLst>
          </p:cNvPr>
          <p:cNvPicPr>
            <a:picLocks noGrp="1" noChangeAspect="1"/>
          </p:cNvPicPr>
          <p:nvPr>
            <p:ph idx="1"/>
          </p:nvPr>
        </p:nvPicPr>
        <p:blipFill>
          <a:blip r:embed="rId2"/>
          <a:stretch>
            <a:fillRect/>
          </a:stretch>
        </p:blipFill>
        <p:spPr>
          <a:xfrm>
            <a:off x="1983544" y="1223656"/>
            <a:ext cx="8525022" cy="4501895"/>
          </a:xfrm>
        </p:spPr>
      </p:pic>
      <p:sp>
        <p:nvSpPr>
          <p:cNvPr id="9" name="TextBox 8">
            <a:extLst>
              <a:ext uri="{FF2B5EF4-FFF2-40B4-BE49-F238E27FC236}">
                <a16:creationId xmlns:a16="http://schemas.microsoft.com/office/drawing/2014/main" id="{D25977BB-F09B-4442-894A-300820474939}"/>
              </a:ext>
            </a:extLst>
          </p:cNvPr>
          <p:cNvSpPr txBox="1"/>
          <p:nvPr/>
        </p:nvSpPr>
        <p:spPr>
          <a:xfrm>
            <a:off x="4086664" y="5634344"/>
            <a:ext cx="4318782" cy="379828"/>
          </a:xfrm>
          <a:prstGeom prst="rect">
            <a:avLst/>
          </a:prstGeom>
          <a:noFill/>
        </p:spPr>
        <p:txBody>
          <a:bodyPr wrap="square" rtlCol="0">
            <a:spAutoFit/>
          </a:bodyPr>
          <a:lstStyle/>
          <a:p>
            <a:r>
              <a:rPr lang="en-US" dirty="0"/>
              <a:t>Comparison of power consumption</a:t>
            </a:r>
          </a:p>
        </p:txBody>
      </p:sp>
    </p:spTree>
    <p:extLst>
      <p:ext uri="{BB962C8B-B14F-4D97-AF65-F5344CB8AC3E}">
        <p14:creationId xmlns:p14="http://schemas.microsoft.com/office/powerpoint/2010/main" val="30823655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29584</TotalTime>
  <Words>3397</Words>
  <Application>Microsoft Office PowerPoint</Application>
  <PresentationFormat>Widescreen</PresentationFormat>
  <Paragraphs>205</Paragraphs>
  <Slides>41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41</vt:i4>
      </vt:variant>
    </vt:vector>
  </HeadingPairs>
  <TitlesOfParts>
    <vt:vector size="45" baseType="lpstr">
      <vt:lpstr>Arial</vt:lpstr>
      <vt:lpstr>Calibri</vt:lpstr>
      <vt:lpstr>Calibri Light</vt:lpstr>
      <vt:lpstr>Office Theme</vt:lpstr>
      <vt:lpstr>CPE 445-Internet of Things</vt:lpstr>
      <vt:lpstr>Contents</vt:lpstr>
      <vt:lpstr>Drivers Behind New Network Architectures</vt:lpstr>
      <vt:lpstr>IoT Architecture Drivers</vt:lpstr>
      <vt:lpstr>IoT Architecture Drivers</vt:lpstr>
      <vt:lpstr>Comparing IoT Architectures</vt:lpstr>
      <vt:lpstr>oneM2M IoT Architecture</vt:lpstr>
      <vt:lpstr>oneM2M IoT Architecture</vt:lpstr>
      <vt:lpstr>IoT World Forum (IoTWF) Standardized Architecture</vt:lpstr>
      <vt:lpstr>IoT World Forum (IoTWF) Standardized Architecture</vt:lpstr>
      <vt:lpstr>Advantages of IoT World Forum (IoTWF) Standardized Architecture </vt:lpstr>
      <vt:lpstr>IoT World Forum (IoTWF) Standardized Architecture</vt:lpstr>
      <vt:lpstr>PowerPoint Presentation</vt:lpstr>
      <vt:lpstr>PowerPoint Presentation</vt:lpstr>
      <vt:lpstr>Summary of Layers 4–7 of the IoTWF Reference Model</vt:lpstr>
      <vt:lpstr>PowerPoint Presentation</vt:lpstr>
      <vt:lpstr>Simplified IoT Architecture</vt:lpstr>
      <vt:lpstr>PowerPoint Presentation</vt:lpstr>
      <vt:lpstr>The Core IoT Functional Stack</vt:lpstr>
      <vt:lpstr>PowerPoint Presentation</vt:lpstr>
      <vt:lpstr>Layer 1: Things: Sensors and Actuators Layer</vt:lpstr>
      <vt:lpstr>Layer 2: Communications Network Layer</vt:lpstr>
      <vt:lpstr>Layer 2: Communications Network Layer</vt:lpstr>
      <vt:lpstr>PowerPoint Presentation</vt:lpstr>
      <vt:lpstr>PowerPoint Presentation</vt:lpstr>
      <vt:lpstr>PowerPoint Presentation</vt:lpstr>
      <vt:lpstr>PowerPoint Presentation</vt:lpstr>
      <vt:lpstr>PowerPoint Presentation</vt:lpstr>
      <vt:lpstr>Layer 3: Applications and Analytics Layer</vt:lpstr>
      <vt:lpstr>IoT Data Management and Compute Stack</vt:lpstr>
      <vt:lpstr>PowerPoint Presentation</vt:lpstr>
      <vt:lpstr>PowerPoint Presentation</vt:lpstr>
      <vt:lpstr>Fog Computing</vt:lpstr>
      <vt:lpstr>Fog Computing- Examples</vt:lpstr>
      <vt:lpstr>Characteristic of Fog Computing</vt:lpstr>
      <vt:lpstr>Edge Computing</vt:lpstr>
      <vt:lpstr>The Hierarchy of Edge, Fog, and Cloud</vt:lpstr>
      <vt:lpstr>Optimal place for data analysis</vt:lpstr>
      <vt:lpstr>Case Study: Smart Random Neural Network Controller for HVAC Using Cloud Computing Technology</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CPE 445-Internet of Things</dc:title>
  <dc:creator>A</dc:creator>
  <cp:lastModifiedBy>Dr. Abbas Javed</cp:lastModifiedBy>
  <cp:revision>17</cp:revision>
  <dcterms:created xsi:type="dcterms:W3CDTF">2022-02-14T11:35:12Z</dcterms:created>
  <dcterms:modified xsi:type="dcterms:W3CDTF">2023-03-10T09:16:53Z</dcterms:modified>
</cp:coreProperties>
</file>