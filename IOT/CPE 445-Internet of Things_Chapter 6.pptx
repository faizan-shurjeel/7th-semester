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7" r:id="rId3"/>
    <p:sldId id="258" r:id="rId4"/>
    <p:sldId id="278" r:id="rId5"/>
    <p:sldId id="304" r:id="rId6"/>
    <p:sldId id="306" r:id="rId7"/>
    <p:sldId id="307" r:id="rId8"/>
    <p:sldId id="308" r:id="rId9"/>
    <p:sldId id="305" r:id="rId10"/>
    <p:sldId id="309" r:id="rId11"/>
    <p:sldId id="310" r:id="rId12"/>
    <p:sldId id="311" r:id="rId13"/>
    <p:sldId id="312" r:id="rId14"/>
    <p:sldId id="313" r:id="rId15"/>
    <p:sldId id="314" r:id="rId16"/>
    <p:sldId id="315" r:id="rId17"/>
    <p:sldId id="316" r:id="rId18"/>
    <p:sldId id="317" r:id="rId19"/>
    <p:sldId id="318" r:id="rId20"/>
    <p:sldId id="319" r:id="rId21"/>
    <p:sldId id="326" r:id="rId22"/>
    <p:sldId id="320" r:id="rId23"/>
    <p:sldId id="321" r:id="rId24"/>
    <p:sldId id="322" r:id="rId25"/>
    <p:sldId id="327" r:id="rId26"/>
    <p:sldId id="323" r:id="rId27"/>
    <p:sldId id="324" r:id="rId28"/>
    <p:sldId id="325" r:id="rId29"/>
    <p:sldId id="288" r:id="rId30"/>
    <p:sldId id="289" r:id="rId31"/>
    <p:sldId id="296" r:id="rId32"/>
    <p:sldId id="290" r:id="rId33"/>
    <p:sldId id="291" r:id="rId34"/>
    <p:sldId id="297" r:id="rId35"/>
    <p:sldId id="292" r:id="rId36"/>
    <p:sldId id="293" r:id="rId37"/>
    <p:sldId id="295" r:id="rId38"/>
    <p:sldId id="298" r:id="rId39"/>
    <p:sldId id="300" r:id="rId40"/>
    <p:sldId id="301" r:id="rId41"/>
    <p:sldId id="302" r:id="rId42"/>
    <p:sldId id="303" r:id="rId43"/>
    <p:sldId id="294" r:id="rId44"/>
    <p:sldId id="328"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6" autoAdjust="0"/>
    <p:restoredTop sz="94660"/>
  </p:normalViewPr>
  <p:slideViewPr>
    <p:cSldViewPr snapToGrid="0">
      <p:cViewPr varScale="1">
        <p:scale>
          <a:sx n="65" d="100"/>
          <a:sy n="65" d="100"/>
        </p:scale>
        <p:origin x="73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947EC-79BE-4418-A9A0-139BD3118B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6372B0-43C0-4CAE-B58C-76D1DCA438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623709-B0F7-485E-A14D-7FA7DD2DE7D3}"/>
              </a:ext>
            </a:extLst>
          </p:cNvPr>
          <p:cNvSpPr>
            <a:spLocks noGrp="1"/>
          </p:cNvSpPr>
          <p:nvPr>
            <p:ph type="dt" sz="half" idx="10"/>
          </p:nvPr>
        </p:nvSpPr>
        <p:spPr/>
        <p:txBody>
          <a:bodyPr/>
          <a:lstStyle/>
          <a:p>
            <a:fld id="{BFF173C1-2F5E-4A02-9636-4A8EA7DDCA41}" type="datetimeFigureOut">
              <a:rPr lang="en-US" smtClean="0"/>
              <a:t>4/26/2023</a:t>
            </a:fld>
            <a:endParaRPr lang="en-US"/>
          </a:p>
        </p:txBody>
      </p:sp>
      <p:sp>
        <p:nvSpPr>
          <p:cNvPr id="5" name="Footer Placeholder 4">
            <a:extLst>
              <a:ext uri="{FF2B5EF4-FFF2-40B4-BE49-F238E27FC236}">
                <a16:creationId xmlns:a16="http://schemas.microsoft.com/office/drawing/2014/main" id="{272BA470-F93D-41C4-B946-B4F4DE22BF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D7D0C7-2B39-4EDC-BC0D-049D579B127C}"/>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645970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8BE5D-180B-4988-A991-012051D661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90DDBC-21C7-49A9-8668-9882241352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ED9AC5-03C3-497D-8C69-DFC497B4EA57}"/>
              </a:ext>
            </a:extLst>
          </p:cNvPr>
          <p:cNvSpPr>
            <a:spLocks noGrp="1"/>
          </p:cNvSpPr>
          <p:nvPr>
            <p:ph type="dt" sz="half" idx="10"/>
          </p:nvPr>
        </p:nvSpPr>
        <p:spPr/>
        <p:txBody>
          <a:bodyPr/>
          <a:lstStyle/>
          <a:p>
            <a:fld id="{BFF173C1-2F5E-4A02-9636-4A8EA7DDCA41}" type="datetimeFigureOut">
              <a:rPr lang="en-US" smtClean="0"/>
              <a:t>4/26/2023</a:t>
            </a:fld>
            <a:endParaRPr lang="en-US"/>
          </a:p>
        </p:txBody>
      </p:sp>
      <p:sp>
        <p:nvSpPr>
          <p:cNvPr id="5" name="Footer Placeholder 4">
            <a:extLst>
              <a:ext uri="{FF2B5EF4-FFF2-40B4-BE49-F238E27FC236}">
                <a16:creationId xmlns:a16="http://schemas.microsoft.com/office/drawing/2014/main" id="{241847F8-7C3D-4B7B-88F1-721E2DB5B8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E0D2B-BC2D-4EF7-87F2-A98BC4F94301}"/>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47015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03E55-AE0D-4BC9-A185-A8BA1365E1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78092A-D248-4F67-9198-A721200A78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31DFC0-4CF4-4047-9C95-B6ADC2AB529D}"/>
              </a:ext>
            </a:extLst>
          </p:cNvPr>
          <p:cNvSpPr>
            <a:spLocks noGrp="1"/>
          </p:cNvSpPr>
          <p:nvPr>
            <p:ph type="dt" sz="half" idx="10"/>
          </p:nvPr>
        </p:nvSpPr>
        <p:spPr/>
        <p:txBody>
          <a:bodyPr/>
          <a:lstStyle/>
          <a:p>
            <a:fld id="{BFF173C1-2F5E-4A02-9636-4A8EA7DDCA41}" type="datetimeFigureOut">
              <a:rPr lang="en-US" smtClean="0"/>
              <a:t>4/26/2023</a:t>
            </a:fld>
            <a:endParaRPr lang="en-US"/>
          </a:p>
        </p:txBody>
      </p:sp>
      <p:sp>
        <p:nvSpPr>
          <p:cNvPr id="5" name="Footer Placeholder 4">
            <a:extLst>
              <a:ext uri="{FF2B5EF4-FFF2-40B4-BE49-F238E27FC236}">
                <a16:creationId xmlns:a16="http://schemas.microsoft.com/office/drawing/2014/main" id="{54FEF40D-6A47-4FF2-9BAD-31586E6FB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DF30A1-E439-46BF-88C1-9FB7123D254C}"/>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387858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BCBD9-A0AF-406D-B0AE-2D5E21A7DB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381BD2-62EF-4138-9E84-C760E18F76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786715-E895-49DF-856E-C8BB191570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86FC06-4674-410F-B306-9B19258AE0C7}"/>
              </a:ext>
            </a:extLst>
          </p:cNvPr>
          <p:cNvSpPr>
            <a:spLocks noGrp="1"/>
          </p:cNvSpPr>
          <p:nvPr>
            <p:ph type="dt" sz="half" idx="10"/>
          </p:nvPr>
        </p:nvSpPr>
        <p:spPr/>
        <p:txBody>
          <a:bodyPr/>
          <a:lstStyle/>
          <a:p>
            <a:fld id="{BFF173C1-2F5E-4A02-9636-4A8EA7DDCA41}" type="datetimeFigureOut">
              <a:rPr lang="en-US" smtClean="0"/>
              <a:t>4/26/2023</a:t>
            </a:fld>
            <a:endParaRPr lang="en-US"/>
          </a:p>
        </p:txBody>
      </p:sp>
      <p:sp>
        <p:nvSpPr>
          <p:cNvPr id="6" name="Footer Placeholder 5">
            <a:extLst>
              <a:ext uri="{FF2B5EF4-FFF2-40B4-BE49-F238E27FC236}">
                <a16:creationId xmlns:a16="http://schemas.microsoft.com/office/drawing/2014/main" id="{DD38CD9F-C9ED-42F3-AA5D-1AC66C32AB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4BD4F4-9458-4611-9E95-F425861AA4C4}"/>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355347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E8232-37CA-4FBA-8267-CEF1DBEE19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6C4CCE-BDF4-4877-B66C-A143E49384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CC5BD8-FBDD-490E-8A69-DF27ECFFB7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BEA564-3112-455E-BE0A-8F46CC1C8E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6B119A-78C4-442D-B4B7-EAF59F1409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69CF93-0DBB-4FF7-8EBF-E144A77DCEE3}"/>
              </a:ext>
            </a:extLst>
          </p:cNvPr>
          <p:cNvSpPr>
            <a:spLocks noGrp="1"/>
          </p:cNvSpPr>
          <p:nvPr>
            <p:ph type="dt" sz="half" idx="10"/>
          </p:nvPr>
        </p:nvSpPr>
        <p:spPr/>
        <p:txBody>
          <a:bodyPr/>
          <a:lstStyle/>
          <a:p>
            <a:fld id="{BFF173C1-2F5E-4A02-9636-4A8EA7DDCA41}" type="datetimeFigureOut">
              <a:rPr lang="en-US" smtClean="0"/>
              <a:t>4/26/2023</a:t>
            </a:fld>
            <a:endParaRPr lang="en-US"/>
          </a:p>
        </p:txBody>
      </p:sp>
      <p:sp>
        <p:nvSpPr>
          <p:cNvPr id="8" name="Footer Placeholder 7">
            <a:extLst>
              <a:ext uri="{FF2B5EF4-FFF2-40B4-BE49-F238E27FC236}">
                <a16:creationId xmlns:a16="http://schemas.microsoft.com/office/drawing/2014/main" id="{20B13545-7BD6-4D37-86DC-CFFBC585E0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313F5C-A906-46DD-82B8-3AE88C71567A}"/>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788152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445FF-5A7B-475C-882B-D41CD9769C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67D389-7267-414F-B5E4-D7D6672AAD96}"/>
              </a:ext>
            </a:extLst>
          </p:cNvPr>
          <p:cNvSpPr>
            <a:spLocks noGrp="1"/>
          </p:cNvSpPr>
          <p:nvPr>
            <p:ph type="dt" sz="half" idx="10"/>
          </p:nvPr>
        </p:nvSpPr>
        <p:spPr/>
        <p:txBody>
          <a:bodyPr/>
          <a:lstStyle/>
          <a:p>
            <a:fld id="{BFF173C1-2F5E-4A02-9636-4A8EA7DDCA41}" type="datetimeFigureOut">
              <a:rPr lang="en-US" smtClean="0"/>
              <a:t>4/26/2023</a:t>
            </a:fld>
            <a:endParaRPr lang="en-US"/>
          </a:p>
        </p:txBody>
      </p:sp>
      <p:sp>
        <p:nvSpPr>
          <p:cNvPr id="4" name="Footer Placeholder 3">
            <a:extLst>
              <a:ext uri="{FF2B5EF4-FFF2-40B4-BE49-F238E27FC236}">
                <a16:creationId xmlns:a16="http://schemas.microsoft.com/office/drawing/2014/main" id="{8789291F-8CEC-4C07-AE6F-C452ADDFA1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AFB8CF-A5C3-451B-83EB-716001BC5733}"/>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909923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1679A4-7B1F-4762-ABBE-414A34BB08F1}"/>
              </a:ext>
            </a:extLst>
          </p:cNvPr>
          <p:cNvSpPr>
            <a:spLocks noGrp="1"/>
          </p:cNvSpPr>
          <p:nvPr>
            <p:ph type="dt" sz="half" idx="10"/>
          </p:nvPr>
        </p:nvSpPr>
        <p:spPr/>
        <p:txBody>
          <a:bodyPr/>
          <a:lstStyle/>
          <a:p>
            <a:fld id="{BFF173C1-2F5E-4A02-9636-4A8EA7DDCA41}" type="datetimeFigureOut">
              <a:rPr lang="en-US" smtClean="0"/>
              <a:t>4/26/2023</a:t>
            </a:fld>
            <a:endParaRPr lang="en-US"/>
          </a:p>
        </p:txBody>
      </p:sp>
      <p:sp>
        <p:nvSpPr>
          <p:cNvPr id="3" name="Footer Placeholder 2">
            <a:extLst>
              <a:ext uri="{FF2B5EF4-FFF2-40B4-BE49-F238E27FC236}">
                <a16:creationId xmlns:a16="http://schemas.microsoft.com/office/drawing/2014/main" id="{94AFA26C-A11D-4C91-AA29-29203E8E37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88ACD4-E37A-4392-B7A4-814A52DCD977}"/>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414692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5A23E-0EDC-4BDA-8736-D62CFCF416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541926-B521-457A-9E9B-68C0A47DE6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557F50-2B45-4FA0-8D86-1CB3092811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FA6E42-0AF7-4341-8DB3-2402107BF1E7}"/>
              </a:ext>
            </a:extLst>
          </p:cNvPr>
          <p:cNvSpPr>
            <a:spLocks noGrp="1"/>
          </p:cNvSpPr>
          <p:nvPr>
            <p:ph type="dt" sz="half" idx="10"/>
          </p:nvPr>
        </p:nvSpPr>
        <p:spPr/>
        <p:txBody>
          <a:bodyPr/>
          <a:lstStyle/>
          <a:p>
            <a:fld id="{BFF173C1-2F5E-4A02-9636-4A8EA7DDCA41}" type="datetimeFigureOut">
              <a:rPr lang="en-US" smtClean="0"/>
              <a:t>4/26/2023</a:t>
            </a:fld>
            <a:endParaRPr lang="en-US"/>
          </a:p>
        </p:txBody>
      </p:sp>
      <p:sp>
        <p:nvSpPr>
          <p:cNvPr id="6" name="Footer Placeholder 5">
            <a:extLst>
              <a:ext uri="{FF2B5EF4-FFF2-40B4-BE49-F238E27FC236}">
                <a16:creationId xmlns:a16="http://schemas.microsoft.com/office/drawing/2014/main" id="{D09ACB2E-7A92-4BD5-ABE6-A6EC382C99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3C9B64-977C-4277-AEC0-4F1E199E7E04}"/>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181281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D1972-4E44-477A-B552-6444008988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81B900-76CA-4E1D-B7F4-55B7298CD8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5F5480-9816-45A0-9371-47FF8C522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B02A00-1E1E-4BA9-B0D8-44208A9067CE}"/>
              </a:ext>
            </a:extLst>
          </p:cNvPr>
          <p:cNvSpPr>
            <a:spLocks noGrp="1"/>
          </p:cNvSpPr>
          <p:nvPr>
            <p:ph type="dt" sz="half" idx="10"/>
          </p:nvPr>
        </p:nvSpPr>
        <p:spPr/>
        <p:txBody>
          <a:bodyPr/>
          <a:lstStyle/>
          <a:p>
            <a:fld id="{BFF173C1-2F5E-4A02-9636-4A8EA7DDCA41}" type="datetimeFigureOut">
              <a:rPr lang="en-US" smtClean="0"/>
              <a:t>4/26/2023</a:t>
            </a:fld>
            <a:endParaRPr lang="en-US"/>
          </a:p>
        </p:txBody>
      </p:sp>
      <p:sp>
        <p:nvSpPr>
          <p:cNvPr id="6" name="Footer Placeholder 5">
            <a:extLst>
              <a:ext uri="{FF2B5EF4-FFF2-40B4-BE49-F238E27FC236}">
                <a16:creationId xmlns:a16="http://schemas.microsoft.com/office/drawing/2014/main" id="{04A20E30-FAF4-453B-BC8B-D93C5FCB91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10A56B-4461-4BE9-B576-8112D3C134FD}"/>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553259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99A17-6365-4003-8F46-650B00880D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39DF9D-F4EB-4978-A89D-AD16B55D57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430709-80C9-4162-983A-F9C2BDF3EDF0}"/>
              </a:ext>
            </a:extLst>
          </p:cNvPr>
          <p:cNvSpPr>
            <a:spLocks noGrp="1"/>
          </p:cNvSpPr>
          <p:nvPr>
            <p:ph type="dt" sz="half" idx="10"/>
          </p:nvPr>
        </p:nvSpPr>
        <p:spPr/>
        <p:txBody>
          <a:bodyPr/>
          <a:lstStyle/>
          <a:p>
            <a:fld id="{BFF173C1-2F5E-4A02-9636-4A8EA7DDCA41}" type="datetimeFigureOut">
              <a:rPr lang="en-US" smtClean="0"/>
              <a:t>4/26/2023</a:t>
            </a:fld>
            <a:endParaRPr lang="en-US"/>
          </a:p>
        </p:txBody>
      </p:sp>
      <p:sp>
        <p:nvSpPr>
          <p:cNvPr id="5" name="Footer Placeholder 4">
            <a:extLst>
              <a:ext uri="{FF2B5EF4-FFF2-40B4-BE49-F238E27FC236}">
                <a16:creationId xmlns:a16="http://schemas.microsoft.com/office/drawing/2014/main" id="{29495828-C20A-4D83-8ACD-85C081ED17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819DB0-44EC-4480-9720-AB80DE4705EF}"/>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1211785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E8B18D-3BA9-456C-8C9C-861E54301E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298729-4EAD-4FE1-B22D-990078A204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C89957-7105-4955-974A-E9C1EDCB146F}"/>
              </a:ext>
            </a:extLst>
          </p:cNvPr>
          <p:cNvSpPr>
            <a:spLocks noGrp="1"/>
          </p:cNvSpPr>
          <p:nvPr>
            <p:ph type="dt" sz="half" idx="10"/>
          </p:nvPr>
        </p:nvSpPr>
        <p:spPr/>
        <p:txBody>
          <a:bodyPr/>
          <a:lstStyle/>
          <a:p>
            <a:fld id="{BFF173C1-2F5E-4A02-9636-4A8EA7DDCA41}" type="datetimeFigureOut">
              <a:rPr lang="en-US" smtClean="0"/>
              <a:t>4/26/2023</a:t>
            </a:fld>
            <a:endParaRPr lang="en-US"/>
          </a:p>
        </p:txBody>
      </p:sp>
      <p:sp>
        <p:nvSpPr>
          <p:cNvPr id="5" name="Footer Placeholder 4">
            <a:extLst>
              <a:ext uri="{FF2B5EF4-FFF2-40B4-BE49-F238E27FC236}">
                <a16:creationId xmlns:a16="http://schemas.microsoft.com/office/drawing/2014/main" id="{665373BB-E5C3-4FE4-A464-6ED93F481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3F2E1F-845D-477A-96FD-5250B1C177E7}"/>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1329548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92AAFA-F146-4065-A19D-BEABBC3565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064567-D102-4B21-A1A4-D69B16687F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917A7D-F3B5-4936-8933-547EBACD32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F173C1-2F5E-4A02-9636-4A8EA7DDCA41}" type="datetimeFigureOut">
              <a:rPr lang="en-US" smtClean="0"/>
              <a:t>4/26/2023</a:t>
            </a:fld>
            <a:endParaRPr lang="en-US"/>
          </a:p>
        </p:txBody>
      </p:sp>
      <p:sp>
        <p:nvSpPr>
          <p:cNvPr id="5" name="Footer Placeholder 4">
            <a:extLst>
              <a:ext uri="{FF2B5EF4-FFF2-40B4-BE49-F238E27FC236}">
                <a16:creationId xmlns:a16="http://schemas.microsoft.com/office/drawing/2014/main" id="{372F0130-AD76-4B24-9237-5AF8ED67BE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C767A22-F168-4F07-A116-E2D77AED8F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66207E-3B12-4681-9E12-034CB6A7BDCC}" type="slidenum">
              <a:rPr lang="en-US" smtClean="0"/>
              <a:t>‹#›</a:t>
            </a:fld>
            <a:endParaRPr lang="en-US"/>
          </a:p>
        </p:txBody>
      </p:sp>
    </p:spTree>
    <p:extLst>
      <p:ext uri="{BB962C8B-B14F-4D97-AF65-F5344CB8AC3E}">
        <p14:creationId xmlns:p14="http://schemas.microsoft.com/office/powerpoint/2010/main" val="2582103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bbasjaved@cuilahore.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C7009-667F-4F97-8974-6E0CB68BADE8}"/>
              </a:ext>
            </a:extLst>
          </p:cNvPr>
          <p:cNvSpPr>
            <a:spLocks noGrp="1"/>
          </p:cNvSpPr>
          <p:nvPr>
            <p:ph type="ctrTitle"/>
          </p:nvPr>
        </p:nvSpPr>
        <p:spPr/>
        <p:txBody>
          <a:bodyPr>
            <a:normAutofit fontScale="90000"/>
          </a:bodyPr>
          <a:lstStyle/>
          <a:p>
            <a:br>
              <a:rPr lang="en-US" dirty="0"/>
            </a:br>
            <a:br>
              <a:rPr lang="en-US" dirty="0"/>
            </a:br>
            <a:r>
              <a:rPr lang="en-US" sz="6000" b="0" i="0" u="none" strike="noStrike" baseline="0" dirty="0">
                <a:latin typeface="Cisco-Light"/>
              </a:rPr>
              <a:t>Application Protocols for IoT</a:t>
            </a:r>
            <a:endParaRPr lang="en-US" dirty="0"/>
          </a:p>
        </p:txBody>
      </p:sp>
      <p:sp>
        <p:nvSpPr>
          <p:cNvPr id="3" name="Subtitle 2">
            <a:extLst>
              <a:ext uri="{FF2B5EF4-FFF2-40B4-BE49-F238E27FC236}">
                <a16:creationId xmlns:a16="http://schemas.microsoft.com/office/drawing/2014/main" id="{E6E45546-75B8-4229-9A3B-FD201B44EBED}"/>
              </a:ext>
            </a:extLst>
          </p:cNvPr>
          <p:cNvSpPr>
            <a:spLocks noGrp="1"/>
          </p:cNvSpPr>
          <p:nvPr>
            <p:ph type="subTitle" idx="1"/>
          </p:nvPr>
        </p:nvSpPr>
        <p:spPr/>
        <p:txBody>
          <a:bodyPr>
            <a:normAutofit fontScale="77500" lnSpcReduction="20000"/>
          </a:bodyPr>
          <a:lstStyle/>
          <a:p>
            <a:r>
              <a:rPr lang="en-US" dirty="0"/>
              <a:t>Dr. Abbas </a:t>
            </a:r>
            <a:r>
              <a:rPr lang="en-US" dirty="0" err="1"/>
              <a:t>Javed</a:t>
            </a:r>
            <a:endParaRPr lang="en-US" dirty="0"/>
          </a:p>
          <a:p>
            <a:r>
              <a:rPr lang="en-US" dirty="0"/>
              <a:t>Assistant Professor</a:t>
            </a:r>
          </a:p>
          <a:p>
            <a:r>
              <a:rPr lang="en-US" dirty="0"/>
              <a:t>Department of Electrical and Computer Engineering, </a:t>
            </a:r>
          </a:p>
          <a:p>
            <a:r>
              <a:rPr lang="en-US" dirty="0"/>
              <a:t>COMSATS University Islamabad, Lahore Campus</a:t>
            </a:r>
          </a:p>
          <a:p>
            <a:r>
              <a:rPr lang="en-US" dirty="0">
                <a:hlinkClick r:id="rId2"/>
              </a:rPr>
              <a:t>abbasjaved@cuilahore.edu.pk</a:t>
            </a:r>
            <a:endParaRPr lang="en-US" dirty="0"/>
          </a:p>
          <a:p>
            <a:endParaRPr lang="en-US" dirty="0"/>
          </a:p>
        </p:txBody>
      </p:sp>
    </p:spTree>
    <p:extLst>
      <p:ext uri="{BB962C8B-B14F-4D97-AF65-F5344CB8AC3E}">
        <p14:creationId xmlns:p14="http://schemas.microsoft.com/office/powerpoint/2010/main" val="707307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CEBA7-271D-61E3-0F6C-83D7FBA6292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A96837-A0EA-D5A5-E2BE-055850105CF1}"/>
              </a:ext>
            </a:extLst>
          </p:cNvPr>
          <p:cNvSpPr>
            <a:spLocks noGrp="1"/>
          </p:cNvSpPr>
          <p:nvPr>
            <p:ph idx="1"/>
          </p:nvPr>
        </p:nvSpPr>
        <p:spPr/>
        <p:txBody>
          <a:bodyPr>
            <a:normAutofit fontScale="70000" lnSpcReduction="20000"/>
          </a:bodyPr>
          <a:lstStyle/>
          <a:p>
            <a:pPr marL="0" indent="0" algn="l">
              <a:buNone/>
            </a:pPr>
            <a:r>
              <a:rPr lang="en-US" sz="2800" b="0" i="0" u="none" strike="noStrike" baseline="0" dirty="0">
                <a:solidFill>
                  <a:srgbClr val="231F20"/>
                </a:solidFill>
                <a:latin typeface="CiscoSerif-Regular"/>
              </a:rPr>
              <a:t>The following categories of IoT application protocols and their transport methods are explored in the following sections:</a:t>
            </a:r>
          </a:p>
          <a:p>
            <a:pPr algn="l"/>
            <a:r>
              <a:rPr lang="en-US" sz="2800" b="1" i="0" u="none" strike="noStrike" baseline="0" dirty="0">
                <a:solidFill>
                  <a:srgbClr val="231F20"/>
                </a:solidFill>
                <a:latin typeface="CiscoSerif-Bold"/>
              </a:rPr>
              <a:t>Application layer protocol not present: </a:t>
            </a:r>
            <a:r>
              <a:rPr lang="en-US" sz="2800" b="0" i="0" u="none" strike="noStrike" baseline="0" dirty="0">
                <a:solidFill>
                  <a:srgbClr val="231F20"/>
                </a:solidFill>
                <a:latin typeface="CiscoSerif-Regular"/>
              </a:rPr>
              <a:t>In this case, the data payload is directly transported on top of the lower layers. No application layer protocol is used.</a:t>
            </a:r>
          </a:p>
          <a:p>
            <a:pPr algn="l"/>
            <a:r>
              <a:rPr lang="en-US" sz="2800" b="1" i="0" u="none" strike="noStrike" baseline="0" dirty="0">
                <a:solidFill>
                  <a:srgbClr val="231F20"/>
                </a:solidFill>
                <a:latin typeface="CiscoSerif-Bold"/>
              </a:rPr>
              <a:t>Supervisory control and data acquisition (SCADA): </a:t>
            </a:r>
            <a:r>
              <a:rPr lang="en-US" sz="2800" b="0" i="0" u="none" strike="noStrike" baseline="0" dirty="0">
                <a:solidFill>
                  <a:srgbClr val="231F20"/>
                </a:solidFill>
                <a:latin typeface="CiscoSerif-Regular"/>
              </a:rPr>
              <a:t>SCADA is one of the most common industrial protocols in the world, but it was developed long before the days of IP, and it has been adapted for IP networks.</a:t>
            </a:r>
          </a:p>
          <a:p>
            <a:pPr algn="l"/>
            <a:r>
              <a:rPr lang="en-US" sz="2800" b="1" i="0" u="none" strike="noStrike" baseline="0" dirty="0">
                <a:solidFill>
                  <a:srgbClr val="231F20"/>
                </a:solidFill>
                <a:latin typeface="CiscoSerif-Bold"/>
              </a:rPr>
              <a:t>Generic web-based protocols: </a:t>
            </a:r>
            <a:r>
              <a:rPr lang="en-US" sz="2800" b="0" i="0" u="none" strike="noStrike" baseline="0" dirty="0">
                <a:solidFill>
                  <a:srgbClr val="231F20"/>
                </a:solidFill>
                <a:latin typeface="CiscoSerif-Regular"/>
              </a:rPr>
              <a:t>Generic protocols, such as Ethernet, Wi-Fi, and 4G/LTE, are found on many consumer- and enterprise-class IoT devices that communicate over non-constrained networks.</a:t>
            </a:r>
          </a:p>
          <a:p>
            <a:pPr algn="l"/>
            <a:r>
              <a:rPr lang="en-US" sz="2800" b="1" i="0" u="none" strike="noStrike" baseline="0" dirty="0">
                <a:solidFill>
                  <a:srgbClr val="231F20"/>
                </a:solidFill>
                <a:latin typeface="CiscoSerif-Bold"/>
              </a:rPr>
              <a:t>IoT application layer protocols: </a:t>
            </a:r>
            <a:r>
              <a:rPr lang="en-US" sz="2800" b="0" i="0" u="none" strike="noStrike" baseline="0" dirty="0">
                <a:solidFill>
                  <a:srgbClr val="231F20"/>
                </a:solidFill>
                <a:latin typeface="CiscoSerif-Regular"/>
              </a:rPr>
              <a:t>IoT application layer protocols are devised to run on constrained nodes with a small compute footprint and are well adapted to the network bandwidth constraints on cellular or satellite links or constrained 6LoWPAN networks. Message Queuing Telemetry Transport (MQTT) and Constrained Application Protocol (CoAP), covered later in this chapter, are two well known examples of IoT application layer protocols.</a:t>
            </a:r>
            <a:endParaRPr lang="en-US" dirty="0"/>
          </a:p>
        </p:txBody>
      </p:sp>
    </p:spTree>
    <p:extLst>
      <p:ext uri="{BB962C8B-B14F-4D97-AF65-F5344CB8AC3E}">
        <p14:creationId xmlns:p14="http://schemas.microsoft.com/office/powerpoint/2010/main" val="4192631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82298-78F5-4772-881E-6109FEE2542C}"/>
              </a:ext>
            </a:extLst>
          </p:cNvPr>
          <p:cNvSpPr>
            <a:spLocks noGrp="1"/>
          </p:cNvSpPr>
          <p:nvPr>
            <p:ph type="title"/>
          </p:nvPr>
        </p:nvSpPr>
        <p:spPr/>
        <p:txBody>
          <a:bodyPr/>
          <a:lstStyle/>
          <a:p>
            <a:r>
              <a:rPr lang="en-US" dirty="0"/>
              <a:t>The Transport Layer</a:t>
            </a:r>
          </a:p>
        </p:txBody>
      </p:sp>
      <p:sp>
        <p:nvSpPr>
          <p:cNvPr id="3" name="Content Placeholder 2">
            <a:extLst>
              <a:ext uri="{FF2B5EF4-FFF2-40B4-BE49-F238E27FC236}">
                <a16:creationId xmlns:a16="http://schemas.microsoft.com/office/drawing/2014/main" id="{69360546-8625-4595-BE63-40A9E5922F3A}"/>
              </a:ext>
            </a:extLst>
          </p:cNvPr>
          <p:cNvSpPr>
            <a:spLocks noGrp="1"/>
          </p:cNvSpPr>
          <p:nvPr>
            <p:ph idx="1"/>
          </p:nvPr>
        </p:nvSpPr>
        <p:spPr>
          <a:xfrm>
            <a:off x="838200" y="1690688"/>
            <a:ext cx="10515600" cy="4507940"/>
          </a:xfrm>
        </p:spPr>
        <p:txBody>
          <a:bodyPr>
            <a:normAutofit lnSpcReduction="10000"/>
          </a:bodyPr>
          <a:lstStyle/>
          <a:p>
            <a:pPr algn="l"/>
            <a:r>
              <a:rPr lang="en-US" sz="2800" b="1" i="0" u="none" strike="noStrike" baseline="0" dirty="0">
                <a:solidFill>
                  <a:srgbClr val="231F20"/>
                </a:solidFill>
                <a:latin typeface="CiscoSerif-Bold"/>
              </a:rPr>
              <a:t>Transmission Control Protocol (TCP): </a:t>
            </a:r>
            <a:r>
              <a:rPr lang="en-US" sz="2800" b="0" i="0" u="none" strike="noStrike" baseline="0" dirty="0">
                <a:solidFill>
                  <a:srgbClr val="231F20"/>
                </a:solidFill>
                <a:latin typeface="CiscoSerif-Regular"/>
              </a:rPr>
              <a:t>This connection-oriented protocol requires a session to get established between the source and destination before exchanging data. You can view it as an equivalent to a traditional telephone conversation, in which two phones  must be connected and the communication link established before the parties can talk.</a:t>
            </a:r>
          </a:p>
          <a:p>
            <a:pPr algn="l"/>
            <a:r>
              <a:rPr lang="en-US" sz="2800" b="1" i="0" u="none" strike="noStrike" baseline="0" dirty="0">
                <a:solidFill>
                  <a:srgbClr val="231F20"/>
                </a:solidFill>
                <a:latin typeface="CiscoSerif-Bold"/>
              </a:rPr>
              <a:t>User Datagram Protocol (UDP): </a:t>
            </a:r>
            <a:r>
              <a:rPr lang="en-US" sz="2800" b="0" i="0" u="none" strike="noStrike" baseline="0" dirty="0">
                <a:solidFill>
                  <a:srgbClr val="231F20"/>
                </a:solidFill>
                <a:latin typeface="CiscoSerif-Regular"/>
              </a:rPr>
              <a:t>With this connectionless protocol, data can be quickly sent between source and destination—but with no guarantee of delivery. This is analogous to the traditional mail delivery system, in which a letter is mailed to a destination. Confirmation of the reception of this letter does not happen until another letter is sent in response.</a:t>
            </a:r>
          </a:p>
        </p:txBody>
      </p:sp>
    </p:spTree>
    <p:extLst>
      <p:ext uri="{BB962C8B-B14F-4D97-AF65-F5344CB8AC3E}">
        <p14:creationId xmlns:p14="http://schemas.microsoft.com/office/powerpoint/2010/main" val="3803933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36AC1-F337-6FA7-161A-73E0173B31A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95D4B7F-BC13-FFE5-26E9-55E743C48824}"/>
              </a:ext>
            </a:extLst>
          </p:cNvPr>
          <p:cNvSpPr>
            <a:spLocks noGrp="1"/>
          </p:cNvSpPr>
          <p:nvPr>
            <p:ph idx="1"/>
          </p:nvPr>
        </p:nvSpPr>
        <p:spPr/>
        <p:txBody>
          <a:bodyPr>
            <a:normAutofit fontScale="92500" lnSpcReduction="20000"/>
          </a:bodyPr>
          <a:lstStyle/>
          <a:p>
            <a:pPr algn="l">
              <a:buFont typeface="Arial" panose="020B0604020202020204" pitchFamily="34" charset="0"/>
              <a:buChar char="•"/>
            </a:pPr>
            <a:r>
              <a:rPr lang="en-US" b="0" i="0" dirty="0">
                <a:solidFill>
                  <a:srgbClr val="374151"/>
                </a:solidFill>
                <a:effectLst/>
                <a:latin typeface="Söhne"/>
              </a:rPr>
              <a:t>TCP is the main protocol used at the transport layer for human interactions over the Internet.</a:t>
            </a:r>
          </a:p>
          <a:p>
            <a:pPr algn="l">
              <a:buFont typeface="Arial" panose="020B0604020202020204" pitchFamily="34" charset="0"/>
              <a:buChar char="•"/>
            </a:pPr>
            <a:r>
              <a:rPr lang="en-US" b="0" i="0" dirty="0">
                <a:solidFill>
                  <a:srgbClr val="374151"/>
                </a:solidFill>
                <a:effectLst/>
                <a:latin typeface="Söhne"/>
              </a:rPr>
              <a:t>TCP is able to transport large volumes of data into smaller sets of packets and ensures reassembly in a correct sequence, flow control, window adjustment, and retransmission of lost packets.</a:t>
            </a:r>
          </a:p>
          <a:p>
            <a:pPr algn="l">
              <a:buFont typeface="Arial" panose="020B0604020202020204" pitchFamily="34" charset="0"/>
              <a:buChar char="•"/>
            </a:pPr>
            <a:r>
              <a:rPr lang="en-US" b="0" i="0" dirty="0">
                <a:solidFill>
                  <a:srgbClr val="374151"/>
                </a:solidFill>
                <a:effectLst/>
                <a:latin typeface="Söhne"/>
              </a:rPr>
              <a:t>UDP is most often used in the context of network services or for real-time data traffic, where performance and latency are more important than packet retransmissions.</a:t>
            </a:r>
          </a:p>
          <a:p>
            <a:pPr algn="l">
              <a:buFont typeface="Arial" panose="020B0604020202020204" pitchFamily="34" charset="0"/>
              <a:buChar char="•"/>
            </a:pPr>
            <a:r>
              <a:rPr lang="en-US" b="0" i="0" dirty="0">
                <a:solidFill>
                  <a:srgbClr val="374151"/>
                </a:solidFill>
                <a:effectLst/>
                <a:latin typeface="Söhne"/>
              </a:rPr>
              <a:t>Application layer protocols take care of the function of guaranteed error-free packet reception.</a:t>
            </a:r>
          </a:p>
          <a:p>
            <a:pPr algn="l">
              <a:buFont typeface="Arial" panose="020B0604020202020204" pitchFamily="34" charset="0"/>
              <a:buChar char="•"/>
            </a:pPr>
            <a:r>
              <a:rPr lang="en-US" b="0" i="0" dirty="0">
                <a:solidFill>
                  <a:srgbClr val="374151"/>
                </a:solidFill>
                <a:effectLst/>
                <a:latin typeface="Söhne"/>
              </a:rPr>
              <a:t>When selecting a transport layer for IoT application layer protocols, the impact on both the lower and upper layers of the stack must be evaluated.</a:t>
            </a:r>
          </a:p>
          <a:p>
            <a:endParaRPr lang="en-US" dirty="0"/>
          </a:p>
        </p:txBody>
      </p:sp>
    </p:spTree>
    <p:extLst>
      <p:ext uri="{BB962C8B-B14F-4D97-AF65-F5344CB8AC3E}">
        <p14:creationId xmlns:p14="http://schemas.microsoft.com/office/powerpoint/2010/main" val="551947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CFAAF-E9E6-87D1-A97E-5A64DEBEEFAE}"/>
              </a:ext>
            </a:extLst>
          </p:cNvPr>
          <p:cNvSpPr>
            <a:spLocks noGrp="1"/>
          </p:cNvSpPr>
          <p:nvPr>
            <p:ph type="title"/>
          </p:nvPr>
        </p:nvSpPr>
        <p:spPr/>
        <p:txBody>
          <a:bodyPr>
            <a:normAutofit/>
          </a:bodyPr>
          <a:lstStyle/>
          <a:p>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IoT application layer protocols</a:t>
            </a:r>
            <a:endParaRPr lang="en-US" sz="2800" dirty="0"/>
          </a:p>
        </p:txBody>
      </p:sp>
      <p:sp>
        <p:nvSpPr>
          <p:cNvPr id="3" name="Content Placeholder 2">
            <a:extLst>
              <a:ext uri="{FF2B5EF4-FFF2-40B4-BE49-F238E27FC236}">
                <a16:creationId xmlns:a16="http://schemas.microsoft.com/office/drawing/2014/main" id="{3BFDF8EE-E3E7-473D-8921-6473537A0B1C}"/>
              </a:ext>
            </a:extLst>
          </p:cNvPr>
          <p:cNvSpPr>
            <a:spLocks noGrp="1"/>
          </p:cNvSpPr>
          <p:nvPr>
            <p:ph idx="1"/>
          </p:nvPr>
        </p:nvSpPr>
        <p:spPr>
          <a:xfrm>
            <a:off x="838200" y="1386348"/>
            <a:ext cx="10515600" cy="4790615"/>
          </a:xfrm>
        </p:spPr>
        <p:txBody>
          <a:bodyPr>
            <a:normAutofit fontScale="92500" lnSpcReduction="10000"/>
          </a:bodyPr>
          <a:lstStyle/>
          <a:p>
            <a:r>
              <a:rPr lang="en-US" dirty="0"/>
              <a:t>IoT application layer protocols are designed to run on constrained nodes with a small compute footprint and are well adapted to the network bandwidth constraints on cellular or satellite links or constrained 6LoWPAN networks. Two well-known examples of IoT application layer protocols are Message Queuing Telemetry Transport (MQTT) and Constrained Application Protocol (CoAP).</a:t>
            </a:r>
          </a:p>
          <a:p>
            <a:r>
              <a:rPr lang="en-US" dirty="0"/>
              <a:t>MQTT: MQTT is a lightweight publish/subscribe messaging protocol designed for use on limited bandwidth and unreliable networks. It is commonly used for telemetry and control applications and is supported by a wide range of IoT devices.</a:t>
            </a:r>
          </a:p>
          <a:p>
            <a:r>
              <a:rPr lang="en-US" dirty="0"/>
              <a:t>CoAP: CoAP is a simple protocol designed for constrained devices and networks. It is used to transfer data between devices and can operate over both UDP and TCP protocols. It is commonly used for resource-constrained devices, such as sensors and actuators.</a:t>
            </a:r>
          </a:p>
          <a:p>
            <a:pPr marL="0" indent="0">
              <a:buNone/>
            </a:pPr>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204535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2808C-D415-CFC2-2B83-51716498236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D8E7EEB-623D-F88D-C2D8-1E1247B87D21}"/>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Constrained IoT devices defined as class 0 send or receive only a few bytes of data</a:t>
            </a:r>
          </a:p>
          <a:p>
            <a:pPr algn="l">
              <a:buFont typeface="Arial" panose="020B0604020202020204" pitchFamily="34" charset="0"/>
              <a:buChar char="•"/>
            </a:pPr>
            <a:r>
              <a:rPr lang="en-US" b="0" i="0" dirty="0">
                <a:solidFill>
                  <a:srgbClr val="374151"/>
                </a:solidFill>
                <a:effectLst/>
                <a:latin typeface="Söhne"/>
              </a:rPr>
              <a:t>These devices do not implement a fully structured network protocol stack due to processing capability, power constraints, and cost</a:t>
            </a:r>
          </a:p>
          <a:p>
            <a:pPr algn="l">
              <a:buFont typeface="Arial" panose="020B0604020202020204" pitchFamily="34" charset="0"/>
              <a:buChar char="•"/>
            </a:pPr>
            <a:r>
              <a:rPr lang="en-US" b="0" i="0" dirty="0">
                <a:solidFill>
                  <a:srgbClr val="374151"/>
                </a:solidFill>
                <a:effectLst/>
                <a:latin typeface="Söhne"/>
              </a:rPr>
              <a:t>Class 0 devices are usually simple smart objects that are severely constrained</a:t>
            </a:r>
          </a:p>
          <a:p>
            <a:endParaRPr lang="en-US" dirty="0"/>
          </a:p>
        </p:txBody>
      </p:sp>
    </p:spTree>
    <p:extLst>
      <p:ext uri="{BB962C8B-B14F-4D97-AF65-F5344CB8AC3E}">
        <p14:creationId xmlns:p14="http://schemas.microsoft.com/office/powerpoint/2010/main" val="2804776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AFBDD-B079-40D9-8FE3-DE56B8616FBC}"/>
              </a:ext>
            </a:extLst>
          </p:cNvPr>
          <p:cNvSpPr>
            <a:spLocks noGrp="1"/>
          </p:cNvSpPr>
          <p:nvPr>
            <p:ph type="title"/>
          </p:nvPr>
        </p:nvSpPr>
        <p:spPr/>
        <p:txBody>
          <a:bodyPr/>
          <a:lstStyle/>
          <a:p>
            <a:r>
              <a:rPr lang="en-US" b="0" i="0" dirty="0">
                <a:solidFill>
                  <a:srgbClr val="374151"/>
                </a:solidFill>
                <a:effectLst/>
                <a:latin typeface="Söhne"/>
              </a:rPr>
              <a:t>Example of Data Transport without Structured Network Stack</a:t>
            </a:r>
            <a:endParaRPr lang="en-US" dirty="0"/>
          </a:p>
        </p:txBody>
      </p:sp>
      <p:sp>
        <p:nvSpPr>
          <p:cNvPr id="3" name="Content Placeholder 2">
            <a:extLst>
              <a:ext uri="{FF2B5EF4-FFF2-40B4-BE49-F238E27FC236}">
                <a16:creationId xmlns:a16="http://schemas.microsoft.com/office/drawing/2014/main" id="{8949BD16-E70A-FB0A-8894-A3819D4BB00E}"/>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Low-cost temperature and relative humidity (RH) sensors send data over an LPWA </a:t>
            </a:r>
            <a:r>
              <a:rPr lang="en-US" b="0" i="0" dirty="0" err="1">
                <a:solidFill>
                  <a:srgbClr val="374151"/>
                </a:solidFill>
                <a:effectLst/>
                <a:latin typeface="Söhne"/>
              </a:rPr>
              <a:t>LoRaWAN</a:t>
            </a:r>
            <a:r>
              <a:rPr lang="en-US" b="0" i="0" dirty="0">
                <a:solidFill>
                  <a:srgbClr val="374151"/>
                </a:solidFill>
                <a:effectLst/>
                <a:latin typeface="Söhne"/>
              </a:rPr>
              <a:t> infrastructure</a:t>
            </a:r>
          </a:p>
          <a:p>
            <a:pPr algn="l">
              <a:buFont typeface="Arial" panose="020B0604020202020204" pitchFamily="34" charset="0"/>
              <a:buChar char="•"/>
            </a:pPr>
            <a:r>
              <a:rPr lang="en-US" b="0" i="0" dirty="0">
                <a:solidFill>
                  <a:srgbClr val="374151"/>
                </a:solidFill>
                <a:effectLst/>
                <a:latin typeface="Söhne"/>
              </a:rPr>
              <a:t>Small data payload is directly transported on top of the </a:t>
            </a:r>
            <a:r>
              <a:rPr lang="en-US" b="0" i="0" dirty="0" err="1">
                <a:solidFill>
                  <a:srgbClr val="374151"/>
                </a:solidFill>
                <a:effectLst/>
                <a:latin typeface="Söhne"/>
              </a:rPr>
              <a:t>LoRaWAN</a:t>
            </a:r>
            <a:r>
              <a:rPr lang="en-US" b="0" i="0" dirty="0">
                <a:solidFill>
                  <a:srgbClr val="374151"/>
                </a:solidFill>
                <a:effectLst/>
                <a:latin typeface="Söhne"/>
              </a:rPr>
              <a:t> MAC layer, without the use of TCP/IP</a:t>
            </a:r>
          </a:p>
          <a:p>
            <a:pPr algn="l">
              <a:buFont typeface="Arial" panose="020B0604020202020204" pitchFamily="34" charset="0"/>
              <a:buChar char="•"/>
            </a:pPr>
            <a:r>
              <a:rPr lang="en-US" b="0" i="0" dirty="0">
                <a:solidFill>
                  <a:srgbClr val="374151"/>
                </a:solidFill>
                <a:effectLst/>
                <a:latin typeface="Söhne"/>
              </a:rPr>
              <a:t>Lack of standardization makes it difficult for generic implementations of this transport method to be successful from an interoperability perspective</a:t>
            </a:r>
          </a:p>
          <a:p>
            <a:endParaRPr lang="en-US" dirty="0"/>
          </a:p>
        </p:txBody>
      </p:sp>
    </p:spTree>
    <p:extLst>
      <p:ext uri="{BB962C8B-B14F-4D97-AF65-F5344CB8AC3E}">
        <p14:creationId xmlns:p14="http://schemas.microsoft.com/office/powerpoint/2010/main" val="2150163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70F66-6147-EEBF-7B11-7F7E24482B18}"/>
              </a:ext>
            </a:extLst>
          </p:cNvPr>
          <p:cNvSpPr>
            <a:spLocks noGrp="1"/>
          </p:cNvSpPr>
          <p:nvPr>
            <p:ph type="title"/>
          </p:nvPr>
        </p:nvSpPr>
        <p:spPr/>
        <p:txBody>
          <a:bodyPr/>
          <a:lstStyle/>
          <a:p>
            <a:r>
              <a:rPr lang="en-US" b="0" i="0" dirty="0">
                <a:solidFill>
                  <a:srgbClr val="374151"/>
                </a:solidFill>
                <a:effectLst/>
                <a:latin typeface="Söhne"/>
              </a:rPr>
              <a:t>Standardization through IoT Data Broker</a:t>
            </a:r>
            <a:endParaRPr lang="en-US" dirty="0"/>
          </a:p>
        </p:txBody>
      </p:sp>
      <p:sp>
        <p:nvSpPr>
          <p:cNvPr id="3" name="Content Placeholder 2">
            <a:extLst>
              <a:ext uri="{FF2B5EF4-FFF2-40B4-BE49-F238E27FC236}">
                <a16:creationId xmlns:a16="http://schemas.microsoft.com/office/drawing/2014/main" id="{B407B86F-3DEC-D5F7-D2C5-C269D00DAB37}"/>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IoT data broker is a piece of middleware that standardizes sensor output into a common format that can be retrieved by authorized applications</a:t>
            </a:r>
          </a:p>
          <a:p>
            <a:pPr algn="l">
              <a:buFont typeface="Arial" panose="020B0604020202020204" pitchFamily="34" charset="0"/>
              <a:buChar char="•"/>
            </a:pPr>
            <a:r>
              <a:rPr lang="en-US" b="0" i="0" dirty="0">
                <a:solidFill>
                  <a:srgbClr val="374151"/>
                </a:solidFill>
                <a:effectLst/>
                <a:latin typeface="Söhne"/>
              </a:rPr>
              <a:t>Sensor output can be encoded differently, and the data broker can decode this data into a common, standardized format</a:t>
            </a:r>
          </a:p>
          <a:p>
            <a:pPr algn="l">
              <a:buFont typeface="Arial" panose="020B0604020202020204" pitchFamily="34" charset="0"/>
              <a:buChar char="•"/>
            </a:pPr>
            <a:r>
              <a:rPr lang="en-US" b="0" i="0" dirty="0">
                <a:solidFill>
                  <a:srgbClr val="374151"/>
                </a:solidFill>
                <a:effectLst/>
                <a:latin typeface="Söhne"/>
              </a:rPr>
              <a:t>Applications can access this temperature data without having to deal with decoding multiple temperature data formats</a:t>
            </a:r>
          </a:p>
          <a:p>
            <a:endParaRPr lang="en-US" dirty="0"/>
          </a:p>
        </p:txBody>
      </p:sp>
    </p:spTree>
    <p:extLst>
      <p:ext uri="{BB962C8B-B14F-4D97-AF65-F5344CB8AC3E}">
        <p14:creationId xmlns:p14="http://schemas.microsoft.com/office/powerpoint/2010/main" val="725838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B410F-21ED-61CA-EB38-55FD3D313C0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6929F4A-B99E-9597-C92B-4188950F0D5D}"/>
              </a:ext>
            </a:extLst>
          </p:cNvPr>
          <p:cNvPicPr>
            <a:picLocks noGrp="1" noChangeAspect="1"/>
          </p:cNvPicPr>
          <p:nvPr>
            <p:ph idx="1"/>
          </p:nvPr>
        </p:nvPicPr>
        <p:blipFill>
          <a:blip r:embed="rId2"/>
          <a:stretch>
            <a:fillRect/>
          </a:stretch>
        </p:blipFill>
        <p:spPr>
          <a:xfrm>
            <a:off x="3653747" y="1825625"/>
            <a:ext cx="4884506" cy="4351338"/>
          </a:xfrm>
        </p:spPr>
      </p:pic>
    </p:spTree>
    <p:extLst>
      <p:ext uri="{BB962C8B-B14F-4D97-AF65-F5344CB8AC3E}">
        <p14:creationId xmlns:p14="http://schemas.microsoft.com/office/powerpoint/2010/main" val="2786296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55E19-6B07-8B99-4653-47D3190DA038}"/>
              </a:ext>
            </a:extLst>
          </p:cNvPr>
          <p:cNvSpPr>
            <a:spLocks noGrp="1"/>
          </p:cNvSpPr>
          <p:nvPr>
            <p:ph type="title"/>
          </p:nvPr>
        </p:nvSpPr>
        <p:spPr/>
        <p:txBody>
          <a:bodyPr/>
          <a:lstStyle/>
          <a:p>
            <a:r>
              <a:rPr lang="en-US" b="0" i="0" dirty="0">
                <a:solidFill>
                  <a:srgbClr val="374151"/>
                </a:solidFill>
                <a:effectLst/>
                <a:latin typeface="Söhne"/>
              </a:rPr>
              <a:t>Commercial Use of IoT Data Broker</a:t>
            </a:r>
            <a:endParaRPr lang="en-US" dirty="0"/>
          </a:p>
        </p:txBody>
      </p:sp>
      <p:sp>
        <p:nvSpPr>
          <p:cNvPr id="3" name="Content Placeholder 2">
            <a:extLst>
              <a:ext uri="{FF2B5EF4-FFF2-40B4-BE49-F238E27FC236}">
                <a16:creationId xmlns:a16="http://schemas.microsoft.com/office/drawing/2014/main" id="{6FD0A821-15DE-975F-4E8D-73E37BA8583D}"/>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IoT data brokers are utilized from a commercial perspective to distribute and sell IoT data to third parties</a:t>
            </a:r>
          </a:p>
          <a:p>
            <a:pPr algn="l">
              <a:buFont typeface="Arial" panose="020B0604020202020204" pitchFamily="34" charset="0"/>
              <a:buChar char="•"/>
            </a:pPr>
            <a:r>
              <a:rPr lang="en-US" b="0" i="0" dirty="0">
                <a:solidFill>
                  <a:srgbClr val="374151"/>
                </a:solidFill>
                <a:effectLst/>
                <a:latin typeface="Söhne"/>
              </a:rPr>
              <a:t>Companies can provide access to their data broker from another company’s application for a fee</a:t>
            </a:r>
          </a:p>
          <a:p>
            <a:pPr algn="l">
              <a:buFont typeface="Arial" panose="020B0604020202020204" pitchFamily="34" charset="0"/>
              <a:buChar char="•"/>
            </a:pPr>
            <a:r>
              <a:rPr lang="en-US" b="0" i="0" dirty="0">
                <a:solidFill>
                  <a:srgbClr val="374151"/>
                </a:solidFill>
                <a:effectLst/>
                <a:latin typeface="Söhne"/>
              </a:rPr>
              <a:t>This makes an IoT data broker a possible revenue stream, depending on the value of the data it contains</a:t>
            </a:r>
          </a:p>
          <a:p>
            <a:endParaRPr lang="en-US" dirty="0"/>
          </a:p>
        </p:txBody>
      </p:sp>
    </p:spTree>
    <p:extLst>
      <p:ext uri="{BB962C8B-B14F-4D97-AF65-F5344CB8AC3E}">
        <p14:creationId xmlns:p14="http://schemas.microsoft.com/office/powerpoint/2010/main" val="4043649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E5E1C-66AF-5CB8-C0ED-962DEA468AC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BB944D4-7175-D3CC-BCEE-F414EB317315}"/>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Directly transporting data payload without a structured network stack optimizes data transmission over low-data-rate networks</a:t>
            </a:r>
          </a:p>
          <a:p>
            <a:pPr algn="l">
              <a:buFont typeface="Arial" panose="020B0604020202020204" pitchFamily="34" charset="0"/>
              <a:buChar char="•"/>
            </a:pPr>
            <a:r>
              <a:rPr lang="en-US" b="0" i="0" dirty="0">
                <a:solidFill>
                  <a:srgbClr val="374151"/>
                </a:solidFill>
                <a:effectLst/>
                <a:latin typeface="Söhne"/>
              </a:rPr>
              <a:t>However, lack of a data model implies that each application needs to know how to interpret the data-specific format</a:t>
            </a:r>
          </a:p>
          <a:p>
            <a:pPr algn="l">
              <a:buFont typeface="Arial" panose="020B0604020202020204" pitchFamily="34" charset="0"/>
              <a:buChar char="•"/>
            </a:pPr>
            <a:r>
              <a:rPr lang="en-US" b="0" i="0" dirty="0">
                <a:solidFill>
                  <a:srgbClr val="374151"/>
                </a:solidFill>
                <a:effectLst/>
                <a:latin typeface="Söhne"/>
              </a:rPr>
              <a:t>This becomes increasingly complex for larger networks of devices with different data payload formats, calling for structured data models and data broker applications</a:t>
            </a:r>
          </a:p>
          <a:p>
            <a:endParaRPr lang="en-US" dirty="0"/>
          </a:p>
        </p:txBody>
      </p:sp>
    </p:spTree>
    <p:extLst>
      <p:ext uri="{BB962C8B-B14F-4D97-AF65-F5344CB8AC3E}">
        <p14:creationId xmlns:p14="http://schemas.microsoft.com/office/powerpoint/2010/main" val="1426512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68916-6D4C-F779-9E1E-42149D0284B3}"/>
              </a:ext>
            </a:extLst>
          </p:cNvPr>
          <p:cNvSpPr>
            <a:spLocks noGrp="1"/>
          </p:cNvSpPr>
          <p:nvPr>
            <p:ph type="title"/>
          </p:nvPr>
        </p:nvSpPr>
        <p:spPr/>
        <p:txBody>
          <a:bodyPr/>
          <a:lstStyle/>
          <a:p>
            <a:pPr marL="228600" marR="0" lvl="0" indent="-228600" defTabSz="914400" rtl="0" eaLnBrk="1" fontAlgn="auto" latinLnBrk="0" hangingPunct="1">
              <a:lnSpc>
                <a:spcPct val="90000"/>
              </a:lnSpc>
              <a:spcBef>
                <a:spcPts val="1000"/>
              </a:spcBef>
              <a:spcAft>
                <a:spcPts val="0"/>
              </a:spcAft>
              <a:tabLst/>
              <a:defRPr/>
            </a:pPr>
            <a:r>
              <a:rPr kumimoji="0" lang="en-US" sz="2800" b="0" i="0" u="none" strike="noStrike" kern="1200" cap="none" spc="0" normalizeH="0" baseline="0" noProof="0" dirty="0">
                <a:ln>
                  <a:noFill/>
                </a:ln>
                <a:solidFill>
                  <a:srgbClr val="374151"/>
                </a:solidFill>
                <a:effectLst/>
                <a:uLnTx/>
                <a:uFillTx/>
                <a:latin typeface="Söhne"/>
                <a:ea typeface="+mn-ea"/>
                <a:cs typeface="+mn-cs"/>
              </a:rPr>
              <a:t>IoT Application Layer Protocols</a:t>
            </a:r>
            <a:endParaRPr lang="en-US" dirty="0"/>
          </a:p>
        </p:txBody>
      </p:sp>
      <p:sp>
        <p:nvSpPr>
          <p:cNvPr id="3" name="Content Placeholder 2">
            <a:extLst>
              <a:ext uri="{FF2B5EF4-FFF2-40B4-BE49-F238E27FC236}">
                <a16:creationId xmlns:a16="http://schemas.microsoft.com/office/drawing/2014/main" id="{3076BD07-39FE-72E3-DCA3-A90DA5A9E0EE}"/>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In constrained networks or large-scale deployments of constrained nodes, verbose web-based and data model protocols may be too heavy for IoT applications.</a:t>
            </a:r>
          </a:p>
          <a:p>
            <a:pPr algn="l">
              <a:buFont typeface="Arial" panose="020B0604020202020204" pitchFamily="34" charset="0"/>
              <a:buChar char="•"/>
            </a:pPr>
            <a:r>
              <a:rPr lang="en-US" b="0" i="0" dirty="0">
                <a:solidFill>
                  <a:srgbClr val="374151"/>
                </a:solidFill>
                <a:effectLst/>
                <a:latin typeface="Söhne"/>
              </a:rPr>
              <a:t>The IoT industry is working on new lightweight protocols that are better suited to large numbers of constrained nodes and networks.</a:t>
            </a:r>
          </a:p>
          <a:p>
            <a:pPr algn="l">
              <a:buFont typeface="Arial" panose="020B0604020202020204" pitchFamily="34" charset="0"/>
              <a:buChar char="•"/>
            </a:pPr>
            <a:r>
              <a:rPr lang="en-US" b="0" i="0" dirty="0">
                <a:solidFill>
                  <a:srgbClr val="374151"/>
                </a:solidFill>
                <a:effectLst/>
                <a:latin typeface="Söhne"/>
              </a:rPr>
              <a:t>Two of the most popular protocols are CoAP and MQTT.</a:t>
            </a:r>
          </a:p>
          <a:p>
            <a:endParaRPr lang="en-US" dirty="0"/>
          </a:p>
        </p:txBody>
      </p:sp>
    </p:spTree>
    <p:extLst>
      <p:ext uri="{BB962C8B-B14F-4D97-AF65-F5344CB8AC3E}">
        <p14:creationId xmlns:p14="http://schemas.microsoft.com/office/powerpoint/2010/main" val="1768489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26AEE-0F95-47B9-4693-15D85212147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7BF23DA-ADE0-2883-AA22-8AF6F5EC8F5C}"/>
              </a:ext>
            </a:extLst>
          </p:cNvPr>
          <p:cNvPicPr>
            <a:picLocks noGrp="1" noChangeAspect="1"/>
          </p:cNvPicPr>
          <p:nvPr>
            <p:ph idx="1"/>
          </p:nvPr>
        </p:nvPicPr>
        <p:blipFill>
          <a:blip r:embed="rId2"/>
          <a:stretch>
            <a:fillRect/>
          </a:stretch>
        </p:blipFill>
        <p:spPr>
          <a:xfrm>
            <a:off x="1860965" y="1402790"/>
            <a:ext cx="8470070" cy="3760711"/>
          </a:xfrm>
        </p:spPr>
      </p:pic>
    </p:spTree>
    <p:extLst>
      <p:ext uri="{BB962C8B-B14F-4D97-AF65-F5344CB8AC3E}">
        <p14:creationId xmlns:p14="http://schemas.microsoft.com/office/powerpoint/2010/main" val="3111358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72CE6-DD3B-9CAC-B101-DF73A4325A9F}"/>
              </a:ext>
            </a:extLst>
          </p:cNvPr>
          <p:cNvSpPr>
            <a:spLocks noGrp="1"/>
          </p:cNvSpPr>
          <p:nvPr>
            <p:ph type="title"/>
          </p:nvPr>
        </p:nvSpPr>
        <p:spPr/>
        <p:txBody>
          <a:bodyPr/>
          <a:lstStyle/>
          <a:p>
            <a:pPr marL="228600" marR="0" lvl="0" indent="-228600" defTabSz="914400" rtl="0" eaLnBrk="1" fontAlgn="auto" latinLnBrk="0" hangingPunct="1">
              <a:lnSpc>
                <a:spcPct val="90000"/>
              </a:lnSpc>
              <a:spcBef>
                <a:spcPts val="1000"/>
              </a:spcBef>
              <a:spcAft>
                <a:spcPts val="0"/>
              </a:spcAft>
              <a:tabLst/>
              <a:defRPr/>
            </a:pPr>
            <a:r>
              <a:rPr kumimoji="0" lang="en-US" sz="2800" b="0" i="0" u="none" strike="noStrike" kern="1200" cap="none" spc="0" normalizeH="0" baseline="0" noProof="0" dirty="0">
                <a:ln>
                  <a:noFill/>
                </a:ln>
                <a:solidFill>
                  <a:srgbClr val="374151"/>
                </a:solidFill>
                <a:effectLst/>
                <a:uLnTx/>
                <a:uFillTx/>
                <a:latin typeface="Söhne"/>
                <a:ea typeface="+mn-ea"/>
                <a:cs typeface="+mn-cs"/>
              </a:rPr>
              <a:t>CoAP Protocol</a:t>
            </a:r>
            <a:endParaRPr lang="en-US" dirty="0"/>
          </a:p>
        </p:txBody>
      </p:sp>
      <p:sp>
        <p:nvSpPr>
          <p:cNvPr id="3" name="Content Placeholder 2">
            <a:extLst>
              <a:ext uri="{FF2B5EF4-FFF2-40B4-BE49-F238E27FC236}">
                <a16:creationId xmlns:a16="http://schemas.microsoft.com/office/drawing/2014/main" id="{1ABB8365-5A99-9BD1-8C17-E28AAB7985AC}"/>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Constrained Application Protocol (CoAP) is a protocol designed for constrained networks.</a:t>
            </a:r>
          </a:p>
          <a:p>
            <a:pPr algn="l">
              <a:buFont typeface="Arial" panose="020B0604020202020204" pitchFamily="34" charset="0"/>
              <a:buChar char="•"/>
            </a:pPr>
            <a:r>
              <a:rPr lang="en-US" b="0" i="0" dirty="0">
                <a:solidFill>
                  <a:srgbClr val="374151"/>
                </a:solidFill>
                <a:effectLst/>
                <a:latin typeface="Söhne"/>
              </a:rPr>
              <a:t>It is based on RESTful web services and uses the User Datagram Protocol (UDP) for transport.</a:t>
            </a:r>
          </a:p>
          <a:p>
            <a:pPr algn="l">
              <a:buFont typeface="Arial" panose="020B0604020202020204" pitchFamily="34" charset="0"/>
              <a:buChar char="•"/>
            </a:pPr>
            <a:r>
              <a:rPr lang="en-US" b="0" i="0" dirty="0">
                <a:solidFill>
                  <a:srgbClr val="374151"/>
                </a:solidFill>
                <a:effectLst/>
                <a:latin typeface="Söhne"/>
              </a:rPr>
              <a:t>CoAP is similar to HTTP, but is designed to work with low-power and lossy networks.</a:t>
            </a:r>
          </a:p>
          <a:p>
            <a:pPr algn="l">
              <a:buFont typeface="Arial" panose="020B0604020202020204" pitchFamily="34" charset="0"/>
              <a:buChar char="•"/>
            </a:pPr>
            <a:r>
              <a:rPr lang="en-US" b="0" i="0" dirty="0">
                <a:solidFill>
                  <a:srgbClr val="374151"/>
                </a:solidFill>
                <a:effectLst/>
                <a:latin typeface="Söhne"/>
              </a:rPr>
              <a:t>It is a request-response protocol and supports caching to reduce network traffic.</a:t>
            </a:r>
          </a:p>
          <a:p>
            <a:endParaRPr lang="en-US" dirty="0"/>
          </a:p>
        </p:txBody>
      </p:sp>
    </p:spTree>
    <p:extLst>
      <p:ext uri="{BB962C8B-B14F-4D97-AF65-F5344CB8AC3E}">
        <p14:creationId xmlns:p14="http://schemas.microsoft.com/office/powerpoint/2010/main" val="2332975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C8271-0AC1-61C2-A236-9F6CBD7F5ABD}"/>
              </a:ext>
            </a:extLst>
          </p:cNvPr>
          <p:cNvSpPr>
            <a:spLocks noGrp="1"/>
          </p:cNvSpPr>
          <p:nvPr>
            <p:ph type="title"/>
          </p:nvPr>
        </p:nvSpPr>
        <p:spPr/>
        <p:txBody>
          <a:bodyPr/>
          <a:lstStyle/>
          <a:p>
            <a:r>
              <a:rPr lang="en-US" b="0" i="0" dirty="0">
                <a:solidFill>
                  <a:srgbClr val="374151"/>
                </a:solidFill>
                <a:effectLst/>
                <a:latin typeface="Söhne"/>
              </a:rPr>
              <a:t>CoAP Messaging Model</a:t>
            </a:r>
            <a:endParaRPr lang="en-US" dirty="0"/>
          </a:p>
        </p:txBody>
      </p:sp>
      <p:sp>
        <p:nvSpPr>
          <p:cNvPr id="3" name="Content Placeholder 2">
            <a:extLst>
              <a:ext uri="{FF2B5EF4-FFF2-40B4-BE49-F238E27FC236}">
                <a16:creationId xmlns:a16="http://schemas.microsoft.com/office/drawing/2014/main" id="{A2309315-53AE-B870-042D-E50B87866996}"/>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Designed to facilitate the exchange of messages over UDP between endpoints</a:t>
            </a:r>
          </a:p>
          <a:p>
            <a:pPr algn="l">
              <a:buFont typeface="Arial" panose="020B0604020202020204" pitchFamily="34" charset="0"/>
              <a:buChar char="•"/>
            </a:pPr>
            <a:r>
              <a:rPr lang="en-US" b="0" i="0" dirty="0">
                <a:solidFill>
                  <a:srgbClr val="374151"/>
                </a:solidFill>
                <a:effectLst/>
                <a:latin typeface="Söhne"/>
              </a:rPr>
              <a:t>Secure transport protocol Datagram Transport Layer Security (DTLS)</a:t>
            </a:r>
          </a:p>
          <a:p>
            <a:pPr algn="l">
              <a:buFont typeface="Arial" panose="020B0604020202020204" pitchFamily="34" charset="0"/>
              <a:buChar char="•"/>
            </a:pPr>
            <a:r>
              <a:rPr lang="en-US" b="0" i="0" dirty="0">
                <a:solidFill>
                  <a:srgbClr val="374151"/>
                </a:solidFill>
                <a:effectLst/>
                <a:latin typeface="Söhne"/>
              </a:rPr>
              <a:t>Studying alternate transport mechanisms including TCP, secure TLS, and WebSocket</a:t>
            </a:r>
          </a:p>
          <a:p>
            <a:pPr algn="l">
              <a:buFont typeface="Arial" panose="020B0604020202020204" pitchFamily="34" charset="0"/>
              <a:buChar char="•"/>
            </a:pPr>
            <a:r>
              <a:rPr lang="en-US" b="0" i="0" dirty="0">
                <a:solidFill>
                  <a:srgbClr val="374151"/>
                </a:solidFill>
                <a:effectLst/>
                <a:latin typeface="Söhne"/>
              </a:rPr>
              <a:t>CoAP over Short Message Service (SMS) as defined in Open Mobile Alliance for Lightweight Machine-to-Machine (LWM2M) for IoT device management is also being considered</a:t>
            </a:r>
          </a:p>
          <a:p>
            <a:endParaRPr lang="en-US" dirty="0"/>
          </a:p>
        </p:txBody>
      </p:sp>
    </p:spTree>
    <p:extLst>
      <p:ext uri="{BB962C8B-B14F-4D97-AF65-F5344CB8AC3E}">
        <p14:creationId xmlns:p14="http://schemas.microsoft.com/office/powerpoint/2010/main" val="3436531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8DD2F-8D85-7D39-CD65-4551CA929253}"/>
              </a:ext>
            </a:extLst>
          </p:cNvPr>
          <p:cNvSpPr>
            <a:spLocks noGrp="1"/>
          </p:cNvSpPr>
          <p:nvPr>
            <p:ph type="title"/>
          </p:nvPr>
        </p:nvSpPr>
        <p:spPr/>
        <p:txBody>
          <a:bodyPr/>
          <a:lstStyle/>
          <a:p>
            <a:r>
              <a:rPr lang="en-US" b="0" i="0" dirty="0">
                <a:solidFill>
                  <a:srgbClr val="374151"/>
                </a:solidFill>
                <a:effectLst/>
                <a:latin typeface="Söhne"/>
              </a:rPr>
              <a:t>Security in CoAP</a:t>
            </a:r>
            <a:endParaRPr lang="en-US" dirty="0"/>
          </a:p>
        </p:txBody>
      </p:sp>
      <p:sp>
        <p:nvSpPr>
          <p:cNvPr id="3" name="Content Placeholder 2">
            <a:extLst>
              <a:ext uri="{FF2B5EF4-FFF2-40B4-BE49-F238E27FC236}">
                <a16:creationId xmlns:a16="http://schemas.microsoft.com/office/drawing/2014/main" id="{5221FBA4-3BD6-B9BB-ACF8-32ADFB4DEFE4}"/>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RFC 7252 provides more details on securing CoAP with DTLS</a:t>
            </a:r>
          </a:p>
          <a:p>
            <a:pPr algn="l">
              <a:buFont typeface="Arial" panose="020B0604020202020204" pitchFamily="34" charset="0"/>
              <a:buChar char="•"/>
            </a:pPr>
            <a:r>
              <a:rPr lang="en-US" b="0" i="0" dirty="0">
                <a:solidFill>
                  <a:srgbClr val="374151"/>
                </a:solidFill>
                <a:effectLst/>
                <a:latin typeface="Söhne"/>
              </a:rPr>
              <a:t>CoAP endpoint provisioned with keys and a filtering list</a:t>
            </a:r>
          </a:p>
          <a:p>
            <a:pPr algn="l">
              <a:buFont typeface="Arial" panose="020B0604020202020204" pitchFamily="34" charset="0"/>
              <a:buChar char="•"/>
            </a:pPr>
            <a:r>
              <a:rPr lang="en-US" b="0" i="0" dirty="0">
                <a:solidFill>
                  <a:srgbClr val="374151"/>
                </a:solidFill>
                <a:effectLst/>
                <a:latin typeface="Söhne"/>
              </a:rPr>
              <a:t>Four security modes: </a:t>
            </a:r>
            <a:r>
              <a:rPr lang="en-US" b="0" i="0" dirty="0" err="1">
                <a:solidFill>
                  <a:srgbClr val="374151"/>
                </a:solidFill>
                <a:effectLst/>
                <a:latin typeface="Söhne"/>
              </a:rPr>
              <a:t>NoSec</a:t>
            </a:r>
            <a:r>
              <a:rPr lang="en-US" b="0" i="0" dirty="0">
                <a:solidFill>
                  <a:srgbClr val="374151"/>
                </a:solidFill>
                <a:effectLst/>
                <a:latin typeface="Söhne"/>
              </a:rPr>
              <a:t>, </a:t>
            </a:r>
            <a:r>
              <a:rPr lang="en-US" b="0" i="0" dirty="0" err="1">
                <a:solidFill>
                  <a:srgbClr val="374151"/>
                </a:solidFill>
                <a:effectLst/>
                <a:latin typeface="Söhne"/>
              </a:rPr>
              <a:t>PreSharedKey</a:t>
            </a:r>
            <a:r>
              <a:rPr lang="en-US" b="0" i="0" dirty="0">
                <a:solidFill>
                  <a:srgbClr val="374151"/>
                </a:solidFill>
                <a:effectLst/>
                <a:latin typeface="Söhne"/>
              </a:rPr>
              <a:t>, </a:t>
            </a:r>
            <a:r>
              <a:rPr lang="en-US" b="0" i="0" dirty="0" err="1">
                <a:solidFill>
                  <a:srgbClr val="374151"/>
                </a:solidFill>
                <a:effectLst/>
                <a:latin typeface="Söhne"/>
              </a:rPr>
              <a:t>RawPublicKey</a:t>
            </a:r>
            <a:r>
              <a:rPr lang="en-US" b="0" i="0" dirty="0">
                <a:solidFill>
                  <a:srgbClr val="374151"/>
                </a:solidFill>
                <a:effectLst/>
                <a:latin typeface="Söhne"/>
              </a:rPr>
              <a:t>, and Certificate</a:t>
            </a:r>
          </a:p>
          <a:p>
            <a:pPr algn="l">
              <a:buFont typeface="Arial" panose="020B0604020202020204" pitchFamily="34" charset="0"/>
              <a:buChar char="•"/>
            </a:pPr>
            <a:r>
              <a:rPr lang="en-US" b="0" i="0" dirty="0" err="1">
                <a:solidFill>
                  <a:srgbClr val="374151"/>
                </a:solidFill>
                <a:effectLst/>
                <a:latin typeface="Söhne"/>
              </a:rPr>
              <a:t>NoSec</a:t>
            </a:r>
            <a:r>
              <a:rPr lang="en-US" b="0" i="0" dirty="0">
                <a:solidFill>
                  <a:srgbClr val="374151"/>
                </a:solidFill>
                <a:effectLst/>
                <a:latin typeface="Söhne"/>
              </a:rPr>
              <a:t> and </a:t>
            </a:r>
            <a:r>
              <a:rPr lang="en-US" b="0" i="0" dirty="0" err="1">
                <a:solidFill>
                  <a:srgbClr val="374151"/>
                </a:solidFill>
                <a:effectLst/>
                <a:latin typeface="Söhne"/>
              </a:rPr>
              <a:t>RawPublicKey</a:t>
            </a:r>
            <a:r>
              <a:rPr lang="en-US" b="0" i="0" dirty="0">
                <a:solidFill>
                  <a:srgbClr val="374151"/>
                </a:solidFill>
                <a:effectLst/>
                <a:latin typeface="Söhne"/>
              </a:rPr>
              <a:t> implementations are mandatory</a:t>
            </a:r>
          </a:p>
          <a:p>
            <a:endParaRPr lang="en-US" dirty="0"/>
          </a:p>
        </p:txBody>
      </p:sp>
    </p:spTree>
    <p:extLst>
      <p:ext uri="{BB962C8B-B14F-4D97-AF65-F5344CB8AC3E}">
        <p14:creationId xmlns:p14="http://schemas.microsoft.com/office/powerpoint/2010/main" val="3449325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20DC5-738A-5059-02AB-AC041C47CCFB}"/>
              </a:ext>
            </a:extLst>
          </p:cNvPr>
          <p:cNvSpPr>
            <a:spLocks noGrp="1"/>
          </p:cNvSpPr>
          <p:nvPr>
            <p:ph type="title"/>
          </p:nvPr>
        </p:nvSpPr>
        <p:spPr/>
        <p:txBody>
          <a:bodyPr/>
          <a:lstStyle/>
          <a:p>
            <a:r>
              <a:rPr lang="en-US" b="0" i="0" dirty="0">
                <a:solidFill>
                  <a:srgbClr val="374151"/>
                </a:solidFill>
                <a:effectLst/>
                <a:latin typeface="Söhne"/>
              </a:rPr>
              <a:t>CoAP Message Format</a:t>
            </a:r>
            <a:endParaRPr lang="en-US" dirty="0"/>
          </a:p>
        </p:txBody>
      </p:sp>
      <p:sp>
        <p:nvSpPr>
          <p:cNvPr id="3" name="Content Placeholder 2">
            <a:extLst>
              <a:ext uri="{FF2B5EF4-FFF2-40B4-BE49-F238E27FC236}">
                <a16:creationId xmlns:a16="http://schemas.microsoft.com/office/drawing/2014/main" id="{E3D5351C-FF16-5D1F-BF3A-FD054E587182}"/>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Composed of a short fixed-length Header field (4 bytes), a variable-length but mandatory Token field (0–8 bytes), Options fields if necessary, and the Payload field</a:t>
            </a:r>
          </a:p>
          <a:p>
            <a:pPr algn="l">
              <a:buFont typeface="Arial" panose="020B0604020202020204" pitchFamily="34" charset="0"/>
              <a:buChar char="•"/>
            </a:pPr>
            <a:r>
              <a:rPr lang="en-US" b="0" i="0" dirty="0">
                <a:solidFill>
                  <a:srgbClr val="374151"/>
                </a:solidFill>
                <a:effectLst/>
                <a:latin typeface="Söhne"/>
              </a:rPr>
              <a:t>Figure 6-7 details the CoAP message format</a:t>
            </a:r>
          </a:p>
          <a:p>
            <a:pPr algn="l">
              <a:buFont typeface="Arial" panose="020B0604020202020204" pitchFamily="34" charset="0"/>
              <a:buChar char="•"/>
            </a:pPr>
            <a:r>
              <a:rPr lang="en-US" b="0" i="0" dirty="0">
                <a:solidFill>
                  <a:srgbClr val="374151"/>
                </a:solidFill>
                <a:effectLst/>
                <a:latin typeface="Söhne"/>
              </a:rPr>
              <a:t>Delivers low overhead while decreasing parsing complexity</a:t>
            </a:r>
          </a:p>
          <a:p>
            <a:endParaRPr lang="en-US" dirty="0"/>
          </a:p>
        </p:txBody>
      </p:sp>
    </p:spTree>
    <p:extLst>
      <p:ext uri="{BB962C8B-B14F-4D97-AF65-F5344CB8AC3E}">
        <p14:creationId xmlns:p14="http://schemas.microsoft.com/office/powerpoint/2010/main" val="40059385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C2889-7CC5-9731-CC12-5A671BFE9EB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E311ABD-9B0F-336A-E64A-7F0BF22AF409}"/>
              </a:ext>
            </a:extLst>
          </p:cNvPr>
          <p:cNvPicPr>
            <a:picLocks noGrp="1" noChangeAspect="1"/>
          </p:cNvPicPr>
          <p:nvPr>
            <p:ph idx="1"/>
          </p:nvPr>
        </p:nvPicPr>
        <p:blipFill>
          <a:blip r:embed="rId2"/>
          <a:stretch>
            <a:fillRect/>
          </a:stretch>
        </p:blipFill>
        <p:spPr>
          <a:xfrm>
            <a:off x="1214203" y="553386"/>
            <a:ext cx="9543949" cy="5272153"/>
          </a:xfrm>
        </p:spPr>
      </p:pic>
    </p:spTree>
    <p:extLst>
      <p:ext uri="{BB962C8B-B14F-4D97-AF65-F5344CB8AC3E}">
        <p14:creationId xmlns:p14="http://schemas.microsoft.com/office/powerpoint/2010/main" val="3047444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18D7A-BF2C-8F60-1571-95F2775E584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F2D351B-B085-6C34-0470-2B55EA2A284B}"/>
              </a:ext>
            </a:extLst>
          </p:cNvPr>
          <p:cNvPicPr>
            <a:picLocks noGrp="1" noChangeAspect="1"/>
          </p:cNvPicPr>
          <p:nvPr>
            <p:ph idx="1"/>
          </p:nvPr>
        </p:nvPicPr>
        <p:blipFill>
          <a:blip r:embed="rId2"/>
          <a:stretch>
            <a:fillRect/>
          </a:stretch>
        </p:blipFill>
        <p:spPr>
          <a:xfrm>
            <a:off x="1452797" y="545481"/>
            <a:ext cx="8290691" cy="5947394"/>
          </a:xfrm>
        </p:spPr>
      </p:pic>
    </p:spTree>
    <p:extLst>
      <p:ext uri="{BB962C8B-B14F-4D97-AF65-F5344CB8AC3E}">
        <p14:creationId xmlns:p14="http://schemas.microsoft.com/office/powerpoint/2010/main" val="3226764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535D5-1038-879C-5026-DB1A615002D3}"/>
              </a:ext>
            </a:extLst>
          </p:cNvPr>
          <p:cNvSpPr>
            <a:spLocks noGrp="1"/>
          </p:cNvSpPr>
          <p:nvPr>
            <p:ph type="title"/>
          </p:nvPr>
        </p:nvSpPr>
        <p:spPr/>
        <p:txBody>
          <a:bodyPr/>
          <a:lstStyle/>
          <a:p>
            <a:pPr marL="228600" marR="0" lvl="0" indent="-228600" defTabSz="914400" rtl="0" eaLnBrk="1" fontAlgn="auto" latinLnBrk="0" hangingPunct="1">
              <a:lnSpc>
                <a:spcPct val="90000"/>
              </a:lnSpc>
              <a:spcBef>
                <a:spcPts val="1000"/>
              </a:spcBef>
              <a:spcAft>
                <a:spcPts val="0"/>
              </a:spcAft>
              <a:tabLst/>
              <a:defRPr/>
            </a:pPr>
            <a:r>
              <a:rPr kumimoji="0" lang="en-US" sz="2800" b="0" i="0" u="none" strike="noStrike" kern="1200" cap="none" spc="0" normalizeH="0" baseline="0" noProof="0" dirty="0">
                <a:ln>
                  <a:noFill/>
                </a:ln>
                <a:solidFill>
                  <a:srgbClr val="374151"/>
                </a:solidFill>
                <a:effectLst/>
                <a:uLnTx/>
                <a:uFillTx/>
                <a:latin typeface="Söhne"/>
                <a:ea typeface="+mn-ea"/>
                <a:cs typeface="+mn-cs"/>
              </a:rPr>
              <a:t>CoAP and IoT Communication</a:t>
            </a:r>
            <a:endParaRPr lang="en-US" dirty="0"/>
          </a:p>
        </p:txBody>
      </p:sp>
      <p:sp>
        <p:nvSpPr>
          <p:cNvPr id="3" name="Content Placeholder 2">
            <a:extLst>
              <a:ext uri="{FF2B5EF4-FFF2-40B4-BE49-F238E27FC236}">
                <a16:creationId xmlns:a16="http://schemas.microsoft.com/office/drawing/2014/main" id="{67767B7B-918E-A067-17F8-167F99BCC008}"/>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CoAP can run over IPv4 or IPv6</a:t>
            </a:r>
          </a:p>
          <a:p>
            <a:pPr algn="l">
              <a:buFont typeface="Arial" panose="020B0604020202020204" pitchFamily="34" charset="0"/>
              <a:buChar char="•"/>
            </a:pPr>
            <a:r>
              <a:rPr lang="en-US" b="0" i="0" dirty="0">
                <a:solidFill>
                  <a:srgbClr val="374151"/>
                </a:solidFill>
                <a:effectLst/>
                <a:latin typeface="Söhne"/>
              </a:rPr>
              <a:t>Message should fit within a single IP packet and UDP payload to avoid fragmentation</a:t>
            </a:r>
          </a:p>
          <a:p>
            <a:pPr algn="l">
              <a:buFont typeface="Arial" panose="020B0604020202020204" pitchFamily="34" charset="0"/>
              <a:buChar char="•"/>
            </a:pPr>
            <a:r>
              <a:rPr lang="en-US" b="0" i="0" dirty="0">
                <a:solidFill>
                  <a:srgbClr val="374151"/>
                </a:solidFill>
                <a:effectLst/>
                <a:latin typeface="Söhne"/>
              </a:rPr>
              <a:t>For IPv6, maximum CoAP message size could be up to 1152 bytes</a:t>
            </a:r>
          </a:p>
          <a:p>
            <a:pPr algn="l">
              <a:buFont typeface="Arial" panose="020B0604020202020204" pitchFamily="34" charset="0"/>
              <a:buChar char="•"/>
            </a:pPr>
            <a:r>
              <a:rPr lang="en-US" b="0" i="0" dirty="0">
                <a:solidFill>
                  <a:srgbClr val="374151"/>
                </a:solidFill>
                <a:effectLst/>
                <a:latin typeface="Söhne"/>
              </a:rPr>
              <a:t>For IPv4, implementations should limit themselves to more conservative values and set the IPv4 Don’t Fragment (DF) bit</a:t>
            </a:r>
          </a:p>
          <a:p>
            <a:endParaRPr lang="en-US" dirty="0"/>
          </a:p>
        </p:txBody>
      </p:sp>
    </p:spTree>
    <p:extLst>
      <p:ext uri="{BB962C8B-B14F-4D97-AF65-F5344CB8AC3E}">
        <p14:creationId xmlns:p14="http://schemas.microsoft.com/office/powerpoint/2010/main" val="2594649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FAAAB-201F-D83A-3240-05EE5FAA541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1DD91BA-DF56-72A3-D95A-D3A81E0EEC53}"/>
              </a:ext>
            </a:extLst>
          </p:cNvPr>
          <p:cNvPicPr>
            <a:picLocks noGrp="1" noChangeAspect="1"/>
          </p:cNvPicPr>
          <p:nvPr>
            <p:ph idx="1"/>
          </p:nvPr>
        </p:nvPicPr>
        <p:blipFill>
          <a:blip r:embed="rId2"/>
          <a:stretch>
            <a:fillRect/>
          </a:stretch>
        </p:blipFill>
        <p:spPr>
          <a:xfrm>
            <a:off x="1563329" y="461074"/>
            <a:ext cx="8986530" cy="5672232"/>
          </a:xfrm>
        </p:spPr>
      </p:pic>
    </p:spTree>
    <p:extLst>
      <p:ext uri="{BB962C8B-B14F-4D97-AF65-F5344CB8AC3E}">
        <p14:creationId xmlns:p14="http://schemas.microsoft.com/office/powerpoint/2010/main" val="9727999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72D46-E8DF-455A-F74A-561D2AE90F20}"/>
              </a:ext>
            </a:extLst>
          </p:cNvPr>
          <p:cNvSpPr>
            <a:spLocks noGrp="1"/>
          </p:cNvSpPr>
          <p:nvPr>
            <p:ph type="title"/>
          </p:nvPr>
        </p:nvSpPr>
        <p:spPr/>
        <p:txBody>
          <a:bodyPr/>
          <a:lstStyle/>
          <a:p>
            <a:pPr marL="228600" marR="0" lvl="0" indent="-228600" defTabSz="914400" rtl="0" eaLnBrk="1" fontAlgn="auto" latinLnBrk="0" hangingPunct="1">
              <a:lnSpc>
                <a:spcPct val="90000"/>
              </a:lnSpc>
              <a:spcBef>
                <a:spcPts val="1000"/>
              </a:spcBef>
              <a:spcAft>
                <a:spcPts val="0"/>
              </a:spcAft>
              <a:tabLst/>
              <a:defRPr/>
            </a:pPr>
            <a:r>
              <a:rPr kumimoji="0" lang="en-US" sz="2800" b="0" i="0" u="none" strike="noStrike" kern="1200" cap="none" spc="0" normalizeH="0" baseline="0" noProof="0" dirty="0">
                <a:ln>
                  <a:noFill/>
                </a:ln>
                <a:solidFill>
                  <a:srgbClr val="374151"/>
                </a:solidFill>
                <a:effectLst/>
                <a:uLnTx/>
                <a:uFillTx/>
                <a:latin typeface="Söhne"/>
                <a:ea typeface="+mn-ea"/>
                <a:cs typeface="+mn-cs"/>
              </a:rPr>
              <a:t>CoAP and IoT Communication (Contd.)</a:t>
            </a:r>
            <a:endParaRPr lang="en-US" dirty="0"/>
          </a:p>
        </p:txBody>
      </p:sp>
      <p:sp>
        <p:nvSpPr>
          <p:cNvPr id="3" name="Content Placeholder 2">
            <a:extLst>
              <a:ext uri="{FF2B5EF4-FFF2-40B4-BE49-F238E27FC236}">
                <a16:creationId xmlns:a16="http://schemas.microsoft.com/office/drawing/2014/main" id="{92CE6300-6485-1858-143D-A9F779422568}"/>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CoAP defines a pair of Block options for transferring multiple blocks of information</a:t>
            </a:r>
          </a:p>
          <a:p>
            <a:pPr algn="l">
              <a:buFont typeface="Arial" panose="020B0604020202020204" pitchFamily="34" charset="0"/>
              <a:buChar char="•"/>
            </a:pPr>
            <a:r>
              <a:rPr lang="en-US" b="0" i="0" dirty="0">
                <a:solidFill>
                  <a:srgbClr val="374151"/>
                </a:solidFill>
                <a:effectLst/>
                <a:latin typeface="Söhne"/>
              </a:rPr>
              <a:t>CoAP communications across an IoT infrastructure can take various paths</a:t>
            </a:r>
          </a:p>
          <a:p>
            <a:pPr algn="l">
              <a:buFont typeface="Arial" panose="020B0604020202020204" pitchFamily="34" charset="0"/>
              <a:buChar char="•"/>
            </a:pPr>
            <a:r>
              <a:rPr lang="en-US" b="0" i="0" dirty="0">
                <a:solidFill>
                  <a:srgbClr val="374151"/>
                </a:solidFill>
                <a:effectLst/>
                <a:latin typeface="Söhne"/>
              </a:rPr>
              <a:t>CoAP is based on the REST architecture, but with a “thing” acting as both the client and the server</a:t>
            </a:r>
          </a:p>
          <a:p>
            <a:pPr algn="l">
              <a:buFont typeface="Arial" panose="020B0604020202020204" pitchFamily="34" charset="0"/>
              <a:buChar char="•"/>
            </a:pPr>
            <a:r>
              <a:rPr lang="en-US" b="0" i="0" dirty="0">
                <a:solidFill>
                  <a:srgbClr val="374151"/>
                </a:solidFill>
                <a:effectLst/>
                <a:latin typeface="Söhne"/>
              </a:rPr>
              <a:t>CoAP defines four types of messages: confirmable, non-confirmable, acknowledgement, and reset</a:t>
            </a:r>
          </a:p>
          <a:p>
            <a:endParaRPr lang="en-US" dirty="0"/>
          </a:p>
        </p:txBody>
      </p:sp>
    </p:spTree>
    <p:extLst>
      <p:ext uri="{BB962C8B-B14F-4D97-AF65-F5344CB8AC3E}">
        <p14:creationId xmlns:p14="http://schemas.microsoft.com/office/powerpoint/2010/main" val="34866573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FF9E2-EA31-4E64-771D-35408C1049AA}"/>
              </a:ext>
            </a:extLst>
          </p:cNvPr>
          <p:cNvSpPr>
            <a:spLocks noGrp="1"/>
          </p:cNvSpPr>
          <p:nvPr>
            <p:ph type="title"/>
          </p:nvPr>
        </p:nvSpPr>
        <p:spPr/>
        <p:txBody>
          <a:bodyPr/>
          <a:lstStyle/>
          <a:p>
            <a:r>
              <a:rPr lang="en-US" b="0" i="0" dirty="0">
                <a:solidFill>
                  <a:srgbClr val="374151"/>
                </a:solidFill>
                <a:effectLst/>
                <a:latin typeface="Söhne"/>
              </a:rPr>
              <a:t>CoAP URI Format and Parameters</a:t>
            </a:r>
            <a:endParaRPr lang="en-US" dirty="0"/>
          </a:p>
        </p:txBody>
      </p:sp>
      <p:sp>
        <p:nvSpPr>
          <p:cNvPr id="3" name="Content Placeholder 2">
            <a:extLst>
              <a:ext uri="{FF2B5EF4-FFF2-40B4-BE49-F238E27FC236}">
                <a16:creationId xmlns:a16="http://schemas.microsoft.com/office/drawing/2014/main" id="{3217DF6F-5B8B-B4C9-547B-A0EC6D661168}"/>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Example 6-2 shows the CoAP </a:t>
            </a:r>
            <a:r>
              <a:rPr lang="en-US" sz="2800" b="0" i="0" u="none" strike="noStrike" baseline="0" dirty="0">
                <a:solidFill>
                  <a:srgbClr val="231F20"/>
                </a:solidFill>
                <a:latin typeface="CiscoSerif-Regular"/>
              </a:rPr>
              <a:t>uniform resource identifier (</a:t>
            </a:r>
            <a:r>
              <a:rPr lang="en-US" b="0" i="0" dirty="0">
                <a:solidFill>
                  <a:srgbClr val="374151"/>
                </a:solidFill>
                <a:effectLst/>
                <a:latin typeface="Söhne"/>
              </a:rPr>
              <a:t>URI) format, similar to HTTP/HTTPS</a:t>
            </a:r>
          </a:p>
          <a:p>
            <a:pPr algn="l">
              <a:buFont typeface="Arial" panose="020B0604020202020204" pitchFamily="34" charset="0"/>
              <a:buChar char="•"/>
            </a:pPr>
            <a:r>
              <a:rPr lang="en-US" b="0" i="0" dirty="0">
                <a:solidFill>
                  <a:srgbClr val="374151"/>
                </a:solidFill>
                <a:effectLst/>
                <a:latin typeface="Söhne"/>
              </a:rPr>
              <a:t>CoAP code, method and response codes, option numbers, and content format have been assigned by IANA as Constrained RESTful Environments (</a:t>
            </a:r>
            <a:r>
              <a:rPr lang="en-US" b="0" i="0" dirty="0" err="1">
                <a:solidFill>
                  <a:srgbClr val="374151"/>
                </a:solidFill>
                <a:effectLst/>
                <a:latin typeface="Söhne"/>
              </a:rPr>
              <a:t>CoRE</a:t>
            </a:r>
            <a:r>
              <a:rPr lang="en-US" b="0" i="0" dirty="0">
                <a:solidFill>
                  <a:srgbClr val="374151"/>
                </a:solidFill>
                <a:effectLst/>
                <a:latin typeface="Söhne"/>
              </a:rPr>
              <a:t>) parameters</a:t>
            </a:r>
          </a:p>
          <a:p>
            <a:pPr algn="l"/>
            <a:r>
              <a:rPr lang="en-US" sz="1800" b="0" i="0" u="none" strike="noStrike" baseline="0" dirty="0">
                <a:solidFill>
                  <a:srgbClr val="231F20"/>
                </a:solidFill>
                <a:latin typeface="CiscoSerif-Regular"/>
              </a:rPr>
              <a:t>The CoAP request/response semantics include the methods GET, POST, PUT, and DELETE.</a:t>
            </a:r>
            <a:endParaRPr lang="en-US" b="0" i="0" dirty="0">
              <a:solidFill>
                <a:srgbClr val="374151"/>
              </a:solidFill>
              <a:effectLst/>
              <a:latin typeface="Söhne"/>
            </a:endParaRPr>
          </a:p>
          <a:p>
            <a:endParaRPr lang="en-US" dirty="0"/>
          </a:p>
        </p:txBody>
      </p:sp>
    </p:spTree>
    <p:extLst>
      <p:ext uri="{BB962C8B-B14F-4D97-AF65-F5344CB8AC3E}">
        <p14:creationId xmlns:p14="http://schemas.microsoft.com/office/powerpoint/2010/main" val="11398846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AD749-7E50-8582-73FB-DA8770A5257A}"/>
              </a:ext>
            </a:extLst>
          </p:cNvPr>
          <p:cNvSpPr>
            <a:spLocks noGrp="1"/>
          </p:cNvSpPr>
          <p:nvPr>
            <p:ph type="title"/>
          </p:nvPr>
        </p:nvSpPr>
        <p:spPr/>
        <p:txBody>
          <a:bodyPr/>
          <a:lstStyle/>
          <a:p>
            <a:r>
              <a:rPr lang="en-US" b="0" i="0" dirty="0">
                <a:solidFill>
                  <a:srgbClr val="374151"/>
                </a:solidFill>
                <a:effectLst/>
                <a:latin typeface="Söhne"/>
              </a:rPr>
              <a:t>Reliability and Congestion Control in CoAP</a:t>
            </a:r>
            <a:endParaRPr lang="en-US" dirty="0"/>
          </a:p>
        </p:txBody>
      </p:sp>
      <p:sp>
        <p:nvSpPr>
          <p:cNvPr id="3" name="Content Placeholder 2">
            <a:extLst>
              <a:ext uri="{FF2B5EF4-FFF2-40B4-BE49-F238E27FC236}">
                <a16:creationId xmlns:a16="http://schemas.microsoft.com/office/drawing/2014/main" id="{ADB00411-F2CF-7AF3-C4DD-036D316F5C87}"/>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CoAP offers a reliable transmission of messages when a CoAP header is marked as “confirmable”</a:t>
            </a:r>
          </a:p>
          <a:p>
            <a:pPr algn="l">
              <a:buFont typeface="Arial" panose="020B0604020202020204" pitchFamily="34" charset="0"/>
              <a:buChar char="•"/>
            </a:pPr>
            <a:r>
              <a:rPr lang="en-US" b="0" i="0" dirty="0">
                <a:solidFill>
                  <a:srgbClr val="374151"/>
                </a:solidFill>
                <a:effectLst/>
                <a:latin typeface="Söhne"/>
              </a:rPr>
              <a:t>CoAP supports basic congestion control with a default time-out, simple stop and wait retransmission with exponential back-off mechanism, and detection of duplicate messages through a message ID</a:t>
            </a:r>
          </a:p>
          <a:p>
            <a:endParaRPr lang="en-US" dirty="0"/>
          </a:p>
        </p:txBody>
      </p:sp>
    </p:spTree>
    <p:extLst>
      <p:ext uri="{BB962C8B-B14F-4D97-AF65-F5344CB8AC3E}">
        <p14:creationId xmlns:p14="http://schemas.microsoft.com/office/powerpoint/2010/main" val="40168448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712A0-04F5-C992-7D49-02DDC2E2FA1F}"/>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657A557-5AF0-B967-B9DE-5987057C348E}"/>
              </a:ext>
            </a:extLst>
          </p:cNvPr>
          <p:cNvPicPr>
            <a:picLocks noGrp="1" noChangeAspect="1"/>
          </p:cNvPicPr>
          <p:nvPr>
            <p:ph idx="1"/>
          </p:nvPr>
        </p:nvPicPr>
        <p:blipFill>
          <a:blip r:embed="rId2"/>
          <a:stretch>
            <a:fillRect/>
          </a:stretch>
        </p:blipFill>
        <p:spPr>
          <a:xfrm>
            <a:off x="674359" y="719529"/>
            <a:ext cx="11114156" cy="4727848"/>
          </a:xfrm>
        </p:spPr>
      </p:pic>
    </p:spTree>
    <p:extLst>
      <p:ext uri="{BB962C8B-B14F-4D97-AF65-F5344CB8AC3E}">
        <p14:creationId xmlns:p14="http://schemas.microsoft.com/office/powerpoint/2010/main" val="21808188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52B4C-081C-FBC1-849D-797611B168BC}"/>
              </a:ext>
            </a:extLst>
          </p:cNvPr>
          <p:cNvSpPr>
            <a:spLocks noGrp="1"/>
          </p:cNvSpPr>
          <p:nvPr>
            <p:ph type="title"/>
          </p:nvPr>
        </p:nvSpPr>
        <p:spPr/>
        <p:txBody>
          <a:bodyPr/>
          <a:lstStyle/>
          <a:p>
            <a:r>
              <a:rPr lang="en-US" b="0" i="0" dirty="0">
                <a:solidFill>
                  <a:srgbClr val="374151"/>
                </a:solidFill>
                <a:effectLst/>
                <a:latin typeface="Söhne"/>
              </a:rPr>
              <a:t>CoAP Example for Temperature Sensor</a:t>
            </a:r>
            <a:endParaRPr lang="en-US" dirty="0"/>
          </a:p>
        </p:txBody>
      </p:sp>
      <p:sp>
        <p:nvSpPr>
          <p:cNvPr id="3" name="Content Placeholder 2">
            <a:extLst>
              <a:ext uri="{FF2B5EF4-FFF2-40B4-BE49-F238E27FC236}">
                <a16:creationId xmlns:a16="http://schemas.microsoft.com/office/drawing/2014/main" id="{86EA333E-8FD7-6768-C760-3F86F65EBD68}"/>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Figure 6-9 shows a utility operations center on the left, acting as the CoAP client, with the CoAP server being a temperature sensor on the right of the figure</a:t>
            </a:r>
          </a:p>
          <a:p>
            <a:pPr algn="l">
              <a:buFont typeface="Arial" panose="020B0604020202020204" pitchFamily="34" charset="0"/>
              <a:buChar char="•"/>
            </a:pPr>
            <a:r>
              <a:rPr lang="en-US" b="0" i="0" dirty="0">
                <a:solidFill>
                  <a:srgbClr val="374151"/>
                </a:solidFill>
                <a:effectLst/>
                <a:latin typeface="Söhne"/>
              </a:rPr>
              <a:t>CoAP Message ID ensures reliability and is used to detect duplicate messages</a:t>
            </a:r>
          </a:p>
          <a:p>
            <a:pPr algn="l">
              <a:buFont typeface="Arial" panose="020B0604020202020204" pitchFamily="34" charset="0"/>
              <a:buChar char="•"/>
            </a:pPr>
            <a:r>
              <a:rPr lang="en-US" b="0" i="0" dirty="0">
                <a:solidFill>
                  <a:srgbClr val="374151"/>
                </a:solidFill>
                <a:effectLst/>
                <a:latin typeface="Söhne"/>
              </a:rPr>
              <a:t>The client sends a GET message to get the temperature from the sensor, which is acknowledged by the sensor</a:t>
            </a:r>
          </a:p>
          <a:p>
            <a:endParaRPr lang="en-US" dirty="0"/>
          </a:p>
        </p:txBody>
      </p:sp>
    </p:spTree>
    <p:extLst>
      <p:ext uri="{BB962C8B-B14F-4D97-AF65-F5344CB8AC3E}">
        <p14:creationId xmlns:p14="http://schemas.microsoft.com/office/powerpoint/2010/main" val="805980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1C235-C798-1C9D-7DE8-9128693CB045}"/>
              </a:ext>
            </a:extLst>
          </p:cNvPr>
          <p:cNvSpPr>
            <a:spLocks noGrp="1"/>
          </p:cNvSpPr>
          <p:nvPr>
            <p:ph type="title"/>
          </p:nvPr>
        </p:nvSpPr>
        <p:spPr/>
        <p:txBody>
          <a:bodyPr/>
          <a:lstStyle/>
          <a:p>
            <a:r>
              <a:rPr lang="en-US" b="0" i="0" dirty="0">
                <a:solidFill>
                  <a:srgbClr val="374151"/>
                </a:solidFill>
                <a:effectLst/>
                <a:latin typeface="Söhne"/>
              </a:rPr>
              <a:t>CoAP Multicast</a:t>
            </a:r>
            <a:endParaRPr lang="en-US" dirty="0"/>
          </a:p>
        </p:txBody>
      </p:sp>
      <p:sp>
        <p:nvSpPr>
          <p:cNvPr id="3" name="Content Placeholder 2">
            <a:extLst>
              <a:ext uri="{FF2B5EF4-FFF2-40B4-BE49-F238E27FC236}">
                <a16:creationId xmlns:a16="http://schemas.microsoft.com/office/drawing/2014/main" id="{0FB122F9-E137-3028-7719-5A4EC7CFA727}"/>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CoAP supports data requests sent to a group of devices by leveraging the use of IP Multicast</a:t>
            </a:r>
          </a:p>
          <a:p>
            <a:pPr algn="l">
              <a:buFont typeface="Arial" panose="020B0604020202020204" pitchFamily="34" charset="0"/>
              <a:buChar char="•"/>
            </a:pPr>
            <a:r>
              <a:rPr lang="en-US" b="0" i="0" dirty="0">
                <a:solidFill>
                  <a:srgbClr val="374151"/>
                </a:solidFill>
                <a:effectLst/>
                <a:latin typeface="Söhne"/>
              </a:rPr>
              <a:t>Implementing IP Multicast with CoAP requires the use of all-CoAP-node multicast addresses</a:t>
            </a:r>
          </a:p>
          <a:p>
            <a:pPr algn="l">
              <a:buFont typeface="Arial" panose="020B0604020202020204" pitchFamily="34" charset="0"/>
              <a:buChar char="•"/>
            </a:pPr>
            <a:r>
              <a:rPr lang="en-US" b="0" i="0" dirty="0">
                <a:solidFill>
                  <a:srgbClr val="374151"/>
                </a:solidFill>
                <a:effectLst/>
                <a:latin typeface="Söhne"/>
              </a:rPr>
              <a:t>CoAP server offering services and resources needs to be discovered by the CoAP clients</a:t>
            </a:r>
          </a:p>
          <a:p>
            <a:endParaRPr lang="en-US" dirty="0"/>
          </a:p>
        </p:txBody>
      </p:sp>
    </p:spTree>
    <p:extLst>
      <p:ext uri="{BB962C8B-B14F-4D97-AF65-F5344CB8AC3E}">
        <p14:creationId xmlns:p14="http://schemas.microsoft.com/office/powerpoint/2010/main" val="22767139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EAC98-8532-A8B6-D13F-AA7569947584}"/>
              </a:ext>
            </a:extLst>
          </p:cNvPr>
          <p:cNvSpPr>
            <a:spLocks noGrp="1"/>
          </p:cNvSpPr>
          <p:nvPr>
            <p:ph type="title"/>
          </p:nvPr>
        </p:nvSpPr>
        <p:spPr/>
        <p:txBody>
          <a:bodyPr/>
          <a:lstStyle/>
          <a:p>
            <a:r>
              <a:rPr lang="en-US" b="0" i="0" dirty="0">
                <a:solidFill>
                  <a:srgbClr val="374151"/>
                </a:solidFill>
                <a:effectLst/>
                <a:latin typeface="Söhne"/>
              </a:rPr>
              <a:t>CoAP Service Discovery</a:t>
            </a:r>
            <a:endParaRPr lang="en-US" dirty="0"/>
          </a:p>
        </p:txBody>
      </p:sp>
      <p:sp>
        <p:nvSpPr>
          <p:cNvPr id="3" name="Content Placeholder 2">
            <a:extLst>
              <a:ext uri="{FF2B5EF4-FFF2-40B4-BE49-F238E27FC236}">
                <a16:creationId xmlns:a16="http://schemas.microsoft.com/office/drawing/2014/main" id="{BF8D125B-6C96-CA6E-B187-229CB8F4F39A}"/>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Services from a CoAP server can be discovered by learning a URI in a namespace or through the “All CoAP nodes” multicast address</a:t>
            </a:r>
          </a:p>
          <a:p>
            <a:pPr algn="l">
              <a:buFont typeface="Arial" panose="020B0604020202020204" pitchFamily="34" charset="0"/>
              <a:buChar char="•"/>
            </a:pPr>
            <a:r>
              <a:rPr lang="en-US" b="0" i="0" dirty="0">
                <a:solidFill>
                  <a:srgbClr val="374151"/>
                </a:solidFill>
                <a:effectLst/>
                <a:latin typeface="Söhne"/>
              </a:rPr>
              <a:t>When utilizing the URI scheme for discovering services, the default port 5683 is used for non-secured CoAP, or </a:t>
            </a:r>
            <a:r>
              <a:rPr lang="en-US" b="0" i="0" dirty="0" err="1">
                <a:solidFill>
                  <a:srgbClr val="374151"/>
                </a:solidFill>
                <a:effectLst/>
                <a:latin typeface="Söhne"/>
              </a:rPr>
              <a:t>coap</a:t>
            </a:r>
            <a:r>
              <a:rPr lang="en-US" b="0" i="0" dirty="0">
                <a:solidFill>
                  <a:srgbClr val="374151"/>
                </a:solidFill>
                <a:effectLst/>
                <a:latin typeface="Söhne"/>
              </a:rPr>
              <a:t>, while port 5684 is utilized for DTLS-secured CoAP, or </a:t>
            </a:r>
            <a:r>
              <a:rPr lang="en-US" b="0" i="0" dirty="0" err="1">
                <a:solidFill>
                  <a:srgbClr val="374151"/>
                </a:solidFill>
                <a:effectLst/>
                <a:latin typeface="Söhne"/>
              </a:rPr>
              <a:t>coaps</a:t>
            </a:r>
            <a:endParaRPr lang="en-US" b="0" i="0" dirty="0">
              <a:solidFill>
                <a:srgbClr val="374151"/>
              </a:solidFill>
              <a:effectLst/>
              <a:latin typeface="Söhne"/>
            </a:endParaRPr>
          </a:p>
          <a:p>
            <a:endParaRPr lang="en-US" dirty="0"/>
          </a:p>
        </p:txBody>
      </p:sp>
    </p:spTree>
    <p:extLst>
      <p:ext uri="{BB962C8B-B14F-4D97-AF65-F5344CB8AC3E}">
        <p14:creationId xmlns:p14="http://schemas.microsoft.com/office/powerpoint/2010/main" val="626414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CC34A-F206-53FF-9194-D2F4D1241F59}"/>
              </a:ext>
            </a:extLst>
          </p:cNvPr>
          <p:cNvSpPr>
            <a:spLocks noGrp="1"/>
          </p:cNvSpPr>
          <p:nvPr>
            <p:ph type="title"/>
          </p:nvPr>
        </p:nvSpPr>
        <p:spPr/>
        <p:txBody>
          <a:bodyPr/>
          <a:lstStyle/>
          <a:p>
            <a:r>
              <a:rPr lang="en-US" dirty="0"/>
              <a:t>Message Queuing Telemetry Transport (MQTT)- Introduction</a:t>
            </a:r>
          </a:p>
        </p:txBody>
      </p:sp>
      <p:sp>
        <p:nvSpPr>
          <p:cNvPr id="3" name="Content Placeholder 2">
            <a:extLst>
              <a:ext uri="{FF2B5EF4-FFF2-40B4-BE49-F238E27FC236}">
                <a16:creationId xmlns:a16="http://schemas.microsoft.com/office/drawing/2014/main" id="{D98A1E9B-37B3-B597-5D13-601D90029D38}"/>
              </a:ext>
            </a:extLst>
          </p:cNvPr>
          <p:cNvSpPr>
            <a:spLocks noGrp="1"/>
          </p:cNvSpPr>
          <p:nvPr>
            <p:ph idx="1"/>
          </p:nvPr>
        </p:nvSpPr>
        <p:spPr/>
        <p:txBody>
          <a:bodyPr/>
          <a:lstStyle/>
          <a:p>
            <a:r>
              <a:rPr lang="en-US" dirty="0"/>
              <a:t>MQTT stands for Message Queuing Telemetry Transport</a:t>
            </a:r>
          </a:p>
          <a:p>
            <a:r>
              <a:rPr lang="en-US" dirty="0"/>
              <a:t>Developed by IBM and </a:t>
            </a:r>
            <a:r>
              <a:rPr lang="en-US" dirty="0" err="1"/>
              <a:t>Arcom</a:t>
            </a:r>
            <a:r>
              <a:rPr lang="en-US" dirty="0"/>
              <a:t> in the late 1990s for monitoring and controlling a large number of sensors in harsh environments</a:t>
            </a:r>
          </a:p>
          <a:p>
            <a:r>
              <a:rPr lang="en-US" dirty="0"/>
              <a:t>Lightweight, reliable, and cost-effective protocol</a:t>
            </a:r>
          </a:p>
          <a:p>
            <a:r>
              <a:rPr lang="en-US" dirty="0"/>
              <a:t>Now standardized by </a:t>
            </a:r>
            <a:r>
              <a:rPr lang="en-US" b="0" i="0" dirty="0">
                <a:solidFill>
                  <a:srgbClr val="374151"/>
                </a:solidFill>
                <a:effectLst/>
                <a:latin typeface="Söhne"/>
              </a:rPr>
              <a:t>OASIS (Organization for the Advancement of Structured Information Standards) </a:t>
            </a:r>
            <a:endParaRPr lang="en-US" dirty="0"/>
          </a:p>
        </p:txBody>
      </p:sp>
    </p:spTree>
    <p:extLst>
      <p:ext uri="{BB962C8B-B14F-4D97-AF65-F5344CB8AC3E}">
        <p14:creationId xmlns:p14="http://schemas.microsoft.com/office/powerpoint/2010/main" val="25030303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60CFA-B2BE-F9D7-B36F-FEF8E2BD5FB8}"/>
              </a:ext>
            </a:extLst>
          </p:cNvPr>
          <p:cNvSpPr>
            <a:spLocks noGrp="1"/>
          </p:cNvSpPr>
          <p:nvPr>
            <p:ph type="title"/>
          </p:nvPr>
        </p:nvSpPr>
        <p:spPr/>
        <p:txBody>
          <a:bodyPr/>
          <a:lstStyle/>
          <a:p>
            <a:r>
              <a:rPr lang="en-US" b="0" i="0" dirty="0">
                <a:solidFill>
                  <a:srgbClr val="374151"/>
                </a:solidFill>
                <a:effectLst/>
                <a:latin typeface="Söhne"/>
              </a:rPr>
              <a:t>MQTT Architecture</a:t>
            </a:r>
            <a:endParaRPr lang="en-US" dirty="0"/>
          </a:p>
        </p:txBody>
      </p:sp>
      <p:sp>
        <p:nvSpPr>
          <p:cNvPr id="3" name="Content Placeholder 2">
            <a:extLst>
              <a:ext uri="{FF2B5EF4-FFF2-40B4-BE49-F238E27FC236}">
                <a16:creationId xmlns:a16="http://schemas.microsoft.com/office/drawing/2014/main" id="{418B66DD-A760-0FF8-0925-395B81D2745D}"/>
              </a:ext>
            </a:extLst>
          </p:cNvPr>
          <p:cNvSpPr>
            <a:spLocks noGrp="1"/>
          </p:cNvSpPr>
          <p:nvPr>
            <p:ph idx="1"/>
          </p:nvPr>
        </p:nvSpPr>
        <p:spPr/>
        <p:txBody>
          <a:bodyPr/>
          <a:lstStyle/>
          <a:p>
            <a:r>
              <a:rPr lang="en-US" dirty="0"/>
              <a:t>Client/server and publish/subscribe framework based on TCP/IP</a:t>
            </a:r>
          </a:p>
          <a:p>
            <a:r>
              <a:rPr lang="en-US" dirty="0"/>
              <a:t>MQTT client can act as a publisher to send data to an MQTT server acting as a message broker</a:t>
            </a:r>
          </a:p>
          <a:p>
            <a:r>
              <a:rPr lang="en-US" dirty="0"/>
              <a:t>The message broker handles the subscription and </a:t>
            </a:r>
            <a:r>
              <a:rPr lang="en-US" dirty="0" err="1"/>
              <a:t>unsubscription</a:t>
            </a:r>
            <a:r>
              <a:rPr lang="en-US" dirty="0"/>
              <a:t> process and pushes the application data to MQTT clients acting as subscribers</a:t>
            </a:r>
          </a:p>
          <a:p>
            <a:r>
              <a:rPr lang="en-US" dirty="0"/>
              <a:t>MQTT decouples the data transmission between publishers and subscribers</a:t>
            </a:r>
          </a:p>
          <a:p>
            <a:r>
              <a:rPr lang="en-US" dirty="0"/>
              <a:t>Publishers and subscribers do not have to be online at the same time</a:t>
            </a:r>
          </a:p>
        </p:txBody>
      </p:sp>
    </p:spTree>
    <p:extLst>
      <p:ext uri="{BB962C8B-B14F-4D97-AF65-F5344CB8AC3E}">
        <p14:creationId xmlns:p14="http://schemas.microsoft.com/office/powerpoint/2010/main" val="908534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B56D9-D0C3-4490-3AA6-25399953646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5AF9687-4643-4BC8-894E-AF68EB4B1731}"/>
              </a:ext>
            </a:extLst>
          </p:cNvPr>
          <p:cNvPicPr>
            <a:picLocks noGrp="1" noChangeAspect="1"/>
          </p:cNvPicPr>
          <p:nvPr>
            <p:ph idx="1"/>
          </p:nvPr>
        </p:nvPicPr>
        <p:blipFill>
          <a:blip r:embed="rId2"/>
          <a:stretch>
            <a:fillRect/>
          </a:stretch>
        </p:blipFill>
        <p:spPr>
          <a:xfrm>
            <a:off x="753228" y="0"/>
            <a:ext cx="10685544" cy="5512925"/>
          </a:xfrm>
        </p:spPr>
      </p:pic>
    </p:spTree>
    <p:extLst>
      <p:ext uri="{BB962C8B-B14F-4D97-AF65-F5344CB8AC3E}">
        <p14:creationId xmlns:p14="http://schemas.microsoft.com/office/powerpoint/2010/main" val="19672614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C95E6-C662-A29B-0897-3BF56EC369B5}"/>
              </a:ext>
            </a:extLst>
          </p:cNvPr>
          <p:cNvSpPr>
            <a:spLocks noGrp="1"/>
          </p:cNvSpPr>
          <p:nvPr>
            <p:ph type="title"/>
          </p:nvPr>
        </p:nvSpPr>
        <p:spPr/>
        <p:txBody>
          <a:bodyPr/>
          <a:lstStyle/>
          <a:p>
            <a:r>
              <a:rPr lang="en-US" b="0" i="0" dirty="0">
                <a:solidFill>
                  <a:srgbClr val="374151"/>
                </a:solidFill>
                <a:effectLst/>
                <a:latin typeface="Söhne"/>
              </a:rPr>
              <a:t>MQTT Wildcards and Subscriptions</a:t>
            </a:r>
            <a:endParaRPr lang="en-US" dirty="0"/>
          </a:p>
        </p:txBody>
      </p:sp>
      <p:sp>
        <p:nvSpPr>
          <p:cNvPr id="3" name="Content Placeholder 2">
            <a:extLst>
              <a:ext uri="{FF2B5EF4-FFF2-40B4-BE49-F238E27FC236}">
                <a16:creationId xmlns:a16="http://schemas.microsoft.com/office/drawing/2014/main" id="{65E8F03C-ACB4-0347-C705-E574C1A226FA}"/>
              </a:ext>
            </a:extLst>
          </p:cNvPr>
          <p:cNvSpPr>
            <a:spLocks noGrp="1"/>
          </p:cNvSpPr>
          <p:nvPr>
            <p:ph idx="1"/>
          </p:nvPr>
        </p:nvSpPr>
        <p:spPr/>
        <p:txBody>
          <a:bodyPr/>
          <a:lstStyle/>
          <a:p>
            <a:r>
              <a:rPr lang="en-US" dirty="0"/>
              <a:t>Clients can subscribe to all data or specific data from the information tree of a publisher</a:t>
            </a:r>
          </a:p>
          <a:p>
            <a:r>
              <a:rPr lang="en-US" dirty="0"/>
              <a:t>Presence of a message broker ensures that information can be buffered and cached in case of network failures</a:t>
            </a:r>
          </a:p>
          <a:p>
            <a:r>
              <a:rPr lang="en-US" dirty="0"/>
              <a:t>MQTT clients can use wildcards to subscribe to all data or specific data</a:t>
            </a:r>
          </a:p>
          <a:p>
            <a:r>
              <a:rPr lang="en-US" dirty="0"/>
              <a:t>Subscribers express a desire to receive information from publishers</a:t>
            </a:r>
          </a:p>
        </p:txBody>
      </p:sp>
    </p:spTree>
    <p:extLst>
      <p:ext uri="{BB962C8B-B14F-4D97-AF65-F5344CB8AC3E}">
        <p14:creationId xmlns:p14="http://schemas.microsoft.com/office/powerpoint/2010/main" val="38712748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8478-0BD0-5CA9-F7D6-0B87F9B0D1A3}"/>
              </a:ext>
            </a:extLst>
          </p:cNvPr>
          <p:cNvSpPr>
            <a:spLocks noGrp="1"/>
          </p:cNvSpPr>
          <p:nvPr>
            <p:ph type="title"/>
          </p:nvPr>
        </p:nvSpPr>
        <p:spPr/>
        <p:txBody>
          <a:bodyPr/>
          <a:lstStyle/>
          <a:p>
            <a:r>
              <a:rPr lang="en-US" b="0" i="0" dirty="0">
                <a:solidFill>
                  <a:srgbClr val="374151"/>
                </a:solidFill>
                <a:effectLst/>
                <a:latin typeface="Söhne"/>
              </a:rPr>
              <a:t>MQTT Control Packets</a:t>
            </a:r>
            <a:endParaRPr lang="en-US" dirty="0"/>
          </a:p>
        </p:txBody>
      </p:sp>
      <p:sp>
        <p:nvSpPr>
          <p:cNvPr id="3" name="Content Placeholder 2">
            <a:extLst>
              <a:ext uri="{FF2B5EF4-FFF2-40B4-BE49-F238E27FC236}">
                <a16:creationId xmlns:a16="http://schemas.microsoft.com/office/drawing/2014/main" id="{349F1EA3-100E-5F47-2FEE-13C425904512}"/>
              </a:ext>
            </a:extLst>
          </p:cNvPr>
          <p:cNvSpPr>
            <a:spLocks noGrp="1"/>
          </p:cNvSpPr>
          <p:nvPr>
            <p:ph idx="1"/>
          </p:nvPr>
        </p:nvSpPr>
        <p:spPr/>
        <p:txBody>
          <a:bodyPr/>
          <a:lstStyle/>
          <a:p>
            <a:r>
              <a:rPr lang="en-US" dirty="0"/>
              <a:t>Control packets run over a TCP transport using port 1883</a:t>
            </a:r>
          </a:p>
          <a:p>
            <a:r>
              <a:rPr lang="en-US" dirty="0"/>
              <a:t>Optionally, MQTT can be secured using TLS on port 8883, and WebSocket can also be used</a:t>
            </a:r>
          </a:p>
          <a:p>
            <a:r>
              <a:rPr lang="en-US" dirty="0"/>
              <a:t>Each control packet consists of a 2-byte fixed header with optional variable header fields and optional payload</a:t>
            </a:r>
          </a:p>
          <a:p>
            <a:r>
              <a:rPr lang="en-US" dirty="0"/>
              <a:t>Control packet can contain a payload up to 256 MB</a:t>
            </a:r>
          </a:p>
        </p:txBody>
      </p:sp>
    </p:spTree>
    <p:extLst>
      <p:ext uri="{BB962C8B-B14F-4D97-AF65-F5344CB8AC3E}">
        <p14:creationId xmlns:p14="http://schemas.microsoft.com/office/powerpoint/2010/main" val="30293326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96C75-C086-0C0C-AA19-DD3C2DBB04A3}"/>
              </a:ext>
            </a:extLst>
          </p:cNvPr>
          <p:cNvSpPr>
            <a:spLocks noGrp="1"/>
          </p:cNvSpPr>
          <p:nvPr>
            <p:ph type="title"/>
          </p:nvPr>
        </p:nvSpPr>
        <p:spPr/>
        <p:txBody>
          <a:bodyPr/>
          <a:lstStyle/>
          <a:p>
            <a:r>
              <a:rPr lang="en-US" dirty="0"/>
              <a:t>MQTT Message Format</a:t>
            </a:r>
          </a:p>
        </p:txBody>
      </p:sp>
      <p:pic>
        <p:nvPicPr>
          <p:cNvPr id="5" name="Content Placeholder 4">
            <a:extLst>
              <a:ext uri="{FF2B5EF4-FFF2-40B4-BE49-F238E27FC236}">
                <a16:creationId xmlns:a16="http://schemas.microsoft.com/office/drawing/2014/main" id="{BB6CE0BB-87AF-8F9E-8EAF-365868007D74}"/>
              </a:ext>
            </a:extLst>
          </p:cNvPr>
          <p:cNvPicPr>
            <a:picLocks noGrp="1" noChangeAspect="1"/>
          </p:cNvPicPr>
          <p:nvPr>
            <p:ph idx="1"/>
          </p:nvPr>
        </p:nvPicPr>
        <p:blipFill>
          <a:blip r:embed="rId2"/>
          <a:stretch>
            <a:fillRect/>
          </a:stretch>
        </p:blipFill>
        <p:spPr>
          <a:xfrm>
            <a:off x="581591" y="1355642"/>
            <a:ext cx="11297590" cy="4841823"/>
          </a:xfrm>
        </p:spPr>
      </p:pic>
    </p:spTree>
    <p:extLst>
      <p:ext uri="{BB962C8B-B14F-4D97-AF65-F5344CB8AC3E}">
        <p14:creationId xmlns:p14="http://schemas.microsoft.com/office/powerpoint/2010/main" val="30174636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27D05-023F-593C-2B77-967129E1471A}"/>
              </a:ext>
            </a:extLst>
          </p:cNvPr>
          <p:cNvSpPr>
            <a:spLocks noGrp="1"/>
          </p:cNvSpPr>
          <p:nvPr>
            <p:ph type="title"/>
          </p:nvPr>
        </p:nvSpPr>
        <p:spPr/>
        <p:txBody>
          <a:bodyPr/>
          <a:lstStyle/>
          <a:p>
            <a:r>
              <a:rPr lang="en-US" dirty="0"/>
              <a:t>MQTT Message Format</a:t>
            </a:r>
          </a:p>
        </p:txBody>
      </p:sp>
      <p:sp>
        <p:nvSpPr>
          <p:cNvPr id="3" name="Content Placeholder 2">
            <a:extLst>
              <a:ext uri="{FF2B5EF4-FFF2-40B4-BE49-F238E27FC236}">
                <a16:creationId xmlns:a16="http://schemas.microsoft.com/office/drawing/2014/main" id="{25F0CBB2-B25A-2EE4-2380-C901DD1E0F4E}"/>
              </a:ext>
            </a:extLst>
          </p:cNvPr>
          <p:cNvSpPr>
            <a:spLocks noGrp="1"/>
          </p:cNvSpPr>
          <p:nvPr>
            <p:ph idx="1"/>
          </p:nvPr>
        </p:nvSpPr>
        <p:spPr/>
        <p:txBody>
          <a:bodyPr>
            <a:normAutofit/>
          </a:bodyPr>
          <a:lstStyle/>
          <a:p>
            <a:r>
              <a:rPr lang="en-US" dirty="0"/>
              <a:t>Message format overview provided in Figure 6-11</a:t>
            </a:r>
          </a:p>
          <a:p>
            <a:r>
              <a:rPr lang="en-US" dirty="0"/>
              <a:t>Contains a smaller header of 2 bytes compared to 4 bytes for CoAP</a:t>
            </a:r>
          </a:p>
          <a:p>
            <a:r>
              <a:rPr lang="en-US" dirty="0"/>
              <a:t>The first MQTT field in the header is Message Type, which identifies the kind of MQTT packet within a message</a:t>
            </a:r>
          </a:p>
          <a:p>
            <a:r>
              <a:rPr lang="en-US" dirty="0"/>
              <a:t>Fourteen different types of control packets are specified in MQTT version 3.1.1</a:t>
            </a:r>
          </a:p>
          <a:p>
            <a:r>
              <a:rPr lang="en-US" dirty="0"/>
              <a:t>MQTT header is DUP (Duplication Flag). This flag, when set, allows the client to notate that the packet has been sent previously, but an acknowledgement was not received</a:t>
            </a:r>
          </a:p>
        </p:txBody>
      </p:sp>
    </p:spTree>
    <p:extLst>
      <p:ext uri="{BB962C8B-B14F-4D97-AF65-F5344CB8AC3E}">
        <p14:creationId xmlns:p14="http://schemas.microsoft.com/office/powerpoint/2010/main" val="32068572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89572-1FDD-158E-8BB7-3F8C0F622BFB}"/>
              </a:ext>
            </a:extLst>
          </p:cNvPr>
          <p:cNvSpPr>
            <a:spLocks noGrp="1"/>
          </p:cNvSpPr>
          <p:nvPr>
            <p:ph type="title"/>
          </p:nvPr>
        </p:nvSpPr>
        <p:spPr/>
        <p:txBody>
          <a:bodyPr/>
          <a:lstStyle/>
          <a:p>
            <a:r>
              <a:rPr lang="en-US" dirty="0"/>
              <a:t>MQTT Message Types</a:t>
            </a:r>
          </a:p>
        </p:txBody>
      </p:sp>
      <p:sp>
        <p:nvSpPr>
          <p:cNvPr id="3" name="Content Placeholder 2">
            <a:extLst>
              <a:ext uri="{FF2B5EF4-FFF2-40B4-BE49-F238E27FC236}">
                <a16:creationId xmlns:a16="http://schemas.microsoft.com/office/drawing/2014/main" id="{DEF9398D-04AD-BCCF-44A6-EC3A951AFCE7}"/>
              </a:ext>
            </a:extLst>
          </p:cNvPr>
          <p:cNvSpPr>
            <a:spLocks noGrp="1"/>
          </p:cNvSpPr>
          <p:nvPr>
            <p:ph idx="1"/>
          </p:nvPr>
        </p:nvSpPr>
        <p:spPr/>
        <p:txBody>
          <a:bodyPr>
            <a:normAutofit fontScale="92500" lnSpcReduction="20000"/>
          </a:bodyPr>
          <a:lstStyle/>
          <a:p>
            <a:r>
              <a:rPr lang="en-US" dirty="0"/>
              <a:t>CONNECT: Client to server request to connect</a:t>
            </a:r>
          </a:p>
          <a:p>
            <a:r>
              <a:rPr lang="en-US" dirty="0"/>
              <a:t>CONNACK: Server to client connect acknowledgement</a:t>
            </a:r>
          </a:p>
          <a:p>
            <a:r>
              <a:rPr lang="en-US" dirty="0"/>
              <a:t>PUBLISH: Client to server or server to client publish message</a:t>
            </a:r>
          </a:p>
          <a:p>
            <a:r>
              <a:rPr lang="en-US" dirty="0"/>
              <a:t>PUBACK: Client to server or server to client publish acknowledgement</a:t>
            </a:r>
          </a:p>
          <a:p>
            <a:r>
              <a:rPr lang="en-US" dirty="0"/>
              <a:t>PUBREC: Client to server or server to client publish received</a:t>
            </a:r>
          </a:p>
          <a:p>
            <a:r>
              <a:rPr lang="en-US" dirty="0"/>
              <a:t>PUBREL: Client to server or server to client publish release</a:t>
            </a:r>
          </a:p>
          <a:p>
            <a:r>
              <a:rPr lang="en-US" dirty="0"/>
              <a:t>PUBCOMP: Client to server or server to client publish complete</a:t>
            </a:r>
          </a:p>
          <a:p>
            <a:r>
              <a:rPr lang="en-US" dirty="0"/>
              <a:t>SUBSCRIBE: Client to server subscribe request</a:t>
            </a:r>
          </a:p>
          <a:p>
            <a:r>
              <a:rPr lang="en-US" dirty="0"/>
              <a:t>SUBACK: Server to client subscribe acknowledgement</a:t>
            </a:r>
          </a:p>
          <a:p>
            <a:r>
              <a:rPr lang="en-US" dirty="0"/>
              <a:t>UNSUBSCRIBE: Client to server unsubscribe request</a:t>
            </a:r>
          </a:p>
        </p:txBody>
      </p:sp>
    </p:spTree>
    <p:extLst>
      <p:ext uri="{BB962C8B-B14F-4D97-AF65-F5344CB8AC3E}">
        <p14:creationId xmlns:p14="http://schemas.microsoft.com/office/powerpoint/2010/main" val="26821561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A1106-FC49-FC92-F33F-7CA66E27F41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422DD51-C492-867D-4FA7-D88D81AE9F5B}"/>
              </a:ext>
            </a:extLst>
          </p:cNvPr>
          <p:cNvPicPr>
            <a:picLocks noGrp="1" noChangeAspect="1"/>
          </p:cNvPicPr>
          <p:nvPr>
            <p:ph idx="1"/>
          </p:nvPr>
        </p:nvPicPr>
        <p:blipFill>
          <a:blip r:embed="rId2"/>
          <a:stretch>
            <a:fillRect/>
          </a:stretch>
        </p:blipFill>
        <p:spPr>
          <a:xfrm>
            <a:off x="1315853" y="365125"/>
            <a:ext cx="9560293" cy="6127750"/>
          </a:xfrm>
        </p:spPr>
      </p:pic>
    </p:spTree>
    <p:extLst>
      <p:ext uri="{BB962C8B-B14F-4D97-AF65-F5344CB8AC3E}">
        <p14:creationId xmlns:p14="http://schemas.microsoft.com/office/powerpoint/2010/main" val="1106769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585FA-1982-E29C-2249-B46A567F4B2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C43EABC9-715E-136C-AAB8-4B3E1AA833EB}"/>
              </a:ext>
            </a:extLst>
          </p:cNvPr>
          <p:cNvPicPr>
            <a:picLocks noGrp="1" noChangeAspect="1"/>
          </p:cNvPicPr>
          <p:nvPr>
            <p:ph idx="1"/>
          </p:nvPr>
        </p:nvPicPr>
        <p:blipFill>
          <a:blip r:embed="rId2"/>
          <a:stretch>
            <a:fillRect/>
          </a:stretch>
        </p:blipFill>
        <p:spPr>
          <a:xfrm>
            <a:off x="768064" y="176884"/>
            <a:ext cx="10655872" cy="2717605"/>
          </a:xfrm>
        </p:spPr>
      </p:pic>
    </p:spTree>
    <p:extLst>
      <p:ext uri="{BB962C8B-B14F-4D97-AF65-F5344CB8AC3E}">
        <p14:creationId xmlns:p14="http://schemas.microsoft.com/office/powerpoint/2010/main" val="3953025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392F19-E440-2989-CCAE-A4D9FA544C0C}"/>
              </a:ext>
            </a:extLst>
          </p:cNvPr>
          <p:cNvSpPr>
            <a:spLocks noGrp="1"/>
          </p:cNvSpPr>
          <p:nvPr>
            <p:ph idx="1"/>
          </p:nvPr>
        </p:nvSpPr>
        <p:spPr>
          <a:xfrm>
            <a:off x="734961" y="379872"/>
            <a:ext cx="10515600" cy="5799701"/>
          </a:xfrm>
        </p:spPr>
        <p:txBody>
          <a:bodyPr>
            <a:normAutofit/>
          </a:bodyPr>
          <a:lstStyle/>
          <a:p>
            <a:r>
              <a:rPr lang="en-US" dirty="0"/>
              <a:t>Three Type of QoS </a:t>
            </a:r>
          </a:p>
          <a:p>
            <a:r>
              <a:rPr lang="en-US" b="0" i="0" dirty="0">
                <a:solidFill>
                  <a:srgbClr val="374151"/>
                </a:solidFill>
                <a:effectLst/>
                <a:latin typeface="Söhne"/>
              </a:rPr>
              <a:t>QoS 0</a:t>
            </a:r>
          </a:p>
          <a:p>
            <a:pPr lvl="1"/>
            <a:r>
              <a:rPr lang="en-US" b="0" i="0" dirty="0">
                <a:solidFill>
                  <a:srgbClr val="374151"/>
                </a:solidFill>
                <a:effectLst/>
                <a:latin typeface="Söhne"/>
              </a:rPr>
              <a:t>Best-effort and unacknowledged data service</a:t>
            </a:r>
          </a:p>
          <a:p>
            <a:pPr lvl="1"/>
            <a:r>
              <a:rPr lang="en-US" b="0" i="0" dirty="0">
                <a:solidFill>
                  <a:srgbClr val="374151"/>
                </a:solidFill>
                <a:effectLst/>
                <a:latin typeface="Söhne"/>
              </a:rPr>
              <a:t>No response or retry</a:t>
            </a:r>
          </a:p>
          <a:p>
            <a:pPr lvl="1"/>
            <a:r>
              <a:rPr lang="en-US" b="0" i="0" dirty="0">
                <a:solidFill>
                  <a:srgbClr val="374151"/>
                </a:solidFill>
                <a:effectLst/>
                <a:latin typeface="Söhne"/>
              </a:rPr>
              <a:t>Message arrives once or not at all</a:t>
            </a:r>
          </a:p>
          <a:p>
            <a:pPr algn="l"/>
            <a:r>
              <a:rPr lang="en-US" b="0" i="0" dirty="0">
                <a:solidFill>
                  <a:srgbClr val="374151"/>
                </a:solidFill>
                <a:effectLst/>
                <a:latin typeface="Söhne"/>
              </a:rPr>
              <a:t>QoS 1</a:t>
            </a:r>
          </a:p>
          <a:p>
            <a:pPr lvl="1"/>
            <a:r>
              <a:rPr lang="en-US" b="0" i="0" dirty="0">
                <a:solidFill>
                  <a:srgbClr val="374151"/>
                </a:solidFill>
                <a:effectLst/>
                <a:latin typeface="Söhne"/>
              </a:rPr>
              <a:t>Message delivery occurs at least once</a:t>
            </a:r>
          </a:p>
          <a:p>
            <a:pPr lvl="1"/>
            <a:r>
              <a:rPr lang="en-US" b="0" i="0" dirty="0">
                <a:solidFill>
                  <a:srgbClr val="374151"/>
                </a:solidFill>
                <a:effectLst/>
                <a:latin typeface="Söhne"/>
              </a:rPr>
              <a:t>Packet identifier in variable header</a:t>
            </a:r>
          </a:p>
          <a:p>
            <a:pPr lvl="1"/>
            <a:r>
              <a:rPr lang="en-US" b="0" i="0" dirty="0">
                <a:solidFill>
                  <a:srgbClr val="374151"/>
                </a:solidFill>
                <a:effectLst/>
                <a:latin typeface="Söhne"/>
              </a:rPr>
              <a:t>PUBACK packets</a:t>
            </a:r>
          </a:p>
          <a:p>
            <a:pPr algn="l"/>
            <a:r>
              <a:rPr lang="en-US" b="0" i="0" dirty="0">
                <a:solidFill>
                  <a:srgbClr val="374151"/>
                </a:solidFill>
                <a:effectLst/>
                <a:latin typeface="Söhne"/>
              </a:rPr>
              <a:t>QoS 2</a:t>
            </a:r>
          </a:p>
          <a:p>
            <a:pPr lvl="1"/>
            <a:r>
              <a:rPr lang="en-US" b="0" i="0" dirty="0">
                <a:solidFill>
                  <a:srgbClr val="374151"/>
                </a:solidFill>
                <a:effectLst/>
                <a:latin typeface="Söhne"/>
              </a:rPr>
              <a:t>Message delivery occurs exactly once</a:t>
            </a:r>
          </a:p>
          <a:p>
            <a:pPr lvl="1"/>
            <a:r>
              <a:rPr lang="en-US" b="0" i="0" dirty="0">
                <a:solidFill>
                  <a:srgbClr val="374151"/>
                </a:solidFill>
                <a:effectLst/>
                <a:latin typeface="Söhne"/>
              </a:rPr>
              <a:t>PUBREC, PUBREL, and PUBCOMP packets</a:t>
            </a:r>
          </a:p>
          <a:p>
            <a:pPr lvl="1"/>
            <a:r>
              <a:rPr lang="en-US" b="0" i="0" dirty="0">
                <a:solidFill>
                  <a:srgbClr val="374151"/>
                </a:solidFill>
                <a:effectLst/>
                <a:latin typeface="Söhne"/>
              </a:rPr>
              <a:t>Packet identifier in variable header</a:t>
            </a:r>
          </a:p>
          <a:p>
            <a:pPr lvl="1"/>
            <a:endParaRPr lang="en-US" b="0" i="0" dirty="0">
              <a:solidFill>
                <a:srgbClr val="374151"/>
              </a:solidFill>
              <a:effectLst/>
              <a:latin typeface="Söhne"/>
            </a:endParaRPr>
          </a:p>
          <a:p>
            <a:pPr lvl="1"/>
            <a:endParaRPr lang="en-US" b="0" i="0" dirty="0">
              <a:solidFill>
                <a:srgbClr val="374151"/>
              </a:solidFill>
              <a:effectLst/>
              <a:latin typeface="Söhne"/>
            </a:endParaRPr>
          </a:p>
          <a:p>
            <a:endParaRPr lang="en-US" dirty="0"/>
          </a:p>
        </p:txBody>
      </p:sp>
    </p:spTree>
    <p:extLst>
      <p:ext uri="{BB962C8B-B14F-4D97-AF65-F5344CB8AC3E}">
        <p14:creationId xmlns:p14="http://schemas.microsoft.com/office/powerpoint/2010/main" val="9276510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69D014-9868-2B67-18C2-6478F309B3C1}"/>
              </a:ext>
            </a:extLst>
          </p:cNvPr>
          <p:cNvSpPr>
            <a:spLocks noGrp="1"/>
          </p:cNvSpPr>
          <p:nvPr>
            <p:ph idx="1"/>
          </p:nvPr>
        </p:nvSpPr>
        <p:spPr>
          <a:xfrm>
            <a:off x="838200" y="471948"/>
            <a:ext cx="10515600" cy="5705016"/>
          </a:xfrm>
        </p:spPr>
        <p:txBody>
          <a:bodyPr>
            <a:normAutofit/>
          </a:bodyPr>
          <a:lstStyle/>
          <a:p>
            <a:pPr algn="l"/>
            <a:r>
              <a:rPr lang="en-US" b="0" i="0" dirty="0">
                <a:solidFill>
                  <a:srgbClr val="374151"/>
                </a:solidFill>
                <a:effectLst/>
                <a:latin typeface="Söhne"/>
              </a:rPr>
              <a:t>Retain flag</a:t>
            </a:r>
          </a:p>
          <a:p>
            <a:pPr lvl="1"/>
            <a:r>
              <a:rPr lang="en-US" b="0" i="0" dirty="0">
                <a:solidFill>
                  <a:srgbClr val="374151"/>
                </a:solidFill>
                <a:effectLst/>
                <a:latin typeface="Söhne"/>
              </a:rPr>
              <a:t>Purpose of Retain flag</a:t>
            </a:r>
          </a:p>
          <a:p>
            <a:pPr lvl="1"/>
            <a:r>
              <a:rPr lang="en-US" b="0" i="0" dirty="0">
                <a:solidFill>
                  <a:srgbClr val="374151"/>
                </a:solidFill>
                <a:effectLst/>
                <a:latin typeface="Söhne"/>
              </a:rPr>
              <a:t>Found only in PUBLISH message</a:t>
            </a:r>
          </a:p>
          <a:p>
            <a:pPr lvl="1"/>
            <a:r>
              <a:rPr lang="en-US" b="0" i="0" dirty="0">
                <a:solidFill>
                  <a:srgbClr val="374151"/>
                </a:solidFill>
                <a:effectLst/>
                <a:latin typeface="Söhne"/>
              </a:rPr>
              <a:t>Notification to server to hold onto message data</a:t>
            </a:r>
          </a:p>
          <a:p>
            <a:pPr algn="l"/>
            <a:r>
              <a:rPr lang="en-US" b="0" i="0" dirty="0">
                <a:solidFill>
                  <a:srgbClr val="374151"/>
                </a:solidFill>
                <a:effectLst/>
                <a:latin typeface="Söhne"/>
              </a:rPr>
              <a:t>MQTT sessions</a:t>
            </a:r>
          </a:p>
          <a:p>
            <a:pPr lvl="1"/>
            <a:r>
              <a:rPr lang="en-US" b="0" i="0" dirty="0">
                <a:solidFill>
                  <a:srgbClr val="374151"/>
                </a:solidFill>
                <a:effectLst/>
                <a:latin typeface="Söhne"/>
              </a:rPr>
              <a:t>Four phases of MQTT sessions i.e</a:t>
            </a:r>
            <a:r>
              <a:rPr lang="en-US" dirty="0">
                <a:solidFill>
                  <a:srgbClr val="374151"/>
                </a:solidFill>
                <a:latin typeface="Söhne"/>
              </a:rPr>
              <a:t>., session establishment, authentication, data exchange, and session termination.</a:t>
            </a:r>
          </a:p>
          <a:p>
            <a:pPr lvl="1"/>
            <a:r>
              <a:rPr lang="en-US" b="0" i="0" dirty="0">
                <a:solidFill>
                  <a:srgbClr val="374151"/>
                </a:solidFill>
                <a:effectLst/>
                <a:latin typeface="Söhne"/>
              </a:rPr>
              <a:t>Unique client ID for each client connecting to server</a:t>
            </a:r>
          </a:p>
          <a:p>
            <a:pPr lvl="1"/>
            <a:r>
              <a:rPr lang="en-US" b="0" i="0" dirty="0">
                <a:solidFill>
                  <a:srgbClr val="374151"/>
                </a:solidFill>
                <a:effectLst/>
                <a:latin typeface="Söhne"/>
              </a:rPr>
              <a:t>Delivery of application message to multiple clients</a:t>
            </a:r>
          </a:p>
          <a:p>
            <a:pPr algn="l"/>
            <a:r>
              <a:rPr lang="en-US" b="0" i="0" dirty="0">
                <a:solidFill>
                  <a:srgbClr val="374151"/>
                </a:solidFill>
                <a:effectLst/>
                <a:latin typeface="Söhne"/>
              </a:rPr>
              <a:t>Subscriptions and </a:t>
            </a:r>
            <a:r>
              <a:rPr lang="en-US" b="0" i="0" dirty="0" err="1">
                <a:solidFill>
                  <a:srgbClr val="374151"/>
                </a:solidFill>
                <a:effectLst/>
                <a:latin typeface="Söhne"/>
              </a:rPr>
              <a:t>unsubscriptions</a:t>
            </a:r>
            <a:endParaRPr lang="en-US" b="0" i="0" dirty="0">
              <a:solidFill>
                <a:srgbClr val="374151"/>
              </a:solidFill>
              <a:effectLst/>
              <a:latin typeface="Söhne"/>
            </a:endParaRPr>
          </a:p>
          <a:p>
            <a:pPr lvl="1"/>
            <a:r>
              <a:rPr lang="en-US" b="0" i="0" dirty="0">
                <a:solidFill>
                  <a:srgbClr val="374151"/>
                </a:solidFill>
                <a:effectLst/>
                <a:latin typeface="Söhne"/>
              </a:rPr>
              <a:t>SUBSCRIBE/SUBACK control packets for subscriptions</a:t>
            </a:r>
          </a:p>
          <a:p>
            <a:pPr lvl="1"/>
            <a:r>
              <a:rPr lang="en-US" b="0" i="0" dirty="0">
                <a:solidFill>
                  <a:srgbClr val="374151"/>
                </a:solidFill>
                <a:effectLst/>
                <a:latin typeface="Söhne"/>
              </a:rPr>
              <a:t>UNSUBSCRIBE/UNSUBACK control packets for </a:t>
            </a:r>
            <a:r>
              <a:rPr lang="en-US" b="0" i="0" dirty="0" err="1">
                <a:solidFill>
                  <a:srgbClr val="374151"/>
                </a:solidFill>
                <a:effectLst/>
                <a:latin typeface="Söhne"/>
              </a:rPr>
              <a:t>unsubscriptions</a:t>
            </a:r>
            <a:endParaRPr lang="en-US" b="0" i="0" dirty="0">
              <a:solidFill>
                <a:srgbClr val="374151"/>
              </a:solidFill>
              <a:effectLst/>
              <a:latin typeface="Söhne"/>
            </a:endParaRPr>
          </a:p>
          <a:p>
            <a:pPr lvl="1"/>
            <a:r>
              <a:rPr lang="en-US" b="0" i="0" dirty="0">
                <a:solidFill>
                  <a:srgbClr val="374151"/>
                </a:solidFill>
                <a:effectLst/>
                <a:latin typeface="Söhne"/>
              </a:rPr>
              <a:t>DISCONNECT control packet for graceful termination of connection</a:t>
            </a:r>
          </a:p>
          <a:p>
            <a:endParaRPr lang="en-US" dirty="0"/>
          </a:p>
        </p:txBody>
      </p:sp>
    </p:spTree>
    <p:extLst>
      <p:ext uri="{BB962C8B-B14F-4D97-AF65-F5344CB8AC3E}">
        <p14:creationId xmlns:p14="http://schemas.microsoft.com/office/powerpoint/2010/main" val="5099767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BBE91-7098-969B-E7DE-215E615FEDC8}"/>
              </a:ext>
            </a:extLst>
          </p:cNvPr>
          <p:cNvSpPr>
            <a:spLocks noGrp="1"/>
          </p:cNvSpPr>
          <p:nvPr>
            <p:ph type="title"/>
          </p:nvPr>
        </p:nvSpPr>
        <p:spPr/>
        <p:txBody>
          <a:bodyPr/>
          <a:lstStyle/>
          <a:p>
            <a:pPr marL="228600" marR="0" lvl="0" indent="-228600" defTabSz="914400" rtl="0" eaLnBrk="1" fontAlgn="auto" latinLnBrk="0" hangingPunct="1">
              <a:lnSpc>
                <a:spcPct val="90000"/>
              </a:lnSpc>
              <a:spcBef>
                <a:spcPts val="1000"/>
              </a:spcBef>
              <a:spcAft>
                <a:spcPts val="0"/>
              </a:spcAft>
              <a:tabLst/>
              <a:defRPr/>
            </a:pPr>
            <a:r>
              <a:rPr kumimoji="0" lang="en-US" sz="2800" b="0" i="0" u="none" strike="noStrike" kern="1200" cap="none" spc="0" normalizeH="0" baseline="0" noProof="0" dirty="0">
                <a:ln>
                  <a:noFill/>
                </a:ln>
                <a:solidFill>
                  <a:srgbClr val="374151"/>
                </a:solidFill>
                <a:effectLst/>
                <a:uLnTx/>
                <a:uFillTx/>
                <a:latin typeface="Söhne"/>
                <a:ea typeface="+mn-ea"/>
                <a:cs typeface="+mn-cs"/>
              </a:rPr>
              <a:t>Topic strings and topic names</a:t>
            </a:r>
            <a:endParaRPr lang="en-US" dirty="0"/>
          </a:p>
        </p:txBody>
      </p:sp>
      <p:sp>
        <p:nvSpPr>
          <p:cNvPr id="3" name="Content Placeholder 2">
            <a:extLst>
              <a:ext uri="{FF2B5EF4-FFF2-40B4-BE49-F238E27FC236}">
                <a16:creationId xmlns:a16="http://schemas.microsoft.com/office/drawing/2014/main" id="{21EC3D5F-B870-A32F-450F-6B6644EE4174}"/>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How message broker uses topic string to filter messages</a:t>
            </a:r>
          </a:p>
          <a:p>
            <a:pPr algn="l">
              <a:buFont typeface="Arial" panose="020B0604020202020204" pitchFamily="34" charset="0"/>
              <a:buChar char="•"/>
            </a:pPr>
            <a:r>
              <a:rPr lang="en-US" b="0" i="0" dirty="0">
                <a:solidFill>
                  <a:srgbClr val="374151"/>
                </a:solidFill>
                <a:effectLst/>
                <a:latin typeface="Söhne"/>
              </a:rPr>
              <a:t>Hierarchical structure of topic names</a:t>
            </a:r>
          </a:p>
          <a:p>
            <a:pPr algn="l">
              <a:buFont typeface="Arial" panose="020B0604020202020204" pitchFamily="34" charset="0"/>
              <a:buChar char="•"/>
            </a:pPr>
            <a:r>
              <a:rPr lang="en-US" b="0" i="0" dirty="0">
                <a:solidFill>
                  <a:srgbClr val="374151"/>
                </a:solidFill>
                <a:effectLst/>
                <a:latin typeface="Söhne"/>
              </a:rPr>
              <a:t>Example of a topic name: </a:t>
            </a:r>
            <a:r>
              <a:rPr lang="en-US" b="0" i="0" dirty="0" err="1">
                <a:solidFill>
                  <a:srgbClr val="374151"/>
                </a:solidFill>
                <a:effectLst/>
                <a:latin typeface="Söhne"/>
              </a:rPr>
              <a:t>adt</a:t>
            </a:r>
            <a:r>
              <a:rPr lang="en-US" b="0" i="0" dirty="0">
                <a:solidFill>
                  <a:srgbClr val="374151"/>
                </a:solidFill>
                <a:effectLst/>
                <a:latin typeface="Söhne"/>
              </a:rPr>
              <a:t>/lora/</a:t>
            </a:r>
            <a:r>
              <a:rPr lang="en-US" b="0" i="0" dirty="0" err="1">
                <a:solidFill>
                  <a:srgbClr val="374151"/>
                </a:solidFill>
                <a:effectLst/>
                <a:latin typeface="Söhne"/>
              </a:rPr>
              <a:t>adeunis</a:t>
            </a:r>
            <a:r>
              <a:rPr lang="en-US" b="0" i="0" dirty="0">
                <a:solidFill>
                  <a:srgbClr val="374151"/>
                </a:solidFill>
                <a:effectLst/>
                <a:latin typeface="Söhne"/>
              </a:rPr>
              <a:t>/0018B2000000023A</a:t>
            </a:r>
          </a:p>
          <a:p>
            <a:endParaRPr lang="en-US" dirty="0"/>
          </a:p>
        </p:txBody>
      </p:sp>
    </p:spTree>
    <p:extLst>
      <p:ext uri="{BB962C8B-B14F-4D97-AF65-F5344CB8AC3E}">
        <p14:creationId xmlns:p14="http://schemas.microsoft.com/office/powerpoint/2010/main" val="21292021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45660-86FE-757D-4E25-C8496643D826}"/>
              </a:ext>
            </a:extLst>
          </p:cNvPr>
          <p:cNvSpPr>
            <a:spLocks noGrp="1"/>
          </p:cNvSpPr>
          <p:nvPr>
            <p:ph type="title"/>
          </p:nvPr>
        </p:nvSpPr>
        <p:spPr/>
        <p:txBody>
          <a:bodyPr/>
          <a:lstStyle/>
          <a:p>
            <a:r>
              <a:rPr lang="en-US" b="0" i="0" dirty="0">
                <a:solidFill>
                  <a:srgbClr val="374151"/>
                </a:solidFill>
                <a:effectLst/>
                <a:latin typeface="Söhne"/>
              </a:rPr>
              <a:t>Wildcard characters</a:t>
            </a:r>
            <a:endParaRPr lang="en-US" dirty="0"/>
          </a:p>
        </p:txBody>
      </p:sp>
      <p:sp>
        <p:nvSpPr>
          <p:cNvPr id="3" name="Content Placeholder 2">
            <a:extLst>
              <a:ext uri="{FF2B5EF4-FFF2-40B4-BE49-F238E27FC236}">
                <a16:creationId xmlns:a16="http://schemas.microsoft.com/office/drawing/2014/main" id="{EE1F2F2F-4622-BF6A-8EFB-9FE1B1C3F452}"/>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latin typeface="Söhne"/>
              </a:rPr>
              <a:t>Subscription to multiple topics using wildcard characters</a:t>
            </a:r>
          </a:p>
          <a:p>
            <a:pPr algn="l">
              <a:buFont typeface="Arial" panose="020B0604020202020204" pitchFamily="34" charset="0"/>
              <a:buChar char="•"/>
            </a:pPr>
            <a:r>
              <a:rPr lang="en-US" b="0" i="0" dirty="0">
                <a:solidFill>
                  <a:srgbClr val="374151"/>
                </a:solidFill>
                <a:effectLst/>
                <a:latin typeface="Söhne"/>
              </a:rPr>
              <a:t>Pound sign (#) matches any number of levels</a:t>
            </a:r>
          </a:p>
          <a:p>
            <a:pPr algn="l">
              <a:buFont typeface="Arial" panose="020B0604020202020204" pitchFamily="34" charset="0"/>
              <a:buChar char="•"/>
            </a:pPr>
            <a:r>
              <a:rPr lang="en-US" b="0" i="0" dirty="0">
                <a:solidFill>
                  <a:srgbClr val="374151"/>
                </a:solidFill>
                <a:effectLst/>
                <a:latin typeface="Söhne"/>
              </a:rPr>
              <a:t>Plus sign (+) matches only one topic level</a:t>
            </a:r>
          </a:p>
          <a:p>
            <a:pPr algn="l">
              <a:buFont typeface="Arial" panose="020B0604020202020204" pitchFamily="34" charset="0"/>
              <a:buChar char="•"/>
            </a:pPr>
            <a:r>
              <a:rPr lang="en-US" b="0" i="0" dirty="0">
                <a:solidFill>
                  <a:srgbClr val="374151"/>
                </a:solidFill>
                <a:effectLst/>
                <a:latin typeface="Söhne"/>
              </a:rPr>
              <a:t>Excluding topic names beginning with dollar sign ($)</a:t>
            </a:r>
          </a:p>
          <a:p>
            <a:endParaRPr lang="en-US" dirty="0"/>
          </a:p>
        </p:txBody>
      </p:sp>
    </p:spTree>
    <p:extLst>
      <p:ext uri="{BB962C8B-B14F-4D97-AF65-F5344CB8AC3E}">
        <p14:creationId xmlns:p14="http://schemas.microsoft.com/office/powerpoint/2010/main" val="15063245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3892F-4594-0CA6-2064-EB5F016F46A3}"/>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8CFB1135-B35A-9D3D-1ABE-D62DA251B676}"/>
              </a:ext>
            </a:extLst>
          </p:cNvPr>
          <p:cNvSpPr>
            <a:spLocks noGrp="1"/>
          </p:cNvSpPr>
          <p:nvPr>
            <p:ph idx="1"/>
          </p:nvPr>
        </p:nvSpPr>
        <p:spPr/>
        <p:txBody>
          <a:bodyPr/>
          <a:lstStyle/>
          <a:p>
            <a:r>
              <a:rPr lang="en-US" dirty="0"/>
              <a:t>MQTT is a lightweight and reliable protocol for monitoring and controlling sensors in harsh environments</a:t>
            </a:r>
          </a:p>
          <a:p>
            <a:r>
              <a:rPr lang="en-US" dirty="0"/>
              <a:t>MQTT uses a client/server and publish/subscribe framework based on TCP/IP</a:t>
            </a:r>
          </a:p>
          <a:p>
            <a:r>
              <a:rPr lang="en-US" dirty="0"/>
              <a:t>MQTT clients can subscribe to all data or specific data using wildcards</a:t>
            </a:r>
          </a:p>
          <a:p>
            <a:r>
              <a:rPr lang="en-US" dirty="0"/>
              <a:t>MQTT control packets consist of a 2-byte fixed header with optional variable header fields and optional payload</a:t>
            </a:r>
          </a:p>
          <a:p>
            <a:r>
              <a:rPr lang="en-US" dirty="0"/>
              <a:t>Fourteen different types of control packets are specified in MQTT version 3.1.1.</a:t>
            </a:r>
          </a:p>
        </p:txBody>
      </p:sp>
    </p:spTree>
    <p:extLst>
      <p:ext uri="{BB962C8B-B14F-4D97-AF65-F5344CB8AC3E}">
        <p14:creationId xmlns:p14="http://schemas.microsoft.com/office/powerpoint/2010/main" val="18866635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55E29-E224-30F0-7C91-E76A16CA419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573331E8-9398-C81A-7353-29641574066B}"/>
              </a:ext>
            </a:extLst>
          </p:cNvPr>
          <p:cNvPicPr>
            <a:picLocks noGrp="1" noChangeAspect="1"/>
          </p:cNvPicPr>
          <p:nvPr>
            <p:ph idx="1"/>
          </p:nvPr>
        </p:nvPicPr>
        <p:blipFill>
          <a:blip r:embed="rId2"/>
          <a:stretch>
            <a:fillRect/>
          </a:stretch>
        </p:blipFill>
        <p:spPr>
          <a:xfrm>
            <a:off x="2344994" y="243986"/>
            <a:ext cx="7716799" cy="6090933"/>
          </a:xfrm>
        </p:spPr>
      </p:pic>
    </p:spTree>
    <p:extLst>
      <p:ext uri="{BB962C8B-B14F-4D97-AF65-F5344CB8AC3E}">
        <p14:creationId xmlns:p14="http://schemas.microsoft.com/office/powerpoint/2010/main" val="36961048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54880</TotalTime>
  <Words>2327</Words>
  <Application>Microsoft Office PowerPoint</Application>
  <PresentationFormat>Widescreen</PresentationFormat>
  <Paragraphs>177</Paragraphs>
  <Slides>44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Arial</vt:lpstr>
      <vt:lpstr>Calibri</vt:lpstr>
      <vt:lpstr>Calibri Light</vt:lpstr>
      <vt:lpstr>Cisco-Light</vt:lpstr>
      <vt:lpstr>CiscoSerif-Bold</vt:lpstr>
      <vt:lpstr>CiscoSerif-Regular</vt:lpstr>
      <vt:lpstr>Söhne</vt:lpstr>
      <vt:lpstr>Office Theme</vt:lpstr>
      <vt:lpstr>  Application Protocols for IoT</vt:lpstr>
      <vt:lpstr>PowerPoint Presentation</vt:lpstr>
      <vt:lpstr>The Transport Layer</vt:lpstr>
      <vt:lpstr>PowerPoint Presentation</vt:lpstr>
      <vt:lpstr>IoT application layer protocols</vt:lpstr>
      <vt:lpstr>PowerPoint Presentation</vt:lpstr>
      <vt:lpstr>Example of Data Transport without Structured Network Stack</vt:lpstr>
      <vt:lpstr>Standardization through IoT Data Broker</vt:lpstr>
      <vt:lpstr>PowerPoint Presentation</vt:lpstr>
      <vt:lpstr>Commercial Use of IoT Data Broker</vt:lpstr>
      <vt:lpstr>PowerPoint Presentation</vt:lpstr>
      <vt:lpstr>IoT Application Layer Protocols</vt:lpstr>
      <vt:lpstr>PowerPoint Presentation</vt:lpstr>
      <vt:lpstr>CoAP Protocol</vt:lpstr>
      <vt:lpstr>CoAP Messaging Model</vt:lpstr>
      <vt:lpstr>Security in CoAP</vt:lpstr>
      <vt:lpstr>CoAP Message Format</vt:lpstr>
      <vt:lpstr>PowerPoint Presentation</vt:lpstr>
      <vt:lpstr>PowerPoint Presentation</vt:lpstr>
      <vt:lpstr>CoAP and IoT Communication</vt:lpstr>
      <vt:lpstr>PowerPoint Presentation</vt:lpstr>
      <vt:lpstr>CoAP and IoT Communication (Contd.)</vt:lpstr>
      <vt:lpstr>CoAP URI Format and Parameters</vt:lpstr>
      <vt:lpstr>Reliability and Congestion Control in CoAP</vt:lpstr>
      <vt:lpstr>PowerPoint Presentation</vt:lpstr>
      <vt:lpstr>CoAP Example for Temperature Sensor</vt:lpstr>
      <vt:lpstr>CoAP Multicast</vt:lpstr>
      <vt:lpstr>CoAP Service Discovery</vt:lpstr>
      <vt:lpstr>Message Queuing Telemetry Transport (MQTT)- Introduction</vt:lpstr>
      <vt:lpstr>MQTT Architecture</vt:lpstr>
      <vt:lpstr>PowerPoint Presentation</vt:lpstr>
      <vt:lpstr>MQTT Wildcards and Subscriptions</vt:lpstr>
      <vt:lpstr>MQTT Control Packets</vt:lpstr>
      <vt:lpstr>MQTT Message Format</vt:lpstr>
      <vt:lpstr>MQTT Message Format</vt:lpstr>
      <vt:lpstr>MQTT Message Types</vt:lpstr>
      <vt:lpstr>PowerPoint Presentation</vt:lpstr>
      <vt:lpstr>PowerPoint Presentation</vt:lpstr>
      <vt:lpstr>PowerPoint Presentation</vt:lpstr>
      <vt:lpstr>PowerPoint Presentation</vt:lpstr>
      <vt:lpstr>Topic strings and topic names</vt:lpstr>
      <vt:lpstr>Wildcard characters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CPE 445-Internet of Things</dc:title>
  <dc:creator>A</dc:creator>
  <cp:lastModifiedBy>Dr. Abbas Javed</cp:lastModifiedBy>
  <cp:revision>21</cp:revision>
  <dcterms:created xsi:type="dcterms:W3CDTF">2022-02-14T11:35:12Z</dcterms:created>
  <dcterms:modified xsi:type="dcterms:W3CDTF">2023-04-28T09:10:47Z</dcterms:modified>
</cp:coreProperties>
</file>