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90" r:id="rId18"/>
    <p:sldId id="291" r:id="rId19"/>
    <p:sldId id="287" r:id="rId20"/>
    <p:sldId id="288" r:id="rId21"/>
    <p:sldId id="289" r:id="rId22"/>
    <p:sldId id="273" r:id="rId23"/>
    <p:sldId id="274" r:id="rId24"/>
    <p:sldId id="275" r:id="rId25"/>
    <p:sldId id="276" r:id="rId26"/>
    <p:sldId id="277" r:id="rId27"/>
    <p:sldId id="278" r:id="rId28"/>
    <p:sldId id="279" r:id="rId29"/>
    <p:sldId id="281" r:id="rId30"/>
    <p:sldId id="282" r:id="rId31"/>
    <p:sldId id="283" r:id="rId32"/>
    <p:sldId id="285" r:id="rId33"/>
    <p:sldId id="280" r:id="rId34"/>
    <p:sldId id="286" r:id="rId35"/>
    <p:sldId id="28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12/28/2022</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normAutofit fontScale="90000"/>
          </a:bodyPr>
          <a:lstStyle/>
          <a:p>
            <a:br>
              <a:rPr lang="en-US" dirty="0"/>
            </a:br>
            <a:br>
              <a:rPr lang="en-US" dirty="0"/>
            </a:br>
            <a:r>
              <a:rPr lang="en-US" dirty="0"/>
              <a:t>Manufacturing</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3795712"/>
          </a:xfrm>
        </p:spPr>
        <p:txBody>
          <a:bodyPr>
            <a:noAutofit/>
          </a:bodyPr>
          <a:lstStyle/>
          <a:p>
            <a:pPr algn="l"/>
            <a:r>
              <a:rPr lang="en-US" sz="2000" b="1" i="0" u="none" strike="noStrike" baseline="0" dirty="0">
                <a:solidFill>
                  <a:srgbClr val="231F20"/>
                </a:solidFill>
                <a:latin typeface="Times New Roman" panose="02020603050405020304" pitchFamily="18" charset="0"/>
                <a:cs typeface="Times New Roman" panose="02020603050405020304" pitchFamily="18" charset="0"/>
              </a:rPr>
              <a:t>An Introduction to Connected Manufacturing: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The chapter opens by examining the technologies that are creating digital disruption in manufacturing. This section also discusses a strategy for the connected factory and the business benefits to manufacturers.</a:t>
            </a:r>
          </a:p>
          <a:p>
            <a:pPr algn="l"/>
            <a:r>
              <a:rPr lang="en-US" sz="2000" b="1" i="0" u="none" strike="noStrike" baseline="0" dirty="0">
                <a:solidFill>
                  <a:srgbClr val="231F20"/>
                </a:solidFill>
                <a:latin typeface="Times New Roman" panose="02020603050405020304" pitchFamily="18" charset="0"/>
                <a:cs typeface="Times New Roman" panose="02020603050405020304" pitchFamily="18" charset="0"/>
              </a:rPr>
              <a:t>An Architecture for the Converged Factory: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Industrial automation and control systems (IACS) networking technologies are converging, with the aid of Ethernet and IP. This section explores a connected factory framework, with a focus on the Converged Plantwide Ethernet (</a:t>
            </a:r>
            <a:r>
              <a:rPr lang="en-US" sz="2000" b="0" i="0" u="none" strike="noStrike" baseline="0" dirty="0" err="1">
                <a:solidFill>
                  <a:srgbClr val="231F20"/>
                </a:solidFill>
                <a:latin typeface="Times New Roman" panose="02020603050405020304" pitchFamily="18" charset="0"/>
                <a:cs typeface="Times New Roman" panose="02020603050405020304" pitchFamily="18" charset="0"/>
              </a:rPr>
              <a:t>CPwE</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 architecture that was jointly developed by Cisco and Rockwell Automation.</a:t>
            </a:r>
          </a:p>
          <a:p>
            <a:pPr algn="l"/>
            <a:r>
              <a:rPr lang="en-US" sz="2000" b="1" i="0" u="none" strike="noStrike" baseline="0" dirty="0">
                <a:solidFill>
                  <a:srgbClr val="231F20"/>
                </a:solidFill>
                <a:latin typeface="Times New Roman" panose="02020603050405020304" pitchFamily="18" charset="0"/>
                <a:cs typeface="Times New Roman" panose="02020603050405020304" pitchFamily="18" charset="0"/>
              </a:rPr>
              <a:t>Industrial Automation Control Protocols: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This section discusses the wide variety of networking and control protocols used in manufacturing, including EtherNet/IP, PROFINET, and Modbus/TCP.</a:t>
            </a:r>
          </a:p>
          <a:p>
            <a:pPr algn="l"/>
            <a:r>
              <a:rPr lang="en-US" sz="2000" b="1" i="0" u="none" strike="noStrike" baseline="0" dirty="0">
                <a:solidFill>
                  <a:srgbClr val="231F20"/>
                </a:solidFill>
                <a:latin typeface="Times New Roman" panose="02020603050405020304" pitchFamily="18" charset="0"/>
                <a:cs typeface="Times New Roman" panose="02020603050405020304" pitchFamily="18" charset="0"/>
              </a:rPr>
              <a:t>Connected Factory Security: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This section examines key security considerations in the connected factory and how they can be addressed with the correct design methodology.</a:t>
            </a:r>
          </a:p>
          <a:p>
            <a:pPr algn="l"/>
            <a:r>
              <a:rPr lang="en-US" sz="2000" b="1" i="0" u="none" strike="noStrike" baseline="0" dirty="0">
                <a:solidFill>
                  <a:srgbClr val="231F20"/>
                </a:solidFill>
                <a:latin typeface="Times New Roman" panose="02020603050405020304" pitchFamily="18" charset="0"/>
                <a:cs typeface="Times New Roman" panose="02020603050405020304" pitchFamily="18" charset="0"/>
              </a:rPr>
              <a:t>Edge Computing in the Connected Factory: </a:t>
            </a:r>
            <a:r>
              <a:rPr lang="en-US" sz="2000" b="0" i="0" u="none" strike="noStrike" baseline="0" dirty="0">
                <a:solidFill>
                  <a:srgbClr val="231F20"/>
                </a:solidFill>
                <a:latin typeface="Times New Roman" panose="02020603050405020304" pitchFamily="18" charset="0"/>
                <a:cs typeface="Times New Roman" panose="02020603050405020304" pitchFamily="18" charset="0"/>
              </a:rPr>
              <a:t>The data generated by connected machines is massive. This section examines ways to implement edge computing i</a:t>
            </a:r>
            <a:r>
              <a:rPr lang="en-US" sz="2200" b="0" i="0" u="none" strike="noStrike" baseline="0" dirty="0">
                <a:solidFill>
                  <a:srgbClr val="231F20"/>
                </a:solidFill>
                <a:latin typeface="Times New Roman" panose="02020603050405020304" pitchFamily="18" charset="0"/>
                <a:cs typeface="Times New Roman" panose="02020603050405020304" pitchFamily="18" charset="0"/>
              </a:rPr>
              <a:t>n the connected factory to improve data management and visibility.</a:t>
            </a:r>
          </a:p>
        </p:txBody>
      </p:sp>
    </p:spTree>
    <p:extLst>
      <p:ext uri="{BB962C8B-B14F-4D97-AF65-F5344CB8AC3E}">
        <p14:creationId xmlns:p14="http://schemas.microsoft.com/office/powerpoint/2010/main" val="380393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1909-33D2-4845-8518-DBF6BFD34AA2}"/>
              </a:ext>
            </a:extLst>
          </p:cNvPr>
          <p:cNvSpPr>
            <a:spLocks noGrp="1"/>
          </p:cNvSpPr>
          <p:nvPr>
            <p:ph type="title"/>
          </p:nvPr>
        </p:nvSpPr>
        <p:spPr/>
        <p:txBody>
          <a:bodyPr/>
          <a:lstStyle/>
          <a:p>
            <a:r>
              <a:rPr lang="en-US" dirty="0"/>
              <a:t>An Introduction to Connected Manufacturing</a:t>
            </a:r>
          </a:p>
        </p:txBody>
      </p:sp>
      <p:pic>
        <p:nvPicPr>
          <p:cNvPr id="5" name="Content Placeholder 4">
            <a:extLst>
              <a:ext uri="{FF2B5EF4-FFF2-40B4-BE49-F238E27FC236}">
                <a16:creationId xmlns:a16="http://schemas.microsoft.com/office/drawing/2014/main" id="{CE06552A-5389-BE78-AF4F-262604EA4CE2}"/>
              </a:ext>
            </a:extLst>
          </p:cNvPr>
          <p:cNvPicPr>
            <a:picLocks noGrp="1" noChangeAspect="1"/>
          </p:cNvPicPr>
          <p:nvPr>
            <p:ph idx="1"/>
          </p:nvPr>
        </p:nvPicPr>
        <p:blipFill>
          <a:blip r:embed="rId2"/>
          <a:stretch>
            <a:fillRect/>
          </a:stretch>
        </p:blipFill>
        <p:spPr>
          <a:xfrm>
            <a:off x="1489587" y="1690687"/>
            <a:ext cx="8509819" cy="4518383"/>
          </a:xfrm>
        </p:spPr>
      </p:pic>
    </p:spTree>
    <p:extLst>
      <p:ext uri="{BB962C8B-B14F-4D97-AF65-F5344CB8AC3E}">
        <p14:creationId xmlns:p14="http://schemas.microsoft.com/office/powerpoint/2010/main" val="101002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63C5E-7741-4CE1-F6B3-85EF3EF8D1C7}"/>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An Introduction to Connected Manufacturing</a:t>
            </a:r>
            <a:endParaRPr lang="en-US" dirty="0"/>
          </a:p>
        </p:txBody>
      </p:sp>
      <p:sp>
        <p:nvSpPr>
          <p:cNvPr id="3" name="Content Placeholder 2">
            <a:extLst>
              <a:ext uri="{FF2B5EF4-FFF2-40B4-BE49-F238E27FC236}">
                <a16:creationId xmlns:a16="http://schemas.microsoft.com/office/drawing/2014/main" id="{406D1E18-0D6E-C549-6C37-6760BBB94F52}"/>
              </a:ext>
            </a:extLst>
          </p:cNvPr>
          <p:cNvSpPr>
            <a:spLocks noGrp="1"/>
          </p:cNvSpPr>
          <p:nvPr>
            <p:ph idx="1"/>
          </p:nvPr>
        </p:nvSpPr>
        <p:spPr/>
        <p:txBody>
          <a:bodyPr/>
          <a:lstStyle/>
          <a:p>
            <a:r>
              <a:rPr lang="en-US" sz="2800" b="0" i="0" u="none" strike="noStrike" baseline="0" dirty="0">
                <a:solidFill>
                  <a:srgbClr val="231F20"/>
                </a:solidFill>
                <a:latin typeface="CiscoSerif-Regular"/>
              </a:rPr>
              <a:t>Nearly 75% of US plants are more than 20 years old.</a:t>
            </a:r>
          </a:p>
          <a:p>
            <a:pPr algn="l"/>
            <a:r>
              <a:rPr lang="en-US" sz="2800" b="0" i="0" u="none" strike="noStrike" baseline="0" dirty="0">
                <a:solidFill>
                  <a:srgbClr val="231F20"/>
                </a:solidFill>
                <a:latin typeface="CiscoSerif-Regular"/>
              </a:rPr>
              <a:t>Their aging assets not only slow innovation but also cost billions in unplanned downtime.</a:t>
            </a:r>
          </a:p>
          <a:p>
            <a:pPr algn="l"/>
            <a:r>
              <a:rPr lang="en-US" dirty="0"/>
              <a:t>There are 60 million machines in factories throughout the world. Of them, 90% are not connected, and the vast majority of the machines are more than 15 years old</a:t>
            </a:r>
          </a:p>
        </p:txBody>
      </p:sp>
    </p:spTree>
    <p:extLst>
      <p:ext uri="{BB962C8B-B14F-4D97-AF65-F5344CB8AC3E}">
        <p14:creationId xmlns:p14="http://schemas.microsoft.com/office/powerpoint/2010/main" val="91958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36B52-88B0-7EFD-E261-6B914776E36D}"/>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An Introduction to Connected Manufacturing</a:t>
            </a:r>
            <a:endParaRPr lang="en-US" dirty="0"/>
          </a:p>
        </p:txBody>
      </p:sp>
      <p:sp>
        <p:nvSpPr>
          <p:cNvPr id="3" name="Content Placeholder 2">
            <a:extLst>
              <a:ext uri="{FF2B5EF4-FFF2-40B4-BE49-F238E27FC236}">
                <a16:creationId xmlns:a16="http://schemas.microsoft.com/office/drawing/2014/main" id="{8F892FA7-01EB-51DF-5A97-DAA094AA6A79}"/>
              </a:ext>
            </a:extLst>
          </p:cNvPr>
          <p:cNvSpPr>
            <a:spLocks noGrp="1"/>
          </p:cNvSpPr>
          <p:nvPr>
            <p:ph idx="1"/>
          </p:nvPr>
        </p:nvSpPr>
        <p:spPr/>
        <p:txBody>
          <a:bodyPr>
            <a:normAutofit fontScale="92500" lnSpcReduction="20000"/>
          </a:bodyPr>
          <a:lstStyle/>
          <a:p>
            <a:pPr algn="just"/>
            <a:r>
              <a:rPr lang="en-US" sz="2800" b="1" i="0" u="none" strike="noStrike" baseline="0" dirty="0">
                <a:solidFill>
                  <a:srgbClr val="231F20"/>
                </a:solidFill>
                <a:latin typeface="CiscoSerif-Bold"/>
              </a:rPr>
              <a:t>Data-driven manufacturing: </a:t>
            </a:r>
            <a:r>
              <a:rPr lang="en-US" sz="2800" b="0" i="0" u="none" strike="noStrike" baseline="0" dirty="0">
                <a:solidFill>
                  <a:srgbClr val="231F20"/>
                </a:solidFill>
                <a:latin typeface="CiscoSerif-Regular"/>
              </a:rPr>
              <a:t>Big data is changing the face of manufacturing. Manufacturers want access to all data generated from machines to monitor real-time quality control, improve overall equipment effectiveness (OEE), and reduce unplanned downtime. OEE is a well-known metric that indicates manufacturing productivity.</a:t>
            </a:r>
          </a:p>
          <a:p>
            <a:pPr algn="just"/>
            <a:r>
              <a:rPr lang="en-US" sz="2800" b="0" i="0" u="none" strike="noStrike" baseline="0" dirty="0">
                <a:solidFill>
                  <a:srgbClr val="231F20"/>
                </a:solidFill>
                <a:latin typeface="CiscoSerif-Regular"/>
              </a:rPr>
              <a:t> </a:t>
            </a:r>
            <a:r>
              <a:rPr lang="en-US" sz="2800" b="1" i="0" u="none" strike="noStrike" baseline="0" dirty="0">
                <a:solidFill>
                  <a:srgbClr val="231F20"/>
                </a:solidFill>
                <a:latin typeface="CiscoSerif-Bold"/>
              </a:rPr>
              <a:t>OT and IT convergence: </a:t>
            </a:r>
            <a:r>
              <a:rPr lang="en-US" sz="2800" b="0" i="0" u="none" strike="noStrike" baseline="0" dirty="0">
                <a:solidFill>
                  <a:srgbClr val="231F20"/>
                </a:solidFill>
                <a:latin typeface="CiscoSerif-Regular"/>
              </a:rPr>
              <a:t>In the context of IoT in a factory setting, operational technology is made up of </a:t>
            </a:r>
            <a:r>
              <a:rPr lang="en-US" sz="2800" b="1" i="0" u="none" strike="noStrike" baseline="0" dirty="0">
                <a:solidFill>
                  <a:srgbClr val="231F20"/>
                </a:solidFill>
                <a:latin typeface="CiscoSerif-Regular"/>
              </a:rPr>
              <a:t>programmable logic controllers (PLCs), computers</a:t>
            </a:r>
            <a:r>
              <a:rPr lang="en-US" sz="2800" b="0" i="0" u="none" strike="noStrike" baseline="0" dirty="0">
                <a:solidFill>
                  <a:srgbClr val="231F20"/>
                </a:solidFill>
                <a:latin typeface="CiscoSerif-Regular"/>
              </a:rPr>
              <a:t>, and other technology that is often like the technology used in IT but is operated and owned by business operations outside IT. IP networking is enabling </a:t>
            </a:r>
            <a:r>
              <a:rPr lang="en-US" sz="2800" b="1" i="0" u="none" strike="noStrike" baseline="0" dirty="0">
                <a:solidFill>
                  <a:srgbClr val="231F20"/>
                </a:solidFill>
                <a:latin typeface="CiscoSerif-Regular"/>
              </a:rPr>
              <a:t>closer integration between machines and factories</a:t>
            </a:r>
            <a:r>
              <a:rPr lang="en-US" sz="2800" b="0" i="0" u="none" strike="noStrike" baseline="0" dirty="0">
                <a:solidFill>
                  <a:srgbClr val="231F20"/>
                </a:solidFill>
                <a:latin typeface="CiscoSerif-Regular"/>
              </a:rPr>
              <a:t>, and the line between </a:t>
            </a:r>
            <a:r>
              <a:rPr lang="en-US" sz="2800" b="1" i="0" u="none" strike="noStrike" baseline="0" dirty="0">
                <a:solidFill>
                  <a:srgbClr val="231F20"/>
                </a:solidFill>
                <a:latin typeface="CiscoSerif-Regular"/>
              </a:rPr>
              <a:t>factory and enterprise networks </a:t>
            </a:r>
            <a:r>
              <a:rPr lang="en-US" sz="2800" b="0" i="0" u="none" strike="noStrike" baseline="0" dirty="0">
                <a:solidFill>
                  <a:srgbClr val="231F20"/>
                </a:solidFill>
                <a:latin typeface="CiscoSerif-Regular"/>
              </a:rPr>
              <a:t>is becoming less distinct. Manufacturers are moving beyond traditional silos and looking for ways to bring their operations together under a single networking infrastructure.</a:t>
            </a:r>
            <a:endParaRPr lang="en-US" dirty="0"/>
          </a:p>
        </p:txBody>
      </p:sp>
    </p:spTree>
    <p:extLst>
      <p:ext uri="{BB962C8B-B14F-4D97-AF65-F5344CB8AC3E}">
        <p14:creationId xmlns:p14="http://schemas.microsoft.com/office/powerpoint/2010/main" val="2778713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7B71-A0E5-0E05-45BB-65026F8E30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C52CD4-053E-917C-6583-E34F1FD05459}"/>
              </a:ext>
            </a:extLst>
          </p:cNvPr>
          <p:cNvSpPr>
            <a:spLocks noGrp="1"/>
          </p:cNvSpPr>
          <p:nvPr>
            <p:ph idx="1"/>
          </p:nvPr>
        </p:nvSpPr>
        <p:spPr>
          <a:xfrm>
            <a:off x="838200" y="1489587"/>
            <a:ext cx="10515600" cy="4687376"/>
          </a:xfrm>
        </p:spPr>
        <p:txBody>
          <a:bodyPr>
            <a:normAutofit fontScale="85000" lnSpcReduction="10000"/>
          </a:bodyPr>
          <a:lstStyle/>
          <a:p>
            <a:pPr algn="just"/>
            <a:r>
              <a:rPr lang="en-US" sz="2800" b="1" i="0" u="none" strike="noStrike" baseline="0" dirty="0">
                <a:solidFill>
                  <a:srgbClr val="231F20"/>
                </a:solidFill>
                <a:latin typeface="CiscoSerif-Bold"/>
              </a:rPr>
              <a:t>Improved technology with lower costs: </a:t>
            </a:r>
            <a:r>
              <a:rPr lang="en-US" sz="2800" b="0" i="0" u="none" strike="noStrike" baseline="0" dirty="0">
                <a:solidFill>
                  <a:srgbClr val="231F20"/>
                </a:solidFill>
                <a:latin typeface="CiscoSerif-Regular"/>
              </a:rPr>
              <a:t>New technologies are creating conditions for </a:t>
            </a:r>
            <a:r>
              <a:rPr lang="en-US" sz="2800" b="1" i="0" u="none" strike="noStrike" baseline="0" dirty="0">
                <a:solidFill>
                  <a:srgbClr val="231F20"/>
                </a:solidFill>
                <a:latin typeface="CiscoSerif-Regular"/>
              </a:rPr>
              <a:t>scaled, automated, and platform-based machine connectivity, monitoring, and optimization</a:t>
            </a:r>
            <a:r>
              <a:rPr lang="en-US" sz="2800" b="0" i="0" u="none" strike="noStrike" baseline="0" dirty="0">
                <a:solidFill>
                  <a:srgbClr val="231F20"/>
                </a:solidFill>
                <a:latin typeface="CiscoSerif-Regular"/>
              </a:rPr>
              <a:t>. In this evolved technology state, machine operations can be viewed as part of a fully connected network system instead of an air-gapped point system. The </a:t>
            </a:r>
            <a:r>
              <a:rPr lang="en-US" sz="2800" b="1" i="0" u="none" strike="noStrike" baseline="0" dirty="0">
                <a:solidFill>
                  <a:srgbClr val="231F20"/>
                </a:solidFill>
                <a:latin typeface="CiscoSerif-Regular"/>
              </a:rPr>
              <a:t>convergence of compute, switching, routing, and security </a:t>
            </a:r>
            <a:r>
              <a:rPr lang="en-US" sz="2800" b="0" i="0" u="none" strike="noStrike" baseline="0" dirty="0">
                <a:solidFill>
                  <a:srgbClr val="231F20"/>
                </a:solidFill>
                <a:latin typeface="CiscoSerif-Regular"/>
              </a:rPr>
              <a:t>has the potential to drive down the cost of connecting machines.</a:t>
            </a:r>
          </a:p>
          <a:p>
            <a:pPr algn="just"/>
            <a:r>
              <a:rPr lang="en-US" sz="2800" b="1" i="0" u="none" strike="noStrike" baseline="0" dirty="0">
                <a:solidFill>
                  <a:srgbClr val="231F20"/>
                </a:solidFill>
                <a:latin typeface="CiscoSerif-Bold"/>
              </a:rPr>
              <a:t>Machine builder OEMs focused on new priorities: </a:t>
            </a:r>
            <a:r>
              <a:rPr lang="en-US" sz="2800" b="0" i="0" u="none" strike="noStrike" baseline="0" dirty="0">
                <a:solidFill>
                  <a:srgbClr val="231F20"/>
                </a:solidFill>
                <a:latin typeface="CiscoSerif-Regular"/>
              </a:rPr>
              <a:t>Original equipment manufacturers (OEMs) are facing disruption by new cloud-based providers that intend to provide </a:t>
            </a:r>
            <a:r>
              <a:rPr lang="en-US" sz="2800" b="1" i="0" u="none" strike="noStrike" baseline="0" dirty="0">
                <a:solidFill>
                  <a:srgbClr val="231F20"/>
                </a:solidFill>
                <a:latin typeface="CiscoSerif-Regular"/>
              </a:rPr>
              <a:t>Machines as a Service (</a:t>
            </a:r>
            <a:r>
              <a:rPr lang="en-US" sz="2800" b="1" i="0" u="none" strike="noStrike" baseline="0" dirty="0" err="1">
                <a:solidFill>
                  <a:srgbClr val="231F20"/>
                </a:solidFill>
                <a:latin typeface="CiscoSerif-Regular"/>
              </a:rPr>
              <a:t>MaaS</a:t>
            </a:r>
            <a:r>
              <a:rPr lang="en-US" sz="2800" b="1" i="0" u="none" strike="noStrike" baseline="0" dirty="0">
                <a:solidFill>
                  <a:srgbClr val="231F20"/>
                </a:solidFill>
                <a:latin typeface="CiscoSerif-Regular"/>
              </a:rPr>
              <a:t>), </a:t>
            </a:r>
            <a:r>
              <a:rPr lang="en-US" sz="2800" b="0" i="0" u="none" strike="noStrike" baseline="0" dirty="0">
                <a:solidFill>
                  <a:srgbClr val="231F20"/>
                </a:solidFill>
                <a:latin typeface="CiscoSerif-Regular"/>
              </a:rPr>
              <a:t>where machines can be deployed quickly on the plant floor through zero-touch deployment from the cloud, which offers </a:t>
            </a:r>
            <a:r>
              <a:rPr lang="en-US" sz="2800" b="1" i="0" u="none" strike="noStrike" baseline="0" dirty="0">
                <a:solidFill>
                  <a:srgbClr val="231F20"/>
                </a:solidFill>
                <a:latin typeface="CiscoSerif-Regular"/>
              </a:rPr>
              <a:t>remote connectivity and monitoring </a:t>
            </a:r>
            <a:r>
              <a:rPr lang="en-US" sz="2800" b="0" i="0" u="none" strike="noStrike" baseline="0" dirty="0">
                <a:solidFill>
                  <a:srgbClr val="231F20"/>
                </a:solidFill>
                <a:latin typeface="CiscoSerif-Regular"/>
              </a:rPr>
              <a:t>of those machines. This is driving a new focus on providing better customer experience and emphasizing after-sales products and services. Manufacturers are looking toward near </a:t>
            </a:r>
            <a:r>
              <a:rPr lang="en-US" sz="2800" b="1" i="0" u="none" strike="noStrike" baseline="0" dirty="0">
                <a:solidFill>
                  <a:srgbClr val="231F20"/>
                </a:solidFill>
                <a:latin typeface="CiscoSerif-Regular"/>
              </a:rPr>
              <a:t>100% uptime and zero-touch deployments</a:t>
            </a:r>
            <a:r>
              <a:rPr lang="en-US" sz="2800" b="0" i="0" u="none" strike="noStrike" baseline="0" dirty="0">
                <a:solidFill>
                  <a:srgbClr val="231F20"/>
                </a:solidFill>
                <a:latin typeface="CiscoSerif-Regular"/>
              </a:rPr>
              <a:t>. They are also exploring ways to control support costs through remote connectivity and monitoring.</a:t>
            </a:r>
            <a:endParaRPr lang="en-US" dirty="0"/>
          </a:p>
        </p:txBody>
      </p:sp>
    </p:spTree>
    <p:extLst>
      <p:ext uri="{BB962C8B-B14F-4D97-AF65-F5344CB8AC3E}">
        <p14:creationId xmlns:p14="http://schemas.microsoft.com/office/powerpoint/2010/main" val="167890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3E0B0-B776-8692-29ED-04F6C0180A29}"/>
              </a:ext>
            </a:extLst>
          </p:cNvPr>
          <p:cNvSpPr>
            <a:spLocks noGrp="1"/>
          </p:cNvSpPr>
          <p:nvPr>
            <p:ph type="title"/>
          </p:nvPr>
        </p:nvSpPr>
        <p:spPr/>
        <p:txBody>
          <a:bodyPr/>
          <a:lstStyle/>
          <a:p>
            <a:r>
              <a:rPr lang="en-US" sz="4400" b="1" i="0" u="none" strike="noStrike" baseline="0" dirty="0">
                <a:solidFill>
                  <a:srgbClr val="231F20"/>
                </a:solidFill>
                <a:latin typeface="Cisco-Bold"/>
              </a:rPr>
              <a:t>An IoT Strategy for Connected Manufacturing</a:t>
            </a:r>
            <a:endParaRPr lang="en-US" dirty="0"/>
          </a:p>
        </p:txBody>
      </p:sp>
      <p:pic>
        <p:nvPicPr>
          <p:cNvPr id="5" name="Content Placeholder 4">
            <a:extLst>
              <a:ext uri="{FF2B5EF4-FFF2-40B4-BE49-F238E27FC236}">
                <a16:creationId xmlns:a16="http://schemas.microsoft.com/office/drawing/2014/main" id="{68DFFD22-C51E-897C-8328-E30C36E0FA6C}"/>
              </a:ext>
            </a:extLst>
          </p:cNvPr>
          <p:cNvPicPr>
            <a:picLocks noGrp="1" noChangeAspect="1"/>
          </p:cNvPicPr>
          <p:nvPr>
            <p:ph idx="1"/>
          </p:nvPr>
        </p:nvPicPr>
        <p:blipFill>
          <a:blip r:embed="rId2"/>
          <a:stretch>
            <a:fillRect/>
          </a:stretch>
        </p:blipFill>
        <p:spPr>
          <a:xfrm>
            <a:off x="1976284" y="1533832"/>
            <a:ext cx="8981768" cy="4959043"/>
          </a:xfrm>
        </p:spPr>
      </p:pic>
    </p:spTree>
    <p:extLst>
      <p:ext uri="{BB962C8B-B14F-4D97-AF65-F5344CB8AC3E}">
        <p14:creationId xmlns:p14="http://schemas.microsoft.com/office/powerpoint/2010/main" val="282868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C697-3448-A47F-1AC7-2F0A5FA28D1F}"/>
              </a:ext>
            </a:extLst>
          </p:cNvPr>
          <p:cNvSpPr>
            <a:spLocks noGrp="1"/>
          </p:cNvSpPr>
          <p:nvPr>
            <p:ph type="title"/>
          </p:nvPr>
        </p:nvSpPr>
        <p:spPr/>
        <p:txBody>
          <a:bodyPr/>
          <a:lstStyle/>
          <a:p>
            <a:r>
              <a:rPr lang="en-US" sz="4400" b="1" i="0" u="none" strike="noStrike" baseline="0" dirty="0">
                <a:solidFill>
                  <a:srgbClr val="231F20"/>
                </a:solidFill>
                <a:latin typeface="Cisco-Bold"/>
              </a:rPr>
              <a:t>Business Improvements Driven Through IoT</a:t>
            </a:r>
            <a:endParaRPr lang="en-US" dirty="0"/>
          </a:p>
        </p:txBody>
      </p:sp>
      <p:sp>
        <p:nvSpPr>
          <p:cNvPr id="3" name="Content Placeholder 2">
            <a:extLst>
              <a:ext uri="{FF2B5EF4-FFF2-40B4-BE49-F238E27FC236}">
                <a16:creationId xmlns:a16="http://schemas.microsoft.com/office/drawing/2014/main" id="{48F9F71F-928D-3403-2183-ACF10664E608}"/>
              </a:ext>
            </a:extLst>
          </p:cNvPr>
          <p:cNvSpPr>
            <a:spLocks noGrp="1"/>
          </p:cNvSpPr>
          <p:nvPr>
            <p:ph idx="1"/>
          </p:nvPr>
        </p:nvSpPr>
        <p:spPr/>
        <p:txBody>
          <a:bodyPr>
            <a:normAutofit/>
          </a:bodyPr>
          <a:lstStyle/>
          <a:p>
            <a:pPr algn="just"/>
            <a:r>
              <a:rPr lang="en-US" dirty="0"/>
              <a:t>Six Sigma is a set of data-driven manufacturing techniques used to reduce defects aiming for a defect free product 99.99966% of the time.</a:t>
            </a:r>
          </a:p>
          <a:p>
            <a:pPr algn="just"/>
            <a:r>
              <a:rPr lang="en-US" sz="2800" b="0" i="0" u="none" strike="noStrike" baseline="0" dirty="0">
                <a:solidFill>
                  <a:srgbClr val="231F20"/>
                </a:solidFill>
                <a:latin typeface="CiscoSerif-Regular"/>
              </a:rPr>
              <a:t>In one case where a leading robot manufacturer implemented a real-time data analysis and predictive maintenance application for a leading auto manufacturer, unplanned downtime on several thousand robots was completely eliminated. This saved the manufacturer approximately $40 million in downtime in just a few weeks.</a:t>
            </a:r>
            <a:endParaRPr lang="en-US" dirty="0"/>
          </a:p>
        </p:txBody>
      </p:sp>
    </p:spTree>
    <p:extLst>
      <p:ext uri="{BB962C8B-B14F-4D97-AF65-F5344CB8AC3E}">
        <p14:creationId xmlns:p14="http://schemas.microsoft.com/office/powerpoint/2010/main" val="4199111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3C1E5-4591-086F-F82D-5CD416E57BBB}"/>
              </a:ext>
            </a:extLst>
          </p:cNvPr>
          <p:cNvSpPr>
            <a:spLocks noGrp="1"/>
          </p:cNvSpPr>
          <p:nvPr>
            <p:ph type="title"/>
          </p:nvPr>
        </p:nvSpPr>
        <p:spPr/>
        <p:txBody>
          <a:bodyPr/>
          <a:lstStyle/>
          <a:p>
            <a:r>
              <a:rPr lang="en-US" sz="4400" b="1" i="0" u="none" strike="noStrike" baseline="0" dirty="0">
                <a:solidFill>
                  <a:srgbClr val="231F20"/>
                </a:solidFill>
                <a:latin typeface="Cisco-Bold"/>
              </a:rPr>
              <a:t>An Architecture for the Connected Factory</a:t>
            </a:r>
            <a:endParaRPr lang="en-US" dirty="0"/>
          </a:p>
        </p:txBody>
      </p:sp>
      <p:sp>
        <p:nvSpPr>
          <p:cNvPr id="3" name="Content Placeholder 2">
            <a:extLst>
              <a:ext uri="{FF2B5EF4-FFF2-40B4-BE49-F238E27FC236}">
                <a16:creationId xmlns:a16="http://schemas.microsoft.com/office/drawing/2014/main" id="{44348C73-7BCE-4783-7718-523182611AE5}"/>
              </a:ext>
            </a:extLst>
          </p:cNvPr>
          <p:cNvSpPr>
            <a:spLocks noGrp="1"/>
          </p:cNvSpPr>
          <p:nvPr>
            <p:ph idx="1"/>
          </p:nvPr>
        </p:nvSpPr>
        <p:spPr>
          <a:xfrm>
            <a:off x="838200" y="1563329"/>
            <a:ext cx="10515600" cy="4613634"/>
          </a:xfrm>
        </p:spPr>
        <p:txBody>
          <a:bodyPr>
            <a:normAutofit fontScale="92500" lnSpcReduction="20000"/>
          </a:bodyPr>
          <a:lstStyle/>
          <a:p>
            <a:pPr algn="just"/>
            <a:r>
              <a:rPr lang="en-US" sz="2800" b="0" i="0" u="none" strike="noStrike" baseline="0" dirty="0">
                <a:solidFill>
                  <a:srgbClr val="231F20"/>
                </a:solidFill>
                <a:latin typeface="CiscoSerif-Regular"/>
              </a:rPr>
              <a:t>Traditional factory networks were deployed ad hoc. They were isolated and air-gapped from the enterprise IT network</a:t>
            </a:r>
          </a:p>
          <a:p>
            <a:pPr algn="just"/>
            <a:r>
              <a:rPr lang="en-US" sz="2800" b="0" i="0" u="none" strike="noStrike" baseline="0" dirty="0">
                <a:solidFill>
                  <a:srgbClr val="231F20"/>
                </a:solidFill>
                <a:latin typeface="CiscoSerif-Regular"/>
              </a:rPr>
              <a:t>Network security in the factory was typically limited to an industrial DMZ, leaving the machines mostly unprotected</a:t>
            </a:r>
          </a:p>
          <a:p>
            <a:pPr algn="just"/>
            <a:r>
              <a:rPr lang="en-US" sz="2800" b="0" i="0" u="none" strike="noStrike" baseline="0" dirty="0">
                <a:solidFill>
                  <a:srgbClr val="231F20"/>
                </a:solidFill>
                <a:latin typeface="CiscoSerif-Regular"/>
              </a:rPr>
              <a:t>Factories rarely deployed network-level security systems that included identity policies and secure remote access tools that allowed plant-level data to be securely extended to the cloud.</a:t>
            </a:r>
          </a:p>
          <a:p>
            <a:pPr algn="just"/>
            <a:r>
              <a:rPr lang="en-US" sz="2800" b="0" i="0" u="none" strike="noStrike" baseline="0" dirty="0">
                <a:solidFill>
                  <a:srgbClr val="231F20"/>
                </a:solidFill>
                <a:latin typeface="CiscoSerif-Regular"/>
              </a:rPr>
              <a:t>Companies are beginning to tie together their industrial automation and control systems (IACS) with IT applications and analytics tools to provide control and analytics capabilities that are driving operational and business benefits</a:t>
            </a:r>
          </a:p>
          <a:p>
            <a:pPr algn="just"/>
            <a:r>
              <a:rPr lang="en-US" sz="2800" b="0" i="0" u="none" strike="noStrike" baseline="0" dirty="0">
                <a:solidFill>
                  <a:srgbClr val="231F20"/>
                </a:solidFill>
                <a:latin typeface="CiscoSerif-Regular"/>
              </a:rPr>
              <a:t>Converged Plantwide Ethernet (</a:t>
            </a:r>
            <a:r>
              <a:rPr lang="en-US" sz="2800" b="0" i="0" u="none" strike="noStrike" baseline="0" dirty="0" err="1">
                <a:solidFill>
                  <a:srgbClr val="231F20"/>
                </a:solidFill>
                <a:latin typeface="CiscoSerif-Regular"/>
              </a:rPr>
              <a:t>CPwE</a:t>
            </a:r>
            <a:r>
              <a:rPr lang="en-US" sz="2800" b="0" i="0" u="none" strike="noStrike" baseline="0" dirty="0">
                <a:solidFill>
                  <a:srgbClr val="231F20"/>
                </a:solidFill>
                <a:latin typeface="CiscoSerif-Regular"/>
              </a:rPr>
              <a:t>) is an architectural framework that provides network services to IACS devices and equipment and promotes secure integration into the enterprise network</a:t>
            </a:r>
            <a:endParaRPr lang="en-US" dirty="0"/>
          </a:p>
        </p:txBody>
      </p:sp>
    </p:spTree>
    <p:extLst>
      <p:ext uri="{BB962C8B-B14F-4D97-AF65-F5344CB8AC3E}">
        <p14:creationId xmlns:p14="http://schemas.microsoft.com/office/powerpoint/2010/main" val="426525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6B5EC-6F5E-D8F4-FF6D-6C985F892AC2}"/>
              </a:ext>
            </a:extLst>
          </p:cNvPr>
          <p:cNvSpPr>
            <a:spLocks noGrp="1"/>
          </p:cNvSpPr>
          <p:nvPr>
            <p:ph type="title"/>
          </p:nvPr>
        </p:nvSpPr>
        <p:spPr/>
        <p:txBody>
          <a:bodyPr/>
          <a:lstStyle/>
          <a:p>
            <a:r>
              <a:rPr lang="en-US" sz="4400" b="1" i="0" u="none" strike="noStrike" baseline="0" dirty="0">
                <a:solidFill>
                  <a:srgbClr val="231F20"/>
                </a:solidFill>
                <a:latin typeface="Cisco-Bold"/>
              </a:rPr>
              <a:t>Industrial Automation and Control Systems Reference Model</a:t>
            </a:r>
            <a:endParaRPr lang="en-US" dirty="0"/>
          </a:p>
        </p:txBody>
      </p:sp>
      <p:pic>
        <p:nvPicPr>
          <p:cNvPr id="5" name="Content Placeholder 4">
            <a:extLst>
              <a:ext uri="{FF2B5EF4-FFF2-40B4-BE49-F238E27FC236}">
                <a16:creationId xmlns:a16="http://schemas.microsoft.com/office/drawing/2014/main" id="{97FA0675-A1B3-7358-0648-35642A6E6F6D}"/>
              </a:ext>
            </a:extLst>
          </p:cNvPr>
          <p:cNvPicPr>
            <a:picLocks noGrp="1" noChangeAspect="1"/>
          </p:cNvPicPr>
          <p:nvPr>
            <p:ph idx="1"/>
          </p:nvPr>
        </p:nvPicPr>
        <p:blipFill>
          <a:blip r:embed="rId2"/>
          <a:stretch>
            <a:fillRect/>
          </a:stretch>
        </p:blipFill>
        <p:spPr>
          <a:xfrm>
            <a:off x="1061884" y="1690688"/>
            <a:ext cx="10005523" cy="4474138"/>
          </a:xfrm>
        </p:spPr>
      </p:pic>
    </p:spTree>
    <p:extLst>
      <p:ext uri="{BB962C8B-B14F-4D97-AF65-F5344CB8AC3E}">
        <p14:creationId xmlns:p14="http://schemas.microsoft.com/office/powerpoint/2010/main" val="1940302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4F5-703F-0945-039A-B3DD1F0116FD}"/>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Industrial Automation and Control Systems Reference Model</a:t>
            </a:r>
            <a:endParaRPr lang="en-US" dirty="0"/>
          </a:p>
        </p:txBody>
      </p:sp>
      <p:sp>
        <p:nvSpPr>
          <p:cNvPr id="3" name="Content Placeholder 2">
            <a:extLst>
              <a:ext uri="{FF2B5EF4-FFF2-40B4-BE49-F238E27FC236}">
                <a16:creationId xmlns:a16="http://schemas.microsoft.com/office/drawing/2014/main" id="{F1844E0D-243B-47C2-128E-BA933650A0AF}"/>
              </a:ext>
            </a:extLst>
          </p:cNvPr>
          <p:cNvSpPr>
            <a:spLocks noGrp="1"/>
          </p:cNvSpPr>
          <p:nvPr>
            <p:ph idx="1"/>
          </p:nvPr>
        </p:nvSpPr>
        <p:spPr/>
        <p:txBody>
          <a:bodyPr>
            <a:normAutofit fontScale="92500" lnSpcReduction="10000"/>
          </a:bodyPr>
          <a:lstStyle/>
          <a:p>
            <a:pPr algn="l"/>
            <a:r>
              <a:rPr lang="en-US" sz="2800" b="1" i="0" u="none" strike="noStrike" baseline="0" dirty="0">
                <a:solidFill>
                  <a:srgbClr val="231F20"/>
                </a:solidFill>
                <a:latin typeface="CiscoSerif-Bold"/>
              </a:rPr>
              <a:t>Safety zone: </a:t>
            </a:r>
            <a:r>
              <a:rPr lang="en-US" sz="2800" b="0" i="0" u="none" strike="noStrike" baseline="0" dirty="0">
                <a:solidFill>
                  <a:srgbClr val="231F20"/>
                </a:solidFill>
                <a:latin typeface="CiscoSerif-Regular"/>
              </a:rPr>
              <a:t>Systems in the safety zone are typically hard-wired and air-gapped from the IACS network. The safety system’s function in this zone is to provide an IACS shutdown (a “stop” button) in case of an emergency. You can think of this as a hardwired fail-safe used to protect personnel and equipment if a dangerous event occurs.</a:t>
            </a:r>
          </a:p>
          <a:p>
            <a:pPr algn="l"/>
            <a:r>
              <a:rPr lang="en-US" sz="2800" b="1" i="0" u="none" strike="noStrike" baseline="0" dirty="0">
                <a:solidFill>
                  <a:srgbClr val="231F20"/>
                </a:solidFill>
                <a:latin typeface="CiscoSerif-Bold"/>
              </a:rPr>
              <a:t>Manufacturing zone: </a:t>
            </a:r>
            <a:r>
              <a:rPr lang="en-US" sz="2800" b="0" i="0" u="none" strike="noStrike" baseline="0" dirty="0">
                <a:solidFill>
                  <a:srgbClr val="231F20"/>
                </a:solidFill>
                <a:latin typeface="CiscoSerif-Regular"/>
              </a:rPr>
              <a:t>The manufacturing zone is composed of the cell/area zones (Levels 0–2) and site-level manufacturing (Level 3) activities. The manufacturing zone is important because all IACS applications, devices, and controllers critical to monitoring and controlling plant IACS operations are here. To support secure plant operations and functioning of the IACS applications, there is a secure separation of the manufacturing zone and the enterprise zone (Levels 4 and 5).</a:t>
            </a:r>
            <a:endParaRPr lang="en-US" dirty="0"/>
          </a:p>
        </p:txBody>
      </p:sp>
    </p:spTree>
    <p:extLst>
      <p:ext uri="{BB962C8B-B14F-4D97-AF65-F5344CB8AC3E}">
        <p14:creationId xmlns:p14="http://schemas.microsoft.com/office/powerpoint/2010/main" val="593759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4F5-703F-0945-039A-B3DD1F0116FD}"/>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Industrial Automation and Control Systems Reference Model</a:t>
            </a:r>
            <a:endParaRPr lang="en-US" dirty="0"/>
          </a:p>
        </p:txBody>
      </p:sp>
      <p:sp>
        <p:nvSpPr>
          <p:cNvPr id="3" name="Content Placeholder 2">
            <a:extLst>
              <a:ext uri="{FF2B5EF4-FFF2-40B4-BE49-F238E27FC236}">
                <a16:creationId xmlns:a16="http://schemas.microsoft.com/office/drawing/2014/main" id="{F1844E0D-243B-47C2-128E-BA933650A0AF}"/>
              </a:ext>
            </a:extLst>
          </p:cNvPr>
          <p:cNvSpPr>
            <a:spLocks noGrp="1"/>
          </p:cNvSpPr>
          <p:nvPr>
            <p:ph idx="1"/>
          </p:nvPr>
        </p:nvSpPr>
        <p:spPr/>
        <p:txBody>
          <a:bodyPr>
            <a:normAutofit fontScale="92500" lnSpcReduction="10000"/>
          </a:bodyPr>
          <a:lstStyle/>
          <a:p>
            <a:pPr algn="just"/>
            <a:r>
              <a:rPr lang="en-US" sz="2800" b="1" i="0" u="none" strike="noStrike" baseline="0" dirty="0">
                <a:solidFill>
                  <a:srgbClr val="231F20"/>
                </a:solidFill>
                <a:latin typeface="CiscoSerif-Bold"/>
              </a:rPr>
              <a:t>Cell/area zone: </a:t>
            </a:r>
            <a:r>
              <a:rPr lang="en-US" sz="2800" b="0" i="0" u="none" strike="noStrike" baseline="0" dirty="0">
                <a:solidFill>
                  <a:srgbClr val="231F20"/>
                </a:solidFill>
                <a:latin typeface="CiscoSerif-Regular"/>
              </a:rPr>
              <a:t>The cell/area zone is the machine area within a plant. There are typically multiple cell/area zones within a single plant. For example, in an electronics plant, a cell/area may be the assembly process area. The cell/area zone might consist of just a single controller and associated devices, or it could be many controllers on an large assembly line.</a:t>
            </a:r>
          </a:p>
          <a:p>
            <a:pPr marL="0" indent="0" algn="just">
              <a:buNone/>
            </a:pPr>
            <a:r>
              <a:rPr lang="en-US" sz="2800" b="0" i="0" u="none" strike="noStrike" baseline="0" dirty="0">
                <a:solidFill>
                  <a:srgbClr val="231F20"/>
                </a:solidFill>
                <a:latin typeface="CiscoSerif-Regular"/>
              </a:rPr>
              <a:t>This zone has essentially three levels of activity:</a:t>
            </a:r>
          </a:p>
          <a:p>
            <a:pPr algn="l"/>
            <a:r>
              <a:rPr lang="en-US" sz="2800" b="1" i="0" u="none" strike="noStrike" baseline="0" dirty="0">
                <a:solidFill>
                  <a:srgbClr val="231F20"/>
                </a:solidFill>
                <a:latin typeface="CiscoSerif-Bold"/>
              </a:rPr>
              <a:t>Level 0: Process: </a:t>
            </a:r>
            <a:r>
              <a:rPr lang="en-US" sz="2800" b="0" i="0" u="none" strike="noStrike" baseline="0" dirty="0">
                <a:solidFill>
                  <a:srgbClr val="231F20"/>
                </a:solidFill>
                <a:latin typeface="CiscoSerif-Regular"/>
              </a:rPr>
              <a:t>Level 0 is the “things” level in manufacturing IoT and consists of sensors and actuators involved in the manufacturing process. These IoT devices perform IACS functions, such as moving a manufacturing robot, spraying, driving a motor, and welding. These devices are in communication with the basic control devices in Level 1.</a:t>
            </a:r>
            <a:endParaRPr lang="en-US" dirty="0"/>
          </a:p>
        </p:txBody>
      </p:sp>
    </p:spTree>
    <p:extLst>
      <p:ext uri="{BB962C8B-B14F-4D97-AF65-F5344CB8AC3E}">
        <p14:creationId xmlns:p14="http://schemas.microsoft.com/office/powerpoint/2010/main" val="852501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4F5-703F-0945-039A-B3DD1F0116FD}"/>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Industrial Automation and Control Systems Reference Model</a:t>
            </a:r>
            <a:endParaRPr lang="en-US" dirty="0"/>
          </a:p>
        </p:txBody>
      </p:sp>
      <p:sp>
        <p:nvSpPr>
          <p:cNvPr id="3" name="Content Placeholder 2">
            <a:extLst>
              <a:ext uri="{FF2B5EF4-FFF2-40B4-BE49-F238E27FC236}">
                <a16:creationId xmlns:a16="http://schemas.microsoft.com/office/drawing/2014/main" id="{F1844E0D-243B-47C2-128E-BA933650A0AF}"/>
              </a:ext>
            </a:extLst>
          </p:cNvPr>
          <p:cNvSpPr>
            <a:spLocks noGrp="1"/>
          </p:cNvSpPr>
          <p:nvPr>
            <p:ph idx="1"/>
          </p:nvPr>
        </p:nvSpPr>
        <p:spPr/>
        <p:txBody>
          <a:bodyPr>
            <a:normAutofit fontScale="92500"/>
          </a:bodyPr>
          <a:lstStyle/>
          <a:p>
            <a:pPr algn="l"/>
            <a:r>
              <a:rPr lang="en-US" sz="2800" b="1" i="0" u="none" strike="noStrike" baseline="0" dirty="0">
                <a:solidFill>
                  <a:srgbClr val="231F20"/>
                </a:solidFill>
                <a:latin typeface="CiscoSerif-Bold"/>
              </a:rPr>
              <a:t>Level 1: Basic control: </a:t>
            </a:r>
            <a:r>
              <a:rPr lang="en-US" sz="2800" b="0" i="0" u="none" strike="noStrike" baseline="0" dirty="0">
                <a:solidFill>
                  <a:srgbClr val="231F20"/>
                </a:solidFill>
                <a:latin typeface="CiscoSerif-Regular"/>
              </a:rPr>
              <a:t>Level 1 is where the controllers that direct the manufacturing process live. These controllers interact with Level 0 IoT devices. In discrete manufacturing, a controller is usually a PLC, and in process manufacturing, it is known as a distributed control system (DCS).</a:t>
            </a:r>
          </a:p>
          <a:p>
            <a:pPr algn="l"/>
            <a:r>
              <a:rPr lang="en-US" sz="2800" b="1" i="0" u="none" strike="noStrike" baseline="0" dirty="0">
                <a:solidFill>
                  <a:srgbClr val="231F20"/>
                </a:solidFill>
                <a:latin typeface="CiscoSerif-Bold"/>
              </a:rPr>
              <a:t>Level 2: Area supervisory control: </a:t>
            </a:r>
            <a:r>
              <a:rPr lang="en-US" sz="2800" b="0" i="0" u="none" strike="noStrike" baseline="0" dirty="0">
                <a:solidFill>
                  <a:srgbClr val="231F20"/>
                </a:solidFill>
                <a:latin typeface="CiscoSerif-Regular"/>
              </a:rPr>
              <a:t>Level 2 includes functions within the cell/ area zone that require runtime supervision and operation. Some examples include HMIs, alarms, and control workstations</a:t>
            </a:r>
          </a:p>
          <a:p>
            <a:pPr algn="l"/>
            <a:r>
              <a:rPr lang="en-US" sz="2800" b="1" i="0" u="none" strike="noStrike" baseline="0" dirty="0">
                <a:solidFill>
                  <a:srgbClr val="231F20"/>
                </a:solidFill>
                <a:latin typeface="CiscoSerif-Bold"/>
              </a:rPr>
              <a:t>Level 3: Site level: </a:t>
            </a:r>
            <a:r>
              <a:rPr lang="en-US" sz="2800" b="0" i="0" u="none" strike="noStrike" baseline="0" dirty="0">
                <a:solidFill>
                  <a:srgbClr val="231F20"/>
                </a:solidFill>
                <a:latin typeface="CiscoSerif-Regular"/>
              </a:rPr>
              <a:t>The applications and functions at Level 3 include SCADA systems, file servers, control room workstations, scheduling systems, and reporting systems. Note that this level is not a subset of the cell/area zone but is part of the larger manufacturing zone.</a:t>
            </a:r>
            <a:endParaRPr lang="en-US" dirty="0"/>
          </a:p>
        </p:txBody>
      </p:sp>
    </p:spTree>
    <p:extLst>
      <p:ext uri="{BB962C8B-B14F-4D97-AF65-F5344CB8AC3E}">
        <p14:creationId xmlns:p14="http://schemas.microsoft.com/office/powerpoint/2010/main" val="1066147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4F5-703F-0945-039A-B3DD1F0116FD}"/>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Industrial Automation and Control Systems Reference Model</a:t>
            </a:r>
            <a:endParaRPr lang="en-US" dirty="0"/>
          </a:p>
        </p:txBody>
      </p:sp>
      <p:pic>
        <p:nvPicPr>
          <p:cNvPr id="7" name="Content Placeholder 6">
            <a:extLst>
              <a:ext uri="{FF2B5EF4-FFF2-40B4-BE49-F238E27FC236}">
                <a16:creationId xmlns:a16="http://schemas.microsoft.com/office/drawing/2014/main" id="{A5D10384-9B34-1F7C-87A0-735629591844}"/>
              </a:ext>
            </a:extLst>
          </p:cNvPr>
          <p:cNvPicPr>
            <a:picLocks noGrp="1" noChangeAspect="1"/>
          </p:cNvPicPr>
          <p:nvPr>
            <p:ph idx="1"/>
          </p:nvPr>
        </p:nvPicPr>
        <p:blipFill>
          <a:blip r:embed="rId2"/>
          <a:stretch>
            <a:fillRect/>
          </a:stretch>
        </p:blipFill>
        <p:spPr>
          <a:xfrm>
            <a:off x="1386348" y="1690688"/>
            <a:ext cx="9306233" cy="4802187"/>
          </a:xfrm>
        </p:spPr>
      </p:pic>
    </p:spTree>
    <p:extLst>
      <p:ext uri="{BB962C8B-B14F-4D97-AF65-F5344CB8AC3E}">
        <p14:creationId xmlns:p14="http://schemas.microsoft.com/office/powerpoint/2010/main" val="1425019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A4F5-703F-0945-039A-B3DD1F0116FD}"/>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Industrial Automation and Control Systems Reference Model</a:t>
            </a:r>
            <a:endParaRPr lang="en-US" dirty="0"/>
          </a:p>
        </p:txBody>
      </p:sp>
      <p:sp>
        <p:nvSpPr>
          <p:cNvPr id="4" name="Content Placeholder 3">
            <a:extLst>
              <a:ext uri="{FF2B5EF4-FFF2-40B4-BE49-F238E27FC236}">
                <a16:creationId xmlns:a16="http://schemas.microsoft.com/office/drawing/2014/main" id="{3C9981B5-E987-C94B-9002-6ECC23202537}"/>
              </a:ext>
            </a:extLst>
          </p:cNvPr>
          <p:cNvSpPr>
            <a:spLocks noGrp="1"/>
          </p:cNvSpPr>
          <p:nvPr>
            <p:ph idx="1"/>
          </p:nvPr>
        </p:nvSpPr>
        <p:spPr/>
        <p:txBody>
          <a:bodyPr>
            <a:normAutofit/>
          </a:bodyPr>
          <a:lstStyle/>
          <a:p>
            <a:pPr algn="l"/>
            <a:r>
              <a:rPr lang="en-US" sz="2800" b="1" i="0" u="none" strike="noStrike" baseline="0" dirty="0">
                <a:solidFill>
                  <a:srgbClr val="231F20"/>
                </a:solidFill>
                <a:latin typeface="CiscoSerif-Bold"/>
              </a:rPr>
              <a:t>Demilitarized zone (DMZ): </a:t>
            </a:r>
            <a:r>
              <a:rPr lang="en-US" sz="2800" b="0" i="0" u="none" strike="noStrike" baseline="0" dirty="0">
                <a:solidFill>
                  <a:srgbClr val="231F20"/>
                </a:solidFill>
                <a:latin typeface="CiscoSerif-Regular"/>
              </a:rPr>
              <a:t>The DMZ is the </a:t>
            </a:r>
            <a:r>
              <a:rPr lang="en-US" sz="2800" b="0" i="0" u="none" strike="noStrike" baseline="0" dirty="0" err="1">
                <a:solidFill>
                  <a:srgbClr val="231F20"/>
                </a:solidFill>
                <a:latin typeface="CiscoSerif-Regular"/>
              </a:rPr>
              <a:t>CPwE</a:t>
            </a:r>
            <a:r>
              <a:rPr lang="en-US" sz="2800" b="0" i="0" u="none" strike="noStrike" baseline="0" dirty="0">
                <a:solidFill>
                  <a:srgbClr val="231F20"/>
                </a:solidFill>
                <a:latin typeface="CiscoSerif-Regular"/>
              </a:rPr>
              <a:t> demarcation between the plant operational network and the traditional network. DMZ security is critical to plant operations as it protects the machines at the lower level from malicious activity that may occur in the traditional enterprise network.</a:t>
            </a:r>
          </a:p>
          <a:p>
            <a:pPr algn="l"/>
            <a:r>
              <a:rPr lang="en-US" sz="2800" b="1" i="0" u="none" strike="noStrike" baseline="0" dirty="0">
                <a:solidFill>
                  <a:srgbClr val="231F20"/>
                </a:solidFill>
                <a:latin typeface="CiscoSerif-Bold"/>
              </a:rPr>
              <a:t>Enterprise zone: </a:t>
            </a:r>
            <a:r>
              <a:rPr lang="en-US" sz="2800" b="0" i="0" u="none" strike="noStrike" baseline="0" dirty="0">
                <a:solidFill>
                  <a:srgbClr val="231F20"/>
                </a:solidFill>
                <a:latin typeface="CiscoSerif-Regular"/>
              </a:rPr>
              <a:t>Levels 4 and 5 in the enterprise zone relate to traditional IT/ enterprise networking functions, including file services, Internet connectivity, and email systems.</a:t>
            </a:r>
            <a:endParaRPr lang="en-US" dirty="0"/>
          </a:p>
        </p:txBody>
      </p:sp>
    </p:spTree>
    <p:extLst>
      <p:ext uri="{BB962C8B-B14F-4D97-AF65-F5344CB8AC3E}">
        <p14:creationId xmlns:p14="http://schemas.microsoft.com/office/powerpoint/2010/main" val="3849306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43DEA-AEC3-5C25-CC71-AD877F19A606}"/>
              </a:ext>
            </a:extLst>
          </p:cNvPr>
          <p:cNvSpPr>
            <a:spLocks noGrp="1"/>
          </p:cNvSpPr>
          <p:nvPr>
            <p:ph type="title"/>
          </p:nvPr>
        </p:nvSpPr>
        <p:spPr>
          <a:xfrm>
            <a:off x="838200" y="86698"/>
            <a:ext cx="10515600" cy="798206"/>
          </a:xfrm>
        </p:spPr>
        <p:txBody>
          <a:bodyPr>
            <a:normAutofit/>
          </a:bodyPr>
          <a:lstStyle/>
          <a:p>
            <a:r>
              <a:rPr lang="en-US" sz="3600" b="1" i="0" u="none" strike="noStrike" baseline="0" dirty="0">
                <a:solidFill>
                  <a:srgbClr val="231F20"/>
                </a:solidFill>
                <a:latin typeface="Cisco-Bold"/>
              </a:rPr>
              <a:t>The </a:t>
            </a:r>
            <a:r>
              <a:rPr lang="en-US" sz="3600" b="1" i="0" u="none" strike="noStrike" baseline="0" dirty="0" err="1">
                <a:solidFill>
                  <a:srgbClr val="231F20"/>
                </a:solidFill>
                <a:latin typeface="Cisco-Bold"/>
              </a:rPr>
              <a:t>CPwE</a:t>
            </a:r>
            <a:r>
              <a:rPr lang="en-US" sz="3600" b="1" i="0" u="none" strike="noStrike" baseline="0" dirty="0">
                <a:solidFill>
                  <a:srgbClr val="231F20"/>
                </a:solidFill>
                <a:latin typeface="Cisco-Bold"/>
              </a:rPr>
              <a:t> Reference Model</a:t>
            </a:r>
            <a:endParaRPr lang="en-US" sz="3600" dirty="0"/>
          </a:p>
        </p:txBody>
      </p:sp>
      <p:pic>
        <p:nvPicPr>
          <p:cNvPr id="5" name="Content Placeholder 4">
            <a:extLst>
              <a:ext uri="{FF2B5EF4-FFF2-40B4-BE49-F238E27FC236}">
                <a16:creationId xmlns:a16="http://schemas.microsoft.com/office/drawing/2014/main" id="{54361EB5-4D27-EC86-FFD2-7F0DCC05D792}"/>
              </a:ext>
            </a:extLst>
          </p:cNvPr>
          <p:cNvPicPr>
            <a:picLocks noGrp="1" noChangeAspect="1"/>
          </p:cNvPicPr>
          <p:nvPr>
            <p:ph idx="1"/>
          </p:nvPr>
        </p:nvPicPr>
        <p:blipFill>
          <a:blip r:embed="rId2"/>
          <a:stretch>
            <a:fillRect/>
          </a:stretch>
        </p:blipFill>
        <p:spPr>
          <a:xfrm>
            <a:off x="838200" y="884904"/>
            <a:ext cx="10252587" cy="5607971"/>
          </a:xfrm>
        </p:spPr>
      </p:pic>
    </p:spTree>
    <p:extLst>
      <p:ext uri="{BB962C8B-B14F-4D97-AF65-F5344CB8AC3E}">
        <p14:creationId xmlns:p14="http://schemas.microsoft.com/office/powerpoint/2010/main" val="2679445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F0F7C-5EAB-99D1-BD67-4801E938B168}"/>
              </a:ext>
            </a:extLst>
          </p:cNvPr>
          <p:cNvSpPr>
            <a:spLocks noGrp="1"/>
          </p:cNvSpPr>
          <p:nvPr>
            <p:ph type="title"/>
          </p:nvPr>
        </p:nvSpPr>
        <p:spPr/>
        <p:txBody>
          <a:bodyPr/>
          <a:lstStyle/>
          <a:p>
            <a:r>
              <a:rPr lang="en-US" sz="4400" b="1" i="0" u="none" strike="noStrike" baseline="0" dirty="0" err="1">
                <a:solidFill>
                  <a:srgbClr val="231F20"/>
                </a:solidFill>
                <a:latin typeface="Cisco-Bold"/>
              </a:rPr>
              <a:t>CPwE</a:t>
            </a:r>
            <a:r>
              <a:rPr lang="en-US" sz="4400" b="1" i="0" u="none" strike="noStrike" baseline="0" dirty="0">
                <a:solidFill>
                  <a:srgbClr val="231F20"/>
                </a:solidFill>
                <a:latin typeface="Cisco-Bold"/>
              </a:rPr>
              <a:t> Resilient Network Design</a:t>
            </a:r>
            <a:endParaRPr lang="en-US" dirty="0"/>
          </a:p>
        </p:txBody>
      </p:sp>
      <p:sp>
        <p:nvSpPr>
          <p:cNvPr id="3" name="Content Placeholder 2">
            <a:extLst>
              <a:ext uri="{FF2B5EF4-FFF2-40B4-BE49-F238E27FC236}">
                <a16:creationId xmlns:a16="http://schemas.microsoft.com/office/drawing/2014/main" id="{A62B7298-0FE1-469F-FB15-996F05CB9270}"/>
              </a:ext>
            </a:extLst>
          </p:cNvPr>
          <p:cNvSpPr>
            <a:spLocks noGrp="1"/>
          </p:cNvSpPr>
          <p:nvPr>
            <p:ph idx="1"/>
          </p:nvPr>
        </p:nvSpPr>
        <p:spPr>
          <a:xfrm>
            <a:off x="838200" y="1460090"/>
            <a:ext cx="10515600" cy="4716873"/>
          </a:xfrm>
        </p:spPr>
        <p:txBody>
          <a:bodyPr>
            <a:normAutofit fontScale="85000" lnSpcReduction="20000"/>
          </a:bodyPr>
          <a:lstStyle/>
          <a:p>
            <a:pPr algn="l"/>
            <a:r>
              <a:rPr lang="en-US" sz="2800" b="1" i="0" u="none" strike="noStrike" baseline="0" dirty="0">
                <a:solidFill>
                  <a:srgbClr val="231F20"/>
                </a:solidFill>
                <a:latin typeface="CiscoSerif-Bold"/>
              </a:rPr>
              <a:t>Availability: </a:t>
            </a:r>
            <a:r>
              <a:rPr lang="en-US" sz="2800" b="0" i="0" u="none" strike="noStrike" baseline="0" dirty="0">
                <a:solidFill>
                  <a:srgbClr val="231F20"/>
                </a:solidFill>
                <a:latin typeface="CiscoSerif-Regular"/>
              </a:rPr>
              <a:t>LAN topology design is critical in supporting IACS application uptime and business continuity. IACS applications have stringent requirements that must be considered for the LAN design, including network availability, performance, and distance between equipment. For critical operations where uptime is crucial, a fully redundant physical path in the IACS Ethernet network topology should be chosen.</a:t>
            </a:r>
          </a:p>
          <a:p>
            <a:pPr algn="l"/>
            <a:r>
              <a:rPr lang="en-US" sz="2800" b="1" i="0" u="none" strike="noStrike" baseline="0" dirty="0">
                <a:solidFill>
                  <a:srgbClr val="231F20"/>
                </a:solidFill>
                <a:latin typeface="CiscoSerif-Bold"/>
              </a:rPr>
              <a:t>Predictable performance: </a:t>
            </a:r>
            <a:r>
              <a:rPr lang="en-US" sz="2800" b="0" i="0" u="none" strike="noStrike" baseline="0" dirty="0">
                <a:solidFill>
                  <a:srgbClr val="231F20"/>
                </a:solidFill>
                <a:latin typeface="CiscoSerif-Regular"/>
              </a:rPr>
              <a:t>Meeting the predictable, reliable, and real-time traffic requirements of IACS applications is a requirement for successful </a:t>
            </a:r>
            <a:r>
              <a:rPr lang="en-US" sz="2800" b="0" i="0" u="none" strike="noStrike" baseline="0" dirty="0" err="1">
                <a:solidFill>
                  <a:srgbClr val="231F20"/>
                </a:solidFill>
                <a:latin typeface="CiscoSerif-Regular"/>
              </a:rPr>
              <a:t>CPwE</a:t>
            </a:r>
            <a:r>
              <a:rPr lang="en-US" sz="2800" b="0" i="0" u="none" strike="noStrike" baseline="0" dirty="0">
                <a:solidFill>
                  <a:srgbClr val="231F20"/>
                </a:solidFill>
                <a:latin typeface="CiscoSerif-Regular"/>
              </a:rPr>
              <a:t> deployments.</a:t>
            </a:r>
          </a:p>
          <a:p>
            <a:pPr algn="l"/>
            <a:r>
              <a:rPr lang="en-US" sz="2800" b="1" i="0" u="none" strike="noStrike" baseline="0" dirty="0">
                <a:solidFill>
                  <a:srgbClr val="231F20"/>
                </a:solidFill>
                <a:latin typeface="CiscoSerif-Bold"/>
              </a:rPr>
              <a:t>Fast network reconvergence: </a:t>
            </a:r>
            <a:r>
              <a:rPr lang="en-US" sz="2800" b="0" i="0" u="none" strike="noStrike" baseline="0" dirty="0">
                <a:solidFill>
                  <a:srgbClr val="231F20"/>
                </a:solidFill>
                <a:latin typeface="CiscoSerif-Regular"/>
              </a:rPr>
              <a:t>In the event of equipment or link failure, network restoration times need to be minimized so that other IACS devices are not impacted by the failure. Typical IACS application interruption tolerance limits are on the order of less than 100 </a:t>
            </a:r>
            <a:r>
              <a:rPr lang="en-US" sz="2800" b="0" i="0" u="none" strike="noStrike" baseline="0" dirty="0" err="1">
                <a:solidFill>
                  <a:srgbClr val="231F20"/>
                </a:solidFill>
                <a:latin typeface="CiscoSerif-Regular"/>
              </a:rPr>
              <a:t>ms</a:t>
            </a:r>
            <a:r>
              <a:rPr lang="en-US" sz="2800" b="0" i="0" u="none" strike="noStrike" baseline="0" dirty="0">
                <a:solidFill>
                  <a:srgbClr val="231F20"/>
                </a:solidFill>
                <a:latin typeface="CiscoSerif-Regular"/>
              </a:rPr>
              <a:t>, with minimal jitter.</a:t>
            </a:r>
          </a:p>
          <a:p>
            <a:pPr algn="l"/>
            <a:r>
              <a:rPr lang="en-US" sz="2800" b="1" i="0" u="none" strike="noStrike" baseline="0" dirty="0">
                <a:solidFill>
                  <a:srgbClr val="231F20"/>
                </a:solidFill>
                <a:latin typeface="CiscoSerif-Bold"/>
              </a:rPr>
              <a:t>Industrial protocol support: </a:t>
            </a:r>
            <a:r>
              <a:rPr lang="en-US" sz="2800" b="0" i="0" u="none" strike="noStrike" baseline="0" dirty="0" err="1">
                <a:solidFill>
                  <a:srgbClr val="231F20"/>
                </a:solidFill>
                <a:latin typeface="CiscoSerif-Regular"/>
              </a:rPr>
              <a:t>CPwE</a:t>
            </a:r>
            <a:r>
              <a:rPr lang="en-US" sz="2800" b="0" i="0" u="none" strike="noStrike" baseline="0" dirty="0">
                <a:solidFill>
                  <a:srgbClr val="231F20"/>
                </a:solidFill>
                <a:latin typeface="CiscoSerif-Regular"/>
              </a:rPr>
              <a:t> IACS devices and networking equipment need to support industrial application protocol requirements.</a:t>
            </a:r>
            <a:endParaRPr lang="en-US" dirty="0"/>
          </a:p>
        </p:txBody>
      </p:sp>
    </p:spTree>
    <p:extLst>
      <p:ext uri="{BB962C8B-B14F-4D97-AF65-F5344CB8AC3E}">
        <p14:creationId xmlns:p14="http://schemas.microsoft.com/office/powerpoint/2010/main" val="2440594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1EE1-14D2-DB9A-5EC7-FAA811CE0D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C5A51E-707B-9515-60D0-47CE098E4E66}"/>
              </a:ext>
            </a:extLst>
          </p:cNvPr>
          <p:cNvSpPr>
            <a:spLocks noGrp="1"/>
          </p:cNvSpPr>
          <p:nvPr>
            <p:ph idx="1"/>
          </p:nvPr>
        </p:nvSpPr>
        <p:spPr/>
        <p:txBody>
          <a:bodyPr>
            <a:normAutofit lnSpcReduction="10000"/>
          </a:bodyPr>
          <a:lstStyle/>
          <a:p>
            <a:r>
              <a:rPr lang="en-US" dirty="0"/>
              <a:t>The following are examples of communication patterns that require network resiliency:</a:t>
            </a:r>
          </a:p>
          <a:p>
            <a:pPr marL="0" indent="0">
              <a:buNone/>
            </a:pPr>
            <a:r>
              <a:rPr lang="en-US" dirty="0"/>
              <a:t>■ Controller to HMI</a:t>
            </a:r>
          </a:p>
          <a:p>
            <a:pPr marL="0" indent="0">
              <a:buNone/>
            </a:pPr>
            <a:r>
              <a:rPr lang="en-US" dirty="0"/>
              <a:t>■ Controller to controller</a:t>
            </a:r>
          </a:p>
          <a:p>
            <a:pPr marL="0" indent="0">
              <a:buNone/>
            </a:pPr>
            <a:r>
              <a:rPr lang="en-US" dirty="0"/>
              <a:t>■ Controller to input/output (I/O; the sensor and controller modules for machines)</a:t>
            </a:r>
          </a:p>
          <a:p>
            <a:pPr marL="0" indent="0">
              <a:buNone/>
            </a:pPr>
            <a:r>
              <a:rPr lang="en-US" dirty="0"/>
              <a:t>■ Controller to variable frequent drives (VFDs; adjustable electromechanical drives to control a motor)</a:t>
            </a:r>
          </a:p>
          <a:p>
            <a:pPr marL="0" indent="0">
              <a:buNone/>
            </a:pPr>
            <a:r>
              <a:rPr lang="en-US" dirty="0"/>
              <a:t>■ Controller to motor control centers (MCCs; used in factories to control a large number of motors from one central controller)</a:t>
            </a:r>
          </a:p>
        </p:txBody>
      </p:sp>
    </p:spTree>
    <p:extLst>
      <p:ext uri="{BB962C8B-B14F-4D97-AF65-F5344CB8AC3E}">
        <p14:creationId xmlns:p14="http://schemas.microsoft.com/office/powerpoint/2010/main" val="1360795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CFBAF-F708-AFB3-21A6-B038DCA583CC}"/>
              </a:ext>
            </a:extLst>
          </p:cNvPr>
          <p:cNvSpPr>
            <a:spLocks noGrp="1"/>
          </p:cNvSpPr>
          <p:nvPr>
            <p:ph type="title"/>
          </p:nvPr>
        </p:nvSpPr>
        <p:spPr/>
        <p:txBody>
          <a:bodyPr/>
          <a:lstStyle/>
          <a:p>
            <a:r>
              <a:rPr lang="en-US" dirty="0"/>
              <a:t>Resilient Ethernet Protocol (REP)</a:t>
            </a:r>
          </a:p>
        </p:txBody>
      </p:sp>
      <p:sp>
        <p:nvSpPr>
          <p:cNvPr id="7" name="Content Placeholder 6">
            <a:extLst>
              <a:ext uri="{FF2B5EF4-FFF2-40B4-BE49-F238E27FC236}">
                <a16:creationId xmlns:a16="http://schemas.microsoft.com/office/drawing/2014/main" id="{98F15F9A-0254-4C5D-8A5B-20AEEF3098A2}"/>
              </a:ext>
            </a:extLst>
          </p:cNvPr>
          <p:cNvSpPr>
            <a:spLocks noGrp="1"/>
          </p:cNvSpPr>
          <p:nvPr>
            <p:ph idx="1"/>
          </p:nvPr>
        </p:nvSpPr>
        <p:spPr>
          <a:xfrm>
            <a:off x="838200" y="1504335"/>
            <a:ext cx="10515600" cy="4988540"/>
          </a:xfrm>
        </p:spPr>
        <p:txBody>
          <a:bodyPr>
            <a:normAutofit/>
          </a:bodyPr>
          <a:lstStyle/>
          <a:p>
            <a:pPr algn="l"/>
            <a:r>
              <a:rPr lang="en-US" sz="2800" b="0" i="0" u="none" strike="noStrike" baseline="0" dirty="0">
                <a:solidFill>
                  <a:srgbClr val="231F20"/>
                </a:solidFill>
                <a:latin typeface="CiscoSerif-Regular"/>
              </a:rPr>
              <a:t>For each REP segment, one switch is designated as a master node that controls the overall ring. The master node requires three critical pieces of information:</a:t>
            </a:r>
          </a:p>
          <a:p>
            <a:pPr algn="l"/>
            <a:r>
              <a:rPr lang="en-US" sz="2800" b="0" i="0" u="none" strike="noStrike" baseline="0" dirty="0">
                <a:solidFill>
                  <a:srgbClr val="231F20"/>
                </a:solidFill>
                <a:latin typeface="CiscoSerif-Regular"/>
              </a:rPr>
              <a:t>Identification of the REP control VLAN, which allows the REP control messages to be communicated throughout the segment</a:t>
            </a:r>
          </a:p>
          <a:p>
            <a:pPr algn="l"/>
            <a:r>
              <a:rPr lang="en-US" sz="2800" b="0" i="0" u="none" strike="noStrike" baseline="0" dirty="0">
                <a:solidFill>
                  <a:srgbClr val="231F20"/>
                </a:solidFill>
                <a:latin typeface="CiscoSerif-Regular"/>
              </a:rPr>
              <a:t>The location of the edges of the REP segment</a:t>
            </a:r>
          </a:p>
          <a:p>
            <a:pPr algn="l"/>
            <a:r>
              <a:rPr lang="en-US" sz="2800" b="0" i="0" u="none" strike="noStrike" baseline="0" dirty="0">
                <a:solidFill>
                  <a:srgbClr val="231F20"/>
                </a:solidFill>
                <a:latin typeface="CiscoSerif-Regular"/>
              </a:rPr>
              <a:t>The preferred place to break the ring under normal conditions, which is called the “alternate port” (If none is configured, REP automatically selects the alternate port, making the decision nondeterministic.)</a:t>
            </a:r>
            <a:endParaRPr lang="en-US" dirty="0"/>
          </a:p>
        </p:txBody>
      </p:sp>
    </p:spTree>
    <p:extLst>
      <p:ext uri="{BB962C8B-B14F-4D97-AF65-F5344CB8AC3E}">
        <p14:creationId xmlns:p14="http://schemas.microsoft.com/office/powerpoint/2010/main" val="3922366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CFBAF-F708-AFB3-21A6-B038DCA583CC}"/>
              </a:ext>
            </a:extLst>
          </p:cNvPr>
          <p:cNvSpPr>
            <a:spLocks noGrp="1"/>
          </p:cNvSpPr>
          <p:nvPr>
            <p:ph type="title"/>
          </p:nvPr>
        </p:nvSpPr>
        <p:spPr/>
        <p:txBody>
          <a:bodyPr/>
          <a:lstStyle/>
          <a:p>
            <a:r>
              <a:rPr lang="en-US" dirty="0"/>
              <a:t>Resilient Ethernet Protocol (REP)</a:t>
            </a:r>
          </a:p>
        </p:txBody>
      </p:sp>
      <p:pic>
        <p:nvPicPr>
          <p:cNvPr id="5" name="Content Placeholder 4">
            <a:extLst>
              <a:ext uri="{FF2B5EF4-FFF2-40B4-BE49-F238E27FC236}">
                <a16:creationId xmlns:a16="http://schemas.microsoft.com/office/drawing/2014/main" id="{FB1C1561-4BF8-D2F4-E0A3-A1DBB745445C}"/>
              </a:ext>
            </a:extLst>
          </p:cNvPr>
          <p:cNvPicPr>
            <a:picLocks noGrp="1" noChangeAspect="1"/>
          </p:cNvPicPr>
          <p:nvPr>
            <p:ph idx="1"/>
          </p:nvPr>
        </p:nvPicPr>
        <p:blipFill>
          <a:blip r:embed="rId2"/>
          <a:stretch>
            <a:fillRect/>
          </a:stretch>
        </p:blipFill>
        <p:spPr>
          <a:xfrm>
            <a:off x="838200" y="1494159"/>
            <a:ext cx="7562487" cy="4714911"/>
          </a:xfrm>
        </p:spPr>
      </p:pic>
      <p:sp>
        <p:nvSpPr>
          <p:cNvPr id="3" name="TextBox 2">
            <a:extLst>
              <a:ext uri="{FF2B5EF4-FFF2-40B4-BE49-F238E27FC236}">
                <a16:creationId xmlns:a16="http://schemas.microsoft.com/office/drawing/2014/main" id="{40B0B0B2-D325-1AB8-2B45-E56A0D88CB26}"/>
              </a:ext>
            </a:extLst>
          </p:cNvPr>
          <p:cNvSpPr txBox="1"/>
          <p:nvPr/>
        </p:nvSpPr>
        <p:spPr>
          <a:xfrm>
            <a:off x="8812185" y="1390921"/>
            <a:ext cx="2883286" cy="2308324"/>
          </a:xfrm>
          <a:prstGeom prst="rect">
            <a:avLst/>
          </a:prstGeom>
          <a:noFill/>
        </p:spPr>
        <p:txBody>
          <a:bodyPr wrap="square" rtlCol="0">
            <a:spAutoFit/>
          </a:bodyPr>
          <a:lstStyle/>
          <a:p>
            <a:pPr algn="l"/>
            <a:r>
              <a:rPr lang="en-US" sz="1800" b="0" i="0" u="none" strike="noStrike" baseline="0" dirty="0">
                <a:solidFill>
                  <a:srgbClr val="231F20"/>
                </a:solidFill>
                <a:latin typeface="CiscoSerif-Regular"/>
              </a:rPr>
              <a:t>If any other port in the REP segment fails, the alternate port is signaled to change state into the forwarding state, repairing the broken Ethernet ring segment and</a:t>
            </a:r>
          </a:p>
          <a:p>
            <a:pPr algn="l"/>
            <a:r>
              <a:rPr lang="en-US" sz="1800" b="0" i="0" u="none" strike="noStrike" baseline="0" dirty="0">
                <a:solidFill>
                  <a:srgbClr val="231F20"/>
                </a:solidFill>
                <a:latin typeface="CiscoSerif-Regular"/>
              </a:rPr>
              <a:t>allowing communications to continue.</a:t>
            </a:r>
            <a:endParaRPr lang="en-US" dirty="0"/>
          </a:p>
        </p:txBody>
      </p:sp>
      <p:sp>
        <p:nvSpPr>
          <p:cNvPr id="4" name="TextBox 3">
            <a:extLst>
              <a:ext uri="{FF2B5EF4-FFF2-40B4-BE49-F238E27FC236}">
                <a16:creationId xmlns:a16="http://schemas.microsoft.com/office/drawing/2014/main" id="{58B17EE7-20C8-7CDC-6272-206F6BBC3741}"/>
              </a:ext>
            </a:extLst>
          </p:cNvPr>
          <p:cNvSpPr txBox="1"/>
          <p:nvPr/>
        </p:nvSpPr>
        <p:spPr>
          <a:xfrm>
            <a:off x="8812185" y="3699245"/>
            <a:ext cx="3178254" cy="2862322"/>
          </a:xfrm>
          <a:prstGeom prst="rect">
            <a:avLst/>
          </a:prstGeom>
          <a:noFill/>
        </p:spPr>
        <p:txBody>
          <a:bodyPr wrap="square" rtlCol="0">
            <a:spAutoFit/>
          </a:bodyPr>
          <a:lstStyle/>
          <a:p>
            <a:pPr algn="l"/>
            <a:r>
              <a:rPr lang="en-US" sz="1800" b="0" i="0" u="none" strike="noStrike" baseline="0" dirty="0">
                <a:solidFill>
                  <a:srgbClr val="231F20"/>
                </a:solidFill>
                <a:latin typeface="CiscoSerif-Regular"/>
              </a:rPr>
              <a:t>REP uses a loss of signal (LOS) detection mechanism to learn of adjacent neighbor failures on the segment. When a switch port detects a REP segment failure (such as a fiber break or a physical switch failure), notification messages indicating a link failure are sent to all the other REP switches.</a:t>
            </a:r>
            <a:endParaRPr lang="en-US" dirty="0"/>
          </a:p>
        </p:txBody>
      </p:sp>
    </p:spTree>
    <p:extLst>
      <p:ext uri="{BB962C8B-B14F-4D97-AF65-F5344CB8AC3E}">
        <p14:creationId xmlns:p14="http://schemas.microsoft.com/office/powerpoint/2010/main" val="3518833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6A38-DE3B-B670-ABCA-A90E588AD0A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8C1904D-F244-E9FA-37C6-6AD6688D5E6B}"/>
              </a:ext>
            </a:extLst>
          </p:cNvPr>
          <p:cNvPicPr>
            <a:picLocks noGrp="1" noChangeAspect="1"/>
          </p:cNvPicPr>
          <p:nvPr>
            <p:ph idx="1"/>
          </p:nvPr>
        </p:nvPicPr>
        <p:blipFill>
          <a:blip r:embed="rId2"/>
          <a:stretch>
            <a:fillRect/>
          </a:stretch>
        </p:blipFill>
        <p:spPr>
          <a:xfrm>
            <a:off x="1072348" y="1690687"/>
            <a:ext cx="8285229" cy="4606873"/>
          </a:xfrm>
        </p:spPr>
      </p:pic>
      <p:sp>
        <p:nvSpPr>
          <p:cNvPr id="6" name="TextBox 5">
            <a:extLst>
              <a:ext uri="{FF2B5EF4-FFF2-40B4-BE49-F238E27FC236}">
                <a16:creationId xmlns:a16="http://schemas.microsoft.com/office/drawing/2014/main" id="{A2AB77D0-7B78-812E-DB19-9E7398BD6570}"/>
              </a:ext>
            </a:extLst>
          </p:cNvPr>
          <p:cNvSpPr txBox="1"/>
          <p:nvPr/>
        </p:nvSpPr>
        <p:spPr>
          <a:xfrm>
            <a:off x="9357578" y="1991032"/>
            <a:ext cx="2411636" cy="3416320"/>
          </a:xfrm>
          <a:prstGeom prst="rect">
            <a:avLst/>
          </a:prstGeom>
          <a:noFill/>
        </p:spPr>
        <p:txBody>
          <a:bodyPr wrap="square" rtlCol="0">
            <a:spAutoFit/>
          </a:bodyPr>
          <a:lstStyle/>
          <a:p>
            <a:pPr algn="l"/>
            <a:r>
              <a:rPr lang="en-US" sz="1800" b="0" i="0" u="none" strike="noStrike" baseline="0" dirty="0">
                <a:solidFill>
                  <a:srgbClr val="231F20"/>
                </a:solidFill>
                <a:latin typeface="CiscoSerif-Regular"/>
              </a:rPr>
              <a:t>In addition to notifying the alternate port to change to a forwarding state, these notification messages signal that the MAC addresses in content addressable memory (CAM) of all switches must be flushed. In this manner, a new bridging path is formed.</a:t>
            </a:r>
            <a:endParaRPr lang="en-US" dirty="0"/>
          </a:p>
        </p:txBody>
      </p:sp>
    </p:spTree>
    <p:extLst>
      <p:ext uri="{BB962C8B-B14F-4D97-AF65-F5344CB8AC3E}">
        <p14:creationId xmlns:p14="http://schemas.microsoft.com/office/powerpoint/2010/main" val="1203704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1E70-3DA7-89BC-0830-C5379CA6DF42}"/>
              </a:ext>
            </a:extLst>
          </p:cNvPr>
          <p:cNvSpPr>
            <a:spLocks noGrp="1"/>
          </p:cNvSpPr>
          <p:nvPr>
            <p:ph type="title"/>
          </p:nvPr>
        </p:nvSpPr>
        <p:spPr>
          <a:xfrm>
            <a:off x="838200" y="365125"/>
            <a:ext cx="10515600" cy="696759"/>
          </a:xfrm>
        </p:spPr>
        <p:txBody>
          <a:bodyPr>
            <a:normAutofit/>
          </a:bodyPr>
          <a:lstStyle/>
          <a:p>
            <a:r>
              <a:rPr lang="en-US" sz="3200" b="0" i="0" u="none" strike="noStrike" baseline="0" dirty="0" err="1">
                <a:solidFill>
                  <a:srgbClr val="231F20"/>
                </a:solidFill>
                <a:latin typeface="Cisco-Regular"/>
              </a:rPr>
              <a:t>CPwE</a:t>
            </a:r>
            <a:r>
              <a:rPr lang="en-US" sz="3200" b="0" i="0" u="none" strike="noStrike" baseline="0" dirty="0">
                <a:solidFill>
                  <a:srgbClr val="231F20"/>
                </a:solidFill>
                <a:latin typeface="Cisco-Regular"/>
              </a:rPr>
              <a:t> Wireless Network Architecture</a:t>
            </a:r>
            <a:endParaRPr lang="en-US" sz="3200" dirty="0"/>
          </a:p>
        </p:txBody>
      </p:sp>
      <p:pic>
        <p:nvPicPr>
          <p:cNvPr id="5" name="Content Placeholder 4">
            <a:extLst>
              <a:ext uri="{FF2B5EF4-FFF2-40B4-BE49-F238E27FC236}">
                <a16:creationId xmlns:a16="http://schemas.microsoft.com/office/drawing/2014/main" id="{F25E7017-47FB-B376-226E-E3EBAFC54FA5}"/>
              </a:ext>
            </a:extLst>
          </p:cNvPr>
          <p:cNvPicPr>
            <a:picLocks noGrp="1" noChangeAspect="1"/>
          </p:cNvPicPr>
          <p:nvPr>
            <p:ph idx="1"/>
          </p:nvPr>
        </p:nvPicPr>
        <p:blipFill>
          <a:blip r:embed="rId2"/>
          <a:stretch>
            <a:fillRect/>
          </a:stretch>
        </p:blipFill>
        <p:spPr>
          <a:xfrm>
            <a:off x="2109019" y="929148"/>
            <a:ext cx="7846142" cy="5563727"/>
          </a:xfrm>
        </p:spPr>
      </p:pic>
    </p:spTree>
    <p:extLst>
      <p:ext uri="{BB962C8B-B14F-4D97-AF65-F5344CB8AC3E}">
        <p14:creationId xmlns:p14="http://schemas.microsoft.com/office/powerpoint/2010/main" val="1839907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1E70-3DA7-89BC-0830-C5379CA6DF42}"/>
              </a:ext>
            </a:extLst>
          </p:cNvPr>
          <p:cNvSpPr>
            <a:spLocks noGrp="1"/>
          </p:cNvSpPr>
          <p:nvPr>
            <p:ph type="title"/>
          </p:nvPr>
        </p:nvSpPr>
        <p:spPr>
          <a:xfrm>
            <a:off x="838200" y="365125"/>
            <a:ext cx="10515600" cy="696759"/>
          </a:xfrm>
        </p:spPr>
        <p:txBody>
          <a:bodyPr>
            <a:normAutofit/>
          </a:bodyPr>
          <a:lstStyle/>
          <a:p>
            <a:r>
              <a:rPr lang="en-US" sz="3200" b="0" i="0" u="none" strike="noStrike" baseline="0" dirty="0" err="1">
                <a:solidFill>
                  <a:srgbClr val="231F20"/>
                </a:solidFill>
                <a:latin typeface="Cisco-Regular"/>
              </a:rPr>
              <a:t>CPwE</a:t>
            </a:r>
            <a:r>
              <a:rPr lang="en-US" sz="3200" b="0" i="0" u="none" strike="noStrike" baseline="0" dirty="0">
                <a:solidFill>
                  <a:srgbClr val="231F20"/>
                </a:solidFill>
                <a:latin typeface="Cisco-Regular"/>
              </a:rPr>
              <a:t> Wireless Network Architecture</a:t>
            </a:r>
            <a:endParaRPr lang="en-US" sz="3200" dirty="0"/>
          </a:p>
        </p:txBody>
      </p:sp>
      <p:sp>
        <p:nvSpPr>
          <p:cNvPr id="4" name="Content Placeholder 3">
            <a:extLst>
              <a:ext uri="{FF2B5EF4-FFF2-40B4-BE49-F238E27FC236}">
                <a16:creationId xmlns:a16="http://schemas.microsoft.com/office/drawing/2014/main" id="{9BAE2F15-06B9-A7B5-203F-648C3220E384}"/>
              </a:ext>
            </a:extLst>
          </p:cNvPr>
          <p:cNvSpPr>
            <a:spLocks noGrp="1"/>
          </p:cNvSpPr>
          <p:nvPr>
            <p:ph idx="1"/>
          </p:nvPr>
        </p:nvSpPr>
        <p:spPr>
          <a:xfrm>
            <a:off x="838200" y="1061884"/>
            <a:ext cx="10515600" cy="5115079"/>
          </a:xfrm>
        </p:spPr>
        <p:txBody>
          <a:bodyPr>
            <a:normAutofit fontScale="92500" lnSpcReduction="20000"/>
          </a:bodyPr>
          <a:lstStyle/>
          <a:p>
            <a:pPr algn="l"/>
            <a:r>
              <a:rPr lang="en-US" sz="2800" b="1" i="0" u="none" strike="noStrike" baseline="0" dirty="0">
                <a:solidFill>
                  <a:srgbClr val="231F20"/>
                </a:solidFill>
                <a:latin typeface="CiscoSerif-Bold"/>
              </a:rPr>
              <a:t>Fixed-position devices: </a:t>
            </a:r>
            <a:r>
              <a:rPr lang="en-US" sz="2800" b="0" i="0" u="none" strike="noStrike" baseline="0" dirty="0">
                <a:solidFill>
                  <a:srgbClr val="231F20"/>
                </a:solidFill>
                <a:latin typeface="CiscoSerif-Regular"/>
              </a:rPr>
              <a:t>Fixed-position devices in the WLAN have a  permanent operational location and are also known as “static.” Fixed-position wireless is an alternative to a wired connection for hard-to-reach and remote locations where cabling is too expensive or impossible to install</a:t>
            </a:r>
          </a:p>
          <a:p>
            <a:pPr algn="l"/>
            <a:r>
              <a:rPr lang="en-US" sz="2800" b="1" i="0" u="none" strike="noStrike" baseline="0" dirty="0">
                <a:solidFill>
                  <a:srgbClr val="231F20"/>
                </a:solidFill>
                <a:latin typeface="CiscoSerif-Bold"/>
              </a:rPr>
              <a:t>Nomadic devices: </a:t>
            </a:r>
            <a:r>
              <a:rPr lang="en-US" sz="2800" b="0" i="0" u="none" strike="noStrike" baseline="0" dirty="0">
                <a:solidFill>
                  <a:srgbClr val="231F20"/>
                </a:solidFill>
                <a:latin typeface="CiscoSerif-Regular"/>
              </a:rPr>
              <a:t>Nomadic equipment stays in place while operating and then moves to a new location in the shutdown state. After relocation, a new wireless connection commonly needs to be established. Examples are process skids, storage tanks, reactors, and portable manufacturing equipment.</a:t>
            </a:r>
          </a:p>
          <a:p>
            <a:pPr algn="l"/>
            <a:r>
              <a:rPr lang="en-US" sz="2800" b="1" i="0" u="none" strike="noStrike" baseline="0" dirty="0">
                <a:solidFill>
                  <a:srgbClr val="231F20"/>
                </a:solidFill>
                <a:latin typeface="CiscoSerif-Bold"/>
              </a:rPr>
              <a:t>Operational relocation devices: </a:t>
            </a:r>
            <a:r>
              <a:rPr lang="en-US" sz="2800" b="0" i="0" u="none" strike="noStrike" baseline="0" dirty="0">
                <a:solidFill>
                  <a:srgbClr val="231F20"/>
                </a:solidFill>
                <a:latin typeface="CiscoSerif-Regular"/>
              </a:rPr>
              <a:t>Some mobile equipment changes position during an operation, while remaining in the same wireless coverage zone. Examples include rotary platforms and turntables, automated storage and retrieval systems (ASRS), assembly systems, overhead cranes, and similar machinery that uses wireless as a replacement for wired solutions, such as inductive rails and slip rings. These applications may require rapid changes in position and orientation of the wireless client relative to the AP within the coverage area.</a:t>
            </a:r>
            <a:endParaRPr lang="en-US" dirty="0"/>
          </a:p>
        </p:txBody>
      </p:sp>
    </p:spTree>
    <p:extLst>
      <p:ext uri="{BB962C8B-B14F-4D97-AF65-F5344CB8AC3E}">
        <p14:creationId xmlns:p14="http://schemas.microsoft.com/office/powerpoint/2010/main" val="1691451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E7F3-87DB-612D-787C-619B0D3711A6}"/>
              </a:ext>
            </a:extLst>
          </p:cNvPr>
          <p:cNvSpPr>
            <a:spLocks noGrp="1"/>
          </p:cNvSpPr>
          <p:nvPr>
            <p:ph type="title"/>
          </p:nvPr>
        </p:nvSpPr>
        <p:spPr/>
        <p:txBody>
          <a:bodyPr/>
          <a:lstStyle/>
          <a:p>
            <a:r>
              <a:rPr lang="en-US" sz="4400" b="0" i="0" u="none" strike="noStrike" baseline="0" dirty="0">
                <a:solidFill>
                  <a:srgbClr val="231F20"/>
                </a:solidFill>
                <a:latin typeface="Cisco-Regular"/>
              </a:rPr>
              <a:t>Real-Time Location System (RTLS)</a:t>
            </a:r>
            <a:endParaRPr lang="en-US" dirty="0"/>
          </a:p>
        </p:txBody>
      </p:sp>
      <p:sp>
        <p:nvSpPr>
          <p:cNvPr id="3" name="Content Placeholder 2">
            <a:extLst>
              <a:ext uri="{FF2B5EF4-FFF2-40B4-BE49-F238E27FC236}">
                <a16:creationId xmlns:a16="http://schemas.microsoft.com/office/drawing/2014/main" id="{D8CFB6BD-5552-7C63-9AD8-71DBA15C360B}"/>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Wi-Fi–based location tracking systems typically include active battery-powered Wi-Fi radio frequency identification (RFID) tags that are attached to machines, skids, vehicles, or other devices that have a measure of mobility within the plant.</a:t>
            </a:r>
          </a:p>
          <a:p>
            <a:pPr algn="l"/>
            <a:r>
              <a:rPr lang="en-US" sz="2800" b="0" i="0" u="none" strike="noStrike" baseline="0" dirty="0">
                <a:solidFill>
                  <a:srgbClr val="231F20"/>
                </a:solidFill>
                <a:latin typeface="CiscoSerif-Regular"/>
              </a:rPr>
              <a:t>A good example of RTLS in practice comes from one of the world’s leading airplane manufacturers. This manufacturer decided to equip all the safety equipment on its planes with RFID tags. When an aircraft goes through maintenance, one job is to inspect each piece of equipment and verify that it is accounted for. Without RFID tags, this job took on average 6.5 hours per plane. With RFID tags in place, the time dropped to 20 minutes per plane.</a:t>
            </a:r>
          </a:p>
          <a:p>
            <a:pPr algn="l"/>
            <a:r>
              <a:rPr lang="en-US" sz="2800" b="0" i="0" u="none" strike="noStrike" baseline="0" dirty="0">
                <a:solidFill>
                  <a:srgbClr val="231F20"/>
                </a:solidFill>
                <a:latin typeface="CiscoSerif-Regular"/>
              </a:rPr>
              <a:t>The company estimate its gain per year per factory at $100 million.</a:t>
            </a:r>
            <a:endParaRPr lang="en-US" dirty="0"/>
          </a:p>
        </p:txBody>
      </p:sp>
    </p:spTree>
    <p:extLst>
      <p:ext uri="{BB962C8B-B14F-4D97-AF65-F5344CB8AC3E}">
        <p14:creationId xmlns:p14="http://schemas.microsoft.com/office/powerpoint/2010/main" val="3992854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62A3-CE6C-60F7-AC99-475570C654C8}"/>
              </a:ext>
            </a:extLst>
          </p:cNvPr>
          <p:cNvSpPr>
            <a:spLocks noGrp="1"/>
          </p:cNvSpPr>
          <p:nvPr>
            <p:ph type="title"/>
          </p:nvPr>
        </p:nvSpPr>
        <p:spPr/>
        <p:txBody>
          <a:bodyPr/>
          <a:lstStyle/>
          <a:p>
            <a:r>
              <a:rPr lang="en-US" sz="4400" b="1" i="0" u="none" strike="noStrike" baseline="0" dirty="0">
                <a:solidFill>
                  <a:srgbClr val="231F20"/>
                </a:solidFill>
                <a:latin typeface="Cisco-Bold"/>
              </a:rPr>
              <a:t>Industrial Automation Control Protocols</a:t>
            </a:r>
            <a:endParaRPr lang="en-US" dirty="0"/>
          </a:p>
        </p:txBody>
      </p:sp>
      <p:sp>
        <p:nvSpPr>
          <p:cNvPr id="3" name="Content Placeholder 2">
            <a:extLst>
              <a:ext uri="{FF2B5EF4-FFF2-40B4-BE49-F238E27FC236}">
                <a16:creationId xmlns:a16="http://schemas.microsoft.com/office/drawing/2014/main" id="{FB7F62D7-F31D-64B5-052A-7C4F1309D272}"/>
              </a:ext>
            </a:extLst>
          </p:cNvPr>
          <p:cNvSpPr>
            <a:spLocks noGrp="1"/>
          </p:cNvSpPr>
          <p:nvPr>
            <p:ph idx="1"/>
          </p:nvPr>
        </p:nvSpPr>
        <p:spPr/>
        <p:txBody>
          <a:bodyPr/>
          <a:lstStyle/>
          <a:p>
            <a:pPr algn="l"/>
            <a:r>
              <a:rPr lang="en-US" sz="2800" b="0" i="0" u="none" strike="noStrike" baseline="0" dirty="0">
                <a:solidFill>
                  <a:srgbClr val="231F20"/>
                </a:solidFill>
                <a:latin typeface="CiscoSerif-Regular"/>
              </a:rPr>
              <a:t>EtherNet/IP adapts the Common Industrial Protocol (CIP) to standard Ethernet and TCP/IP technology.</a:t>
            </a:r>
          </a:p>
          <a:p>
            <a:pPr algn="l"/>
            <a:r>
              <a:rPr lang="en-US" sz="2800" b="0" i="0" u="none" strike="noStrike" baseline="0" dirty="0">
                <a:solidFill>
                  <a:srgbClr val="231F20"/>
                </a:solidFill>
                <a:latin typeface="CiscoSerif-Regular"/>
              </a:rPr>
              <a:t>REP is used as a resiliency mechanism between the industrial Ethernet switches (IESs) to pass CIP Class 1 (real-time Ethernet) and Class 3 (TCP) messages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1F20"/>
                </a:solidFill>
                <a:effectLst/>
                <a:uLnTx/>
                <a:uFillTx/>
                <a:latin typeface="CiscoSerif-Regular"/>
                <a:ea typeface="+mn-ea"/>
                <a:cs typeface="+mn-cs"/>
              </a:rPr>
              <a:t>EtherNet/IP also specifies a redundancy protocol known as Device Level Ring (DLR), which is used when the system requires continuous operation and is able to achieve high-speed reconvergence in the case of a ring break.</a:t>
            </a:r>
          </a:p>
          <a:p>
            <a:pPr algn="l"/>
            <a:endParaRPr lang="en-US" dirty="0"/>
          </a:p>
        </p:txBody>
      </p:sp>
    </p:spTree>
    <p:extLst>
      <p:ext uri="{BB962C8B-B14F-4D97-AF65-F5344CB8AC3E}">
        <p14:creationId xmlns:p14="http://schemas.microsoft.com/office/powerpoint/2010/main" val="4266263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AC90CB4-3F6F-65B4-F28F-2375D3AB95CC}"/>
              </a:ext>
            </a:extLst>
          </p:cNvPr>
          <p:cNvPicPr>
            <a:picLocks noGrp="1" noChangeAspect="1"/>
          </p:cNvPicPr>
          <p:nvPr>
            <p:ph idx="1"/>
          </p:nvPr>
        </p:nvPicPr>
        <p:blipFill>
          <a:blip r:embed="rId2"/>
          <a:stretch>
            <a:fillRect/>
          </a:stretch>
        </p:blipFill>
        <p:spPr>
          <a:xfrm>
            <a:off x="838200" y="365125"/>
            <a:ext cx="10637917" cy="5997215"/>
          </a:xfrm>
        </p:spPr>
      </p:pic>
      <p:sp>
        <p:nvSpPr>
          <p:cNvPr id="5" name="Title 4">
            <a:extLst>
              <a:ext uri="{FF2B5EF4-FFF2-40B4-BE49-F238E27FC236}">
                <a16:creationId xmlns:a16="http://schemas.microsoft.com/office/drawing/2014/main" id="{DCA928A4-20DE-C629-87B2-E5AA5C4324F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89566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CD7F-14F0-934D-6CC0-7B8A01632A6C}"/>
              </a:ext>
            </a:extLst>
          </p:cNvPr>
          <p:cNvSpPr>
            <a:spLocks noGrp="1"/>
          </p:cNvSpPr>
          <p:nvPr>
            <p:ph type="title"/>
          </p:nvPr>
        </p:nvSpPr>
        <p:spPr/>
        <p:txBody>
          <a:bodyPr/>
          <a:lstStyle/>
          <a:p>
            <a:r>
              <a:rPr lang="en-US" sz="4400" b="1" i="0" u="none" strike="noStrike" baseline="0" dirty="0">
                <a:solidFill>
                  <a:srgbClr val="231F20"/>
                </a:solidFill>
                <a:latin typeface="Cisco-Bold"/>
              </a:rPr>
              <a:t>PROFINET</a:t>
            </a:r>
            <a:endParaRPr lang="en-US" dirty="0"/>
          </a:p>
        </p:txBody>
      </p:sp>
      <p:sp>
        <p:nvSpPr>
          <p:cNvPr id="3" name="Content Placeholder 2">
            <a:extLst>
              <a:ext uri="{FF2B5EF4-FFF2-40B4-BE49-F238E27FC236}">
                <a16:creationId xmlns:a16="http://schemas.microsoft.com/office/drawing/2014/main" id="{1B551579-B871-724E-D478-5A98EE84D2A7}"/>
              </a:ext>
            </a:extLst>
          </p:cNvPr>
          <p:cNvSpPr>
            <a:spLocks noGrp="1"/>
          </p:cNvSpPr>
          <p:nvPr>
            <p:ph idx="1"/>
          </p:nvPr>
        </p:nvSpPr>
        <p:spPr>
          <a:xfrm>
            <a:off x="838200" y="1430594"/>
            <a:ext cx="10515600" cy="5062281"/>
          </a:xfrm>
        </p:spPr>
        <p:txBody>
          <a:bodyPr>
            <a:normAutofit fontScale="85000" lnSpcReduction="20000"/>
          </a:bodyPr>
          <a:lstStyle/>
          <a:p>
            <a:pPr algn="l"/>
            <a:r>
              <a:rPr lang="en-US" sz="2800" b="0" i="0" u="none" strike="noStrike" baseline="0" dirty="0">
                <a:solidFill>
                  <a:srgbClr val="231F20"/>
                </a:solidFill>
                <a:latin typeface="CiscoSerif-Regular"/>
              </a:rPr>
              <a:t>PROFINET (Process Field Net) is a widely used industrial technology for the exchange of data between controllers and devices.</a:t>
            </a:r>
          </a:p>
          <a:p>
            <a:pPr algn="l"/>
            <a:r>
              <a:rPr lang="en-US" sz="2800" b="0" i="0" u="none" strike="noStrike" baseline="0" dirty="0">
                <a:solidFill>
                  <a:srgbClr val="231F20"/>
                </a:solidFill>
                <a:latin typeface="CiscoSerif-Regular"/>
              </a:rPr>
              <a:t>exchanges messages in a deterministic manner over high-speed Ethernet links</a:t>
            </a:r>
          </a:p>
          <a:p>
            <a:pPr algn="l"/>
            <a:r>
              <a:rPr lang="en-US" sz="2800" b="0" i="0" u="none" strike="noStrike" baseline="0" dirty="0">
                <a:solidFill>
                  <a:srgbClr val="231F20"/>
                </a:solidFill>
                <a:latin typeface="CiscoSerif-Regular"/>
              </a:rPr>
              <a:t>PROFINET is able to send and receive data directly to the application layer, without having to wait for processing in the TCP/IP stack</a:t>
            </a:r>
          </a:p>
          <a:p>
            <a:pPr algn="l"/>
            <a:r>
              <a:rPr lang="en-US" sz="2800" b="0" i="0" u="none" strike="noStrike" baseline="0" dirty="0">
                <a:solidFill>
                  <a:srgbClr val="231F20"/>
                </a:solidFill>
                <a:latin typeface="CiscoSerif-Regular"/>
              </a:rPr>
              <a:t>PROFINET is fully compatible with standard IEEE 802.3 Ethernet, which means regular Ethernet devices can coexist with PROFINET I/O devices and controllers on the same segment</a:t>
            </a:r>
          </a:p>
          <a:p>
            <a:pPr algn="l"/>
            <a:r>
              <a:rPr lang="en-US" sz="2800" b="0" i="0" u="none" strike="noStrike" baseline="0" dirty="0">
                <a:solidFill>
                  <a:srgbClr val="231F20"/>
                </a:solidFill>
                <a:latin typeface="CiscoSerif-Regular"/>
              </a:rPr>
              <a:t>PROFINET also has some significant differences from standard Ethernet. For example, PROFINET is a deterministic protocol, which means frames are sent and received at specific times. This is especially important in discrete manufacturing, when a controller needs to send a message to a device to stop or change operation.</a:t>
            </a:r>
          </a:p>
          <a:p>
            <a:pPr algn="l"/>
            <a:r>
              <a:rPr lang="en-US" sz="2800" b="0" i="0" u="none" strike="noStrike" baseline="0" dirty="0">
                <a:solidFill>
                  <a:srgbClr val="231F20"/>
                </a:solidFill>
                <a:latin typeface="CiscoSerif-Regular"/>
              </a:rPr>
              <a:t>PROFINET networks are designed to support real-time PROFINET communications with minimal latency, while supporting network resiliency at the manufacturing plant floor.</a:t>
            </a:r>
            <a:endParaRPr lang="en-US" dirty="0"/>
          </a:p>
        </p:txBody>
      </p:sp>
    </p:spTree>
    <p:extLst>
      <p:ext uri="{BB962C8B-B14F-4D97-AF65-F5344CB8AC3E}">
        <p14:creationId xmlns:p14="http://schemas.microsoft.com/office/powerpoint/2010/main" val="3909087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CD7F-14F0-934D-6CC0-7B8A01632A6C}"/>
              </a:ext>
            </a:extLst>
          </p:cNvPr>
          <p:cNvSpPr>
            <a:spLocks noGrp="1"/>
          </p:cNvSpPr>
          <p:nvPr>
            <p:ph type="title"/>
          </p:nvPr>
        </p:nvSpPr>
        <p:spPr/>
        <p:txBody>
          <a:bodyPr/>
          <a:lstStyle/>
          <a:p>
            <a:r>
              <a:rPr lang="en-US" sz="4400" b="1" i="0" u="none" strike="noStrike" baseline="0" dirty="0">
                <a:solidFill>
                  <a:srgbClr val="231F20"/>
                </a:solidFill>
                <a:latin typeface="Cisco-Bold"/>
              </a:rPr>
              <a:t>PROFINET</a:t>
            </a:r>
            <a:endParaRPr lang="en-US" dirty="0"/>
          </a:p>
        </p:txBody>
      </p:sp>
      <p:sp>
        <p:nvSpPr>
          <p:cNvPr id="3" name="Content Placeholder 2">
            <a:extLst>
              <a:ext uri="{FF2B5EF4-FFF2-40B4-BE49-F238E27FC236}">
                <a16:creationId xmlns:a16="http://schemas.microsoft.com/office/drawing/2014/main" id="{1B551579-B871-724E-D478-5A98EE84D2A7}"/>
              </a:ext>
            </a:extLst>
          </p:cNvPr>
          <p:cNvSpPr>
            <a:spLocks noGrp="1"/>
          </p:cNvSpPr>
          <p:nvPr>
            <p:ph idx="1"/>
          </p:nvPr>
        </p:nvSpPr>
        <p:spPr>
          <a:xfrm>
            <a:off x="838200" y="1430594"/>
            <a:ext cx="10515600" cy="5062281"/>
          </a:xfrm>
        </p:spPr>
        <p:txBody>
          <a:bodyPr>
            <a:normAutofit fontScale="92500" lnSpcReduction="10000"/>
          </a:bodyPr>
          <a:lstStyle/>
          <a:p>
            <a:pPr algn="l"/>
            <a:r>
              <a:rPr lang="en-US" sz="2800" b="0" i="0" u="none" strike="noStrike" baseline="0" dirty="0">
                <a:solidFill>
                  <a:srgbClr val="231F20"/>
                </a:solidFill>
                <a:latin typeface="CiscoSerif-Regular"/>
              </a:rPr>
              <a:t>PROFINET architectures consist of the following:</a:t>
            </a:r>
          </a:p>
          <a:p>
            <a:pPr lvl="1"/>
            <a:r>
              <a:rPr lang="en-US" b="1" i="0" u="none" strike="noStrike" baseline="0" dirty="0">
                <a:solidFill>
                  <a:srgbClr val="231F20"/>
                </a:solidFill>
                <a:latin typeface="CiscoSerif-Bold"/>
              </a:rPr>
              <a:t>Industrial automation devices</a:t>
            </a:r>
            <a:r>
              <a:rPr lang="en-US" b="0" i="0" u="none" strike="noStrike" baseline="0" dirty="0">
                <a:solidFill>
                  <a:srgbClr val="231F20"/>
                </a:solidFill>
                <a:latin typeface="CiscoSerif-Regular"/>
              </a:rPr>
              <a:t>: These include robots, sensors, actuators, and drives.</a:t>
            </a:r>
          </a:p>
          <a:p>
            <a:pPr lvl="1"/>
            <a:r>
              <a:rPr lang="en-US" b="1" i="0" u="none" strike="noStrike" baseline="0" dirty="0">
                <a:solidFill>
                  <a:srgbClr val="231F20"/>
                </a:solidFill>
                <a:latin typeface="CiscoSerif-Bold"/>
              </a:rPr>
              <a:t>HMIs: </a:t>
            </a:r>
            <a:r>
              <a:rPr lang="en-US" b="0" i="0" u="none" strike="noStrike" baseline="0" dirty="0">
                <a:solidFill>
                  <a:srgbClr val="231F20"/>
                </a:solidFill>
                <a:latin typeface="CiscoSerif-Regular"/>
              </a:rPr>
              <a:t>HMIs provide visual status reports and control of the industrial automation devices.</a:t>
            </a:r>
          </a:p>
          <a:p>
            <a:pPr lvl="1"/>
            <a:r>
              <a:rPr lang="en-US" b="1" i="0" u="none" strike="noStrike" baseline="0" dirty="0">
                <a:solidFill>
                  <a:srgbClr val="231F20"/>
                </a:solidFill>
                <a:latin typeface="CiscoSerif-Bold"/>
              </a:rPr>
              <a:t>Controllers: </a:t>
            </a:r>
            <a:r>
              <a:rPr lang="en-US" b="0" i="0" u="none" strike="noStrike" baseline="0" dirty="0">
                <a:solidFill>
                  <a:srgbClr val="231F20"/>
                </a:solidFill>
                <a:latin typeface="CiscoSerif-Regular"/>
              </a:rPr>
              <a:t>Examples include PLCs and distributed I/O devices.</a:t>
            </a:r>
          </a:p>
          <a:p>
            <a:pPr marL="0" indent="0">
              <a:buNone/>
            </a:pPr>
            <a:r>
              <a:rPr lang="en-US" b="0" i="0" u="none" strike="noStrike" baseline="0" dirty="0">
                <a:solidFill>
                  <a:srgbClr val="231F20"/>
                </a:solidFill>
                <a:latin typeface="CiscoSerif-Regular"/>
              </a:rPr>
              <a:t>A well-designed PROFINET architecture provides the following operational benefits:</a:t>
            </a:r>
          </a:p>
          <a:p>
            <a:pPr algn="l"/>
            <a:r>
              <a:rPr lang="en-US" sz="2800" b="0" i="0" u="none" strike="noStrike" baseline="0" dirty="0">
                <a:solidFill>
                  <a:srgbClr val="231F20"/>
                </a:solidFill>
                <a:latin typeface="CiscoSerif-Regular"/>
              </a:rPr>
              <a:t>It </a:t>
            </a:r>
            <a:r>
              <a:rPr lang="en-US" sz="2800" b="1" i="0" u="none" strike="noStrike" baseline="0" dirty="0">
                <a:solidFill>
                  <a:srgbClr val="231F20"/>
                </a:solidFill>
                <a:latin typeface="CiscoSerif-Regular"/>
              </a:rPr>
              <a:t>reduces the risk of production downtime </a:t>
            </a:r>
            <a:r>
              <a:rPr lang="en-US" sz="2800" b="0" i="0" u="none" strike="noStrike" baseline="0" dirty="0">
                <a:solidFill>
                  <a:srgbClr val="231F20"/>
                </a:solidFill>
                <a:latin typeface="CiscoSerif-Regular"/>
              </a:rPr>
              <a:t>through the use of a resilient network architecture capable of network convergence</a:t>
            </a:r>
          </a:p>
          <a:p>
            <a:pPr algn="l"/>
            <a:r>
              <a:rPr lang="en-US" sz="2800" b="0" i="0" u="none" strike="noStrike" baseline="0" dirty="0">
                <a:solidFill>
                  <a:srgbClr val="231F20"/>
                </a:solidFill>
                <a:latin typeface="CiscoSerif-Regular"/>
              </a:rPr>
              <a:t>It </a:t>
            </a:r>
            <a:r>
              <a:rPr lang="en-US" sz="2800" b="1" i="0" u="none" strike="noStrike" baseline="0" dirty="0">
                <a:solidFill>
                  <a:srgbClr val="231F20"/>
                </a:solidFill>
                <a:latin typeface="CiscoSerif-Regular"/>
              </a:rPr>
              <a:t>improves plant uptime </a:t>
            </a:r>
            <a:r>
              <a:rPr lang="en-US" sz="2800" b="0" i="0" u="none" strike="noStrike" baseline="0" dirty="0">
                <a:solidFill>
                  <a:srgbClr val="231F20"/>
                </a:solidFill>
                <a:latin typeface="CiscoSerif-Regular"/>
              </a:rPr>
              <a:t>through validated reference architectures, with a focus on application availability</a:t>
            </a:r>
          </a:p>
          <a:p>
            <a:pPr algn="l"/>
            <a:r>
              <a:rPr lang="en-US" sz="2800" b="0" i="0" u="none" strike="noStrike" baseline="0" dirty="0">
                <a:solidFill>
                  <a:srgbClr val="231F20"/>
                </a:solidFill>
                <a:latin typeface="CiscoSerif-Regular"/>
              </a:rPr>
              <a:t>It </a:t>
            </a:r>
            <a:r>
              <a:rPr lang="en-US" sz="2800" b="1" i="0" u="none" strike="noStrike" baseline="0" dirty="0">
                <a:solidFill>
                  <a:srgbClr val="231F20"/>
                </a:solidFill>
                <a:latin typeface="CiscoSerif-Regular"/>
              </a:rPr>
              <a:t>enriches critical information access </a:t>
            </a:r>
            <a:r>
              <a:rPr lang="en-US" sz="2800" b="0" i="0" u="none" strike="noStrike" baseline="0" dirty="0">
                <a:solidFill>
                  <a:srgbClr val="231F20"/>
                </a:solidFill>
                <a:latin typeface="CiscoSerif-Regular"/>
              </a:rPr>
              <a:t>from machines and applications through better managed network resources.</a:t>
            </a:r>
          </a:p>
          <a:p>
            <a:pPr algn="l"/>
            <a:endParaRPr lang="en-US" b="0" i="0" u="none" strike="noStrike" baseline="0" dirty="0">
              <a:solidFill>
                <a:srgbClr val="231F20"/>
              </a:solidFill>
              <a:latin typeface="CiscoSerif-Regular"/>
            </a:endParaRPr>
          </a:p>
        </p:txBody>
      </p:sp>
    </p:spTree>
    <p:extLst>
      <p:ext uri="{BB962C8B-B14F-4D97-AF65-F5344CB8AC3E}">
        <p14:creationId xmlns:p14="http://schemas.microsoft.com/office/powerpoint/2010/main" val="1682624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42666-6BBE-9875-CFC6-ADEC3538D218}"/>
              </a:ext>
            </a:extLst>
          </p:cNvPr>
          <p:cNvSpPr>
            <a:spLocks noGrp="1"/>
          </p:cNvSpPr>
          <p:nvPr>
            <p:ph type="title"/>
          </p:nvPr>
        </p:nvSpPr>
        <p:spPr/>
        <p:txBody>
          <a:bodyPr/>
          <a:lstStyle/>
          <a:p>
            <a:r>
              <a:rPr lang="en-US" sz="4400" b="1" i="0" u="none" strike="noStrike" baseline="0" dirty="0">
                <a:solidFill>
                  <a:srgbClr val="231F20"/>
                </a:solidFill>
                <a:latin typeface="Cisco-Bold"/>
              </a:rPr>
              <a:t>Media Redundancy Protocol (MRP)</a:t>
            </a:r>
            <a:endParaRPr lang="en-US" dirty="0"/>
          </a:p>
        </p:txBody>
      </p:sp>
      <p:sp>
        <p:nvSpPr>
          <p:cNvPr id="3" name="Content Placeholder 2">
            <a:extLst>
              <a:ext uri="{FF2B5EF4-FFF2-40B4-BE49-F238E27FC236}">
                <a16:creationId xmlns:a16="http://schemas.microsoft.com/office/drawing/2014/main" id="{BE0E1A47-2959-1482-D49D-771E8BF46CA3}"/>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Determinism and network performance are key requirements for PROFINET stability in the cell/area zone. Determinism in industrial automation ensures that Ethernet frames are sent and arrive when required</a:t>
            </a:r>
          </a:p>
          <a:p>
            <a:pPr algn="l"/>
            <a:r>
              <a:rPr lang="en-US" sz="2800" b="0" i="0" u="none" strike="noStrike" baseline="0" dirty="0">
                <a:solidFill>
                  <a:srgbClr val="231F20"/>
                </a:solidFill>
                <a:latin typeface="CiscoSerif-Regular"/>
              </a:rPr>
              <a:t>PROFINET device is responsible for scheduling and transmitting the Ethernet frame, the network’s main impact on a system’s determinism is based on the following performance characteristics:</a:t>
            </a:r>
          </a:p>
          <a:p>
            <a:pPr lvl="1"/>
            <a:r>
              <a:rPr lang="en-US" b="1" i="0" u="none" strike="noStrike" baseline="0" dirty="0">
                <a:solidFill>
                  <a:srgbClr val="231F20"/>
                </a:solidFill>
                <a:latin typeface="CiscoSerif-Bold"/>
              </a:rPr>
              <a:t>Latency: </a:t>
            </a:r>
            <a:r>
              <a:rPr lang="en-US" b="0" i="0" u="none" strike="noStrike" baseline="0" dirty="0">
                <a:solidFill>
                  <a:srgbClr val="231F20"/>
                </a:solidFill>
                <a:latin typeface="CiscoSerif-Regular"/>
              </a:rPr>
              <a:t>The average amount of time a message takes to be transmitted and processed from originating node to destination node</a:t>
            </a:r>
          </a:p>
          <a:p>
            <a:pPr lvl="1"/>
            <a:r>
              <a:rPr lang="en-US" b="1" i="0" u="none" strike="noStrike" baseline="0" dirty="0">
                <a:solidFill>
                  <a:srgbClr val="231F20"/>
                </a:solidFill>
                <a:latin typeface="CiscoSerif-Bold"/>
              </a:rPr>
              <a:t>Jitter: </a:t>
            </a:r>
            <a:r>
              <a:rPr lang="en-US" b="0" i="0" u="none" strike="noStrike" baseline="0" dirty="0">
                <a:solidFill>
                  <a:srgbClr val="231F20"/>
                </a:solidFill>
                <a:latin typeface="CiscoSerif-Regular"/>
              </a:rPr>
              <a:t>The amount of variance in the latency</a:t>
            </a:r>
          </a:p>
          <a:p>
            <a:pPr lvl="1"/>
            <a:r>
              <a:rPr lang="en-US" b="1" i="0" u="none" strike="noStrike" baseline="0" dirty="0">
                <a:solidFill>
                  <a:srgbClr val="231F20"/>
                </a:solidFill>
                <a:latin typeface="CiscoSerif-Bold"/>
              </a:rPr>
              <a:t>Packet Loss: </a:t>
            </a:r>
            <a:r>
              <a:rPr lang="en-US" b="0" i="0" u="none" strike="noStrike" baseline="0" dirty="0">
                <a:solidFill>
                  <a:srgbClr val="231F20"/>
                </a:solidFill>
                <a:latin typeface="CiscoSerif-Regular"/>
              </a:rPr>
              <a:t>The number of packets, usually expressed as a percentage, lost in a transmission from one device to another</a:t>
            </a:r>
          </a:p>
          <a:p>
            <a:r>
              <a:rPr lang="en-US" dirty="0">
                <a:solidFill>
                  <a:srgbClr val="231F20"/>
                </a:solidFill>
                <a:latin typeface="CiscoSerif-Regular"/>
              </a:rPr>
              <a:t>Industrial automation networks need to have low levels of latency and jitter, and they need to support reliable data transmission for real-time applications</a:t>
            </a:r>
          </a:p>
          <a:p>
            <a:pPr lvl="1"/>
            <a:endParaRPr lang="en-US" b="0" i="0" u="none" strike="noStrike" baseline="0" dirty="0">
              <a:solidFill>
                <a:srgbClr val="231F20"/>
              </a:solidFill>
              <a:latin typeface="CiscoSerif-Regular"/>
            </a:endParaRPr>
          </a:p>
        </p:txBody>
      </p:sp>
    </p:spTree>
    <p:extLst>
      <p:ext uri="{BB962C8B-B14F-4D97-AF65-F5344CB8AC3E}">
        <p14:creationId xmlns:p14="http://schemas.microsoft.com/office/powerpoint/2010/main" val="1869990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AF78-E73B-CE30-351F-BC0C390B26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F09006-9BC0-D4AC-F79F-38D6C3871D70}"/>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Industrial automation networks must adhere to the following requirements for real-time applications:</a:t>
            </a:r>
          </a:p>
          <a:p>
            <a:pPr algn="l"/>
            <a:r>
              <a:rPr lang="en-US" sz="2800" b="1" i="0" u="none" strike="noStrike" baseline="0" dirty="0">
                <a:solidFill>
                  <a:srgbClr val="231F20"/>
                </a:solidFill>
                <a:latin typeface="CiscoSerif-Bold"/>
              </a:rPr>
              <a:t>Machine and process cycle times: </a:t>
            </a:r>
            <a:r>
              <a:rPr lang="en-US" sz="2800" b="0" i="0" u="none" strike="noStrike" baseline="0" dirty="0">
                <a:solidFill>
                  <a:srgbClr val="231F20"/>
                </a:solidFill>
                <a:latin typeface="CiscoSerif-Regular"/>
              </a:rPr>
              <a:t>This includes the frequency with which the industrial automation application moves from one operation to the next.</a:t>
            </a:r>
          </a:p>
          <a:p>
            <a:pPr algn="l"/>
            <a:r>
              <a:rPr lang="en-US" sz="2800" b="1" i="0" u="none" strike="noStrike" baseline="0" dirty="0">
                <a:solidFill>
                  <a:srgbClr val="231F20"/>
                </a:solidFill>
                <a:latin typeface="CiscoSerif-Bold"/>
              </a:rPr>
              <a:t>Request packet interval (RPI) or I/O update time: </a:t>
            </a:r>
            <a:r>
              <a:rPr lang="en-US" sz="2800" b="0" i="0" u="none" strike="noStrike" baseline="0" dirty="0">
                <a:solidFill>
                  <a:srgbClr val="231F20"/>
                </a:solidFill>
                <a:latin typeface="CiscoSerif-Regular"/>
              </a:rPr>
              <a:t>This is the frequency at which input and outputs are sent and received.</a:t>
            </a:r>
          </a:p>
          <a:p>
            <a:pPr algn="l"/>
            <a:r>
              <a:rPr lang="en-US" sz="2800" b="1" i="0" u="none" strike="noStrike" baseline="0" dirty="0">
                <a:solidFill>
                  <a:srgbClr val="231F20"/>
                </a:solidFill>
                <a:latin typeface="CiscoSerif-Bold"/>
              </a:rPr>
              <a:t>Packet-loss tolerance: </a:t>
            </a:r>
            <a:r>
              <a:rPr lang="en-US" sz="2800" b="0" i="0" u="none" strike="noStrike" baseline="0" dirty="0">
                <a:solidFill>
                  <a:srgbClr val="231F20"/>
                </a:solidFill>
                <a:latin typeface="CiscoSerif-Regular"/>
              </a:rPr>
              <a:t>This is the number of consecutive packet intervals lost before an application generates errors or fails into a safe state.</a:t>
            </a:r>
            <a:endParaRPr lang="en-US" dirty="0"/>
          </a:p>
        </p:txBody>
      </p:sp>
    </p:spTree>
    <p:extLst>
      <p:ext uri="{BB962C8B-B14F-4D97-AF65-F5344CB8AC3E}">
        <p14:creationId xmlns:p14="http://schemas.microsoft.com/office/powerpoint/2010/main" val="1361471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7E72-31AE-DEB6-D2CC-F24B3555B3D7}"/>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Media Redundancy Protocol (MRP)</a:t>
            </a:r>
            <a:endParaRPr lang="en-US" dirty="0"/>
          </a:p>
        </p:txBody>
      </p:sp>
      <p:sp>
        <p:nvSpPr>
          <p:cNvPr id="3" name="Content Placeholder 2">
            <a:extLst>
              <a:ext uri="{FF2B5EF4-FFF2-40B4-BE49-F238E27FC236}">
                <a16:creationId xmlns:a16="http://schemas.microsoft.com/office/drawing/2014/main" id="{112A3872-325F-730F-9D34-CA8B578EFD02}"/>
              </a:ext>
            </a:extLst>
          </p:cNvPr>
          <p:cNvSpPr>
            <a:spLocks noGrp="1"/>
          </p:cNvSpPr>
          <p:nvPr>
            <p:ph idx="1"/>
          </p:nvPr>
        </p:nvSpPr>
        <p:spPr/>
        <p:txBody>
          <a:bodyPr/>
          <a:lstStyle/>
          <a:p>
            <a:pPr algn="l"/>
            <a:r>
              <a:rPr lang="en-US" sz="2800" b="0" i="0" u="none" strike="noStrike" baseline="0" dirty="0">
                <a:solidFill>
                  <a:srgbClr val="231F20"/>
                </a:solidFill>
                <a:latin typeface="CiscoSerif-Regular"/>
              </a:rPr>
              <a:t>PROFINET supports a ring resiliency protocol known as Media Redundancy Protocol (MRP).</a:t>
            </a:r>
          </a:p>
          <a:p>
            <a:pPr algn="l"/>
            <a:r>
              <a:rPr lang="en-US" sz="2800" b="0" i="0" u="none" strike="noStrike" baseline="0" dirty="0">
                <a:solidFill>
                  <a:srgbClr val="231F20"/>
                </a:solidFill>
                <a:latin typeface="CiscoSerif-Regular"/>
              </a:rPr>
              <a:t>MRP is an industry protocol defined in the IEC 62439-2 standard</a:t>
            </a:r>
          </a:p>
          <a:p>
            <a:pPr algn="l"/>
            <a:r>
              <a:rPr lang="en-US" sz="2800" b="0" i="0" u="none" strike="noStrike" baseline="0" dirty="0">
                <a:solidFill>
                  <a:srgbClr val="231F20"/>
                </a:solidFill>
                <a:latin typeface="CiscoSerif-Regular"/>
              </a:rPr>
              <a:t>MRP allows rings of industrial Ethernet switches to overcome a single segment failure with recovery times similar to those of REP</a:t>
            </a:r>
          </a:p>
          <a:p>
            <a:pPr algn="l"/>
            <a:r>
              <a:rPr lang="en-US" sz="2800" b="0" i="0" u="none" strike="noStrike" baseline="0" dirty="0">
                <a:solidFill>
                  <a:srgbClr val="231F20"/>
                </a:solidFill>
                <a:latin typeface="CiscoSerif-Regular"/>
              </a:rPr>
              <a:t>MRP is suitable for industrial Ethernet applications and is natively supported in PROFINET.</a:t>
            </a:r>
          </a:p>
          <a:p>
            <a:pPr algn="l"/>
            <a:r>
              <a:rPr lang="en-US" sz="2800" b="0" i="0" u="none" strike="noStrike" baseline="0" dirty="0">
                <a:solidFill>
                  <a:srgbClr val="231F20"/>
                </a:solidFill>
                <a:latin typeface="CiscoSerif-Regular"/>
              </a:rPr>
              <a:t>PROFINET-compliant industrial Ethernet switches support two roles in an MRP ring.</a:t>
            </a:r>
            <a:endParaRPr lang="en-US" dirty="0"/>
          </a:p>
        </p:txBody>
      </p:sp>
    </p:spTree>
    <p:extLst>
      <p:ext uri="{BB962C8B-B14F-4D97-AF65-F5344CB8AC3E}">
        <p14:creationId xmlns:p14="http://schemas.microsoft.com/office/powerpoint/2010/main" val="268429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7E72-31AE-DEB6-D2CC-F24B3555B3D7}"/>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Media Redundancy Protocol (MRP)</a:t>
            </a:r>
            <a:endParaRPr lang="en-US" dirty="0"/>
          </a:p>
        </p:txBody>
      </p:sp>
      <p:sp>
        <p:nvSpPr>
          <p:cNvPr id="3" name="Content Placeholder 2">
            <a:extLst>
              <a:ext uri="{FF2B5EF4-FFF2-40B4-BE49-F238E27FC236}">
                <a16:creationId xmlns:a16="http://schemas.microsoft.com/office/drawing/2014/main" id="{112A3872-325F-730F-9D34-CA8B578EFD02}"/>
              </a:ext>
            </a:extLst>
          </p:cNvPr>
          <p:cNvSpPr>
            <a:spLocks noGrp="1"/>
          </p:cNvSpPr>
          <p:nvPr>
            <p:ph idx="1"/>
          </p:nvPr>
        </p:nvSpPr>
        <p:spPr>
          <a:xfrm>
            <a:off x="838200" y="1504335"/>
            <a:ext cx="10515600" cy="4672628"/>
          </a:xfrm>
        </p:spPr>
        <p:txBody>
          <a:bodyPr>
            <a:normAutofit fontScale="85000" lnSpcReduction="20000"/>
          </a:bodyPr>
          <a:lstStyle/>
          <a:p>
            <a:pPr algn="l"/>
            <a:r>
              <a:rPr lang="en-US" sz="2800" b="0" i="0" u="none" strike="noStrike" baseline="0" dirty="0">
                <a:solidFill>
                  <a:srgbClr val="231F20"/>
                </a:solidFill>
                <a:latin typeface="CiscoSerif-Regular"/>
              </a:rPr>
              <a:t>In a ring topology, only one switch or industrial automation device can act as a media redundancy manager (MRM), and all other devices act as media redundancy clients (MRCs)</a:t>
            </a:r>
          </a:p>
          <a:p>
            <a:pPr algn="l"/>
            <a:r>
              <a:rPr lang="en-US" sz="2800" b="0" i="0" u="none" strike="noStrike" baseline="0" dirty="0">
                <a:solidFill>
                  <a:srgbClr val="231F20"/>
                </a:solidFill>
                <a:latin typeface="CiscoSerif-Regular"/>
              </a:rPr>
              <a:t>The purpose of the MRM is to keep the ring loop free and provide redundancy when failure happens.</a:t>
            </a:r>
          </a:p>
          <a:p>
            <a:pPr algn="l"/>
            <a:r>
              <a:rPr lang="en-US" sz="2800" b="0" i="0" u="none" strike="noStrike" baseline="0" dirty="0">
                <a:solidFill>
                  <a:srgbClr val="231F20"/>
                </a:solidFill>
                <a:latin typeface="CiscoSerif-Regular"/>
              </a:rPr>
              <a:t>The MRM does this by sending control packets or test frames from one ring port and receiving them on its other ring port.</a:t>
            </a:r>
          </a:p>
          <a:p>
            <a:pPr algn="l"/>
            <a:r>
              <a:rPr lang="en-US" sz="2800" b="0" i="0" u="none" strike="noStrike" baseline="0" dirty="0">
                <a:solidFill>
                  <a:srgbClr val="231F20"/>
                </a:solidFill>
                <a:latin typeface="CiscoSerif-Regular"/>
              </a:rPr>
              <a:t>During normal operation, the control packets are received, and the MRM keeps a port blocked to prevent a loop</a:t>
            </a:r>
          </a:p>
          <a:p>
            <a:pPr algn="l"/>
            <a:r>
              <a:rPr lang="en-US" sz="2800" b="0" i="0" u="none" strike="noStrike" baseline="0" dirty="0">
                <a:solidFill>
                  <a:srgbClr val="231F20"/>
                </a:solidFill>
                <a:latin typeface="CiscoSerif-Regular"/>
              </a:rPr>
              <a:t>If the MRM does not receive its own control packet, this means the loop is not intact, and a network failure has occurred. The MRM informs the MRCs about the network failure</a:t>
            </a:r>
          </a:p>
          <a:p>
            <a:pPr algn="l"/>
            <a:r>
              <a:rPr lang="en-US" sz="2800" b="0" i="0" u="none" strike="noStrike" baseline="0" dirty="0">
                <a:solidFill>
                  <a:srgbClr val="231F20"/>
                </a:solidFill>
                <a:latin typeface="CiscoSerif-Regular"/>
              </a:rPr>
              <a:t>It unblocks its port and starts forwarding to provide connectivity until the network failure is resolved.</a:t>
            </a:r>
          </a:p>
          <a:p>
            <a:pPr algn="l"/>
            <a:endParaRPr lang="en-US" dirty="0"/>
          </a:p>
        </p:txBody>
      </p:sp>
    </p:spTree>
    <p:extLst>
      <p:ext uri="{BB962C8B-B14F-4D97-AF65-F5344CB8AC3E}">
        <p14:creationId xmlns:p14="http://schemas.microsoft.com/office/powerpoint/2010/main" val="3074106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BB59D-1A7E-B8E0-718E-4A4DEE3BB356}"/>
              </a:ext>
            </a:extLst>
          </p:cNvPr>
          <p:cNvSpPr>
            <a:spLocks noGrp="1"/>
          </p:cNvSpPr>
          <p:nvPr>
            <p:ph type="title"/>
          </p:nvPr>
        </p:nvSpPr>
        <p:spPr/>
        <p:txBody>
          <a:bodyPr/>
          <a:lstStyle/>
          <a:p>
            <a:r>
              <a:rPr lang="en-US" sz="4400" b="1" i="0" u="none" strike="noStrike" baseline="0" dirty="0">
                <a:solidFill>
                  <a:srgbClr val="231F20"/>
                </a:solidFill>
                <a:latin typeface="Cisco-Bold"/>
              </a:rPr>
              <a:t>The PROFINET Architecture</a:t>
            </a:r>
            <a:endParaRPr lang="en-US" dirty="0"/>
          </a:p>
        </p:txBody>
      </p:sp>
      <p:pic>
        <p:nvPicPr>
          <p:cNvPr id="5" name="Content Placeholder 4">
            <a:extLst>
              <a:ext uri="{FF2B5EF4-FFF2-40B4-BE49-F238E27FC236}">
                <a16:creationId xmlns:a16="http://schemas.microsoft.com/office/drawing/2014/main" id="{1D45421D-B829-6F63-214B-183D74BDD2F4}"/>
              </a:ext>
            </a:extLst>
          </p:cNvPr>
          <p:cNvPicPr>
            <a:picLocks noGrp="1" noChangeAspect="1"/>
          </p:cNvPicPr>
          <p:nvPr>
            <p:ph idx="1"/>
          </p:nvPr>
        </p:nvPicPr>
        <p:blipFill>
          <a:blip r:embed="rId2"/>
          <a:stretch>
            <a:fillRect/>
          </a:stretch>
        </p:blipFill>
        <p:spPr>
          <a:xfrm>
            <a:off x="838200" y="1578077"/>
            <a:ext cx="10765289" cy="4914798"/>
          </a:xfrm>
        </p:spPr>
      </p:pic>
    </p:spTree>
    <p:extLst>
      <p:ext uri="{BB962C8B-B14F-4D97-AF65-F5344CB8AC3E}">
        <p14:creationId xmlns:p14="http://schemas.microsoft.com/office/powerpoint/2010/main" val="4010498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A73C-7D2C-C026-DB2B-F6B4D0F346E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9DAB010-6891-C07D-798A-56D121E693D8}"/>
              </a:ext>
            </a:extLst>
          </p:cNvPr>
          <p:cNvPicPr>
            <a:picLocks noGrp="1" noChangeAspect="1"/>
          </p:cNvPicPr>
          <p:nvPr>
            <p:ph idx="1"/>
          </p:nvPr>
        </p:nvPicPr>
        <p:blipFill>
          <a:blip r:embed="rId2"/>
          <a:stretch>
            <a:fillRect/>
          </a:stretch>
        </p:blipFill>
        <p:spPr>
          <a:xfrm>
            <a:off x="988142" y="365125"/>
            <a:ext cx="10365658" cy="5537397"/>
          </a:xfrm>
        </p:spPr>
      </p:pic>
    </p:spTree>
    <p:extLst>
      <p:ext uri="{BB962C8B-B14F-4D97-AF65-F5344CB8AC3E}">
        <p14:creationId xmlns:p14="http://schemas.microsoft.com/office/powerpoint/2010/main" val="14443479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1F88-29F3-D236-6B60-86086B80177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0C3C0D4-E41C-51B7-33B1-FE2F62CF3E91}"/>
              </a:ext>
            </a:extLst>
          </p:cNvPr>
          <p:cNvPicPr>
            <a:picLocks noGrp="1" noChangeAspect="1"/>
          </p:cNvPicPr>
          <p:nvPr>
            <p:ph idx="1"/>
          </p:nvPr>
        </p:nvPicPr>
        <p:blipFill>
          <a:blip r:embed="rId2"/>
          <a:stretch>
            <a:fillRect/>
          </a:stretch>
        </p:blipFill>
        <p:spPr>
          <a:xfrm>
            <a:off x="838200" y="365126"/>
            <a:ext cx="10703214" cy="5811838"/>
          </a:xfrm>
        </p:spPr>
      </p:pic>
    </p:spTree>
    <p:extLst>
      <p:ext uri="{BB962C8B-B14F-4D97-AF65-F5344CB8AC3E}">
        <p14:creationId xmlns:p14="http://schemas.microsoft.com/office/powerpoint/2010/main" val="4043461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20816</TotalTime>
  <Words>3065</Words>
  <Application>Microsoft Office PowerPoint</Application>
  <PresentationFormat>Widescreen</PresentationFormat>
  <Paragraphs>124</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Calibri Light</vt:lpstr>
      <vt:lpstr>Cisco-Bold</vt:lpstr>
      <vt:lpstr>Cisco-Regular</vt:lpstr>
      <vt:lpstr>CiscoSerif-Bold</vt:lpstr>
      <vt:lpstr>CiscoSerif-Regular</vt:lpstr>
      <vt:lpstr>Times New Roman</vt:lpstr>
      <vt:lpstr>Office Theme</vt:lpstr>
      <vt:lpstr>  Manufacturing</vt:lpstr>
      <vt:lpstr>Contents</vt:lpstr>
      <vt:lpstr>An Introduction to Connected Manufacturing</vt:lpstr>
      <vt:lpstr>An Introduction to Connected Manufacturing</vt:lpstr>
      <vt:lpstr>An Introduction to Connected Manufacturing</vt:lpstr>
      <vt:lpstr>PowerPoint Presentation</vt:lpstr>
      <vt:lpstr>An IoT Strategy for Connected Manufacturing</vt:lpstr>
      <vt:lpstr>Business Improvements Driven Through IoT</vt:lpstr>
      <vt:lpstr>An Architecture for the Connected Factory</vt:lpstr>
      <vt:lpstr>Industrial Automation and Control Systems Reference Model</vt:lpstr>
      <vt:lpstr>Industrial Automation and Control Systems Reference Model</vt:lpstr>
      <vt:lpstr>Industrial Automation and Control Systems Reference Model</vt:lpstr>
      <vt:lpstr>Industrial Automation and Control Systems Reference Model</vt:lpstr>
      <vt:lpstr>Industrial Automation and Control Systems Reference Model</vt:lpstr>
      <vt:lpstr>Industrial Automation and Control Systems Reference Model</vt:lpstr>
      <vt:lpstr>The CPwE Reference Model</vt:lpstr>
      <vt:lpstr>CPwE Resilient Network Design</vt:lpstr>
      <vt:lpstr>PowerPoint Presentation</vt:lpstr>
      <vt:lpstr>Resilient Ethernet Protocol (REP)</vt:lpstr>
      <vt:lpstr>Resilient Ethernet Protocol (REP)</vt:lpstr>
      <vt:lpstr>PowerPoint Presentation</vt:lpstr>
      <vt:lpstr>CPwE Wireless Network Architecture</vt:lpstr>
      <vt:lpstr>CPwE Wireless Network Architecture</vt:lpstr>
      <vt:lpstr>Real-Time Location System (RTLS)</vt:lpstr>
      <vt:lpstr>Industrial Automation Control Protocols</vt:lpstr>
      <vt:lpstr>PowerPoint Presentation</vt:lpstr>
      <vt:lpstr>PROFINET</vt:lpstr>
      <vt:lpstr>PROFINET</vt:lpstr>
      <vt:lpstr>Media Redundancy Protocol (MRP)</vt:lpstr>
      <vt:lpstr>PowerPoint Presentation</vt:lpstr>
      <vt:lpstr>Media Redundancy Protocol (MRP)</vt:lpstr>
      <vt:lpstr>Media Redundancy Protocol (MRP)</vt:lpstr>
      <vt:lpstr>The PROFINET Architecture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23</cp:revision>
  <dcterms:created xsi:type="dcterms:W3CDTF">2022-02-14T11:35:12Z</dcterms:created>
  <dcterms:modified xsi:type="dcterms:W3CDTF">2022-12-30T09:26:56Z</dcterms:modified>
</cp:coreProperties>
</file>