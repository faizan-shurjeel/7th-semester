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7"/>
  </p:notesMasterIdLst>
  <p:handoutMasterIdLst>
    <p:handoutMasterId r:id="rId58"/>
  </p:handoutMasterIdLst>
  <p:sldIdLst>
    <p:sldId id="342" r:id="rId2"/>
    <p:sldId id="326" r:id="rId3"/>
    <p:sldId id="327" r:id="rId4"/>
    <p:sldId id="329" r:id="rId5"/>
    <p:sldId id="332" r:id="rId6"/>
    <p:sldId id="330" r:id="rId7"/>
    <p:sldId id="333" r:id="rId8"/>
    <p:sldId id="334" r:id="rId9"/>
    <p:sldId id="336" r:id="rId10"/>
    <p:sldId id="338" r:id="rId11"/>
    <p:sldId id="339" r:id="rId12"/>
    <p:sldId id="340" r:id="rId13"/>
    <p:sldId id="341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386" r:id="rId54"/>
    <p:sldId id="388" r:id="rId55"/>
    <p:sldId id="389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0788"/>
    <a:srgbClr val="FEF1E6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38015-AD98-4867-8B7A-4101F60AD33A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B5A4E-08A9-457D-89E6-C51BF6DBFCF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67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37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52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4B2AA-1B5A-4DC9-8C33-192C3B350BED}" type="datetimeFigureOut">
              <a:rPr lang="en-GB" smtClean="0"/>
              <a:pPr/>
              <a:t>01/10/2025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2.w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4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3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6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38.wmf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40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7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3.wmf"/><Relationship Id="rId7" Type="http://schemas.openxmlformats.org/officeDocument/2006/relationships/oleObject" Target="../embeddings/oleObject47.bin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2.wmf"/><Relationship Id="rId3" Type="http://schemas.openxmlformats.org/officeDocument/2006/relationships/image" Target="../media/image53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7.wmf"/><Relationship Id="rId3" Type="http://schemas.openxmlformats.org/officeDocument/2006/relationships/image" Target="../media/image57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71.bin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0.wmf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6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6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74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73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8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41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97.bin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2.w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7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8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5" Type="http://schemas.openxmlformats.org/officeDocument/2006/relationships/image" Target="../media/image88.wmf"/><Relationship Id="rId4" Type="http://schemas.openxmlformats.org/officeDocument/2006/relationships/oleObject" Target="../embeddings/oleObject101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9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9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108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00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image" Target="../media/image95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6.bin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0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7.e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emf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1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oleObject" Target="../embeddings/oleObject122.bin"/><Relationship Id="rId7" Type="http://schemas.openxmlformats.org/officeDocument/2006/relationships/image" Target="../media/image11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14.wmf"/><Relationship Id="rId5" Type="http://schemas.openxmlformats.org/officeDocument/2006/relationships/image" Target="../media/image111.emf"/><Relationship Id="rId10" Type="http://schemas.openxmlformats.org/officeDocument/2006/relationships/oleObject" Target="../embeddings/oleObject125.bin"/><Relationship Id="rId4" Type="http://schemas.openxmlformats.org/officeDocument/2006/relationships/image" Target="../media/image110.wmf"/><Relationship Id="rId9" Type="http://schemas.openxmlformats.org/officeDocument/2006/relationships/image" Target="../media/image113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Control Systems (CS)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2420888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Lecture-12-13</a:t>
            </a:r>
          </a:p>
          <a:p>
            <a:pPr algn="ctr"/>
            <a:r>
              <a:rPr lang="en-GB" sz="2400" dirty="0"/>
              <a:t> Time Domain Analysis of 1</a:t>
            </a:r>
            <a:r>
              <a:rPr lang="en-GB" sz="2400" baseline="30000" dirty="0"/>
              <a:t>st</a:t>
            </a:r>
            <a:r>
              <a:rPr lang="en-GB" sz="2400" dirty="0"/>
              <a:t> Order Systems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926"/>
            <a:ext cx="1193597" cy="12070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4565" y="0"/>
            <a:ext cx="7959435" cy="116903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5688964"/>
            <a:ext cx="9144000" cy="116903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359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80728"/>
            <a:ext cx="8964488" cy="576064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In time-domain analysis the response of a dynamic system to an input is expressed as a function of time.</a:t>
            </a:r>
          </a:p>
          <a:p>
            <a:pPr algn="just"/>
            <a:endParaRPr lang="en-US" sz="1800" dirty="0"/>
          </a:p>
          <a:p>
            <a:pPr algn="just"/>
            <a:r>
              <a:rPr lang="en-US" dirty="0"/>
              <a:t>It is possible to compute the time response of a system if the nature of input and the mathematical model of the system are known.</a:t>
            </a:r>
          </a:p>
          <a:p>
            <a:pPr algn="just"/>
            <a:endParaRPr lang="en-US" sz="1800" dirty="0"/>
          </a:p>
          <a:p>
            <a:pPr algn="just"/>
            <a:r>
              <a:rPr lang="en-US" dirty="0"/>
              <a:t>Usually, the input signals to control systems are not known fully ahead of time. </a:t>
            </a:r>
          </a:p>
          <a:p>
            <a:pPr algn="just"/>
            <a:endParaRPr lang="en-US" sz="1800" dirty="0"/>
          </a:p>
          <a:p>
            <a:pPr algn="just"/>
            <a:r>
              <a:rPr lang="en-US" dirty="0"/>
              <a:t>For example, in a radar tracking system, the position and the speed of the target to be tracked may vary in a random fashion.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therefore difficult to express the actual input signals mathematically by simple equations. 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Test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characteristics of actual input signals are a sudden shock, a sudden change, a constant velocity, and constant acceleration.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dynamic behavior of a system is therefore judged and compared under application of standard test signals – an impulse, a step, a constant velocity, and constant acceleration.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Another standard signal of great importance is a sinusoidal signal.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Standard Test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124744"/>
            <a:ext cx="5400600" cy="50405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Impulse signal</a:t>
            </a:r>
          </a:p>
          <a:p>
            <a:pPr lvl="1" algn="just"/>
            <a:r>
              <a:rPr lang="en-US" dirty="0"/>
              <a:t>The impulse signal imitate the sudden shock characteristic of actual input signal.    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If A=1, the impulse signal is called unit impulse signal.</a:t>
            </a:r>
          </a:p>
          <a:p>
            <a:pPr lvl="1" algn="just"/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6012160" y="2636912"/>
            <a:ext cx="2874854" cy="2683427"/>
            <a:chOff x="6161642" y="2160566"/>
            <a:chExt cx="2874854" cy="2683427"/>
          </a:xfrm>
        </p:grpSpPr>
        <p:grpSp>
          <p:nvGrpSpPr>
            <p:cNvPr id="14" name="Group 13"/>
            <p:cNvGrpSpPr/>
            <p:nvPr/>
          </p:nvGrpSpPr>
          <p:grpSpPr>
            <a:xfrm>
              <a:off x="6161642" y="2160566"/>
              <a:ext cx="2874854" cy="2683427"/>
              <a:chOff x="4860032" y="2160566"/>
              <a:chExt cx="2874854" cy="268342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472" y="2160566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/>
                  <a:t>δ</a:t>
                </a:r>
                <a:r>
                  <a:rPr lang="en-GB" dirty="0"/>
                  <a:t>(t)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040147" y="3034691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</p:grpSp>
        <p:cxnSp>
          <p:nvCxnSpPr>
            <p:cNvPr id="16" name="Straight Arrow Connector 15"/>
            <p:cNvCxnSpPr/>
            <p:nvPr/>
          </p:nvCxnSpPr>
          <p:spPr>
            <a:xfrm flipV="1">
              <a:off x="6739268" y="3138235"/>
              <a:ext cx="0" cy="11659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899592" y="3645024"/>
          <a:ext cx="29432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393480" progId="Equation.3">
                  <p:embed/>
                </p:oleObj>
              </mc:Choice>
              <mc:Fallback>
                <p:oleObj name="Equation" r:id="rId3" imgW="10918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645024"/>
                        <a:ext cx="2943225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Standard Test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4464496" cy="55446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Step signal</a:t>
            </a:r>
          </a:p>
          <a:p>
            <a:pPr lvl="1" algn="just"/>
            <a:r>
              <a:rPr lang="en-US" dirty="0"/>
              <a:t>The step signal imitate the sudden change characteristic of actual input signal.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If A=1, the step signal is called unit step signal</a:t>
            </a:r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/>
        </p:nvGraphicFramePr>
        <p:xfrm>
          <a:off x="899592" y="3933056"/>
          <a:ext cx="290671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393480" progId="Equation.3">
                  <p:embed/>
                </p:oleObj>
              </mc:Choice>
              <mc:Fallback>
                <p:oleObj name="Equation" r:id="rId3" imgW="107928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933056"/>
                        <a:ext cx="2906712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6"/>
          <p:cNvGrpSpPr/>
          <p:nvPr/>
        </p:nvGrpSpPr>
        <p:grpSpPr>
          <a:xfrm>
            <a:off x="5657586" y="2132856"/>
            <a:ext cx="2874854" cy="2683427"/>
            <a:chOff x="5657586" y="2160566"/>
            <a:chExt cx="2874854" cy="2683427"/>
          </a:xfrm>
        </p:grpSpPr>
        <p:grpSp>
          <p:nvGrpSpPr>
            <p:cNvPr id="6" name="Group 13"/>
            <p:cNvGrpSpPr/>
            <p:nvPr/>
          </p:nvGrpSpPr>
          <p:grpSpPr>
            <a:xfrm>
              <a:off x="5657586" y="2160566"/>
              <a:ext cx="2874854" cy="2683427"/>
              <a:chOff x="4860032" y="2160566"/>
              <a:chExt cx="2874854" cy="268342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472" y="2160566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u(t)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5436096" y="3140968"/>
                <a:ext cx="187220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5148265" y="2955387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 flipH="1">
              <a:off x="6241832" y="3153701"/>
              <a:ext cx="0" cy="115304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68216" y="4293096"/>
              <a:ext cx="36000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Standard Test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4464496" cy="5544616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Ramp signal</a:t>
            </a:r>
          </a:p>
          <a:p>
            <a:pPr lvl="1" algn="just"/>
            <a:r>
              <a:rPr lang="en-US" dirty="0"/>
              <a:t>The ramp signal imitate the constant velocity characteristic of actual input signal.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If </a:t>
            </a:r>
            <a:r>
              <a:rPr lang="en-US" i="1" dirty="0"/>
              <a:t>A=1</a:t>
            </a:r>
            <a:r>
              <a:rPr lang="en-US" dirty="0"/>
              <a:t>, the ramp signal is called unit ramp signal</a:t>
            </a:r>
          </a:p>
          <a:p>
            <a:pPr lvl="1" algn="just"/>
            <a:endParaRPr lang="en-US" dirty="0"/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/>
        </p:nvGraphicFramePr>
        <p:xfrm>
          <a:off x="887413" y="3789040"/>
          <a:ext cx="30099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440" imgH="393480" progId="Equation.3">
                  <p:embed/>
                </p:oleObj>
              </mc:Choice>
              <mc:Fallback>
                <p:oleObj name="Equation" r:id="rId3" imgW="11174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3789040"/>
                        <a:ext cx="30099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"/>
          <p:cNvGrpSpPr/>
          <p:nvPr/>
        </p:nvGrpSpPr>
        <p:grpSpPr>
          <a:xfrm>
            <a:off x="5801602" y="1124744"/>
            <a:ext cx="2874854" cy="2683427"/>
            <a:chOff x="4860032" y="2160566"/>
            <a:chExt cx="2874854" cy="2683427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4860032" y="4293096"/>
              <a:ext cx="2664296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5436096" y="2467729"/>
              <a:ext cx="0" cy="237626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189830" y="42349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73276" y="4126836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41472" y="2160566"/>
              <a:ext cx="482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r(t)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5434398" y="3168264"/>
              <a:ext cx="1805666" cy="110783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716016" y="5425479"/>
            <a:ext cx="3168352" cy="1243881"/>
            <a:chOff x="4716016" y="5425479"/>
            <a:chExt cx="3168352" cy="1243881"/>
          </a:xfrm>
        </p:grpSpPr>
        <p:grpSp>
          <p:nvGrpSpPr>
            <p:cNvPr id="23" name="Group 22"/>
            <p:cNvGrpSpPr/>
            <p:nvPr/>
          </p:nvGrpSpPr>
          <p:grpSpPr>
            <a:xfrm>
              <a:off x="6272896" y="5425479"/>
              <a:ext cx="1611472" cy="1243881"/>
              <a:chOff x="6272896" y="5425479"/>
              <a:chExt cx="1611472" cy="1243881"/>
            </a:xfrm>
          </p:grpSpPr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l="77961" t="59534" r="11408" b="26291"/>
              <a:stretch>
                <a:fillRect/>
              </a:stretch>
            </p:blipFill>
            <p:spPr bwMode="auto">
              <a:xfrm>
                <a:off x="6415405" y="5445224"/>
                <a:ext cx="1468963" cy="1224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" name="TextBox 20"/>
              <p:cNvSpPr txBox="1"/>
              <p:nvPr/>
            </p:nvSpPr>
            <p:spPr>
              <a:xfrm>
                <a:off x="6272896" y="5425479"/>
                <a:ext cx="4235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1400" b="1" dirty="0"/>
                  <a:t>r(t)</a:t>
                </a:r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4716016" y="6165304"/>
              <a:ext cx="16931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unit ramp signal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88024" y="4005064"/>
            <a:ext cx="3929332" cy="1296144"/>
            <a:chOff x="4788024" y="4005064"/>
            <a:chExt cx="3929332" cy="1296144"/>
          </a:xfrm>
        </p:grpSpPr>
        <p:grpSp>
          <p:nvGrpSpPr>
            <p:cNvPr id="22" name="Group 21"/>
            <p:cNvGrpSpPr/>
            <p:nvPr/>
          </p:nvGrpSpPr>
          <p:grpSpPr>
            <a:xfrm>
              <a:off x="7164288" y="4005064"/>
              <a:ext cx="1553068" cy="1296144"/>
              <a:chOff x="6187284" y="3861048"/>
              <a:chExt cx="1553068" cy="1296144"/>
            </a:xfrm>
          </p:grpSpPr>
          <p:pic>
            <p:nvPicPr>
              <p:cNvPr id="176131" name="Picture 3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l="60242" t="59534" r="29717" b="26291"/>
              <a:stretch>
                <a:fillRect/>
              </a:stretch>
            </p:blipFill>
            <p:spPr bwMode="auto">
              <a:xfrm>
                <a:off x="6300192" y="3886463"/>
                <a:ext cx="1440160" cy="1270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0" name="TextBox 19"/>
              <p:cNvSpPr txBox="1"/>
              <p:nvPr/>
            </p:nvSpPr>
            <p:spPr>
              <a:xfrm>
                <a:off x="6187284" y="3861048"/>
                <a:ext cx="4235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1400" b="1" dirty="0"/>
                  <a:t>r(t)</a:t>
                </a:r>
              </a:p>
            </p:txBody>
          </p:sp>
        </p:grpSp>
        <p:sp>
          <p:nvSpPr>
            <p:cNvPr id="25" name="Rectangle 24"/>
            <p:cNvSpPr/>
            <p:nvPr/>
          </p:nvSpPr>
          <p:spPr>
            <a:xfrm>
              <a:off x="4788024" y="4581128"/>
              <a:ext cx="24770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ramp signal with slope A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Standard Test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4464496" cy="5544616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/>
              <a:t>Parabolic signal</a:t>
            </a:r>
          </a:p>
          <a:p>
            <a:pPr lvl="1" algn="just"/>
            <a:r>
              <a:rPr lang="en-US" dirty="0"/>
              <a:t>The parabolic signal imitate the constant acceleration characteristic of actual input signal.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If </a:t>
            </a:r>
            <a:r>
              <a:rPr lang="en-US" i="1" dirty="0"/>
              <a:t>A=1</a:t>
            </a:r>
            <a:r>
              <a:rPr lang="en-US" dirty="0"/>
              <a:t>, the parabolic signal is called unit parabolic signal.</a:t>
            </a:r>
          </a:p>
          <a:p>
            <a:pPr lvl="1" algn="just"/>
            <a:endParaRPr lang="en-US" dirty="0"/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/>
        </p:nvGraphicFramePr>
        <p:xfrm>
          <a:off x="715963" y="3516313"/>
          <a:ext cx="33528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596880" progId="Equation.3">
                  <p:embed/>
                </p:oleObj>
              </mc:Choice>
              <mc:Fallback>
                <p:oleObj name="Equation" r:id="rId3" imgW="1244520" imgH="596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516313"/>
                        <a:ext cx="3352800" cy="160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3723974" y="-27384"/>
            <a:ext cx="4808466" cy="3699776"/>
            <a:chOff x="3723974" y="180403"/>
            <a:chExt cx="4808466" cy="3699776"/>
          </a:xfrm>
        </p:grpSpPr>
        <p:grpSp>
          <p:nvGrpSpPr>
            <p:cNvPr id="4" name="Group 13"/>
            <p:cNvGrpSpPr/>
            <p:nvPr/>
          </p:nvGrpSpPr>
          <p:grpSpPr>
            <a:xfrm>
              <a:off x="5657586" y="1196752"/>
              <a:ext cx="2874854" cy="2683427"/>
              <a:chOff x="4860032" y="2160566"/>
              <a:chExt cx="2874854" cy="268342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472" y="2160566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p(t)</a:t>
                </a:r>
              </a:p>
            </p:txBody>
          </p:sp>
        </p:grpSp>
        <p:sp>
          <p:nvSpPr>
            <p:cNvPr id="16" name="Arc 15"/>
            <p:cNvSpPr/>
            <p:nvPr/>
          </p:nvSpPr>
          <p:spPr>
            <a:xfrm rot="4438560">
              <a:off x="4193859" y="-289482"/>
              <a:ext cx="3202209" cy="4141980"/>
            </a:xfrm>
            <a:prstGeom prst="arc">
              <a:avLst>
                <a:gd name="adj1" fmla="val 17934159"/>
                <a:gd name="adj2" fmla="val 0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427984" y="3573016"/>
            <a:ext cx="4286876" cy="1872208"/>
            <a:chOff x="4427984" y="3573016"/>
            <a:chExt cx="4286876" cy="1872208"/>
          </a:xfrm>
        </p:grpSpPr>
        <p:grpSp>
          <p:nvGrpSpPr>
            <p:cNvPr id="20" name="Group 19"/>
            <p:cNvGrpSpPr/>
            <p:nvPr/>
          </p:nvGrpSpPr>
          <p:grpSpPr>
            <a:xfrm>
              <a:off x="4427984" y="3573016"/>
              <a:ext cx="4286876" cy="1872208"/>
              <a:chOff x="4427984" y="3573016"/>
              <a:chExt cx="4286876" cy="1872208"/>
            </a:xfrm>
          </p:grpSpPr>
          <p:pic>
            <p:nvPicPr>
              <p:cNvPr id="178179" name="Picture 3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l="56990" t="59175" r="27654" b="12476"/>
              <a:stretch>
                <a:fillRect/>
              </a:stretch>
            </p:blipFill>
            <p:spPr bwMode="auto">
              <a:xfrm>
                <a:off x="7092280" y="3573016"/>
                <a:ext cx="1622580" cy="1872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" name="Rectangle 18"/>
              <p:cNvSpPr/>
              <p:nvPr/>
            </p:nvSpPr>
            <p:spPr>
              <a:xfrm>
                <a:off x="4427984" y="4427820"/>
                <a:ext cx="2850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parabolic signal with slope A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915051" y="3573604"/>
              <a:ext cx="45557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b="1" dirty="0"/>
                <a:t>p(t)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62408" y="4931288"/>
            <a:ext cx="3974088" cy="1926712"/>
            <a:chOff x="5062408" y="4931288"/>
            <a:chExt cx="3974088" cy="1926712"/>
          </a:xfrm>
        </p:grpSpPr>
        <p:grpSp>
          <p:nvGrpSpPr>
            <p:cNvPr id="22" name="Group 21"/>
            <p:cNvGrpSpPr/>
            <p:nvPr/>
          </p:nvGrpSpPr>
          <p:grpSpPr>
            <a:xfrm>
              <a:off x="5292080" y="4941168"/>
              <a:ext cx="3744416" cy="1916832"/>
              <a:chOff x="5292080" y="4941168"/>
              <a:chExt cx="3744416" cy="1916832"/>
            </a:xfrm>
          </p:grpSpPr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l="75890" t="59175" r="9345" b="12476"/>
              <a:stretch>
                <a:fillRect/>
              </a:stretch>
            </p:blipFill>
            <p:spPr bwMode="auto">
              <a:xfrm>
                <a:off x="5292080" y="4941168"/>
                <a:ext cx="1597360" cy="1916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" name="Rectangle 20"/>
              <p:cNvSpPr/>
              <p:nvPr/>
            </p:nvSpPr>
            <p:spPr>
              <a:xfrm>
                <a:off x="6944192" y="6011996"/>
                <a:ext cx="20923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Unit parabolic signal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5062408" y="4931288"/>
              <a:ext cx="45557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b="1" dirty="0"/>
                <a:t>p(t)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>
            <a:normAutofit/>
          </a:bodyPr>
          <a:lstStyle/>
          <a:p>
            <a:r>
              <a:rPr lang="en-GB" sz="3800" dirty="0"/>
              <a:t>Relation between standard Test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/>
          </a:bodyPr>
          <a:lstStyle/>
          <a:p>
            <a:r>
              <a:rPr lang="en-GB" sz="3600" dirty="0"/>
              <a:t>Impulse</a:t>
            </a:r>
          </a:p>
          <a:p>
            <a:endParaRPr lang="en-GB" sz="3800" dirty="0"/>
          </a:p>
          <a:p>
            <a:r>
              <a:rPr lang="en-GB" sz="3600" dirty="0"/>
              <a:t>Step</a:t>
            </a:r>
          </a:p>
          <a:p>
            <a:endParaRPr lang="en-GB" sz="3800" dirty="0"/>
          </a:p>
          <a:p>
            <a:r>
              <a:rPr lang="en-GB" sz="3600" dirty="0"/>
              <a:t>Ramp</a:t>
            </a:r>
          </a:p>
          <a:p>
            <a:endParaRPr lang="en-GB" sz="3800" dirty="0"/>
          </a:p>
          <a:p>
            <a:r>
              <a:rPr lang="en-GB" sz="3600" dirty="0"/>
              <a:t>Parabolic</a:t>
            </a:r>
          </a:p>
        </p:txBody>
      </p:sp>
      <p:graphicFrame>
        <p:nvGraphicFramePr>
          <p:cNvPr id="179202" name="Object 2"/>
          <p:cNvGraphicFramePr>
            <a:graphicFrameLocks noChangeAspect="1"/>
          </p:cNvGraphicFramePr>
          <p:nvPr/>
        </p:nvGraphicFramePr>
        <p:xfrm>
          <a:off x="3779912" y="1124744"/>
          <a:ext cx="2583185" cy="932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393480" progId="Equation.3">
                  <p:embed/>
                </p:oleObj>
              </mc:Choice>
              <mc:Fallback>
                <p:oleObj name="Equation" r:id="rId2" imgW="10918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124744"/>
                        <a:ext cx="2583185" cy="9321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3" name="Object 2"/>
          <p:cNvGraphicFramePr>
            <a:graphicFrameLocks noChangeAspect="1"/>
          </p:cNvGraphicFramePr>
          <p:nvPr/>
        </p:nvGraphicFramePr>
        <p:xfrm>
          <a:off x="3779912" y="2420888"/>
          <a:ext cx="2690688" cy="98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393480" progId="Equation.3">
                  <p:embed/>
                </p:oleObj>
              </mc:Choice>
              <mc:Fallback>
                <p:oleObj name="Equation" r:id="rId4" imgW="107928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2420888"/>
                        <a:ext cx="2690688" cy="9831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4" name="Object 4"/>
          <p:cNvGraphicFramePr>
            <a:graphicFrameLocks noChangeAspect="1"/>
          </p:cNvGraphicFramePr>
          <p:nvPr/>
        </p:nvGraphicFramePr>
        <p:xfrm>
          <a:off x="3779912" y="3811339"/>
          <a:ext cx="2793876" cy="9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393480" progId="Equation.3">
                  <p:embed/>
                </p:oleObj>
              </mc:Choice>
              <mc:Fallback>
                <p:oleObj name="Equation" r:id="rId6" imgW="111744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811339"/>
                        <a:ext cx="2793876" cy="9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5" name="Object 2"/>
          <p:cNvGraphicFramePr>
            <a:graphicFrameLocks noChangeAspect="1"/>
          </p:cNvGraphicFramePr>
          <p:nvPr/>
        </p:nvGraphicFramePr>
        <p:xfrm>
          <a:off x="3707904" y="5016471"/>
          <a:ext cx="2992760" cy="1436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596880" progId="Equation.3">
                  <p:embed/>
                </p:oleObj>
              </mc:Choice>
              <mc:Fallback>
                <p:oleObj name="Equation" r:id="rId8" imgW="1244520" imgH="596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016471"/>
                        <a:ext cx="2992760" cy="14368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2699792" y="1484785"/>
            <a:ext cx="720080" cy="1368152"/>
            <a:chOff x="2699792" y="1484785"/>
            <a:chExt cx="720080" cy="1368152"/>
          </a:xfrm>
        </p:grpSpPr>
        <p:sp>
          <p:nvSpPr>
            <p:cNvPr id="8" name="Freeform 7"/>
            <p:cNvSpPr/>
            <p:nvPr/>
          </p:nvSpPr>
          <p:spPr>
            <a:xfrm>
              <a:off x="2699792" y="1484785"/>
              <a:ext cx="593677" cy="1368152"/>
            </a:xfrm>
            <a:custGeom>
              <a:avLst/>
              <a:gdLst>
                <a:gd name="connsiteX0" fmla="*/ 593677 w 593677"/>
                <a:gd name="connsiteY0" fmla="*/ 1501253 h 1501253"/>
                <a:gd name="connsiteX1" fmla="*/ 75063 w 593677"/>
                <a:gd name="connsiteY1" fmla="*/ 1078173 h 1501253"/>
                <a:gd name="connsiteX2" fmla="*/ 143301 w 593677"/>
                <a:gd name="connsiteY2" fmla="*/ 477671 h 1501253"/>
                <a:gd name="connsiteX3" fmla="*/ 580030 w 593677"/>
                <a:gd name="connsiteY3" fmla="*/ 0 h 1501253"/>
                <a:gd name="connsiteX4" fmla="*/ 580030 w 593677"/>
                <a:gd name="connsiteY4" fmla="*/ 0 h 150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677" h="1501253">
                  <a:moveTo>
                    <a:pt x="593677" y="1501253"/>
                  </a:moveTo>
                  <a:cubicBezTo>
                    <a:pt x="371901" y="1375011"/>
                    <a:pt x="150126" y="1248770"/>
                    <a:pt x="75063" y="1078173"/>
                  </a:cubicBezTo>
                  <a:cubicBezTo>
                    <a:pt x="0" y="907576"/>
                    <a:pt x="59140" y="657366"/>
                    <a:pt x="143301" y="477671"/>
                  </a:cubicBezTo>
                  <a:cubicBezTo>
                    <a:pt x="227462" y="297976"/>
                    <a:pt x="580030" y="0"/>
                    <a:pt x="580030" y="0"/>
                  </a:cubicBezTo>
                  <a:lnTo>
                    <a:pt x="580030" y="0"/>
                  </a:ln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2872879" y="1859782"/>
            <a:ext cx="546993" cy="633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90440" progId="Equation.3">
                    <p:embed/>
                  </p:oleObj>
                </mc:Choice>
                <mc:Fallback>
                  <p:oleObj name="Equation" r:id="rId10" imgW="164880" imgH="1904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2879" y="1859782"/>
                          <a:ext cx="546993" cy="6331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1"/>
          <p:cNvGrpSpPr/>
          <p:nvPr/>
        </p:nvGrpSpPr>
        <p:grpSpPr>
          <a:xfrm>
            <a:off x="2699792" y="2924944"/>
            <a:ext cx="762124" cy="1368152"/>
            <a:chOff x="2699792" y="2924944"/>
            <a:chExt cx="762124" cy="1368152"/>
          </a:xfrm>
        </p:grpSpPr>
        <p:sp>
          <p:nvSpPr>
            <p:cNvPr id="9" name="Freeform 8"/>
            <p:cNvSpPr/>
            <p:nvPr/>
          </p:nvSpPr>
          <p:spPr>
            <a:xfrm>
              <a:off x="2699792" y="2924944"/>
              <a:ext cx="593677" cy="1368152"/>
            </a:xfrm>
            <a:custGeom>
              <a:avLst/>
              <a:gdLst>
                <a:gd name="connsiteX0" fmla="*/ 593677 w 593677"/>
                <a:gd name="connsiteY0" fmla="*/ 1501253 h 1501253"/>
                <a:gd name="connsiteX1" fmla="*/ 75063 w 593677"/>
                <a:gd name="connsiteY1" fmla="*/ 1078173 h 1501253"/>
                <a:gd name="connsiteX2" fmla="*/ 143301 w 593677"/>
                <a:gd name="connsiteY2" fmla="*/ 477671 h 1501253"/>
                <a:gd name="connsiteX3" fmla="*/ 580030 w 593677"/>
                <a:gd name="connsiteY3" fmla="*/ 0 h 1501253"/>
                <a:gd name="connsiteX4" fmla="*/ 580030 w 593677"/>
                <a:gd name="connsiteY4" fmla="*/ 0 h 150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677" h="1501253">
                  <a:moveTo>
                    <a:pt x="593677" y="1501253"/>
                  </a:moveTo>
                  <a:cubicBezTo>
                    <a:pt x="371901" y="1375011"/>
                    <a:pt x="150126" y="1248770"/>
                    <a:pt x="75063" y="1078173"/>
                  </a:cubicBezTo>
                  <a:cubicBezTo>
                    <a:pt x="0" y="907576"/>
                    <a:pt x="59140" y="657366"/>
                    <a:pt x="143301" y="477671"/>
                  </a:cubicBezTo>
                  <a:cubicBezTo>
                    <a:pt x="227462" y="297976"/>
                    <a:pt x="580030" y="0"/>
                    <a:pt x="580030" y="0"/>
                  </a:cubicBezTo>
                  <a:lnTo>
                    <a:pt x="580030" y="0"/>
                  </a:ln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9208" name="Object 8"/>
            <p:cNvGraphicFramePr>
              <a:graphicFrameLocks noChangeAspect="1"/>
            </p:cNvGraphicFramePr>
            <p:nvPr/>
          </p:nvGraphicFramePr>
          <p:xfrm>
            <a:off x="2915816" y="3284984"/>
            <a:ext cx="5461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90440" progId="Equation.3">
                    <p:embed/>
                  </p:oleObj>
                </mc:Choice>
                <mc:Fallback>
                  <p:oleObj name="Equation" r:id="rId12" imgW="164880" imgH="1904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3284984"/>
                          <a:ext cx="546100" cy="631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/>
          <p:cNvGrpSpPr/>
          <p:nvPr/>
        </p:nvGrpSpPr>
        <p:grpSpPr>
          <a:xfrm>
            <a:off x="2699792" y="4509120"/>
            <a:ext cx="834132" cy="1368152"/>
            <a:chOff x="2699792" y="4509120"/>
            <a:chExt cx="834132" cy="1368152"/>
          </a:xfrm>
        </p:grpSpPr>
        <p:sp>
          <p:nvSpPr>
            <p:cNvPr id="10" name="Freeform 9"/>
            <p:cNvSpPr/>
            <p:nvPr/>
          </p:nvSpPr>
          <p:spPr>
            <a:xfrm>
              <a:off x="2699792" y="4509120"/>
              <a:ext cx="593677" cy="1368152"/>
            </a:xfrm>
            <a:custGeom>
              <a:avLst/>
              <a:gdLst>
                <a:gd name="connsiteX0" fmla="*/ 593677 w 593677"/>
                <a:gd name="connsiteY0" fmla="*/ 1501253 h 1501253"/>
                <a:gd name="connsiteX1" fmla="*/ 75063 w 593677"/>
                <a:gd name="connsiteY1" fmla="*/ 1078173 h 1501253"/>
                <a:gd name="connsiteX2" fmla="*/ 143301 w 593677"/>
                <a:gd name="connsiteY2" fmla="*/ 477671 h 1501253"/>
                <a:gd name="connsiteX3" fmla="*/ 580030 w 593677"/>
                <a:gd name="connsiteY3" fmla="*/ 0 h 1501253"/>
                <a:gd name="connsiteX4" fmla="*/ 580030 w 593677"/>
                <a:gd name="connsiteY4" fmla="*/ 0 h 150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677" h="1501253">
                  <a:moveTo>
                    <a:pt x="593677" y="1501253"/>
                  </a:moveTo>
                  <a:cubicBezTo>
                    <a:pt x="371901" y="1375011"/>
                    <a:pt x="150126" y="1248770"/>
                    <a:pt x="75063" y="1078173"/>
                  </a:cubicBezTo>
                  <a:cubicBezTo>
                    <a:pt x="0" y="907576"/>
                    <a:pt x="59140" y="657366"/>
                    <a:pt x="143301" y="477671"/>
                  </a:cubicBezTo>
                  <a:cubicBezTo>
                    <a:pt x="227462" y="297976"/>
                    <a:pt x="580030" y="0"/>
                    <a:pt x="580030" y="0"/>
                  </a:cubicBezTo>
                  <a:lnTo>
                    <a:pt x="580030" y="0"/>
                  </a:ln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9209" name="Object 9"/>
            <p:cNvGraphicFramePr>
              <a:graphicFrameLocks noChangeAspect="1"/>
            </p:cNvGraphicFramePr>
            <p:nvPr/>
          </p:nvGraphicFramePr>
          <p:xfrm>
            <a:off x="2987824" y="4869160"/>
            <a:ext cx="5461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90440" progId="Equation.3">
                    <p:embed/>
                  </p:oleObj>
                </mc:Choice>
                <mc:Fallback>
                  <p:oleObj name="Equation" r:id="rId12" imgW="164880" imgH="1904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824" y="4869160"/>
                          <a:ext cx="546100" cy="631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25"/>
          <p:cNvGrpSpPr/>
          <p:nvPr/>
        </p:nvGrpSpPr>
        <p:grpSpPr>
          <a:xfrm>
            <a:off x="6773726" y="4197488"/>
            <a:ext cx="1110642" cy="1368152"/>
            <a:chOff x="6773726" y="4197488"/>
            <a:chExt cx="1110642" cy="1368152"/>
          </a:xfrm>
        </p:grpSpPr>
        <p:sp>
          <p:nvSpPr>
            <p:cNvPr id="15" name="Freeform 14"/>
            <p:cNvSpPr/>
            <p:nvPr/>
          </p:nvSpPr>
          <p:spPr>
            <a:xfrm rot="10800000">
              <a:off x="6773726" y="4197488"/>
              <a:ext cx="593677" cy="1368152"/>
            </a:xfrm>
            <a:custGeom>
              <a:avLst/>
              <a:gdLst>
                <a:gd name="connsiteX0" fmla="*/ 593677 w 593677"/>
                <a:gd name="connsiteY0" fmla="*/ 1501253 h 1501253"/>
                <a:gd name="connsiteX1" fmla="*/ 75063 w 593677"/>
                <a:gd name="connsiteY1" fmla="*/ 1078173 h 1501253"/>
                <a:gd name="connsiteX2" fmla="*/ 143301 w 593677"/>
                <a:gd name="connsiteY2" fmla="*/ 477671 h 1501253"/>
                <a:gd name="connsiteX3" fmla="*/ 580030 w 593677"/>
                <a:gd name="connsiteY3" fmla="*/ 0 h 1501253"/>
                <a:gd name="connsiteX4" fmla="*/ 580030 w 593677"/>
                <a:gd name="connsiteY4" fmla="*/ 0 h 150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677" h="1501253">
                  <a:moveTo>
                    <a:pt x="593677" y="1501253"/>
                  </a:moveTo>
                  <a:cubicBezTo>
                    <a:pt x="371901" y="1375011"/>
                    <a:pt x="150126" y="1248770"/>
                    <a:pt x="75063" y="1078173"/>
                  </a:cubicBezTo>
                  <a:cubicBezTo>
                    <a:pt x="0" y="907576"/>
                    <a:pt x="59140" y="657366"/>
                    <a:pt x="143301" y="477671"/>
                  </a:cubicBezTo>
                  <a:cubicBezTo>
                    <a:pt x="227462" y="297976"/>
                    <a:pt x="580030" y="0"/>
                    <a:pt x="580030" y="0"/>
                  </a:cubicBezTo>
                  <a:lnTo>
                    <a:pt x="580030" y="0"/>
                  </a:ln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9210" name="Object 10"/>
            <p:cNvGraphicFramePr>
              <a:graphicFrameLocks noChangeAspect="1"/>
            </p:cNvGraphicFramePr>
            <p:nvPr/>
          </p:nvGraphicFramePr>
          <p:xfrm>
            <a:off x="7389663" y="4293096"/>
            <a:ext cx="494705" cy="99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480" imgH="355320" progId="Equation.3">
                    <p:embed/>
                  </p:oleObj>
                </mc:Choice>
                <mc:Fallback>
                  <p:oleObj name="Equation" r:id="rId14" imgW="177480" imgH="3553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9663" y="4293096"/>
                          <a:ext cx="494705" cy="99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4"/>
          <p:cNvGrpSpPr/>
          <p:nvPr/>
        </p:nvGrpSpPr>
        <p:grpSpPr>
          <a:xfrm>
            <a:off x="6786635" y="2708920"/>
            <a:ext cx="1116273" cy="1368152"/>
            <a:chOff x="6786635" y="2708920"/>
            <a:chExt cx="1116273" cy="1368152"/>
          </a:xfrm>
        </p:grpSpPr>
        <p:sp>
          <p:nvSpPr>
            <p:cNvPr id="16" name="Freeform 15"/>
            <p:cNvSpPr/>
            <p:nvPr/>
          </p:nvSpPr>
          <p:spPr>
            <a:xfrm rot="10800000">
              <a:off x="6786635" y="2708920"/>
              <a:ext cx="593677" cy="1368152"/>
            </a:xfrm>
            <a:custGeom>
              <a:avLst/>
              <a:gdLst>
                <a:gd name="connsiteX0" fmla="*/ 593677 w 593677"/>
                <a:gd name="connsiteY0" fmla="*/ 1501253 h 1501253"/>
                <a:gd name="connsiteX1" fmla="*/ 75063 w 593677"/>
                <a:gd name="connsiteY1" fmla="*/ 1078173 h 1501253"/>
                <a:gd name="connsiteX2" fmla="*/ 143301 w 593677"/>
                <a:gd name="connsiteY2" fmla="*/ 477671 h 1501253"/>
                <a:gd name="connsiteX3" fmla="*/ 580030 w 593677"/>
                <a:gd name="connsiteY3" fmla="*/ 0 h 1501253"/>
                <a:gd name="connsiteX4" fmla="*/ 580030 w 593677"/>
                <a:gd name="connsiteY4" fmla="*/ 0 h 150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677" h="1501253">
                  <a:moveTo>
                    <a:pt x="593677" y="1501253"/>
                  </a:moveTo>
                  <a:cubicBezTo>
                    <a:pt x="371901" y="1375011"/>
                    <a:pt x="150126" y="1248770"/>
                    <a:pt x="75063" y="1078173"/>
                  </a:cubicBezTo>
                  <a:cubicBezTo>
                    <a:pt x="0" y="907576"/>
                    <a:pt x="59140" y="657366"/>
                    <a:pt x="143301" y="477671"/>
                  </a:cubicBezTo>
                  <a:cubicBezTo>
                    <a:pt x="227462" y="297976"/>
                    <a:pt x="580030" y="0"/>
                    <a:pt x="580030" y="0"/>
                  </a:cubicBezTo>
                  <a:lnTo>
                    <a:pt x="580030" y="0"/>
                  </a:ln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9211" name="Object 11"/>
            <p:cNvGraphicFramePr>
              <a:graphicFrameLocks noChangeAspect="1"/>
            </p:cNvGraphicFramePr>
            <p:nvPr/>
          </p:nvGraphicFramePr>
          <p:xfrm>
            <a:off x="7407608" y="2808224"/>
            <a:ext cx="495300" cy="993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480" imgH="355320" progId="Equation.3">
                    <p:embed/>
                  </p:oleObj>
                </mc:Choice>
                <mc:Fallback>
                  <p:oleObj name="Equation" r:id="rId16" imgW="177480" imgH="3553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608" y="2808224"/>
                          <a:ext cx="495300" cy="993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3"/>
          <p:cNvGrpSpPr/>
          <p:nvPr/>
        </p:nvGrpSpPr>
        <p:grpSpPr>
          <a:xfrm>
            <a:off x="6732240" y="1268760"/>
            <a:ext cx="1143372" cy="1368152"/>
            <a:chOff x="6732240" y="1268760"/>
            <a:chExt cx="1143372" cy="1368152"/>
          </a:xfrm>
        </p:grpSpPr>
        <p:sp>
          <p:nvSpPr>
            <p:cNvPr id="17" name="Freeform 16"/>
            <p:cNvSpPr/>
            <p:nvPr/>
          </p:nvSpPr>
          <p:spPr>
            <a:xfrm rot="10800000">
              <a:off x="6732240" y="1268760"/>
              <a:ext cx="593677" cy="1368152"/>
            </a:xfrm>
            <a:custGeom>
              <a:avLst/>
              <a:gdLst>
                <a:gd name="connsiteX0" fmla="*/ 593677 w 593677"/>
                <a:gd name="connsiteY0" fmla="*/ 1501253 h 1501253"/>
                <a:gd name="connsiteX1" fmla="*/ 75063 w 593677"/>
                <a:gd name="connsiteY1" fmla="*/ 1078173 h 1501253"/>
                <a:gd name="connsiteX2" fmla="*/ 143301 w 593677"/>
                <a:gd name="connsiteY2" fmla="*/ 477671 h 1501253"/>
                <a:gd name="connsiteX3" fmla="*/ 580030 w 593677"/>
                <a:gd name="connsiteY3" fmla="*/ 0 h 1501253"/>
                <a:gd name="connsiteX4" fmla="*/ 580030 w 593677"/>
                <a:gd name="connsiteY4" fmla="*/ 0 h 150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677" h="1501253">
                  <a:moveTo>
                    <a:pt x="593677" y="1501253"/>
                  </a:moveTo>
                  <a:cubicBezTo>
                    <a:pt x="371901" y="1375011"/>
                    <a:pt x="150126" y="1248770"/>
                    <a:pt x="75063" y="1078173"/>
                  </a:cubicBezTo>
                  <a:cubicBezTo>
                    <a:pt x="0" y="907576"/>
                    <a:pt x="59140" y="657366"/>
                    <a:pt x="143301" y="477671"/>
                  </a:cubicBezTo>
                  <a:cubicBezTo>
                    <a:pt x="227462" y="297976"/>
                    <a:pt x="580030" y="0"/>
                    <a:pt x="580030" y="0"/>
                  </a:cubicBezTo>
                  <a:lnTo>
                    <a:pt x="580030" y="0"/>
                  </a:ln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9212" name="Object 12"/>
            <p:cNvGraphicFramePr>
              <a:graphicFrameLocks noChangeAspect="1"/>
            </p:cNvGraphicFramePr>
            <p:nvPr/>
          </p:nvGraphicFramePr>
          <p:xfrm>
            <a:off x="7380312" y="1340768"/>
            <a:ext cx="495300" cy="993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480" imgH="355320" progId="Equation.3">
                    <p:embed/>
                  </p:oleObj>
                </mc:Choice>
                <mc:Fallback>
                  <p:oleObj name="Equation" r:id="rId16" imgW="177480" imgH="3553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0312" y="1340768"/>
                          <a:ext cx="495300" cy="993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>
            <a:normAutofit/>
          </a:bodyPr>
          <a:lstStyle/>
          <a:p>
            <a:r>
              <a:rPr lang="en-GB" sz="4000" dirty="0"/>
              <a:t>Laplace Transform of Test Signals</a:t>
            </a:r>
            <a:endParaRPr lang="en-GB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/>
          </a:bodyPr>
          <a:lstStyle/>
          <a:p>
            <a:r>
              <a:rPr lang="en-GB" sz="3600" dirty="0"/>
              <a:t>Impulse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Step</a:t>
            </a:r>
          </a:p>
          <a:p>
            <a:endParaRPr lang="en-GB" sz="3800" dirty="0"/>
          </a:p>
        </p:txBody>
      </p:sp>
      <p:graphicFrame>
        <p:nvGraphicFramePr>
          <p:cNvPr id="179202" name="Object 2"/>
          <p:cNvGraphicFramePr>
            <a:graphicFrameLocks noChangeAspect="1"/>
          </p:cNvGraphicFramePr>
          <p:nvPr/>
        </p:nvGraphicFramePr>
        <p:xfrm>
          <a:off x="3347864" y="1700808"/>
          <a:ext cx="2583185" cy="932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393480" progId="Equation.3">
                  <p:embed/>
                </p:oleObj>
              </mc:Choice>
              <mc:Fallback>
                <p:oleObj name="Equation" r:id="rId2" imgW="109188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700808"/>
                        <a:ext cx="2583185" cy="9321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6" name="Object 2"/>
          <p:cNvGraphicFramePr>
            <a:graphicFrameLocks noChangeAspect="1"/>
          </p:cNvGraphicFramePr>
          <p:nvPr/>
        </p:nvGraphicFramePr>
        <p:xfrm>
          <a:off x="3221038" y="2924175"/>
          <a:ext cx="306228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177480" progId="Equation.3">
                  <p:embed/>
                </p:oleObj>
              </mc:Choice>
              <mc:Fallback>
                <p:oleObj name="Equation" r:id="rId4" imgW="1015920" imgH="177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2924175"/>
                        <a:ext cx="3062287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9" name="Object 15"/>
          <p:cNvGraphicFramePr>
            <a:graphicFrameLocks noChangeAspect="1"/>
          </p:cNvGraphicFramePr>
          <p:nvPr/>
        </p:nvGraphicFramePr>
        <p:xfrm>
          <a:off x="3419872" y="4293096"/>
          <a:ext cx="2690812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393480" progId="Equation.3">
                  <p:embed/>
                </p:oleObj>
              </mc:Choice>
              <mc:Fallback>
                <p:oleObj name="Equation" r:id="rId6" imgW="1079280" imgH="393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4293096"/>
                        <a:ext cx="2690812" cy="98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0" name="Object 2"/>
          <p:cNvGraphicFramePr>
            <a:graphicFrameLocks noChangeAspect="1"/>
          </p:cNvGraphicFramePr>
          <p:nvPr/>
        </p:nvGraphicFramePr>
        <p:xfrm>
          <a:off x="3449638" y="5392738"/>
          <a:ext cx="31384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1120" imgH="355320" progId="Equation.3">
                  <p:embed/>
                </p:oleObj>
              </mc:Choice>
              <mc:Fallback>
                <p:oleObj name="Equation" r:id="rId8" imgW="1041120" imgH="35532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638" y="5392738"/>
                        <a:ext cx="3138487" cy="1076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>
            <a:normAutofit/>
          </a:bodyPr>
          <a:lstStyle/>
          <a:p>
            <a:r>
              <a:rPr lang="en-GB" sz="4000" dirty="0"/>
              <a:t>Laplace Transform of Test Signals</a:t>
            </a:r>
            <a:endParaRPr lang="en-GB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/>
          </a:bodyPr>
          <a:lstStyle/>
          <a:p>
            <a:r>
              <a:rPr lang="en-GB" sz="3600" dirty="0"/>
              <a:t>Ramp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Parabolic</a:t>
            </a:r>
          </a:p>
          <a:p>
            <a:endParaRPr lang="en-GB" sz="3800" dirty="0"/>
          </a:p>
        </p:txBody>
      </p:sp>
      <p:graphicFrame>
        <p:nvGraphicFramePr>
          <p:cNvPr id="180236" name="Object 2"/>
          <p:cNvGraphicFramePr>
            <a:graphicFrameLocks noChangeAspect="1"/>
          </p:cNvGraphicFramePr>
          <p:nvPr/>
        </p:nvGraphicFramePr>
        <p:xfrm>
          <a:off x="3144838" y="2636838"/>
          <a:ext cx="321627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368280" progId="Equation.3">
                  <p:embed/>
                </p:oleObj>
              </mc:Choice>
              <mc:Fallback>
                <p:oleObj name="Equation" r:id="rId2" imgW="106668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838" y="2636838"/>
                        <a:ext cx="3216275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0" name="Object 2"/>
          <p:cNvGraphicFramePr>
            <a:graphicFrameLocks noChangeAspect="1"/>
          </p:cNvGraphicFramePr>
          <p:nvPr/>
        </p:nvGraphicFramePr>
        <p:xfrm>
          <a:off x="3335338" y="5373688"/>
          <a:ext cx="3368675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368280" progId="Equation.3">
                  <p:embed/>
                </p:oleObj>
              </mc:Choice>
              <mc:Fallback>
                <p:oleObj name="Equation" r:id="rId4" imgW="111744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5373688"/>
                        <a:ext cx="3368675" cy="1116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2" name="Object 4"/>
          <p:cNvGraphicFramePr>
            <a:graphicFrameLocks noChangeAspect="1"/>
          </p:cNvGraphicFramePr>
          <p:nvPr/>
        </p:nvGraphicFramePr>
        <p:xfrm>
          <a:off x="3275856" y="1412776"/>
          <a:ext cx="27940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393480" progId="Equation.3">
                  <p:embed/>
                </p:oleObj>
              </mc:Choice>
              <mc:Fallback>
                <p:oleObj name="Equation" r:id="rId6" imgW="111744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412776"/>
                        <a:ext cx="2794000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3" name="Object 5"/>
          <p:cNvGraphicFramePr>
            <a:graphicFrameLocks noChangeAspect="1"/>
          </p:cNvGraphicFramePr>
          <p:nvPr/>
        </p:nvGraphicFramePr>
        <p:xfrm>
          <a:off x="3635896" y="4005064"/>
          <a:ext cx="2992438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596880" progId="Equation.3">
                  <p:embed/>
                </p:oleObj>
              </mc:Choice>
              <mc:Fallback>
                <p:oleObj name="Equation" r:id="rId8" imgW="1244520" imgH="596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005064"/>
                        <a:ext cx="2992438" cy="1436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94122"/>
          </a:xfrm>
        </p:spPr>
        <p:txBody>
          <a:bodyPr/>
          <a:lstStyle/>
          <a:p>
            <a:r>
              <a:rPr lang="en-GB" dirty="0"/>
              <a:t>Time Response of Control Systems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138064" y="2420888"/>
            <a:ext cx="7178352" cy="2204996"/>
            <a:chOff x="1138064" y="2420888"/>
            <a:chExt cx="7178352" cy="2204996"/>
          </a:xfrm>
        </p:grpSpPr>
        <p:sp>
          <p:nvSpPr>
            <p:cNvPr id="4" name="Rectangle 3"/>
            <p:cNvSpPr/>
            <p:nvPr/>
          </p:nvSpPr>
          <p:spPr>
            <a:xfrm>
              <a:off x="3442320" y="2897692"/>
              <a:ext cx="216024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600" dirty="0"/>
                <a:t>System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2146176" y="3528348"/>
              <a:ext cx="12961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5588912" y="3532116"/>
              <a:ext cx="12961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Picture 7" descr="download.jpg"/>
            <p:cNvPicPr>
              <a:picLocks noChangeAspect="1"/>
            </p:cNvPicPr>
            <p:nvPr/>
          </p:nvPicPr>
          <p:blipFill>
            <a:blip r:embed="rId2" cstate="print"/>
            <a:srcRect t="52257"/>
            <a:stretch>
              <a:fillRect/>
            </a:stretch>
          </p:blipFill>
          <p:spPr>
            <a:xfrm>
              <a:off x="1210072" y="2490103"/>
              <a:ext cx="1348772" cy="602306"/>
            </a:xfrm>
            <a:prstGeom prst="rect">
              <a:avLst/>
            </a:prstGeom>
          </p:spPr>
        </p:pic>
        <p:pic>
          <p:nvPicPr>
            <p:cNvPr id="10" name="Picture 9" descr="download.jpg"/>
            <p:cNvPicPr>
              <a:picLocks noChangeAspect="1"/>
            </p:cNvPicPr>
            <p:nvPr/>
          </p:nvPicPr>
          <p:blipFill>
            <a:blip r:embed="rId2" cstate="print"/>
            <a:srcRect b="51632"/>
            <a:stretch>
              <a:fillRect/>
            </a:stretch>
          </p:blipFill>
          <p:spPr>
            <a:xfrm>
              <a:off x="6466656" y="2420888"/>
              <a:ext cx="1849760" cy="836844"/>
            </a:xfrm>
            <a:prstGeom prst="rect">
              <a:avLst/>
            </a:prstGeom>
          </p:spPr>
        </p:pic>
        <p:pic>
          <p:nvPicPr>
            <p:cNvPr id="9" name="Picture 8" descr="4_impul.gif"/>
            <p:cNvPicPr>
              <a:picLocks noChangeAspect="1"/>
            </p:cNvPicPr>
            <p:nvPr/>
          </p:nvPicPr>
          <p:blipFill>
            <a:blip r:embed="rId3" cstate="print"/>
            <a:srcRect r="79328" b="66400"/>
            <a:stretch>
              <a:fillRect/>
            </a:stretch>
          </p:blipFill>
          <p:spPr>
            <a:xfrm>
              <a:off x="1138064" y="3401748"/>
              <a:ext cx="819091" cy="936104"/>
            </a:xfrm>
            <a:prstGeom prst="rect">
              <a:avLst/>
            </a:prstGeom>
          </p:spPr>
        </p:pic>
        <p:pic>
          <p:nvPicPr>
            <p:cNvPr id="11" name="Picture 10" descr="4_impul.gif"/>
            <p:cNvPicPr>
              <a:picLocks noChangeAspect="1"/>
            </p:cNvPicPr>
            <p:nvPr/>
          </p:nvPicPr>
          <p:blipFill>
            <a:blip r:embed="rId3" cstate="print"/>
            <a:srcRect l="73827" b="66400"/>
            <a:stretch>
              <a:fillRect/>
            </a:stretch>
          </p:blipFill>
          <p:spPr>
            <a:xfrm>
              <a:off x="6610672" y="3585929"/>
              <a:ext cx="1152128" cy="1039955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251520" y="4828276"/>
            <a:ext cx="8568952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The time response of any system has two components</a:t>
            </a:r>
          </a:p>
          <a:p>
            <a:pPr marL="635000" lvl="1" indent="-1778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Transient response</a:t>
            </a:r>
          </a:p>
          <a:p>
            <a:pPr marL="635000" lvl="1" indent="-1778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Steady-state response. 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395536" y="1124744"/>
            <a:ext cx="84969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US" sz="2400" dirty="0"/>
              <a:t>Time response of a dynamic system response to an input expressed as a function of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94122"/>
          </a:xfrm>
        </p:spPr>
        <p:txBody>
          <a:bodyPr/>
          <a:lstStyle/>
          <a:p>
            <a:r>
              <a:rPr lang="en-GB" dirty="0"/>
              <a:t>Time Response of Control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536" y="1273984"/>
            <a:ext cx="8496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When the response of the system is changed form rest or equilibrium it takes some time to settle down. </a:t>
            </a:r>
          </a:p>
          <a:p>
            <a:pPr marL="177800" indent="-177800" algn="just">
              <a:buFont typeface="Arial" pitchFamily="34" charset="0"/>
              <a:buChar char="•"/>
            </a:pPr>
            <a:endParaRPr lang="en-GB" sz="2400" dirty="0"/>
          </a:p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Transient response is the response of a system from rest or equilibrium to steady state. </a:t>
            </a:r>
            <a:endParaRPr lang="en-US" sz="2400" dirty="0"/>
          </a:p>
        </p:txBody>
      </p:sp>
      <p:pic>
        <p:nvPicPr>
          <p:cNvPr id="203778" name="Picture 2"/>
          <p:cNvPicPr>
            <a:picLocks noChangeAspect="1" noChangeArrowheads="1"/>
          </p:cNvPicPr>
          <p:nvPr/>
        </p:nvPicPr>
        <p:blipFill>
          <a:blip r:embed="rId2" cstate="print"/>
          <a:srcRect l="11905" t="11739" r="7734"/>
          <a:stretch>
            <a:fillRect/>
          </a:stretch>
        </p:blipFill>
        <p:spPr bwMode="auto">
          <a:xfrm>
            <a:off x="4139952" y="3356992"/>
            <a:ext cx="4968552" cy="345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8" name="Group 17"/>
          <p:cNvGrpSpPr/>
          <p:nvPr/>
        </p:nvGrpSpPr>
        <p:grpSpPr>
          <a:xfrm>
            <a:off x="5868144" y="3414246"/>
            <a:ext cx="2880320" cy="2988000"/>
            <a:chOff x="5652120" y="3456296"/>
            <a:chExt cx="2880320" cy="298800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7870720" y="3456296"/>
              <a:ext cx="0" cy="2988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652120" y="5301208"/>
              <a:ext cx="19949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Transient Response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70775" y="4175788"/>
              <a:ext cx="461665" cy="220554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GB" dirty="0"/>
                <a:t>Steady State Response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389242" y="3875564"/>
            <a:ext cx="36066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The response of the system after the transient response is called steady state response.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94122"/>
          </a:xfrm>
        </p:spPr>
        <p:txBody>
          <a:bodyPr/>
          <a:lstStyle/>
          <a:p>
            <a:r>
              <a:rPr lang="en-GB" dirty="0"/>
              <a:t>Time Response of Control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528" y="1362248"/>
            <a:ext cx="849694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177800" algn="just">
              <a:buFont typeface="Arial" pitchFamily="34" charset="0"/>
              <a:buChar char="•"/>
            </a:pPr>
            <a:r>
              <a:rPr lang="en-US" sz="2400" dirty="0"/>
              <a:t>Transient response depend upon the system poles only and not on the type of input. </a:t>
            </a:r>
          </a:p>
          <a:p>
            <a:pPr marL="273050" indent="-177800" algn="just">
              <a:buFont typeface="Arial" pitchFamily="34" charset="0"/>
              <a:buChar char="•"/>
            </a:pPr>
            <a:endParaRPr lang="en-US" sz="2400" dirty="0"/>
          </a:p>
          <a:p>
            <a:pPr marL="273050" indent="-177800" algn="just">
              <a:buFont typeface="Arial" pitchFamily="34" charset="0"/>
              <a:buChar char="•"/>
            </a:pPr>
            <a:r>
              <a:rPr lang="en-US" sz="2400" dirty="0"/>
              <a:t>It is therefore sufficient to analyze the transient response using a step input. </a:t>
            </a:r>
          </a:p>
          <a:p>
            <a:pPr marL="273050" indent="-177800" algn="just">
              <a:buFont typeface="Arial" pitchFamily="34" charset="0"/>
              <a:buChar char="•"/>
            </a:pPr>
            <a:endParaRPr lang="en-US" sz="2400" dirty="0"/>
          </a:p>
          <a:p>
            <a:pPr marL="273050" indent="-177800" algn="just">
              <a:buFont typeface="Arial" pitchFamily="34" charset="0"/>
              <a:buChar char="•"/>
            </a:pPr>
            <a:r>
              <a:rPr lang="en-US" sz="2400" dirty="0"/>
              <a:t>The steady-state response depends on system dynamics and the input quantity. </a:t>
            </a:r>
          </a:p>
          <a:p>
            <a:pPr marL="273050" indent="-177800" algn="just">
              <a:buFont typeface="Arial" pitchFamily="34" charset="0"/>
              <a:buChar char="•"/>
            </a:pPr>
            <a:endParaRPr lang="en-US" sz="2400" dirty="0"/>
          </a:p>
          <a:p>
            <a:pPr marL="273050" indent="-177800" algn="just">
              <a:buFont typeface="Arial" pitchFamily="34" charset="0"/>
              <a:buChar char="•"/>
            </a:pPr>
            <a:r>
              <a:rPr lang="en-US" sz="2400" dirty="0"/>
              <a:t>It is then examined using different test signals by final value theorem.</a:t>
            </a:r>
            <a:endParaRPr lang="en-GB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692696"/>
            <a:ext cx="8964488" cy="576064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/>
              <a:t>The first order system has only one pole.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Where </a:t>
            </a:r>
            <a:r>
              <a:rPr lang="en-GB" b="1" i="1" dirty="0">
                <a:solidFill>
                  <a:srgbClr val="FF0000"/>
                </a:solidFill>
              </a:rPr>
              <a:t>K</a:t>
            </a:r>
            <a:r>
              <a:rPr lang="en-GB" dirty="0"/>
              <a:t> is the D.C gain and </a:t>
            </a:r>
            <a:r>
              <a:rPr lang="en-GB" b="1" i="1" dirty="0">
                <a:solidFill>
                  <a:srgbClr val="FF0000"/>
                </a:solidFill>
              </a:rPr>
              <a:t>T</a:t>
            </a:r>
            <a:r>
              <a:rPr lang="en-GB" dirty="0"/>
              <a:t> is the time constant of the system.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Time constant is a measure of how quickly a 1</a:t>
            </a:r>
            <a:r>
              <a:rPr lang="en-GB" baseline="30000" dirty="0"/>
              <a:t>st</a:t>
            </a:r>
            <a:r>
              <a:rPr lang="en-GB" dirty="0"/>
              <a:t> order system responds to a unit step input.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D.C Gain of the system is ratio between the input signal and the steady state value of output. </a:t>
            </a:r>
          </a:p>
          <a:p>
            <a:endParaRPr lang="en-GB" dirty="0"/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489325" y="1268413"/>
          <a:ext cx="20542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55320" progId="Equation.3">
                  <p:embed/>
                </p:oleObj>
              </mc:Choice>
              <mc:Fallback>
                <p:oleObj name="Equation" r:id="rId2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1268413"/>
                        <a:ext cx="205422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291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16" y="692696"/>
            <a:ext cx="8964488" cy="648072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The first order system given below.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522141" y="1268760"/>
          <a:ext cx="19859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355320" progId="Equation.3">
                  <p:embed/>
                </p:oleObj>
              </mc:Choice>
              <mc:Fallback>
                <p:oleObj name="Equation" r:id="rId2" imgW="7365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141" y="1268760"/>
                        <a:ext cx="19859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79" name="Object 1"/>
          <p:cNvGraphicFramePr>
            <a:graphicFrameLocks noChangeAspect="1"/>
          </p:cNvGraphicFramePr>
          <p:nvPr/>
        </p:nvGraphicFramePr>
        <p:xfrm>
          <a:off x="2987824" y="4270350"/>
          <a:ext cx="184943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355320" progId="Equation.3">
                  <p:embed/>
                </p:oleObj>
              </mc:Choice>
              <mc:Fallback>
                <p:oleObj name="Equation" r:id="rId4" imgW="6858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270350"/>
                        <a:ext cx="1849437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1" name="Object 1"/>
          <p:cNvGraphicFramePr>
            <a:graphicFrameLocks noChangeAspect="1"/>
          </p:cNvGraphicFramePr>
          <p:nvPr/>
        </p:nvGraphicFramePr>
        <p:xfrm>
          <a:off x="4860032" y="4271937"/>
          <a:ext cx="1541463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355320" progId="Equation.3">
                  <p:embed/>
                </p:oleObj>
              </mc:Choice>
              <mc:Fallback>
                <p:oleObj name="Equation" r:id="rId6" imgW="5713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271937"/>
                        <a:ext cx="1541463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216024" y="2132856"/>
            <a:ext cx="8964488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D.C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gain is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time constant is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seconds.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51520" y="2996952"/>
            <a:ext cx="8964488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for following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517232"/>
            <a:ext cx="88924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800" dirty="0" err="1"/>
              <a:t>D.C</a:t>
            </a:r>
            <a:r>
              <a:rPr lang="en-GB" sz="2800" dirty="0"/>
              <a:t> Gain of the system is </a:t>
            </a:r>
            <a:r>
              <a:rPr lang="en-GB" sz="2800" dirty="0">
                <a:solidFill>
                  <a:srgbClr val="FF0000"/>
                </a:solidFill>
              </a:rPr>
              <a:t>3/5</a:t>
            </a:r>
            <a:r>
              <a:rPr lang="en-GB" sz="2800" dirty="0"/>
              <a:t> and time constant is </a:t>
            </a:r>
            <a:r>
              <a:rPr lang="en-GB" sz="2800" dirty="0">
                <a:solidFill>
                  <a:srgbClr val="FF0000"/>
                </a:solidFill>
              </a:rPr>
              <a:t>1/5 </a:t>
            </a:r>
            <a:r>
              <a:rPr lang="en-GB" sz="2800" dirty="0"/>
              <a:t>seconds.</a:t>
            </a:r>
          </a:p>
        </p:txBody>
      </p:sp>
    </p:spTree>
    <p:extLst>
      <p:ext uri="{BB962C8B-B14F-4D97-AF65-F5344CB8AC3E}">
        <p14:creationId xmlns:p14="http://schemas.microsoft.com/office/powerpoint/2010/main" val="6965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Impulse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568952" cy="4525963"/>
          </a:xfrm>
        </p:spPr>
        <p:txBody>
          <a:bodyPr>
            <a:normAutofit/>
          </a:bodyPr>
          <a:lstStyle/>
          <a:p>
            <a:r>
              <a:rPr lang="en-GB" sz="2400" dirty="0"/>
              <a:t>Consider the following 1</a:t>
            </a:r>
            <a:r>
              <a:rPr lang="en-GB" sz="2400" baseline="30000" dirty="0"/>
              <a:t>st</a:t>
            </a:r>
            <a:r>
              <a:rPr lang="en-GB" sz="2400" dirty="0"/>
              <a:t> order system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3923928" y="2276872"/>
            <a:ext cx="1584176" cy="1008732"/>
            <a:chOff x="3635896" y="4508500"/>
            <a:chExt cx="1584176" cy="1008732"/>
          </a:xfrm>
        </p:grpSpPr>
        <p:sp>
          <p:nvSpPr>
            <p:cNvPr id="6" name="Rectangle 5"/>
            <p:cNvSpPr/>
            <p:nvPr/>
          </p:nvSpPr>
          <p:spPr>
            <a:xfrm>
              <a:off x="3635896" y="4509120"/>
              <a:ext cx="1584176" cy="1008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212996" name="Object 4"/>
            <p:cNvGraphicFramePr>
              <a:graphicFrameLocks noChangeAspect="1"/>
            </p:cNvGraphicFramePr>
            <p:nvPr/>
          </p:nvGraphicFramePr>
          <p:xfrm>
            <a:off x="3967163" y="4508500"/>
            <a:ext cx="958850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5320" imgH="355320" progId="Equation.3">
                    <p:embed/>
                  </p:oleObj>
                </mc:Choice>
                <mc:Fallback>
                  <p:oleObj name="Equation" r:id="rId2" imgW="355320" imgH="355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163" y="4508500"/>
                          <a:ext cx="958850" cy="958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0" name="Straight Arrow Connector 9"/>
          <p:cNvCxnSpPr/>
          <p:nvPr/>
        </p:nvCxnSpPr>
        <p:spPr>
          <a:xfrm>
            <a:off x="2483768" y="2757400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508104" y="2767280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2997" name="Object 5"/>
          <p:cNvGraphicFramePr>
            <a:graphicFrameLocks noChangeAspect="1"/>
          </p:cNvGraphicFramePr>
          <p:nvPr/>
        </p:nvGraphicFramePr>
        <p:xfrm>
          <a:off x="6971792" y="2492896"/>
          <a:ext cx="7540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177480" progId="Equation.3">
                  <p:embed/>
                </p:oleObj>
              </mc:Choice>
              <mc:Fallback>
                <p:oleObj name="Equation" r:id="rId4" imgW="279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1792" y="2492896"/>
                        <a:ext cx="7540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/>
        </p:nvGraphicFramePr>
        <p:xfrm>
          <a:off x="1763688" y="2513759"/>
          <a:ext cx="754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3">
                  <p:embed/>
                </p:oleObj>
              </mc:Choice>
              <mc:Fallback>
                <p:oleObj name="Equation" r:id="rId6" imgW="279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513759"/>
                        <a:ext cx="75406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827584" y="1844824"/>
            <a:ext cx="2194653" cy="1963347"/>
            <a:chOff x="6161642" y="2160566"/>
            <a:chExt cx="2928060" cy="2683427"/>
          </a:xfrm>
        </p:grpSpPr>
        <p:grpSp>
          <p:nvGrpSpPr>
            <p:cNvPr id="16" name="Group 13"/>
            <p:cNvGrpSpPr/>
            <p:nvPr/>
          </p:nvGrpSpPr>
          <p:grpSpPr>
            <a:xfrm>
              <a:off x="6161642" y="2160566"/>
              <a:ext cx="2928060" cy="2683427"/>
              <a:chOff x="4860032" y="2160566"/>
              <a:chExt cx="2928060" cy="2683427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5189830" y="4234944"/>
                <a:ext cx="351175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0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473276" y="4126835"/>
                <a:ext cx="314816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t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141472" y="2160566"/>
                <a:ext cx="545794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200" dirty="0"/>
                  <a:t>δ</a:t>
                </a:r>
                <a:r>
                  <a:rPr lang="en-GB" sz="1200" dirty="0"/>
                  <a:t>(t)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040148" y="3034691"/>
                <a:ext cx="351175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1</a:t>
                </a:r>
              </a:p>
            </p:txBody>
          </p:sp>
        </p:grpSp>
        <p:cxnSp>
          <p:nvCxnSpPr>
            <p:cNvPr id="17" name="Straight Arrow Connector 16"/>
            <p:cNvCxnSpPr/>
            <p:nvPr/>
          </p:nvCxnSpPr>
          <p:spPr>
            <a:xfrm flipV="1">
              <a:off x="6739268" y="3138235"/>
              <a:ext cx="0" cy="11659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3707904" y="3933056"/>
          <a:ext cx="22272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480" imgH="177480" progId="Equation.3">
                  <p:embed/>
                </p:oleObj>
              </mc:Choice>
              <mc:Fallback>
                <p:oleObj name="Equation" r:id="rId8" imgW="825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933056"/>
                        <a:ext cx="222726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3563888" y="5085184"/>
          <a:ext cx="19859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355320" progId="Equation.3">
                  <p:embed/>
                </p:oleObj>
              </mc:Choice>
              <mc:Fallback>
                <p:oleObj name="Equation" r:id="rId10" imgW="7365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085184"/>
                        <a:ext cx="19859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48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Impulse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96752"/>
            <a:ext cx="8568952" cy="2520281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Re-arrange following equation as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3707904" y="1124744"/>
          <a:ext cx="19859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355320" progId="Equation.3">
                  <p:embed/>
                </p:oleObj>
              </mc:Choice>
              <mc:Fallback>
                <p:oleObj name="Equation" r:id="rId2" imgW="7365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124744"/>
                        <a:ext cx="19859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3" name="Object 8"/>
          <p:cNvGraphicFramePr>
            <a:graphicFrameLocks noChangeAspect="1"/>
          </p:cNvGraphicFramePr>
          <p:nvPr/>
        </p:nvGraphicFramePr>
        <p:xfrm>
          <a:off x="3228975" y="2959100"/>
          <a:ext cx="22256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355320" progId="Equation.3">
                  <p:embed/>
                </p:oleObj>
              </mc:Choice>
              <mc:Fallback>
                <p:oleObj name="Equation" r:id="rId4" imgW="8254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2959100"/>
                        <a:ext cx="222567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4" name="Object 8"/>
          <p:cNvGraphicFramePr>
            <a:graphicFrameLocks noChangeAspect="1"/>
          </p:cNvGraphicFramePr>
          <p:nvPr/>
        </p:nvGraphicFramePr>
        <p:xfrm>
          <a:off x="4586288" y="5441950"/>
          <a:ext cx="208756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342720" progId="Equation.3">
                  <p:embed/>
                </p:oleObj>
              </mc:Choice>
              <mc:Fallback>
                <p:oleObj name="Equation" r:id="rId6" imgW="7743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5441950"/>
                        <a:ext cx="2087562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251520" y="4365104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In order represent the response of the system in time domain we need to compute inverse Laplace transform of the above equation. </a:t>
            </a:r>
          </a:p>
        </p:txBody>
      </p:sp>
      <p:graphicFrame>
        <p:nvGraphicFramePr>
          <p:cNvPr id="214025" name="Object 9"/>
          <p:cNvGraphicFramePr>
            <a:graphicFrameLocks noChangeAspect="1"/>
          </p:cNvGraphicFramePr>
          <p:nvPr/>
        </p:nvGraphicFramePr>
        <p:xfrm>
          <a:off x="1547664" y="5517232"/>
          <a:ext cx="2770187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393480" progId="Equation.3">
                  <p:embed/>
                </p:oleObj>
              </mc:Choice>
              <mc:Fallback>
                <p:oleObj name="Equation" r:id="rId8" imgW="1028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517232"/>
                        <a:ext cx="2770187" cy="1062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406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Impulse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graphicFrame>
        <p:nvGraphicFramePr>
          <p:cNvPr id="214024" name="Object 8"/>
          <p:cNvGraphicFramePr>
            <a:graphicFrameLocks noChangeAspect="1"/>
          </p:cNvGraphicFramePr>
          <p:nvPr/>
        </p:nvGraphicFramePr>
        <p:xfrm>
          <a:off x="3433763" y="976313"/>
          <a:ext cx="208756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342720" progId="Equation.3">
                  <p:embed/>
                </p:oleObj>
              </mc:Choice>
              <mc:Fallback>
                <p:oleObj name="Equation" r:id="rId2" imgW="7743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976313"/>
                        <a:ext cx="2087562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395536" y="1196752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If </a:t>
            </a:r>
            <a:r>
              <a:rPr lang="en-GB" sz="2400" dirty="0">
                <a:solidFill>
                  <a:srgbClr val="FF0000"/>
                </a:solidFill>
              </a:rPr>
              <a:t>K=3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FF0000"/>
                </a:solidFill>
              </a:rPr>
              <a:t>T=</a:t>
            </a:r>
            <a:r>
              <a:rPr lang="en-GB" sz="2400" dirty="0" err="1">
                <a:solidFill>
                  <a:srgbClr val="FF0000"/>
                </a:solidFill>
              </a:rPr>
              <a:t>2s</a:t>
            </a:r>
            <a:r>
              <a:rPr lang="en-GB" sz="2400" dirty="0"/>
              <a:t> then </a:t>
            </a:r>
          </a:p>
        </p:txBody>
      </p:sp>
      <p:pic>
        <p:nvPicPr>
          <p:cNvPr id="21504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4492" y="2033552"/>
            <a:ext cx="6125860" cy="47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2204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Step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3"/>
            <a:ext cx="8568952" cy="720080"/>
          </a:xfrm>
        </p:spPr>
        <p:txBody>
          <a:bodyPr>
            <a:normAutofit/>
          </a:bodyPr>
          <a:lstStyle/>
          <a:p>
            <a:r>
              <a:rPr lang="en-GB" sz="2400" dirty="0"/>
              <a:t>Consider the following 1</a:t>
            </a:r>
            <a:r>
              <a:rPr lang="en-GB" sz="2400" baseline="30000" dirty="0"/>
              <a:t>st</a:t>
            </a:r>
            <a:r>
              <a:rPr lang="en-GB" sz="2400" dirty="0"/>
              <a:t> order system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1691680" y="1772816"/>
            <a:ext cx="5962166" cy="1008732"/>
            <a:chOff x="1691680" y="2060848"/>
            <a:chExt cx="5962166" cy="1008732"/>
          </a:xfrm>
        </p:grpSpPr>
        <p:grpSp>
          <p:nvGrpSpPr>
            <p:cNvPr id="4" name="Group 7"/>
            <p:cNvGrpSpPr/>
            <p:nvPr/>
          </p:nvGrpSpPr>
          <p:grpSpPr>
            <a:xfrm>
              <a:off x="3851920" y="2060848"/>
              <a:ext cx="1584176" cy="1008732"/>
              <a:chOff x="3635896" y="4508500"/>
              <a:chExt cx="1584176" cy="100873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635896" y="4509120"/>
                <a:ext cx="1584176" cy="100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12996" name="Object 4"/>
              <p:cNvGraphicFramePr>
                <a:graphicFrameLocks noChangeAspect="1"/>
              </p:cNvGraphicFramePr>
              <p:nvPr/>
            </p:nvGraphicFramePr>
            <p:xfrm>
              <a:off x="3967163" y="4508500"/>
              <a:ext cx="958850" cy="958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55320" imgH="355320" progId="Equation.3">
                      <p:embed/>
                    </p:oleObj>
                  </mc:Choice>
                  <mc:Fallback>
                    <p:oleObj name="Equation" r:id="rId2" imgW="355320" imgH="3553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163" y="4508500"/>
                            <a:ext cx="958850" cy="958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0" name="Straight Arrow Connector 9"/>
            <p:cNvCxnSpPr/>
            <p:nvPr/>
          </p:nvCxnSpPr>
          <p:spPr>
            <a:xfrm>
              <a:off x="2411760" y="2541376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436096" y="2551256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2997" name="Object 5"/>
            <p:cNvGraphicFramePr>
              <a:graphicFrameLocks noChangeAspect="1"/>
            </p:cNvGraphicFramePr>
            <p:nvPr/>
          </p:nvGraphicFramePr>
          <p:xfrm>
            <a:off x="6899784" y="2276872"/>
            <a:ext cx="75406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360" imgH="177480" progId="Equation.3">
                    <p:embed/>
                  </p:oleObj>
                </mc:Choice>
                <mc:Fallback>
                  <p:oleObj name="Equation" r:id="rId4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9784" y="2276872"/>
                          <a:ext cx="75406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2998" name="Object 6"/>
            <p:cNvGraphicFramePr>
              <a:graphicFrameLocks noChangeAspect="1"/>
            </p:cNvGraphicFramePr>
            <p:nvPr/>
          </p:nvGraphicFramePr>
          <p:xfrm>
            <a:off x="1691680" y="2297735"/>
            <a:ext cx="75406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177480" progId="Equation.3">
                    <p:embed/>
                  </p:oleObj>
                </mc:Choice>
                <mc:Fallback>
                  <p:oleObj name="Equation" r:id="rId6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2297735"/>
                          <a:ext cx="754063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3419872" y="2996952"/>
          <a:ext cx="23987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355320" progId="Equation.3">
                  <p:embed/>
                </p:oleObj>
              </mc:Choice>
              <mc:Fallback>
                <p:oleObj name="Equation" r:id="rId8" imgW="8888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996952"/>
                        <a:ext cx="239871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3395266" y="4005064"/>
          <a:ext cx="232886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368280" progId="Equation.3">
                  <p:embed/>
                </p:oleObj>
              </mc:Choice>
              <mc:Fallback>
                <p:oleObj name="Equation" r:id="rId10" imgW="8632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266" y="4005064"/>
                        <a:ext cx="2328862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1" name="Object 7"/>
          <p:cNvGraphicFramePr>
            <a:graphicFrameLocks noChangeAspect="1"/>
          </p:cNvGraphicFramePr>
          <p:nvPr/>
        </p:nvGraphicFramePr>
        <p:xfrm>
          <a:off x="3338513" y="5924947"/>
          <a:ext cx="263683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355320" progId="Equation.3">
                  <p:embed/>
                </p:oleObj>
              </mc:Choice>
              <mc:Fallback>
                <p:oleObj name="Equation" r:id="rId12" imgW="977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5924947"/>
                        <a:ext cx="2636837" cy="960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107504" y="5085184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In order to find out the inverse Laplace of the above equation, we need to break it into partial fraction expansion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619672" y="5877272"/>
            <a:ext cx="3312368" cy="980728"/>
            <a:chOff x="1619672" y="5877272"/>
            <a:chExt cx="3312368" cy="980728"/>
          </a:xfrm>
        </p:grpSpPr>
        <p:sp>
          <p:nvSpPr>
            <p:cNvPr id="16" name="Oval 15"/>
            <p:cNvSpPr/>
            <p:nvPr/>
          </p:nvSpPr>
          <p:spPr>
            <a:xfrm>
              <a:off x="4283968" y="5949280"/>
              <a:ext cx="648072" cy="9087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3419968" y="6093296"/>
              <a:ext cx="864000" cy="720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1619672" y="5877272"/>
              <a:ext cx="17706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Forced Response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980520" y="5877272"/>
            <a:ext cx="3211242" cy="1035320"/>
            <a:chOff x="4980520" y="5877272"/>
            <a:chExt cx="3211242" cy="1035320"/>
          </a:xfrm>
        </p:grpSpPr>
        <p:sp>
          <p:nvSpPr>
            <p:cNvPr id="21" name="Oval 20"/>
            <p:cNvSpPr/>
            <p:nvPr/>
          </p:nvSpPr>
          <p:spPr>
            <a:xfrm>
              <a:off x="4980520" y="5931864"/>
              <a:ext cx="1035408" cy="98072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H="1">
              <a:off x="6084168" y="6245696"/>
              <a:ext cx="576160" cy="636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6329714" y="5877272"/>
              <a:ext cx="18620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Natural Response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585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Step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204864"/>
            <a:ext cx="8568952" cy="720080"/>
          </a:xfrm>
        </p:spPr>
        <p:txBody>
          <a:bodyPr>
            <a:normAutofit/>
          </a:bodyPr>
          <a:lstStyle/>
          <a:p>
            <a:r>
              <a:rPr lang="en-GB" sz="2400" dirty="0"/>
              <a:t>Taking  Inverse Laplace of above equation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graphicFrame>
        <p:nvGraphicFramePr>
          <p:cNvPr id="216071" name="Object 7"/>
          <p:cNvGraphicFramePr>
            <a:graphicFrameLocks noChangeAspect="1"/>
          </p:cNvGraphicFramePr>
          <p:nvPr/>
        </p:nvGraphicFramePr>
        <p:xfrm>
          <a:off x="2849563" y="1145332"/>
          <a:ext cx="31162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393480" progId="Equation.3">
                  <p:embed/>
                </p:oleObj>
              </mc:Choice>
              <mc:Fallback>
                <p:oleObj name="Equation" r:id="rId2" imgW="1155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1145332"/>
                        <a:ext cx="3116262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7" name="Object 7"/>
          <p:cNvGraphicFramePr>
            <a:graphicFrameLocks noChangeAspect="1"/>
          </p:cNvGraphicFramePr>
          <p:nvPr/>
        </p:nvGraphicFramePr>
        <p:xfrm>
          <a:off x="2878138" y="3278436"/>
          <a:ext cx="304641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15640" progId="Equation.3">
                  <p:embed/>
                </p:oleObj>
              </mc:Choice>
              <mc:Fallback>
                <p:oleObj name="Equation" r:id="rId4" imgW="1130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3278436"/>
                        <a:ext cx="304641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ntent Placeholder 2"/>
          <p:cNvSpPr txBox="1">
            <a:spLocks/>
          </p:cNvSpPr>
          <p:nvPr/>
        </p:nvSpPr>
        <p:spPr>
          <a:xfrm>
            <a:off x="179512" y="4077072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Where u(t)=1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/>
        </p:nvGraphicFramePr>
        <p:xfrm>
          <a:off x="2987824" y="4358556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15640" progId="Equation.3">
                  <p:embed/>
                </p:oleObj>
              </mc:Choice>
              <mc:Fallback>
                <p:oleObj name="Equation" r:id="rId6" imgW="977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358556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9" name="Object 11"/>
          <p:cNvGraphicFramePr>
            <a:graphicFrameLocks noChangeAspect="1"/>
          </p:cNvGraphicFramePr>
          <p:nvPr/>
        </p:nvGraphicFramePr>
        <p:xfrm>
          <a:off x="2568575" y="5949950"/>
          <a:ext cx="37671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215640" progId="Equation.3">
                  <p:embed/>
                </p:oleObj>
              </mc:Choice>
              <mc:Fallback>
                <p:oleObj name="Equation" r:id="rId8" imgW="1396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949950"/>
                        <a:ext cx="3767138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107504" y="5085184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t=T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6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26976"/>
          </a:xfrm>
        </p:spPr>
        <p:txBody>
          <a:bodyPr>
            <a:normAutofit/>
          </a:bodyPr>
          <a:lstStyle/>
          <a:p>
            <a:r>
              <a:rPr lang="en-GB" sz="4000" dirty="0"/>
              <a:t>Step Response of 1</a:t>
            </a:r>
            <a:r>
              <a:rPr lang="en-GB" sz="4000" baseline="30000" dirty="0"/>
              <a:t>st</a:t>
            </a:r>
            <a:r>
              <a:rPr lang="en-GB" sz="4000" dirty="0"/>
              <a:t> Order System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5496" y="908720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K=10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1.5s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/>
        </p:nvGraphicFramePr>
        <p:xfrm>
          <a:off x="3851920" y="836712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215640" progId="Equation.3">
                  <p:embed/>
                </p:oleObj>
              </mc:Choice>
              <mc:Fallback>
                <p:oleObj name="Equation" r:id="rId2" imgW="977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836712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9141" name="Picture 5"/>
          <p:cNvPicPr>
            <a:picLocks noChangeAspect="1" noChangeArrowheads="1"/>
          </p:cNvPicPr>
          <p:nvPr/>
        </p:nvPicPr>
        <p:blipFill>
          <a:blip r:embed="rId4" cstate="print"/>
          <a:srcRect l="5160" r="8404" b="1420"/>
          <a:stretch>
            <a:fillRect/>
          </a:stretch>
        </p:blipFill>
        <p:spPr bwMode="auto">
          <a:xfrm>
            <a:off x="1228399" y="1670088"/>
            <a:ext cx="6799985" cy="518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Group 8"/>
          <p:cNvGrpSpPr/>
          <p:nvPr/>
        </p:nvGrpSpPr>
        <p:grpSpPr>
          <a:xfrm>
            <a:off x="1835696" y="2438304"/>
            <a:ext cx="6048672" cy="1540345"/>
            <a:chOff x="1835696" y="2438304"/>
            <a:chExt cx="6048672" cy="1540345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1835696" y="2438304"/>
              <a:ext cx="6048672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9142" name="Object 10"/>
            <p:cNvGraphicFramePr>
              <a:graphicFrameLocks noChangeAspect="1"/>
            </p:cNvGraphicFramePr>
            <p:nvPr/>
          </p:nvGraphicFramePr>
          <p:xfrm>
            <a:off x="3275856" y="3212976"/>
            <a:ext cx="4467410" cy="765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22280" imgH="380880" progId="Equation.3">
                    <p:embed/>
                  </p:oleObj>
                </mc:Choice>
                <mc:Fallback>
                  <p:oleObj name="Equation" r:id="rId5" imgW="222228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212976"/>
                          <a:ext cx="4467410" cy="7656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6"/>
          <p:cNvGrpSpPr/>
          <p:nvPr/>
        </p:nvGrpSpPr>
        <p:grpSpPr>
          <a:xfrm>
            <a:off x="1822048" y="3717032"/>
            <a:ext cx="1642820" cy="2637000"/>
            <a:chOff x="1822048" y="3717032"/>
            <a:chExt cx="1642820" cy="2637000"/>
          </a:xfrm>
        </p:grpSpPr>
        <p:grpSp>
          <p:nvGrpSpPr>
            <p:cNvPr id="14" name="Group 13"/>
            <p:cNvGrpSpPr/>
            <p:nvPr/>
          </p:nvGrpSpPr>
          <p:grpSpPr>
            <a:xfrm>
              <a:off x="1822048" y="3833752"/>
              <a:ext cx="949752" cy="2520280"/>
              <a:chOff x="1822048" y="3833752"/>
              <a:chExt cx="949752" cy="252028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 flipV="1">
                <a:off x="2771800" y="3833752"/>
                <a:ext cx="0" cy="25202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H="1">
                <a:off x="1822048" y="3847400"/>
                <a:ext cx="936104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19143" name="Object 10"/>
            <p:cNvGraphicFramePr>
              <a:graphicFrameLocks noChangeAspect="1"/>
            </p:cNvGraphicFramePr>
            <p:nvPr/>
          </p:nvGraphicFramePr>
          <p:xfrm>
            <a:off x="2843808" y="3717032"/>
            <a:ext cx="621060" cy="338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79360" imgH="152280" progId="Equation.3">
                    <p:embed/>
                  </p:oleObj>
                </mc:Choice>
                <mc:Fallback>
                  <p:oleObj name="Equation" r:id="rId7" imgW="27936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3717032"/>
                          <a:ext cx="621060" cy="3383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Oval 15"/>
            <p:cNvSpPr/>
            <p:nvPr/>
          </p:nvSpPr>
          <p:spPr>
            <a:xfrm>
              <a:off x="2699792" y="3807640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32108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26976"/>
          </a:xfrm>
        </p:spPr>
        <p:txBody>
          <a:bodyPr>
            <a:normAutofit/>
          </a:bodyPr>
          <a:lstStyle/>
          <a:p>
            <a:r>
              <a:rPr lang="en-GB" sz="4000" dirty="0"/>
              <a:t>Step Response of 1</a:t>
            </a:r>
            <a:r>
              <a:rPr lang="en-GB" sz="4000" baseline="30000" dirty="0"/>
              <a:t>st</a:t>
            </a:r>
            <a:r>
              <a:rPr lang="en-GB" sz="4000" dirty="0"/>
              <a:t> Order System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5496" y="908720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K=10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T=1, 3, 5, 7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/>
        </p:nvGraphicFramePr>
        <p:xfrm>
          <a:off x="3851920" y="836712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215640" progId="Equation.3">
                  <p:embed/>
                </p:oleObj>
              </mc:Choice>
              <mc:Fallback>
                <p:oleObj name="Equation" r:id="rId2" imgW="977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836712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4" cstate="print"/>
          <a:srcRect l="4478" r="7090"/>
          <a:stretch>
            <a:fillRect/>
          </a:stretch>
        </p:blipFill>
        <p:spPr bwMode="auto">
          <a:xfrm>
            <a:off x="1331640" y="1628800"/>
            <a:ext cx="6480720" cy="508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1549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System takes five time constants to reach its final value. </a:t>
            </a:r>
          </a:p>
        </p:txBody>
      </p:sp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737523"/>
            <a:ext cx="5616624" cy="402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249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26976"/>
          </a:xfrm>
        </p:spPr>
        <p:txBody>
          <a:bodyPr>
            <a:normAutofit/>
          </a:bodyPr>
          <a:lstStyle/>
          <a:p>
            <a:r>
              <a:rPr lang="en-GB" sz="4000" dirty="0"/>
              <a:t>Step Response of 1</a:t>
            </a:r>
            <a:r>
              <a:rPr lang="en-GB" sz="4000" baseline="30000" dirty="0"/>
              <a:t>st</a:t>
            </a:r>
            <a:r>
              <a:rPr lang="en-GB" sz="4000" dirty="0"/>
              <a:t> Order System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5496" y="908720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K=1, 3, 5, 10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T=1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/>
        </p:nvGraphicFramePr>
        <p:xfrm>
          <a:off x="3851920" y="836712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215640" progId="Equation.3">
                  <p:embed/>
                </p:oleObj>
              </mc:Choice>
              <mc:Fallback>
                <p:oleObj name="Equation" r:id="rId2" imgW="977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836712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4499" name="Picture 3"/>
          <p:cNvPicPr>
            <a:picLocks noChangeAspect="1" noChangeArrowheads="1"/>
          </p:cNvPicPr>
          <p:nvPr/>
        </p:nvPicPr>
        <p:blipFill>
          <a:blip r:embed="rId4" cstate="print"/>
          <a:srcRect l="4202" r="8604"/>
          <a:stretch>
            <a:fillRect/>
          </a:stretch>
        </p:blipFill>
        <p:spPr bwMode="auto">
          <a:xfrm>
            <a:off x="1331640" y="1709232"/>
            <a:ext cx="6408712" cy="5104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1396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Relation Between Step and impulse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step response of the first order system is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Differentiating c(t) with respect to t yields</a:t>
            </a:r>
          </a:p>
        </p:txBody>
      </p:sp>
      <p:graphicFrame>
        <p:nvGraphicFramePr>
          <p:cNvPr id="220162" name="Object 2"/>
          <p:cNvGraphicFramePr>
            <a:graphicFrameLocks noChangeAspect="1"/>
          </p:cNvGraphicFramePr>
          <p:nvPr/>
        </p:nvGraphicFramePr>
        <p:xfrm>
          <a:off x="1957388" y="2558355"/>
          <a:ext cx="455453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215640" progId="Equation.3">
                  <p:embed/>
                </p:oleObj>
              </mc:Choice>
              <mc:Fallback>
                <p:oleObj name="Equation" r:id="rId2" imgW="1688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388" y="2558355"/>
                        <a:ext cx="4554537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3" name="Object 3"/>
          <p:cNvGraphicFramePr>
            <a:graphicFrameLocks noChangeAspect="1"/>
          </p:cNvGraphicFramePr>
          <p:nvPr/>
        </p:nvGraphicFramePr>
        <p:xfrm>
          <a:off x="2699792" y="4198342"/>
          <a:ext cx="33893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355320" progId="Equation.3">
                  <p:embed/>
                </p:oleObj>
              </mc:Choice>
              <mc:Fallback>
                <p:oleObj name="Equation" r:id="rId4" imgW="12571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198342"/>
                        <a:ext cx="33893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4" name="Object 4"/>
          <p:cNvGraphicFramePr>
            <a:graphicFrameLocks noChangeAspect="1"/>
          </p:cNvGraphicFramePr>
          <p:nvPr/>
        </p:nvGraphicFramePr>
        <p:xfrm>
          <a:off x="3429000" y="5494486"/>
          <a:ext cx="23622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355320" progId="Equation.3">
                  <p:embed/>
                </p:oleObj>
              </mc:Choice>
              <mc:Fallback>
                <p:oleObj name="Equation" r:id="rId6" imgW="8762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94486"/>
                        <a:ext cx="2362200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098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52736"/>
            <a:ext cx="843528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Impulse response of a 1</a:t>
            </a:r>
            <a:r>
              <a:rPr lang="en-GB" sz="2800" baseline="30000" dirty="0"/>
              <a:t>st</a:t>
            </a:r>
            <a:r>
              <a:rPr lang="en-GB" sz="2800" dirty="0"/>
              <a:t> order system is given below.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Find out</a:t>
            </a:r>
          </a:p>
          <a:p>
            <a:pPr lvl="1" algn="just"/>
            <a:r>
              <a:rPr lang="en-GB" sz="2400" dirty="0"/>
              <a:t>Time constant T</a:t>
            </a:r>
          </a:p>
          <a:p>
            <a:pPr lvl="1" algn="just"/>
            <a:r>
              <a:rPr lang="en-GB" sz="2400" dirty="0" err="1"/>
              <a:t>D.C</a:t>
            </a:r>
            <a:r>
              <a:rPr lang="en-GB" sz="2400" dirty="0"/>
              <a:t> Gain K</a:t>
            </a:r>
          </a:p>
          <a:p>
            <a:pPr lvl="1" algn="just"/>
            <a:r>
              <a:rPr lang="en-GB" sz="2400" dirty="0"/>
              <a:t>Transfer Function </a:t>
            </a:r>
          </a:p>
          <a:p>
            <a:pPr lvl="1" algn="just"/>
            <a:r>
              <a:rPr lang="en-GB" sz="2400" dirty="0"/>
              <a:t>Step Response</a:t>
            </a:r>
            <a:endParaRPr lang="en-GB" sz="2800" dirty="0"/>
          </a:p>
        </p:txBody>
      </p:sp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3514650" y="1844824"/>
          <a:ext cx="1849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190440" progId="Equation.3">
                  <p:embed/>
                </p:oleObj>
              </mc:Choice>
              <mc:Fallback>
                <p:oleObj name="Equation" r:id="rId2" imgW="6858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650" y="1844824"/>
                        <a:ext cx="184943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8979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52736"/>
            <a:ext cx="843528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Laplace Transform of Impulse response of a system is actually the transfer function of the system.</a:t>
            </a:r>
          </a:p>
          <a:p>
            <a:pPr algn="just"/>
            <a:r>
              <a:rPr lang="en-GB" sz="2800" dirty="0"/>
              <a:t>Therefore taking Laplace Transform of the impulse response given by following equation.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3491880" y="2996952"/>
          <a:ext cx="1849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190440" progId="Equation.3">
                  <p:embed/>
                </p:oleObj>
              </mc:Choice>
              <mc:Fallback>
                <p:oleObj name="Equation" r:id="rId2" imgW="6858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2996952"/>
                        <a:ext cx="184943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1" name="Object 2"/>
          <p:cNvGraphicFramePr>
            <a:graphicFrameLocks noChangeAspect="1"/>
          </p:cNvGraphicFramePr>
          <p:nvPr/>
        </p:nvGraphicFramePr>
        <p:xfrm>
          <a:off x="2039938" y="3573016"/>
          <a:ext cx="4897437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355320" progId="Equation.3">
                  <p:embed/>
                </p:oleObj>
              </mc:Choice>
              <mc:Fallback>
                <p:oleObj name="Equation" r:id="rId4" imgW="18158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3573016"/>
                        <a:ext cx="4897437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2" name="Object 2"/>
          <p:cNvGraphicFramePr>
            <a:graphicFrameLocks noChangeAspect="1"/>
          </p:cNvGraphicFramePr>
          <p:nvPr/>
        </p:nvGraphicFramePr>
        <p:xfrm>
          <a:off x="2982913" y="4653136"/>
          <a:ext cx="3322637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355320" progId="Equation.3">
                  <p:embed/>
                </p:oleObj>
              </mc:Choice>
              <mc:Fallback>
                <p:oleObj name="Equation" r:id="rId6" imgW="12315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4653136"/>
                        <a:ext cx="3322637" cy="957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3" name="Object 5"/>
          <p:cNvGraphicFramePr>
            <a:graphicFrameLocks noChangeAspect="1"/>
          </p:cNvGraphicFramePr>
          <p:nvPr/>
        </p:nvGraphicFramePr>
        <p:xfrm>
          <a:off x="3491880" y="5733256"/>
          <a:ext cx="21240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355320" progId="Equation.3">
                  <p:embed/>
                </p:oleObj>
              </mc:Choice>
              <mc:Fallback>
                <p:oleObj name="Equation" r:id="rId8" imgW="7873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733256"/>
                        <a:ext cx="2124075" cy="957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346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52736"/>
            <a:ext cx="843528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Impulse response of a 1</a:t>
            </a:r>
            <a:r>
              <a:rPr lang="en-GB" sz="2800" baseline="30000" dirty="0"/>
              <a:t>st</a:t>
            </a:r>
            <a:r>
              <a:rPr lang="en-GB" sz="2800" dirty="0"/>
              <a:t> order system is given below.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Find out</a:t>
            </a:r>
          </a:p>
          <a:p>
            <a:pPr lvl="1" algn="just"/>
            <a:r>
              <a:rPr lang="en-GB" sz="2400" dirty="0"/>
              <a:t>Time constant </a:t>
            </a:r>
            <a:r>
              <a:rPr lang="en-GB" sz="2400" dirty="0">
                <a:solidFill>
                  <a:srgbClr val="FF0000"/>
                </a:solidFill>
              </a:rPr>
              <a:t>T=2</a:t>
            </a:r>
          </a:p>
          <a:p>
            <a:pPr lvl="1" algn="just"/>
            <a:r>
              <a:rPr lang="en-GB" sz="2400" dirty="0" err="1"/>
              <a:t>D.C</a:t>
            </a:r>
            <a:r>
              <a:rPr lang="en-GB" sz="2400" dirty="0"/>
              <a:t> Gain </a:t>
            </a:r>
            <a:r>
              <a:rPr lang="en-GB" sz="2400" dirty="0">
                <a:solidFill>
                  <a:srgbClr val="FF0000"/>
                </a:solidFill>
              </a:rPr>
              <a:t>K=6</a:t>
            </a:r>
          </a:p>
          <a:p>
            <a:pPr lvl="1" algn="just"/>
            <a:r>
              <a:rPr lang="en-GB" sz="2400" dirty="0"/>
              <a:t>Transfer Function </a:t>
            </a:r>
          </a:p>
          <a:p>
            <a:pPr lvl="1" algn="just"/>
            <a:r>
              <a:rPr lang="en-GB" sz="2400" dirty="0"/>
              <a:t>Step Response</a:t>
            </a:r>
          </a:p>
          <a:p>
            <a:pPr lvl="1" algn="just"/>
            <a:r>
              <a:rPr lang="en-GB" sz="2400" dirty="0"/>
              <a:t>Also Draw the Step response on your notebook</a:t>
            </a:r>
            <a:endParaRPr lang="en-GB" sz="2800" dirty="0"/>
          </a:p>
        </p:txBody>
      </p:sp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3514650" y="1844824"/>
          <a:ext cx="1849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190440" progId="Equation.3">
                  <p:embed/>
                </p:oleObj>
              </mc:Choice>
              <mc:Fallback>
                <p:oleObj name="Equation" r:id="rId2" imgW="6858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650" y="1844824"/>
                        <a:ext cx="184943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5" name="Object 3"/>
          <p:cNvGraphicFramePr>
            <a:graphicFrameLocks noChangeAspect="1"/>
          </p:cNvGraphicFramePr>
          <p:nvPr/>
        </p:nvGraphicFramePr>
        <p:xfrm>
          <a:off x="3059832" y="3861048"/>
          <a:ext cx="1692027" cy="7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355320" progId="Equation.3">
                  <p:embed/>
                </p:oleObj>
              </mc:Choice>
              <mc:Fallback>
                <p:oleObj name="Equation" r:id="rId4" imgW="7873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861048"/>
                        <a:ext cx="1692027" cy="76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0843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52736"/>
            <a:ext cx="843528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For step response integrate impulse response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3275856" y="1772816"/>
          <a:ext cx="1849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190440" progId="Equation.3">
                  <p:embed/>
                </p:oleObj>
              </mc:Choice>
              <mc:Fallback>
                <p:oleObj name="Equation" r:id="rId2" imgW="6858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772816"/>
                        <a:ext cx="184943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0" name="Object 2"/>
          <p:cNvGraphicFramePr>
            <a:graphicFrameLocks noChangeAspect="1"/>
          </p:cNvGraphicFramePr>
          <p:nvPr/>
        </p:nvGraphicFramePr>
        <p:xfrm>
          <a:off x="2832100" y="2673350"/>
          <a:ext cx="27400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15640" progId="Equation.3">
                  <p:embed/>
                </p:oleObj>
              </mc:Choice>
              <mc:Fallback>
                <p:oleObj name="Equation" r:id="rId4" imgW="101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673350"/>
                        <a:ext cx="2740025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1" name="Object 2"/>
          <p:cNvGraphicFramePr>
            <a:graphicFrameLocks noChangeAspect="1"/>
          </p:cNvGraphicFramePr>
          <p:nvPr/>
        </p:nvGraphicFramePr>
        <p:xfrm>
          <a:off x="2865438" y="3573463"/>
          <a:ext cx="28416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215640" progId="Equation.3">
                  <p:embed/>
                </p:oleObj>
              </mc:Choice>
              <mc:Fallback>
                <p:oleObj name="Equation" r:id="rId6" imgW="1054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3573463"/>
                        <a:ext cx="2841625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23528" y="4365104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We can find out C if initial condition is known e.g. </a:t>
            </a:r>
            <a:r>
              <a:rPr lang="en-GB" sz="2400" dirty="0" err="1">
                <a:solidFill>
                  <a:srgbClr val="FF0000"/>
                </a:solidFill>
              </a:rPr>
              <a:t>c</a:t>
            </a:r>
            <a:r>
              <a:rPr lang="en-GB" sz="2400" baseline="-25000" dirty="0" err="1">
                <a:solidFill>
                  <a:srgbClr val="FF0000"/>
                </a:solidFill>
              </a:rPr>
              <a:t>s</a:t>
            </a:r>
            <a:r>
              <a:rPr lang="en-GB" sz="2400" dirty="0">
                <a:solidFill>
                  <a:srgbClr val="FF0000"/>
                </a:solidFill>
              </a:rPr>
              <a:t>(0)=0</a:t>
            </a:r>
          </a:p>
        </p:txBody>
      </p:sp>
      <p:graphicFrame>
        <p:nvGraphicFramePr>
          <p:cNvPr id="224262" name="Object 6"/>
          <p:cNvGraphicFramePr>
            <a:graphicFrameLocks noChangeAspect="1"/>
          </p:cNvGraphicFramePr>
          <p:nvPr/>
        </p:nvGraphicFramePr>
        <p:xfrm>
          <a:off x="3230563" y="5013325"/>
          <a:ext cx="24987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190440" progId="Equation.3">
                  <p:embed/>
                </p:oleObj>
              </mc:Choice>
              <mc:Fallback>
                <p:oleObj name="Equation" r:id="rId8" imgW="9270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5013325"/>
                        <a:ext cx="24987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3" name="Object 7"/>
          <p:cNvGraphicFramePr>
            <a:graphicFrameLocks noChangeAspect="1"/>
          </p:cNvGraphicFramePr>
          <p:nvPr/>
        </p:nvGraphicFramePr>
        <p:xfrm>
          <a:off x="3979863" y="5516563"/>
          <a:ext cx="9239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52280" progId="Equation.3">
                  <p:embed/>
                </p:oleObj>
              </mc:Choice>
              <mc:Fallback>
                <p:oleObj name="Equation" r:id="rId10" imgW="342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863" y="5516563"/>
                        <a:ext cx="92392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4" name="Object 8"/>
          <p:cNvGraphicFramePr>
            <a:graphicFrameLocks noChangeAspect="1"/>
          </p:cNvGraphicFramePr>
          <p:nvPr/>
        </p:nvGraphicFramePr>
        <p:xfrm>
          <a:off x="3355975" y="6021388"/>
          <a:ext cx="25336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600" imgH="215640" progId="Equation.3">
                  <p:embed/>
                </p:oleObj>
              </mc:Choice>
              <mc:Fallback>
                <p:oleObj name="Equation" r:id="rId12" imgW="939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6021388"/>
                        <a:ext cx="2533650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686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26976"/>
          </a:xfrm>
        </p:spPr>
        <p:txBody>
          <a:bodyPr/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692696"/>
            <a:ext cx="8928992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If initial Conditions are not known then partial fraction expansion is a better choice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3455789" y="1700808"/>
          <a:ext cx="16922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355320" progId="Equation.3">
                  <p:embed/>
                </p:oleObj>
              </mc:Choice>
              <mc:Fallback>
                <p:oleObj name="Equation" r:id="rId2" imgW="7873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789" y="1700808"/>
                        <a:ext cx="1692275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3347864" y="3212976"/>
          <a:ext cx="19113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368280" progId="Equation.3">
                  <p:embed/>
                </p:oleObj>
              </mc:Choice>
              <mc:Fallback>
                <p:oleObj name="Equation" r:id="rId4" imgW="8888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212976"/>
                        <a:ext cx="191135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0" name="Object 10"/>
          <p:cNvGraphicFramePr>
            <a:graphicFrameLocks noChangeAspect="1"/>
          </p:cNvGraphicFramePr>
          <p:nvPr/>
        </p:nvGraphicFramePr>
        <p:xfrm>
          <a:off x="3203848" y="4149080"/>
          <a:ext cx="25654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368280" progId="Equation.3">
                  <p:embed/>
                </p:oleObj>
              </mc:Choice>
              <mc:Fallback>
                <p:oleObj name="Equation" r:id="rId6" imgW="11937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149080"/>
                        <a:ext cx="25654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1" name="Object 11"/>
          <p:cNvGraphicFramePr>
            <a:graphicFrameLocks noChangeAspect="1"/>
          </p:cNvGraphicFramePr>
          <p:nvPr/>
        </p:nvGraphicFramePr>
        <p:xfrm>
          <a:off x="179512" y="2492896"/>
          <a:ext cx="450215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355320" progId="Equation.3">
                  <p:embed/>
                </p:oleObj>
              </mc:Choice>
              <mc:Fallback>
                <p:oleObj name="Equation" r:id="rId8" imgW="20952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492896"/>
                        <a:ext cx="4502150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2" name="Object 12"/>
          <p:cNvGraphicFramePr>
            <a:graphicFrameLocks noChangeAspect="1"/>
          </p:cNvGraphicFramePr>
          <p:nvPr/>
        </p:nvGraphicFramePr>
        <p:xfrm>
          <a:off x="3203848" y="5157192"/>
          <a:ext cx="26193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960" imgH="368280" progId="Equation.3">
                  <p:embed/>
                </p:oleObj>
              </mc:Choice>
              <mc:Fallback>
                <p:oleObj name="Equation" r:id="rId10" imgW="12189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157192"/>
                        <a:ext cx="261937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3" name="Object 13"/>
          <p:cNvGraphicFramePr>
            <a:graphicFrameLocks noChangeAspect="1"/>
          </p:cNvGraphicFramePr>
          <p:nvPr/>
        </p:nvGraphicFramePr>
        <p:xfrm>
          <a:off x="3597502" y="6192838"/>
          <a:ext cx="2190524" cy="476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190440" progId="Equation.3">
                  <p:embed/>
                </p:oleObj>
              </mc:Choice>
              <mc:Fallback>
                <p:oleObj name="Equation" r:id="rId12" imgW="87624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502" y="6192838"/>
                        <a:ext cx="2190524" cy="4765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225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GB" dirty="0"/>
              <a:t>Ramp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08720"/>
            <a:ext cx="8568952" cy="720080"/>
          </a:xfrm>
        </p:spPr>
        <p:txBody>
          <a:bodyPr>
            <a:normAutofit/>
          </a:bodyPr>
          <a:lstStyle/>
          <a:p>
            <a:r>
              <a:rPr lang="en-GB" sz="2400" dirty="0"/>
              <a:t>Consider the following 1</a:t>
            </a:r>
            <a:r>
              <a:rPr lang="en-GB" sz="2400" baseline="30000" dirty="0"/>
              <a:t>st</a:t>
            </a:r>
            <a:r>
              <a:rPr lang="en-GB" sz="2400" dirty="0"/>
              <a:t> order system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grpSp>
        <p:nvGrpSpPr>
          <p:cNvPr id="4" name="Group 23"/>
          <p:cNvGrpSpPr/>
          <p:nvPr/>
        </p:nvGrpSpPr>
        <p:grpSpPr>
          <a:xfrm>
            <a:off x="1691680" y="1556792"/>
            <a:ext cx="5962166" cy="1008732"/>
            <a:chOff x="1691680" y="2060848"/>
            <a:chExt cx="5962166" cy="1008732"/>
          </a:xfrm>
        </p:grpSpPr>
        <p:grpSp>
          <p:nvGrpSpPr>
            <p:cNvPr id="5" name="Group 7"/>
            <p:cNvGrpSpPr/>
            <p:nvPr/>
          </p:nvGrpSpPr>
          <p:grpSpPr>
            <a:xfrm>
              <a:off x="3851920" y="2060848"/>
              <a:ext cx="1584176" cy="1008732"/>
              <a:chOff x="3635896" y="4508500"/>
              <a:chExt cx="1584176" cy="100873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635896" y="4509120"/>
                <a:ext cx="1584176" cy="100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12996" name="Object 4"/>
              <p:cNvGraphicFramePr>
                <a:graphicFrameLocks noChangeAspect="1"/>
              </p:cNvGraphicFramePr>
              <p:nvPr/>
            </p:nvGraphicFramePr>
            <p:xfrm>
              <a:off x="3967163" y="4508500"/>
              <a:ext cx="958850" cy="958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55320" imgH="355320" progId="Equation.3">
                      <p:embed/>
                    </p:oleObj>
                  </mc:Choice>
                  <mc:Fallback>
                    <p:oleObj name="Equation" r:id="rId2" imgW="355320" imgH="3553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163" y="4508500"/>
                            <a:ext cx="958850" cy="958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0" name="Straight Arrow Connector 9"/>
            <p:cNvCxnSpPr/>
            <p:nvPr/>
          </p:nvCxnSpPr>
          <p:spPr>
            <a:xfrm>
              <a:off x="2411760" y="2541376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436096" y="2551256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2997" name="Object 5"/>
            <p:cNvGraphicFramePr>
              <a:graphicFrameLocks noChangeAspect="1"/>
            </p:cNvGraphicFramePr>
            <p:nvPr/>
          </p:nvGraphicFramePr>
          <p:xfrm>
            <a:off x="6899784" y="2276872"/>
            <a:ext cx="75406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360" imgH="177480" progId="Equation.3">
                    <p:embed/>
                  </p:oleObj>
                </mc:Choice>
                <mc:Fallback>
                  <p:oleObj name="Equation" r:id="rId4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9784" y="2276872"/>
                          <a:ext cx="75406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2998" name="Object 6"/>
            <p:cNvGraphicFramePr>
              <a:graphicFrameLocks noChangeAspect="1"/>
            </p:cNvGraphicFramePr>
            <p:nvPr/>
          </p:nvGraphicFramePr>
          <p:xfrm>
            <a:off x="1691680" y="2297735"/>
            <a:ext cx="75406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177480" progId="Equation.3">
                    <p:embed/>
                  </p:oleObj>
                </mc:Choice>
                <mc:Fallback>
                  <p:oleObj name="Equation" r:id="rId6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2297735"/>
                          <a:ext cx="754063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3848100" y="2780928"/>
          <a:ext cx="15414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320" imgH="368280" progId="Equation.3">
                  <p:embed/>
                </p:oleObj>
              </mc:Choice>
              <mc:Fallback>
                <p:oleObj name="Equation" r:id="rId8" imgW="5713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2780928"/>
                        <a:ext cx="1541463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3309938" y="3789040"/>
          <a:ext cx="25003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380880" progId="Equation.3">
                  <p:embed/>
                </p:oleObj>
              </mc:Choice>
              <mc:Fallback>
                <p:oleObj name="Equation" r:id="rId10" imgW="9270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3789040"/>
                        <a:ext cx="2500312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107504" y="4797152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The ramp response is given as</a:t>
            </a:r>
          </a:p>
        </p:txBody>
      </p:sp>
      <p:graphicFrame>
        <p:nvGraphicFramePr>
          <p:cNvPr id="226312" name="Object 8"/>
          <p:cNvGraphicFramePr>
            <a:graphicFrameLocks noChangeAspect="1"/>
          </p:cNvGraphicFramePr>
          <p:nvPr/>
        </p:nvGraphicFramePr>
        <p:xfrm>
          <a:off x="3032125" y="5865813"/>
          <a:ext cx="3111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15640" progId="Equation.3">
                  <p:embed/>
                </p:oleObj>
              </mc:Choice>
              <mc:Fallback>
                <p:oleObj name="Equation" r:id="rId12" imgW="12445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5865813"/>
                        <a:ext cx="3111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01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1" name="Group 11"/>
          <p:cNvGrpSpPr>
            <a:grpSpLocks noChangeAspect="1"/>
          </p:cNvGrpSpPr>
          <p:nvPr/>
        </p:nvGrpSpPr>
        <p:grpSpPr bwMode="auto">
          <a:xfrm>
            <a:off x="1692275" y="2205038"/>
            <a:ext cx="5981700" cy="4537075"/>
            <a:chOff x="1066" y="1389"/>
            <a:chExt cx="3768" cy="2858"/>
          </a:xfrm>
        </p:grpSpPr>
        <p:sp>
          <p:nvSpPr>
            <p:cNvPr id="235530" name="AutoShape 10"/>
            <p:cNvSpPr>
              <a:spLocks noChangeAspect="1" noChangeArrowheads="1" noTextEdit="1"/>
            </p:cNvSpPr>
            <p:nvPr/>
          </p:nvSpPr>
          <p:spPr bwMode="auto">
            <a:xfrm>
              <a:off x="1066" y="1389"/>
              <a:ext cx="3719" cy="2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2" name="Rectangle 12"/>
            <p:cNvSpPr>
              <a:spLocks noChangeArrowheads="1"/>
            </p:cNvSpPr>
            <p:nvPr/>
          </p:nvSpPr>
          <p:spPr bwMode="auto">
            <a:xfrm>
              <a:off x="1457" y="1604"/>
              <a:ext cx="3252" cy="230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3" name="Rectangle 13"/>
            <p:cNvSpPr>
              <a:spLocks noChangeArrowheads="1"/>
            </p:cNvSpPr>
            <p:nvPr/>
          </p:nvSpPr>
          <p:spPr bwMode="auto">
            <a:xfrm>
              <a:off x="1457" y="1604"/>
              <a:ext cx="3252" cy="2302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4" name="Line 14"/>
            <p:cNvSpPr>
              <a:spLocks noChangeShapeType="1"/>
            </p:cNvSpPr>
            <p:nvPr/>
          </p:nvSpPr>
          <p:spPr bwMode="auto">
            <a:xfrm>
              <a:off x="1457" y="1604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5" name="Line 15"/>
            <p:cNvSpPr>
              <a:spLocks noChangeShapeType="1"/>
            </p:cNvSpPr>
            <p:nvPr/>
          </p:nvSpPr>
          <p:spPr bwMode="auto">
            <a:xfrm>
              <a:off x="1457" y="3906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6" name="Line 16"/>
            <p:cNvSpPr>
              <a:spLocks noChangeShapeType="1"/>
            </p:cNvSpPr>
            <p:nvPr/>
          </p:nvSpPr>
          <p:spPr bwMode="auto">
            <a:xfrm flipV="1">
              <a:off x="4709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7" name="Line 17"/>
            <p:cNvSpPr>
              <a:spLocks noChangeShapeType="1"/>
            </p:cNvSpPr>
            <p:nvPr/>
          </p:nvSpPr>
          <p:spPr bwMode="auto">
            <a:xfrm flipV="1">
              <a:off x="1457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8" name="Line 18"/>
            <p:cNvSpPr>
              <a:spLocks noChangeShapeType="1"/>
            </p:cNvSpPr>
            <p:nvPr/>
          </p:nvSpPr>
          <p:spPr bwMode="auto">
            <a:xfrm>
              <a:off x="1457" y="3906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39" name="Line 19"/>
            <p:cNvSpPr>
              <a:spLocks noChangeShapeType="1"/>
            </p:cNvSpPr>
            <p:nvPr/>
          </p:nvSpPr>
          <p:spPr bwMode="auto">
            <a:xfrm flipV="1">
              <a:off x="1457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0" name="Line 20"/>
            <p:cNvSpPr>
              <a:spLocks noChangeShapeType="1"/>
            </p:cNvSpPr>
            <p:nvPr/>
          </p:nvSpPr>
          <p:spPr bwMode="auto">
            <a:xfrm flipV="1">
              <a:off x="1457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1" name="Line 21"/>
            <p:cNvSpPr>
              <a:spLocks noChangeShapeType="1"/>
            </p:cNvSpPr>
            <p:nvPr/>
          </p:nvSpPr>
          <p:spPr bwMode="auto">
            <a:xfrm>
              <a:off x="1457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2" name="Rectangle 22"/>
            <p:cNvSpPr>
              <a:spLocks noChangeArrowheads="1"/>
            </p:cNvSpPr>
            <p:nvPr/>
          </p:nvSpPr>
          <p:spPr bwMode="auto">
            <a:xfrm>
              <a:off x="1430" y="3933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43" name="Line 23"/>
            <p:cNvSpPr>
              <a:spLocks noChangeShapeType="1"/>
            </p:cNvSpPr>
            <p:nvPr/>
          </p:nvSpPr>
          <p:spPr bwMode="auto">
            <a:xfrm flipV="1">
              <a:off x="2541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4" name="Line 24"/>
            <p:cNvSpPr>
              <a:spLocks noChangeShapeType="1"/>
            </p:cNvSpPr>
            <p:nvPr/>
          </p:nvSpPr>
          <p:spPr bwMode="auto">
            <a:xfrm>
              <a:off x="2541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5" name="Rectangle 25"/>
            <p:cNvSpPr>
              <a:spLocks noChangeArrowheads="1"/>
            </p:cNvSpPr>
            <p:nvPr/>
          </p:nvSpPr>
          <p:spPr bwMode="auto">
            <a:xfrm>
              <a:off x="2514" y="3933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46" name="Line 26"/>
            <p:cNvSpPr>
              <a:spLocks noChangeShapeType="1"/>
            </p:cNvSpPr>
            <p:nvPr/>
          </p:nvSpPr>
          <p:spPr bwMode="auto">
            <a:xfrm flipV="1">
              <a:off x="3625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7" name="Line 27"/>
            <p:cNvSpPr>
              <a:spLocks noChangeShapeType="1"/>
            </p:cNvSpPr>
            <p:nvPr/>
          </p:nvSpPr>
          <p:spPr bwMode="auto">
            <a:xfrm>
              <a:off x="3625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48" name="Rectangle 28"/>
            <p:cNvSpPr>
              <a:spLocks noChangeArrowheads="1"/>
            </p:cNvSpPr>
            <p:nvPr/>
          </p:nvSpPr>
          <p:spPr bwMode="auto">
            <a:xfrm>
              <a:off x="3562" y="3933"/>
              <a:ext cx="18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49" name="Line 29"/>
            <p:cNvSpPr>
              <a:spLocks noChangeShapeType="1"/>
            </p:cNvSpPr>
            <p:nvPr/>
          </p:nvSpPr>
          <p:spPr bwMode="auto">
            <a:xfrm flipV="1">
              <a:off x="4709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0" name="Line 30"/>
            <p:cNvSpPr>
              <a:spLocks noChangeShapeType="1"/>
            </p:cNvSpPr>
            <p:nvPr/>
          </p:nvSpPr>
          <p:spPr bwMode="auto">
            <a:xfrm>
              <a:off x="4709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1" name="Rectangle 31"/>
            <p:cNvSpPr>
              <a:spLocks noChangeArrowheads="1"/>
            </p:cNvSpPr>
            <p:nvPr/>
          </p:nvSpPr>
          <p:spPr bwMode="auto">
            <a:xfrm>
              <a:off x="4646" y="3933"/>
              <a:ext cx="18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52" name="Line 32"/>
            <p:cNvSpPr>
              <a:spLocks noChangeShapeType="1"/>
            </p:cNvSpPr>
            <p:nvPr/>
          </p:nvSpPr>
          <p:spPr bwMode="auto">
            <a:xfrm>
              <a:off x="1457" y="3906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3" name="Line 33"/>
            <p:cNvSpPr>
              <a:spLocks noChangeShapeType="1"/>
            </p:cNvSpPr>
            <p:nvPr/>
          </p:nvSpPr>
          <p:spPr bwMode="auto">
            <a:xfrm flipH="1">
              <a:off x="4673" y="3906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4" name="Rectangle 34"/>
            <p:cNvSpPr>
              <a:spLocks noChangeArrowheads="1"/>
            </p:cNvSpPr>
            <p:nvPr/>
          </p:nvSpPr>
          <p:spPr bwMode="auto">
            <a:xfrm>
              <a:off x="1359" y="3835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55" name="Line 35"/>
            <p:cNvSpPr>
              <a:spLocks noChangeShapeType="1"/>
            </p:cNvSpPr>
            <p:nvPr/>
          </p:nvSpPr>
          <p:spPr bwMode="auto">
            <a:xfrm>
              <a:off x="1457" y="3485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6" name="Line 36"/>
            <p:cNvSpPr>
              <a:spLocks noChangeShapeType="1"/>
            </p:cNvSpPr>
            <p:nvPr/>
          </p:nvSpPr>
          <p:spPr bwMode="auto">
            <a:xfrm flipH="1">
              <a:off x="4673" y="3485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7" name="Rectangle 37"/>
            <p:cNvSpPr>
              <a:spLocks noChangeArrowheads="1"/>
            </p:cNvSpPr>
            <p:nvPr/>
          </p:nvSpPr>
          <p:spPr bwMode="auto">
            <a:xfrm>
              <a:off x="1359" y="3414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58" name="Line 38"/>
            <p:cNvSpPr>
              <a:spLocks noChangeShapeType="1"/>
            </p:cNvSpPr>
            <p:nvPr/>
          </p:nvSpPr>
          <p:spPr bwMode="auto">
            <a:xfrm>
              <a:off x="1457" y="3064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59" name="Line 39"/>
            <p:cNvSpPr>
              <a:spLocks noChangeShapeType="1"/>
            </p:cNvSpPr>
            <p:nvPr/>
          </p:nvSpPr>
          <p:spPr bwMode="auto">
            <a:xfrm flipH="1">
              <a:off x="4673" y="3064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0" name="Rectangle 40"/>
            <p:cNvSpPr>
              <a:spLocks noChangeArrowheads="1"/>
            </p:cNvSpPr>
            <p:nvPr/>
          </p:nvSpPr>
          <p:spPr bwMode="auto">
            <a:xfrm>
              <a:off x="1359" y="2993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61" name="Line 41"/>
            <p:cNvSpPr>
              <a:spLocks noChangeShapeType="1"/>
            </p:cNvSpPr>
            <p:nvPr/>
          </p:nvSpPr>
          <p:spPr bwMode="auto">
            <a:xfrm>
              <a:off x="1457" y="2643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2" name="Line 42"/>
            <p:cNvSpPr>
              <a:spLocks noChangeShapeType="1"/>
            </p:cNvSpPr>
            <p:nvPr/>
          </p:nvSpPr>
          <p:spPr bwMode="auto">
            <a:xfrm flipH="1">
              <a:off x="4673" y="2643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3" name="Rectangle 43"/>
            <p:cNvSpPr>
              <a:spLocks noChangeArrowheads="1"/>
            </p:cNvSpPr>
            <p:nvPr/>
          </p:nvSpPr>
          <p:spPr bwMode="auto">
            <a:xfrm>
              <a:off x="1359" y="2572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64" name="Line 44"/>
            <p:cNvSpPr>
              <a:spLocks noChangeShapeType="1"/>
            </p:cNvSpPr>
            <p:nvPr/>
          </p:nvSpPr>
          <p:spPr bwMode="auto">
            <a:xfrm>
              <a:off x="1457" y="2231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5" name="Line 45"/>
            <p:cNvSpPr>
              <a:spLocks noChangeShapeType="1"/>
            </p:cNvSpPr>
            <p:nvPr/>
          </p:nvSpPr>
          <p:spPr bwMode="auto">
            <a:xfrm flipH="1">
              <a:off x="4673" y="2231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6" name="Rectangle 46"/>
            <p:cNvSpPr>
              <a:spLocks noChangeArrowheads="1"/>
            </p:cNvSpPr>
            <p:nvPr/>
          </p:nvSpPr>
          <p:spPr bwMode="auto">
            <a:xfrm>
              <a:off x="1359" y="2159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8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67" name="Line 47"/>
            <p:cNvSpPr>
              <a:spLocks noChangeShapeType="1"/>
            </p:cNvSpPr>
            <p:nvPr/>
          </p:nvSpPr>
          <p:spPr bwMode="auto">
            <a:xfrm>
              <a:off x="1457" y="1810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8" name="Line 48"/>
            <p:cNvSpPr>
              <a:spLocks noChangeShapeType="1"/>
            </p:cNvSpPr>
            <p:nvPr/>
          </p:nvSpPr>
          <p:spPr bwMode="auto">
            <a:xfrm flipH="1">
              <a:off x="4673" y="1810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69" name="Rectangle 49"/>
            <p:cNvSpPr>
              <a:spLocks noChangeArrowheads="1"/>
            </p:cNvSpPr>
            <p:nvPr/>
          </p:nvSpPr>
          <p:spPr bwMode="auto">
            <a:xfrm>
              <a:off x="1296" y="1738"/>
              <a:ext cx="18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70" name="Line 50"/>
            <p:cNvSpPr>
              <a:spLocks noChangeShapeType="1"/>
            </p:cNvSpPr>
            <p:nvPr/>
          </p:nvSpPr>
          <p:spPr bwMode="auto">
            <a:xfrm>
              <a:off x="1457" y="1604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1" name="Line 51"/>
            <p:cNvSpPr>
              <a:spLocks noChangeShapeType="1"/>
            </p:cNvSpPr>
            <p:nvPr/>
          </p:nvSpPr>
          <p:spPr bwMode="auto">
            <a:xfrm>
              <a:off x="1457" y="3906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2" name="Line 52"/>
            <p:cNvSpPr>
              <a:spLocks noChangeShapeType="1"/>
            </p:cNvSpPr>
            <p:nvPr/>
          </p:nvSpPr>
          <p:spPr bwMode="auto">
            <a:xfrm flipV="1">
              <a:off x="4709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3" name="Line 53"/>
            <p:cNvSpPr>
              <a:spLocks noChangeShapeType="1"/>
            </p:cNvSpPr>
            <p:nvPr/>
          </p:nvSpPr>
          <p:spPr bwMode="auto">
            <a:xfrm flipV="1">
              <a:off x="1457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4" name="Freeform 54"/>
            <p:cNvSpPr>
              <a:spLocks/>
            </p:cNvSpPr>
            <p:nvPr/>
          </p:nvSpPr>
          <p:spPr bwMode="auto">
            <a:xfrm>
              <a:off x="1457" y="2813"/>
              <a:ext cx="1120" cy="1093"/>
            </a:xfrm>
            <a:custGeom>
              <a:avLst/>
              <a:gdLst/>
              <a:ahLst/>
              <a:cxnLst>
                <a:cxn ang="0">
                  <a:pos x="9" y="1076"/>
                </a:cxn>
                <a:cxn ang="0">
                  <a:pos x="36" y="1049"/>
                </a:cxn>
                <a:cxn ang="0">
                  <a:pos x="63" y="1022"/>
                </a:cxn>
                <a:cxn ang="0">
                  <a:pos x="90" y="995"/>
                </a:cxn>
                <a:cxn ang="0">
                  <a:pos x="117" y="968"/>
                </a:cxn>
                <a:cxn ang="0">
                  <a:pos x="144" y="941"/>
                </a:cxn>
                <a:cxn ang="0">
                  <a:pos x="171" y="914"/>
                </a:cxn>
                <a:cxn ang="0">
                  <a:pos x="197" y="887"/>
                </a:cxn>
                <a:cxn ang="0">
                  <a:pos x="224" y="870"/>
                </a:cxn>
                <a:cxn ang="0">
                  <a:pos x="251" y="843"/>
                </a:cxn>
                <a:cxn ang="0">
                  <a:pos x="278" y="816"/>
                </a:cxn>
                <a:cxn ang="0">
                  <a:pos x="305" y="789"/>
                </a:cxn>
                <a:cxn ang="0">
                  <a:pos x="332" y="762"/>
                </a:cxn>
                <a:cxn ang="0">
                  <a:pos x="359" y="735"/>
                </a:cxn>
                <a:cxn ang="0">
                  <a:pos x="386" y="708"/>
                </a:cxn>
                <a:cxn ang="0">
                  <a:pos x="412" y="681"/>
                </a:cxn>
                <a:cxn ang="0">
                  <a:pos x="439" y="654"/>
                </a:cxn>
                <a:cxn ang="0">
                  <a:pos x="475" y="628"/>
                </a:cxn>
                <a:cxn ang="0">
                  <a:pos x="493" y="610"/>
                </a:cxn>
                <a:cxn ang="0">
                  <a:pos x="520" y="583"/>
                </a:cxn>
                <a:cxn ang="0">
                  <a:pos x="547" y="556"/>
                </a:cxn>
                <a:cxn ang="0">
                  <a:pos x="574" y="529"/>
                </a:cxn>
                <a:cxn ang="0">
                  <a:pos x="600" y="502"/>
                </a:cxn>
                <a:cxn ang="0">
                  <a:pos x="627" y="475"/>
                </a:cxn>
                <a:cxn ang="0">
                  <a:pos x="654" y="448"/>
                </a:cxn>
                <a:cxn ang="0">
                  <a:pos x="681" y="422"/>
                </a:cxn>
                <a:cxn ang="0">
                  <a:pos x="708" y="395"/>
                </a:cxn>
                <a:cxn ang="0">
                  <a:pos x="735" y="377"/>
                </a:cxn>
                <a:cxn ang="0">
                  <a:pos x="762" y="350"/>
                </a:cxn>
                <a:cxn ang="0">
                  <a:pos x="789" y="323"/>
                </a:cxn>
                <a:cxn ang="0">
                  <a:pos x="815" y="296"/>
                </a:cxn>
                <a:cxn ang="0">
                  <a:pos x="842" y="269"/>
                </a:cxn>
                <a:cxn ang="0">
                  <a:pos x="869" y="242"/>
                </a:cxn>
                <a:cxn ang="0">
                  <a:pos x="896" y="216"/>
                </a:cxn>
                <a:cxn ang="0">
                  <a:pos x="923" y="189"/>
                </a:cxn>
                <a:cxn ang="0">
                  <a:pos x="950" y="162"/>
                </a:cxn>
                <a:cxn ang="0">
                  <a:pos x="977" y="135"/>
                </a:cxn>
                <a:cxn ang="0">
                  <a:pos x="1004" y="117"/>
                </a:cxn>
                <a:cxn ang="0">
                  <a:pos x="1021" y="99"/>
                </a:cxn>
                <a:cxn ang="0">
                  <a:pos x="1048" y="72"/>
                </a:cxn>
                <a:cxn ang="0">
                  <a:pos x="1075" y="45"/>
                </a:cxn>
                <a:cxn ang="0">
                  <a:pos x="1102" y="18"/>
                </a:cxn>
              </a:cxnLst>
              <a:rect l="0" t="0" r="r" b="b"/>
              <a:pathLst>
                <a:path w="1120" h="1093">
                  <a:moveTo>
                    <a:pt x="0" y="1093"/>
                  </a:moveTo>
                  <a:lnTo>
                    <a:pt x="0" y="1085"/>
                  </a:lnTo>
                  <a:lnTo>
                    <a:pt x="9" y="1076"/>
                  </a:lnTo>
                  <a:lnTo>
                    <a:pt x="18" y="1067"/>
                  </a:lnTo>
                  <a:lnTo>
                    <a:pt x="27" y="1058"/>
                  </a:lnTo>
                  <a:lnTo>
                    <a:pt x="36" y="1049"/>
                  </a:lnTo>
                  <a:lnTo>
                    <a:pt x="45" y="1040"/>
                  </a:lnTo>
                  <a:lnTo>
                    <a:pt x="54" y="1031"/>
                  </a:lnTo>
                  <a:lnTo>
                    <a:pt x="63" y="1022"/>
                  </a:lnTo>
                  <a:lnTo>
                    <a:pt x="72" y="1013"/>
                  </a:lnTo>
                  <a:lnTo>
                    <a:pt x="81" y="1004"/>
                  </a:lnTo>
                  <a:lnTo>
                    <a:pt x="90" y="995"/>
                  </a:lnTo>
                  <a:lnTo>
                    <a:pt x="99" y="986"/>
                  </a:lnTo>
                  <a:lnTo>
                    <a:pt x="108" y="977"/>
                  </a:lnTo>
                  <a:lnTo>
                    <a:pt x="117" y="968"/>
                  </a:lnTo>
                  <a:lnTo>
                    <a:pt x="126" y="959"/>
                  </a:lnTo>
                  <a:lnTo>
                    <a:pt x="135" y="950"/>
                  </a:lnTo>
                  <a:lnTo>
                    <a:pt x="144" y="941"/>
                  </a:lnTo>
                  <a:lnTo>
                    <a:pt x="153" y="932"/>
                  </a:lnTo>
                  <a:lnTo>
                    <a:pt x="162" y="923"/>
                  </a:lnTo>
                  <a:lnTo>
                    <a:pt x="171" y="914"/>
                  </a:lnTo>
                  <a:lnTo>
                    <a:pt x="180" y="905"/>
                  </a:lnTo>
                  <a:lnTo>
                    <a:pt x="188" y="896"/>
                  </a:lnTo>
                  <a:lnTo>
                    <a:pt x="197" y="887"/>
                  </a:lnTo>
                  <a:lnTo>
                    <a:pt x="206" y="878"/>
                  </a:lnTo>
                  <a:lnTo>
                    <a:pt x="215" y="870"/>
                  </a:lnTo>
                  <a:lnTo>
                    <a:pt x="224" y="870"/>
                  </a:lnTo>
                  <a:lnTo>
                    <a:pt x="233" y="861"/>
                  </a:lnTo>
                  <a:lnTo>
                    <a:pt x="242" y="852"/>
                  </a:lnTo>
                  <a:lnTo>
                    <a:pt x="251" y="843"/>
                  </a:lnTo>
                  <a:lnTo>
                    <a:pt x="260" y="834"/>
                  </a:lnTo>
                  <a:lnTo>
                    <a:pt x="269" y="825"/>
                  </a:lnTo>
                  <a:lnTo>
                    <a:pt x="278" y="816"/>
                  </a:lnTo>
                  <a:lnTo>
                    <a:pt x="287" y="807"/>
                  </a:lnTo>
                  <a:lnTo>
                    <a:pt x="296" y="798"/>
                  </a:lnTo>
                  <a:lnTo>
                    <a:pt x="305" y="789"/>
                  </a:lnTo>
                  <a:lnTo>
                    <a:pt x="314" y="780"/>
                  </a:lnTo>
                  <a:lnTo>
                    <a:pt x="323" y="771"/>
                  </a:lnTo>
                  <a:lnTo>
                    <a:pt x="332" y="762"/>
                  </a:lnTo>
                  <a:lnTo>
                    <a:pt x="341" y="753"/>
                  </a:lnTo>
                  <a:lnTo>
                    <a:pt x="350" y="744"/>
                  </a:lnTo>
                  <a:lnTo>
                    <a:pt x="359" y="735"/>
                  </a:lnTo>
                  <a:lnTo>
                    <a:pt x="368" y="726"/>
                  </a:lnTo>
                  <a:lnTo>
                    <a:pt x="377" y="717"/>
                  </a:lnTo>
                  <a:lnTo>
                    <a:pt x="386" y="708"/>
                  </a:lnTo>
                  <a:lnTo>
                    <a:pt x="394" y="699"/>
                  </a:lnTo>
                  <a:lnTo>
                    <a:pt x="403" y="690"/>
                  </a:lnTo>
                  <a:lnTo>
                    <a:pt x="412" y="681"/>
                  </a:lnTo>
                  <a:lnTo>
                    <a:pt x="421" y="672"/>
                  </a:lnTo>
                  <a:lnTo>
                    <a:pt x="430" y="663"/>
                  </a:lnTo>
                  <a:lnTo>
                    <a:pt x="439" y="654"/>
                  </a:lnTo>
                  <a:lnTo>
                    <a:pt x="448" y="646"/>
                  </a:lnTo>
                  <a:lnTo>
                    <a:pt x="457" y="646"/>
                  </a:lnTo>
                  <a:lnTo>
                    <a:pt x="475" y="628"/>
                  </a:lnTo>
                  <a:lnTo>
                    <a:pt x="475" y="619"/>
                  </a:lnTo>
                  <a:lnTo>
                    <a:pt x="484" y="610"/>
                  </a:lnTo>
                  <a:lnTo>
                    <a:pt x="493" y="610"/>
                  </a:lnTo>
                  <a:lnTo>
                    <a:pt x="502" y="601"/>
                  </a:lnTo>
                  <a:lnTo>
                    <a:pt x="511" y="592"/>
                  </a:lnTo>
                  <a:lnTo>
                    <a:pt x="520" y="583"/>
                  </a:lnTo>
                  <a:lnTo>
                    <a:pt x="529" y="574"/>
                  </a:lnTo>
                  <a:lnTo>
                    <a:pt x="538" y="565"/>
                  </a:lnTo>
                  <a:lnTo>
                    <a:pt x="547" y="556"/>
                  </a:lnTo>
                  <a:lnTo>
                    <a:pt x="556" y="547"/>
                  </a:lnTo>
                  <a:lnTo>
                    <a:pt x="565" y="538"/>
                  </a:lnTo>
                  <a:lnTo>
                    <a:pt x="574" y="529"/>
                  </a:lnTo>
                  <a:lnTo>
                    <a:pt x="583" y="520"/>
                  </a:lnTo>
                  <a:lnTo>
                    <a:pt x="592" y="511"/>
                  </a:lnTo>
                  <a:lnTo>
                    <a:pt x="600" y="502"/>
                  </a:lnTo>
                  <a:lnTo>
                    <a:pt x="609" y="493"/>
                  </a:lnTo>
                  <a:lnTo>
                    <a:pt x="618" y="484"/>
                  </a:lnTo>
                  <a:lnTo>
                    <a:pt x="627" y="475"/>
                  </a:lnTo>
                  <a:lnTo>
                    <a:pt x="636" y="466"/>
                  </a:lnTo>
                  <a:lnTo>
                    <a:pt x="645" y="457"/>
                  </a:lnTo>
                  <a:lnTo>
                    <a:pt x="654" y="448"/>
                  </a:lnTo>
                  <a:lnTo>
                    <a:pt x="663" y="439"/>
                  </a:lnTo>
                  <a:lnTo>
                    <a:pt x="672" y="431"/>
                  </a:lnTo>
                  <a:lnTo>
                    <a:pt x="681" y="422"/>
                  </a:lnTo>
                  <a:lnTo>
                    <a:pt x="690" y="413"/>
                  </a:lnTo>
                  <a:lnTo>
                    <a:pt x="699" y="404"/>
                  </a:lnTo>
                  <a:lnTo>
                    <a:pt x="708" y="395"/>
                  </a:lnTo>
                  <a:lnTo>
                    <a:pt x="717" y="386"/>
                  </a:lnTo>
                  <a:lnTo>
                    <a:pt x="726" y="386"/>
                  </a:lnTo>
                  <a:lnTo>
                    <a:pt x="735" y="377"/>
                  </a:lnTo>
                  <a:lnTo>
                    <a:pt x="753" y="359"/>
                  </a:lnTo>
                  <a:lnTo>
                    <a:pt x="753" y="350"/>
                  </a:lnTo>
                  <a:lnTo>
                    <a:pt x="762" y="350"/>
                  </a:lnTo>
                  <a:lnTo>
                    <a:pt x="771" y="341"/>
                  </a:lnTo>
                  <a:lnTo>
                    <a:pt x="780" y="332"/>
                  </a:lnTo>
                  <a:lnTo>
                    <a:pt x="789" y="323"/>
                  </a:lnTo>
                  <a:lnTo>
                    <a:pt x="798" y="314"/>
                  </a:lnTo>
                  <a:lnTo>
                    <a:pt x="806" y="305"/>
                  </a:lnTo>
                  <a:lnTo>
                    <a:pt x="815" y="296"/>
                  </a:lnTo>
                  <a:lnTo>
                    <a:pt x="824" y="287"/>
                  </a:lnTo>
                  <a:lnTo>
                    <a:pt x="833" y="278"/>
                  </a:lnTo>
                  <a:lnTo>
                    <a:pt x="842" y="269"/>
                  </a:lnTo>
                  <a:lnTo>
                    <a:pt x="851" y="260"/>
                  </a:lnTo>
                  <a:lnTo>
                    <a:pt x="860" y="251"/>
                  </a:lnTo>
                  <a:lnTo>
                    <a:pt x="869" y="242"/>
                  </a:lnTo>
                  <a:lnTo>
                    <a:pt x="878" y="233"/>
                  </a:lnTo>
                  <a:lnTo>
                    <a:pt x="887" y="224"/>
                  </a:lnTo>
                  <a:lnTo>
                    <a:pt x="896" y="216"/>
                  </a:lnTo>
                  <a:lnTo>
                    <a:pt x="905" y="207"/>
                  </a:lnTo>
                  <a:lnTo>
                    <a:pt x="914" y="198"/>
                  </a:lnTo>
                  <a:lnTo>
                    <a:pt x="923" y="189"/>
                  </a:lnTo>
                  <a:lnTo>
                    <a:pt x="932" y="180"/>
                  </a:lnTo>
                  <a:lnTo>
                    <a:pt x="941" y="171"/>
                  </a:lnTo>
                  <a:lnTo>
                    <a:pt x="950" y="162"/>
                  </a:lnTo>
                  <a:lnTo>
                    <a:pt x="959" y="153"/>
                  </a:lnTo>
                  <a:lnTo>
                    <a:pt x="968" y="144"/>
                  </a:lnTo>
                  <a:lnTo>
                    <a:pt x="977" y="135"/>
                  </a:lnTo>
                  <a:lnTo>
                    <a:pt x="986" y="126"/>
                  </a:lnTo>
                  <a:lnTo>
                    <a:pt x="995" y="126"/>
                  </a:lnTo>
                  <a:lnTo>
                    <a:pt x="1004" y="117"/>
                  </a:lnTo>
                  <a:lnTo>
                    <a:pt x="1021" y="99"/>
                  </a:lnTo>
                  <a:lnTo>
                    <a:pt x="1012" y="99"/>
                  </a:lnTo>
                  <a:lnTo>
                    <a:pt x="1021" y="99"/>
                  </a:lnTo>
                  <a:lnTo>
                    <a:pt x="1030" y="90"/>
                  </a:lnTo>
                  <a:lnTo>
                    <a:pt x="1039" y="81"/>
                  </a:lnTo>
                  <a:lnTo>
                    <a:pt x="1048" y="72"/>
                  </a:lnTo>
                  <a:lnTo>
                    <a:pt x="1057" y="63"/>
                  </a:lnTo>
                  <a:lnTo>
                    <a:pt x="1066" y="54"/>
                  </a:lnTo>
                  <a:lnTo>
                    <a:pt x="1075" y="45"/>
                  </a:lnTo>
                  <a:lnTo>
                    <a:pt x="1084" y="36"/>
                  </a:lnTo>
                  <a:lnTo>
                    <a:pt x="1093" y="27"/>
                  </a:lnTo>
                  <a:lnTo>
                    <a:pt x="1102" y="18"/>
                  </a:lnTo>
                  <a:lnTo>
                    <a:pt x="1111" y="9"/>
                  </a:lnTo>
                  <a:lnTo>
                    <a:pt x="1120" y="0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5" name="Freeform 55"/>
            <p:cNvSpPr>
              <a:spLocks/>
            </p:cNvSpPr>
            <p:nvPr/>
          </p:nvSpPr>
          <p:spPr bwMode="auto">
            <a:xfrm>
              <a:off x="2577" y="1720"/>
              <a:ext cx="1129" cy="1093"/>
            </a:xfrm>
            <a:custGeom>
              <a:avLst/>
              <a:gdLst/>
              <a:ahLst/>
              <a:cxnLst>
                <a:cxn ang="0">
                  <a:pos x="18" y="1076"/>
                </a:cxn>
                <a:cxn ang="0">
                  <a:pos x="45" y="1049"/>
                </a:cxn>
                <a:cxn ang="0">
                  <a:pos x="72" y="1022"/>
                </a:cxn>
                <a:cxn ang="0">
                  <a:pos x="99" y="995"/>
                </a:cxn>
                <a:cxn ang="0">
                  <a:pos x="125" y="968"/>
                </a:cxn>
                <a:cxn ang="0">
                  <a:pos x="152" y="950"/>
                </a:cxn>
                <a:cxn ang="0">
                  <a:pos x="170" y="932"/>
                </a:cxn>
                <a:cxn ang="0">
                  <a:pos x="197" y="905"/>
                </a:cxn>
                <a:cxn ang="0">
                  <a:pos x="224" y="878"/>
                </a:cxn>
                <a:cxn ang="0">
                  <a:pos x="251" y="852"/>
                </a:cxn>
                <a:cxn ang="0">
                  <a:pos x="278" y="825"/>
                </a:cxn>
                <a:cxn ang="0">
                  <a:pos x="305" y="798"/>
                </a:cxn>
                <a:cxn ang="0">
                  <a:pos x="331" y="771"/>
                </a:cxn>
                <a:cxn ang="0">
                  <a:pos x="358" y="744"/>
                </a:cxn>
                <a:cxn ang="0">
                  <a:pos x="385" y="717"/>
                </a:cxn>
                <a:cxn ang="0">
                  <a:pos x="412" y="699"/>
                </a:cxn>
                <a:cxn ang="0">
                  <a:pos x="439" y="672"/>
                </a:cxn>
                <a:cxn ang="0">
                  <a:pos x="466" y="646"/>
                </a:cxn>
                <a:cxn ang="0">
                  <a:pos x="493" y="619"/>
                </a:cxn>
                <a:cxn ang="0">
                  <a:pos x="519" y="592"/>
                </a:cxn>
                <a:cxn ang="0">
                  <a:pos x="546" y="565"/>
                </a:cxn>
                <a:cxn ang="0">
                  <a:pos x="573" y="538"/>
                </a:cxn>
                <a:cxn ang="0">
                  <a:pos x="600" y="511"/>
                </a:cxn>
                <a:cxn ang="0">
                  <a:pos x="627" y="484"/>
                </a:cxn>
                <a:cxn ang="0">
                  <a:pos x="654" y="457"/>
                </a:cxn>
                <a:cxn ang="0">
                  <a:pos x="681" y="439"/>
                </a:cxn>
                <a:cxn ang="0">
                  <a:pos x="708" y="413"/>
                </a:cxn>
                <a:cxn ang="0">
                  <a:pos x="734" y="386"/>
                </a:cxn>
                <a:cxn ang="0">
                  <a:pos x="761" y="359"/>
                </a:cxn>
                <a:cxn ang="0">
                  <a:pos x="788" y="332"/>
                </a:cxn>
                <a:cxn ang="0">
                  <a:pos x="815" y="305"/>
                </a:cxn>
                <a:cxn ang="0">
                  <a:pos x="842" y="278"/>
                </a:cxn>
                <a:cxn ang="0">
                  <a:pos x="869" y="251"/>
                </a:cxn>
                <a:cxn ang="0">
                  <a:pos x="896" y="233"/>
                </a:cxn>
                <a:cxn ang="0">
                  <a:pos x="923" y="198"/>
                </a:cxn>
                <a:cxn ang="0">
                  <a:pos x="949" y="180"/>
                </a:cxn>
                <a:cxn ang="0">
                  <a:pos x="976" y="153"/>
                </a:cxn>
                <a:cxn ang="0">
                  <a:pos x="1003" y="126"/>
                </a:cxn>
                <a:cxn ang="0">
                  <a:pos x="1030" y="99"/>
                </a:cxn>
                <a:cxn ang="0">
                  <a:pos x="1057" y="72"/>
                </a:cxn>
                <a:cxn ang="0">
                  <a:pos x="1084" y="45"/>
                </a:cxn>
                <a:cxn ang="0">
                  <a:pos x="1111" y="18"/>
                </a:cxn>
              </a:cxnLst>
              <a:rect l="0" t="0" r="r" b="b"/>
              <a:pathLst>
                <a:path w="1129" h="1093">
                  <a:moveTo>
                    <a:pt x="0" y="1093"/>
                  </a:moveTo>
                  <a:lnTo>
                    <a:pt x="9" y="1085"/>
                  </a:lnTo>
                  <a:lnTo>
                    <a:pt x="18" y="1076"/>
                  </a:lnTo>
                  <a:lnTo>
                    <a:pt x="27" y="1067"/>
                  </a:lnTo>
                  <a:lnTo>
                    <a:pt x="36" y="1058"/>
                  </a:lnTo>
                  <a:lnTo>
                    <a:pt x="45" y="1049"/>
                  </a:lnTo>
                  <a:lnTo>
                    <a:pt x="54" y="1040"/>
                  </a:lnTo>
                  <a:lnTo>
                    <a:pt x="63" y="1031"/>
                  </a:lnTo>
                  <a:lnTo>
                    <a:pt x="72" y="1022"/>
                  </a:lnTo>
                  <a:lnTo>
                    <a:pt x="81" y="1013"/>
                  </a:lnTo>
                  <a:lnTo>
                    <a:pt x="90" y="1004"/>
                  </a:lnTo>
                  <a:lnTo>
                    <a:pt x="99" y="995"/>
                  </a:lnTo>
                  <a:lnTo>
                    <a:pt x="107" y="986"/>
                  </a:lnTo>
                  <a:lnTo>
                    <a:pt x="116" y="977"/>
                  </a:lnTo>
                  <a:lnTo>
                    <a:pt x="125" y="968"/>
                  </a:lnTo>
                  <a:lnTo>
                    <a:pt x="134" y="968"/>
                  </a:lnTo>
                  <a:lnTo>
                    <a:pt x="143" y="959"/>
                  </a:lnTo>
                  <a:lnTo>
                    <a:pt x="152" y="950"/>
                  </a:lnTo>
                  <a:lnTo>
                    <a:pt x="170" y="932"/>
                  </a:lnTo>
                  <a:lnTo>
                    <a:pt x="161" y="932"/>
                  </a:lnTo>
                  <a:lnTo>
                    <a:pt x="170" y="932"/>
                  </a:lnTo>
                  <a:lnTo>
                    <a:pt x="179" y="923"/>
                  </a:lnTo>
                  <a:lnTo>
                    <a:pt x="188" y="914"/>
                  </a:lnTo>
                  <a:lnTo>
                    <a:pt x="197" y="905"/>
                  </a:lnTo>
                  <a:lnTo>
                    <a:pt x="206" y="896"/>
                  </a:lnTo>
                  <a:lnTo>
                    <a:pt x="215" y="887"/>
                  </a:lnTo>
                  <a:lnTo>
                    <a:pt x="224" y="878"/>
                  </a:lnTo>
                  <a:lnTo>
                    <a:pt x="233" y="870"/>
                  </a:lnTo>
                  <a:lnTo>
                    <a:pt x="242" y="861"/>
                  </a:lnTo>
                  <a:lnTo>
                    <a:pt x="251" y="852"/>
                  </a:lnTo>
                  <a:lnTo>
                    <a:pt x="260" y="843"/>
                  </a:lnTo>
                  <a:lnTo>
                    <a:pt x="269" y="834"/>
                  </a:lnTo>
                  <a:lnTo>
                    <a:pt x="278" y="825"/>
                  </a:lnTo>
                  <a:lnTo>
                    <a:pt x="287" y="816"/>
                  </a:lnTo>
                  <a:lnTo>
                    <a:pt x="296" y="807"/>
                  </a:lnTo>
                  <a:lnTo>
                    <a:pt x="305" y="798"/>
                  </a:lnTo>
                  <a:lnTo>
                    <a:pt x="313" y="789"/>
                  </a:lnTo>
                  <a:lnTo>
                    <a:pt x="322" y="780"/>
                  </a:lnTo>
                  <a:lnTo>
                    <a:pt x="331" y="771"/>
                  </a:lnTo>
                  <a:lnTo>
                    <a:pt x="340" y="762"/>
                  </a:lnTo>
                  <a:lnTo>
                    <a:pt x="349" y="753"/>
                  </a:lnTo>
                  <a:lnTo>
                    <a:pt x="358" y="744"/>
                  </a:lnTo>
                  <a:lnTo>
                    <a:pt x="367" y="735"/>
                  </a:lnTo>
                  <a:lnTo>
                    <a:pt x="376" y="726"/>
                  </a:lnTo>
                  <a:lnTo>
                    <a:pt x="385" y="717"/>
                  </a:lnTo>
                  <a:lnTo>
                    <a:pt x="394" y="708"/>
                  </a:lnTo>
                  <a:lnTo>
                    <a:pt x="403" y="708"/>
                  </a:lnTo>
                  <a:lnTo>
                    <a:pt x="412" y="699"/>
                  </a:lnTo>
                  <a:lnTo>
                    <a:pt x="421" y="690"/>
                  </a:lnTo>
                  <a:lnTo>
                    <a:pt x="430" y="681"/>
                  </a:lnTo>
                  <a:lnTo>
                    <a:pt x="439" y="672"/>
                  </a:lnTo>
                  <a:lnTo>
                    <a:pt x="448" y="663"/>
                  </a:lnTo>
                  <a:lnTo>
                    <a:pt x="457" y="654"/>
                  </a:lnTo>
                  <a:lnTo>
                    <a:pt x="466" y="646"/>
                  </a:lnTo>
                  <a:lnTo>
                    <a:pt x="475" y="637"/>
                  </a:lnTo>
                  <a:lnTo>
                    <a:pt x="484" y="628"/>
                  </a:lnTo>
                  <a:lnTo>
                    <a:pt x="493" y="619"/>
                  </a:lnTo>
                  <a:lnTo>
                    <a:pt x="502" y="610"/>
                  </a:lnTo>
                  <a:lnTo>
                    <a:pt x="511" y="601"/>
                  </a:lnTo>
                  <a:lnTo>
                    <a:pt x="519" y="592"/>
                  </a:lnTo>
                  <a:lnTo>
                    <a:pt x="528" y="583"/>
                  </a:lnTo>
                  <a:lnTo>
                    <a:pt x="537" y="574"/>
                  </a:lnTo>
                  <a:lnTo>
                    <a:pt x="546" y="565"/>
                  </a:lnTo>
                  <a:lnTo>
                    <a:pt x="555" y="556"/>
                  </a:lnTo>
                  <a:lnTo>
                    <a:pt x="564" y="547"/>
                  </a:lnTo>
                  <a:lnTo>
                    <a:pt x="573" y="538"/>
                  </a:lnTo>
                  <a:lnTo>
                    <a:pt x="582" y="529"/>
                  </a:lnTo>
                  <a:lnTo>
                    <a:pt x="591" y="520"/>
                  </a:lnTo>
                  <a:lnTo>
                    <a:pt x="600" y="511"/>
                  </a:lnTo>
                  <a:lnTo>
                    <a:pt x="609" y="502"/>
                  </a:lnTo>
                  <a:lnTo>
                    <a:pt x="618" y="493"/>
                  </a:lnTo>
                  <a:lnTo>
                    <a:pt x="627" y="484"/>
                  </a:lnTo>
                  <a:lnTo>
                    <a:pt x="636" y="475"/>
                  </a:lnTo>
                  <a:lnTo>
                    <a:pt x="645" y="466"/>
                  </a:lnTo>
                  <a:lnTo>
                    <a:pt x="654" y="457"/>
                  </a:lnTo>
                  <a:lnTo>
                    <a:pt x="663" y="457"/>
                  </a:lnTo>
                  <a:lnTo>
                    <a:pt x="672" y="448"/>
                  </a:lnTo>
                  <a:lnTo>
                    <a:pt x="681" y="439"/>
                  </a:lnTo>
                  <a:lnTo>
                    <a:pt x="690" y="431"/>
                  </a:lnTo>
                  <a:lnTo>
                    <a:pt x="699" y="422"/>
                  </a:lnTo>
                  <a:lnTo>
                    <a:pt x="708" y="413"/>
                  </a:lnTo>
                  <a:lnTo>
                    <a:pt x="717" y="404"/>
                  </a:lnTo>
                  <a:lnTo>
                    <a:pt x="725" y="395"/>
                  </a:lnTo>
                  <a:lnTo>
                    <a:pt x="734" y="386"/>
                  </a:lnTo>
                  <a:lnTo>
                    <a:pt x="743" y="377"/>
                  </a:lnTo>
                  <a:lnTo>
                    <a:pt x="752" y="368"/>
                  </a:lnTo>
                  <a:lnTo>
                    <a:pt x="761" y="359"/>
                  </a:lnTo>
                  <a:lnTo>
                    <a:pt x="770" y="350"/>
                  </a:lnTo>
                  <a:lnTo>
                    <a:pt x="779" y="341"/>
                  </a:lnTo>
                  <a:lnTo>
                    <a:pt x="788" y="332"/>
                  </a:lnTo>
                  <a:lnTo>
                    <a:pt x="797" y="323"/>
                  </a:lnTo>
                  <a:lnTo>
                    <a:pt x="806" y="314"/>
                  </a:lnTo>
                  <a:lnTo>
                    <a:pt x="815" y="305"/>
                  </a:lnTo>
                  <a:lnTo>
                    <a:pt x="824" y="296"/>
                  </a:lnTo>
                  <a:lnTo>
                    <a:pt x="833" y="287"/>
                  </a:lnTo>
                  <a:lnTo>
                    <a:pt x="842" y="278"/>
                  </a:lnTo>
                  <a:lnTo>
                    <a:pt x="851" y="269"/>
                  </a:lnTo>
                  <a:lnTo>
                    <a:pt x="860" y="260"/>
                  </a:lnTo>
                  <a:lnTo>
                    <a:pt x="869" y="251"/>
                  </a:lnTo>
                  <a:lnTo>
                    <a:pt x="878" y="242"/>
                  </a:lnTo>
                  <a:lnTo>
                    <a:pt x="887" y="233"/>
                  </a:lnTo>
                  <a:lnTo>
                    <a:pt x="896" y="233"/>
                  </a:lnTo>
                  <a:lnTo>
                    <a:pt x="914" y="216"/>
                  </a:lnTo>
                  <a:lnTo>
                    <a:pt x="914" y="207"/>
                  </a:lnTo>
                  <a:lnTo>
                    <a:pt x="923" y="198"/>
                  </a:lnTo>
                  <a:lnTo>
                    <a:pt x="931" y="198"/>
                  </a:lnTo>
                  <a:lnTo>
                    <a:pt x="940" y="189"/>
                  </a:lnTo>
                  <a:lnTo>
                    <a:pt x="949" y="180"/>
                  </a:lnTo>
                  <a:lnTo>
                    <a:pt x="958" y="171"/>
                  </a:lnTo>
                  <a:lnTo>
                    <a:pt x="967" y="162"/>
                  </a:lnTo>
                  <a:lnTo>
                    <a:pt x="976" y="153"/>
                  </a:lnTo>
                  <a:lnTo>
                    <a:pt x="985" y="144"/>
                  </a:lnTo>
                  <a:lnTo>
                    <a:pt x="994" y="135"/>
                  </a:lnTo>
                  <a:lnTo>
                    <a:pt x="1003" y="126"/>
                  </a:lnTo>
                  <a:lnTo>
                    <a:pt x="1012" y="117"/>
                  </a:lnTo>
                  <a:lnTo>
                    <a:pt x="1021" y="108"/>
                  </a:lnTo>
                  <a:lnTo>
                    <a:pt x="1030" y="99"/>
                  </a:lnTo>
                  <a:lnTo>
                    <a:pt x="1039" y="90"/>
                  </a:lnTo>
                  <a:lnTo>
                    <a:pt x="1048" y="81"/>
                  </a:lnTo>
                  <a:lnTo>
                    <a:pt x="1057" y="72"/>
                  </a:lnTo>
                  <a:lnTo>
                    <a:pt x="1066" y="63"/>
                  </a:lnTo>
                  <a:lnTo>
                    <a:pt x="1075" y="54"/>
                  </a:lnTo>
                  <a:lnTo>
                    <a:pt x="1084" y="45"/>
                  </a:lnTo>
                  <a:lnTo>
                    <a:pt x="1093" y="36"/>
                  </a:lnTo>
                  <a:lnTo>
                    <a:pt x="1102" y="27"/>
                  </a:lnTo>
                  <a:lnTo>
                    <a:pt x="1111" y="18"/>
                  </a:lnTo>
                  <a:lnTo>
                    <a:pt x="1120" y="9"/>
                  </a:lnTo>
                  <a:lnTo>
                    <a:pt x="1129" y="0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6" name="Freeform 56"/>
            <p:cNvSpPr>
              <a:spLocks/>
            </p:cNvSpPr>
            <p:nvPr/>
          </p:nvSpPr>
          <p:spPr bwMode="auto">
            <a:xfrm>
              <a:off x="3706" y="1604"/>
              <a:ext cx="134" cy="116"/>
            </a:xfrm>
            <a:custGeom>
              <a:avLst/>
              <a:gdLst/>
              <a:ahLst/>
              <a:cxnLst>
                <a:cxn ang="0">
                  <a:pos x="0" y="116"/>
                </a:cxn>
                <a:cxn ang="0">
                  <a:pos x="8" y="108"/>
                </a:cxn>
                <a:cxn ang="0">
                  <a:pos x="17" y="99"/>
                </a:cxn>
                <a:cxn ang="0">
                  <a:pos x="26" y="90"/>
                </a:cxn>
                <a:cxn ang="0">
                  <a:pos x="35" y="90"/>
                </a:cxn>
                <a:cxn ang="0">
                  <a:pos x="44" y="81"/>
                </a:cxn>
                <a:cxn ang="0">
                  <a:pos x="62" y="63"/>
                </a:cxn>
                <a:cxn ang="0">
                  <a:pos x="53" y="63"/>
                </a:cxn>
                <a:cxn ang="0">
                  <a:pos x="62" y="63"/>
                </a:cxn>
                <a:cxn ang="0">
                  <a:pos x="71" y="54"/>
                </a:cxn>
                <a:cxn ang="0">
                  <a:pos x="80" y="45"/>
                </a:cxn>
                <a:cxn ang="0">
                  <a:pos x="89" y="36"/>
                </a:cxn>
                <a:cxn ang="0">
                  <a:pos x="98" y="27"/>
                </a:cxn>
                <a:cxn ang="0">
                  <a:pos x="107" y="18"/>
                </a:cxn>
                <a:cxn ang="0">
                  <a:pos x="116" y="9"/>
                </a:cxn>
                <a:cxn ang="0">
                  <a:pos x="125" y="0"/>
                </a:cxn>
                <a:cxn ang="0">
                  <a:pos x="134" y="0"/>
                </a:cxn>
              </a:cxnLst>
              <a:rect l="0" t="0" r="r" b="b"/>
              <a:pathLst>
                <a:path w="134" h="116">
                  <a:moveTo>
                    <a:pt x="0" y="116"/>
                  </a:moveTo>
                  <a:lnTo>
                    <a:pt x="8" y="108"/>
                  </a:lnTo>
                  <a:lnTo>
                    <a:pt x="17" y="99"/>
                  </a:lnTo>
                  <a:lnTo>
                    <a:pt x="26" y="90"/>
                  </a:lnTo>
                  <a:lnTo>
                    <a:pt x="35" y="90"/>
                  </a:lnTo>
                  <a:lnTo>
                    <a:pt x="44" y="81"/>
                  </a:lnTo>
                  <a:lnTo>
                    <a:pt x="62" y="63"/>
                  </a:lnTo>
                  <a:lnTo>
                    <a:pt x="53" y="63"/>
                  </a:lnTo>
                  <a:lnTo>
                    <a:pt x="62" y="63"/>
                  </a:lnTo>
                  <a:lnTo>
                    <a:pt x="71" y="54"/>
                  </a:lnTo>
                  <a:lnTo>
                    <a:pt x="80" y="45"/>
                  </a:lnTo>
                  <a:lnTo>
                    <a:pt x="89" y="36"/>
                  </a:lnTo>
                  <a:lnTo>
                    <a:pt x="98" y="27"/>
                  </a:lnTo>
                  <a:lnTo>
                    <a:pt x="107" y="18"/>
                  </a:lnTo>
                  <a:lnTo>
                    <a:pt x="116" y="9"/>
                  </a:lnTo>
                  <a:lnTo>
                    <a:pt x="125" y="0"/>
                  </a:lnTo>
                  <a:lnTo>
                    <a:pt x="134" y="0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7" name="Freeform 57"/>
            <p:cNvSpPr>
              <a:spLocks/>
            </p:cNvSpPr>
            <p:nvPr/>
          </p:nvSpPr>
          <p:spPr bwMode="auto">
            <a:xfrm>
              <a:off x="1457" y="3029"/>
              <a:ext cx="1111" cy="869"/>
            </a:xfrm>
            <a:custGeom>
              <a:avLst/>
              <a:gdLst/>
              <a:ahLst/>
              <a:cxnLst>
                <a:cxn ang="0">
                  <a:pos x="9" y="869"/>
                </a:cxn>
                <a:cxn ang="0">
                  <a:pos x="36" y="869"/>
                </a:cxn>
                <a:cxn ang="0">
                  <a:pos x="63" y="860"/>
                </a:cxn>
                <a:cxn ang="0">
                  <a:pos x="90" y="851"/>
                </a:cxn>
                <a:cxn ang="0">
                  <a:pos x="117" y="842"/>
                </a:cxn>
                <a:cxn ang="0">
                  <a:pos x="144" y="833"/>
                </a:cxn>
                <a:cxn ang="0">
                  <a:pos x="171" y="815"/>
                </a:cxn>
                <a:cxn ang="0">
                  <a:pos x="197" y="806"/>
                </a:cxn>
                <a:cxn ang="0">
                  <a:pos x="224" y="788"/>
                </a:cxn>
                <a:cxn ang="0">
                  <a:pos x="251" y="770"/>
                </a:cxn>
                <a:cxn ang="0">
                  <a:pos x="278" y="752"/>
                </a:cxn>
                <a:cxn ang="0">
                  <a:pos x="305" y="734"/>
                </a:cxn>
                <a:cxn ang="0">
                  <a:pos x="332" y="707"/>
                </a:cxn>
                <a:cxn ang="0">
                  <a:pos x="359" y="689"/>
                </a:cxn>
                <a:cxn ang="0">
                  <a:pos x="386" y="671"/>
                </a:cxn>
                <a:cxn ang="0">
                  <a:pos x="412" y="645"/>
                </a:cxn>
                <a:cxn ang="0">
                  <a:pos x="439" y="627"/>
                </a:cxn>
                <a:cxn ang="0">
                  <a:pos x="466" y="600"/>
                </a:cxn>
                <a:cxn ang="0">
                  <a:pos x="493" y="582"/>
                </a:cxn>
                <a:cxn ang="0">
                  <a:pos x="520" y="555"/>
                </a:cxn>
                <a:cxn ang="0">
                  <a:pos x="547" y="528"/>
                </a:cxn>
                <a:cxn ang="0">
                  <a:pos x="574" y="510"/>
                </a:cxn>
                <a:cxn ang="0">
                  <a:pos x="600" y="483"/>
                </a:cxn>
                <a:cxn ang="0">
                  <a:pos x="627" y="456"/>
                </a:cxn>
                <a:cxn ang="0">
                  <a:pos x="654" y="430"/>
                </a:cxn>
                <a:cxn ang="0">
                  <a:pos x="672" y="412"/>
                </a:cxn>
                <a:cxn ang="0">
                  <a:pos x="699" y="394"/>
                </a:cxn>
                <a:cxn ang="0">
                  <a:pos x="726" y="367"/>
                </a:cxn>
                <a:cxn ang="0">
                  <a:pos x="753" y="340"/>
                </a:cxn>
                <a:cxn ang="0">
                  <a:pos x="780" y="313"/>
                </a:cxn>
                <a:cxn ang="0">
                  <a:pos x="815" y="286"/>
                </a:cxn>
                <a:cxn ang="0">
                  <a:pos x="824" y="277"/>
                </a:cxn>
                <a:cxn ang="0">
                  <a:pos x="851" y="250"/>
                </a:cxn>
                <a:cxn ang="0">
                  <a:pos x="878" y="223"/>
                </a:cxn>
                <a:cxn ang="0">
                  <a:pos x="905" y="197"/>
                </a:cxn>
                <a:cxn ang="0">
                  <a:pos x="932" y="170"/>
                </a:cxn>
                <a:cxn ang="0">
                  <a:pos x="959" y="143"/>
                </a:cxn>
                <a:cxn ang="0">
                  <a:pos x="986" y="125"/>
                </a:cxn>
                <a:cxn ang="0">
                  <a:pos x="1012" y="98"/>
                </a:cxn>
                <a:cxn ang="0">
                  <a:pos x="1039" y="71"/>
                </a:cxn>
                <a:cxn ang="0">
                  <a:pos x="1066" y="44"/>
                </a:cxn>
                <a:cxn ang="0">
                  <a:pos x="1093" y="17"/>
                </a:cxn>
              </a:cxnLst>
              <a:rect l="0" t="0" r="r" b="b"/>
              <a:pathLst>
                <a:path w="1111" h="869">
                  <a:moveTo>
                    <a:pt x="9" y="869"/>
                  </a:moveTo>
                  <a:lnTo>
                    <a:pt x="0" y="869"/>
                  </a:lnTo>
                  <a:lnTo>
                    <a:pt x="9" y="869"/>
                  </a:lnTo>
                  <a:lnTo>
                    <a:pt x="18" y="869"/>
                  </a:lnTo>
                  <a:lnTo>
                    <a:pt x="27" y="869"/>
                  </a:lnTo>
                  <a:lnTo>
                    <a:pt x="36" y="869"/>
                  </a:lnTo>
                  <a:lnTo>
                    <a:pt x="45" y="869"/>
                  </a:lnTo>
                  <a:lnTo>
                    <a:pt x="54" y="869"/>
                  </a:lnTo>
                  <a:lnTo>
                    <a:pt x="63" y="860"/>
                  </a:lnTo>
                  <a:lnTo>
                    <a:pt x="72" y="860"/>
                  </a:lnTo>
                  <a:lnTo>
                    <a:pt x="81" y="860"/>
                  </a:lnTo>
                  <a:lnTo>
                    <a:pt x="90" y="851"/>
                  </a:lnTo>
                  <a:lnTo>
                    <a:pt x="99" y="851"/>
                  </a:lnTo>
                  <a:lnTo>
                    <a:pt x="108" y="851"/>
                  </a:lnTo>
                  <a:lnTo>
                    <a:pt x="117" y="842"/>
                  </a:lnTo>
                  <a:lnTo>
                    <a:pt x="126" y="842"/>
                  </a:lnTo>
                  <a:lnTo>
                    <a:pt x="135" y="833"/>
                  </a:lnTo>
                  <a:lnTo>
                    <a:pt x="144" y="833"/>
                  </a:lnTo>
                  <a:lnTo>
                    <a:pt x="153" y="824"/>
                  </a:lnTo>
                  <a:lnTo>
                    <a:pt x="162" y="824"/>
                  </a:lnTo>
                  <a:lnTo>
                    <a:pt x="171" y="815"/>
                  </a:lnTo>
                  <a:lnTo>
                    <a:pt x="180" y="815"/>
                  </a:lnTo>
                  <a:lnTo>
                    <a:pt x="188" y="806"/>
                  </a:lnTo>
                  <a:lnTo>
                    <a:pt x="197" y="806"/>
                  </a:lnTo>
                  <a:lnTo>
                    <a:pt x="206" y="797"/>
                  </a:lnTo>
                  <a:lnTo>
                    <a:pt x="215" y="788"/>
                  </a:lnTo>
                  <a:lnTo>
                    <a:pt x="224" y="788"/>
                  </a:lnTo>
                  <a:lnTo>
                    <a:pt x="233" y="779"/>
                  </a:lnTo>
                  <a:lnTo>
                    <a:pt x="242" y="779"/>
                  </a:lnTo>
                  <a:lnTo>
                    <a:pt x="251" y="770"/>
                  </a:lnTo>
                  <a:lnTo>
                    <a:pt x="260" y="761"/>
                  </a:lnTo>
                  <a:lnTo>
                    <a:pt x="269" y="752"/>
                  </a:lnTo>
                  <a:lnTo>
                    <a:pt x="278" y="752"/>
                  </a:lnTo>
                  <a:lnTo>
                    <a:pt x="287" y="743"/>
                  </a:lnTo>
                  <a:lnTo>
                    <a:pt x="296" y="734"/>
                  </a:lnTo>
                  <a:lnTo>
                    <a:pt x="305" y="734"/>
                  </a:lnTo>
                  <a:lnTo>
                    <a:pt x="314" y="725"/>
                  </a:lnTo>
                  <a:lnTo>
                    <a:pt x="323" y="716"/>
                  </a:lnTo>
                  <a:lnTo>
                    <a:pt x="332" y="707"/>
                  </a:lnTo>
                  <a:lnTo>
                    <a:pt x="341" y="707"/>
                  </a:lnTo>
                  <a:lnTo>
                    <a:pt x="350" y="698"/>
                  </a:lnTo>
                  <a:lnTo>
                    <a:pt x="359" y="689"/>
                  </a:lnTo>
                  <a:lnTo>
                    <a:pt x="368" y="680"/>
                  </a:lnTo>
                  <a:lnTo>
                    <a:pt x="377" y="680"/>
                  </a:lnTo>
                  <a:lnTo>
                    <a:pt x="386" y="671"/>
                  </a:lnTo>
                  <a:lnTo>
                    <a:pt x="394" y="662"/>
                  </a:lnTo>
                  <a:lnTo>
                    <a:pt x="403" y="654"/>
                  </a:lnTo>
                  <a:lnTo>
                    <a:pt x="412" y="645"/>
                  </a:lnTo>
                  <a:lnTo>
                    <a:pt x="421" y="636"/>
                  </a:lnTo>
                  <a:lnTo>
                    <a:pt x="430" y="636"/>
                  </a:lnTo>
                  <a:lnTo>
                    <a:pt x="439" y="627"/>
                  </a:lnTo>
                  <a:lnTo>
                    <a:pt x="448" y="618"/>
                  </a:lnTo>
                  <a:lnTo>
                    <a:pt x="457" y="609"/>
                  </a:lnTo>
                  <a:lnTo>
                    <a:pt x="466" y="600"/>
                  </a:lnTo>
                  <a:lnTo>
                    <a:pt x="475" y="591"/>
                  </a:lnTo>
                  <a:lnTo>
                    <a:pt x="484" y="582"/>
                  </a:lnTo>
                  <a:lnTo>
                    <a:pt x="493" y="582"/>
                  </a:lnTo>
                  <a:lnTo>
                    <a:pt x="502" y="573"/>
                  </a:lnTo>
                  <a:lnTo>
                    <a:pt x="511" y="564"/>
                  </a:lnTo>
                  <a:lnTo>
                    <a:pt x="520" y="555"/>
                  </a:lnTo>
                  <a:lnTo>
                    <a:pt x="529" y="546"/>
                  </a:lnTo>
                  <a:lnTo>
                    <a:pt x="538" y="537"/>
                  </a:lnTo>
                  <a:lnTo>
                    <a:pt x="547" y="528"/>
                  </a:lnTo>
                  <a:lnTo>
                    <a:pt x="556" y="519"/>
                  </a:lnTo>
                  <a:lnTo>
                    <a:pt x="565" y="519"/>
                  </a:lnTo>
                  <a:lnTo>
                    <a:pt x="574" y="510"/>
                  </a:lnTo>
                  <a:lnTo>
                    <a:pt x="583" y="501"/>
                  </a:lnTo>
                  <a:lnTo>
                    <a:pt x="592" y="492"/>
                  </a:lnTo>
                  <a:lnTo>
                    <a:pt x="600" y="483"/>
                  </a:lnTo>
                  <a:lnTo>
                    <a:pt x="609" y="474"/>
                  </a:lnTo>
                  <a:lnTo>
                    <a:pt x="618" y="465"/>
                  </a:lnTo>
                  <a:lnTo>
                    <a:pt x="627" y="456"/>
                  </a:lnTo>
                  <a:lnTo>
                    <a:pt x="636" y="447"/>
                  </a:lnTo>
                  <a:lnTo>
                    <a:pt x="645" y="438"/>
                  </a:lnTo>
                  <a:lnTo>
                    <a:pt x="654" y="430"/>
                  </a:lnTo>
                  <a:lnTo>
                    <a:pt x="663" y="430"/>
                  </a:lnTo>
                  <a:lnTo>
                    <a:pt x="681" y="412"/>
                  </a:lnTo>
                  <a:lnTo>
                    <a:pt x="672" y="412"/>
                  </a:lnTo>
                  <a:lnTo>
                    <a:pt x="681" y="412"/>
                  </a:lnTo>
                  <a:lnTo>
                    <a:pt x="690" y="403"/>
                  </a:lnTo>
                  <a:lnTo>
                    <a:pt x="699" y="394"/>
                  </a:lnTo>
                  <a:lnTo>
                    <a:pt x="708" y="385"/>
                  </a:lnTo>
                  <a:lnTo>
                    <a:pt x="717" y="376"/>
                  </a:lnTo>
                  <a:lnTo>
                    <a:pt x="726" y="367"/>
                  </a:lnTo>
                  <a:lnTo>
                    <a:pt x="735" y="358"/>
                  </a:lnTo>
                  <a:lnTo>
                    <a:pt x="744" y="349"/>
                  </a:lnTo>
                  <a:lnTo>
                    <a:pt x="753" y="340"/>
                  </a:lnTo>
                  <a:lnTo>
                    <a:pt x="762" y="331"/>
                  </a:lnTo>
                  <a:lnTo>
                    <a:pt x="771" y="322"/>
                  </a:lnTo>
                  <a:lnTo>
                    <a:pt x="780" y="313"/>
                  </a:lnTo>
                  <a:lnTo>
                    <a:pt x="789" y="313"/>
                  </a:lnTo>
                  <a:lnTo>
                    <a:pt x="798" y="304"/>
                  </a:lnTo>
                  <a:lnTo>
                    <a:pt x="815" y="286"/>
                  </a:lnTo>
                  <a:lnTo>
                    <a:pt x="806" y="286"/>
                  </a:lnTo>
                  <a:lnTo>
                    <a:pt x="815" y="286"/>
                  </a:lnTo>
                  <a:lnTo>
                    <a:pt x="824" y="277"/>
                  </a:lnTo>
                  <a:lnTo>
                    <a:pt x="833" y="268"/>
                  </a:lnTo>
                  <a:lnTo>
                    <a:pt x="842" y="259"/>
                  </a:lnTo>
                  <a:lnTo>
                    <a:pt x="851" y="250"/>
                  </a:lnTo>
                  <a:lnTo>
                    <a:pt x="860" y="241"/>
                  </a:lnTo>
                  <a:lnTo>
                    <a:pt x="869" y="232"/>
                  </a:lnTo>
                  <a:lnTo>
                    <a:pt x="878" y="223"/>
                  </a:lnTo>
                  <a:lnTo>
                    <a:pt x="887" y="215"/>
                  </a:lnTo>
                  <a:lnTo>
                    <a:pt x="896" y="206"/>
                  </a:lnTo>
                  <a:lnTo>
                    <a:pt x="905" y="197"/>
                  </a:lnTo>
                  <a:lnTo>
                    <a:pt x="914" y="188"/>
                  </a:lnTo>
                  <a:lnTo>
                    <a:pt x="923" y="179"/>
                  </a:lnTo>
                  <a:lnTo>
                    <a:pt x="932" y="170"/>
                  </a:lnTo>
                  <a:lnTo>
                    <a:pt x="941" y="161"/>
                  </a:lnTo>
                  <a:lnTo>
                    <a:pt x="950" y="152"/>
                  </a:lnTo>
                  <a:lnTo>
                    <a:pt x="959" y="143"/>
                  </a:lnTo>
                  <a:lnTo>
                    <a:pt x="968" y="134"/>
                  </a:lnTo>
                  <a:lnTo>
                    <a:pt x="977" y="134"/>
                  </a:lnTo>
                  <a:lnTo>
                    <a:pt x="986" y="125"/>
                  </a:lnTo>
                  <a:lnTo>
                    <a:pt x="995" y="116"/>
                  </a:lnTo>
                  <a:lnTo>
                    <a:pt x="1004" y="107"/>
                  </a:lnTo>
                  <a:lnTo>
                    <a:pt x="1012" y="98"/>
                  </a:lnTo>
                  <a:lnTo>
                    <a:pt x="1021" y="89"/>
                  </a:lnTo>
                  <a:lnTo>
                    <a:pt x="1030" y="80"/>
                  </a:lnTo>
                  <a:lnTo>
                    <a:pt x="1039" y="71"/>
                  </a:lnTo>
                  <a:lnTo>
                    <a:pt x="1048" y="62"/>
                  </a:lnTo>
                  <a:lnTo>
                    <a:pt x="1057" y="53"/>
                  </a:lnTo>
                  <a:lnTo>
                    <a:pt x="1066" y="44"/>
                  </a:lnTo>
                  <a:lnTo>
                    <a:pt x="1075" y="35"/>
                  </a:lnTo>
                  <a:lnTo>
                    <a:pt x="1084" y="26"/>
                  </a:lnTo>
                  <a:lnTo>
                    <a:pt x="1093" y="17"/>
                  </a:lnTo>
                  <a:lnTo>
                    <a:pt x="1102" y="8"/>
                  </a:lnTo>
                  <a:lnTo>
                    <a:pt x="1111" y="0"/>
                  </a:lnTo>
                </a:path>
              </a:pathLst>
            </a:cu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8" name="Freeform 58"/>
            <p:cNvSpPr>
              <a:spLocks/>
            </p:cNvSpPr>
            <p:nvPr/>
          </p:nvSpPr>
          <p:spPr bwMode="auto">
            <a:xfrm>
              <a:off x="2568" y="1953"/>
              <a:ext cx="1120" cy="1076"/>
            </a:xfrm>
            <a:custGeom>
              <a:avLst/>
              <a:gdLst/>
              <a:ahLst/>
              <a:cxnLst>
                <a:cxn ang="0">
                  <a:pos x="18" y="1058"/>
                </a:cxn>
                <a:cxn ang="0">
                  <a:pos x="45" y="1031"/>
                </a:cxn>
                <a:cxn ang="0">
                  <a:pos x="72" y="1013"/>
                </a:cxn>
                <a:cxn ang="0">
                  <a:pos x="99" y="986"/>
                </a:cxn>
                <a:cxn ang="0">
                  <a:pos x="125" y="959"/>
                </a:cxn>
                <a:cxn ang="0">
                  <a:pos x="152" y="932"/>
                </a:cxn>
                <a:cxn ang="0">
                  <a:pos x="179" y="905"/>
                </a:cxn>
                <a:cxn ang="0">
                  <a:pos x="206" y="878"/>
                </a:cxn>
                <a:cxn ang="0">
                  <a:pos x="233" y="852"/>
                </a:cxn>
                <a:cxn ang="0">
                  <a:pos x="260" y="825"/>
                </a:cxn>
                <a:cxn ang="0">
                  <a:pos x="287" y="798"/>
                </a:cxn>
                <a:cxn ang="0">
                  <a:pos x="314" y="771"/>
                </a:cxn>
                <a:cxn ang="0">
                  <a:pos x="340" y="753"/>
                </a:cxn>
                <a:cxn ang="0">
                  <a:pos x="367" y="726"/>
                </a:cxn>
                <a:cxn ang="0">
                  <a:pos x="394" y="699"/>
                </a:cxn>
                <a:cxn ang="0">
                  <a:pos x="421" y="672"/>
                </a:cxn>
                <a:cxn ang="0">
                  <a:pos x="448" y="645"/>
                </a:cxn>
                <a:cxn ang="0">
                  <a:pos x="475" y="619"/>
                </a:cxn>
                <a:cxn ang="0">
                  <a:pos x="502" y="592"/>
                </a:cxn>
                <a:cxn ang="0">
                  <a:pos x="528" y="565"/>
                </a:cxn>
                <a:cxn ang="0">
                  <a:pos x="555" y="538"/>
                </a:cxn>
                <a:cxn ang="0">
                  <a:pos x="591" y="511"/>
                </a:cxn>
                <a:cxn ang="0">
                  <a:pos x="600" y="502"/>
                </a:cxn>
                <a:cxn ang="0">
                  <a:pos x="627" y="475"/>
                </a:cxn>
                <a:cxn ang="0">
                  <a:pos x="654" y="448"/>
                </a:cxn>
                <a:cxn ang="0">
                  <a:pos x="681" y="421"/>
                </a:cxn>
                <a:cxn ang="0">
                  <a:pos x="708" y="395"/>
                </a:cxn>
                <a:cxn ang="0">
                  <a:pos x="734" y="368"/>
                </a:cxn>
                <a:cxn ang="0">
                  <a:pos x="761" y="341"/>
                </a:cxn>
                <a:cxn ang="0">
                  <a:pos x="788" y="314"/>
                </a:cxn>
                <a:cxn ang="0">
                  <a:pos x="815" y="287"/>
                </a:cxn>
                <a:cxn ang="0">
                  <a:pos x="842" y="269"/>
                </a:cxn>
                <a:cxn ang="0">
                  <a:pos x="860" y="251"/>
                </a:cxn>
                <a:cxn ang="0">
                  <a:pos x="887" y="224"/>
                </a:cxn>
                <a:cxn ang="0">
                  <a:pos x="914" y="198"/>
                </a:cxn>
                <a:cxn ang="0">
                  <a:pos x="940" y="171"/>
                </a:cxn>
                <a:cxn ang="0">
                  <a:pos x="967" y="144"/>
                </a:cxn>
                <a:cxn ang="0">
                  <a:pos x="994" y="117"/>
                </a:cxn>
                <a:cxn ang="0">
                  <a:pos x="1021" y="90"/>
                </a:cxn>
                <a:cxn ang="0">
                  <a:pos x="1048" y="63"/>
                </a:cxn>
                <a:cxn ang="0">
                  <a:pos x="1075" y="36"/>
                </a:cxn>
                <a:cxn ang="0">
                  <a:pos x="1102" y="18"/>
                </a:cxn>
              </a:cxnLst>
              <a:rect l="0" t="0" r="r" b="b"/>
              <a:pathLst>
                <a:path w="1120" h="1076">
                  <a:moveTo>
                    <a:pt x="0" y="1076"/>
                  </a:moveTo>
                  <a:lnTo>
                    <a:pt x="9" y="1067"/>
                  </a:lnTo>
                  <a:lnTo>
                    <a:pt x="18" y="1058"/>
                  </a:lnTo>
                  <a:lnTo>
                    <a:pt x="27" y="1049"/>
                  </a:lnTo>
                  <a:lnTo>
                    <a:pt x="36" y="1040"/>
                  </a:lnTo>
                  <a:lnTo>
                    <a:pt x="45" y="1031"/>
                  </a:lnTo>
                  <a:lnTo>
                    <a:pt x="54" y="1022"/>
                  </a:lnTo>
                  <a:lnTo>
                    <a:pt x="63" y="1013"/>
                  </a:lnTo>
                  <a:lnTo>
                    <a:pt x="72" y="1013"/>
                  </a:lnTo>
                  <a:lnTo>
                    <a:pt x="81" y="1004"/>
                  </a:lnTo>
                  <a:lnTo>
                    <a:pt x="90" y="995"/>
                  </a:lnTo>
                  <a:lnTo>
                    <a:pt x="99" y="986"/>
                  </a:lnTo>
                  <a:lnTo>
                    <a:pt x="108" y="977"/>
                  </a:lnTo>
                  <a:lnTo>
                    <a:pt x="116" y="968"/>
                  </a:lnTo>
                  <a:lnTo>
                    <a:pt x="125" y="959"/>
                  </a:lnTo>
                  <a:lnTo>
                    <a:pt x="134" y="950"/>
                  </a:lnTo>
                  <a:lnTo>
                    <a:pt x="143" y="941"/>
                  </a:lnTo>
                  <a:lnTo>
                    <a:pt x="152" y="932"/>
                  </a:lnTo>
                  <a:lnTo>
                    <a:pt x="161" y="923"/>
                  </a:lnTo>
                  <a:lnTo>
                    <a:pt x="170" y="914"/>
                  </a:lnTo>
                  <a:lnTo>
                    <a:pt x="179" y="905"/>
                  </a:lnTo>
                  <a:lnTo>
                    <a:pt x="188" y="896"/>
                  </a:lnTo>
                  <a:lnTo>
                    <a:pt x="197" y="887"/>
                  </a:lnTo>
                  <a:lnTo>
                    <a:pt x="206" y="878"/>
                  </a:lnTo>
                  <a:lnTo>
                    <a:pt x="215" y="869"/>
                  </a:lnTo>
                  <a:lnTo>
                    <a:pt x="224" y="860"/>
                  </a:lnTo>
                  <a:lnTo>
                    <a:pt x="233" y="852"/>
                  </a:lnTo>
                  <a:lnTo>
                    <a:pt x="242" y="843"/>
                  </a:lnTo>
                  <a:lnTo>
                    <a:pt x="251" y="834"/>
                  </a:lnTo>
                  <a:lnTo>
                    <a:pt x="260" y="825"/>
                  </a:lnTo>
                  <a:lnTo>
                    <a:pt x="269" y="816"/>
                  </a:lnTo>
                  <a:lnTo>
                    <a:pt x="278" y="807"/>
                  </a:lnTo>
                  <a:lnTo>
                    <a:pt x="287" y="798"/>
                  </a:lnTo>
                  <a:lnTo>
                    <a:pt x="296" y="789"/>
                  </a:lnTo>
                  <a:lnTo>
                    <a:pt x="305" y="780"/>
                  </a:lnTo>
                  <a:lnTo>
                    <a:pt x="314" y="771"/>
                  </a:lnTo>
                  <a:lnTo>
                    <a:pt x="322" y="762"/>
                  </a:lnTo>
                  <a:lnTo>
                    <a:pt x="331" y="762"/>
                  </a:lnTo>
                  <a:lnTo>
                    <a:pt x="340" y="753"/>
                  </a:lnTo>
                  <a:lnTo>
                    <a:pt x="349" y="744"/>
                  </a:lnTo>
                  <a:lnTo>
                    <a:pt x="358" y="735"/>
                  </a:lnTo>
                  <a:lnTo>
                    <a:pt x="367" y="726"/>
                  </a:lnTo>
                  <a:lnTo>
                    <a:pt x="376" y="717"/>
                  </a:lnTo>
                  <a:lnTo>
                    <a:pt x="385" y="708"/>
                  </a:lnTo>
                  <a:lnTo>
                    <a:pt x="394" y="699"/>
                  </a:lnTo>
                  <a:lnTo>
                    <a:pt x="403" y="690"/>
                  </a:lnTo>
                  <a:lnTo>
                    <a:pt x="412" y="681"/>
                  </a:lnTo>
                  <a:lnTo>
                    <a:pt x="421" y="672"/>
                  </a:lnTo>
                  <a:lnTo>
                    <a:pt x="430" y="663"/>
                  </a:lnTo>
                  <a:lnTo>
                    <a:pt x="439" y="654"/>
                  </a:lnTo>
                  <a:lnTo>
                    <a:pt x="448" y="645"/>
                  </a:lnTo>
                  <a:lnTo>
                    <a:pt x="457" y="637"/>
                  </a:lnTo>
                  <a:lnTo>
                    <a:pt x="466" y="628"/>
                  </a:lnTo>
                  <a:lnTo>
                    <a:pt x="475" y="619"/>
                  </a:lnTo>
                  <a:lnTo>
                    <a:pt x="484" y="610"/>
                  </a:lnTo>
                  <a:lnTo>
                    <a:pt x="493" y="601"/>
                  </a:lnTo>
                  <a:lnTo>
                    <a:pt x="502" y="592"/>
                  </a:lnTo>
                  <a:lnTo>
                    <a:pt x="511" y="583"/>
                  </a:lnTo>
                  <a:lnTo>
                    <a:pt x="520" y="574"/>
                  </a:lnTo>
                  <a:lnTo>
                    <a:pt x="528" y="565"/>
                  </a:lnTo>
                  <a:lnTo>
                    <a:pt x="537" y="556"/>
                  </a:lnTo>
                  <a:lnTo>
                    <a:pt x="546" y="547"/>
                  </a:lnTo>
                  <a:lnTo>
                    <a:pt x="555" y="538"/>
                  </a:lnTo>
                  <a:lnTo>
                    <a:pt x="564" y="538"/>
                  </a:lnTo>
                  <a:lnTo>
                    <a:pt x="573" y="529"/>
                  </a:lnTo>
                  <a:lnTo>
                    <a:pt x="591" y="511"/>
                  </a:lnTo>
                  <a:lnTo>
                    <a:pt x="582" y="511"/>
                  </a:lnTo>
                  <a:lnTo>
                    <a:pt x="591" y="511"/>
                  </a:lnTo>
                  <a:lnTo>
                    <a:pt x="600" y="502"/>
                  </a:lnTo>
                  <a:lnTo>
                    <a:pt x="609" y="493"/>
                  </a:lnTo>
                  <a:lnTo>
                    <a:pt x="618" y="484"/>
                  </a:lnTo>
                  <a:lnTo>
                    <a:pt x="627" y="475"/>
                  </a:lnTo>
                  <a:lnTo>
                    <a:pt x="636" y="466"/>
                  </a:lnTo>
                  <a:lnTo>
                    <a:pt x="645" y="457"/>
                  </a:lnTo>
                  <a:lnTo>
                    <a:pt x="654" y="448"/>
                  </a:lnTo>
                  <a:lnTo>
                    <a:pt x="663" y="439"/>
                  </a:lnTo>
                  <a:lnTo>
                    <a:pt x="672" y="430"/>
                  </a:lnTo>
                  <a:lnTo>
                    <a:pt x="681" y="421"/>
                  </a:lnTo>
                  <a:lnTo>
                    <a:pt x="690" y="413"/>
                  </a:lnTo>
                  <a:lnTo>
                    <a:pt x="699" y="404"/>
                  </a:lnTo>
                  <a:lnTo>
                    <a:pt x="708" y="395"/>
                  </a:lnTo>
                  <a:lnTo>
                    <a:pt x="717" y="386"/>
                  </a:lnTo>
                  <a:lnTo>
                    <a:pt x="726" y="377"/>
                  </a:lnTo>
                  <a:lnTo>
                    <a:pt x="734" y="368"/>
                  </a:lnTo>
                  <a:lnTo>
                    <a:pt x="743" y="359"/>
                  </a:lnTo>
                  <a:lnTo>
                    <a:pt x="752" y="350"/>
                  </a:lnTo>
                  <a:lnTo>
                    <a:pt x="761" y="341"/>
                  </a:lnTo>
                  <a:lnTo>
                    <a:pt x="770" y="332"/>
                  </a:lnTo>
                  <a:lnTo>
                    <a:pt x="779" y="323"/>
                  </a:lnTo>
                  <a:lnTo>
                    <a:pt x="788" y="314"/>
                  </a:lnTo>
                  <a:lnTo>
                    <a:pt x="797" y="305"/>
                  </a:lnTo>
                  <a:lnTo>
                    <a:pt x="806" y="296"/>
                  </a:lnTo>
                  <a:lnTo>
                    <a:pt x="815" y="287"/>
                  </a:lnTo>
                  <a:lnTo>
                    <a:pt x="824" y="287"/>
                  </a:lnTo>
                  <a:lnTo>
                    <a:pt x="833" y="278"/>
                  </a:lnTo>
                  <a:lnTo>
                    <a:pt x="842" y="269"/>
                  </a:lnTo>
                  <a:lnTo>
                    <a:pt x="860" y="251"/>
                  </a:lnTo>
                  <a:lnTo>
                    <a:pt x="851" y="251"/>
                  </a:lnTo>
                  <a:lnTo>
                    <a:pt x="860" y="251"/>
                  </a:lnTo>
                  <a:lnTo>
                    <a:pt x="869" y="242"/>
                  </a:lnTo>
                  <a:lnTo>
                    <a:pt x="878" y="233"/>
                  </a:lnTo>
                  <a:lnTo>
                    <a:pt x="887" y="224"/>
                  </a:lnTo>
                  <a:lnTo>
                    <a:pt x="896" y="215"/>
                  </a:lnTo>
                  <a:lnTo>
                    <a:pt x="905" y="206"/>
                  </a:lnTo>
                  <a:lnTo>
                    <a:pt x="914" y="198"/>
                  </a:lnTo>
                  <a:lnTo>
                    <a:pt x="923" y="189"/>
                  </a:lnTo>
                  <a:lnTo>
                    <a:pt x="932" y="180"/>
                  </a:lnTo>
                  <a:lnTo>
                    <a:pt x="940" y="171"/>
                  </a:lnTo>
                  <a:lnTo>
                    <a:pt x="949" y="162"/>
                  </a:lnTo>
                  <a:lnTo>
                    <a:pt x="958" y="153"/>
                  </a:lnTo>
                  <a:lnTo>
                    <a:pt x="967" y="144"/>
                  </a:lnTo>
                  <a:lnTo>
                    <a:pt x="976" y="135"/>
                  </a:lnTo>
                  <a:lnTo>
                    <a:pt x="985" y="126"/>
                  </a:lnTo>
                  <a:lnTo>
                    <a:pt x="994" y="117"/>
                  </a:lnTo>
                  <a:lnTo>
                    <a:pt x="1003" y="108"/>
                  </a:lnTo>
                  <a:lnTo>
                    <a:pt x="1012" y="99"/>
                  </a:lnTo>
                  <a:lnTo>
                    <a:pt x="1021" y="90"/>
                  </a:lnTo>
                  <a:lnTo>
                    <a:pt x="1030" y="81"/>
                  </a:lnTo>
                  <a:lnTo>
                    <a:pt x="1039" y="72"/>
                  </a:lnTo>
                  <a:lnTo>
                    <a:pt x="1048" y="63"/>
                  </a:lnTo>
                  <a:lnTo>
                    <a:pt x="1057" y="54"/>
                  </a:lnTo>
                  <a:lnTo>
                    <a:pt x="1066" y="45"/>
                  </a:lnTo>
                  <a:lnTo>
                    <a:pt x="1075" y="36"/>
                  </a:lnTo>
                  <a:lnTo>
                    <a:pt x="1084" y="27"/>
                  </a:lnTo>
                  <a:lnTo>
                    <a:pt x="1093" y="27"/>
                  </a:lnTo>
                  <a:lnTo>
                    <a:pt x="1102" y="18"/>
                  </a:lnTo>
                  <a:lnTo>
                    <a:pt x="1111" y="9"/>
                  </a:lnTo>
                  <a:lnTo>
                    <a:pt x="1120" y="0"/>
                  </a:lnTo>
                </a:path>
              </a:pathLst>
            </a:cu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79" name="Freeform 59"/>
            <p:cNvSpPr>
              <a:spLocks/>
            </p:cNvSpPr>
            <p:nvPr/>
          </p:nvSpPr>
          <p:spPr bwMode="auto">
            <a:xfrm>
              <a:off x="3688" y="1604"/>
              <a:ext cx="367" cy="349"/>
            </a:xfrm>
            <a:custGeom>
              <a:avLst/>
              <a:gdLst/>
              <a:ahLst/>
              <a:cxnLst>
                <a:cxn ang="0">
                  <a:pos x="0" y="349"/>
                </a:cxn>
                <a:cxn ang="0">
                  <a:pos x="9" y="340"/>
                </a:cxn>
                <a:cxn ang="0">
                  <a:pos x="18" y="332"/>
                </a:cxn>
                <a:cxn ang="0">
                  <a:pos x="26" y="323"/>
                </a:cxn>
                <a:cxn ang="0">
                  <a:pos x="35" y="314"/>
                </a:cxn>
                <a:cxn ang="0">
                  <a:pos x="44" y="305"/>
                </a:cxn>
                <a:cxn ang="0">
                  <a:pos x="53" y="296"/>
                </a:cxn>
                <a:cxn ang="0">
                  <a:pos x="62" y="287"/>
                </a:cxn>
                <a:cxn ang="0">
                  <a:pos x="71" y="278"/>
                </a:cxn>
                <a:cxn ang="0">
                  <a:pos x="80" y="269"/>
                </a:cxn>
                <a:cxn ang="0">
                  <a:pos x="89" y="260"/>
                </a:cxn>
                <a:cxn ang="0">
                  <a:pos x="98" y="251"/>
                </a:cxn>
                <a:cxn ang="0">
                  <a:pos x="107" y="242"/>
                </a:cxn>
                <a:cxn ang="0">
                  <a:pos x="116" y="233"/>
                </a:cxn>
                <a:cxn ang="0">
                  <a:pos x="125" y="224"/>
                </a:cxn>
                <a:cxn ang="0">
                  <a:pos x="134" y="215"/>
                </a:cxn>
                <a:cxn ang="0">
                  <a:pos x="143" y="206"/>
                </a:cxn>
                <a:cxn ang="0">
                  <a:pos x="152" y="197"/>
                </a:cxn>
                <a:cxn ang="0">
                  <a:pos x="161" y="188"/>
                </a:cxn>
                <a:cxn ang="0">
                  <a:pos x="170" y="179"/>
                </a:cxn>
                <a:cxn ang="0">
                  <a:pos x="179" y="170"/>
                </a:cxn>
                <a:cxn ang="0">
                  <a:pos x="188" y="161"/>
                </a:cxn>
                <a:cxn ang="0">
                  <a:pos x="197" y="152"/>
                </a:cxn>
                <a:cxn ang="0">
                  <a:pos x="206" y="143"/>
                </a:cxn>
                <a:cxn ang="0">
                  <a:pos x="215" y="134"/>
                </a:cxn>
                <a:cxn ang="0">
                  <a:pos x="224" y="125"/>
                </a:cxn>
                <a:cxn ang="0">
                  <a:pos x="233" y="125"/>
                </a:cxn>
                <a:cxn ang="0">
                  <a:pos x="241" y="116"/>
                </a:cxn>
                <a:cxn ang="0">
                  <a:pos x="250" y="108"/>
                </a:cxn>
                <a:cxn ang="0">
                  <a:pos x="259" y="99"/>
                </a:cxn>
                <a:cxn ang="0">
                  <a:pos x="268" y="90"/>
                </a:cxn>
                <a:cxn ang="0">
                  <a:pos x="277" y="81"/>
                </a:cxn>
                <a:cxn ang="0">
                  <a:pos x="286" y="72"/>
                </a:cxn>
                <a:cxn ang="0">
                  <a:pos x="295" y="63"/>
                </a:cxn>
                <a:cxn ang="0">
                  <a:pos x="304" y="54"/>
                </a:cxn>
                <a:cxn ang="0">
                  <a:pos x="313" y="45"/>
                </a:cxn>
                <a:cxn ang="0">
                  <a:pos x="322" y="36"/>
                </a:cxn>
                <a:cxn ang="0">
                  <a:pos x="331" y="27"/>
                </a:cxn>
                <a:cxn ang="0">
                  <a:pos x="340" y="18"/>
                </a:cxn>
                <a:cxn ang="0">
                  <a:pos x="349" y="9"/>
                </a:cxn>
                <a:cxn ang="0">
                  <a:pos x="358" y="0"/>
                </a:cxn>
                <a:cxn ang="0">
                  <a:pos x="367" y="0"/>
                </a:cxn>
              </a:cxnLst>
              <a:rect l="0" t="0" r="r" b="b"/>
              <a:pathLst>
                <a:path w="367" h="349">
                  <a:moveTo>
                    <a:pt x="0" y="349"/>
                  </a:moveTo>
                  <a:lnTo>
                    <a:pt x="9" y="340"/>
                  </a:lnTo>
                  <a:lnTo>
                    <a:pt x="18" y="332"/>
                  </a:lnTo>
                  <a:lnTo>
                    <a:pt x="26" y="323"/>
                  </a:lnTo>
                  <a:lnTo>
                    <a:pt x="35" y="314"/>
                  </a:lnTo>
                  <a:lnTo>
                    <a:pt x="44" y="305"/>
                  </a:lnTo>
                  <a:lnTo>
                    <a:pt x="53" y="296"/>
                  </a:lnTo>
                  <a:lnTo>
                    <a:pt x="62" y="287"/>
                  </a:lnTo>
                  <a:lnTo>
                    <a:pt x="71" y="278"/>
                  </a:lnTo>
                  <a:lnTo>
                    <a:pt x="80" y="269"/>
                  </a:lnTo>
                  <a:lnTo>
                    <a:pt x="89" y="260"/>
                  </a:lnTo>
                  <a:lnTo>
                    <a:pt x="98" y="251"/>
                  </a:lnTo>
                  <a:lnTo>
                    <a:pt x="107" y="242"/>
                  </a:lnTo>
                  <a:lnTo>
                    <a:pt x="116" y="233"/>
                  </a:lnTo>
                  <a:lnTo>
                    <a:pt x="125" y="224"/>
                  </a:lnTo>
                  <a:lnTo>
                    <a:pt x="134" y="215"/>
                  </a:lnTo>
                  <a:lnTo>
                    <a:pt x="143" y="206"/>
                  </a:lnTo>
                  <a:lnTo>
                    <a:pt x="152" y="197"/>
                  </a:lnTo>
                  <a:lnTo>
                    <a:pt x="161" y="188"/>
                  </a:lnTo>
                  <a:lnTo>
                    <a:pt x="170" y="179"/>
                  </a:lnTo>
                  <a:lnTo>
                    <a:pt x="179" y="170"/>
                  </a:lnTo>
                  <a:lnTo>
                    <a:pt x="188" y="161"/>
                  </a:lnTo>
                  <a:lnTo>
                    <a:pt x="197" y="152"/>
                  </a:lnTo>
                  <a:lnTo>
                    <a:pt x="206" y="143"/>
                  </a:lnTo>
                  <a:lnTo>
                    <a:pt x="215" y="134"/>
                  </a:lnTo>
                  <a:lnTo>
                    <a:pt x="224" y="125"/>
                  </a:lnTo>
                  <a:lnTo>
                    <a:pt x="233" y="125"/>
                  </a:lnTo>
                  <a:lnTo>
                    <a:pt x="241" y="116"/>
                  </a:lnTo>
                  <a:lnTo>
                    <a:pt x="250" y="108"/>
                  </a:lnTo>
                  <a:lnTo>
                    <a:pt x="259" y="99"/>
                  </a:lnTo>
                  <a:lnTo>
                    <a:pt x="268" y="90"/>
                  </a:lnTo>
                  <a:lnTo>
                    <a:pt x="277" y="81"/>
                  </a:lnTo>
                  <a:lnTo>
                    <a:pt x="286" y="72"/>
                  </a:lnTo>
                  <a:lnTo>
                    <a:pt x="295" y="63"/>
                  </a:lnTo>
                  <a:lnTo>
                    <a:pt x="304" y="54"/>
                  </a:lnTo>
                  <a:lnTo>
                    <a:pt x="313" y="45"/>
                  </a:lnTo>
                  <a:lnTo>
                    <a:pt x="322" y="36"/>
                  </a:lnTo>
                  <a:lnTo>
                    <a:pt x="331" y="27"/>
                  </a:lnTo>
                  <a:lnTo>
                    <a:pt x="340" y="18"/>
                  </a:lnTo>
                  <a:lnTo>
                    <a:pt x="349" y="9"/>
                  </a:lnTo>
                  <a:lnTo>
                    <a:pt x="358" y="0"/>
                  </a:lnTo>
                  <a:lnTo>
                    <a:pt x="367" y="0"/>
                  </a:lnTo>
                </a:path>
              </a:pathLst>
            </a:cu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80" name="Rectangle 60"/>
            <p:cNvSpPr>
              <a:spLocks noChangeArrowheads="1"/>
            </p:cNvSpPr>
            <p:nvPr/>
          </p:nvSpPr>
          <p:spPr bwMode="auto">
            <a:xfrm>
              <a:off x="2944" y="4086"/>
              <a:ext cx="31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Time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81" name="Rectangle 61"/>
            <p:cNvSpPr>
              <a:spLocks noChangeArrowheads="1"/>
            </p:cNvSpPr>
            <p:nvPr/>
          </p:nvSpPr>
          <p:spPr bwMode="auto">
            <a:xfrm rot="16200000">
              <a:off x="1058" y="2656"/>
              <a:ext cx="224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c(t)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82" name="Rectangle 62"/>
            <p:cNvSpPr>
              <a:spLocks noChangeArrowheads="1"/>
            </p:cNvSpPr>
            <p:nvPr/>
          </p:nvSpPr>
          <p:spPr bwMode="auto">
            <a:xfrm>
              <a:off x="2523" y="1398"/>
              <a:ext cx="1164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Unit Ramp Response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83" name="Rectangle 63"/>
            <p:cNvSpPr>
              <a:spLocks noChangeArrowheads="1"/>
            </p:cNvSpPr>
            <p:nvPr/>
          </p:nvSpPr>
          <p:spPr bwMode="auto">
            <a:xfrm>
              <a:off x="1439" y="3844"/>
              <a:ext cx="9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84" name="Rectangle 64"/>
            <p:cNvSpPr>
              <a:spLocks noChangeArrowheads="1"/>
            </p:cNvSpPr>
            <p:nvPr/>
          </p:nvSpPr>
          <p:spPr bwMode="auto">
            <a:xfrm>
              <a:off x="4700" y="1532"/>
              <a:ext cx="9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85" name="Rectangle 65"/>
            <p:cNvSpPr>
              <a:spLocks noChangeArrowheads="1"/>
            </p:cNvSpPr>
            <p:nvPr/>
          </p:nvSpPr>
          <p:spPr bwMode="auto">
            <a:xfrm>
              <a:off x="1601" y="1774"/>
              <a:ext cx="1379" cy="3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86" name="Rectangle 66"/>
            <p:cNvSpPr>
              <a:spLocks noChangeArrowheads="1"/>
            </p:cNvSpPr>
            <p:nvPr/>
          </p:nvSpPr>
          <p:spPr bwMode="auto">
            <a:xfrm>
              <a:off x="1601" y="1774"/>
              <a:ext cx="1379" cy="377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87" name="Line 67"/>
            <p:cNvSpPr>
              <a:spLocks noChangeShapeType="1"/>
            </p:cNvSpPr>
            <p:nvPr/>
          </p:nvSpPr>
          <p:spPr bwMode="auto">
            <a:xfrm>
              <a:off x="1601" y="1774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88" name="Line 68"/>
            <p:cNvSpPr>
              <a:spLocks noChangeShapeType="1"/>
            </p:cNvSpPr>
            <p:nvPr/>
          </p:nvSpPr>
          <p:spPr bwMode="auto">
            <a:xfrm>
              <a:off x="1601" y="2151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89" name="Line 69"/>
            <p:cNvSpPr>
              <a:spLocks noChangeShapeType="1"/>
            </p:cNvSpPr>
            <p:nvPr/>
          </p:nvSpPr>
          <p:spPr bwMode="auto">
            <a:xfrm flipV="1">
              <a:off x="2980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0" name="Line 70"/>
            <p:cNvSpPr>
              <a:spLocks noChangeShapeType="1"/>
            </p:cNvSpPr>
            <p:nvPr/>
          </p:nvSpPr>
          <p:spPr bwMode="auto">
            <a:xfrm flipV="1">
              <a:off x="1601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1" name="Line 71"/>
            <p:cNvSpPr>
              <a:spLocks noChangeShapeType="1"/>
            </p:cNvSpPr>
            <p:nvPr/>
          </p:nvSpPr>
          <p:spPr bwMode="auto">
            <a:xfrm>
              <a:off x="1601" y="2151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2" name="Line 72"/>
            <p:cNvSpPr>
              <a:spLocks noChangeShapeType="1"/>
            </p:cNvSpPr>
            <p:nvPr/>
          </p:nvSpPr>
          <p:spPr bwMode="auto">
            <a:xfrm flipV="1">
              <a:off x="1601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3" name="Line 73"/>
            <p:cNvSpPr>
              <a:spLocks noChangeShapeType="1"/>
            </p:cNvSpPr>
            <p:nvPr/>
          </p:nvSpPr>
          <p:spPr bwMode="auto">
            <a:xfrm>
              <a:off x="1601" y="1774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4" name="Line 74"/>
            <p:cNvSpPr>
              <a:spLocks noChangeShapeType="1"/>
            </p:cNvSpPr>
            <p:nvPr/>
          </p:nvSpPr>
          <p:spPr bwMode="auto">
            <a:xfrm>
              <a:off x="1601" y="2151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5" name="Line 75"/>
            <p:cNvSpPr>
              <a:spLocks noChangeShapeType="1"/>
            </p:cNvSpPr>
            <p:nvPr/>
          </p:nvSpPr>
          <p:spPr bwMode="auto">
            <a:xfrm flipV="1">
              <a:off x="2980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6" name="Line 76"/>
            <p:cNvSpPr>
              <a:spLocks noChangeShapeType="1"/>
            </p:cNvSpPr>
            <p:nvPr/>
          </p:nvSpPr>
          <p:spPr bwMode="auto">
            <a:xfrm flipV="1">
              <a:off x="1601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7" name="Rectangle 77"/>
            <p:cNvSpPr>
              <a:spLocks noChangeArrowheads="1"/>
            </p:cNvSpPr>
            <p:nvPr/>
          </p:nvSpPr>
          <p:spPr bwMode="auto">
            <a:xfrm>
              <a:off x="2066" y="1810"/>
              <a:ext cx="574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Unit Ramp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598" name="Line 78"/>
            <p:cNvSpPr>
              <a:spLocks noChangeShapeType="1"/>
            </p:cNvSpPr>
            <p:nvPr/>
          </p:nvSpPr>
          <p:spPr bwMode="auto">
            <a:xfrm>
              <a:off x="1672" y="1873"/>
              <a:ext cx="359" cy="1"/>
            </a:xfrm>
            <a:prstGeom prst="line">
              <a:avLst/>
            </a:pr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5599" name="Rectangle 79"/>
            <p:cNvSpPr>
              <a:spLocks noChangeArrowheads="1"/>
            </p:cNvSpPr>
            <p:nvPr/>
          </p:nvSpPr>
          <p:spPr bwMode="auto">
            <a:xfrm>
              <a:off x="2066" y="1980"/>
              <a:ext cx="92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Ramp Response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600" name="Line 80"/>
            <p:cNvSpPr>
              <a:spLocks noChangeShapeType="1"/>
            </p:cNvSpPr>
            <p:nvPr/>
          </p:nvSpPr>
          <p:spPr bwMode="auto">
            <a:xfrm>
              <a:off x="1672" y="2043"/>
              <a:ext cx="359" cy="1"/>
            </a:xfrm>
            <a:prstGeom prst="line">
              <a:avLst/>
            </a:pr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GB" dirty="0"/>
              <a:t>Ramp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05273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If </a:t>
            </a:r>
            <a:r>
              <a:rPr lang="en-GB" sz="2400" dirty="0">
                <a:solidFill>
                  <a:srgbClr val="FF0000"/>
                </a:solidFill>
              </a:rPr>
              <a:t>K=1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FF0000"/>
                </a:solidFill>
              </a:rPr>
              <a:t>T=1</a:t>
            </a:r>
          </a:p>
        </p:txBody>
      </p:sp>
      <p:graphicFrame>
        <p:nvGraphicFramePr>
          <p:cNvPr id="226312" name="Object 8"/>
          <p:cNvGraphicFramePr>
            <a:graphicFrameLocks noChangeAspect="1"/>
          </p:cNvGraphicFramePr>
          <p:nvPr/>
        </p:nvGraphicFramePr>
        <p:xfrm>
          <a:off x="5635625" y="1257300"/>
          <a:ext cx="3111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215640" progId="Equation.3">
                  <p:embed/>
                </p:oleObj>
              </mc:Choice>
              <mc:Fallback>
                <p:oleObj name="Equation" r:id="rId2" imgW="12445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1257300"/>
                        <a:ext cx="3111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" name="Group 81"/>
          <p:cNvGrpSpPr/>
          <p:nvPr/>
        </p:nvGrpSpPr>
        <p:grpSpPr>
          <a:xfrm>
            <a:off x="4355976" y="4193792"/>
            <a:ext cx="1090690" cy="2016224"/>
            <a:chOff x="4355976" y="4193792"/>
            <a:chExt cx="1090690" cy="2016224"/>
          </a:xfrm>
        </p:grpSpPr>
        <p:grpSp>
          <p:nvGrpSpPr>
            <p:cNvPr id="23" name="Group 22"/>
            <p:cNvGrpSpPr/>
            <p:nvPr/>
          </p:nvGrpSpPr>
          <p:grpSpPr>
            <a:xfrm>
              <a:off x="4355976" y="4221088"/>
              <a:ext cx="1090690" cy="1034820"/>
              <a:chOff x="4355976" y="4221088"/>
              <a:chExt cx="1090690" cy="103482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 flipH="1">
                <a:off x="4355976" y="4221088"/>
                <a:ext cx="360040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H="1" flipV="1">
                <a:off x="4788024" y="4365104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4788024" y="4886576"/>
                <a:ext cx="658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error</a:t>
                </a:r>
              </a:p>
            </p:txBody>
          </p:sp>
        </p:grpSp>
        <p:cxnSp>
          <p:nvCxnSpPr>
            <p:cNvPr id="26" name="Straight Connector 25"/>
            <p:cNvCxnSpPr/>
            <p:nvPr/>
          </p:nvCxnSpPr>
          <p:spPr>
            <a:xfrm>
              <a:off x="4355976" y="4193792"/>
              <a:ext cx="0" cy="20162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725896" y="4221088"/>
              <a:ext cx="0" cy="19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631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550" name="Group 6"/>
          <p:cNvGrpSpPr>
            <a:grpSpLocks noChangeAspect="1"/>
          </p:cNvGrpSpPr>
          <p:nvPr/>
        </p:nvGrpSpPr>
        <p:grpSpPr bwMode="auto">
          <a:xfrm>
            <a:off x="1476375" y="1984375"/>
            <a:ext cx="6343650" cy="4324350"/>
            <a:chOff x="930" y="1250"/>
            <a:chExt cx="3996" cy="2724"/>
          </a:xfrm>
        </p:grpSpPr>
        <p:sp>
          <p:nvSpPr>
            <p:cNvPr id="236549" name="AutoShape 5"/>
            <p:cNvSpPr>
              <a:spLocks noChangeAspect="1" noChangeArrowheads="1" noTextEdit="1"/>
            </p:cNvSpPr>
            <p:nvPr/>
          </p:nvSpPr>
          <p:spPr bwMode="auto">
            <a:xfrm>
              <a:off x="930" y="1250"/>
              <a:ext cx="3996" cy="2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1" name="Rectangle 7"/>
            <p:cNvSpPr>
              <a:spLocks noChangeArrowheads="1"/>
            </p:cNvSpPr>
            <p:nvPr/>
          </p:nvSpPr>
          <p:spPr bwMode="auto">
            <a:xfrm>
              <a:off x="1451" y="1455"/>
              <a:ext cx="3099" cy="21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2" name="Rectangle 8"/>
            <p:cNvSpPr>
              <a:spLocks noChangeArrowheads="1"/>
            </p:cNvSpPr>
            <p:nvPr/>
          </p:nvSpPr>
          <p:spPr bwMode="auto">
            <a:xfrm>
              <a:off x="1451" y="1455"/>
              <a:ext cx="3099" cy="2194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3" name="Line 9"/>
            <p:cNvSpPr>
              <a:spLocks noChangeShapeType="1"/>
            </p:cNvSpPr>
            <p:nvPr/>
          </p:nvSpPr>
          <p:spPr bwMode="auto">
            <a:xfrm>
              <a:off x="1451" y="1455"/>
              <a:ext cx="30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4" name="Line 10"/>
            <p:cNvSpPr>
              <a:spLocks noChangeShapeType="1"/>
            </p:cNvSpPr>
            <p:nvPr/>
          </p:nvSpPr>
          <p:spPr bwMode="auto">
            <a:xfrm>
              <a:off x="1451" y="3649"/>
              <a:ext cx="30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5" name="Line 11"/>
            <p:cNvSpPr>
              <a:spLocks noChangeShapeType="1"/>
            </p:cNvSpPr>
            <p:nvPr/>
          </p:nvSpPr>
          <p:spPr bwMode="auto">
            <a:xfrm flipV="1">
              <a:off x="4550" y="1455"/>
              <a:ext cx="1" cy="219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6" name="Line 12"/>
            <p:cNvSpPr>
              <a:spLocks noChangeShapeType="1"/>
            </p:cNvSpPr>
            <p:nvPr/>
          </p:nvSpPr>
          <p:spPr bwMode="auto">
            <a:xfrm flipV="1">
              <a:off x="1451" y="1455"/>
              <a:ext cx="1" cy="219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7" name="Line 13"/>
            <p:cNvSpPr>
              <a:spLocks noChangeShapeType="1"/>
            </p:cNvSpPr>
            <p:nvPr/>
          </p:nvSpPr>
          <p:spPr bwMode="auto">
            <a:xfrm>
              <a:off x="1451" y="3649"/>
              <a:ext cx="30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8" name="Line 14"/>
            <p:cNvSpPr>
              <a:spLocks noChangeShapeType="1"/>
            </p:cNvSpPr>
            <p:nvPr/>
          </p:nvSpPr>
          <p:spPr bwMode="auto">
            <a:xfrm flipV="1">
              <a:off x="1451" y="1455"/>
              <a:ext cx="1" cy="219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59" name="Line 15"/>
            <p:cNvSpPr>
              <a:spLocks noChangeShapeType="1"/>
            </p:cNvSpPr>
            <p:nvPr/>
          </p:nvSpPr>
          <p:spPr bwMode="auto">
            <a:xfrm flipV="1">
              <a:off x="1451" y="3615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0" name="Line 16"/>
            <p:cNvSpPr>
              <a:spLocks noChangeShapeType="1"/>
            </p:cNvSpPr>
            <p:nvPr/>
          </p:nvSpPr>
          <p:spPr bwMode="auto">
            <a:xfrm>
              <a:off x="1451" y="1455"/>
              <a:ext cx="1" cy="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1" name="Rectangle 17"/>
            <p:cNvSpPr>
              <a:spLocks noChangeArrowheads="1"/>
            </p:cNvSpPr>
            <p:nvPr/>
          </p:nvSpPr>
          <p:spPr bwMode="auto">
            <a:xfrm>
              <a:off x="1425" y="3675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Helvetica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62" name="Line 18"/>
            <p:cNvSpPr>
              <a:spLocks noChangeShapeType="1"/>
            </p:cNvSpPr>
            <p:nvPr/>
          </p:nvSpPr>
          <p:spPr bwMode="auto">
            <a:xfrm flipV="1">
              <a:off x="2484" y="3615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3" name="Line 19"/>
            <p:cNvSpPr>
              <a:spLocks noChangeShapeType="1"/>
            </p:cNvSpPr>
            <p:nvPr/>
          </p:nvSpPr>
          <p:spPr bwMode="auto">
            <a:xfrm>
              <a:off x="2484" y="1455"/>
              <a:ext cx="1" cy="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4" name="Rectangle 20"/>
            <p:cNvSpPr>
              <a:spLocks noChangeArrowheads="1"/>
            </p:cNvSpPr>
            <p:nvPr/>
          </p:nvSpPr>
          <p:spPr bwMode="auto">
            <a:xfrm>
              <a:off x="2458" y="3675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65" name="Line 21"/>
            <p:cNvSpPr>
              <a:spLocks noChangeShapeType="1"/>
            </p:cNvSpPr>
            <p:nvPr/>
          </p:nvSpPr>
          <p:spPr bwMode="auto">
            <a:xfrm flipV="1">
              <a:off x="3517" y="3615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6" name="Line 22"/>
            <p:cNvSpPr>
              <a:spLocks noChangeShapeType="1"/>
            </p:cNvSpPr>
            <p:nvPr/>
          </p:nvSpPr>
          <p:spPr bwMode="auto">
            <a:xfrm>
              <a:off x="3517" y="1455"/>
              <a:ext cx="1" cy="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7" name="Rectangle 23"/>
            <p:cNvSpPr>
              <a:spLocks noChangeArrowheads="1"/>
            </p:cNvSpPr>
            <p:nvPr/>
          </p:nvSpPr>
          <p:spPr bwMode="auto">
            <a:xfrm>
              <a:off x="3457" y="3675"/>
              <a:ext cx="17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68" name="Line 24"/>
            <p:cNvSpPr>
              <a:spLocks noChangeShapeType="1"/>
            </p:cNvSpPr>
            <p:nvPr/>
          </p:nvSpPr>
          <p:spPr bwMode="auto">
            <a:xfrm flipV="1">
              <a:off x="4550" y="3615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69" name="Line 25"/>
            <p:cNvSpPr>
              <a:spLocks noChangeShapeType="1"/>
            </p:cNvSpPr>
            <p:nvPr/>
          </p:nvSpPr>
          <p:spPr bwMode="auto">
            <a:xfrm>
              <a:off x="4550" y="1455"/>
              <a:ext cx="1" cy="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0" name="Rectangle 26"/>
            <p:cNvSpPr>
              <a:spLocks noChangeArrowheads="1"/>
            </p:cNvSpPr>
            <p:nvPr/>
          </p:nvSpPr>
          <p:spPr bwMode="auto">
            <a:xfrm>
              <a:off x="4490" y="3675"/>
              <a:ext cx="17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71" name="Line 27"/>
            <p:cNvSpPr>
              <a:spLocks noChangeShapeType="1"/>
            </p:cNvSpPr>
            <p:nvPr/>
          </p:nvSpPr>
          <p:spPr bwMode="auto">
            <a:xfrm>
              <a:off x="1451" y="3649"/>
              <a:ext cx="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2" name="Line 28"/>
            <p:cNvSpPr>
              <a:spLocks noChangeShapeType="1"/>
            </p:cNvSpPr>
            <p:nvPr/>
          </p:nvSpPr>
          <p:spPr bwMode="auto">
            <a:xfrm flipH="1">
              <a:off x="4516" y="3649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3" name="Rectangle 29"/>
            <p:cNvSpPr>
              <a:spLocks noChangeArrowheads="1"/>
            </p:cNvSpPr>
            <p:nvPr/>
          </p:nvSpPr>
          <p:spPr bwMode="auto">
            <a:xfrm>
              <a:off x="1357" y="3581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74" name="Line 30"/>
            <p:cNvSpPr>
              <a:spLocks noChangeShapeType="1"/>
            </p:cNvSpPr>
            <p:nvPr/>
          </p:nvSpPr>
          <p:spPr bwMode="auto">
            <a:xfrm>
              <a:off x="1451" y="3248"/>
              <a:ext cx="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5" name="Line 31"/>
            <p:cNvSpPr>
              <a:spLocks noChangeShapeType="1"/>
            </p:cNvSpPr>
            <p:nvPr/>
          </p:nvSpPr>
          <p:spPr bwMode="auto">
            <a:xfrm flipH="1">
              <a:off x="4516" y="3248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6" name="Rectangle 32"/>
            <p:cNvSpPr>
              <a:spLocks noChangeArrowheads="1"/>
            </p:cNvSpPr>
            <p:nvPr/>
          </p:nvSpPr>
          <p:spPr bwMode="auto">
            <a:xfrm>
              <a:off x="1357" y="3180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77" name="Line 33"/>
            <p:cNvSpPr>
              <a:spLocks noChangeShapeType="1"/>
            </p:cNvSpPr>
            <p:nvPr/>
          </p:nvSpPr>
          <p:spPr bwMode="auto">
            <a:xfrm>
              <a:off x="1451" y="2847"/>
              <a:ext cx="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8" name="Line 34"/>
            <p:cNvSpPr>
              <a:spLocks noChangeShapeType="1"/>
            </p:cNvSpPr>
            <p:nvPr/>
          </p:nvSpPr>
          <p:spPr bwMode="auto">
            <a:xfrm flipH="1">
              <a:off x="4516" y="2847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79" name="Rectangle 35"/>
            <p:cNvSpPr>
              <a:spLocks noChangeArrowheads="1"/>
            </p:cNvSpPr>
            <p:nvPr/>
          </p:nvSpPr>
          <p:spPr bwMode="auto">
            <a:xfrm>
              <a:off x="1357" y="2778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80" name="Line 36"/>
            <p:cNvSpPr>
              <a:spLocks noChangeShapeType="1"/>
            </p:cNvSpPr>
            <p:nvPr/>
          </p:nvSpPr>
          <p:spPr bwMode="auto">
            <a:xfrm>
              <a:off x="1451" y="2445"/>
              <a:ext cx="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81" name="Line 37"/>
            <p:cNvSpPr>
              <a:spLocks noChangeShapeType="1"/>
            </p:cNvSpPr>
            <p:nvPr/>
          </p:nvSpPr>
          <p:spPr bwMode="auto">
            <a:xfrm flipH="1">
              <a:off x="4516" y="2445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82" name="Rectangle 38"/>
            <p:cNvSpPr>
              <a:spLocks noChangeArrowheads="1"/>
            </p:cNvSpPr>
            <p:nvPr/>
          </p:nvSpPr>
          <p:spPr bwMode="auto">
            <a:xfrm>
              <a:off x="1357" y="2377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83" name="Line 39"/>
            <p:cNvSpPr>
              <a:spLocks noChangeShapeType="1"/>
            </p:cNvSpPr>
            <p:nvPr/>
          </p:nvSpPr>
          <p:spPr bwMode="auto">
            <a:xfrm>
              <a:off x="1451" y="2053"/>
              <a:ext cx="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84" name="Line 40"/>
            <p:cNvSpPr>
              <a:spLocks noChangeShapeType="1"/>
            </p:cNvSpPr>
            <p:nvPr/>
          </p:nvSpPr>
          <p:spPr bwMode="auto">
            <a:xfrm flipH="1">
              <a:off x="4516" y="205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85" name="Rectangle 41"/>
            <p:cNvSpPr>
              <a:spLocks noChangeArrowheads="1"/>
            </p:cNvSpPr>
            <p:nvPr/>
          </p:nvSpPr>
          <p:spPr bwMode="auto">
            <a:xfrm>
              <a:off x="1357" y="1984"/>
              <a:ext cx="11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8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86" name="Line 42"/>
            <p:cNvSpPr>
              <a:spLocks noChangeShapeType="1"/>
            </p:cNvSpPr>
            <p:nvPr/>
          </p:nvSpPr>
          <p:spPr bwMode="auto">
            <a:xfrm>
              <a:off x="1451" y="1651"/>
              <a:ext cx="2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87" name="Line 43"/>
            <p:cNvSpPr>
              <a:spLocks noChangeShapeType="1"/>
            </p:cNvSpPr>
            <p:nvPr/>
          </p:nvSpPr>
          <p:spPr bwMode="auto">
            <a:xfrm flipH="1">
              <a:off x="4516" y="1651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88" name="Rectangle 44"/>
            <p:cNvSpPr>
              <a:spLocks noChangeArrowheads="1"/>
            </p:cNvSpPr>
            <p:nvPr/>
          </p:nvSpPr>
          <p:spPr bwMode="auto">
            <a:xfrm>
              <a:off x="1297" y="1583"/>
              <a:ext cx="17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589" name="Line 45"/>
            <p:cNvSpPr>
              <a:spLocks noChangeShapeType="1"/>
            </p:cNvSpPr>
            <p:nvPr/>
          </p:nvSpPr>
          <p:spPr bwMode="auto">
            <a:xfrm>
              <a:off x="1451" y="1455"/>
              <a:ext cx="30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0" name="Line 46"/>
            <p:cNvSpPr>
              <a:spLocks noChangeShapeType="1"/>
            </p:cNvSpPr>
            <p:nvPr/>
          </p:nvSpPr>
          <p:spPr bwMode="auto">
            <a:xfrm>
              <a:off x="1451" y="3649"/>
              <a:ext cx="30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1" name="Line 47"/>
            <p:cNvSpPr>
              <a:spLocks noChangeShapeType="1"/>
            </p:cNvSpPr>
            <p:nvPr/>
          </p:nvSpPr>
          <p:spPr bwMode="auto">
            <a:xfrm flipV="1">
              <a:off x="4550" y="1455"/>
              <a:ext cx="1" cy="219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2" name="Line 48"/>
            <p:cNvSpPr>
              <a:spLocks noChangeShapeType="1"/>
            </p:cNvSpPr>
            <p:nvPr/>
          </p:nvSpPr>
          <p:spPr bwMode="auto">
            <a:xfrm flipV="1">
              <a:off x="1451" y="1455"/>
              <a:ext cx="1" cy="219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3" name="Freeform 49"/>
            <p:cNvSpPr>
              <a:spLocks/>
            </p:cNvSpPr>
            <p:nvPr/>
          </p:nvSpPr>
          <p:spPr bwMode="auto">
            <a:xfrm>
              <a:off x="1451" y="2608"/>
              <a:ext cx="1067" cy="1041"/>
            </a:xfrm>
            <a:custGeom>
              <a:avLst/>
              <a:gdLst/>
              <a:ahLst/>
              <a:cxnLst>
                <a:cxn ang="0">
                  <a:pos x="8" y="1024"/>
                </a:cxn>
                <a:cxn ang="0">
                  <a:pos x="34" y="999"/>
                </a:cxn>
                <a:cxn ang="0">
                  <a:pos x="60" y="973"/>
                </a:cxn>
                <a:cxn ang="0">
                  <a:pos x="85" y="948"/>
                </a:cxn>
                <a:cxn ang="0">
                  <a:pos x="111" y="922"/>
                </a:cxn>
                <a:cxn ang="0">
                  <a:pos x="136" y="896"/>
                </a:cxn>
                <a:cxn ang="0">
                  <a:pos x="162" y="871"/>
                </a:cxn>
                <a:cxn ang="0">
                  <a:pos x="188" y="845"/>
                </a:cxn>
                <a:cxn ang="0">
                  <a:pos x="213" y="828"/>
                </a:cxn>
                <a:cxn ang="0">
                  <a:pos x="239" y="802"/>
                </a:cxn>
                <a:cxn ang="0">
                  <a:pos x="265" y="777"/>
                </a:cxn>
                <a:cxn ang="0">
                  <a:pos x="290" y="751"/>
                </a:cxn>
                <a:cxn ang="0">
                  <a:pos x="316" y="726"/>
                </a:cxn>
                <a:cxn ang="0">
                  <a:pos x="341" y="700"/>
                </a:cxn>
                <a:cxn ang="0">
                  <a:pos x="367" y="674"/>
                </a:cxn>
                <a:cxn ang="0">
                  <a:pos x="393" y="649"/>
                </a:cxn>
                <a:cxn ang="0">
                  <a:pos x="418" y="623"/>
                </a:cxn>
                <a:cxn ang="0">
                  <a:pos x="452" y="597"/>
                </a:cxn>
                <a:cxn ang="0">
                  <a:pos x="469" y="580"/>
                </a:cxn>
                <a:cxn ang="0">
                  <a:pos x="495" y="555"/>
                </a:cxn>
                <a:cxn ang="0">
                  <a:pos x="521" y="529"/>
                </a:cxn>
                <a:cxn ang="0">
                  <a:pos x="546" y="504"/>
                </a:cxn>
                <a:cxn ang="0">
                  <a:pos x="572" y="478"/>
                </a:cxn>
                <a:cxn ang="0">
                  <a:pos x="597" y="452"/>
                </a:cxn>
                <a:cxn ang="0">
                  <a:pos x="623" y="427"/>
                </a:cxn>
                <a:cxn ang="0">
                  <a:pos x="649" y="401"/>
                </a:cxn>
                <a:cxn ang="0">
                  <a:pos x="674" y="375"/>
                </a:cxn>
                <a:cxn ang="0">
                  <a:pos x="700" y="358"/>
                </a:cxn>
                <a:cxn ang="0">
                  <a:pos x="726" y="333"/>
                </a:cxn>
                <a:cxn ang="0">
                  <a:pos x="751" y="307"/>
                </a:cxn>
                <a:cxn ang="0">
                  <a:pos x="777" y="281"/>
                </a:cxn>
                <a:cxn ang="0">
                  <a:pos x="802" y="256"/>
                </a:cxn>
                <a:cxn ang="0">
                  <a:pos x="828" y="230"/>
                </a:cxn>
                <a:cxn ang="0">
                  <a:pos x="854" y="205"/>
                </a:cxn>
                <a:cxn ang="0">
                  <a:pos x="879" y="179"/>
                </a:cxn>
                <a:cxn ang="0">
                  <a:pos x="905" y="153"/>
                </a:cxn>
                <a:cxn ang="0">
                  <a:pos x="930" y="128"/>
                </a:cxn>
                <a:cxn ang="0">
                  <a:pos x="956" y="111"/>
                </a:cxn>
                <a:cxn ang="0">
                  <a:pos x="973" y="94"/>
                </a:cxn>
                <a:cxn ang="0">
                  <a:pos x="999" y="68"/>
                </a:cxn>
                <a:cxn ang="0">
                  <a:pos x="1024" y="42"/>
                </a:cxn>
                <a:cxn ang="0">
                  <a:pos x="1050" y="17"/>
                </a:cxn>
              </a:cxnLst>
              <a:rect l="0" t="0" r="r" b="b"/>
              <a:pathLst>
                <a:path w="1067" h="1041">
                  <a:moveTo>
                    <a:pt x="0" y="1041"/>
                  </a:moveTo>
                  <a:lnTo>
                    <a:pt x="0" y="1033"/>
                  </a:lnTo>
                  <a:lnTo>
                    <a:pt x="8" y="1024"/>
                  </a:lnTo>
                  <a:lnTo>
                    <a:pt x="17" y="1016"/>
                  </a:lnTo>
                  <a:lnTo>
                    <a:pt x="25" y="1007"/>
                  </a:lnTo>
                  <a:lnTo>
                    <a:pt x="34" y="999"/>
                  </a:lnTo>
                  <a:lnTo>
                    <a:pt x="43" y="990"/>
                  </a:lnTo>
                  <a:lnTo>
                    <a:pt x="51" y="982"/>
                  </a:lnTo>
                  <a:lnTo>
                    <a:pt x="60" y="973"/>
                  </a:lnTo>
                  <a:lnTo>
                    <a:pt x="68" y="965"/>
                  </a:lnTo>
                  <a:lnTo>
                    <a:pt x="77" y="956"/>
                  </a:lnTo>
                  <a:lnTo>
                    <a:pt x="85" y="948"/>
                  </a:lnTo>
                  <a:lnTo>
                    <a:pt x="94" y="939"/>
                  </a:lnTo>
                  <a:lnTo>
                    <a:pt x="102" y="930"/>
                  </a:lnTo>
                  <a:lnTo>
                    <a:pt x="111" y="922"/>
                  </a:lnTo>
                  <a:lnTo>
                    <a:pt x="119" y="913"/>
                  </a:lnTo>
                  <a:lnTo>
                    <a:pt x="128" y="905"/>
                  </a:lnTo>
                  <a:lnTo>
                    <a:pt x="136" y="896"/>
                  </a:lnTo>
                  <a:lnTo>
                    <a:pt x="145" y="888"/>
                  </a:lnTo>
                  <a:lnTo>
                    <a:pt x="154" y="879"/>
                  </a:lnTo>
                  <a:lnTo>
                    <a:pt x="162" y="871"/>
                  </a:lnTo>
                  <a:lnTo>
                    <a:pt x="171" y="862"/>
                  </a:lnTo>
                  <a:lnTo>
                    <a:pt x="179" y="854"/>
                  </a:lnTo>
                  <a:lnTo>
                    <a:pt x="188" y="845"/>
                  </a:lnTo>
                  <a:lnTo>
                    <a:pt x="196" y="837"/>
                  </a:lnTo>
                  <a:lnTo>
                    <a:pt x="205" y="828"/>
                  </a:lnTo>
                  <a:lnTo>
                    <a:pt x="213" y="828"/>
                  </a:lnTo>
                  <a:lnTo>
                    <a:pt x="222" y="819"/>
                  </a:lnTo>
                  <a:lnTo>
                    <a:pt x="230" y="811"/>
                  </a:lnTo>
                  <a:lnTo>
                    <a:pt x="239" y="802"/>
                  </a:lnTo>
                  <a:lnTo>
                    <a:pt x="247" y="794"/>
                  </a:lnTo>
                  <a:lnTo>
                    <a:pt x="256" y="785"/>
                  </a:lnTo>
                  <a:lnTo>
                    <a:pt x="265" y="777"/>
                  </a:lnTo>
                  <a:lnTo>
                    <a:pt x="273" y="768"/>
                  </a:lnTo>
                  <a:lnTo>
                    <a:pt x="282" y="760"/>
                  </a:lnTo>
                  <a:lnTo>
                    <a:pt x="290" y="751"/>
                  </a:lnTo>
                  <a:lnTo>
                    <a:pt x="299" y="743"/>
                  </a:lnTo>
                  <a:lnTo>
                    <a:pt x="307" y="734"/>
                  </a:lnTo>
                  <a:lnTo>
                    <a:pt x="316" y="726"/>
                  </a:lnTo>
                  <a:lnTo>
                    <a:pt x="324" y="717"/>
                  </a:lnTo>
                  <a:lnTo>
                    <a:pt x="333" y="708"/>
                  </a:lnTo>
                  <a:lnTo>
                    <a:pt x="341" y="700"/>
                  </a:lnTo>
                  <a:lnTo>
                    <a:pt x="350" y="691"/>
                  </a:lnTo>
                  <a:lnTo>
                    <a:pt x="358" y="683"/>
                  </a:lnTo>
                  <a:lnTo>
                    <a:pt x="367" y="674"/>
                  </a:lnTo>
                  <a:lnTo>
                    <a:pt x="375" y="666"/>
                  </a:lnTo>
                  <a:lnTo>
                    <a:pt x="384" y="657"/>
                  </a:lnTo>
                  <a:lnTo>
                    <a:pt x="393" y="649"/>
                  </a:lnTo>
                  <a:lnTo>
                    <a:pt x="401" y="640"/>
                  </a:lnTo>
                  <a:lnTo>
                    <a:pt x="410" y="632"/>
                  </a:lnTo>
                  <a:lnTo>
                    <a:pt x="418" y="623"/>
                  </a:lnTo>
                  <a:lnTo>
                    <a:pt x="427" y="615"/>
                  </a:lnTo>
                  <a:lnTo>
                    <a:pt x="435" y="615"/>
                  </a:lnTo>
                  <a:lnTo>
                    <a:pt x="452" y="597"/>
                  </a:lnTo>
                  <a:lnTo>
                    <a:pt x="452" y="589"/>
                  </a:lnTo>
                  <a:lnTo>
                    <a:pt x="461" y="580"/>
                  </a:lnTo>
                  <a:lnTo>
                    <a:pt x="469" y="580"/>
                  </a:lnTo>
                  <a:lnTo>
                    <a:pt x="478" y="572"/>
                  </a:lnTo>
                  <a:lnTo>
                    <a:pt x="486" y="563"/>
                  </a:lnTo>
                  <a:lnTo>
                    <a:pt x="495" y="555"/>
                  </a:lnTo>
                  <a:lnTo>
                    <a:pt x="504" y="546"/>
                  </a:lnTo>
                  <a:lnTo>
                    <a:pt x="512" y="538"/>
                  </a:lnTo>
                  <a:lnTo>
                    <a:pt x="521" y="529"/>
                  </a:lnTo>
                  <a:lnTo>
                    <a:pt x="529" y="521"/>
                  </a:lnTo>
                  <a:lnTo>
                    <a:pt x="538" y="512"/>
                  </a:lnTo>
                  <a:lnTo>
                    <a:pt x="546" y="504"/>
                  </a:lnTo>
                  <a:lnTo>
                    <a:pt x="555" y="495"/>
                  </a:lnTo>
                  <a:lnTo>
                    <a:pt x="563" y="486"/>
                  </a:lnTo>
                  <a:lnTo>
                    <a:pt x="572" y="478"/>
                  </a:lnTo>
                  <a:lnTo>
                    <a:pt x="580" y="469"/>
                  </a:lnTo>
                  <a:lnTo>
                    <a:pt x="589" y="461"/>
                  </a:lnTo>
                  <a:lnTo>
                    <a:pt x="597" y="452"/>
                  </a:lnTo>
                  <a:lnTo>
                    <a:pt x="606" y="444"/>
                  </a:lnTo>
                  <a:lnTo>
                    <a:pt x="615" y="435"/>
                  </a:lnTo>
                  <a:lnTo>
                    <a:pt x="623" y="427"/>
                  </a:lnTo>
                  <a:lnTo>
                    <a:pt x="632" y="418"/>
                  </a:lnTo>
                  <a:lnTo>
                    <a:pt x="640" y="410"/>
                  </a:lnTo>
                  <a:lnTo>
                    <a:pt x="649" y="401"/>
                  </a:lnTo>
                  <a:lnTo>
                    <a:pt x="657" y="392"/>
                  </a:lnTo>
                  <a:lnTo>
                    <a:pt x="666" y="384"/>
                  </a:lnTo>
                  <a:lnTo>
                    <a:pt x="674" y="375"/>
                  </a:lnTo>
                  <a:lnTo>
                    <a:pt x="683" y="367"/>
                  </a:lnTo>
                  <a:lnTo>
                    <a:pt x="691" y="367"/>
                  </a:lnTo>
                  <a:lnTo>
                    <a:pt x="700" y="358"/>
                  </a:lnTo>
                  <a:lnTo>
                    <a:pt x="717" y="341"/>
                  </a:lnTo>
                  <a:lnTo>
                    <a:pt x="717" y="333"/>
                  </a:lnTo>
                  <a:lnTo>
                    <a:pt x="726" y="333"/>
                  </a:lnTo>
                  <a:lnTo>
                    <a:pt x="734" y="324"/>
                  </a:lnTo>
                  <a:lnTo>
                    <a:pt x="743" y="316"/>
                  </a:lnTo>
                  <a:lnTo>
                    <a:pt x="751" y="307"/>
                  </a:lnTo>
                  <a:lnTo>
                    <a:pt x="760" y="299"/>
                  </a:lnTo>
                  <a:lnTo>
                    <a:pt x="768" y="290"/>
                  </a:lnTo>
                  <a:lnTo>
                    <a:pt x="777" y="281"/>
                  </a:lnTo>
                  <a:lnTo>
                    <a:pt x="785" y="273"/>
                  </a:lnTo>
                  <a:lnTo>
                    <a:pt x="794" y="264"/>
                  </a:lnTo>
                  <a:lnTo>
                    <a:pt x="802" y="256"/>
                  </a:lnTo>
                  <a:lnTo>
                    <a:pt x="811" y="247"/>
                  </a:lnTo>
                  <a:lnTo>
                    <a:pt x="819" y="239"/>
                  </a:lnTo>
                  <a:lnTo>
                    <a:pt x="828" y="230"/>
                  </a:lnTo>
                  <a:lnTo>
                    <a:pt x="837" y="222"/>
                  </a:lnTo>
                  <a:lnTo>
                    <a:pt x="845" y="213"/>
                  </a:lnTo>
                  <a:lnTo>
                    <a:pt x="854" y="205"/>
                  </a:lnTo>
                  <a:lnTo>
                    <a:pt x="862" y="196"/>
                  </a:lnTo>
                  <a:lnTo>
                    <a:pt x="871" y="188"/>
                  </a:lnTo>
                  <a:lnTo>
                    <a:pt x="879" y="179"/>
                  </a:lnTo>
                  <a:lnTo>
                    <a:pt x="888" y="170"/>
                  </a:lnTo>
                  <a:lnTo>
                    <a:pt x="896" y="162"/>
                  </a:lnTo>
                  <a:lnTo>
                    <a:pt x="905" y="153"/>
                  </a:lnTo>
                  <a:lnTo>
                    <a:pt x="913" y="145"/>
                  </a:lnTo>
                  <a:lnTo>
                    <a:pt x="922" y="136"/>
                  </a:lnTo>
                  <a:lnTo>
                    <a:pt x="930" y="128"/>
                  </a:lnTo>
                  <a:lnTo>
                    <a:pt x="939" y="119"/>
                  </a:lnTo>
                  <a:lnTo>
                    <a:pt x="948" y="119"/>
                  </a:lnTo>
                  <a:lnTo>
                    <a:pt x="956" y="111"/>
                  </a:lnTo>
                  <a:lnTo>
                    <a:pt x="973" y="94"/>
                  </a:lnTo>
                  <a:lnTo>
                    <a:pt x="965" y="94"/>
                  </a:lnTo>
                  <a:lnTo>
                    <a:pt x="973" y="94"/>
                  </a:lnTo>
                  <a:lnTo>
                    <a:pt x="982" y="85"/>
                  </a:lnTo>
                  <a:lnTo>
                    <a:pt x="990" y="77"/>
                  </a:lnTo>
                  <a:lnTo>
                    <a:pt x="999" y="68"/>
                  </a:lnTo>
                  <a:lnTo>
                    <a:pt x="1007" y="59"/>
                  </a:lnTo>
                  <a:lnTo>
                    <a:pt x="1016" y="51"/>
                  </a:lnTo>
                  <a:lnTo>
                    <a:pt x="1024" y="42"/>
                  </a:lnTo>
                  <a:lnTo>
                    <a:pt x="1033" y="34"/>
                  </a:lnTo>
                  <a:lnTo>
                    <a:pt x="1041" y="25"/>
                  </a:lnTo>
                  <a:lnTo>
                    <a:pt x="1050" y="17"/>
                  </a:lnTo>
                  <a:lnTo>
                    <a:pt x="1059" y="8"/>
                  </a:lnTo>
                  <a:lnTo>
                    <a:pt x="1067" y="0"/>
                  </a:lnTo>
                </a:path>
              </a:pathLst>
            </a:custGeom>
            <a:noFill/>
            <a:ln w="26988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4" name="Freeform 50"/>
            <p:cNvSpPr>
              <a:spLocks/>
            </p:cNvSpPr>
            <p:nvPr/>
          </p:nvSpPr>
          <p:spPr bwMode="auto">
            <a:xfrm>
              <a:off x="2518" y="1566"/>
              <a:ext cx="1076" cy="1042"/>
            </a:xfrm>
            <a:custGeom>
              <a:avLst/>
              <a:gdLst/>
              <a:ahLst/>
              <a:cxnLst>
                <a:cxn ang="0">
                  <a:pos x="17" y="1025"/>
                </a:cxn>
                <a:cxn ang="0">
                  <a:pos x="43" y="999"/>
                </a:cxn>
                <a:cxn ang="0">
                  <a:pos x="68" y="973"/>
                </a:cxn>
                <a:cxn ang="0">
                  <a:pos x="94" y="948"/>
                </a:cxn>
                <a:cxn ang="0">
                  <a:pos x="120" y="922"/>
                </a:cxn>
                <a:cxn ang="0">
                  <a:pos x="145" y="905"/>
                </a:cxn>
                <a:cxn ang="0">
                  <a:pos x="162" y="888"/>
                </a:cxn>
                <a:cxn ang="0">
                  <a:pos x="188" y="862"/>
                </a:cxn>
                <a:cxn ang="0">
                  <a:pos x="214" y="837"/>
                </a:cxn>
                <a:cxn ang="0">
                  <a:pos x="239" y="811"/>
                </a:cxn>
                <a:cxn ang="0">
                  <a:pos x="265" y="786"/>
                </a:cxn>
                <a:cxn ang="0">
                  <a:pos x="290" y="760"/>
                </a:cxn>
                <a:cxn ang="0">
                  <a:pos x="316" y="734"/>
                </a:cxn>
                <a:cxn ang="0">
                  <a:pos x="342" y="709"/>
                </a:cxn>
                <a:cxn ang="0">
                  <a:pos x="367" y="683"/>
                </a:cxn>
                <a:cxn ang="0">
                  <a:pos x="393" y="666"/>
                </a:cxn>
                <a:cxn ang="0">
                  <a:pos x="418" y="640"/>
                </a:cxn>
                <a:cxn ang="0">
                  <a:pos x="444" y="615"/>
                </a:cxn>
                <a:cxn ang="0">
                  <a:pos x="470" y="589"/>
                </a:cxn>
                <a:cxn ang="0">
                  <a:pos x="495" y="564"/>
                </a:cxn>
                <a:cxn ang="0">
                  <a:pos x="521" y="538"/>
                </a:cxn>
                <a:cxn ang="0">
                  <a:pos x="547" y="512"/>
                </a:cxn>
                <a:cxn ang="0">
                  <a:pos x="572" y="487"/>
                </a:cxn>
                <a:cxn ang="0">
                  <a:pos x="598" y="461"/>
                </a:cxn>
                <a:cxn ang="0">
                  <a:pos x="623" y="435"/>
                </a:cxn>
                <a:cxn ang="0">
                  <a:pos x="649" y="418"/>
                </a:cxn>
                <a:cxn ang="0">
                  <a:pos x="675" y="393"/>
                </a:cxn>
                <a:cxn ang="0">
                  <a:pos x="700" y="367"/>
                </a:cxn>
                <a:cxn ang="0">
                  <a:pos x="726" y="342"/>
                </a:cxn>
                <a:cxn ang="0">
                  <a:pos x="751" y="316"/>
                </a:cxn>
                <a:cxn ang="0">
                  <a:pos x="777" y="290"/>
                </a:cxn>
                <a:cxn ang="0">
                  <a:pos x="803" y="265"/>
                </a:cxn>
                <a:cxn ang="0">
                  <a:pos x="828" y="239"/>
                </a:cxn>
                <a:cxn ang="0">
                  <a:pos x="854" y="222"/>
                </a:cxn>
                <a:cxn ang="0">
                  <a:pos x="880" y="188"/>
                </a:cxn>
                <a:cxn ang="0">
                  <a:pos x="905" y="171"/>
                </a:cxn>
                <a:cxn ang="0">
                  <a:pos x="931" y="145"/>
                </a:cxn>
                <a:cxn ang="0">
                  <a:pos x="956" y="119"/>
                </a:cxn>
                <a:cxn ang="0">
                  <a:pos x="982" y="94"/>
                </a:cxn>
                <a:cxn ang="0">
                  <a:pos x="1008" y="68"/>
                </a:cxn>
                <a:cxn ang="0">
                  <a:pos x="1033" y="43"/>
                </a:cxn>
                <a:cxn ang="0">
                  <a:pos x="1059" y="17"/>
                </a:cxn>
              </a:cxnLst>
              <a:rect l="0" t="0" r="r" b="b"/>
              <a:pathLst>
                <a:path w="1076" h="1042">
                  <a:moveTo>
                    <a:pt x="0" y="1042"/>
                  </a:moveTo>
                  <a:lnTo>
                    <a:pt x="9" y="1033"/>
                  </a:lnTo>
                  <a:lnTo>
                    <a:pt x="17" y="1025"/>
                  </a:lnTo>
                  <a:lnTo>
                    <a:pt x="26" y="1016"/>
                  </a:lnTo>
                  <a:lnTo>
                    <a:pt x="34" y="1008"/>
                  </a:lnTo>
                  <a:lnTo>
                    <a:pt x="43" y="999"/>
                  </a:lnTo>
                  <a:lnTo>
                    <a:pt x="51" y="990"/>
                  </a:lnTo>
                  <a:lnTo>
                    <a:pt x="60" y="982"/>
                  </a:lnTo>
                  <a:lnTo>
                    <a:pt x="68" y="973"/>
                  </a:lnTo>
                  <a:lnTo>
                    <a:pt x="77" y="965"/>
                  </a:lnTo>
                  <a:lnTo>
                    <a:pt x="85" y="956"/>
                  </a:lnTo>
                  <a:lnTo>
                    <a:pt x="94" y="948"/>
                  </a:lnTo>
                  <a:lnTo>
                    <a:pt x="103" y="939"/>
                  </a:lnTo>
                  <a:lnTo>
                    <a:pt x="111" y="931"/>
                  </a:lnTo>
                  <a:lnTo>
                    <a:pt x="120" y="922"/>
                  </a:lnTo>
                  <a:lnTo>
                    <a:pt x="128" y="922"/>
                  </a:lnTo>
                  <a:lnTo>
                    <a:pt x="137" y="914"/>
                  </a:lnTo>
                  <a:lnTo>
                    <a:pt x="145" y="905"/>
                  </a:lnTo>
                  <a:lnTo>
                    <a:pt x="162" y="888"/>
                  </a:lnTo>
                  <a:lnTo>
                    <a:pt x="154" y="888"/>
                  </a:lnTo>
                  <a:lnTo>
                    <a:pt x="162" y="888"/>
                  </a:lnTo>
                  <a:lnTo>
                    <a:pt x="171" y="879"/>
                  </a:lnTo>
                  <a:lnTo>
                    <a:pt x="179" y="871"/>
                  </a:lnTo>
                  <a:lnTo>
                    <a:pt x="188" y="862"/>
                  </a:lnTo>
                  <a:lnTo>
                    <a:pt x="196" y="854"/>
                  </a:lnTo>
                  <a:lnTo>
                    <a:pt x="205" y="845"/>
                  </a:lnTo>
                  <a:lnTo>
                    <a:pt x="214" y="837"/>
                  </a:lnTo>
                  <a:lnTo>
                    <a:pt x="222" y="828"/>
                  </a:lnTo>
                  <a:lnTo>
                    <a:pt x="231" y="820"/>
                  </a:lnTo>
                  <a:lnTo>
                    <a:pt x="239" y="811"/>
                  </a:lnTo>
                  <a:lnTo>
                    <a:pt x="248" y="803"/>
                  </a:lnTo>
                  <a:lnTo>
                    <a:pt x="256" y="794"/>
                  </a:lnTo>
                  <a:lnTo>
                    <a:pt x="265" y="786"/>
                  </a:lnTo>
                  <a:lnTo>
                    <a:pt x="273" y="777"/>
                  </a:lnTo>
                  <a:lnTo>
                    <a:pt x="282" y="768"/>
                  </a:lnTo>
                  <a:lnTo>
                    <a:pt x="290" y="760"/>
                  </a:lnTo>
                  <a:lnTo>
                    <a:pt x="299" y="751"/>
                  </a:lnTo>
                  <a:lnTo>
                    <a:pt x="307" y="743"/>
                  </a:lnTo>
                  <a:lnTo>
                    <a:pt x="316" y="734"/>
                  </a:lnTo>
                  <a:lnTo>
                    <a:pt x="325" y="726"/>
                  </a:lnTo>
                  <a:lnTo>
                    <a:pt x="333" y="717"/>
                  </a:lnTo>
                  <a:lnTo>
                    <a:pt x="342" y="709"/>
                  </a:lnTo>
                  <a:lnTo>
                    <a:pt x="350" y="700"/>
                  </a:lnTo>
                  <a:lnTo>
                    <a:pt x="359" y="692"/>
                  </a:lnTo>
                  <a:lnTo>
                    <a:pt x="367" y="683"/>
                  </a:lnTo>
                  <a:lnTo>
                    <a:pt x="376" y="675"/>
                  </a:lnTo>
                  <a:lnTo>
                    <a:pt x="384" y="675"/>
                  </a:lnTo>
                  <a:lnTo>
                    <a:pt x="393" y="666"/>
                  </a:lnTo>
                  <a:lnTo>
                    <a:pt x="401" y="657"/>
                  </a:lnTo>
                  <a:lnTo>
                    <a:pt x="410" y="649"/>
                  </a:lnTo>
                  <a:lnTo>
                    <a:pt x="418" y="640"/>
                  </a:lnTo>
                  <a:lnTo>
                    <a:pt x="427" y="632"/>
                  </a:lnTo>
                  <a:lnTo>
                    <a:pt x="436" y="623"/>
                  </a:lnTo>
                  <a:lnTo>
                    <a:pt x="444" y="615"/>
                  </a:lnTo>
                  <a:lnTo>
                    <a:pt x="453" y="606"/>
                  </a:lnTo>
                  <a:lnTo>
                    <a:pt x="461" y="598"/>
                  </a:lnTo>
                  <a:lnTo>
                    <a:pt x="470" y="589"/>
                  </a:lnTo>
                  <a:lnTo>
                    <a:pt x="478" y="581"/>
                  </a:lnTo>
                  <a:lnTo>
                    <a:pt x="487" y="572"/>
                  </a:lnTo>
                  <a:lnTo>
                    <a:pt x="495" y="564"/>
                  </a:lnTo>
                  <a:lnTo>
                    <a:pt x="504" y="555"/>
                  </a:lnTo>
                  <a:lnTo>
                    <a:pt x="512" y="546"/>
                  </a:lnTo>
                  <a:lnTo>
                    <a:pt x="521" y="538"/>
                  </a:lnTo>
                  <a:lnTo>
                    <a:pt x="529" y="529"/>
                  </a:lnTo>
                  <a:lnTo>
                    <a:pt x="538" y="521"/>
                  </a:lnTo>
                  <a:lnTo>
                    <a:pt x="547" y="512"/>
                  </a:lnTo>
                  <a:lnTo>
                    <a:pt x="555" y="504"/>
                  </a:lnTo>
                  <a:lnTo>
                    <a:pt x="564" y="495"/>
                  </a:lnTo>
                  <a:lnTo>
                    <a:pt x="572" y="487"/>
                  </a:lnTo>
                  <a:lnTo>
                    <a:pt x="581" y="478"/>
                  </a:lnTo>
                  <a:lnTo>
                    <a:pt x="589" y="470"/>
                  </a:lnTo>
                  <a:lnTo>
                    <a:pt x="598" y="461"/>
                  </a:lnTo>
                  <a:lnTo>
                    <a:pt x="606" y="453"/>
                  </a:lnTo>
                  <a:lnTo>
                    <a:pt x="615" y="444"/>
                  </a:lnTo>
                  <a:lnTo>
                    <a:pt x="623" y="435"/>
                  </a:lnTo>
                  <a:lnTo>
                    <a:pt x="632" y="435"/>
                  </a:lnTo>
                  <a:lnTo>
                    <a:pt x="640" y="427"/>
                  </a:lnTo>
                  <a:lnTo>
                    <a:pt x="649" y="418"/>
                  </a:lnTo>
                  <a:lnTo>
                    <a:pt x="658" y="410"/>
                  </a:lnTo>
                  <a:lnTo>
                    <a:pt x="666" y="401"/>
                  </a:lnTo>
                  <a:lnTo>
                    <a:pt x="675" y="393"/>
                  </a:lnTo>
                  <a:lnTo>
                    <a:pt x="683" y="384"/>
                  </a:lnTo>
                  <a:lnTo>
                    <a:pt x="692" y="376"/>
                  </a:lnTo>
                  <a:lnTo>
                    <a:pt x="700" y="367"/>
                  </a:lnTo>
                  <a:lnTo>
                    <a:pt x="709" y="359"/>
                  </a:lnTo>
                  <a:lnTo>
                    <a:pt x="717" y="350"/>
                  </a:lnTo>
                  <a:lnTo>
                    <a:pt x="726" y="342"/>
                  </a:lnTo>
                  <a:lnTo>
                    <a:pt x="734" y="333"/>
                  </a:lnTo>
                  <a:lnTo>
                    <a:pt x="743" y="324"/>
                  </a:lnTo>
                  <a:lnTo>
                    <a:pt x="751" y="316"/>
                  </a:lnTo>
                  <a:lnTo>
                    <a:pt x="760" y="307"/>
                  </a:lnTo>
                  <a:lnTo>
                    <a:pt x="769" y="299"/>
                  </a:lnTo>
                  <a:lnTo>
                    <a:pt x="777" y="290"/>
                  </a:lnTo>
                  <a:lnTo>
                    <a:pt x="786" y="282"/>
                  </a:lnTo>
                  <a:lnTo>
                    <a:pt x="794" y="273"/>
                  </a:lnTo>
                  <a:lnTo>
                    <a:pt x="803" y="265"/>
                  </a:lnTo>
                  <a:lnTo>
                    <a:pt x="811" y="256"/>
                  </a:lnTo>
                  <a:lnTo>
                    <a:pt x="820" y="248"/>
                  </a:lnTo>
                  <a:lnTo>
                    <a:pt x="828" y="239"/>
                  </a:lnTo>
                  <a:lnTo>
                    <a:pt x="837" y="230"/>
                  </a:lnTo>
                  <a:lnTo>
                    <a:pt x="845" y="222"/>
                  </a:lnTo>
                  <a:lnTo>
                    <a:pt x="854" y="222"/>
                  </a:lnTo>
                  <a:lnTo>
                    <a:pt x="871" y="205"/>
                  </a:lnTo>
                  <a:lnTo>
                    <a:pt x="871" y="196"/>
                  </a:lnTo>
                  <a:lnTo>
                    <a:pt x="880" y="188"/>
                  </a:lnTo>
                  <a:lnTo>
                    <a:pt x="888" y="188"/>
                  </a:lnTo>
                  <a:lnTo>
                    <a:pt x="897" y="179"/>
                  </a:lnTo>
                  <a:lnTo>
                    <a:pt x="905" y="171"/>
                  </a:lnTo>
                  <a:lnTo>
                    <a:pt x="914" y="162"/>
                  </a:lnTo>
                  <a:lnTo>
                    <a:pt x="922" y="154"/>
                  </a:lnTo>
                  <a:lnTo>
                    <a:pt x="931" y="145"/>
                  </a:lnTo>
                  <a:lnTo>
                    <a:pt x="939" y="137"/>
                  </a:lnTo>
                  <a:lnTo>
                    <a:pt x="948" y="128"/>
                  </a:lnTo>
                  <a:lnTo>
                    <a:pt x="956" y="119"/>
                  </a:lnTo>
                  <a:lnTo>
                    <a:pt x="965" y="111"/>
                  </a:lnTo>
                  <a:lnTo>
                    <a:pt x="973" y="102"/>
                  </a:lnTo>
                  <a:lnTo>
                    <a:pt x="982" y="94"/>
                  </a:lnTo>
                  <a:lnTo>
                    <a:pt x="990" y="85"/>
                  </a:lnTo>
                  <a:lnTo>
                    <a:pt x="999" y="77"/>
                  </a:lnTo>
                  <a:lnTo>
                    <a:pt x="1008" y="68"/>
                  </a:lnTo>
                  <a:lnTo>
                    <a:pt x="1016" y="60"/>
                  </a:lnTo>
                  <a:lnTo>
                    <a:pt x="1025" y="51"/>
                  </a:lnTo>
                  <a:lnTo>
                    <a:pt x="1033" y="43"/>
                  </a:lnTo>
                  <a:lnTo>
                    <a:pt x="1042" y="34"/>
                  </a:lnTo>
                  <a:lnTo>
                    <a:pt x="1050" y="26"/>
                  </a:lnTo>
                  <a:lnTo>
                    <a:pt x="1059" y="17"/>
                  </a:lnTo>
                  <a:lnTo>
                    <a:pt x="1067" y="8"/>
                  </a:lnTo>
                  <a:lnTo>
                    <a:pt x="1076" y="0"/>
                  </a:lnTo>
                </a:path>
              </a:pathLst>
            </a:custGeom>
            <a:noFill/>
            <a:ln w="26988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5" name="Freeform 51"/>
            <p:cNvSpPr>
              <a:spLocks/>
            </p:cNvSpPr>
            <p:nvPr/>
          </p:nvSpPr>
          <p:spPr bwMode="auto">
            <a:xfrm>
              <a:off x="3594" y="1455"/>
              <a:ext cx="128" cy="111"/>
            </a:xfrm>
            <a:custGeom>
              <a:avLst/>
              <a:gdLst/>
              <a:ahLst/>
              <a:cxnLst>
                <a:cxn ang="0">
                  <a:pos x="0" y="111"/>
                </a:cxn>
                <a:cxn ang="0">
                  <a:pos x="8" y="102"/>
                </a:cxn>
                <a:cxn ang="0">
                  <a:pos x="17" y="94"/>
                </a:cxn>
                <a:cxn ang="0">
                  <a:pos x="25" y="85"/>
                </a:cxn>
                <a:cxn ang="0">
                  <a:pos x="34" y="85"/>
                </a:cxn>
                <a:cxn ang="0">
                  <a:pos x="43" y="77"/>
                </a:cxn>
                <a:cxn ang="0">
                  <a:pos x="60" y="60"/>
                </a:cxn>
                <a:cxn ang="0">
                  <a:pos x="51" y="60"/>
                </a:cxn>
                <a:cxn ang="0">
                  <a:pos x="60" y="60"/>
                </a:cxn>
                <a:cxn ang="0">
                  <a:pos x="68" y="51"/>
                </a:cxn>
                <a:cxn ang="0">
                  <a:pos x="77" y="43"/>
                </a:cxn>
                <a:cxn ang="0">
                  <a:pos x="85" y="34"/>
                </a:cxn>
                <a:cxn ang="0">
                  <a:pos x="94" y="26"/>
                </a:cxn>
                <a:cxn ang="0">
                  <a:pos x="102" y="17"/>
                </a:cxn>
                <a:cxn ang="0">
                  <a:pos x="111" y="8"/>
                </a:cxn>
                <a:cxn ang="0">
                  <a:pos x="119" y="0"/>
                </a:cxn>
                <a:cxn ang="0">
                  <a:pos x="128" y="0"/>
                </a:cxn>
              </a:cxnLst>
              <a:rect l="0" t="0" r="r" b="b"/>
              <a:pathLst>
                <a:path w="128" h="111">
                  <a:moveTo>
                    <a:pt x="0" y="111"/>
                  </a:moveTo>
                  <a:lnTo>
                    <a:pt x="8" y="102"/>
                  </a:lnTo>
                  <a:lnTo>
                    <a:pt x="17" y="94"/>
                  </a:lnTo>
                  <a:lnTo>
                    <a:pt x="25" y="85"/>
                  </a:lnTo>
                  <a:lnTo>
                    <a:pt x="34" y="85"/>
                  </a:lnTo>
                  <a:lnTo>
                    <a:pt x="43" y="77"/>
                  </a:lnTo>
                  <a:lnTo>
                    <a:pt x="60" y="60"/>
                  </a:lnTo>
                  <a:lnTo>
                    <a:pt x="51" y="60"/>
                  </a:lnTo>
                  <a:lnTo>
                    <a:pt x="60" y="60"/>
                  </a:lnTo>
                  <a:lnTo>
                    <a:pt x="68" y="51"/>
                  </a:lnTo>
                  <a:lnTo>
                    <a:pt x="77" y="43"/>
                  </a:lnTo>
                  <a:lnTo>
                    <a:pt x="85" y="34"/>
                  </a:lnTo>
                  <a:lnTo>
                    <a:pt x="94" y="26"/>
                  </a:lnTo>
                  <a:lnTo>
                    <a:pt x="102" y="17"/>
                  </a:lnTo>
                  <a:lnTo>
                    <a:pt x="111" y="8"/>
                  </a:lnTo>
                  <a:lnTo>
                    <a:pt x="119" y="0"/>
                  </a:lnTo>
                  <a:lnTo>
                    <a:pt x="128" y="0"/>
                  </a:lnTo>
                </a:path>
              </a:pathLst>
            </a:custGeom>
            <a:noFill/>
            <a:ln w="26988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6" name="Freeform 52"/>
            <p:cNvSpPr>
              <a:spLocks/>
            </p:cNvSpPr>
            <p:nvPr/>
          </p:nvSpPr>
          <p:spPr bwMode="auto">
            <a:xfrm>
              <a:off x="1451" y="3094"/>
              <a:ext cx="1076" cy="547"/>
            </a:xfrm>
            <a:custGeom>
              <a:avLst/>
              <a:gdLst/>
              <a:ahLst/>
              <a:cxnLst>
                <a:cxn ang="0">
                  <a:pos x="8" y="547"/>
                </a:cxn>
                <a:cxn ang="0">
                  <a:pos x="34" y="547"/>
                </a:cxn>
                <a:cxn ang="0">
                  <a:pos x="60" y="547"/>
                </a:cxn>
                <a:cxn ang="0">
                  <a:pos x="85" y="547"/>
                </a:cxn>
                <a:cxn ang="0">
                  <a:pos x="111" y="538"/>
                </a:cxn>
                <a:cxn ang="0">
                  <a:pos x="136" y="538"/>
                </a:cxn>
                <a:cxn ang="0">
                  <a:pos x="162" y="530"/>
                </a:cxn>
                <a:cxn ang="0">
                  <a:pos x="188" y="521"/>
                </a:cxn>
                <a:cxn ang="0">
                  <a:pos x="213" y="521"/>
                </a:cxn>
                <a:cxn ang="0">
                  <a:pos x="239" y="513"/>
                </a:cxn>
                <a:cxn ang="0">
                  <a:pos x="265" y="504"/>
                </a:cxn>
                <a:cxn ang="0">
                  <a:pos x="290" y="496"/>
                </a:cxn>
                <a:cxn ang="0">
                  <a:pos x="316" y="479"/>
                </a:cxn>
                <a:cxn ang="0">
                  <a:pos x="341" y="470"/>
                </a:cxn>
                <a:cxn ang="0">
                  <a:pos x="367" y="462"/>
                </a:cxn>
                <a:cxn ang="0">
                  <a:pos x="393" y="453"/>
                </a:cxn>
                <a:cxn ang="0">
                  <a:pos x="418" y="436"/>
                </a:cxn>
                <a:cxn ang="0">
                  <a:pos x="444" y="427"/>
                </a:cxn>
                <a:cxn ang="0">
                  <a:pos x="469" y="410"/>
                </a:cxn>
                <a:cxn ang="0">
                  <a:pos x="495" y="402"/>
                </a:cxn>
                <a:cxn ang="0">
                  <a:pos x="521" y="385"/>
                </a:cxn>
                <a:cxn ang="0">
                  <a:pos x="546" y="368"/>
                </a:cxn>
                <a:cxn ang="0">
                  <a:pos x="572" y="359"/>
                </a:cxn>
                <a:cxn ang="0">
                  <a:pos x="597" y="342"/>
                </a:cxn>
                <a:cxn ang="0">
                  <a:pos x="623" y="325"/>
                </a:cxn>
                <a:cxn ang="0">
                  <a:pos x="649" y="308"/>
                </a:cxn>
                <a:cxn ang="0">
                  <a:pos x="674" y="291"/>
                </a:cxn>
                <a:cxn ang="0">
                  <a:pos x="700" y="274"/>
                </a:cxn>
                <a:cxn ang="0">
                  <a:pos x="726" y="257"/>
                </a:cxn>
                <a:cxn ang="0">
                  <a:pos x="751" y="240"/>
                </a:cxn>
                <a:cxn ang="0">
                  <a:pos x="777" y="222"/>
                </a:cxn>
                <a:cxn ang="0">
                  <a:pos x="802" y="205"/>
                </a:cxn>
                <a:cxn ang="0">
                  <a:pos x="828" y="188"/>
                </a:cxn>
                <a:cxn ang="0">
                  <a:pos x="854" y="171"/>
                </a:cxn>
                <a:cxn ang="0">
                  <a:pos x="879" y="154"/>
                </a:cxn>
                <a:cxn ang="0">
                  <a:pos x="905" y="129"/>
                </a:cxn>
                <a:cxn ang="0">
                  <a:pos x="930" y="111"/>
                </a:cxn>
                <a:cxn ang="0">
                  <a:pos x="956" y="94"/>
                </a:cxn>
                <a:cxn ang="0">
                  <a:pos x="982" y="69"/>
                </a:cxn>
                <a:cxn ang="0">
                  <a:pos x="1007" y="52"/>
                </a:cxn>
                <a:cxn ang="0">
                  <a:pos x="1033" y="35"/>
                </a:cxn>
                <a:cxn ang="0">
                  <a:pos x="1059" y="9"/>
                </a:cxn>
              </a:cxnLst>
              <a:rect l="0" t="0" r="r" b="b"/>
              <a:pathLst>
                <a:path w="1076" h="547">
                  <a:moveTo>
                    <a:pt x="8" y="547"/>
                  </a:moveTo>
                  <a:lnTo>
                    <a:pt x="0" y="547"/>
                  </a:lnTo>
                  <a:lnTo>
                    <a:pt x="8" y="547"/>
                  </a:lnTo>
                  <a:lnTo>
                    <a:pt x="17" y="547"/>
                  </a:lnTo>
                  <a:lnTo>
                    <a:pt x="25" y="547"/>
                  </a:lnTo>
                  <a:lnTo>
                    <a:pt x="34" y="547"/>
                  </a:lnTo>
                  <a:lnTo>
                    <a:pt x="43" y="547"/>
                  </a:lnTo>
                  <a:lnTo>
                    <a:pt x="51" y="547"/>
                  </a:lnTo>
                  <a:lnTo>
                    <a:pt x="60" y="547"/>
                  </a:lnTo>
                  <a:lnTo>
                    <a:pt x="68" y="547"/>
                  </a:lnTo>
                  <a:lnTo>
                    <a:pt x="77" y="547"/>
                  </a:lnTo>
                  <a:lnTo>
                    <a:pt x="85" y="547"/>
                  </a:lnTo>
                  <a:lnTo>
                    <a:pt x="94" y="547"/>
                  </a:lnTo>
                  <a:lnTo>
                    <a:pt x="102" y="538"/>
                  </a:lnTo>
                  <a:lnTo>
                    <a:pt x="111" y="538"/>
                  </a:lnTo>
                  <a:lnTo>
                    <a:pt x="119" y="538"/>
                  </a:lnTo>
                  <a:lnTo>
                    <a:pt x="128" y="538"/>
                  </a:lnTo>
                  <a:lnTo>
                    <a:pt x="136" y="538"/>
                  </a:lnTo>
                  <a:lnTo>
                    <a:pt x="145" y="538"/>
                  </a:lnTo>
                  <a:lnTo>
                    <a:pt x="154" y="530"/>
                  </a:lnTo>
                  <a:lnTo>
                    <a:pt x="162" y="530"/>
                  </a:lnTo>
                  <a:lnTo>
                    <a:pt x="171" y="530"/>
                  </a:lnTo>
                  <a:lnTo>
                    <a:pt x="179" y="530"/>
                  </a:lnTo>
                  <a:lnTo>
                    <a:pt x="188" y="521"/>
                  </a:lnTo>
                  <a:lnTo>
                    <a:pt x="196" y="521"/>
                  </a:lnTo>
                  <a:lnTo>
                    <a:pt x="205" y="521"/>
                  </a:lnTo>
                  <a:lnTo>
                    <a:pt x="213" y="521"/>
                  </a:lnTo>
                  <a:lnTo>
                    <a:pt x="222" y="513"/>
                  </a:lnTo>
                  <a:lnTo>
                    <a:pt x="230" y="513"/>
                  </a:lnTo>
                  <a:lnTo>
                    <a:pt x="239" y="513"/>
                  </a:lnTo>
                  <a:lnTo>
                    <a:pt x="247" y="504"/>
                  </a:lnTo>
                  <a:lnTo>
                    <a:pt x="256" y="504"/>
                  </a:lnTo>
                  <a:lnTo>
                    <a:pt x="265" y="504"/>
                  </a:lnTo>
                  <a:lnTo>
                    <a:pt x="273" y="496"/>
                  </a:lnTo>
                  <a:lnTo>
                    <a:pt x="282" y="496"/>
                  </a:lnTo>
                  <a:lnTo>
                    <a:pt x="290" y="496"/>
                  </a:lnTo>
                  <a:lnTo>
                    <a:pt x="299" y="487"/>
                  </a:lnTo>
                  <a:lnTo>
                    <a:pt x="307" y="487"/>
                  </a:lnTo>
                  <a:lnTo>
                    <a:pt x="316" y="479"/>
                  </a:lnTo>
                  <a:lnTo>
                    <a:pt x="324" y="479"/>
                  </a:lnTo>
                  <a:lnTo>
                    <a:pt x="333" y="479"/>
                  </a:lnTo>
                  <a:lnTo>
                    <a:pt x="341" y="470"/>
                  </a:lnTo>
                  <a:lnTo>
                    <a:pt x="350" y="470"/>
                  </a:lnTo>
                  <a:lnTo>
                    <a:pt x="358" y="462"/>
                  </a:lnTo>
                  <a:lnTo>
                    <a:pt x="367" y="462"/>
                  </a:lnTo>
                  <a:lnTo>
                    <a:pt x="375" y="462"/>
                  </a:lnTo>
                  <a:lnTo>
                    <a:pt x="384" y="453"/>
                  </a:lnTo>
                  <a:lnTo>
                    <a:pt x="393" y="453"/>
                  </a:lnTo>
                  <a:lnTo>
                    <a:pt x="401" y="444"/>
                  </a:lnTo>
                  <a:lnTo>
                    <a:pt x="410" y="444"/>
                  </a:lnTo>
                  <a:lnTo>
                    <a:pt x="418" y="436"/>
                  </a:lnTo>
                  <a:lnTo>
                    <a:pt x="427" y="436"/>
                  </a:lnTo>
                  <a:lnTo>
                    <a:pt x="435" y="427"/>
                  </a:lnTo>
                  <a:lnTo>
                    <a:pt x="444" y="427"/>
                  </a:lnTo>
                  <a:lnTo>
                    <a:pt x="452" y="419"/>
                  </a:lnTo>
                  <a:lnTo>
                    <a:pt x="461" y="419"/>
                  </a:lnTo>
                  <a:lnTo>
                    <a:pt x="469" y="410"/>
                  </a:lnTo>
                  <a:lnTo>
                    <a:pt x="478" y="410"/>
                  </a:lnTo>
                  <a:lnTo>
                    <a:pt x="486" y="402"/>
                  </a:lnTo>
                  <a:lnTo>
                    <a:pt x="495" y="402"/>
                  </a:lnTo>
                  <a:lnTo>
                    <a:pt x="504" y="393"/>
                  </a:lnTo>
                  <a:lnTo>
                    <a:pt x="512" y="385"/>
                  </a:lnTo>
                  <a:lnTo>
                    <a:pt x="521" y="385"/>
                  </a:lnTo>
                  <a:lnTo>
                    <a:pt x="529" y="376"/>
                  </a:lnTo>
                  <a:lnTo>
                    <a:pt x="538" y="376"/>
                  </a:lnTo>
                  <a:lnTo>
                    <a:pt x="546" y="368"/>
                  </a:lnTo>
                  <a:lnTo>
                    <a:pt x="555" y="368"/>
                  </a:lnTo>
                  <a:lnTo>
                    <a:pt x="563" y="359"/>
                  </a:lnTo>
                  <a:lnTo>
                    <a:pt x="572" y="359"/>
                  </a:lnTo>
                  <a:lnTo>
                    <a:pt x="580" y="351"/>
                  </a:lnTo>
                  <a:lnTo>
                    <a:pt x="589" y="342"/>
                  </a:lnTo>
                  <a:lnTo>
                    <a:pt x="597" y="342"/>
                  </a:lnTo>
                  <a:lnTo>
                    <a:pt x="606" y="333"/>
                  </a:lnTo>
                  <a:lnTo>
                    <a:pt x="615" y="333"/>
                  </a:lnTo>
                  <a:lnTo>
                    <a:pt x="623" y="325"/>
                  </a:lnTo>
                  <a:lnTo>
                    <a:pt x="632" y="316"/>
                  </a:lnTo>
                  <a:lnTo>
                    <a:pt x="640" y="316"/>
                  </a:lnTo>
                  <a:lnTo>
                    <a:pt x="649" y="308"/>
                  </a:lnTo>
                  <a:lnTo>
                    <a:pt x="657" y="299"/>
                  </a:lnTo>
                  <a:lnTo>
                    <a:pt x="666" y="299"/>
                  </a:lnTo>
                  <a:lnTo>
                    <a:pt x="674" y="291"/>
                  </a:lnTo>
                  <a:lnTo>
                    <a:pt x="683" y="291"/>
                  </a:lnTo>
                  <a:lnTo>
                    <a:pt x="691" y="282"/>
                  </a:lnTo>
                  <a:lnTo>
                    <a:pt x="700" y="274"/>
                  </a:lnTo>
                  <a:lnTo>
                    <a:pt x="708" y="265"/>
                  </a:lnTo>
                  <a:lnTo>
                    <a:pt x="717" y="265"/>
                  </a:lnTo>
                  <a:lnTo>
                    <a:pt x="726" y="257"/>
                  </a:lnTo>
                  <a:lnTo>
                    <a:pt x="734" y="257"/>
                  </a:lnTo>
                  <a:lnTo>
                    <a:pt x="743" y="248"/>
                  </a:lnTo>
                  <a:lnTo>
                    <a:pt x="751" y="240"/>
                  </a:lnTo>
                  <a:lnTo>
                    <a:pt x="760" y="240"/>
                  </a:lnTo>
                  <a:lnTo>
                    <a:pt x="768" y="231"/>
                  </a:lnTo>
                  <a:lnTo>
                    <a:pt x="777" y="222"/>
                  </a:lnTo>
                  <a:lnTo>
                    <a:pt x="785" y="214"/>
                  </a:lnTo>
                  <a:lnTo>
                    <a:pt x="794" y="214"/>
                  </a:lnTo>
                  <a:lnTo>
                    <a:pt x="802" y="205"/>
                  </a:lnTo>
                  <a:lnTo>
                    <a:pt x="811" y="197"/>
                  </a:lnTo>
                  <a:lnTo>
                    <a:pt x="819" y="197"/>
                  </a:lnTo>
                  <a:lnTo>
                    <a:pt x="828" y="188"/>
                  </a:lnTo>
                  <a:lnTo>
                    <a:pt x="837" y="180"/>
                  </a:lnTo>
                  <a:lnTo>
                    <a:pt x="845" y="171"/>
                  </a:lnTo>
                  <a:lnTo>
                    <a:pt x="854" y="171"/>
                  </a:lnTo>
                  <a:lnTo>
                    <a:pt x="862" y="163"/>
                  </a:lnTo>
                  <a:lnTo>
                    <a:pt x="871" y="154"/>
                  </a:lnTo>
                  <a:lnTo>
                    <a:pt x="879" y="154"/>
                  </a:lnTo>
                  <a:lnTo>
                    <a:pt x="888" y="146"/>
                  </a:lnTo>
                  <a:lnTo>
                    <a:pt x="896" y="137"/>
                  </a:lnTo>
                  <a:lnTo>
                    <a:pt x="905" y="129"/>
                  </a:lnTo>
                  <a:lnTo>
                    <a:pt x="913" y="129"/>
                  </a:lnTo>
                  <a:lnTo>
                    <a:pt x="922" y="120"/>
                  </a:lnTo>
                  <a:lnTo>
                    <a:pt x="930" y="111"/>
                  </a:lnTo>
                  <a:lnTo>
                    <a:pt x="939" y="103"/>
                  </a:lnTo>
                  <a:lnTo>
                    <a:pt x="948" y="103"/>
                  </a:lnTo>
                  <a:lnTo>
                    <a:pt x="956" y="94"/>
                  </a:lnTo>
                  <a:lnTo>
                    <a:pt x="965" y="86"/>
                  </a:lnTo>
                  <a:lnTo>
                    <a:pt x="973" y="77"/>
                  </a:lnTo>
                  <a:lnTo>
                    <a:pt x="982" y="69"/>
                  </a:lnTo>
                  <a:lnTo>
                    <a:pt x="990" y="69"/>
                  </a:lnTo>
                  <a:lnTo>
                    <a:pt x="999" y="60"/>
                  </a:lnTo>
                  <a:lnTo>
                    <a:pt x="1007" y="52"/>
                  </a:lnTo>
                  <a:lnTo>
                    <a:pt x="1016" y="43"/>
                  </a:lnTo>
                  <a:lnTo>
                    <a:pt x="1024" y="43"/>
                  </a:lnTo>
                  <a:lnTo>
                    <a:pt x="1033" y="35"/>
                  </a:lnTo>
                  <a:lnTo>
                    <a:pt x="1041" y="26"/>
                  </a:lnTo>
                  <a:lnTo>
                    <a:pt x="1050" y="18"/>
                  </a:lnTo>
                  <a:lnTo>
                    <a:pt x="1059" y="9"/>
                  </a:lnTo>
                  <a:lnTo>
                    <a:pt x="1067" y="9"/>
                  </a:lnTo>
                  <a:lnTo>
                    <a:pt x="1076" y="0"/>
                  </a:lnTo>
                </a:path>
              </a:pathLst>
            </a:custGeom>
            <a:noFill/>
            <a:ln w="26988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7" name="Freeform 53"/>
            <p:cNvSpPr>
              <a:spLocks/>
            </p:cNvSpPr>
            <p:nvPr/>
          </p:nvSpPr>
          <p:spPr bwMode="auto">
            <a:xfrm>
              <a:off x="2527" y="2130"/>
              <a:ext cx="1084" cy="964"/>
            </a:xfrm>
            <a:custGeom>
              <a:avLst/>
              <a:gdLst/>
              <a:ahLst/>
              <a:cxnLst>
                <a:cxn ang="0">
                  <a:pos x="17" y="947"/>
                </a:cxn>
                <a:cxn ang="0">
                  <a:pos x="42" y="930"/>
                </a:cxn>
                <a:cxn ang="0">
                  <a:pos x="68" y="913"/>
                </a:cxn>
                <a:cxn ang="0">
                  <a:pos x="94" y="888"/>
                </a:cxn>
                <a:cxn ang="0">
                  <a:pos x="119" y="870"/>
                </a:cxn>
                <a:cxn ang="0">
                  <a:pos x="145" y="845"/>
                </a:cxn>
                <a:cxn ang="0">
                  <a:pos x="170" y="828"/>
                </a:cxn>
                <a:cxn ang="0">
                  <a:pos x="196" y="802"/>
                </a:cxn>
                <a:cxn ang="0">
                  <a:pos x="222" y="777"/>
                </a:cxn>
                <a:cxn ang="0">
                  <a:pos x="247" y="759"/>
                </a:cxn>
                <a:cxn ang="0">
                  <a:pos x="273" y="734"/>
                </a:cxn>
                <a:cxn ang="0">
                  <a:pos x="298" y="717"/>
                </a:cxn>
                <a:cxn ang="0">
                  <a:pos x="324" y="691"/>
                </a:cxn>
                <a:cxn ang="0">
                  <a:pos x="350" y="674"/>
                </a:cxn>
                <a:cxn ang="0">
                  <a:pos x="375" y="648"/>
                </a:cxn>
                <a:cxn ang="0">
                  <a:pos x="401" y="623"/>
                </a:cxn>
                <a:cxn ang="0">
                  <a:pos x="427" y="606"/>
                </a:cxn>
                <a:cxn ang="0">
                  <a:pos x="452" y="580"/>
                </a:cxn>
                <a:cxn ang="0">
                  <a:pos x="478" y="555"/>
                </a:cxn>
                <a:cxn ang="0">
                  <a:pos x="503" y="537"/>
                </a:cxn>
                <a:cxn ang="0">
                  <a:pos x="529" y="512"/>
                </a:cxn>
                <a:cxn ang="0">
                  <a:pos x="555" y="486"/>
                </a:cxn>
                <a:cxn ang="0">
                  <a:pos x="580" y="469"/>
                </a:cxn>
                <a:cxn ang="0">
                  <a:pos x="606" y="444"/>
                </a:cxn>
                <a:cxn ang="0">
                  <a:pos x="631" y="418"/>
                </a:cxn>
                <a:cxn ang="0">
                  <a:pos x="657" y="401"/>
                </a:cxn>
                <a:cxn ang="0">
                  <a:pos x="683" y="375"/>
                </a:cxn>
                <a:cxn ang="0">
                  <a:pos x="708" y="350"/>
                </a:cxn>
                <a:cxn ang="0">
                  <a:pos x="734" y="324"/>
                </a:cxn>
                <a:cxn ang="0">
                  <a:pos x="760" y="307"/>
                </a:cxn>
                <a:cxn ang="0">
                  <a:pos x="785" y="281"/>
                </a:cxn>
                <a:cxn ang="0">
                  <a:pos x="811" y="256"/>
                </a:cxn>
                <a:cxn ang="0">
                  <a:pos x="836" y="230"/>
                </a:cxn>
                <a:cxn ang="0">
                  <a:pos x="862" y="204"/>
                </a:cxn>
                <a:cxn ang="0">
                  <a:pos x="888" y="187"/>
                </a:cxn>
                <a:cxn ang="0">
                  <a:pos x="913" y="162"/>
                </a:cxn>
                <a:cxn ang="0">
                  <a:pos x="939" y="136"/>
                </a:cxn>
                <a:cxn ang="0">
                  <a:pos x="964" y="111"/>
                </a:cxn>
                <a:cxn ang="0">
                  <a:pos x="990" y="93"/>
                </a:cxn>
                <a:cxn ang="0">
                  <a:pos x="1016" y="68"/>
                </a:cxn>
                <a:cxn ang="0">
                  <a:pos x="1041" y="42"/>
                </a:cxn>
                <a:cxn ang="0">
                  <a:pos x="1067" y="17"/>
                </a:cxn>
              </a:cxnLst>
              <a:rect l="0" t="0" r="r" b="b"/>
              <a:pathLst>
                <a:path w="1084" h="964">
                  <a:moveTo>
                    <a:pt x="0" y="964"/>
                  </a:moveTo>
                  <a:lnTo>
                    <a:pt x="8" y="956"/>
                  </a:lnTo>
                  <a:lnTo>
                    <a:pt x="17" y="947"/>
                  </a:lnTo>
                  <a:lnTo>
                    <a:pt x="25" y="939"/>
                  </a:lnTo>
                  <a:lnTo>
                    <a:pt x="34" y="939"/>
                  </a:lnTo>
                  <a:lnTo>
                    <a:pt x="42" y="930"/>
                  </a:lnTo>
                  <a:lnTo>
                    <a:pt x="51" y="922"/>
                  </a:lnTo>
                  <a:lnTo>
                    <a:pt x="59" y="913"/>
                  </a:lnTo>
                  <a:lnTo>
                    <a:pt x="68" y="913"/>
                  </a:lnTo>
                  <a:lnTo>
                    <a:pt x="76" y="905"/>
                  </a:lnTo>
                  <a:lnTo>
                    <a:pt x="85" y="896"/>
                  </a:lnTo>
                  <a:lnTo>
                    <a:pt x="94" y="888"/>
                  </a:lnTo>
                  <a:lnTo>
                    <a:pt x="102" y="879"/>
                  </a:lnTo>
                  <a:lnTo>
                    <a:pt x="111" y="870"/>
                  </a:lnTo>
                  <a:lnTo>
                    <a:pt x="119" y="870"/>
                  </a:lnTo>
                  <a:lnTo>
                    <a:pt x="128" y="862"/>
                  </a:lnTo>
                  <a:lnTo>
                    <a:pt x="136" y="853"/>
                  </a:lnTo>
                  <a:lnTo>
                    <a:pt x="145" y="845"/>
                  </a:lnTo>
                  <a:lnTo>
                    <a:pt x="153" y="836"/>
                  </a:lnTo>
                  <a:lnTo>
                    <a:pt x="162" y="828"/>
                  </a:lnTo>
                  <a:lnTo>
                    <a:pt x="170" y="828"/>
                  </a:lnTo>
                  <a:lnTo>
                    <a:pt x="179" y="819"/>
                  </a:lnTo>
                  <a:lnTo>
                    <a:pt x="187" y="811"/>
                  </a:lnTo>
                  <a:lnTo>
                    <a:pt x="196" y="802"/>
                  </a:lnTo>
                  <a:lnTo>
                    <a:pt x="205" y="794"/>
                  </a:lnTo>
                  <a:lnTo>
                    <a:pt x="213" y="785"/>
                  </a:lnTo>
                  <a:lnTo>
                    <a:pt x="222" y="777"/>
                  </a:lnTo>
                  <a:lnTo>
                    <a:pt x="230" y="777"/>
                  </a:lnTo>
                  <a:lnTo>
                    <a:pt x="239" y="768"/>
                  </a:lnTo>
                  <a:lnTo>
                    <a:pt x="247" y="759"/>
                  </a:lnTo>
                  <a:lnTo>
                    <a:pt x="256" y="751"/>
                  </a:lnTo>
                  <a:lnTo>
                    <a:pt x="264" y="742"/>
                  </a:lnTo>
                  <a:lnTo>
                    <a:pt x="273" y="734"/>
                  </a:lnTo>
                  <a:lnTo>
                    <a:pt x="281" y="725"/>
                  </a:lnTo>
                  <a:lnTo>
                    <a:pt x="290" y="725"/>
                  </a:lnTo>
                  <a:lnTo>
                    <a:pt x="298" y="717"/>
                  </a:lnTo>
                  <a:lnTo>
                    <a:pt x="307" y="708"/>
                  </a:lnTo>
                  <a:lnTo>
                    <a:pt x="316" y="700"/>
                  </a:lnTo>
                  <a:lnTo>
                    <a:pt x="324" y="691"/>
                  </a:lnTo>
                  <a:lnTo>
                    <a:pt x="333" y="683"/>
                  </a:lnTo>
                  <a:lnTo>
                    <a:pt x="341" y="674"/>
                  </a:lnTo>
                  <a:lnTo>
                    <a:pt x="350" y="674"/>
                  </a:lnTo>
                  <a:lnTo>
                    <a:pt x="358" y="666"/>
                  </a:lnTo>
                  <a:lnTo>
                    <a:pt x="367" y="657"/>
                  </a:lnTo>
                  <a:lnTo>
                    <a:pt x="375" y="648"/>
                  </a:lnTo>
                  <a:lnTo>
                    <a:pt x="384" y="640"/>
                  </a:lnTo>
                  <a:lnTo>
                    <a:pt x="392" y="631"/>
                  </a:lnTo>
                  <a:lnTo>
                    <a:pt x="401" y="623"/>
                  </a:lnTo>
                  <a:lnTo>
                    <a:pt x="409" y="614"/>
                  </a:lnTo>
                  <a:lnTo>
                    <a:pt x="418" y="614"/>
                  </a:lnTo>
                  <a:lnTo>
                    <a:pt x="427" y="606"/>
                  </a:lnTo>
                  <a:lnTo>
                    <a:pt x="435" y="597"/>
                  </a:lnTo>
                  <a:lnTo>
                    <a:pt x="444" y="589"/>
                  </a:lnTo>
                  <a:lnTo>
                    <a:pt x="452" y="580"/>
                  </a:lnTo>
                  <a:lnTo>
                    <a:pt x="461" y="572"/>
                  </a:lnTo>
                  <a:lnTo>
                    <a:pt x="469" y="563"/>
                  </a:lnTo>
                  <a:lnTo>
                    <a:pt x="478" y="555"/>
                  </a:lnTo>
                  <a:lnTo>
                    <a:pt x="486" y="546"/>
                  </a:lnTo>
                  <a:lnTo>
                    <a:pt x="495" y="546"/>
                  </a:lnTo>
                  <a:lnTo>
                    <a:pt x="503" y="537"/>
                  </a:lnTo>
                  <a:lnTo>
                    <a:pt x="512" y="529"/>
                  </a:lnTo>
                  <a:lnTo>
                    <a:pt x="520" y="520"/>
                  </a:lnTo>
                  <a:lnTo>
                    <a:pt x="529" y="512"/>
                  </a:lnTo>
                  <a:lnTo>
                    <a:pt x="538" y="503"/>
                  </a:lnTo>
                  <a:lnTo>
                    <a:pt x="546" y="495"/>
                  </a:lnTo>
                  <a:lnTo>
                    <a:pt x="555" y="486"/>
                  </a:lnTo>
                  <a:lnTo>
                    <a:pt x="563" y="478"/>
                  </a:lnTo>
                  <a:lnTo>
                    <a:pt x="572" y="478"/>
                  </a:lnTo>
                  <a:lnTo>
                    <a:pt x="580" y="469"/>
                  </a:lnTo>
                  <a:lnTo>
                    <a:pt x="589" y="461"/>
                  </a:lnTo>
                  <a:lnTo>
                    <a:pt x="597" y="452"/>
                  </a:lnTo>
                  <a:lnTo>
                    <a:pt x="606" y="444"/>
                  </a:lnTo>
                  <a:lnTo>
                    <a:pt x="614" y="435"/>
                  </a:lnTo>
                  <a:lnTo>
                    <a:pt x="623" y="426"/>
                  </a:lnTo>
                  <a:lnTo>
                    <a:pt x="631" y="418"/>
                  </a:lnTo>
                  <a:lnTo>
                    <a:pt x="640" y="409"/>
                  </a:lnTo>
                  <a:lnTo>
                    <a:pt x="649" y="409"/>
                  </a:lnTo>
                  <a:lnTo>
                    <a:pt x="657" y="401"/>
                  </a:lnTo>
                  <a:lnTo>
                    <a:pt x="666" y="392"/>
                  </a:lnTo>
                  <a:lnTo>
                    <a:pt x="674" y="384"/>
                  </a:lnTo>
                  <a:lnTo>
                    <a:pt x="683" y="375"/>
                  </a:lnTo>
                  <a:lnTo>
                    <a:pt x="691" y="367"/>
                  </a:lnTo>
                  <a:lnTo>
                    <a:pt x="700" y="358"/>
                  </a:lnTo>
                  <a:lnTo>
                    <a:pt x="708" y="350"/>
                  </a:lnTo>
                  <a:lnTo>
                    <a:pt x="717" y="341"/>
                  </a:lnTo>
                  <a:lnTo>
                    <a:pt x="725" y="333"/>
                  </a:lnTo>
                  <a:lnTo>
                    <a:pt x="734" y="324"/>
                  </a:lnTo>
                  <a:lnTo>
                    <a:pt x="742" y="315"/>
                  </a:lnTo>
                  <a:lnTo>
                    <a:pt x="751" y="307"/>
                  </a:lnTo>
                  <a:lnTo>
                    <a:pt x="760" y="307"/>
                  </a:lnTo>
                  <a:lnTo>
                    <a:pt x="768" y="298"/>
                  </a:lnTo>
                  <a:lnTo>
                    <a:pt x="777" y="290"/>
                  </a:lnTo>
                  <a:lnTo>
                    <a:pt x="785" y="281"/>
                  </a:lnTo>
                  <a:lnTo>
                    <a:pt x="794" y="273"/>
                  </a:lnTo>
                  <a:lnTo>
                    <a:pt x="802" y="264"/>
                  </a:lnTo>
                  <a:lnTo>
                    <a:pt x="811" y="256"/>
                  </a:lnTo>
                  <a:lnTo>
                    <a:pt x="819" y="247"/>
                  </a:lnTo>
                  <a:lnTo>
                    <a:pt x="828" y="239"/>
                  </a:lnTo>
                  <a:lnTo>
                    <a:pt x="836" y="230"/>
                  </a:lnTo>
                  <a:lnTo>
                    <a:pt x="845" y="222"/>
                  </a:lnTo>
                  <a:lnTo>
                    <a:pt x="853" y="213"/>
                  </a:lnTo>
                  <a:lnTo>
                    <a:pt x="862" y="204"/>
                  </a:lnTo>
                  <a:lnTo>
                    <a:pt x="871" y="204"/>
                  </a:lnTo>
                  <a:lnTo>
                    <a:pt x="879" y="196"/>
                  </a:lnTo>
                  <a:lnTo>
                    <a:pt x="888" y="187"/>
                  </a:lnTo>
                  <a:lnTo>
                    <a:pt x="896" y="179"/>
                  </a:lnTo>
                  <a:lnTo>
                    <a:pt x="905" y="170"/>
                  </a:lnTo>
                  <a:lnTo>
                    <a:pt x="913" y="162"/>
                  </a:lnTo>
                  <a:lnTo>
                    <a:pt x="922" y="153"/>
                  </a:lnTo>
                  <a:lnTo>
                    <a:pt x="930" y="145"/>
                  </a:lnTo>
                  <a:lnTo>
                    <a:pt x="939" y="136"/>
                  </a:lnTo>
                  <a:lnTo>
                    <a:pt x="947" y="128"/>
                  </a:lnTo>
                  <a:lnTo>
                    <a:pt x="956" y="119"/>
                  </a:lnTo>
                  <a:lnTo>
                    <a:pt x="964" y="111"/>
                  </a:lnTo>
                  <a:lnTo>
                    <a:pt x="973" y="111"/>
                  </a:lnTo>
                  <a:lnTo>
                    <a:pt x="981" y="102"/>
                  </a:lnTo>
                  <a:lnTo>
                    <a:pt x="990" y="93"/>
                  </a:lnTo>
                  <a:lnTo>
                    <a:pt x="999" y="85"/>
                  </a:lnTo>
                  <a:lnTo>
                    <a:pt x="1007" y="76"/>
                  </a:lnTo>
                  <a:lnTo>
                    <a:pt x="1016" y="68"/>
                  </a:lnTo>
                  <a:lnTo>
                    <a:pt x="1024" y="59"/>
                  </a:lnTo>
                  <a:lnTo>
                    <a:pt x="1033" y="51"/>
                  </a:lnTo>
                  <a:lnTo>
                    <a:pt x="1041" y="42"/>
                  </a:lnTo>
                  <a:lnTo>
                    <a:pt x="1050" y="34"/>
                  </a:lnTo>
                  <a:lnTo>
                    <a:pt x="1058" y="25"/>
                  </a:lnTo>
                  <a:lnTo>
                    <a:pt x="1067" y="17"/>
                  </a:lnTo>
                  <a:lnTo>
                    <a:pt x="1075" y="8"/>
                  </a:lnTo>
                  <a:lnTo>
                    <a:pt x="1084" y="0"/>
                  </a:lnTo>
                </a:path>
              </a:pathLst>
            </a:custGeom>
            <a:noFill/>
            <a:ln w="26988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8" name="Freeform 54"/>
            <p:cNvSpPr>
              <a:spLocks/>
            </p:cNvSpPr>
            <p:nvPr/>
          </p:nvSpPr>
          <p:spPr bwMode="auto">
            <a:xfrm>
              <a:off x="3611" y="1455"/>
              <a:ext cx="726" cy="675"/>
            </a:xfrm>
            <a:custGeom>
              <a:avLst/>
              <a:gdLst/>
              <a:ahLst/>
              <a:cxnLst>
                <a:cxn ang="0">
                  <a:pos x="8" y="666"/>
                </a:cxn>
                <a:cxn ang="0">
                  <a:pos x="26" y="657"/>
                </a:cxn>
                <a:cxn ang="0">
                  <a:pos x="43" y="640"/>
                </a:cxn>
                <a:cxn ang="0">
                  <a:pos x="60" y="623"/>
                </a:cxn>
                <a:cxn ang="0">
                  <a:pos x="77" y="606"/>
                </a:cxn>
                <a:cxn ang="0">
                  <a:pos x="94" y="589"/>
                </a:cxn>
                <a:cxn ang="0">
                  <a:pos x="111" y="572"/>
                </a:cxn>
                <a:cxn ang="0">
                  <a:pos x="128" y="555"/>
                </a:cxn>
                <a:cxn ang="0">
                  <a:pos x="145" y="538"/>
                </a:cxn>
                <a:cxn ang="0">
                  <a:pos x="171" y="521"/>
                </a:cxn>
                <a:cxn ang="0">
                  <a:pos x="171" y="521"/>
                </a:cxn>
                <a:cxn ang="0">
                  <a:pos x="188" y="504"/>
                </a:cxn>
                <a:cxn ang="0">
                  <a:pos x="205" y="487"/>
                </a:cxn>
                <a:cxn ang="0">
                  <a:pos x="222" y="470"/>
                </a:cxn>
                <a:cxn ang="0">
                  <a:pos x="239" y="453"/>
                </a:cxn>
                <a:cxn ang="0">
                  <a:pos x="256" y="435"/>
                </a:cxn>
                <a:cxn ang="0">
                  <a:pos x="273" y="418"/>
                </a:cxn>
                <a:cxn ang="0">
                  <a:pos x="290" y="401"/>
                </a:cxn>
                <a:cxn ang="0">
                  <a:pos x="307" y="384"/>
                </a:cxn>
                <a:cxn ang="0">
                  <a:pos x="324" y="376"/>
                </a:cxn>
                <a:cxn ang="0">
                  <a:pos x="341" y="359"/>
                </a:cxn>
                <a:cxn ang="0">
                  <a:pos x="359" y="341"/>
                </a:cxn>
                <a:cxn ang="0">
                  <a:pos x="376" y="324"/>
                </a:cxn>
                <a:cxn ang="0">
                  <a:pos x="393" y="307"/>
                </a:cxn>
                <a:cxn ang="0">
                  <a:pos x="410" y="290"/>
                </a:cxn>
                <a:cxn ang="0">
                  <a:pos x="427" y="273"/>
                </a:cxn>
                <a:cxn ang="0">
                  <a:pos x="444" y="256"/>
                </a:cxn>
                <a:cxn ang="0">
                  <a:pos x="461" y="239"/>
                </a:cxn>
                <a:cxn ang="0">
                  <a:pos x="478" y="230"/>
                </a:cxn>
                <a:cxn ang="0">
                  <a:pos x="495" y="205"/>
                </a:cxn>
                <a:cxn ang="0">
                  <a:pos x="512" y="196"/>
                </a:cxn>
                <a:cxn ang="0">
                  <a:pos x="529" y="179"/>
                </a:cxn>
                <a:cxn ang="0">
                  <a:pos x="546" y="162"/>
                </a:cxn>
                <a:cxn ang="0">
                  <a:pos x="563" y="145"/>
                </a:cxn>
                <a:cxn ang="0">
                  <a:pos x="581" y="128"/>
                </a:cxn>
                <a:cxn ang="0">
                  <a:pos x="598" y="111"/>
                </a:cxn>
                <a:cxn ang="0">
                  <a:pos x="615" y="94"/>
                </a:cxn>
                <a:cxn ang="0">
                  <a:pos x="632" y="77"/>
                </a:cxn>
                <a:cxn ang="0">
                  <a:pos x="649" y="60"/>
                </a:cxn>
                <a:cxn ang="0">
                  <a:pos x="666" y="51"/>
                </a:cxn>
                <a:cxn ang="0">
                  <a:pos x="683" y="26"/>
                </a:cxn>
                <a:cxn ang="0">
                  <a:pos x="700" y="17"/>
                </a:cxn>
                <a:cxn ang="0">
                  <a:pos x="717" y="0"/>
                </a:cxn>
              </a:cxnLst>
              <a:rect l="0" t="0" r="r" b="b"/>
              <a:pathLst>
                <a:path w="726" h="675">
                  <a:moveTo>
                    <a:pt x="0" y="675"/>
                  </a:moveTo>
                  <a:lnTo>
                    <a:pt x="8" y="666"/>
                  </a:lnTo>
                  <a:lnTo>
                    <a:pt x="17" y="666"/>
                  </a:lnTo>
                  <a:lnTo>
                    <a:pt x="26" y="657"/>
                  </a:lnTo>
                  <a:lnTo>
                    <a:pt x="34" y="649"/>
                  </a:lnTo>
                  <a:lnTo>
                    <a:pt x="43" y="640"/>
                  </a:lnTo>
                  <a:lnTo>
                    <a:pt x="51" y="632"/>
                  </a:lnTo>
                  <a:lnTo>
                    <a:pt x="60" y="623"/>
                  </a:lnTo>
                  <a:lnTo>
                    <a:pt x="68" y="615"/>
                  </a:lnTo>
                  <a:lnTo>
                    <a:pt x="77" y="606"/>
                  </a:lnTo>
                  <a:lnTo>
                    <a:pt x="85" y="598"/>
                  </a:lnTo>
                  <a:lnTo>
                    <a:pt x="94" y="589"/>
                  </a:lnTo>
                  <a:lnTo>
                    <a:pt x="102" y="581"/>
                  </a:lnTo>
                  <a:lnTo>
                    <a:pt x="111" y="572"/>
                  </a:lnTo>
                  <a:lnTo>
                    <a:pt x="119" y="564"/>
                  </a:lnTo>
                  <a:lnTo>
                    <a:pt x="128" y="555"/>
                  </a:lnTo>
                  <a:lnTo>
                    <a:pt x="137" y="546"/>
                  </a:lnTo>
                  <a:lnTo>
                    <a:pt x="145" y="538"/>
                  </a:lnTo>
                  <a:lnTo>
                    <a:pt x="154" y="538"/>
                  </a:lnTo>
                  <a:lnTo>
                    <a:pt x="171" y="521"/>
                  </a:lnTo>
                  <a:lnTo>
                    <a:pt x="162" y="521"/>
                  </a:lnTo>
                  <a:lnTo>
                    <a:pt x="171" y="521"/>
                  </a:lnTo>
                  <a:lnTo>
                    <a:pt x="179" y="512"/>
                  </a:lnTo>
                  <a:lnTo>
                    <a:pt x="188" y="504"/>
                  </a:lnTo>
                  <a:lnTo>
                    <a:pt x="196" y="495"/>
                  </a:lnTo>
                  <a:lnTo>
                    <a:pt x="205" y="487"/>
                  </a:lnTo>
                  <a:lnTo>
                    <a:pt x="213" y="478"/>
                  </a:lnTo>
                  <a:lnTo>
                    <a:pt x="222" y="470"/>
                  </a:lnTo>
                  <a:lnTo>
                    <a:pt x="230" y="461"/>
                  </a:lnTo>
                  <a:lnTo>
                    <a:pt x="239" y="453"/>
                  </a:lnTo>
                  <a:lnTo>
                    <a:pt x="248" y="444"/>
                  </a:lnTo>
                  <a:lnTo>
                    <a:pt x="256" y="435"/>
                  </a:lnTo>
                  <a:lnTo>
                    <a:pt x="265" y="427"/>
                  </a:lnTo>
                  <a:lnTo>
                    <a:pt x="273" y="418"/>
                  </a:lnTo>
                  <a:lnTo>
                    <a:pt x="282" y="410"/>
                  </a:lnTo>
                  <a:lnTo>
                    <a:pt x="290" y="401"/>
                  </a:lnTo>
                  <a:lnTo>
                    <a:pt x="299" y="393"/>
                  </a:lnTo>
                  <a:lnTo>
                    <a:pt x="307" y="384"/>
                  </a:lnTo>
                  <a:lnTo>
                    <a:pt x="316" y="376"/>
                  </a:lnTo>
                  <a:lnTo>
                    <a:pt x="324" y="376"/>
                  </a:lnTo>
                  <a:lnTo>
                    <a:pt x="333" y="367"/>
                  </a:lnTo>
                  <a:lnTo>
                    <a:pt x="341" y="359"/>
                  </a:lnTo>
                  <a:lnTo>
                    <a:pt x="350" y="350"/>
                  </a:lnTo>
                  <a:lnTo>
                    <a:pt x="359" y="341"/>
                  </a:lnTo>
                  <a:lnTo>
                    <a:pt x="367" y="333"/>
                  </a:lnTo>
                  <a:lnTo>
                    <a:pt x="376" y="324"/>
                  </a:lnTo>
                  <a:lnTo>
                    <a:pt x="384" y="316"/>
                  </a:lnTo>
                  <a:lnTo>
                    <a:pt x="393" y="307"/>
                  </a:lnTo>
                  <a:lnTo>
                    <a:pt x="401" y="299"/>
                  </a:lnTo>
                  <a:lnTo>
                    <a:pt x="410" y="290"/>
                  </a:lnTo>
                  <a:lnTo>
                    <a:pt x="418" y="282"/>
                  </a:lnTo>
                  <a:lnTo>
                    <a:pt x="427" y="273"/>
                  </a:lnTo>
                  <a:lnTo>
                    <a:pt x="435" y="265"/>
                  </a:lnTo>
                  <a:lnTo>
                    <a:pt x="444" y="256"/>
                  </a:lnTo>
                  <a:lnTo>
                    <a:pt x="452" y="248"/>
                  </a:lnTo>
                  <a:lnTo>
                    <a:pt x="461" y="239"/>
                  </a:lnTo>
                  <a:lnTo>
                    <a:pt x="470" y="230"/>
                  </a:lnTo>
                  <a:lnTo>
                    <a:pt x="478" y="230"/>
                  </a:lnTo>
                  <a:lnTo>
                    <a:pt x="495" y="213"/>
                  </a:lnTo>
                  <a:lnTo>
                    <a:pt x="495" y="205"/>
                  </a:lnTo>
                  <a:lnTo>
                    <a:pt x="504" y="205"/>
                  </a:lnTo>
                  <a:lnTo>
                    <a:pt x="512" y="196"/>
                  </a:lnTo>
                  <a:lnTo>
                    <a:pt x="521" y="188"/>
                  </a:lnTo>
                  <a:lnTo>
                    <a:pt x="529" y="179"/>
                  </a:lnTo>
                  <a:lnTo>
                    <a:pt x="538" y="171"/>
                  </a:lnTo>
                  <a:lnTo>
                    <a:pt x="546" y="162"/>
                  </a:lnTo>
                  <a:lnTo>
                    <a:pt x="555" y="154"/>
                  </a:lnTo>
                  <a:lnTo>
                    <a:pt x="563" y="145"/>
                  </a:lnTo>
                  <a:lnTo>
                    <a:pt x="572" y="137"/>
                  </a:lnTo>
                  <a:lnTo>
                    <a:pt x="581" y="128"/>
                  </a:lnTo>
                  <a:lnTo>
                    <a:pt x="589" y="119"/>
                  </a:lnTo>
                  <a:lnTo>
                    <a:pt x="598" y="111"/>
                  </a:lnTo>
                  <a:lnTo>
                    <a:pt x="606" y="102"/>
                  </a:lnTo>
                  <a:lnTo>
                    <a:pt x="615" y="94"/>
                  </a:lnTo>
                  <a:lnTo>
                    <a:pt x="623" y="85"/>
                  </a:lnTo>
                  <a:lnTo>
                    <a:pt x="632" y="77"/>
                  </a:lnTo>
                  <a:lnTo>
                    <a:pt x="640" y="68"/>
                  </a:lnTo>
                  <a:lnTo>
                    <a:pt x="649" y="60"/>
                  </a:lnTo>
                  <a:lnTo>
                    <a:pt x="657" y="51"/>
                  </a:lnTo>
                  <a:lnTo>
                    <a:pt x="666" y="51"/>
                  </a:lnTo>
                  <a:lnTo>
                    <a:pt x="683" y="34"/>
                  </a:lnTo>
                  <a:lnTo>
                    <a:pt x="683" y="26"/>
                  </a:lnTo>
                  <a:lnTo>
                    <a:pt x="692" y="26"/>
                  </a:lnTo>
                  <a:lnTo>
                    <a:pt x="700" y="17"/>
                  </a:lnTo>
                  <a:lnTo>
                    <a:pt x="709" y="8"/>
                  </a:lnTo>
                  <a:lnTo>
                    <a:pt x="717" y="0"/>
                  </a:lnTo>
                  <a:lnTo>
                    <a:pt x="726" y="0"/>
                  </a:lnTo>
                </a:path>
              </a:pathLst>
            </a:custGeom>
            <a:noFill/>
            <a:ln w="26988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599" name="Rectangle 55"/>
            <p:cNvSpPr>
              <a:spLocks noChangeArrowheads="1"/>
            </p:cNvSpPr>
            <p:nvPr/>
          </p:nvSpPr>
          <p:spPr bwMode="auto">
            <a:xfrm>
              <a:off x="2868" y="3820"/>
              <a:ext cx="29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Time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00" name="Rectangle 56"/>
            <p:cNvSpPr>
              <a:spLocks noChangeArrowheads="1"/>
            </p:cNvSpPr>
            <p:nvPr/>
          </p:nvSpPr>
          <p:spPr bwMode="auto">
            <a:xfrm rot="16200000">
              <a:off x="1062" y="2466"/>
              <a:ext cx="213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c(t)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01" name="Rectangle 57"/>
            <p:cNvSpPr>
              <a:spLocks noChangeArrowheads="1"/>
            </p:cNvSpPr>
            <p:nvPr/>
          </p:nvSpPr>
          <p:spPr bwMode="auto">
            <a:xfrm>
              <a:off x="2467" y="1259"/>
              <a:ext cx="111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Unit Ramp Response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02" name="Rectangle 58"/>
            <p:cNvSpPr>
              <a:spLocks noChangeArrowheads="1"/>
            </p:cNvSpPr>
            <p:nvPr/>
          </p:nvSpPr>
          <p:spPr bwMode="auto">
            <a:xfrm>
              <a:off x="1434" y="3590"/>
              <a:ext cx="85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03" name="Rectangle 59"/>
            <p:cNvSpPr>
              <a:spLocks noChangeArrowheads="1"/>
            </p:cNvSpPr>
            <p:nvPr/>
          </p:nvSpPr>
          <p:spPr bwMode="auto">
            <a:xfrm>
              <a:off x="4542" y="1387"/>
              <a:ext cx="85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04" name="Rectangle 60"/>
            <p:cNvSpPr>
              <a:spLocks noChangeArrowheads="1"/>
            </p:cNvSpPr>
            <p:nvPr/>
          </p:nvSpPr>
          <p:spPr bwMode="auto">
            <a:xfrm>
              <a:off x="1698" y="1574"/>
              <a:ext cx="1315" cy="3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05" name="Rectangle 61"/>
            <p:cNvSpPr>
              <a:spLocks noChangeArrowheads="1"/>
            </p:cNvSpPr>
            <p:nvPr/>
          </p:nvSpPr>
          <p:spPr bwMode="auto">
            <a:xfrm>
              <a:off x="1698" y="1574"/>
              <a:ext cx="1315" cy="359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06" name="Line 62"/>
            <p:cNvSpPr>
              <a:spLocks noChangeShapeType="1"/>
            </p:cNvSpPr>
            <p:nvPr/>
          </p:nvSpPr>
          <p:spPr bwMode="auto">
            <a:xfrm>
              <a:off x="1698" y="1574"/>
              <a:ext cx="13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07" name="Line 63"/>
            <p:cNvSpPr>
              <a:spLocks noChangeShapeType="1"/>
            </p:cNvSpPr>
            <p:nvPr/>
          </p:nvSpPr>
          <p:spPr bwMode="auto">
            <a:xfrm>
              <a:off x="1698" y="1933"/>
              <a:ext cx="13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08" name="Line 64"/>
            <p:cNvSpPr>
              <a:spLocks noChangeShapeType="1"/>
            </p:cNvSpPr>
            <p:nvPr/>
          </p:nvSpPr>
          <p:spPr bwMode="auto">
            <a:xfrm flipV="1">
              <a:off x="3013" y="1574"/>
              <a:ext cx="1" cy="3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09" name="Line 65"/>
            <p:cNvSpPr>
              <a:spLocks noChangeShapeType="1"/>
            </p:cNvSpPr>
            <p:nvPr/>
          </p:nvSpPr>
          <p:spPr bwMode="auto">
            <a:xfrm flipV="1">
              <a:off x="1698" y="1574"/>
              <a:ext cx="1" cy="3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0" name="Line 66"/>
            <p:cNvSpPr>
              <a:spLocks noChangeShapeType="1"/>
            </p:cNvSpPr>
            <p:nvPr/>
          </p:nvSpPr>
          <p:spPr bwMode="auto">
            <a:xfrm>
              <a:off x="1698" y="1933"/>
              <a:ext cx="13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1" name="Line 67"/>
            <p:cNvSpPr>
              <a:spLocks noChangeShapeType="1"/>
            </p:cNvSpPr>
            <p:nvPr/>
          </p:nvSpPr>
          <p:spPr bwMode="auto">
            <a:xfrm flipV="1">
              <a:off x="1698" y="1574"/>
              <a:ext cx="1" cy="3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2" name="Line 68"/>
            <p:cNvSpPr>
              <a:spLocks noChangeShapeType="1"/>
            </p:cNvSpPr>
            <p:nvPr/>
          </p:nvSpPr>
          <p:spPr bwMode="auto">
            <a:xfrm>
              <a:off x="1698" y="1574"/>
              <a:ext cx="13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3" name="Line 69"/>
            <p:cNvSpPr>
              <a:spLocks noChangeShapeType="1"/>
            </p:cNvSpPr>
            <p:nvPr/>
          </p:nvSpPr>
          <p:spPr bwMode="auto">
            <a:xfrm>
              <a:off x="1698" y="1933"/>
              <a:ext cx="13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4" name="Line 70"/>
            <p:cNvSpPr>
              <a:spLocks noChangeShapeType="1"/>
            </p:cNvSpPr>
            <p:nvPr/>
          </p:nvSpPr>
          <p:spPr bwMode="auto">
            <a:xfrm flipV="1">
              <a:off x="3013" y="1574"/>
              <a:ext cx="1" cy="3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5" name="Line 71"/>
            <p:cNvSpPr>
              <a:spLocks noChangeShapeType="1"/>
            </p:cNvSpPr>
            <p:nvPr/>
          </p:nvSpPr>
          <p:spPr bwMode="auto">
            <a:xfrm flipV="1">
              <a:off x="1698" y="1574"/>
              <a:ext cx="1" cy="3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6" name="Rectangle 72"/>
            <p:cNvSpPr>
              <a:spLocks noChangeArrowheads="1"/>
            </p:cNvSpPr>
            <p:nvPr/>
          </p:nvSpPr>
          <p:spPr bwMode="auto">
            <a:xfrm>
              <a:off x="2142" y="1609"/>
              <a:ext cx="53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Unit Ramp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17" name="Line 73"/>
            <p:cNvSpPr>
              <a:spLocks noChangeShapeType="1"/>
            </p:cNvSpPr>
            <p:nvPr/>
          </p:nvSpPr>
          <p:spPr bwMode="auto">
            <a:xfrm>
              <a:off x="1767" y="1668"/>
              <a:ext cx="341" cy="1"/>
            </a:xfrm>
            <a:prstGeom prst="line">
              <a:avLst/>
            </a:prstGeom>
            <a:noFill/>
            <a:ln w="26988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6618" name="Rectangle 74"/>
            <p:cNvSpPr>
              <a:spLocks noChangeArrowheads="1"/>
            </p:cNvSpPr>
            <p:nvPr/>
          </p:nvSpPr>
          <p:spPr bwMode="auto">
            <a:xfrm>
              <a:off x="2142" y="1771"/>
              <a:ext cx="87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Ramp Response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619" name="Line 75"/>
            <p:cNvSpPr>
              <a:spLocks noChangeShapeType="1"/>
            </p:cNvSpPr>
            <p:nvPr/>
          </p:nvSpPr>
          <p:spPr bwMode="auto">
            <a:xfrm>
              <a:off x="1767" y="1831"/>
              <a:ext cx="341" cy="1"/>
            </a:xfrm>
            <a:prstGeom prst="line">
              <a:avLst/>
            </a:prstGeom>
            <a:noFill/>
            <a:ln w="26988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GB" dirty="0"/>
              <a:t>Ramp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05273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If </a:t>
            </a:r>
            <a:r>
              <a:rPr lang="en-GB" sz="2400" dirty="0">
                <a:solidFill>
                  <a:srgbClr val="FF0000"/>
                </a:solidFill>
              </a:rPr>
              <a:t>K=1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FF0000"/>
                </a:solidFill>
              </a:rPr>
              <a:t>T=3</a:t>
            </a:r>
          </a:p>
        </p:txBody>
      </p:sp>
      <p:graphicFrame>
        <p:nvGraphicFramePr>
          <p:cNvPr id="226312" name="Object 8"/>
          <p:cNvGraphicFramePr>
            <a:graphicFrameLocks noChangeAspect="1"/>
          </p:cNvGraphicFramePr>
          <p:nvPr/>
        </p:nvGraphicFramePr>
        <p:xfrm>
          <a:off x="5635625" y="1257300"/>
          <a:ext cx="3111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215640" progId="Equation.3">
                  <p:embed/>
                </p:oleObj>
              </mc:Choice>
              <mc:Fallback>
                <p:oleObj name="Equation" r:id="rId2" imgW="12445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1257300"/>
                        <a:ext cx="3111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139952" y="4005064"/>
            <a:ext cx="900000" cy="1764000"/>
            <a:chOff x="4139952" y="4005064"/>
            <a:chExt cx="900000" cy="1764000"/>
          </a:xfrm>
        </p:grpSpPr>
        <p:cxnSp>
          <p:nvCxnSpPr>
            <p:cNvPr id="19" name="Straight Connector 18"/>
            <p:cNvCxnSpPr/>
            <p:nvPr/>
          </p:nvCxnSpPr>
          <p:spPr>
            <a:xfrm flipH="1">
              <a:off x="4139952" y="4005064"/>
              <a:ext cx="900000" cy="0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283968" y="4941168"/>
              <a:ext cx="658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error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4139952" y="4005064"/>
              <a:ext cx="0" cy="176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004048" y="4005064"/>
              <a:ext cx="0" cy="176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904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GB" dirty="0"/>
              <a:t>Parabolic Response of 1</a:t>
            </a:r>
            <a:r>
              <a:rPr lang="en-GB" baseline="30000" dirty="0"/>
              <a:t>st</a:t>
            </a:r>
            <a:r>
              <a:rPr lang="en-GB" dirty="0"/>
              <a:t> Order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08720"/>
            <a:ext cx="8568952" cy="720080"/>
          </a:xfrm>
        </p:spPr>
        <p:txBody>
          <a:bodyPr>
            <a:normAutofit/>
          </a:bodyPr>
          <a:lstStyle/>
          <a:p>
            <a:r>
              <a:rPr lang="en-GB" sz="2400" dirty="0"/>
              <a:t>Consider the following 1</a:t>
            </a:r>
            <a:r>
              <a:rPr lang="en-GB" sz="2400" baseline="30000" dirty="0"/>
              <a:t>st</a:t>
            </a:r>
            <a:r>
              <a:rPr lang="en-GB" sz="2400" dirty="0"/>
              <a:t> order system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grpSp>
        <p:nvGrpSpPr>
          <p:cNvPr id="4" name="Group 23"/>
          <p:cNvGrpSpPr/>
          <p:nvPr/>
        </p:nvGrpSpPr>
        <p:grpSpPr>
          <a:xfrm>
            <a:off x="1691680" y="1556792"/>
            <a:ext cx="5962166" cy="1008732"/>
            <a:chOff x="1691680" y="2060848"/>
            <a:chExt cx="5962166" cy="1008732"/>
          </a:xfrm>
        </p:grpSpPr>
        <p:grpSp>
          <p:nvGrpSpPr>
            <p:cNvPr id="5" name="Group 7"/>
            <p:cNvGrpSpPr/>
            <p:nvPr/>
          </p:nvGrpSpPr>
          <p:grpSpPr>
            <a:xfrm>
              <a:off x="3851920" y="2060848"/>
              <a:ext cx="1584176" cy="1008732"/>
              <a:chOff x="3635896" y="4508500"/>
              <a:chExt cx="1584176" cy="100873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635896" y="4509120"/>
                <a:ext cx="1584176" cy="100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12996" name="Object 4"/>
              <p:cNvGraphicFramePr>
                <a:graphicFrameLocks noChangeAspect="1"/>
              </p:cNvGraphicFramePr>
              <p:nvPr/>
            </p:nvGraphicFramePr>
            <p:xfrm>
              <a:off x="3967163" y="4508500"/>
              <a:ext cx="958850" cy="958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55320" imgH="355320" progId="Equation.3">
                      <p:embed/>
                    </p:oleObj>
                  </mc:Choice>
                  <mc:Fallback>
                    <p:oleObj name="Equation" r:id="rId2" imgW="355320" imgH="3553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163" y="4508500"/>
                            <a:ext cx="958850" cy="958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0" name="Straight Arrow Connector 9"/>
            <p:cNvCxnSpPr/>
            <p:nvPr/>
          </p:nvCxnSpPr>
          <p:spPr>
            <a:xfrm>
              <a:off x="2411760" y="2541376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436096" y="2551256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2997" name="Object 5"/>
            <p:cNvGraphicFramePr>
              <a:graphicFrameLocks noChangeAspect="1"/>
            </p:cNvGraphicFramePr>
            <p:nvPr/>
          </p:nvGraphicFramePr>
          <p:xfrm>
            <a:off x="6899784" y="2276872"/>
            <a:ext cx="75406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360" imgH="177480" progId="Equation.3">
                    <p:embed/>
                  </p:oleObj>
                </mc:Choice>
                <mc:Fallback>
                  <p:oleObj name="Equation" r:id="rId4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9784" y="2276872"/>
                          <a:ext cx="75406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2998" name="Object 6"/>
            <p:cNvGraphicFramePr>
              <a:graphicFrameLocks noChangeAspect="1"/>
            </p:cNvGraphicFramePr>
            <p:nvPr/>
          </p:nvGraphicFramePr>
          <p:xfrm>
            <a:off x="1691680" y="2297735"/>
            <a:ext cx="75406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177480" progId="Equation.3">
                    <p:embed/>
                  </p:oleObj>
                </mc:Choice>
                <mc:Fallback>
                  <p:oleObj name="Equation" r:id="rId6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2297735"/>
                          <a:ext cx="754063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1619672" y="3048372"/>
          <a:ext cx="15081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368280" progId="Equation.3">
                  <p:embed/>
                </p:oleObj>
              </mc:Choice>
              <mc:Fallback>
                <p:oleObj name="Equation" r:id="rId8" imgW="5587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048372"/>
                        <a:ext cx="150812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4572000" y="3048372"/>
          <a:ext cx="25003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380880" progId="Equation.3">
                  <p:embed/>
                </p:oleObj>
              </mc:Choice>
              <mc:Fallback>
                <p:oleObj name="Equation" r:id="rId10" imgW="9270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048372"/>
                        <a:ext cx="2500312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179512" y="429309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Do it yourself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5856" y="3336404"/>
            <a:ext cx="1162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Therefore,</a:t>
            </a:r>
          </a:p>
        </p:txBody>
      </p:sp>
    </p:spTree>
    <p:extLst>
      <p:ext uri="{BB962C8B-B14F-4D97-AF65-F5344CB8AC3E}">
        <p14:creationId xmlns:p14="http://schemas.microsoft.com/office/powerpoint/2010/main" val="82113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Practical Determination of Transfer Function of 1</a:t>
            </a:r>
            <a:r>
              <a:rPr lang="en-GB" baseline="30000" dirty="0"/>
              <a:t>st</a:t>
            </a:r>
            <a:r>
              <a:rPr lang="en-GB" dirty="0"/>
              <a:t> Order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GB" sz="2400" dirty="0"/>
              <a:t>Often it is not possible or practical to obtain a system's transfer function analytically.</a:t>
            </a:r>
          </a:p>
          <a:p>
            <a:pPr algn="just"/>
            <a:endParaRPr lang="en-GB" sz="1000" dirty="0"/>
          </a:p>
          <a:p>
            <a:pPr algn="just"/>
            <a:r>
              <a:rPr lang="en-GB" sz="2400" dirty="0"/>
              <a:t>Perhaps the system is closed, and the component parts are not easily identifiable.</a:t>
            </a:r>
          </a:p>
          <a:p>
            <a:pPr algn="just"/>
            <a:endParaRPr lang="en-GB" sz="1000" dirty="0"/>
          </a:p>
          <a:p>
            <a:pPr algn="just"/>
            <a:r>
              <a:rPr lang="en-GB" sz="2400" dirty="0"/>
              <a:t>The system's step response can lead to a representation even though the inner construction is not known. </a:t>
            </a:r>
          </a:p>
          <a:p>
            <a:pPr algn="just"/>
            <a:endParaRPr lang="en-GB" sz="1000" dirty="0"/>
          </a:p>
          <a:p>
            <a:pPr algn="just"/>
            <a:r>
              <a:rPr lang="en-GB" sz="2400" dirty="0"/>
              <a:t>With a step input, we can measure the time constant and the steady-state value, from which the transfer function can be calculated.</a:t>
            </a:r>
          </a:p>
        </p:txBody>
      </p:sp>
    </p:spTree>
    <p:extLst>
      <p:ext uri="{BB962C8B-B14F-4D97-AF65-F5344CB8AC3E}">
        <p14:creationId xmlns:p14="http://schemas.microsoft.com/office/powerpoint/2010/main" val="2988651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Autofit/>
          </a:bodyPr>
          <a:lstStyle/>
          <a:p>
            <a:r>
              <a:rPr lang="en-GB" sz="4000" dirty="0"/>
              <a:t>Practical Determination of Transfer Function of 1</a:t>
            </a:r>
            <a:r>
              <a:rPr lang="en-GB" sz="4000" baseline="30000" dirty="0"/>
              <a:t>st</a:t>
            </a:r>
            <a:r>
              <a:rPr lang="en-GB" sz="4000" dirty="0"/>
              <a:t> Order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711349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GB" sz="2600" dirty="0"/>
              <a:t>If we can identify </a:t>
            </a:r>
            <a:r>
              <a:rPr lang="en-GB" sz="2600" i="1" dirty="0">
                <a:solidFill>
                  <a:srgbClr val="FF0000"/>
                </a:solidFill>
              </a:rPr>
              <a:t>T</a:t>
            </a:r>
            <a:r>
              <a:rPr lang="en-GB" sz="2600" dirty="0"/>
              <a:t> and </a:t>
            </a:r>
            <a:r>
              <a:rPr lang="en-GB" sz="2600" i="1" dirty="0">
                <a:solidFill>
                  <a:srgbClr val="FF0000"/>
                </a:solidFill>
              </a:rPr>
              <a:t>K</a:t>
            </a:r>
            <a:r>
              <a:rPr lang="en-GB" sz="2600" dirty="0"/>
              <a:t> from laboratory testing we can obtain the transfer function of the system.</a:t>
            </a:r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</p:txBody>
      </p:sp>
      <p:graphicFrame>
        <p:nvGraphicFramePr>
          <p:cNvPr id="239618" name="Object 2"/>
          <p:cNvGraphicFramePr>
            <a:graphicFrameLocks noChangeAspect="1"/>
          </p:cNvGraphicFramePr>
          <p:nvPr/>
        </p:nvGraphicFramePr>
        <p:xfrm>
          <a:off x="3131840" y="3212976"/>
          <a:ext cx="2466124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55320" progId="Equation.3">
                  <p:embed/>
                </p:oleObj>
              </mc:Choice>
              <mc:Fallback>
                <p:oleObj name="Equation" r:id="rId2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212976"/>
                        <a:ext cx="2466124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178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en-GB" sz="3400" dirty="0"/>
              <a:t>Practical Determination of Transfer Function of 1</a:t>
            </a:r>
            <a:r>
              <a:rPr lang="en-GB" sz="3400" baseline="30000" dirty="0"/>
              <a:t>st</a:t>
            </a:r>
            <a:r>
              <a:rPr lang="en-GB" sz="3400" dirty="0"/>
              <a:t> Order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340769"/>
            <a:ext cx="4608512" cy="1224136"/>
          </a:xfrm>
        </p:spPr>
        <p:txBody>
          <a:bodyPr>
            <a:noAutofit/>
          </a:bodyPr>
          <a:lstStyle/>
          <a:p>
            <a:pPr algn="just"/>
            <a:r>
              <a:rPr lang="en-GB" sz="2400" dirty="0"/>
              <a:t>For example, assume the unit step response given in figure.</a:t>
            </a:r>
          </a:p>
        </p:txBody>
      </p:sp>
      <p:pic>
        <p:nvPicPr>
          <p:cNvPr id="2406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340768"/>
            <a:ext cx="41529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-36512" y="2060848"/>
            <a:ext cx="4608512" cy="1872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From the response, we can measure the time constant, that is, the time for the amplitude to reach 63% of its final value.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-36512" y="3861048"/>
            <a:ext cx="4608512" cy="18616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Since the final value is about 0.72 the time constant is evaluated where the curve reaches 0.63 x 0.72 = 0.45, or about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0.13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second.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14"/>
          <p:cNvGrpSpPr/>
          <p:nvPr/>
        </p:nvGrpSpPr>
        <p:grpSpPr>
          <a:xfrm>
            <a:off x="5233720" y="2808224"/>
            <a:ext cx="1545251" cy="1529416"/>
            <a:chOff x="5233720" y="3487360"/>
            <a:chExt cx="1545251" cy="1529416"/>
          </a:xfrm>
        </p:grpSpPr>
        <p:grpSp>
          <p:nvGrpSpPr>
            <p:cNvPr id="5" name="Group 12"/>
            <p:cNvGrpSpPr/>
            <p:nvPr/>
          </p:nvGrpSpPr>
          <p:grpSpPr>
            <a:xfrm>
              <a:off x="5233720" y="3487360"/>
              <a:ext cx="656768" cy="1529416"/>
              <a:chOff x="5233720" y="3487360"/>
              <a:chExt cx="656768" cy="1529416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V="1">
                <a:off x="5837080" y="3504776"/>
                <a:ext cx="0" cy="1512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233720" y="3528304"/>
                <a:ext cx="64807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5782488" y="3487360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5868144" y="4499828"/>
              <a:ext cx="9108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T=</a:t>
              </a:r>
              <a:r>
                <a:rPr lang="en-GB" b="1" dirty="0" err="1">
                  <a:solidFill>
                    <a:srgbClr val="FF0000"/>
                  </a:solidFill>
                </a:rPr>
                <a:t>0.13s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-36512" y="1916832"/>
            <a:ext cx="8687563" cy="5760640"/>
            <a:chOff x="-36512" y="1916832"/>
            <a:chExt cx="8687563" cy="5760640"/>
          </a:xfrm>
        </p:grpSpPr>
        <p:sp>
          <p:nvSpPr>
            <p:cNvPr id="13" name="Rectangle 12"/>
            <p:cNvSpPr/>
            <p:nvPr/>
          </p:nvSpPr>
          <p:spPr>
            <a:xfrm>
              <a:off x="7812360" y="1916832"/>
              <a:ext cx="8386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K=0.72</a:t>
              </a:r>
            </a:p>
          </p:txBody>
        </p:sp>
        <p:sp>
          <p:nvSpPr>
            <p:cNvPr id="15" name="Content Placeholder 2"/>
            <p:cNvSpPr txBox="1">
              <a:spLocks/>
            </p:cNvSpPr>
            <p:nvPr/>
          </p:nvSpPr>
          <p:spPr>
            <a:xfrm>
              <a:off x="-36512" y="5815805"/>
              <a:ext cx="4608512" cy="186166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42900" marR="0" lvl="0" indent="-34290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K is simply steady state value.</a:t>
              </a:r>
            </a:p>
          </p:txBody>
        </p:sp>
      </p:grpSp>
      <p:sp>
        <p:nvSpPr>
          <p:cNvPr id="17" name="Content Placeholder 2"/>
          <p:cNvSpPr txBox="1">
            <a:spLocks/>
          </p:cNvSpPr>
          <p:nvPr/>
        </p:nvSpPr>
        <p:spPr>
          <a:xfrm>
            <a:off x="4788024" y="4869160"/>
            <a:ext cx="4104456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Thus transfer function is obtained as:</a:t>
            </a:r>
          </a:p>
        </p:txBody>
      </p:sp>
      <p:graphicFrame>
        <p:nvGraphicFramePr>
          <p:cNvPr id="241666" name="Object 2"/>
          <p:cNvGraphicFramePr>
            <a:graphicFrameLocks noChangeAspect="1"/>
          </p:cNvGraphicFramePr>
          <p:nvPr/>
        </p:nvGraphicFramePr>
        <p:xfrm>
          <a:off x="5220072" y="5805264"/>
          <a:ext cx="32543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355320" progId="Equation.3">
                  <p:embed/>
                </p:oleObj>
              </mc:Choice>
              <mc:Fallback>
                <p:oleObj name="Equation" r:id="rId4" imgW="14223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805264"/>
                        <a:ext cx="3254375" cy="81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086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/>
          </a:bodyPr>
          <a:lstStyle/>
          <a:p>
            <a:r>
              <a:rPr lang="en-GB" sz="3800" dirty="0"/>
              <a:t>1</a:t>
            </a:r>
            <a:r>
              <a:rPr lang="en-GB" sz="3800" baseline="30000" dirty="0"/>
              <a:t>st</a:t>
            </a:r>
            <a:r>
              <a:rPr lang="en-GB" sz="3800" dirty="0"/>
              <a:t> Order System with a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204864"/>
            <a:ext cx="8229600" cy="648072"/>
          </a:xfrm>
        </p:spPr>
        <p:txBody>
          <a:bodyPr>
            <a:normAutofit/>
          </a:bodyPr>
          <a:lstStyle/>
          <a:p>
            <a:r>
              <a:rPr lang="en-GB" sz="2800" dirty="0"/>
              <a:t>Zero of the system lie at </a:t>
            </a:r>
            <a:r>
              <a:rPr lang="en-GB" sz="2800" i="1" dirty="0">
                <a:solidFill>
                  <a:srgbClr val="FF0000"/>
                </a:solidFill>
              </a:rPr>
              <a:t>-1/</a:t>
            </a:r>
            <a:r>
              <a:rPr lang="el-GR" sz="2800" i="1" dirty="0">
                <a:solidFill>
                  <a:srgbClr val="FF0000"/>
                </a:solidFill>
              </a:rPr>
              <a:t>α</a:t>
            </a:r>
            <a:r>
              <a:rPr lang="en-GB" sz="2800" i="1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and pole at </a:t>
            </a:r>
            <a:r>
              <a:rPr lang="en-GB" sz="2800" i="1" dirty="0">
                <a:solidFill>
                  <a:srgbClr val="FF0000"/>
                </a:solidFill>
              </a:rPr>
              <a:t>-1/T</a:t>
            </a:r>
            <a:r>
              <a:rPr lang="en-GB" sz="2800" dirty="0"/>
              <a:t>.</a:t>
            </a:r>
          </a:p>
        </p:txBody>
      </p:sp>
      <p:graphicFrame>
        <p:nvGraphicFramePr>
          <p:cNvPr id="242690" name="Object 2"/>
          <p:cNvGraphicFramePr>
            <a:graphicFrameLocks noChangeAspect="1"/>
          </p:cNvGraphicFramePr>
          <p:nvPr/>
        </p:nvGraphicFramePr>
        <p:xfrm>
          <a:off x="3131840" y="1124744"/>
          <a:ext cx="2722885" cy="101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355320" progId="Equation.3">
                  <p:embed/>
                </p:oleObj>
              </mc:Choice>
              <mc:Fallback>
                <p:oleObj name="Equation" r:id="rId2" imgW="9522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124744"/>
                        <a:ext cx="2722885" cy="10179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1" name="Object 3"/>
          <p:cNvGraphicFramePr>
            <a:graphicFrameLocks noChangeAspect="1"/>
          </p:cNvGraphicFramePr>
          <p:nvPr/>
        </p:nvGraphicFramePr>
        <p:xfrm>
          <a:off x="3203848" y="3501008"/>
          <a:ext cx="2640335" cy="105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368280" progId="Equation.3">
                  <p:embed/>
                </p:oleObj>
              </mc:Choice>
              <mc:Fallback>
                <p:oleObj name="Equation" r:id="rId4" imgW="9270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501008"/>
                        <a:ext cx="2640335" cy="10505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86816" y="292494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Step response of the system would be: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42692" name="Object 4"/>
          <p:cNvGraphicFramePr>
            <a:graphicFrameLocks noChangeAspect="1"/>
          </p:cNvGraphicFramePr>
          <p:nvPr/>
        </p:nvGraphicFramePr>
        <p:xfrm>
          <a:off x="3131840" y="4725144"/>
          <a:ext cx="3174628" cy="99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368280" progId="Equation.3">
                  <p:embed/>
                </p:oleObj>
              </mc:Choice>
              <mc:Fallback>
                <p:oleObj name="Equation" r:id="rId6" imgW="11808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725144"/>
                        <a:ext cx="3174628" cy="99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3" name="Object 5"/>
          <p:cNvGraphicFramePr>
            <a:graphicFrameLocks noChangeAspect="1"/>
          </p:cNvGraphicFramePr>
          <p:nvPr/>
        </p:nvGraphicFramePr>
        <p:xfrm>
          <a:off x="3003550" y="5745435"/>
          <a:ext cx="37211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342720" progId="Equation.3">
                  <p:embed/>
                </p:oleObj>
              </mc:Choice>
              <mc:Fallback>
                <p:oleObj name="Equation" r:id="rId8" imgW="13842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5745435"/>
                        <a:ext cx="372110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4" name="Object 6"/>
          <p:cNvGraphicFramePr>
            <a:graphicFrameLocks noChangeAspect="1"/>
          </p:cNvGraphicFramePr>
          <p:nvPr/>
        </p:nvGraphicFramePr>
        <p:xfrm>
          <a:off x="0" y="6021288"/>
          <a:ext cx="26368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215640" progId="Equation.3">
                  <p:embed/>
                </p:oleObj>
              </mc:Choice>
              <mc:Fallback>
                <p:oleObj name="Equation" r:id="rId10" imgW="977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21288"/>
                        <a:ext cx="2636838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46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/>
          </a:bodyPr>
          <a:lstStyle/>
          <a:p>
            <a:r>
              <a:rPr lang="en-GB" sz="3800" dirty="0"/>
              <a:t>1</a:t>
            </a:r>
            <a:r>
              <a:rPr lang="en-GB" sz="3800" baseline="30000" dirty="0"/>
              <a:t>st</a:t>
            </a:r>
            <a:r>
              <a:rPr lang="en-GB" sz="3800" dirty="0"/>
              <a:t> Order System with &amp; W/O Zero</a:t>
            </a:r>
          </a:p>
        </p:txBody>
      </p:sp>
      <p:graphicFrame>
        <p:nvGraphicFramePr>
          <p:cNvPr id="242690" name="Object 2"/>
          <p:cNvGraphicFramePr>
            <a:graphicFrameLocks noChangeAspect="1"/>
          </p:cNvGraphicFramePr>
          <p:nvPr/>
        </p:nvGraphicFramePr>
        <p:xfrm>
          <a:off x="4932040" y="1340768"/>
          <a:ext cx="2722885" cy="101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355320" progId="Equation.3">
                  <p:embed/>
                </p:oleObj>
              </mc:Choice>
              <mc:Fallback>
                <p:oleObj name="Equation" r:id="rId2" imgW="9522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340768"/>
                        <a:ext cx="2722885" cy="10179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3" name="Object 5"/>
          <p:cNvGraphicFramePr>
            <a:graphicFrameLocks noChangeAspect="1"/>
          </p:cNvGraphicFramePr>
          <p:nvPr/>
        </p:nvGraphicFramePr>
        <p:xfrm>
          <a:off x="4644008" y="2492896"/>
          <a:ext cx="37211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342720" progId="Equation.3">
                  <p:embed/>
                </p:oleObj>
              </mc:Choice>
              <mc:Fallback>
                <p:oleObj name="Equation" r:id="rId4" imgW="13842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492896"/>
                        <a:ext cx="372110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4" name="Object 6"/>
          <p:cNvGraphicFramePr>
            <a:graphicFrameLocks noChangeAspect="1"/>
          </p:cNvGraphicFramePr>
          <p:nvPr/>
        </p:nvGraphicFramePr>
        <p:xfrm>
          <a:off x="827584" y="2708920"/>
          <a:ext cx="26368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15640" progId="Equation.3">
                  <p:embed/>
                </p:oleObj>
              </mc:Choice>
              <mc:Fallback>
                <p:oleObj name="Equation" r:id="rId6" imgW="977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708920"/>
                        <a:ext cx="2636838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9" name="Object 7"/>
          <p:cNvGraphicFramePr>
            <a:graphicFrameLocks noChangeAspect="1"/>
          </p:cNvGraphicFramePr>
          <p:nvPr/>
        </p:nvGraphicFramePr>
        <p:xfrm>
          <a:off x="1259632" y="1340768"/>
          <a:ext cx="2105347" cy="9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355320" progId="Equation.3">
                  <p:embed/>
                </p:oleObj>
              </mc:Choice>
              <mc:Fallback>
                <p:oleObj name="Equation" r:id="rId8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340768"/>
                        <a:ext cx="2105347" cy="98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520" y="3717032"/>
            <a:ext cx="4396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GB" sz="2400" dirty="0"/>
              <a:t>If </a:t>
            </a:r>
            <a:r>
              <a:rPr lang="en-GB" sz="2400" i="1" dirty="0">
                <a:solidFill>
                  <a:srgbClr val="FF0000"/>
                </a:solidFill>
              </a:rPr>
              <a:t>T&gt;</a:t>
            </a:r>
            <a:r>
              <a:rPr lang="el-GR" sz="2400" i="1" dirty="0">
                <a:solidFill>
                  <a:srgbClr val="FF0000"/>
                </a:solidFill>
              </a:rPr>
              <a:t>α</a:t>
            </a:r>
            <a:r>
              <a:rPr lang="en-GB" sz="2400" dirty="0"/>
              <a:t> the response will be same</a:t>
            </a:r>
          </a:p>
        </p:txBody>
      </p:sp>
      <p:graphicFrame>
        <p:nvGraphicFramePr>
          <p:cNvPr id="243720" name="Object 5"/>
          <p:cNvGraphicFramePr>
            <a:graphicFrameLocks noChangeAspect="1"/>
          </p:cNvGraphicFramePr>
          <p:nvPr/>
        </p:nvGraphicFramePr>
        <p:xfrm>
          <a:off x="3048000" y="4292600"/>
          <a:ext cx="331152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560" imgH="342720" progId="Equation.3">
                  <p:embed/>
                </p:oleObj>
              </mc:Choice>
              <mc:Fallback>
                <p:oleObj name="Equation" r:id="rId10" imgW="12315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292600"/>
                        <a:ext cx="3311525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1" name="Object 5"/>
          <p:cNvGraphicFramePr>
            <a:graphicFrameLocks noChangeAspect="1"/>
          </p:cNvGraphicFramePr>
          <p:nvPr/>
        </p:nvGraphicFramePr>
        <p:xfrm>
          <a:off x="3059832" y="5392886"/>
          <a:ext cx="33115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393480" progId="Equation.3">
                  <p:embed/>
                </p:oleObj>
              </mc:Choice>
              <mc:Fallback>
                <p:oleObj name="Equation" r:id="rId12" imgW="1231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392886"/>
                        <a:ext cx="3311525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61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4096"/>
          </a:xfrm>
        </p:spPr>
        <p:txBody>
          <a:bodyPr>
            <a:normAutofit/>
          </a:bodyPr>
          <a:lstStyle/>
          <a:p>
            <a:r>
              <a:rPr lang="en-GB" sz="3800" dirty="0"/>
              <a:t>1</a:t>
            </a:r>
            <a:r>
              <a:rPr lang="en-GB" sz="3800" baseline="30000" dirty="0"/>
              <a:t>st</a:t>
            </a:r>
            <a:r>
              <a:rPr lang="en-GB" sz="3800" dirty="0"/>
              <a:t> Order System with &amp; W/O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512" y="980728"/>
            <a:ext cx="6577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GB" sz="2400" dirty="0"/>
              <a:t>If </a:t>
            </a:r>
            <a:r>
              <a:rPr lang="en-GB" sz="2400" i="1" dirty="0">
                <a:solidFill>
                  <a:srgbClr val="FF0000"/>
                </a:solidFill>
              </a:rPr>
              <a:t>T&gt;</a:t>
            </a:r>
            <a:r>
              <a:rPr lang="el-GR" sz="2400" i="1" dirty="0">
                <a:solidFill>
                  <a:srgbClr val="FF0000"/>
                </a:solidFill>
              </a:rPr>
              <a:t>α</a:t>
            </a:r>
            <a:r>
              <a:rPr lang="en-GB" sz="2400" dirty="0"/>
              <a:t> the response of the system would look like</a:t>
            </a:r>
          </a:p>
        </p:txBody>
      </p:sp>
      <p:pic>
        <p:nvPicPr>
          <p:cNvPr id="244745" name="Picture 9"/>
          <p:cNvPicPr>
            <a:picLocks noChangeAspect="1" noChangeArrowheads="1"/>
          </p:cNvPicPr>
          <p:nvPr/>
        </p:nvPicPr>
        <p:blipFill>
          <a:blip r:embed="rId2" cstate="print"/>
          <a:srcRect l="1347" r="7068"/>
          <a:stretch>
            <a:fillRect/>
          </a:stretch>
        </p:blipFill>
        <p:spPr bwMode="auto">
          <a:xfrm>
            <a:off x="3155298" y="1700808"/>
            <a:ext cx="5881198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44746" name="Object 2"/>
          <p:cNvGraphicFramePr>
            <a:graphicFrameLocks noChangeAspect="1"/>
          </p:cNvGraphicFramePr>
          <p:nvPr/>
        </p:nvGraphicFramePr>
        <p:xfrm>
          <a:off x="395536" y="2583048"/>
          <a:ext cx="2098463" cy="773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355320" progId="Equation.3">
                  <p:embed/>
                </p:oleObj>
              </mc:Choice>
              <mc:Fallback>
                <p:oleObj name="Equation" r:id="rId3" imgW="9651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583048"/>
                        <a:ext cx="2098463" cy="7739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7" name="Object 5"/>
          <p:cNvGraphicFramePr>
            <a:graphicFrameLocks noChangeAspect="1"/>
          </p:cNvGraphicFramePr>
          <p:nvPr/>
        </p:nvGraphicFramePr>
        <p:xfrm>
          <a:off x="179512" y="4691972"/>
          <a:ext cx="3113856" cy="82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46040" imgH="355320" progId="Equation.3">
                  <p:embed/>
                </p:oleObj>
              </mc:Choice>
              <mc:Fallback>
                <p:oleObj name="Equation" r:id="rId5" imgW="13460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691972"/>
                        <a:ext cx="3113856" cy="825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15899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4096"/>
          </a:xfrm>
        </p:spPr>
        <p:txBody>
          <a:bodyPr>
            <a:normAutofit/>
          </a:bodyPr>
          <a:lstStyle/>
          <a:p>
            <a:r>
              <a:rPr lang="en-GB" sz="3800" dirty="0"/>
              <a:t>1</a:t>
            </a:r>
            <a:r>
              <a:rPr lang="en-GB" sz="3800" baseline="30000" dirty="0"/>
              <a:t>st</a:t>
            </a:r>
            <a:r>
              <a:rPr lang="en-GB" sz="3800" dirty="0"/>
              <a:t> Order System with &amp; W/O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512" y="980728"/>
            <a:ext cx="6577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GB" sz="2400" dirty="0"/>
              <a:t>If </a:t>
            </a:r>
            <a:r>
              <a:rPr lang="en-GB" sz="2400" i="1" dirty="0">
                <a:solidFill>
                  <a:srgbClr val="FF0000"/>
                </a:solidFill>
              </a:rPr>
              <a:t>T&lt;</a:t>
            </a:r>
            <a:r>
              <a:rPr lang="el-GR" sz="2400" i="1" dirty="0">
                <a:solidFill>
                  <a:srgbClr val="FF0000"/>
                </a:solidFill>
              </a:rPr>
              <a:t>α</a:t>
            </a:r>
            <a:r>
              <a:rPr lang="en-GB" sz="2400" dirty="0"/>
              <a:t> the response of the system would look like</a:t>
            </a:r>
          </a:p>
        </p:txBody>
      </p:sp>
      <p:graphicFrame>
        <p:nvGraphicFramePr>
          <p:cNvPr id="244746" name="Object 2"/>
          <p:cNvGraphicFramePr>
            <a:graphicFrameLocks noChangeAspect="1"/>
          </p:cNvGraphicFramePr>
          <p:nvPr/>
        </p:nvGraphicFramePr>
        <p:xfrm>
          <a:off x="467544" y="2727064"/>
          <a:ext cx="2098463" cy="773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355320" progId="Equation.3">
                  <p:embed/>
                </p:oleObj>
              </mc:Choice>
              <mc:Fallback>
                <p:oleObj name="Equation" r:id="rId2" imgW="9651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727064"/>
                        <a:ext cx="2098463" cy="7739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7" name="Object 5"/>
          <p:cNvGraphicFramePr>
            <a:graphicFrameLocks noChangeAspect="1"/>
          </p:cNvGraphicFramePr>
          <p:nvPr/>
        </p:nvGraphicFramePr>
        <p:xfrm>
          <a:off x="323528" y="4654334"/>
          <a:ext cx="3157860" cy="79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355320" progId="Equation.3">
                  <p:embed/>
                </p:oleObj>
              </mc:Choice>
              <mc:Fallback>
                <p:oleObj name="Equation" r:id="rId4" imgW="14223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654334"/>
                        <a:ext cx="3157860" cy="7908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764" name="Picture 4"/>
          <p:cNvPicPr>
            <a:picLocks noChangeAspect="1" noChangeArrowheads="1"/>
          </p:cNvPicPr>
          <p:nvPr/>
        </p:nvPicPr>
        <p:blipFill>
          <a:blip r:embed="rId6" cstate="print"/>
          <a:srcRect l="4622" r="8175"/>
          <a:stretch>
            <a:fillRect/>
          </a:stretch>
        </p:blipFill>
        <p:spPr bwMode="auto">
          <a:xfrm>
            <a:off x="3851920" y="1772816"/>
            <a:ext cx="5148064" cy="456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11478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GB" sz="3400" dirty="0"/>
              <a:t>1</a:t>
            </a:r>
            <a:r>
              <a:rPr lang="en-GB" sz="3400" baseline="30000" dirty="0"/>
              <a:t>st</a:t>
            </a:r>
            <a:r>
              <a:rPr lang="en-GB" sz="3400" dirty="0"/>
              <a:t> Order System with a Zero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27584" y="908720"/>
            <a:ext cx="7452320" cy="5958407"/>
            <a:chOff x="827584" y="908720"/>
            <a:chExt cx="7452320" cy="5958407"/>
          </a:xfrm>
        </p:grpSpPr>
        <p:pic>
          <p:nvPicPr>
            <p:cNvPr id="24678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4311" r="7320"/>
            <a:stretch>
              <a:fillRect/>
            </a:stretch>
          </p:blipFill>
          <p:spPr bwMode="auto">
            <a:xfrm>
              <a:off x="827584" y="908720"/>
              <a:ext cx="7452320" cy="5958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246789" name="Object 5"/>
            <p:cNvGraphicFramePr>
              <a:graphicFrameLocks noChangeAspect="1"/>
            </p:cNvGraphicFramePr>
            <p:nvPr/>
          </p:nvGraphicFramePr>
          <p:xfrm>
            <a:off x="4067944" y="3284984"/>
            <a:ext cx="87947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55320" imgH="152280" progId="Equation.3">
                    <p:embed/>
                  </p:oleObj>
                </mc:Choice>
                <mc:Fallback>
                  <p:oleObj name="Equation" r:id="rId3" imgW="35532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3284984"/>
                          <a:ext cx="87947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790" name="Object 5"/>
            <p:cNvGraphicFramePr>
              <a:graphicFrameLocks noChangeAspect="1"/>
            </p:cNvGraphicFramePr>
            <p:nvPr/>
          </p:nvGraphicFramePr>
          <p:xfrm>
            <a:off x="4067944" y="4149080"/>
            <a:ext cx="87947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55320" imgH="152280" progId="Equation.3">
                    <p:embed/>
                  </p:oleObj>
                </mc:Choice>
                <mc:Fallback>
                  <p:oleObj name="Equation" r:id="rId5" imgW="35532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4149080"/>
                          <a:ext cx="87947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958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0080"/>
          </a:xfrm>
        </p:spPr>
        <p:txBody>
          <a:bodyPr>
            <a:normAutofit/>
          </a:bodyPr>
          <a:lstStyle/>
          <a:p>
            <a:r>
              <a:rPr lang="en-GB" sz="3400" dirty="0"/>
              <a:t>1</a:t>
            </a:r>
            <a:r>
              <a:rPr lang="en-GB" sz="3400" baseline="30000" dirty="0"/>
              <a:t>st</a:t>
            </a:r>
            <a:r>
              <a:rPr lang="en-GB" sz="3400" dirty="0"/>
              <a:t> Order System with &amp; W/O Zero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71600" y="908720"/>
            <a:ext cx="7416824" cy="5888986"/>
            <a:chOff x="1043608" y="908720"/>
            <a:chExt cx="7416824" cy="5888986"/>
          </a:xfrm>
        </p:grpSpPr>
        <p:pic>
          <p:nvPicPr>
            <p:cNvPr id="24781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3360" r="7654"/>
            <a:stretch>
              <a:fillRect/>
            </a:stretch>
          </p:blipFill>
          <p:spPr bwMode="auto">
            <a:xfrm>
              <a:off x="1043608" y="908720"/>
              <a:ext cx="7416824" cy="5888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2987824" y="1988840"/>
            <a:ext cx="87947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55320" imgH="152280" progId="Equation.3">
                    <p:embed/>
                  </p:oleObj>
                </mc:Choice>
                <mc:Fallback>
                  <p:oleObj name="Equation" r:id="rId3" imgW="35532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824" y="1988840"/>
                          <a:ext cx="87947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2195736" y="2852936"/>
            <a:ext cx="87947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55320" imgH="152280" progId="Equation.3">
                    <p:embed/>
                  </p:oleObj>
                </mc:Choice>
                <mc:Fallback>
                  <p:oleObj name="Equation" r:id="rId5" imgW="35532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2852936"/>
                          <a:ext cx="879475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/>
            <p:cNvSpPr txBox="1"/>
            <p:nvPr/>
          </p:nvSpPr>
          <p:spPr>
            <a:xfrm>
              <a:off x="2555776" y="4427820"/>
              <a:ext cx="3031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  <a:r>
                <a:rPr lang="en-GB" baseline="30000" dirty="0"/>
                <a:t>st</a:t>
              </a:r>
              <a:r>
                <a:rPr lang="en-GB" dirty="0"/>
                <a:t> Order System Without Zero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349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Find out the impulse, ramp and parabolic response of the system given below.</a:t>
            </a:r>
          </a:p>
        </p:txBody>
      </p:sp>
      <p:graphicFrame>
        <p:nvGraphicFramePr>
          <p:cNvPr id="249858" name="Object 2"/>
          <p:cNvGraphicFramePr>
            <a:graphicFrameLocks noChangeAspect="1"/>
          </p:cNvGraphicFramePr>
          <p:nvPr/>
        </p:nvGraphicFramePr>
        <p:xfrm>
          <a:off x="3347864" y="3501008"/>
          <a:ext cx="2722562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355320" progId="Equation.3">
                  <p:embed/>
                </p:oleObj>
              </mc:Choice>
              <mc:Fallback>
                <p:oleObj name="Equation" r:id="rId2" imgW="9522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501008"/>
                        <a:ext cx="2722562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2460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Example#2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A thermometer requires </a:t>
            </a:r>
            <a:r>
              <a:rPr lang="en-GB" sz="2800" dirty="0">
                <a:solidFill>
                  <a:srgbClr val="FF0000"/>
                </a:solidFill>
              </a:rPr>
              <a:t>1 min </a:t>
            </a:r>
            <a:r>
              <a:rPr lang="en-GB" sz="2800" dirty="0"/>
              <a:t>to indicate </a:t>
            </a:r>
            <a:r>
              <a:rPr lang="en-GB" sz="2800" dirty="0">
                <a:solidFill>
                  <a:srgbClr val="FF0000"/>
                </a:solidFill>
              </a:rPr>
              <a:t>98% </a:t>
            </a:r>
            <a:r>
              <a:rPr lang="en-GB" sz="2800" dirty="0"/>
              <a:t>of the response to a step input. Assuming the thermometer to be a first-order system, find the time constant.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If the thermometer is placed in a bath, the temperature of which is changing linearly at a rate of </a:t>
            </a:r>
            <a:r>
              <a:rPr lang="en-GB" sz="2800" dirty="0" err="1">
                <a:solidFill>
                  <a:srgbClr val="FF0000"/>
                </a:solidFill>
              </a:rPr>
              <a:t>10°min</a:t>
            </a:r>
            <a:r>
              <a:rPr lang="en-GB" sz="2800" dirty="0"/>
              <a:t>, how much error does the thermometer show?</a:t>
            </a:r>
          </a:p>
        </p:txBody>
      </p:sp>
    </p:spTree>
    <p:extLst>
      <p:ext uri="{BB962C8B-B14F-4D97-AF65-F5344CB8AC3E}">
        <p14:creationId xmlns:p14="http://schemas.microsoft.com/office/powerpoint/2010/main" val="729355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40966"/>
          </a:xfrm>
        </p:spPr>
        <p:txBody>
          <a:bodyPr/>
          <a:lstStyle/>
          <a:p>
            <a:r>
              <a:rPr lang="en-GB" dirty="0"/>
              <a:t>PZ-map and Step Response</a:t>
            </a:r>
          </a:p>
        </p:txBody>
      </p:sp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8313" y="1700213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55320" progId="Equation.3">
                  <p:embed/>
                </p:oleObj>
              </mc:Choice>
              <mc:Fallback>
                <p:oleObj name="Equation" r:id="rId2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00213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4067944" y="1556792"/>
            <a:ext cx="5056654" cy="4176464"/>
            <a:chOff x="4090552" y="1556792"/>
            <a:chExt cx="5056654" cy="41764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399496" y="1916832"/>
              <a:ext cx="0" cy="3816424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167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55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8184" y="1556792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665768" y="3717032"/>
            <a:ext cx="144017" cy="145470"/>
            <a:chOff x="3203847" y="4809330"/>
            <a:chExt cx="144017" cy="14547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50883" name="Object 2"/>
          <p:cNvGraphicFramePr>
            <a:graphicFrameLocks noChangeAspect="1"/>
          </p:cNvGraphicFramePr>
          <p:nvPr/>
        </p:nvGraphicFramePr>
        <p:xfrm>
          <a:off x="539552" y="3212976"/>
          <a:ext cx="19970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355320" progId="Equation.3">
                  <p:embed/>
                </p:oleObj>
              </mc:Choice>
              <mc:Fallback>
                <p:oleObj name="Equation" r:id="rId4" imgW="6984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212976"/>
                        <a:ext cx="19970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2"/>
          <p:cNvGraphicFramePr>
            <a:graphicFrameLocks noChangeAspect="1"/>
          </p:cNvGraphicFramePr>
          <p:nvPr/>
        </p:nvGraphicFramePr>
        <p:xfrm>
          <a:off x="5292080" y="3140968"/>
          <a:ext cx="821978" cy="340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" imgH="152280" progId="Equation.3">
                  <p:embed/>
                </p:oleObj>
              </mc:Choice>
              <mc:Fallback>
                <p:oleObj name="Equation" r:id="rId6" imgW="36828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140968"/>
                        <a:ext cx="821978" cy="3409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06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40966"/>
          </a:xfrm>
        </p:spPr>
        <p:txBody>
          <a:bodyPr/>
          <a:lstStyle/>
          <a:p>
            <a:r>
              <a:rPr lang="en-GB" dirty="0"/>
              <a:t>PZ-map and Step Response</a:t>
            </a:r>
          </a:p>
        </p:txBody>
      </p:sp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8313" y="1700213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55320" progId="Equation.3">
                  <p:embed/>
                </p:oleObj>
              </mc:Choice>
              <mc:Fallback>
                <p:oleObj name="Equation" r:id="rId2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00213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/>
          <p:nvPr/>
        </p:nvGrpSpPr>
        <p:grpSpPr>
          <a:xfrm>
            <a:off x="4067944" y="1556792"/>
            <a:ext cx="5056654" cy="4176464"/>
            <a:chOff x="4090552" y="1556792"/>
            <a:chExt cx="5056654" cy="41764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399496" y="1916832"/>
              <a:ext cx="0" cy="3816424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167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55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8184" y="1556792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4935808" y="3717032"/>
            <a:ext cx="144017" cy="145470"/>
            <a:chOff x="3203847" y="4809330"/>
            <a:chExt cx="144017" cy="14547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50883" name="Object 2"/>
          <p:cNvGraphicFramePr>
            <a:graphicFrameLocks noChangeAspect="1"/>
          </p:cNvGraphicFramePr>
          <p:nvPr/>
        </p:nvGraphicFramePr>
        <p:xfrm>
          <a:off x="503238" y="3213100"/>
          <a:ext cx="20701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355320" progId="Equation.3">
                  <p:embed/>
                </p:oleObj>
              </mc:Choice>
              <mc:Fallback>
                <p:oleObj name="Equation" r:id="rId4" imgW="7236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3213100"/>
                        <a:ext cx="2070100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2"/>
          <p:cNvGraphicFramePr>
            <a:graphicFrameLocks noChangeAspect="1"/>
          </p:cNvGraphicFramePr>
          <p:nvPr/>
        </p:nvGraphicFramePr>
        <p:xfrm>
          <a:off x="4499992" y="3247616"/>
          <a:ext cx="933896" cy="29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152280" progId="Equation.3">
                  <p:embed/>
                </p:oleObj>
              </mc:Choice>
              <mc:Fallback>
                <p:oleObj name="Equation" r:id="rId6" imgW="4824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247616"/>
                        <a:ext cx="933896" cy="2943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3"/>
          <p:cNvGraphicFramePr>
            <a:graphicFrameLocks noChangeAspect="1"/>
          </p:cNvGraphicFramePr>
          <p:nvPr/>
        </p:nvGraphicFramePr>
        <p:xfrm>
          <a:off x="467544" y="4581128"/>
          <a:ext cx="243363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355320" progId="Equation.3">
                  <p:embed/>
                </p:oleObj>
              </mc:Choice>
              <mc:Fallback>
                <p:oleObj name="Equation" r:id="rId8" imgW="8506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581128"/>
                        <a:ext cx="2433637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60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40966"/>
          </a:xfrm>
        </p:spPr>
        <p:txBody>
          <a:bodyPr/>
          <a:lstStyle/>
          <a:p>
            <a:r>
              <a:rPr lang="en-GB" dirty="0"/>
              <a:t>PZ-map and Step Response</a:t>
            </a:r>
          </a:p>
        </p:txBody>
      </p:sp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8313" y="1700213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55320" progId="Equation.3">
                  <p:embed/>
                </p:oleObj>
              </mc:Choice>
              <mc:Fallback>
                <p:oleObj name="Equation" r:id="rId2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00213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/>
          <p:nvPr/>
        </p:nvGrpSpPr>
        <p:grpSpPr>
          <a:xfrm>
            <a:off x="4067944" y="1556792"/>
            <a:ext cx="5056654" cy="4176464"/>
            <a:chOff x="4090552" y="1556792"/>
            <a:chExt cx="5056654" cy="41764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399496" y="1916832"/>
              <a:ext cx="0" cy="3816424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167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55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8184" y="1556792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4211960" y="3717032"/>
            <a:ext cx="144017" cy="145470"/>
            <a:chOff x="3203847" y="4809330"/>
            <a:chExt cx="144017" cy="14547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50883" name="Object 2"/>
          <p:cNvGraphicFramePr>
            <a:graphicFrameLocks noChangeAspect="1"/>
          </p:cNvGraphicFramePr>
          <p:nvPr/>
        </p:nvGraphicFramePr>
        <p:xfrm>
          <a:off x="520700" y="3213100"/>
          <a:ext cx="20351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355320" progId="Equation.3">
                  <p:embed/>
                </p:oleObj>
              </mc:Choice>
              <mc:Fallback>
                <p:oleObj name="Equation" r:id="rId4" imgW="7110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3213100"/>
                        <a:ext cx="20351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2"/>
          <p:cNvGraphicFramePr>
            <a:graphicFrameLocks noChangeAspect="1"/>
          </p:cNvGraphicFramePr>
          <p:nvPr/>
        </p:nvGraphicFramePr>
        <p:xfrm>
          <a:off x="3789363" y="3248025"/>
          <a:ext cx="105886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152280" progId="Equation.3">
                  <p:embed/>
                </p:oleObj>
              </mc:Choice>
              <mc:Fallback>
                <p:oleObj name="Equation" r:id="rId6" imgW="54576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3248025"/>
                        <a:ext cx="1058862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3"/>
          <p:cNvGraphicFramePr>
            <a:graphicFrameLocks noChangeAspect="1"/>
          </p:cNvGraphicFramePr>
          <p:nvPr/>
        </p:nvGraphicFramePr>
        <p:xfrm>
          <a:off x="377825" y="4581525"/>
          <a:ext cx="261461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355320" progId="Equation.3">
                  <p:embed/>
                </p:oleObj>
              </mc:Choice>
              <mc:Fallback>
                <p:oleObj name="Equation" r:id="rId8" imgW="9144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4581525"/>
                        <a:ext cx="2614613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/>
          <a:lstStyle/>
          <a:p>
            <a:r>
              <a:rPr lang="en-GB" dirty="0"/>
              <a:t>Comparison</a:t>
            </a:r>
          </a:p>
        </p:txBody>
      </p:sp>
      <p:graphicFrame>
        <p:nvGraphicFramePr>
          <p:cNvPr id="253954" name="Object 2"/>
          <p:cNvGraphicFramePr>
            <a:graphicFrameLocks noChangeAspect="1"/>
          </p:cNvGraphicFramePr>
          <p:nvPr/>
        </p:nvGraphicFramePr>
        <p:xfrm>
          <a:off x="899592" y="1340768"/>
          <a:ext cx="19970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355320" progId="Equation.3">
                  <p:embed/>
                </p:oleObj>
              </mc:Choice>
              <mc:Fallback>
                <p:oleObj name="Equation" r:id="rId2" imgW="6984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340768"/>
                        <a:ext cx="19970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5" name="Object 3"/>
          <p:cNvGraphicFramePr>
            <a:graphicFrameLocks noChangeAspect="1"/>
          </p:cNvGraphicFramePr>
          <p:nvPr/>
        </p:nvGraphicFramePr>
        <p:xfrm>
          <a:off x="5776913" y="1341438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355320" progId="Equation.3">
                  <p:embed/>
                </p:oleObj>
              </mc:Choice>
              <mc:Fallback>
                <p:oleObj name="Equation" r:id="rId4" imgW="761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1341438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3956" name="Picture 4"/>
          <p:cNvPicPr>
            <a:picLocks noChangeAspect="1" noChangeArrowheads="1"/>
          </p:cNvPicPr>
          <p:nvPr/>
        </p:nvPicPr>
        <p:blipFill>
          <a:blip r:embed="rId6" cstate="print"/>
          <a:srcRect l="9426" t="4974" r="7622"/>
          <a:stretch>
            <a:fillRect/>
          </a:stretch>
        </p:blipFill>
        <p:spPr bwMode="auto">
          <a:xfrm>
            <a:off x="323528" y="2852936"/>
            <a:ext cx="4104456" cy="356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3957" name="Picture 5"/>
          <p:cNvPicPr>
            <a:picLocks noChangeAspect="1" noChangeArrowheads="1"/>
          </p:cNvPicPr>
          <p:nvPr/>
        </p:nvPicPr>
        <p:blipFill>
          <a:blip r:embed="rId7" cstate="print"/>
          <a:srcRect l="7541" t="4974" r="7622"/>
          <a:stretch>
            <a:fillRect/>
          </a:stretch>
        </p:blipFill>
        <p:spPr bwMode="auto">
          <a:xfrm>
            <a:off x="4788024" y="2924944"/>
            <a:ext cx="4176464" cy="354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46209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Order System With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Following transfer function is the generic representation of 1</a:t>
            </a:r>
            <a:r>
              <a:rPr lang="en-GB" baseline="30000" dirty="0"/>
              <a:t>st</a:t>
            </a:r>
            <a:r>
              <a:rPr lang="en-GB" dirty="0"/>
              <a:t> order system with time lag. 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Where </a:t>
            </a:r>
            <a:r>
              <a:rPr lang="en-GB" i="1" dirty="0">
                <a:solidFill>
                  <a:srgbClr val="FF0000"/>
                </a:solidFill>
              </a:rPr>
              <a:t>t</a:t>
            </a:r>
            <a:r>
              <a:rPr lang="en-GB" i="1" baseline="-25000" dirty="0">
                <a:solidFill>
                  <a:srgbClr val="FF0000"/>
                </a:solidFill>
              </a:rPr>
              <a:t>d</a:t>
            </a:r>
            <a:r>
              <a:rPr lang="en-GB" dirty="0"/>
              <a:t> is the delay time. </a:t>
            </a:r>
          </a:p>
        </p:txBody>
      </p:sp>
      <p:graphicFrame>
        <p:nvGraphicFramePr>
          <p:cNvPr id="260098" name="Object 2"/>
          <p:cNvGraphicFramePr>
            <a:graphicFrameLocks noChangeAspect="1"/>
          </p:cNvGraphicFramePr>
          <p:nvPr/>
        </p:nvGraphicFramePr>
        <p:xfrm>
          <a:off x="3275856" y="3131492"/>
          <a:ext cx="286702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355320" progId="Equation.3">
                  <p:embed/>
                </p:oleObj>
              </mc:Choice>
              <mc:Fallback>
                <p:oleObj name="Equation" r:id="rId2" imgW="10029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131492"/>
                        <a:ext cx="286702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7702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Order System With Delays</a:t>
            </a:r>
          </a:p>
        </p:txBody>
      </p:sp>
      <p:graphicFrame>
        <p:nvGraphicFramePr>
          <p:cNvPr id="260098" name="Object 2"/>
          <p:cNvGraphicFramePr>
            <a:graphicFrameLocks noChangeAspect="1"/>
          </p:cNvGraphicFramePr>
          <p:nvPr/>
        </p:nvGraphicFramePr>
        <p:xfrm>
          <a:off x="3059832" y="1628800"/>
          <a:ext cx="286702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355320" progId="Equation.3">
                  <p:embed/>
                </p:oleObj>
              </mc:Choice>
              <mc:Fallback>
                <p:oleObj name="Equation" r:id="rId2" imgW="10029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628800"/>
                        <a:ext cx="286702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1619672" y="3501008"/>
            <a:ext cx="5948162" cy="2619584"/>
            <a:chOff x="1691680" y="3717032"/>
            <a:chExt cx="5948162" cy="2619584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2082790" y="3717032"/>
              <a:ext cx="0" cy="2304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2082790" y="6007640"/>
              <a:ext cx="32403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2089935" y="4148920"/>
              <a:ext cx="3152633" cy="1856095"/>
            </a:xfrm>
            <a:custGeom>
              <a:avLst/>
              <a:gdLst>
                <a:gd name="connsiteX0" fmla="*/ 0 w 3152633"/>
                <a:gd name="connsiteY0" fmla="*/ 1856095 h 1856095"/>
                <a:gd name="connsiteX1" fmla="*/ 177421 w 3152633"/>
                <a:gd name="connsiteY1" fmla="*/ 1828799 h 1856095"/>
                <a:gd name="connsiteX2" fmla="*/ 313899 w 3152633"/>
                <a:gd name="connsiteY2" fmla="*/ 1733265 h 1856095"/>
                <a:gd name="connsiteX3" fmla="*/ 423081 w 3152633"/>
                <a:gd name="connsiteY3" fmla="*/ 1514901 h 1856095"/>
                <a:gd name="connsiteX4" fmla="*/ 627797 w 3152633"/>
                <a:gd name="connsiteY4" fmla="*/ 627796 h 1856095"/>
                <a:gd name="connsiteX5" fmla="*/ 1214651 w 3152633"/>
                <a:gd name="connsiteY5" fmla="*/ 191068 h 1856095"/>
                <a:gd name="connsiteX6" fmla="*/ 2156346 w 3152633"/>
                <a:gd name="connsiteY6" fmla="*/ 27295 h 1856095"/>
                <a:gd name="connsiteX7" fmla="*/ 3152633 w 3152633"/>
                <a:gd name="connsiteY7" fmla="*/ 27295 h 185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52633" h="1856095">
                  <a:moveTo>
                    <a:pt x="0" y="1856095"/>
                  </a:moveTo>
                  <a:cubicBezTo>
                    <a:pt x="62552" y="1852683"/>
                    <a:pt x="125105" y="1849271"/>
                    <a:pt x="177421" y="1828799"/>
                  </a:cubicBezTo>
                  <a:cubicBezTo>
                    <a:pt x="229737" y="1808327"/>
                    <a:pt x="272956" y="1785581"/>
                    <a:pt x="313899" y="1733265"/>
                  </a:cubicBezTo>
                  <a:cubicBezTo>
                    <a:pt x="354842" y="1680949"/>
                    <a:pt x="370765" y="1699146"/>
                    <a:pt x="423081" y="1514901"/>
                  </a:cubicBezTo>
                  <a:cubicBezTo>
                    <a:pt x="475397" y="1330656"/>
                    <a:pt x="495869" y="848435"/>
                    <a:pt x="627797" y="627796"/>
                  </a:cubicBezTo>
                  <a:cubicBezTo>
                    <a:pt x="759725" y="407157"/>
                    <a:pt x="959893" y="291151"/>
                    <a:pt x="1214651" y="191068"/>
                  </a:cubicBezTo>
                  <a:cubicBezTo>
                    <a:pt x="1469409" y="90985"/>
                    <a:pt x="1833349" y="54591"/>
                    <a:pt x="2156346" y="27295"/>
                  </a:cubicBezTo>
                  <a:cubicBezTo>
                    <a:pt x="2479343" y="0"/>
                    <a:pt x="2815988" y="13647"/>
                    <a:pt x="3152633" y="27295"/>
                  </a:cubicBezTo>
                </a:path>
              </a:pathLst>
            </a:cu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2082790" y="4162567"/>
              <a:ext cx="3159778" cy="0"/>
            </a:xfrm>
            <a:prstGeom prst="line">
              <a:avLst/>
            </a:prstGeom>
            <a:ln>
              <a:solidFill>
                <a:srgbClr val="BB078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691680" y="39914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5611182" y="4869160"/>
              <a:ext cx="2028660" cy="646331"/>
              <a:chOff x="6327488" y="4437112"/>
              <a:chExt cx="2028660" cy="646331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6804248" y="4437112"/>
                <a:ext cx="15519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Unit Step</a:t>
                </a:r>
              </a:p>
              <a:p>
                <a:r>
                  <a:rPr lang="en-GB" dirty="0"/>
                  <a:t>Step Response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 flipV="1">
                <a:off x="6336248" y="4625840"/>
                <a:ext cx="468000" cy="0"/>
              </a:xfrm>
              <a:prstGeom prst="line">
                <a:avLst/>
              </a:prstGeom>
              <a:ln>
                <a:solidFill>
                  <a:srgbClr val="BB0788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6327488" y="4910104"/>
                <a:ext cx="46800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5323150" y="580526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 flipV="1">
              <a:off x="2082790" y="6021288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2442830" y="6021288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113848" y="5967284"/>
              <a:ext cx="3391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t</a:t>
              </a:r>
              <a:r>
                <a:rPr lang="en-GB" i="1" baseline="-25000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038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510"/>
            <a:ext cx="8229600" cy="778098"/>
          </a:xfrm>
        </p:spPr>
        <p:txBody>
          <a:bodyPr>
            <a:normAutofit/>
          </a:bodyPr>
          <a:lstStyle/>
          <a:p>
            <a:r>
              <a:rPr lang="en-GB" sz="4000" dirty="0"/>
              <a:t>First Order System With Delays</a:t>
            </a:r>
          </a:p>
        </p:txBody>
      </p:sp>
      <p:graphicFrame>
        <p:nvGraphicFramePr>
          <p:cNvPr id="260098" name="Object 2"/>
          <p:cNvGraphicFramePr>
            <a:graphicFrameLocks noChangeAspect="1"/>
          </p:cNvGraphicFramePr>
          <p:nvPr/>
        </p:nvGraphicFramePr>
        <p:xfrm>
          <a:off x="179512" y="3316226"/>
          <a:ext cx="2484487" cy="9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760" imgH="355320" progId="Equation.3">
                  <p:embed/>
                </p:oleObj>
              </mc:Choice>
              <mc:Fallback>
                <p:oleObj name="Equation" r:id="rId3" imgW="9777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316226"/>
                        <a:ext cx="2484487" cy="9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7" name="Picture 3"/>
          <p:cNvPicPr>
            <a:picLocks noChangeAspect="1" noChangeArrowheads="1"/>
          </p:cNvPicPr>
          <p:nvPr/>
        </p:nvPicPr>
        <p:blipFill>
          <a:blip r:embed="rId5" cstate="print"/>
          <a:srcRect l="11250" t="7051" r="7500"/>
          <a:stretch>
            <a:fillRect/>
          </a:stretch>
        </p:blipFill>
        <p:spPr bwMode="auto">
          <a:xfrm>
            <a:off x="2915816" y="1237696"/>
            <a:ext cx="6078312" cy="4980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62148" name="Object 2"/>
          <p:cNvGraphicFramePr>
            <a:graphicFrameLocks noChangeAspect="1"/>
          </p:cNvGraphicFramePr>
          <p:nvPr/>
        </p:nvGraphicFramePr>
        <p:xfrm>
          <a:off x="3365280" y="4851744"/>
          <a:ext cx="588188" cy="35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80" imgH="190440" progId="Equation.3">
                  <p:embed/>
                </p:oleObj>
              </mc:Choice>
              <mc:Fallback>
                <p:oleObj name="Equation" r:id="rId6" imgW="3808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280" y="4851744"/>
                        <a:ext cx="588188" cy="3588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3262208" y="3128504"/>
            <a:ext cx="1899504" cy="2491800"/>
            <a:chOff x="3262208" y="3128504"/>
            <a:chExt cx="1899504" cy="2491800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5120768" y="3172032"/>
              <a:ext cx="0" cy="2448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3262208" y="3172032"/>
              <a:ext cx="187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5053712" y="3128504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28" name="Object 2"/>
            <p:cNvGraphicFramePr>
              <a:graphicFrameLocks noChangeAspect="1"/>
            </p:cNvGraphicFramePr>
            <p:nvPr/>
          </p:nvGraphicFramePr>
          <p:xfrm>
            <a:off x="4283968" y="5013870"/>
            <a:ext cx="585787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80" imgH="152280" progId="Equation.3">
                    <p:embed/>
                  </p:oleObj>
                </mc:Choice>
                <mc:Fallback>
                  <p:oleObj name="Equation" r:id="rId8" imgW="38088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5013870"/>
                          <a:ext cx="585787" cy="287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Straight Connector 28"/>
            <p:cNvCxnSpPr/>
            <p:nvPr/>
          </p:nvCxnSpPr>
          <p:spPr>
            <a:xfrm flipV="1">
              <a:off x="3982288" y="5257768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3982288" y="5373216"/>
              <a:ext cx="1152128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2150" name="Object 6"/>
          <p:cNvGraphicFramePr>
            <a:graphicFrameLocks noChangeAspect="1"/>
          </p:cNvGraphicFramePr>
          <p:nvPr/>
        </p:nvGraphicFramePr>
        <p:xfrm>
          <a:off x="7884368" y="2168525"/>
          <a:ext cx="6270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152280" progId="Equation.3">
                  <p:embed/>
                </p:oleObj>
              </mc:Choice>
              <mc:Fallback>
                <p:oleObj name="Equation" r:id="rId10" imgW="40608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2168525"/>
                        <a:ext cx="627062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2702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First Order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Armature Controlled </a:t>
            </a:r>
            <a:r>
              <a:rPr lang="en-GB" dirty="0" err="1"/>
              <a:t>D.C</a:t>
            </a:r>
            <a:r>
              <a:rPr lang="en-GB" dirty="0"/>
              <a:t> Motor (</a:t>
            </a:r>
            <a:r>
              <a:rPr lang="en-GB" i="1" dirty="0"/>
              <a:t>L</a:t>
            </a:r>
            <a:r>
              <a:rPr lang="en-GB" i="1" baseline="-25000" dirty="0"/>
              <a:t>a</a:t>
            </a:r>
            <a:r>
              <a:rPr lang="en-GB" i="1" dirty="0"/>
              <a:t>=0</a:t>
            </a:r>
            <a:r>
              <a:rPr lang="en-GB" dirty="0"/>
              <a:t>)</a:t>
            </a:r>
          </a:p>
        </p:txBody>
      </p:sp>
      <p:graphicFrame>
        <p:nvGraphicFramePr>
          <p:cNvPr id="273410" name="Object 2"/>
          <p:cNvGraphicFramePr>
            <a:graphicFrameLocks noChangeAspect="1"/>
          </p:cNvGraphicFramePr>
          <p:nvPr/>
        </p:nvGraphicFramePr>
        <p:xfrm>
          <a:off x="2915816" y="5733256"/>
          <a:ext cx="3276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200" imgH="381000" progId="Equation.3">
                  <p:embed/>
                </p:oleObj>
              </mc:Choice>
              <mc:Fallback>
                <p:oleObj name="Equation" r:id="rId2" imgW="14732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733256"/>
                        <a:ext cx="3276600" cy="863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699792" y="2420888"/>
            <a:ext cx="4186885" cy="2318111"/>
            <a:chOff x="4860032" y="980728"/>
            <a:chExt cx="4186885" cy="2318111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6127278" y="1450218"/>
              <a:ext cx="863475" cy="193959"/>
              <a:chOff x="1673" y="2077"/>
              <a:chExt cx="818" cy="149"/>
            </a:xfrm>
          </p:grpSpPr>
          <p:sp>
            <p:nvSpPr>
              <p:cNvPr id="56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8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9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1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60032" y="1894331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 flipV="1">
              <a:off x="5101246" y="1513663"/>
              <a:ext cx="0" cy="391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Freeform 12"/>
            <p:cNvSpPr>
              <a:spLocks/>
            </p:cNvSpPr>
            <p:nvPr/>
          </p:nvSpPr>
          <p:spPr bwMode="auto">
            <a:xfrm rot="16200000">
              <a:off x="5524241" y="1014112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3"/>
            <p:cNvSpPr>
              <a:spLocks/>
            </p:cNvSpPr>
            <p:nvPr/>
          </p:nvSpPr>
          <p:spPr bwMode="auto">
            <a:xfrm>
              <a:off x="5111733" y="2416389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4891495" y="1926959"/>
              <a:ext cx="4404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u</a:t>
              </a:r>
              <a:endParaRPr lang="en-US" sz="2000" dirty="0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5887812" y="1742064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6055613" y="1660492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i</a:t>
              </a:r>
              <a:r>
                <a:rPr lang="en-US" sz="2000" baseline="-25000" dirty="0" err="1"/>
                <a:t>a</a:t>
              </a:r>
              <a:endParaRPr lang="en-US" sz="2000" dirty="0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6092319" y="2639352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5931253" y="2740217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5988935" y="2811371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7159404" y="1878016"/>
              <a:ext cx="3178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 flipH="1">
              <a:off x="7037947" y="1829073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7294892" y="153541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auto">
            <a:xfrm flipH="1">
              <a:off x="6083580" y="2432704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 flipH="1">
              <a:off x="5223600" y="980728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6999493" y="1546292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 flipH="1">
              <a:off x="6429669" y="991604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7198756" y="1736625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" name="Rectangle 28"/>
            <p:cNvSpPr>
              <a:spLocks noChangeArrowheads="1"/>
            </p:cNvSpPr>
            <p:nvPr/>
          </p:nvSpPr>
          <p:spPr bwMode="auto">
            <a:xfrm>
              <a:off x="7193512" y="23511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7539602" y="2046598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" name="Rectangle 30"/>
            <p:cNvSpPr>
              <a:spLocks noChangeArrowheads="1"/>
            </p:cNvSpPr>
            <p:nvPr/>
          </p:nvSpPr>
          <p:spPr bwMode="auto">
            <a:xfrm>
              <a:off x="8221293" y="1448406"/>
              <a:ext cx="288408" cy="1256204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" name="Rectangle 31" descr="Light upward diagonal"/>
            <p:cNvSpPr>
              <a:spLocks noChangeArrowheads="1"/>
            </p:cNvSpPr>
            <p:nvPr/>
          </p:nvSpPr>
          <p:spPr bwMode="auto">
            <a:xfrm>
              <a:off x="7618258" y="1834511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" name="Freeform 32"/>
            <p:cNvSpPr>
              <a:spLocks/>
            </p:cNvSpPr>
            <p:nvPr/>
          </p:nvSpPr>
          <p:spPr bwMode="auto">
            <a:xfrm>
              <a:off x="7623502" y="1834511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7628746" y="2160798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" name="Freeform 34"/>
            <p:cNvSpPr>
              <a:spLocks/>
            </p:cNvSpPr>
            <p:nvPr/>
          </p:nvSpPr>
          <p:spPr bwMode="auto">
            <a:xfrm flipV="1">
              <a:off x="7633990" y="2155360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 flipH="1">
              <a:off x="8257228" y="1908048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7994062" y="1883454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" name="Text Box 40"/>
            <p:cNvSpPr txBox="1">
              <a:spLocks noChangeArrowheads="1"/>
            </p:cNvSpPr>
            <p:nvPr/>
          </p:nvSpPr>
          <p:spPr bwMode="auto">
            <a:xfrm flipH="1">
              <a:off x="7646225" y="2318503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</a:t>
              </a:r>
              <a:endParaRPr lang="en-US" sz="2000"/>
            </a:p>
          </p:txBody>
        </p:sp>
        <p:sp>
          <p:nvSpPr>
            <p:cNvPr id="35" name="Text Box 43"/>
            <p:cNvSpPr txBox="1">
              <a:spLocks noChangeArrowheads="1"/>
            </p:cNvSpPr>
            <p:nvPr/>
          </p:nvSpPr>
          <p:spPr bwMode="auto">
            <a:xfrm flipH="1">
              <a:off x="7602734" y="1390145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B</a:t>
              </a:r>
              <a:endParaRPr lang="en-US" sz="2000" dirty="0"/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 rot="16200000">
              <a:off x="6723638" y="2107666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6581681" y="1868312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e</a:t>
              </a:r>
              <a:r>
                <a:rPr lang="en-US" sz="2000" baseline="-25000" dirty="0" err="1"/>
                <a:t>b</a:t>
              </a:r>
              <a:endParaRPr lang="en-US" sz="2000" dirty="0"/>
            </a:p>
          </p:txBody>
        </p:sp>
        <p:sp>
          <p:nvSpPr>
            <p:cNvPr id="38" name="Line 19"/>
            <p:cNvSpPr>
              <a:spLocks noChangeShapeType="1"/>
            </p:cNvSpPr>
            <p:nvPr/>
          </p:nvSpPr>
          <p:spPr bwMode="auto">
            <a:xfrm>
              <a:off x="6039870" y="2894501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9" name="Group 67"/>
            <p:cNvGrpSpPr/>
            <p:nvPr/>
          </p:nvGrpSpPr>
          <p:grpSpPr>
            <a:xfrm>
              <a:off x="7150433" y="2636912"/>
              <a:ext cx="764666" cy="661927"/>
              <a:chOff x="7609903" y="3055105"/>
              <a:chExt cx="764666" cy="661927"/>
            </a:xfrm>
          </p:grpSpPr>
          <p:grpSp>
            <p:nvGrpSpPr>
              <p:cNvPr id="41" name="Group 3"/>
              <p:cNvGrpSpPr>
                <a:grpSpLocks/>
              </p:cNvGrpSpPr>
              <p:nvPr/>
            </p:nvGrpSpPr>
            <p:grpSpPr bwMode="auto">
              <a:xfrm rot="19579827">
                <a:off x="7664245" y="3177472"/>
                <a:ext cx="458072" cy="135954"/>
                <a:chOff x="1673" y="2077"/>
                <a:chExt cx="818" cy="149"/>
              </a:xfrm>
            </p:grpSpPr>
            <p:sp>
              <p:nvSpPr>
                <p:cNvPr id="50" name="Arc 4"/>
                <p:cNvSpPr>
                  <a:spLocks/>
                </p:cNvSpPr>
                <p:nvPr/>
              </p:nvSpPr>
              <p:spPr bwMode="auto">
                <a:xfrm>
                  <a:off x="1673" y="2077"/>
                  <a:ext cx="163" cy="141"/>
                </a:xfrm>
                <a:custGeom>
                  <a:avLst/>
                  <a:gdLst>
                    <a:gd name="G0" fmla="+- 21276 0 0"/>
                    <a:gd name="G1" fmla="+- 21600 0 0"/>
                    <a:gd name="G2" fmla="+- 21600 0 0"/>
                    <a:gd name="T0" fmla="*/ 0 w 42876"/>
                    <a:gd name="T1" fmla="*/ 17875 h 34596"/>
                    <a:gd name="T2" fmla="*/ 38529 w 42876"/>
                    <a:gd name="T3" fmla="*/ 34596 h 34596"/>
                    <a:gd name="T4" fmla="*/ 21276 w 42876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876" h="34596" fill="none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</a:path>
                    <a:path w="42876" h="34596" stroke="0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  <a:lnTo>
                        <a:pt x="21276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Arc 5"/>
                <p:cNvSpPr>
                  <a:spLocks/>
                </p:cNvSpPr>
                <p:nvPr/>
              </p:nvSpPr>
              <p:spPr bwMode="auto">
                <a:xfrm>
                  <a:off x="1801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Arc 6"/>
                <p:cNvSpPr>
                  <a:spLocks/>
                </p:cNvSpPr>
                <p:nvPr/>
              </p:nvSpPr>
              <p:spPr bwMode="auto">
                <a:xfrm>
                  <a:off x="1933" y="2077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Arc 7"/>
                <p:cNvSpPr>
                  <a:spLocks/>
                </p:cNvSpPr>
                <p:nvPr/>
              </p:nvSpPr>
              <p:spPr bwMode="auto">
                <a:xfrm>
                  <a:off x="2065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Arc 8"/>
                <p:cNvSpPr>
                  <a:spLocks/>
                </p:cNvSpPr>
                <p:nvPr/>
              </p:nvSpPr>
              <p:spPr bwMode="auto">
                <a:xfrm>
                  <a:off x="2195" y="2085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Arc 9"/>
                <p:cNvSpPr>
                  <a:spLocks/>
                </p:cNvSpPr>
                <p:nvPr/>
              </p:nvSpPr>
              <p:spPr bwMode="auto">
                <a:xfrm>
                  <a:off x="2328" y="2081"/>
                  <a:ext cx="163" cy="137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2961"/>
                    <a:gd name="T1" fmla="*/ 33539 h 33539"/>
                    <a:gd name="T2" fmla="*/ 42961 w 42961"/>
                    <a:gd name="T3" fmla="*/ 18398 h 33539"/>
                    <a:gd name="T4" fmla="*/ 21600 w 42961"/>
                    <a:gd name="T5" fmla="*/ 21600 h 335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961" h="33539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</a:path>
                    <a:path w="42961" h="33539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42" name="Straight Connector 41"/>
              <p:cNvCxnSpPr/>
              <p:nvPr/>
            </p:nvCxnSpPr>
            <p:spPr>
              <a:xfrm flipV="1">
                <a:off x="8086249" y="3055105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V="1">
                <a:off x="7609903" y="3362102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7612924" y="3415145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8158545" y="3068960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H="1" flipV="1">
                <a:off x="7956376" y="3429000"/>
                <a:ext cx="144016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H="1" flipV="1">
                <a:off x="8067211" y="3428995"/>
                <a:ext cx="108000" cy="14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V="1">
                <a:off x="7826215" y="3573016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V="1">
                <a:off x="8144690" y="3370847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 rot="19643315" flipH="1">
              <a:off x="7318726" y="2905978"/>
              <a:ext cx="17281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 err="1"/>
                <a:t>V</a:t>
              </a:r>
              <a:r>
                <a:rPr lang="en-US" sz="1600" baseline="-25000" dirty="0" err="1"/>
                <a:t>f</a:t>
              </a:r>
              <a:r>
                <a:rPr lang="en-US" sz="1600" i="1" dirty="0"/>
                <a:t>=constant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0673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First Order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Electrical System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708920"/>
            <a:ext cx="451485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3635896" y="4941168"/>
          <a:ext cx="21717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380880" progId="Equation.3">
                  <p:embed/>
                </p:oleObj>
              </mc:Choice>
              <mc:Fallback>
                <p:oleObj name="Equation" r:id="rId3" imgW="9144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941168"/>
                        <a:ext cx="2171700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6146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First Order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Mechanical System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2132856"/>
            <a:ext cx="123825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71363" name="Object 3"/>
          <p:cNvGraphicFramePr>
            <a:graphicFrameLocks noChangeAspect="1"/>
          </p:cNvGraphicFramePr>
          <p:nvPr/>
        </p:nvGraphicFramePr>
        <p:xfrm>
          <a:off x="3491880" y="5085184"/>
          <a:ext cx="2622351" cy="151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507960" progId="Equation.3">
                  <p:embed/>
                </p:oleObj>
              </mc:Choice>
              <mc:Fallback>
                <p:oleObj name="Equation" r:id="rId3" imgW="8762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085184"/>
                        <a:ext cx="2622351" cy="15190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301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3056</TotalTime>
  <Words>1684</Words>
  <Application>Microsoft Office PowerPoint</Application>
  <PresentationFormat>On-screen Show (4:3)</PresentationFormat>
  <Paragraphs>380</Paragraphs>
  <Slides>55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Helvetica</vt:lpstr>
      <vt:lpstr>Symbol</vt:lpstr>
      <vt:lpstr>Office Theme</vt:lpstr>
      <vt:lpstr>Equation</vt:lpstr>
      <vt:lpstr>Control Systems (CS)</vt:lpstr>
      <vt:lpstr>Introduction</vt:lpstr>
      <vt:lpstr>Standard Test Signals</vt:lpstr>
      <vt:lpstr>Standard Test Signals</vt:lpstr>
      <vt:lpstr>Standard Test Signals</vt:lpstr>
      <vt:lpstr>Standard Test Signals</vt:lpstr>
      <vt:lpstr>Standard Test Signals</vt:lpstr>
      <vt:lpstr>Relation between standard Test Signals</vt:lpstr>
      <vt:lpstr>Laplace Transform of Test Signals</vt:lpstr>
      <vt:lpstr>Laplace Transform of Test Signals</vt:lpstr>
      <vt:lpstr>Time Response of Control Systems</vt:lpstr>
      <vt:lpstr>Time Response of Control Systems</vt:lpstr>
      <vt:lpstr>Time Response of Control Systems</vt:lpstr>
      <vt:lpstr>Introduction</vt:lpstr>
      <vt:lpstr>Introduction</vt:lpstr>
      <vt:lpstr>Impulse Response of 1st Order System</vt:lpstr>
      <vt:lpstr>Impulse Response of 1st Order System</vt:lpstr>
      <vt:lpstr>Impulse Response of 1st Order System</vt:lpstr>
      <vt:lpstr>Step Response of 1st Order System</vt:lpstr>
      <vt:lpstr>Step Response of 1st Order System</vt:lpstr>
      <vt:lpstr>Step Response of 1st Order System</vt:lpstr>
      <vt:lpstr>Step Response of 1st Order System</vt:lpstr>
      <vt:lpstr>Step Response of 1st order System</vt:lpstr>
      <vt:lpstr>Step Response of 1st Order System</vt:lpstr>
      <vt:lpstr>Relation Between Step and impulse response</vt:lpstr>
      <vt:lpstr>Example#1</vt:lpstr>
      <vt:lpstr>Example#1</vt:lpstr>
      <vt:lpstr>Example#1</vt:lpstr>
      <vt:lpstr>Example#1</vt:lpstr>
      <vt:lpstr>Example#1</vt:lpstr>
      <vt:lpstr>Ramp Response of 1st Order System</vt:lpstr>
      <vt:lpstr>Ramp Response of 1st Order System</vt:lpstr>
      <vt:lpstr>Ramp Response of 1st Order System</vt:lpstr>
      <vt:lpstr>Parabolic Response of 1st Order System</vt:lpstr>
      <vt:lpstr>Practical Determination of Transfer Function of 1st Order Systems </vt:lpstr>
      <vt:lpstr>Practical Determination of Transfer Function of 1st Order Systems </vt:lpstr>
      <vt:lpstr>Practical Determination of Transfer Function of 1st Order Systems </vt:lpstr>
      <vt:lpstr>1st Order System with a Zero</vt:lpstr>
      <vt:lpstr>1st Order System with &amp; W/O Zero</vt:lpstr>
      <vt:lpstr>1st Order System with &amp; W/O Zero</vt:lpstr>
      <vt:lpstr>1st Order System with &amp; W/O Zero</vt:lpstr>
      <vt:lpstr>1st Order System with a Zero</vt:lpstr>
      <vt:lpstr>1st Order System with &amp; W/O Zero</vt:lpstr>
      <vt:lpstr>Home Work</vt:lpstr>
      <vt:lpstr>Example#2</vt:lpstr>
      <vt:lpstr>PZ-map and Step Response</vt:lpstr>
      <vt:lpstr>PZ-map and Step Response</vt:lpstr>
      <vt:lpstr>PZ-map and Step Response</vt:lpstr>
      <vt:lpstr>Comparison</vt:lpstr>
      <vt:lpstr>First Order System With Delays</vt:lpstr>
      <vt:lpstr>First Order System With Delays</vt:lpstr>
      <vt:lpstr>First Order System With Delays</vt:lpstr>
      <vt:lpstr>Examples of First Order Systems</vt:lpstr>
      <vt:lpstr>Examples of First Order Systems</vt:lpstr>
      <vt:lpstr>Examples of First Order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Imtiaz Hussain</dc:creator>
  <cp:lastModifiedBy>Ayesha Ali</cp:lastModifiedBy>
  <cp:revision>575</cp:revision>
  <dcterms:created xsi:type="dcterms:W3CDTF">2012-07-01T09:15:58Z</dcterms:created>
  <dcterms:modified xsi:type="dcterms:W3CDTF">2025-10-01T04:39:03Z</dcterms:modified>
</cp:coreProperties>
</file>