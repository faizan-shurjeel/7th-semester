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47"/>
  </p:notesMasterIdLst>
  <p:handoutMasterIdLst>
    <p:handoutMasterId r:id="rId48"/>
  </p:handoutMasterIdLst>
  <p:sldIdLst>
    <p:sldId id="372" r:id="rId2"/>
    <p:sldId id="339" r:id="rId3"/>
    <p:sldId id="401" r:id="rId4"/>
    <p:sldId id="399" r:id="rId5"/>
    <p:sldId id="398" r:id="rId6"/>
    <p:sldId id="406" r:id="rId7"/>
    <p:sldId id="408" r:id="rId8"/>
    <p:sldId id="403" r:id="rId9"/>
    <p:sldId id="407" r:id="rId10"/>
    <p:sldId id="417" r:id="rId11"/>
    <p:sldId id="419" r:id="rId12"/>
    <p:sldId id="411" r:id="rId13"/>
    <p:sldId id="421" r:id="rId14"/>
    <p:sldId id="420" r:id="rId15"/>
    <p:sldId id="410" r:id="rId16"/>
    <p:sldId id="412" r:id="rId17"/>
    <p:sldId id="423" r:id="rId18"/>
    <p:sldId id="426" r:id="rId19"/>
    <p:sldId id="427" r:id="rId20"/>
    <p:sldId id="428" r:id="rId21"/>
    <p:sldId id="415" r:id="rId22"/>
    <p:sldId id="416" r:id="rId23"/>
    <p:sldId id="429" r:id="rId24"/>
    <p:sldId id="430" r:id="rId25"/>
    <p:sldId id="431" r:id="rId26"/>
    <p:sldId id="432" r:id="rId27"/>
    <p:sldId id="433" r:id="rId28"/>
    <p:sldId id="434" r:id="rId29"/>
    <p:sldId id="435" r:id="rId30"/>
    <p:sldId id="438" r:id="rId31"/>
    <p:sldId id="439" r:id="rId32"/>
    <p:sldId id="450" r:id="rId33"/>
    <p:sldId id="451" r:id="rId34"/>
    <p:sldId id="452" r:id="rId35"/>
    <p:sldId id="442" r:id="rId36"/>
    <p:sldId id="443" r:id="rId37"/>
    <p:sldId id="444" r:id="rId38"/>
    <p:sldId id="445" r:id="rId39"/>
    <p:sldId id="446" r:id="rId40"/>
    <p:sldId id="447" r:id="rId41"/>
    <p:sldId id="448" r:id="rId42"/>
    <p:sldId id="449" r:id="rId43"/>
    <p:sldId id="436" r:id="rId44"/>
    <p:sldId id="437" r:id="rId45"/>
    <p:sldId id="440" r:id="rId4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ECB6"/>
    <a:srgbClr val="E5B6B5"/>
    <a:srgbClr val="2962A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4" d="100"/>
          <a:sy n="64" d="100"/>
        </p:scale>
        <p:origin x="1566" y="7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A275CD0-BF64-4EDA-A390-EA27F5FF7906}" type="datetimeFigureOut">
              <a:rPr lang="en-GB" smtClean="0"/>
              <a:pPr/>
              <a:t>07/11/2025</a:t>
            </a:fld>
            <a:endParaRPr lang="en-GB"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16C7654-C7C7-4BC9-B3D0-68A06137D36C}" type="slidenum">
              <a:rPr lang="en-GB" smtClean="0"/>
              <a:pPr/>
              <a:t>‹#›</a:t>
            </a:fld>
            <a:endParaRPr lang="en-GB" dirty="0"/>
          </a:p>
        </p:txBody>
      </p:sp>
    </p:spTree>
    <p:extLst>
      <p:ext uri="{BB962C8B-B14F-4D97-AF65-F5344CB8AC3E}">
        <p14:creationId xmlns:p14="http://schemas.microsoft.com/office/powerpoint/2010/main" val="372683000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826B1A4-3534-4875-B1CA-60596223E4A6}" type="datetimeFigureOut">
              <a:rPr lang="en-US" smtClean="0"/>
              <a:pPr/>
              <a:t>11/7/2025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2E5BD45-B5A0-4654-B232-F8508C108E19}" type="slidenum">
              <a:rPr lang="en-US" smtClean="0"/>
              <a:pPr/>
              <a:t>‹#›</a:t>
            </a:fld>
            <a:endParaRPr lang="en-US" dirty="0"/>
          </a:p>
        </p:txBody>
      </p:sp>
    </p:spTree>
    <p:extLst>
      <p:ext uri="{BB962C8B-B14F-4D97-AF65-F5344CB8AC3E}">
        <p14:creationId xmlns:p14="http://schemas.microsoft.com/office/powerpoint/2010/main" val="14781794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2E5BD45-B5A0-4654-B232-F8508C108E19}" type="slidenum">
              <a:rPr lang="en-US" smtClean="0"/>
              <a:pPr/>
              <a:t>2</a:t>
            </a:fld>
            <a:endParaRPr lang="en-US" dirty="0"/>
          </a:p>
        </p:txBody>
      </p:sp>
    </p:spTree>
    <p:extLst>
      <p:ext uri="{BB962C8B-B14F-4D97-AF65-F5344CB8AC3E}">
        <p14:creationId xmlns:p14="http://schemas.microsoft.com/office/powerpoint/2010/main" val="16030859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2E5BD45-B5A0-4654-B232-F8508C108E19}" type="slidenum">
              <a:rPr lang="en-US" smtClean="0"/>
              <a:pPr/>
              <a:t>8</a:t>
            </a:fld>
            <a:endParaRPr lang="en-US" dirty="0"/>
          </a:p>
        </p:txBody>
      </p:sp>
    </p:spTree>
    <p:extLst>
      <p:ext uri="{BB962C8B-B14F-4D97-AF65-F5344CB8AC3E}">
        <p14:creationId xmlns:p14="http://schemas.microsoft.com/office/powerpoint/2010/main" val="36308127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2E5BD45-B5A0-4654-B232-F8508C108E19}" type="slidenum">
              <a:rPr lang="en-US" smtClean="0"/>
              <a:pPr/>
              <a:t>9</a:t>
            </a:fld>
            <a:endParaRPr lang="en-US" dirty="0"/>
          </a:p>
        </p:txBody>
      </p:sp>
    </p:spTree>
    <p:extLst>
      <p:ext uri="{BB962C8B-B14F-4D97-AF65-F5344CB8AC3E}">
        <p14:creationId xmlns:p14="http://schemas.microsoft.com/office/powerpoint/2010/main" val="26351315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2E5BD45-B5A0-4654-B232-F8508C108E19}" type="slidenum">
              <a:rPr lang="en-US" smtClean="0"/>
              <a:pPr/>
              <a:t>10</a:t>
            </a:fld>
            <a:endParaRPr lang="en-US" dirty="0"/>
          </a:p>
        </p:txBody>
      </p:sp>
    </p:spTree>
    <p:extLst>
      <p:ext uri="{BB962C8B-B14F-4D97-AF65-F5344CB8AC3E}">
        <p14:creationId xmlns:p14="http://schemas.microsoft.com/office/powerpoint/2010/main" val="35693469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2E5BD45-B5A0-4654-B232-F8508C108E19}" type="slidenum">
              <a:rPr lang="en-US" smtClean="0"/>
              <a:pPr/>
              <a:t>11</a:t>
            </a:fld>
            <a:endParaRPr lang="en-US" dirty="0"/>
          </a:p>
        </p:txBody>
      </p:sp>
    </p:spTree>
    <p:extLst>
      <p:ext uri="{BB962C8B-B14F-4D97-AF65-F5344CB8AC3E}">
        <p14:creationId xmlns:p14="http://schemas.microsoft.com/office/powerpoint/2010/main" val="17184701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2E5BD45-B5A0-4654-B232-F8508C108E19}" type="slidenum">
              <a:rPr lang="en-US" smtClean="0"/>
              <a:pPr/>
              <a:t>12</a:t>
            </a:fld>
            <a:endParaRPr lang="en-US" dirty="0"/>
          </a:p>
        </p:txBody>
      </p:sp>
    </p:spTree>
    <p:extLst>
      <p:ext uri="{BB962C8B-B14F-4D97-AF65-F5344CB8AC3E}">
        <p14:creationId xmlns:p14="http://schemas.microsoft.com/office/powerpoint/2010/main" val="12512649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2E5BD45-B5A0-4654-B232-F8508C108E19}" type="slidenum">
              <a:rPr lang="en-US" smtClean="0"/>
              <a:pPr/>
              <a:t>13</a:t>
            </a:fld>
            <a:endParaRPr lang="en-US" dirty="0"/>
          </a:p>
        </p:txBody>
      </p:sp>
    </p:spTree>
    <p:extLst>
      <p:ext uri="{BB962C8B-B14F-4D97-AF65-F5344CB8AC3E}">
        <p14:creationId xmlns:p14="http://schemas.microsoft.com/office/powerpoint/2010/main" val="37659682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2E5BD45-B5A0-4654-B232-F8508C108E19}" type="slidenum">
              <a:rPr lang="en-US" smtClean="0"/>
              <a:pPr/>
              <a:t>14</a:t>
            </a:fld>
            <a:endParaRPr lang="en-US" dirty="0"/>
          </a:p>
        </p:txBody>
      </p:sp>
    </p:spTree>
    <p:extLst>
      <p:ext uri="{BB962C8B-B14F-4D97-AF65-F5344CB8AC3E}">
        <p14:creationId xmlns:p14="http://schemas.microsoft.com/office/powerpoint/2010/main" val="37872313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2E5BD45-B5A0-4654-B232-F8508C108E19}" type="slidenum">
              <a:rPr lang="en-US" smtClean="0"/>
              <a:pPr/>
              <a:t>15</a:t>
            </a:fld>
            <a:endParaRPr lang="en-US" dirty="0"/>
          </a:p>
        </p:txBody>
      </p:sp>
    </p:spTree>
    <p:extLst>
      <p:ext uri="{BB962C8B-B14F-4D97-AF65-F5344CB8AC3E}">
        <p14:creationId xmlns:p14="http://schemas.microsoft.com/office/powerpoint/2010/main" val="33394385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2E5BD45-B5A0-4654-B232-F8508C108E19}" type="slidenum">
              <a:rPr lang="en-US" smtClean="0"/>
              <a:pPr/>
              <a:t>16</a:t>
            </a:fld>
            <a:endParaRPr lang="en-US" dirty="0"/>
          </a:p>
        </p:txBody>
      </p:sp>
    </p:spTree>
    <p:extLst>
      <p:ext uri="{BB962C8B-B14F-4D97-AF65-F5344CB8AC3E}">
        <p14:creationId xmlns:p14="http://schemas.microsoft.com/office/powerpoint/2010/main" val="10436504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2E5BD45-B5A0-4654-B232-F8508C108E19}" type="slidenum">
              <a:rPr lang="en-US" smtClean="0"/>
              <a:pPr/>
              <a:t>17</a:t>
            </a:fld>
            <a:endParaRPr lang="en-US" dirty="0"/>
          </a:p>
        </p:txBody>
      </p:sp>
    </p:spTree>
    <p:extLst>
      <p:ext uri="{BB962C8B-B14F-4D97-AF65-F5344CB8AC3E}">
        <p14:creationId xmlns:p14="http://schemas.microsoft.com/office/powerpoint/2010/main" val="8232774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2E5BD45-B5A0-4654-B232-F8508C108E19}" type="slidenum">
              <a:rPr lang="en-US" smtClean="0"/>
              <a:pPr/>
              <a:t>18</a:t>
            </a:fld>
            <a:endParaRPr lang="en-US" dirty="0"/>
          </a:p>
        </p:txBody>
      </p:sp>
    </p:spTree>
    <p:extLst>
      <p:ext uri="{BB962C8B-B14F-4D97-AF65-F5344CB8AC3E}">
        <p14:creationId xmlns:p14="http://schemas.microsoft.com/office/powerpoint/2010/main" val="16777410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2E5BD45-B5A0-4654-B232-F8508C108E19}" type="slidenum">
              <a:rPr lang="en-US" smtClean="0"/>
              <a:pPr/>
              <a:t>19</a:t>
            </a:fld>
            <a:endParaRPr lang="en-US" dirty="0"/>
          </a:p>
        </p:txBody>
      </p:sp>
    </p:spTree>
    <p:extLst>
      <p:ext uri="{BB962C8B-B14F-4D97-AF65-F5344CB8AC3E}">
        <p14:creationId xmlns:p14="http://schemas.microsoft.com/office/powerpoint/2010/main" val="16706687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2E5BD45-B5A0-4654-B232-F8508C108E19}" type="slidenum">
              <a:rPr lang="en-US" smtClean="0"/>
              <a:pPr/>
              <a:t>20</a:t>
            </a:fld>
            <a:endParaRPr lang="en-US" dirty="0"/>
          </a:p>
        </p:txBody>
      </p:sp>
    </p:spTree>
    <p:extLst>
      <p:ext uri="{BB962C8B-B14F-4D97-AF65-F5344CB8AC3E}">
        <p14:creationId xmlns:p14="http://schemas.microsoft.com/office/powerpoint/2010/main" val="26892934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359B5A4E-08A9-457D-89E6-C51BF6DBFCFA}" type="slidenum">
              <a:rPr lang="en-GB" smtClean="0"/>
              <a:pPr/>
              <a:t>33</a:t>
            </a:fld>
            <a:endParaRPr lang="en-GB"/>
          </a:p>
        </p:txBody>
      </p:sp>
    </p:spTree>
    <p:extLst>
      <p:ext uri="{BB962C8B-B14F-4D97-AF65-F5344CB8AC3E}">
        <p14:creationId xmlns:p14="http://schemas.microsoft.com/office/powerpoint/2010/main" val="31141876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359B5A4E-08A9-457D-89E6-C51BF6DBFCFA}" type="slidenum">
              <a:rPr lang="en-GB" smtClean="0"/>
              <a:pPr/>
              <a:t>34</a:t>
            </a:fld>
            <a:endParaRPr lang="en-GB"/>
          </a:p>
        </p:txBody>
      </p:sp>
    </p:spTree>
    <p:extLst>
      <p:ext uri="{BB962C8B-B14F-4D97-AF65-F5344CB8AC3E}">
        <p14:creationId xmlns:p14="http://schemas.microsoft.com/office/powerpoint/2010/main" val="27787496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A5C7B86-D13B-4832-AA07-D18C8BFA4D42}" type="datetime1">
              <a:rPr lang="en-GB" smtClean="0"/>
              <a:t>07/11/2025</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7A0D5CAB-8BF0-4EA3-BAE4-9835C852A49B}" type="slidenum">
              <a:rPr lang="en-GB" smtClean="0"/>
              <a:pPr/>
              <a:t>‹#›</a:t>
            </a:fld>
            <a:endParaRPr lang="en-GB"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4278D40-FCC6-4EA5-A31C-D83C09DF9D09}" type="datetime1">
              <a:rPr lang="en-GB" smtClean="0"/>
              <a:t>07/11/2025</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7A0D5CAB-8BF0-4EA3-BAE4-9835C852A49B}" type="slidenum">
              <a:rPr lang="en-GB" smtClean="0"/>
              <a:pPr/>
              <a:t>‹#›</a:t>
            </a:fld>
            <a:endParaRPr lang="en-GB"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BA5D401-359D-4EFC-AF63-A00BF24F3200}" type="datetime1">
              <a:rPr lang="en-GB" smtClean="0"/>
              <a:t>07/11/2025</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7A0D5CAB-8BF0-4EA3-BAE4-9835C852A49B}" type="slidenum">
              <a:rPr lang="en-GB" smtClean="0"/>
              <a:pPr/>
              <a:t>‹#›</a:t>
            </a:fld>
            <a:endParaRPr lang="en-GB"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4099D5E-CC0C-432D-9637-AB9ED7770BA3}" type="datetime1">
              <a:rPr lang="en-GB" smtClean="0"/>
              <a:t>07/11/2025</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7A0D5CAB-8BF0-4EA3-BAE4-9835C852A49B}" type="slidenum">
              <a:rPr lang="en-GB" smtClean="0"/>
              <a:pPr/>
              <a:t>‹#›</a:t>
            </a:fld>
            <a:endParaRPr lang="en-GB"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D2EA47E-BF74-4B7A-8AB2-40B0DF9C910B}" type="datetime1">
              <a:rPr lang="en-GB" smtClean="0"/>
              <a:t>07/11/2025</a:t>
            </a:fld>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fld id="{7A0D5CAB-8BF0-4EA3-BAE4-9835C852A49B}" type="slidenum">
              <a:rPr lang="en-GB" smtClean="0"/>
              <a:pPr/>
              <a:t>‹#›</a:t>
            </a:fld>
            <a:endParaRPr lang="en-GB"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C3A338F-3734-4210-960B-E3A99B79234E}" type="datetime1">
              <a:rPr lang="en-GB" smtClean="0"/>
              <a:t>07/11/2025</a:t>
            </a:fld>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7A0D5CAB-8BF0-4EA3-BAE4-9835C852A49B}" type="slidenum">
              <a:rPr lang="en-GB" smtClean="0"/>
              <a:pPr/>
              <a:t>‹#›</a:t>
            </a:fld>
            <a:endParaRPr lang="en-GB"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5784C3-2DAD-4EA2-A8E1-ACAD9C57A2F0}" type="datetime1">
              <a:rPr lang="en-GB" smtClean="0"/>
              <a:t>07/11/2025</a:t>
            </a:fld>
            <a:endParaRPr lang="en-GB" dirty="0"/>
          </a:p>
        </p:txBody>
      </p:sp>
      <p:sp>
        <p:nvSpPr>
          <p:cNvPr id="3" name="Footer Placeholder 2"/>
          <p:cNvSpPr>
            <a:spLocks noGrp="1"/>
          </p:cNvSpPr>
          <p:nvPr>
            <p:ph type="ftr" sz="quarter" idx="11"/>
          </p:nvPr>
        </p:nvSpPr>
        <p:spPr/>
        <p:txBody>
          <a:bodyPr/>
          <a:lstStyle/>
          <a:p>
            <a:endParaRPr lang="en-GB" dirty="0"/>
          </a:p>
        </p:txBody>
      </p:sp>
      <p:sp>
        <p:nvSpPr>
          <p:cNvPr id="4" name="Slide Number Placeholder 3"/>
          <p:cNvSpPr>
            <a:spLocks noGrp="1"/>
          </p:cNvSpPr>
          <p:nvPr>
            <p:ph type="sldNum" sz="quarter" idx="12"/>
          </p:nvPr>
        </p:nvSpPr>
        <p:spPr/>
        <p:txBody>
          <a:bodyPr/>
          <a:lstStyle/>
          <a:p>
            <a:fld id="{7A0D5CAB-8BF0-4EA3-BAE4-9835C852A49B}" type="slidenum">
              <a:rPr lang="en-GB" smtClean="0"/>
              <a:pPr/>
              <a:t>‹#›</a:t>
            </a:fld>
            <a:endParaRPr lang="en-GB"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621A83B-7396-4A2F-99B9-0D864603C5AF}" type="datetime1">
              <a:rPr lang="en-GB" smtClean="0"/>
              <a:t>07/11/2025</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7A0D5CAB-8BF0-4EA3-BAE4-9835C852A49B}" type="slidenum">
              <a:rPr lang="en-GB" smtClean="0"/>
              <a:pPr/>
              <a:t>‹#›</a:t>
            </a:fld>
            <a:endParaRPr lang="en-GB"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306DA96-0F4F-41DC-9222-9A1038A8985B}" type="datetime1">
              <a:rPr lang="en-GB" smtClean="0"/>
              <a:t>07/11/2025</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7A0D5CAB-8BF0-4EA3-BAE4-9835C852A49B}" type="slidenum">
              <a:rPr lang="en-GB" smtClean="0"/>
              <a:pPr/>
              <a:t>‹#›</a:t>
            </a:fld>
            <a:endParaRPr lang="en-GB"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67F5BE7-B3C2-4221-810F-3B1063769986}" type="datetime1">
              <a:rPr lang="en-GB" smtClean="0"/>
              <a:t>07/11/2025</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7A0D5CAB-8BF0-4EA3-BAE4-9835C852A49B}" type="slidenum">
              <a:rPr lang="en-GB" smtClean="0"/>
              <a:pPr/>
              <a:t>‹#›</a:t>
            </a:fld>
            <a:endParaRPr lang="en-GB"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2D2FF59-C792-4E0F-897D-9149A7060804}" type="datetime1">
              <a:rPr lang="en-GB" smtClean="0"/>
              <a:t>07/11/2025</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7A0D5CAB-8BF0-4EA3-BAE4-9835C852A49B}" type="slidenum">
              <a:rPr lang="en-GB" smtClean="0"/>
              <a:pPr/>
              <a:t>‹#›</a:t>
            </a:fld>
            <a:endParaRPr lang="en-GB"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894E0C5-E329-45E9-836A-E492B96FA9C8}" type="datetime1">
              <a:rPr lang="en-GB" smtClean="0"/>
              <a:t>07/11/2025</a:t>
            </a:fld>
            <a:endParaRPr lang="en-GB"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0D5CAB-8BF0-4EA3-BAE4-9835C852A49B}" type="slidenum">
              <a:rPr lang="en-GB" smtClean="0"/>
              <a:pPr/>
              <a:t>‹#›</a:t>
            </a:fld>
            <a:endParaRPr lang="en-GB"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7.wmf"/><Relationship Id="rId4" Type="http://schemas.openxmlformats.org/officeDocument/2006/relationships/image" Target="../media/image16.wmf"/></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3" Type="http://schemas.openxmlformats.org/officeDocument/2006/relationships/image" Target="../media/image18.png"/><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 Id="rId14" Type="http://schemas.openxmlformats.org/officeDocument/2006/relationships/image" Target="../media/image29.png"/></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28.png"/><Relationship Id="rId3" Type="http://schemas.openxmlformats.org/officeDocument/2006/relationships/image" Target="../media/image32.png"/><Relationship Id="rId7" Type="http://schemas.openxmlformats.org/officeDocument/2006/relationships/image" Target="../media/image22.png"/><Relationship Id="rId12" Type="http://schemas.openxmlformats.org/officeDocument/2006/relationships/image" Target="../media/image34.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 Id="rId14" Type="http://schemas.openxmlformats.org/officeDocument/2006/relationships/image" Target="../media/image35.png"/></Relationships>
</file>

<file path=ppt/slides/_rels/slide1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1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41.wmf"/><Relationship Id="rId4" Type="http://schemas.openxmlformats.org/officeDocument/2006/relationships/image" Target="../media/image40.png"/></Relationships>
</file>

<file path=ppt/slides/_rels/slide18.xml.rels><?xml version="1.0" encoding="UTF-8" standalone="yes"?>
<Relationships xmlns="http://schemas.openxmlformats.org/package/2006/relationships"><Relationship Id="rId8" Type="http://schemas.openxmlformats.org/officeDocument/2006/relationships/image" Target="../media/image47.png"/><Relationship Id="rId13" Type="http://schemas.openxmlformats.org/officeDocument/2006/relationships/image" Target="../media/image52.png"/><Relationship Id="rId3" Type="http://schemas.openxmlformats.org/officeDocument/2006/relationships/image" Target="../media/image42.png"/><Relationship Id="rId7" Type="http://schemas.openxmlformats.org/officeDocument/2006/relationships/image" Target="../media/image46.png"/><Relationship Id="rId12" Type="http://schemas.openxmlformats.org/officeDocument/2006/relationships/image" Target="../media/image51.png"/><Relationship Id="rId2" Type="http://schemas.openxmlformats.org/officeDocument/2006/relationships/notesSlide" Target="../notesSlides/notesSlide12.xml"/><Relationship Id="rId16" Type="http://schemas.openxmlformats.org/officeDocument/2006/relationships/image" Target="../media/image55.png"/><Relationship Id="rId1" Type="http://schemas.openxmlformats.org/officeDocument/2006/relationships/slideLayout" Target="../slideLayouts/slideLayout2.xml"/><Relationship Id="rId6" Type="http://schemas.openxmlformats.org/officeDocument/2006/relationships/image" Target="../media/image45.png"/><Relationship Id="rId11" Type="http://schemas.openxmlformats.org/officeDocument/2006/relationships/image" Target="../media/image50.png"/><Relationship Id="rId5" Type="http://schemas.openxmlformats.org/officeDocument/2006/relationships/image" Target="../media/image44.png"/><Relationship Id="rId15" Type="http://schemas.openxmlformats.org/officeDocument/2006/relationships/image" Target="../media/image54.png"/><Relationship Id="rId10" Type="http://schemas.openxmlformats.org/officeDocument/2006/relationships/image" Target="../media/image49.png"/><Relationship Id="rId4" Type="http://schemas.openxmlformats.org/officeDocument/2006/relationships/image" Target="../media/image43.png"/><Relationship Id="rId9" Type="http://schemas.openxmlformats.org/officeDocument/2006/relationships/image" Target="../media/image48.png"/><Relationship Id="rId14" Type="http://schemas.openxmlformats.org/officeDocument/2006/relationships/image" Target="../media/image53.png"/></Relationships>
</file>

<file path=ppt/slides/_rels/slide1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2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 Id="rId6" Type="http://schemas.openxmlformats.org/officeDocument/2006/relationships/image" Target="../media/image59.emf"/><Relationship Id="rId5" Type="http://schemas.openxmlformats.org/officeDocument/2006/relationships/image" Target="../media/image62.png"/><Relationship Id="rId4" Type="http://schemas.openxmlformats.org/officeDocument/2006/relationships/image" Target="../media/image61.png"/></Relationships>
</file>

<file path=ppt/slides/_rels/slide25.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61.emf"/><Relationship Id="rId2" Type="http://schemas.openxmlformats.org/officeDocument/2006/relationships/image" Target="../media/image60.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2.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63.emf"/><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65.emf"/><Relationship Id="rId2" Type="http://schemas.openxmlformats.org/officeDocument/2006/relationships/image" Target="../media/image64.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66.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7.gi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69.emf"/><Relationship Id="rId4" Type="http://schemas.openxmlformats.org/officeDocument/2006/relationships/image" Target="../media/image68.wmf"/></Relationships>
</file>

<file path=ppt/slides/_rels/slide35.xml.rels><?xml version="1.0" encoding="UTF-8" standalone="yes"?>
<Relationships xmlns="http://schemas.openxmlformats.org/package/2006/relationships"><Relationship Id="rId3" Type="http://schemas.openxmlformats.org/officeDocument/2006/relationships/image" Target="../media/image70.emf"/><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 Id="rId5" Type="http://schemas.openxmlformats.org/officeDocument/2006/relationships/image" Target="../media/image71.png"/><Relationship Id="rId4" Type="http://schemas.openxmlformats.org/officeDocument/2006/relationships/image" Target="../media/image70.emf"/></Relationships>
</file>

<file path=ppt/slides/_rels/slide38.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2.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1.emf"/></Relationships>
</file>

<file path=ppt/slides/_rels/slide39.xml.rels><?xml version="1.0" encoding="UTF-8" standalone="yes"?>
<Relationships xmlns="http://schemas.openxmlformats.org/package/2006/relationships"><Relationship Id="rId3" Type="http://schemas.openxmlformats.org/officeDocument/2006/relationships/image" Target="../media/image78.png"/><Relationship Id="rId7" Type="http://schemas.openxmlformats.org/officeDocument/2006/relationships/image" Target="../media/image82.png"/><Relationship Id="rId2" Type="http://schemas.openxmlformats.org/officeDocument/2006/relationships/image" Target="../media/image77.png"/><Relationship Id="rId1" Type="http://schemas.openxmlformats.org/officeDocument/2006/relationships/slideLayout" Target="../slideLayouts/slideLayout2.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s>
</file>

<file path=ppt/slides/_rels/slide40.xml.rels><?xml version="1.0" encoding="UTF-8" standalone="yes"?>
<Relationships xmlns="http://schemas.openxmlformats.org/package/2006/relationships"><Relationship Id="rId8" Type="http://schemas.openxmlformats.org/officeDocument/2006/relationships/image" Target="../media/image89.png"/><Relationship Id="rId3" Type="http://schemas.openxmlformats.org/officeDocument/2006/relationships/image" Target="../media/image84.png"/><Relationship Id="rId7" Type="http://schemas.openxmlformats.org/officeDocument/2006/relationships/image" Target="../media/image88.png"/><Relationship Id="rId2" Type="http://schemas.openxmlformats.org/officeDocument/2006/relationships/image" Target="../media/image83.png"/><Relationship Id="rId1" Type="http://schemas.openxmlformats.org/officeDocument/2006/relationships/slideLayout" Target="../slideLayouts/slideLayout2.xml"/><Relationship Id="rId6" Type="http://schemas.openxmlformats.org/officeDocument/2006/relationships/image" Target="../media/image87.png"/><Relationship Id="rId5" Type="http://schemas.openxmlformats.org/officeDocument/2006/relationships/image" Target="../media/image86.png"/><Relationship Id="rId4" Type="http://schemas.openxmlformats.org/officeDocument/2006/relationships/image" Target="../media/image85.png"/></Relationships>
</file>

<file path=ppt/slides/_rels/slide41.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2.xml"/><Relationship Id="rId6" Type="http://schemas.openxmlformats.org/officeDocument/2006/relationships/image" Target="../media/image94.png"/><Relationship Id="rId5" Type="http://schemas.openxmlformats.org/officeDocument/2006/relationships/image" Target="../media/image93.png"/><Relationship Id="rId4" Type="http://schemas.openxmlformats.org/officeDocument/2006/relationships/image" Target="../media/image92.png"/></Relationships>
</file>

<file path=ppt/slides/_rels/slide42.xml.rels><?xml version="1.0" encoding="UTF-8" standalone="yes"?>
<Relationships xmlns="http://schemas.openxmlformats.org/package/2006/relationships"><Relationship Id="rId3" Type="http://schemas.openxmlformats.org/officeDocument/2006/relationships/image" Target="../media/image73.emf"/><Relationship Id="rId2" Type="http://schemas.openxmlformats.org/officeDocument/2006/relationships/image" Target="../media/image72.em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8" Type="http://schemas.openxmlformats.org/officeDocument/2006/relationships/image" Target="../media/image720.png"/><Relationship Id="rId13" Type="http://schemas.openxmlformats.org/officeDocument/2006/relationships/image" Target="../media/image770.png"/><Relationship Id="rId18" Type="http://schemas.openxmlformats.org/officeDocument/2006/relationships/image" Target="../media/image96.png"/><Relationship Id="rId3" Type="http://schemas.openxmlformats.org/officeDocument/2006/relationships/image" Target="../media/image670.png"/><Relationship Id="rId7" Type="http://schemas.openxmlformats.org/officeDocument/2006/relationships/image" Target="../media/image710.png"/><Relationship Id="rId12" Type="http://schemas.openxmlformats.org/officeDocument/2006/relationships/image" Target="../media/image760.png"/><Relationship Id="rId17" Type="http://schemas.openxmlformats.org/officeDocument/2006/relationships/image" Target="../media/image95.png"/><Relationship Id="rId2" Type="http://schemas.openxmlformats.org/officeDocument/2006/relationships/image" Target="../media/image74.gif"/><Relationship Id="rId16" Type="http://schemas.openxmlformats.org/officeDocument/2006/relationships/image" Target="../media/image800.png"/><Relationship Id="rId1" Type="http://schemas.openxmlformats.org/officeDocument/2006/relationships/slideLayout" Target="../slideLayouts/slideLayout2.xml"/><Relationship Id="rId6" Type="http://schemas.openxmlformats.org/officeDocument/2006/relationships/image" Target="../media/image700.png"/><Relationship Id="rId11" Type="http://schemas.openxmlformats.org/officeDocument/2006/relationships/image" Target="../media/image750.png"/><Relationship Id="rId5" Type="http://schemas.openxmlformats.org/officeDocument/2006/relationships/image" Target="../media/image690.png"/><Relationship Id="rId15" Type="http://schemas.openxmlformats.org/officeDocument/2006/relationships/image" Target="../media/image790.png"/><Relationship Id="rId10" Type="http://schemas.openxmlformats.org/officeDocument/2006/relationships/image" Target="../media/image74.png"/><Relationship Id="rId19" Type="http://schemas.openxmlformats.org/officeDocument/2006/relationships/image" Target="../media/image97.png"/><Relationship Id="rId4" Type="http://schemas.openxmlformats.org/officeDocument/2006/relationships/image" Target="../media/image680.png"/><Relationship Id="rId9" Type="http://schemas.openxmlformats.org/officeDocument/2006/relationships/image" Target="../media/image730.png"/><Relationship Id="rId14" Type="http://schemas.openxmlformats.org/officeDocument/2006/relationships/image" Target="../media/image780.png"/></Relationships>
</file>

<file path=ppt/slides/_rels/slide44.xml.rels><?xml version="1.0" encoding="UTF-8" standalone="yes"?>
<Relationships xmlns="http://schemas.openxmlformats.org/package/2006/relationships"><Relationship Id="rId3" Type="http://schemas.openxmlformats.org/officeDocument/2006/relationships/image" Target="../media/image830.png"/><Relationship Id="rId2" Type="http://schemas.openxmlformats.org/officeDocument/2006/relationships/image" Target="../media/image75.emf"/><Relationship Id="rId1" Type="http://schemas.openxmlformats.org/officeDocument/2006/relationships/slideLayout" Target="../slideLayouts/slideLayout2.xml"/><Relationship Id="rId4" Type="http://schemas.openxmlformats.org/officeDocument/2006/relationships/image" Target="../media/image840.png"/></Relationships>
</file>

<file path=ppt/slides/_rels/slide45.xml.rels><?xml version="1.0" encoding="UTF-8" standalone="yes"?>
<Relationships xmlns="http://schemas.openxmlformats.org/package/2006/relationships"><Relationship Id="rId8" Type="http://schemas.openxmlformats.org/officeDocument/2006/relationships/image" Target="../media/image910.png"/><Relationship Id="rId3" Type="http://schemas.openxmlformats.org/officeDocument/2006/relationships/image" Target="../media/image860.png"/><Relationship Id="rId7" Type="http://schemas.openxmlformats.org/officeDocument/2006/relationships/image" Target="../media/image900.png"/><Relationship Id="rId2" Type="http://schemas.openxmlformats.org/officeDocument/2006/relationships/image" Target="../media/image850.png"/><Relationship Id="rId1" Type="http://schemas.openxmlformats.org/officeDocument/2006/relationships/slideLayout" Target="../slideLayouts/slideLayout2.xml"/><Relationship Id="rId6" Type="http://schemas.openxmlformats.org/officeDocument/2006/relationships/image" Target="../media/image890.png"/><Relationship Id="rId5" Type="http://schemas.openxmlformats.org/officeDocument/2006/relationships/image" Target="../media/image880.png"/><Relationship Id="rId4" Type="http://schemas.openxmlformats.org/officeDocument/2006/relationships/image" Target="../media/image870.png"/><Relationship Id="rId9" Type="http://schemas.openxmlformats.org/officeDocument/2006/relationships/image" Target="../media/image9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539552" y="692696"/>
            <a:ext cx="8229600" cy="1143000"/>
          </a:xfrm>
        </p:spPr>
        <p:txBody>
          <a:bodyPr>
            <a:normAutofit/>
          </a:bodyPr>
          <a:lstStyle/>
          <a:p>
            <a:pPr algn="ctr"/>
            <a:r>
              <a:rPr lang="en-US" b="1" dirty="0"/>
              <a:t>Modern Control Systems (MCS)</a:t>
            </a:r>
            <a:endParaRPr lang="en-GB" dirty="0"/>
          </a:p>
        </p:txBody>
      </p:sp>
      <p:sp>
        <p:nvSpPr>
          <p:cNvPr id="6" name="TextBox 5"/>
          <p:cNvSpPr txBox="1"/>
          <p:nvPr/>
        </p:nvSpPr>
        <p:spPr>
          <a:xfrm>
            <a:off x="3827659" y="2996952"/>
            <a:ext cx="1931106" cy="830997"/>
          </a:xfrm>
          <a:prstGeom prst="rect">
            <a:avLst/>
          </a:prstGeom>
          <a:noFill/>
        </p:spPr>
        <p:txBody>
          <a:bodyPr wrap="none" rtlCol="0">
            <a:spAutoFit/>
          </a:bodyPr>
          <a:lstStyle/>
          <a:p>
            <a:pPr algn="ctr"/>
            <a:r>
              <a:rPr lang="en-GB" sz="2400" dirty="0"/>
              <a:t>Lecture-11-12</a:t>
            </a:r>
          </a:p>
          <a:p>
            <a:pPr algn="ctr"/>
            <a:r>
              <a:rPr lang="en-GB" sz="2400" dirty="0"/>
              <a:t>PID</a:t>
            </a:r>
          </a:p>
        </p:txBody>
      </p:sp>
      <p:sp>
        <p:nvSpPr>
          <p:cNvPr id="3" name="Slide Number Placeholder 2"/>
          <p:cNvSpPr>
            <a:spLocks noGrp="1"/>
          </p:cNvSpPr>
          <p:nvPr>
            <p:ph type="sldNum" sz="quarter" idx="12"/>
          </p:nvPr>
        </p:nvSpPr>
        <p:spPr/>
        <p:txBody>
          <a:bodyPr/>
          <a:lstStyle/>
          <a:p>
            <a:fld id="{7A0D5CAB-8BF0-4EA3-BAE4-9835C852A49B}" type="slidenum">
              <a:rPr lang="en-GB" smtClean="0"/>
              <a:pPr/>
              <a:t>1</a:t>
            </a:fld>
            <a:endParaRPr lang="en-GB" dirty="0"/>
          </a:p>
        </p:txBody>
      </p:sp>
    </p:spTree>
    <p:extLst>
      <p:ext uri="{BB962C8B-B14F-4D97-AF65-F5344CB8AC3E}">
        <p14:creationId xmlns:p14="http://schemas.microsoft.com/office/powerpoint/2010/main" val="28774913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965"/>
            <a:ext cx="8229600" cy="762000"/>
          </a:xfrm>
        </p:spPr>
        <p:txBody>
          <a:bodyPr/>
          <a:lstStyle/>
          <a:p>
            <a:pPr algn="ctr"/>
            <a:r>
              <a:rPr lang="en-US" dirty="0"/>
              <a:t>Lecture Outline</a:t>
            </a:r>
          </a:p>
        </p:txBody>
      </p:sp>
      <p:sp>
        <p:nvSpPr>
          <p:cNvPr id="3" name="Rectangle 2"/>
          <p:cNvSpPr/>
          <p:nvPr/>
        </p:nvSpPr>
        <p:spPr>
          <a:xfrm>
            <a:off x="76200" y="533400"/>
            <a:ext cx="7696200" cy="6318525"/>
          </a:xfrm>
          <a:prstGeom prst="rect">
            <a:avLst/>
          </a:prstGeom>
        </p:spPr>
        <p:txBody>
          <a:bodyPr wrap="square">
            <a:spAutoFit/>
          </a:bodyPr>
          <a:lstStyle/>
          <a:p>
            <a:pPr marL="573088" indent="-573088" algn="just">
              <a:lnSpc>
                <a:spcPct val="150000"/>
              </a:lnSpc>
              <a:buFont typeface="Wingdings" pitchFamily="2" charset="2"/>
              <a:buChar char="q"/>
            </a:pPr>
            <a:r>
              <a:rPr lang="en-US" sz="28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Introduction to PID</a:t>
            </a:r>
          </a:p>
          <a:p>
            <a:pPr marL="573088" indent="-573088" algn="just">
              <a:lnSpc>
                <a:spcPct val="150000"/>
              </a:lnSpc>
              <a:buFont typeface="Wingdings" pitchFamily="2" charset="2"/>
              <a:buChar char="q"/>
            </a:pPr>
            <a:r>
              <a:rPr lang="en-US" sz="28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Modes of Control</a:t>
            </a:r>
          </a:p>
          <a:p>
            <a:pPr marL="1030288" lvl="1" indent="-573088" algn="just">
              <a:lnSpc>
                <a:spcPct val="150000"/>
              </a:lnSpc>
              <a:buFont typeface="Wingdings" pitchFamily="2" charset="2"/>
              <a:buChar char="q"/>
            </a:pPr>
            <a:r>
              <a:rPr lang="en-US" sz="24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On-Off Control</a:t>
            </a:r>
          </a:p>
          <a:p>
            <a:pPr marL="1030288" lvl="1" indent="-573088" algn="just">
              <a:lnSpc>
                <a:spcPct val="150000"/>
              </a:lnSpc>
              <a:buFont typeface="Wingdings" pitchFamily="2" charset="2"/>
              <a:buChar char="q"/>
            </a:pPr>
            <a:r>
              <a:rPr lang="en-US" sz="24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Proportional Control</a:t>
            </a:r>
          </a:p>
          <a:p>
            <a:pPr marL="1030288" lvl="1" indent="-573088" algn="just">
              <a:lnSpc>
                <a:spcPct val="150000"/>
              </a:lnSpc>
              <a:buFont typeface="Wingdings" pitchFamily="2" charset="2"/>
              <a:buChar char="q"/>
            </a:pPr>
            <a:r>
              <a:rPr lang="en-US" sz="24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Proportional + Integral Control</a:t>
            </a:r>
          </a:p>
          <a:p>
            <a:pPr marL="1030288" lvl="1" indent="-573088" algn="just">
              <a:lnSpc>
                <a:spcPct val="150000"/>
              </a:lnSpc>
              <a:buFont typeface="Wingdings" pitchFamily="2" charset="2"/>
              <a:buChar char="q"/>
            </a:pPr>
            <a:r>
              <a:rPr lang="en-US" sz="24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Proportional + Derivative Control</a:t>
            </a:r>
          </a:p>
          <a:p>
            <a:pPr marL="1030288" lvl="1" indent="-573088" algn="just">
              <a:lnSpc>
                <a:spcPct val="150000"/>
              </a:lnSpc>
              <a:buFont typeface="Wingdings" pitchFamily="2" charset="2"/>
              <a:buChar char="q"/>
            </a:pPr>
            <a:r>
              <a:rPr lang="en-US" sz="24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Proportional + Integral + Derivative Control</a:t>
            </a:r>
          </a:p>
          <a:p>
            <a:pPr marL="573088" indent="-573088" algn="just">
              <a:lnSpc>
                <a:spcPct val="150000"/>
              </a:lnSpc>
              <a:buFont typeface="Wingdings" pitchFamily="2" charset="2"/>
              <a:buChar char="q"/>
            </a:pPr>
            <a:r>
              <a:rPr lang="en-US" sz="28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PID Tuning Rules</a:t>
            </a:r>
          </a:p>
          <a:p>
            <a:pPr marL="1030288" lvl="1" indent="-573088" algn="just">
              <a:lnSpc>
                <a:spcPct val="150000"/>
              </a:lnSpc>
              <a:buFont typeface="Wingdings" pitchFamily="2" charset="2"/>
              <a:buChar char="q"/>
            </a:pPr>
            <a:r>
              <a:rPr lang="en-US" sz="24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Zeigler-Nichol’s Tuning Rules</a:t>
            </a:r>
          </a:p>
          <a:p>
            <a:pPr marL="1487488" lvl="2" indent="-573088" algn="just">
              <a:lnSpc>
                <a:spcPct val="150000"/>
              </a:lnSpc>
              <a:buFont typeface="Wingdings" pitchFamily="2" charset="2"/>
              <a:buChar char="q"/>
            </a:pPr>
            <a:r>
              <a:rPr lang="en-US" sz="22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1</a:t>
            </a:r>
            <a:r>
              <a:rPr lang="en-US" sz="2200" b="1" baseline="3000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st</a:t>
            </a:r>
            <a:r>
              <a:rPr lang="en-US" sz="22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 Method</a:t>
            </a:r>
          </a:p>
          <a:p>
            <a:pPr marL="1487488" lvl="2" indent="-573088" algn="just">
              <a:lnSpc>
                <a:spcPct val="150000"/>
              </a:lnSpc>
              <a:buFont typeface="Wingdings" pitchFamily="2" charset="2"/>
              <a:buChar char="q"/>
            </a:pPr>
            <a:r>
              <a:rPr lang="en-US" sz="22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2</a:t>
            </a:r>
            <a:r>
              <a:rPr lang="en-US" sz="2200" b="1" baseline="3000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nd</a:t>
            </a:r>
            <a:r>
              <a:rPr lang="en-US" sz="22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 Method</a:t>
            </a:r>
          </a:p>
        </p:txBody>
      </p:sp>
      <p:sp>
        <p:nvSpPr>
          <p:cNvPr id="4" name="Slide Number Placeholder 3"/>
          <p:cNvSpPr>
            <a:spLocks noGrp="1"/>
          </p:cNvSpPr>
          <p:nvPr>
            <p:ph type="sldNum" sz="quarter" idx="12"/>
          </p:nvPr>
        </p:nvSpPr>
        <p:spPr/>
        <p:txBody>
          <a:bodyPr/>
          <a:lstStyle/>
          <a:p>
            <a:fld id="{7A0D5CAB-8BF0-4EA3-BAE4-9835C852A49B}" type="slidenum">
              <a:rPr lang="en-GB" smtClean="0"/>
              <a:pPr/>
              <a:t>2</a:t>
            </a:fld>
            <a:endParaRPr lang="en-GB" dirty="0"/>
          </a:p>
        </p:txBody>
      </p:sp>
    </p:spTree>
    <p:extLst>
      <p:ext uri="{BB962C8B-B14F-4D97-AF65-F5344CB8AC3E}">
        <p14:creationId xmlns:p14="http://schemas.microsoft.com/office/powerpoint/2010/main" val="35014931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3" name="Content Placeholder 2"/>
          <p:cNvSpPr>
            <a:spLocks noGrp="1"/>
          </p:cNvSpPr>
          <p:nvPr>
            <p:ph idx="1"/>
          </p:nvPr>
        </p:nvSpPr>
        <p:spPr/>
        <p:txBody>
          <a:bodyPr/>
          <a:lstStyle/>
          <a:p>
            <a:r>
              <a:rPr lang="en-US" dirty="0"/>
              <a:t>PID Stands for</a:t>
            </a:r>
          </a:p>
          <a:p>
            <a:pPr lvl="1"/>
            <a:r>
              <a:rPr lang="en-US" dirty="0"/>
              <a:t>P </a:t>
            </a:r>
            <a:r>
              <a:rPr lang="en-US" dirty="0">
                <a:sym typeface="Wingdings" panose="05000000000000000000" pitchFamily="2" charset="2"/>
              </a:rPr>
              <a:t> Proportional </a:t>
            </a:r>
          </a:p>
          <a:p>
            <a:pPr lvl="1"/>
            <a:r>
              <a:rPr lang="en-US" dirty="0">
                <a:sym typeface="Wingdings" panose="05000000000000000000" pitchFamily="2" charset="2"/>
              </a:rPr>
              <a:t>I   Integral</a:t>
            </a:r>
          </a:p>
          <a:p>
            <a:pPr lvl="1"/>
            <a:r>
              <a:rPr lang="en-US" dirty="0">
                <a:sym typeface="Wingdings" panose="05000000000000000000" pitchFamily="2" charset="2"/>
              </a:rPr>
              <a:t>D  Derivative</a:t>
            </a:r>
            <a:endParaRPr lang="en-US" dirty="0"/>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914400" y="4114800"/>
            <a:ext cx="7648037" cy="2011363"/>
          </a:xfrm>
          <a:prstGeom prst="rect">
            <a:avLst/>
          </a:prstGeom>
          <a:noFill/>
        </p:spPr>
      </p:pic>
      <p:sp>
        <p:nvSpPr>
          <p:cNvPr id="5" name="Slide Number Placeholder 4"/>
          <p:cNvSpPr>
            <a:spLocks noGrp="1"/>
          </p:cNvSpPr>
          <p:nvPr>
            <p:ph type="sldNum" sz="quarter" idx="12"/>
          </p:nvPr>
        </p:nvSpPr>
        <p:spPr/>
        <p:txBody>
          <a:bodyPr/>
          <a:lstStyle/>
          <a:p>
            <a:fld id="{7A0D5CAB-8BF0-4EA3-BAE4-9835C852A49B}" type="slidenum">
              <a:rPr lang="en-GB" smtClean="0"/>
              <a:pPr/>
              <a:t>3</a:t>
            </a:fld>
            <a:endParaRPr lang="en-GB" dirty="0"/>
          </a:p>
        </p:txBody>
      </p:sp>
    </p:spTree>
    <p:extLst>
      <p:ext uri="{BB962C8B-B14F-4D97-AF65-F5344CB8AC3E}">
        <p14:creationId xmlns:p14="http://schemas.microsoft.com/office/powerpoint/2010/main" val="3156039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76200"/>
            <a:ext cx="8229600" cy="868362"/>
          </a:xfrm>
        </p:spPr>
        <p:txBody>
          <a:bodyPr/>
          <a:lstStyle/>
          <a:p>
            <a:r>
              <a:rPr lang="en-US" dirty="0"/>
              <a:t>Introduction</a:t>
            </a:r>
          </a:p>
        </p:txBody>
      </p:sp>
      <p:sp>
        <p:nvSpPr>
          <p:cNvPr id="4" name="Content Placeholder 3"/>
          <p:cNvSpPr>
            <a:spLocks noGrp="1"/>
          </p:cNvSpPr>
          <p:nvPr>
            <p:ph idx="1"/>
          </p:nvPr>
        </p:nvSpPr>
        <p:spPr>
          <a:xfrm>
            <a:off x="152400" y="944562"/>
            <a:ext cx="8763000" cy="5608638"/>
          </a:xfrm>
        </p:spPr>
        <p:txBody>
          <a:bodyPr>
            <a:normAutofit/>
          </a:bodyPr>
          <a:lstStyle/>
          <a:p>
            <a:pPr algn="just"/>
            <a:r>
              <a:rPr lang="en-US" sz="2800" dirty="0"/>
              <a:t>The usefulness of PID controls lies in their general applicability to most control systems.</a:t>
            </a:r>
          </a:p>
          <a:p>
            <a:pPr algn="just"/>
            <a:endParaRPr lang="en-US" sz="2800" dirty="0"/>
          </a:p>
          <a:p>
            <a:pPr algn="just"/>
            <a:r>
              <a:rPr lang="en-US" sz="2800" dirty="0"/>
              <a:t>In particular, when the mathematical model of the plant is not known and therefore analytical design methods cannot be used, PID controls prove to be most useful.</a:t>
            </a:r>
          </a:p>
          <a:p>
            <a:pPr algn="just"/>
            <a:endParaRPr lang="en-US" sz="2800" dirty="0"/>
          </a:p>
          <a:p>
            <a:pPr algn="just"/>
            <a:r>
              <a:rPr lang="en-US" sz="2800" dirty="0"/>
              <a:t>In the field of process control systems, it is well known that the basic and modified PID control schemes have proved their usefulness in providing satisfactory control, although in many given situations they may not provide optimal control.</a:t>
            </a:r>
            <a:endParaRPr lang="en-US" sz="2600" dirty="0"/>
          </a:p>
        </p:txBody>
      </p:sp>
      <p:sp>
        <p:nvSpPr>
          <p:cNvPr id="2" name="Slide Number Placeholder 1"/>
          <p:cNvSpPr>
            <a:spLocks noGrp="1"/>
          </p:cNvSpPr>
          <p:nvPr>
            <p:ph type="sldNum" sz="quarter" idx="12"/>
          </p:nvPr>
        </p:nvSpPr>
        <p:spPr/>
        <p:txBody>
          <a:bodyPr/>
          <a:lstStyle/>
          <a:p>
            <a:fld id="{7A0D5CAB-8BF0-4EA3-BAE4-9835C852A49B}" type="slidenum">
              <a:rPr lang="en-GB" smtClean="0"/>
              <a:pPr/>
              <a:t>4</a:t>
            </a:fld>
            <a:endParaRPr lang="en-GB" dirty="0"/>
          </a:p>
        </p:txBody>
      </p:sp>
    </p:spTree>
    <p:extLst>
      <p:ext uri="{BB962C8B-B14F-4D97-AF65-F5344CB8AC3E}">
        <p14:creationId xmlns:p14="http://schemas.microsoft.com/office/powerpoint/2010/main" val="3246280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76200"/>
            <a:ext cx="8229600" cy="868362"/>
          </a:xfrm>
        </p:spPr>
        <p:txBody>
          <a:bodyPr/>
          <a:lstStyle/>
          <a:p>
            <a:r>
              <a:rPr lang="en-US" dirty="0"/>
              <a:t>Introduction</a:t>
            </a:r>
          </a:p>
        </p:txBody>
      </p:sp>
      <p:sp>
        <p:nvSpPr>
          <p:cNvPr id="4" name="Content Placeholder 3"/>
          <p:cNvSpPr>
            <a:spLocks noGrp="1"/>
          </p:cNvSpPr>
          <p:nvPr>
            <p:ph idx="1"/>
          </p:nvPr>
        </p:nvSpPr>
        <p:spPr>
          <a:xfrm>
            <a:off x="152400" y="944562"/>
            <a:ext cx="8763000" cy="5181601"/>
          </a:xfrm>
        </p:spPr>
        <p:txBody>
          <a:bodyPr>
            <a:normAutofit/>
          </a:bodyPr>
          <a:lstStyle/>
          <a:p>
            <a:pPr algn="just"/>
            <a:r>
              <a:rPr lang="en-US" sz="2800" dirty="0"/>
              <a:t>It is interesting to note that more than half of the industrial controllers in use today are PID controllers or modified PID controllers.</a:t>
            </a:r>
          </a:p>
          <a:p>
            <a:pPr algn="just"/>
            <a:endParaRPr lang="en-US" sz="2800" dirty="0"/>
          </a:p>
          <a:p>
            <a:pPr algn="just"/>
            <a:r>
              <a:rPr lang="en-US" sz="2800" dirty="0"/>
              <a:t>Because most PID controllers are adjusted on-site, many different types of tuning rules have been proposed in the literature. </a:t>
            </a:r>
          </a:p>
          <a:p>
            <a:pPr algn="just"/>
            <a:endParaRPr lang="en-US" sz="2800" dirty="0"/>
          </a:p>
          <a:p>
            <a:pPr algn="just"/>
            <a:r>
              <a:rPr lang="en-US" sz="2800" dirty="0"/>
              <a:t>Using these tuning rules, delicate and fine tuning of PID controllers can be made on-site.</a:t>
            </a:r>
            <a:endParaRPr lang="en-US" sz="2600" dirty="0"/>
          </a:p>
        </p:txBody>
      </p:sp>
      <p:sp>
        <p:nvSpPr>
          <p:cNvPr id="2" name="Slide Number Placeholder 1"/>
          <p:cNvSpPr>
            <a:spLocks noGrp="1"/>
          </p:cNvSpPr>
          <p:nvPr>
            <p:ph type="sldNum" sz="quarter" idx="12"/>
          </p:nvPr>
        </p:nvSpPr>
        <p:spPr/>
        <p:txBody>
          <a:bodyPr/>
          <a:lstStyle/>
          <a:p>
            <a:fld id="{7A0D5CAB-8BF0-4EA3-BAE4-9835C852A49B}" type="slidenum">
              <a:rPr lang="en-GB" smtClean="0"/>
              <a:pPr/>
              <a:t>5</a:t>
            </a:fld>
            <a:endParaRPr lang="en-GB" dirty="0"/>
          </a:p>
        </p:txBody>
      </p:sp>
    </p:spTree>
    <p:extLst>
      <p:ext uri="{BB962C8B-B14F-4D97-AF65-F5344CB8AC3E}">
        <p14:creationId xmlns:p14="http://schemas.microsoft.com/office/powerpoint/2010/main" val="46476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158E287-13C5-4757-B063-B6E617F60EDF}" type="slidenum">
              <a:rPr lang="en-US">
                <a:solidFill>
                  <a:schemeClr val="bg1"/>
                </a:solidFill>
              </a:rPr>
              <a:pPr eaLnBrk="1" hangingPunct="1"/>
              <a:t>6</a:t>
            </a:fld>
            <a:endParaRPr lang="en-US">
              <a:solidFill>
                <a:schemeClr val="bg1"/>
              </a:solidFill>
            </a:endParaRPr>
          </a:p>
        </p:txBody>
      </p:sp>
      <p:sp>
        <p:nvSpPr>
          <p:cNvPr id="15365" name="AutoShape 2"/>
          <p:cNvSpPr>
            <a:spLocks noGrp="1" noChangeArrowheads="1"/>
          </p:cNvSpPr>
          <p:nvPr>
            <p:ph type="title"/>
          </p:nvPr>
        </p:nvSpPr>
        <p:spPr>
          <a:xfrm>
            <a:off x="457200" y="0"/>
            <a:ext cx="8229600" cy="1143000"/>
          </a:xfrm>
        </p:spPr>
        <p:txBody>
          <a:bodyPr/>
          <a:lstStyle/>
          <a:p>
            <a:pPr eaLnBrk="1" hangingPunct="1"/>
            <a:r>
              <a:rPr lang="en-US" dirty="0"/>
              <a:t>Four Modes of Controllers</a:t>
            </a:r>
          </a:p>
        </p:txBody>
      </p:sp>
      <p:sp>
        <p:nvSpPr>
          <p:cNvPr id="2" name="Rectangle 1"/>
          <p:cNvSpPr/>
          <p:nvPr/>
        </p:nvSpPr>
        <p:spPr>
          <a:xfrm>
            <a:off x="152400" y="1574232"/>
            <a:ext cx="8763000" cy="4247317"/>
          </a:xfrm>
          <a:prstGeom prst="rect">
            <a:avLst/>
          </a:prstGeom>
        </p:spPr>
        <p:txBody>
          <a:bodyPr wrap="square">
            <a:spAutoFit/>
          </a:bodyPr>
          <a:lstStyle/>
          <a:p>
            <a:pPr marL="342900" indent="-342900" algn="just">
              <a:buFont typeface="Arial" panose="020B0604020202020204" pitchFamily="34" charset="0"/>
              <a:buChar char="•"/>
            </a:pPr>
            <a:r>
              <a:rPr lang="en-US" sz="3000" dirty="0"/>
              <a:t>Each mode of control has specific advantages and limitations. </a:t>
            </a:r>
          </a:p>
          <a:p>
            <a:pPr marL="342900" indent="-342900" algn="just">
              <a:buFont typeface="Arial" panose="020B0604020202020204" pitchFamily="34" charset="0"/>
              <a:buChar char="•"/>
            </a:pPr>
            <a:endParaRPr lang="en-US" sz="3000" dirty="0"/>
          </a:p>
          <a:p>
            <a:pPr marL="800100" lvl="1" indent="-342900" algn="just">
              <a:lnSpc>
                <a:spcPct val="150000"/>
              </a:lnSpc>
              <a:buFont typeface="Arial" panose="020B0604020202020204" pitchFamily="34" charset="0"/>
              <a:buChar char="•"/>
            </a:pPr>
            <a:r>
              <a:rPr lang="en-US" sz="2400" dirty="0"/>
              <a:t>On-Off (Bang Bang) Control</a:t>
            </a:r>
          </a:p>
          <a:p>
            <a:pPr marL="800100" lvl="1" indent="-342900" algn="just">
              <a:lnSpc>
                <a:spcPct val="150000"/>
              </a:lnSpc>
              <a:buFont typeface="Arial" panose="020B0604020202020204" pitchFamily="34" charset="0"/>
              <a:buChar char="•"/>
            </a:pPr>
            <a:r>
              <a:rPr lang="en-US" sz="2400" dirty="0"/>
              <a:t>Proportional   (</a:t>
            </a:r>
            <a:r>
              <a:rPr lang="en-US" sz="2400" dirty="0">
                <a:solidFill>
                  <a:srgbClr val="FF0000"/>
                </a:solidFill>
              </a:rPr>
              <a:t>P</a:t>
            </a:r>
            <a:r>
              <a:rPr lang="en-US" sz="2400" dirty="0"/>
              <a:t>)</a:t>
            </a:r>
          </a:p>
          <a:p>
            <a:pPr marL="800100" lvl="1" indent="-342900" algn="just">
              <a:lnSpc>
                <a:spcPct val="150000"/>
              </a:lnSpc>
              <a:buFont typeface="Arial" panose="020B0604020202020204" pitchFamily="34" charset="0"/>
              <a:buChar char="•"/>
            </a:pPr>
            <a:r>
              <a:rPr lang="en-US" sz="2400" dirty="0"/>
              <a:t>Proportional plus Integral (</a:t>
            </a:r>
            <a:r>
              <a:rPr lang="en-US" sz="2400" dirty="0">
                <a:solidFill>
                  <a:srgbClr val="FF0000"/>
                </a:solidFill>
              </a:rPr>
              <a:t>PI</a:t>
            </a:r>
            <a:r>
              <a:rPr lang="en-US" sz="2400" dirty="0"/>
              <a:t>)</a:t>
            </a:r>
          </a:p>
          <a:p>
            <a:pPr marL="800100" lvl="1" indent="-342900" algn="just">
              <a:lnSpc>
                <a:spcPct val="150000"/>
              </a:lnSpc>
              <a:buFont typeface="Arial" panose="020B0604020202020204" pitchFamily="34" charset="0"/>
              <a:buChar char="•"/>
            </a:pPr>
            <a:r>
              <a:rPr lang="en-US" sz="2400" dirty="0"/>
              <a:t>Proportional plus Derivative (</a:t>
            </a:r>
            <a:r>
              <a:rPr lang="en-US" sz="2400" dirty="0">
                <a:solidFill>
                  <a:srgbClr val="FF0000"/>
                </a:solidFill>
              </a:rPr>
              <a:t>PD</a:t>
            </a:r>
            <a:r>
              <a:rPr lang="en-US" sz="2400" dirty="0"/>
              <a:t>) </a:t>
            </a:r>
          </a:p>
          <a:p>
            <a:pPr marL="800100" lvl="1" indent="-342900" algn="just">
              <a:lnSpc>
                <a:spcPct val="150000"/>
              </a:lnSpc>
              <a:buFont typeface="Arial" panose="020B0604020202020204" pitchFamily="34" charset="0"/>
              <a:buChar char="•"/>
            </a:pPr>
            <a:r>
              <a:rPr lang="en-US" sz="2400" dirty="0"/>
              <a:t>Proportional plus Integral plus Derivative (</a:t>
            </a:r>
            <a:r>
              <a:rPr lang="en-US" sz="2400" dirty="0">
                <a:solidFill>
                  <a:srgbClr val="FF0000"/>
                </a:solidFill>
              </a:rPr>
              <a:t>PID</a:t>
            </a:r>
            <a:r>
              <a:rPr lang="en-US" sz="2400" dirty="0"/>
              <a:t>)</a:t>
            </a:r>
          </a:p>
        </p:txBody>
      </p:sp>
    </p:spTree>
    <p:extLst>
      <p:ext uri="{BB962C8B-B14F-4D97-AF65-F5344CB8AC3E}">
        <p14:creationId xmlns:p14="http://schemas.microsoft.com/office/powerpoint/2010/main" val="37823406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808038"/>
          </a:xfrm>
        </p:spPr>
        <p:txBody>
          <a:bodyPr/>
          <a:lstStyle/>
          <a:p>
            <a:r>
              <a:rPr lang="en-US" dirty="0"/>
              <a:t>On-Off Control</a:t>
            </a:r>
          </a:p>
        </p:txBody>
      </p:sp>
      <p:sp>
        <p:nvSpPr>
          <p:cNvPr id="4" name="Content Placeholder 3"/>
          <p:cNvSpPr>
            <a:spLocks noGrp="1"/>
          </p:cNvSpPr>
          <p:nvPr>
            <p:ph idx="1"/>
          </p:nvPr>
        </p:nvSpPr>
        <p:spPr>
          <a:xfrm>
            <a:off x="76200" y="1143000"/>
            <a:ext cx="8229600" cy="4525963"/>
          </a:xfrm>
        </p:spPr>
        <p:txBody>
          <a:bodyPr/>
          <a:lstStyle/>
          <a:p>
            <a:r>
              <a:rPr lang="en-US" dirty="0">
                <a:cs typeface="Times New Roman" panose="02020603050405020304" pitchFamily="18" charset="0"/>
              </a:rPr>
              <a:t>This is the simplest form of control. </a:t>
            </a:r>
          </a:p>
        </p:txBody>
      </p:sp>
      <p:grpSp>
        <p:nvGrpSpPr>
          <p:cNvPr id="12" name="Group 11"/>
          <p:cNvGrpSpPr/>
          <p:nvPr/>
        </p:nvGrpSpPr>
        <p:grpSpPr>
          <a:xfrm>
            <a:off x="466165" y="1981200"/>
            <a:ext cx="8220635" cy="4685273"/>
            <a:chOff x="466165" y="1981200"/>
            <a:chExt cx="8220635" cy="4685273"/>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6165" y="1981200"/>
              <a:ext cx="8220635" cy="4685273"/>
            </a:xfrm>
            <a:prstGeom prst="rect">
              <a:avLst/>
            </a:prstGeom>
            <a:noFill/>
            <a:extLst>
              <a:ext uri="{909E8E84-426E-40DD-AFC4-6F175D3DCCD1}">
                <a14:hiddenFill xmlns:a14="http://schemas.microsoft.com/office/drawing/2010/main">
                  <a:solidFill>
                    <a:srgbClr val="FFFFFF"/>
                  </a:solidFill>
                </a14:hiddenFill>
              </a:ext>
            </a:extLst>
          </p:spPr>
        </p:pic>
        <p:grpSp>
          <p:nvGrpSpPr>
            <p:cNvPr id="9" name="Group 8"/>
            <p:cNvGrpSpPr/>
            <p:nvPr/>
          </p:nvGrpSpPr>
          <p:grpSpPr>
            <a:xfrm>
              <a:off x="1905000" y="2361593"/>
              <a:ext cx="1600200" cy="1017494"/>
              <a:chOff x="1905000" y="2361593"/>
              <a:chExt cx="1600200" cy="1017494"/>
            </a:xfrm>
          </p:grpSpPr>
          <p:sp>
            <p:nvSpPr>
              <p:cNvPr id="5" name="Rectangle 4"/>
              <p:cNvSpPr/>
              <p:nvPr/>
            </p:nvSpPr>
            <p:spPr>
              <a:xfrm>
                <a:off x="1905000" y="2388487"/>
                <a:ext cx="1600200" cy="9906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7" name="Straight Connector 6"/>
              <p:cNvCxnSpPr/>
              <p:nvPr/>
            </p:nvCxnSpPr>
            <p:spPr>
              <a:xfrm>
                <a:off x="2057400" y="2514600"/>
                <a:ext cx="381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2057400" y="2873188"/>
                <a:ext cx="381000"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2057400" y="3200400"/>
                <a:ext cx="381000" cy="0"/>
              </a:xfrm>
              <a:prstGeom prst="line">
                <a:avLst/>
              </a:prstGeom>
              <a:ln w="28575">
                <a:solidFill>
                  <a:srgbClr val="2962A7"/>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2497576" y="2361593"/>
                <a:ext cx="840871" cy="307777"/>
              </a:xfrm>
              <a:prstGeom prst="rect">
                <a:avLst/>
              </a:prstGeom>
              <a:noFill/>
              <a:ln>
                <a:noFill/>
              </a:ln>
            </p:spPr>
            <p:txBody>
              <a:bodyPr wrap="none" rtlCol="0">
                <a:spAutoFit/>
              </a:bodyPr>
              <a:lstStyle/>
              <a:p>
                <a:r>
                  <a:rPr lang="en-US" sz="1400" dirty="0"/>
                  <a:t>Set point</a:t>
                </a:r>
              </a:p>
            </p:txBody>
          </p:sp>
          <p:sp>
            <p:nvSpPr>
              <p:cNvPr id="13" name="TextBox 12"/>
              <p:cNvSpPr txBox="1"/>
              <p:nvPr/>
            </p:nvSpPr>
            <p:spPr>
              <a:xfrm>
                <a:off x="2514600" y="2729145"/>
                <a:ext cx="552074" cy="307777"/>
              </a:xfrm>
              <a:prstGeom prst="rect">
                <a:avLst/>
              </a:prstGeom>
              <a:noFill/>
              <a:ln>
                <a:noFill/>
              </a:ln>
            </p:spPr>
            <p:txBody>
              <a:bodyPr wrap="none" rtlCol="0">
                <a:spAutoFit/>
              </a:bodyPr>
              <a:lstStyle/>
              <a:p>
                <a:r>
                  <a:rPr lang="en-US" sz="1400" dirty="0"/>
                  <a:t>Error</a:t>
                </a:r>
              </a:p>
            </p:txBody>
          </p:sp>
          <p:sp>
            <p:nvSpPr>
              <p:cNvPr id="14" name="TextBox 13"/>
              <p:cNvSpPr txBox="1"/>
              <p:nvPr/>
            </p:nvSpPr>
            <p:spPr>
              <a:xfrm>
                <a:off x="2456330" y="3036922"/>
                <a:ext cx="708848" cy="307777"/>
              </a:xfrm>
              <a:prstGeom prst="rect">
                <a:avLst/>
              </a:prstGeom>
              <a:noFill/>
              <a:ln>
                <a:noFill/>
              </a:ln>
            </p:spPr>
            <p:txBody>
              <a:bodyPr wrap="none" rtlCol="0">
                <a:spAutoFit/>
              </a:bodyPr>
              <a:lstStyle/>
              <a:p>
                <a:r>
                  <a:rPr lang="en-US" sz="1400" dirty="0"/>
                  <a:t>Output</a:t>
                </a:r>
              </a:p>
            </p:txBody>
          </p:sp>
        </p:grpSp>
      </p:grpSp>
      <p:sp>
        <p:nvSpPr>
          <p:cNvPr id="3" name="Slide Number Placeholder 2"/>
          <p:cNvSpPr>
            <a:spLocks noGrp="1"/>
          </p:cNvSpPr>
          <p:nvPr>
            <p:ph type="sldNum" sz="quarter" idx="12"/>
          </p:nvPr>
        </p:nvSpPr>
        <p:spPr/>
        <p:txBody>
          <a:bodyPr/>
          <a:lstStyle/>
          <a:p>
            <a:fld id="{7A0D5CAB-8BF0-4EA3-BAE4-9835C852A49B}" type="slidenum">
              <a:rPr lang="en-GB" smtClean="0"/>
              <a:pPr/>
              <a:t>7</a:t>
            </a:fld>
            <a:endParaRPr lang="en-GB" dirty="0"/>
          </a:p>
        </p:txBody>
      </p:sp>
    </p:spTree>
    <p:extLst>
      <p:ext uri="{BB962C8B-B14F-4D97-AF65-F5344CB8AC3E}">
        <p14:creationId xmlns:p14="http://schemas.microsoft.com/office/powerpoint/2010/main" val="3894250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8F5C88F-F18E-43B3-8155-BDCDA06E8F78}" type="slidenum">
              <a:rPr lang="en-US">
                <a:solidFill>
                  <a:schemeClr val="bg1"/>
                </a:solidFill>
              </a:rPr>
              <a:pPr eaLnBrk="1" hangingPunct="1"/>
              <a:t>8</a:t>
            </a:fld>
            <a:endParaRPr lang="en-US">
              <a:solidFill>
                <a:schemeClr val="bg1"/>
              </a:solidFill>
            </a:endParaRPr>
          </a:p>
        </p:txBody>
      </p:sp>
      <p:sp>
        <p:nvSpPr>
          <p:cNvPr id="16389" name="AutoShape 2"/>
          <p:cNvSpPr>
            <a:spLocks noGrp="1" noChangeArrowheads="1"/>
          </p:cNvSpPr>
          <p:nvPr>
            <p:ph type="title"/>
          </p:nvPr>
        </p:nvSpPr>
        <p:spPr>
          <a:xfrm>
            <a:off x="457200" y="33432"/>
            <a:ext cx="8229600" cy="695978"/>
          </a:xfrm>
        </p:spPr>
        <p:txBody>
          <a:bodyPr>
            <a:normAutofit/>
          </a:bodyPr>
          <a:lstStyle/>
          <a:p>
            <a:pPr eaLnBrk="1" hangingPunct="1"/>
            <a:r>
              <a:rPr lang="en-US" sz="3800" dirty="0"/>
              <a:t>Proportional Control (</a:t>
            </a:r>
            <a:r>
              <a:rPr lang="en-US" sz="3800" dirty="0">
                <a:solidFill>
                  <a:srgbClr val="FF0000"/>
                </a:solidFill>
              </a:rPr>
              <a:t>P</a:t>
            </a:r>
            <a:r>
              <a:rPr lang="en-US" sz="3800" dirty="0"/>
              <a:t>)</a:t>
            </a:r>
          </a:p>
        </p:txBody>
      </p:sp>
      <p:sp>
        <p:nvSpPr>
          <p:cNvPr id="16390" name="Rectangle 3"/>
          <p:cNvSpPr>
            <a:spLocks noGrp="1" noChangeArrowheads="1"/>
          </p:cNvSpPr>
          <p:nvPr>
            <p:ph type="body" idx="1"/>
          </p:nvPr>
        </p:nvSpPr>
        <p:spPr>
          <a:xfrm>
            <a:off x="0" y="762000"/>
            <a:ext cx="8839200" cy="5739839"/>
          </a:xfrm>
        </p:spPr>
        <p:txBody>
          <a:bodyPr>
            <a:normAutofit/>
          </a:bodyPr>
          <a:lstStyle/>
          <a:p>
            <a:pPr algn="just" eaLnBrk="1" hangingPunct="1">
              <a:lnSpc>
                <a:spcPct val="90000"/>
              </a:lnSpc>
            </a:pPr>
            <a:r>
              <a:rPr lang="en-US" sz="2600" dirty="0"/>
              <a:t>In </a:t>
            </a:r>
            <a:r>
              <a:rPr lang="en-US" sz="2600" i="1" dirty="0">
                <a:solidFill>
                  <a:srgbClr val="FF0000"/>
                </a:solidFill>
              </a:rPr>
              <a:t>proportional</a:t>
            </a:r>
            <a:r>
              <a:rPr lang="en-US" sz="2600" i="1" dirty="0"/>
              <a:t> mode</a:t>
            </a:r>
            <a:r>
              <a:rPr lang="en-US" sz="2600" dirty="0"/>
              <a:t>, there is a continuous linear relation between value of the controlled variable and position of the final control element. </a:t>
            </a:r>
          </a:p>
          <a:p>
            <a:pPr algn="just" eaLnBrk="1" hangingPunct="1">
              <a:lnSpc>
                <a:spcPct val="90000"/>
              </a:lnSpc>
            </a:pPr>
            <a:endParaRPr lang="en-US" sz="2600" dirty="0"/>
          </a:p>
          <a:p>
            <a:pPr algn="just" eaLnBrk="1" hangingPunct="1">
              <a:lnSpc>
                <a:spcPct val="90000"/>
              </a:lnSpc>
            </a:pPr>
            <a:endParaRPr lang="en-US" sz="2600" dirty="0"/>
          </a:p>
          <a:p>
            <a:pPr algn="just" eaLnBrk="1" hangingPunct="1">
              <a:lnSpc>
                <a:spcPct val="90000"/>
              </a:lnSpc>
            </a:pPr>
            <a:endParaRPr lang="en-US" sz="2600" dirty="0"/>
          </a:p>
          <a:p>
            <a:pPr algn="just" eaLnBrk="1" hangingPunct="1">
              <a:lnSpc>
                <a:spcPct val="90000"/>
              </a:lnSpc>
            </a:pPr>
            <a:endParaRPr lang="en-US" sz="2600" dirty="0"/>
          </a:p>
          <a:p>
            <a:pPr algn="just" eaLnBrk="1" hangingPunct="1">
              <a:lnSpc>
                <a:spcPct val="90000"/>
              </a:lnSpc>
            </a:pPr>
            <a:endParaRPr lang="en-US" sz="2400" dirty="0"/>
          </a:p>
          <a:p>
            <a:pPr algn="just" eaLnBrk="1" hangingPunct="1">
              <a:lnSpc>
                <a:spcPct val="90000"/>
              </a:lnSpc>
            </a:pPr>
            <a:r>
              <a:rPr lang="en-US" sz="2600" dirty="0"/>
              <a:t>Output of proportional controller is </a:t>
            </a:r>
          </a:p>
          <a:p>
            <a:pPr algn="just" eaLnBrk="1" hangingPunct="1">
              <a:lnSpc>
                <a:spcPct val="90000"/>
              </a:lnSpc>
            </a:pPr>
            <a:endParaRPr lang="en-US" sz="2600" dirty="0"/>
          </a:p>
          <a:p>
            <a:pPr algn="just" eaLnBrk="1" hangingPunct="1">
              <a:lnSpc>
                <a:spcPct val="90000"/>
              </a:lnSpc>
            </a:pPr>
            <a:endParaRPr lang="en-US" sz="1400" dirty="0"/>
          </a:p>
          <a:p>
            <a:pPr algn="just" eaLnBrk="1" hangingPunct="1">
              <a:lnSpc>
                <a:spcPct val="90000"/>
              </a:lnSpc>
            </a:pPr>
            <a:r>
              <a:rPr lang="en-US" sz="2600" dirty="0"/>
              <a:t>The transfer function can be written as</a:t>
            </a:r>
          </a:p>
        </p:txBody>
      </p:sp>
      <p:grpSp>
        <p:nvGrpSpPr>
          <p:cNvPr id="8" name="Group 7"/>
          <p:cNvGrpSpPr/>
          <p:nvPr/>
        </p:nvGrpSpPr>
        <p:grpSpPr>
          <a:xfrm>
            <a:off x="1196095" y="2037229"/>
            <a:ext cx="7185905" cy="2001371"/>
            <a:chOff x="967495" y="3276600"/>
            <a:chExt cx="7185905" cy="2001371"/>
          </a:xfrm>
        </p:grpSpPr>
        <p:sp>
          <p:nvSpPr>
            <p:cNvPr id="2" name="Rectangle 1"/>
            <p:cNvSpPr/>
            <p:nvPr/>
          </p:nvSpPr>
          <p:spPr>
            <a:xfrm>
              <a:off x="3482095" y="3276600"/>
              <a:ext cx="10668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p:cNvSpPr/>
            <p:nvPr/>
          </p:nvSpPr>
          <p:spPr>
            <a:xfrm>
              <a:off x="1958095" y="3429000"/>
              <a:ext cx="5334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Arrow Connector 4"/>
            <p:cNvCxnSpPr>
              <a:stCxn id="3" idx="6"/>
              <a:endCxn id="2" idx="1"/>
            </p:cNvCxnSpPr>
            <p:nvPr/>
          </p:nvCxnSpPr>
          <p:spPr>
            <a:xfrm>
              <a:off x="2491495" y="3695700"/>
              <a:ext cx="990600" cy="0"/>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cxnSp>
          <p:nvCxnSpPr>
            <p:cNvPr id="11" name="Straight Arrow Connector 10"/>
            <p:cNvCxnSpPr/>
            <p:nvPr/>
          </p:nvCxnSpPr>
          <p:spPr>
            <a:xfrm>
              <a:off x="967495" y="3693459"/>
              <a:ext cx="990600" cy="0"/>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cxnSp>
          <p:nvCxnSpPr>
            <p:cNvPr id="12" name="Straight Arrow Connector 11"/>
            <p:cNvCxnSpPr/>
            <p:nvPr/>
          </p:nvCxnSpPr>
          <p:spPr>
            <a:xfrm rot="16200000">
              <a:off x="1727253" y="4457700"/>
              <a:ext cx="990600" cy="0"/>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cxnSp>
          <p:nvCxnSpPr>
            <p:cNvPr id="13" name="Straight Arrow Connector 12"/>
            <p:cNvCxnSpPr/>
            <p:nvPr/>
          </p:nvCxnSpPr>
          <p:spPr>
            <a:xfrm>
              <a:off x="4522001" y="3706906"/>
              <a:ext cx="1920240" cy="0"/>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sp>
          <p:nvSpPr>
            <p:cNvPr id="6" name="TextBox 5"/>
            <p:cNvSpPr txBox="1"/>
            <p:nvPr/>
          </p:nvSpPr>
          <p:spPr>
            <a:xfrm>
              <a:off x="2350449" y="3822558"/>
              <a:ext cx="279244" cy="461665"/>
            </a:xfrm>
            <a:prstGeom prst="rect">
              <a:avLst/>
            </a:prstGeom>
            <a:noFill/>
          </p:spPr>
          <p:txBody>
            <a:bodyPr wrap="none" rtlCol="0">
              <a:spAutoFit/>
            </a:bodyPr>
            <a:lstStyle/>
            <a:p>
              <a:r>
                <a:rPr lang="en-US" sz="2400" dirty="0"/>
                <a:t>-</a:t>
              </a:r>
            </a:p>
          </p:txBody>
        </p:sp>
        <mc:AlternateContent xmlns:mc="http://schemas.openxmlformats.org/markup-compatibility/2006" xmlns:a14="http://schemas.microsoft.com/office/drawing/2010/main">
          <mc:Choice Requires="a14">
            <p:sp>
              <p:nvSpPr>
                <p:cNvPr id="7" name="TextBox 6"/>
                <p:cNvSpPr txBox="1"/>
                <p:nvPr/>
              </p:nvSpPr>
              <p:spPr>
                <a:xfrm>
                  <a:off x="994389" y="3356521"/>
                  <a:ext cx="45634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m:oMathPara>
                  </a14:m>
                  <a:endParaRPr lang="en-US" dirty="0"/>
                </a:p>
              </p:txBody>
            </p:sp>
          </mc:Choice>
          <mc:Fallback xmlns="">
            <p:sp>
              <p:nvSpPr>
                <p:cNvPr id="7" name="TextBox 6"/>
                <p:cNvSpPr txBox="1">
                  <a:spLocks noRot="1" noChangeAspect="1" noMove="1" noResize="1" noEditPoints="1" noAdjustHandles="1" noChangeArrowheads="1" noChangeShapeType="1" noTextEdit="1"/>
                </p:cNvSpPr>
                <p:nvPr/>
              </p:nvSpPr>
              <p:spPr>
                <a:xfrm>
                  <a:off x="994389" y="3356521"/>
                  <a:ext cx="456343" cy="276999"/>
                </a:xfrm>
                <a:prstGeom prst="rect">
                  <a:avLst/>
                </a:prstGeom>
                <a:blipFill rotWithShape="0">
                  <a:blip r:embed="rId3"/>
                  <a:stretch>
                    <a:fillRect l="-6757" t="-2174" r="-20270" b="-326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1689793" y="4053390"/>
                  <a:ext cx="46891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m:oMathPara>
                  </a14:m>
                  <a:endParaRPr lang="en-US" dirty="0"/>
                </a:p>
              </p:txBody>
            </p:sp>
          </mc:Choice>
          <mc:Fallback xmlns="">
            <p:sp>
              <p:nvSpPr>
                <p:cNvPr id="17" name="TextBox 16"/>
                <p:cNvSpPr txBox="1">
                  <a:spLocks noRot="1" noChangeAspect="1" noMove="1" noResize="1" noEditPoints="1" noAdjustHandles="1" noChangeArrowheads="1" noChangeShapeType="1" noTextEdit="1"/>
                </p:cNvSpPr>
                <p:nvPr/>
              </p:nvSpPr>
              <p:spPr>
                <a:xfrm>
                  <a:off x="1689793" y="4053390"/>
                  <a:ext cx="468910" cy="276999"/>
                </a:xfrm>
                <a:prstGeom prst="rect">
                  <a:avLst/>
                </a:prstGeom>
                <a:blipFill rotWithShape="0">
                  <a:blip r:embed="rId4"/>
                  <a:stretch>
                    <a:fillRect l="-12987" t="-4444" r="-18182" b="-3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2643895" y="3367346"/>
                  <a:ext cx="46115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𝑒</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m:oMathPara>
                  </a14:m>
                  <a:endParaRPr lang="en-US" dirty="0"/>
                </a:p>
              </p:txBody>
            </p:sp>
          </mc:Choice>
          <mc:Fallback xmlns="">
            <p:sp>
              <p:nvSpPr>
                <p:cNvPr id="18" name="TextBox 17"/>
                <p:cNvSpPr txBox="1">
                  <a:spLocks noRot="1" noChangeAspect="1" noMove="1" noResize="1" noEditPoints="1" noAdjustHandles="1" noChangeArrowheads="1" noChangeShapeType="1" noTextEdit="1"/>
                </p:cNvSpPr>
                <p:nvPr/>
              </p:nvSpPr>
              <p:spPr>
                <a:xfrm>
                  <a:off x="2643895" y="3367346"/>
                  <a:ext cx="461152" cy="276999"/>
                </a:xfrm>
                <a:prstGeom prst="rect">
                  <a:avLst/>
                </a:prstGeom>
                <a:blipFill rotWithShape="0">
                  <a:blip r:embed="rId5"/>
                  <a:stretch>
                    <a:fillRect l="-6579" t="-2174" r="-17105" b="-326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3773020" y="3429000"/>
                  <a:ext cx="486287" cy="4641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𝐾</m:t>
                            </m:r>
                          </m:e>
                          <m:sub>
                            <m:r>
                              <a:rPr lang="en-US" sz="2800" b="0" i="1" smtClean="0">
                                <a:latin typeface="Cambria Math" panose="02040503050406030204" pitchFamily="18" charset="0"/>
                              </a:rPr>
                              <m:t>𝑝</m:t>
                            </m:r>
                          </m:sub>
                        </m:sSub>
                      </m:oMath>
                    </m:oMathPara>
                  </a14:m>
                  <a:endParaRPr lang="en-US" sz="2800" dirty="0"/>
                </a:p>
              </p:txBody>
            </p:sp>
          </mc:Choice>
          <mc:Fallback xmlns="">
            <p:sp>
              <p:nvSpPr>
                <p:cNvPr id="19" name="TextBox 18"/>
                <p:cNvSpPr txBox="1">
                  <a:spLocks noRot="1" noChangeAspect="1" noMove="1" noResize="1" noEditPoints="1" noAdjustHandles="1" noChangeArrowheads="1" noChangeShapeType="1" noTextEdit="1"/>
                </p:cNvSpPr>
                <p:nvPr/>
              </p:nvSpPr>
              <p:spPr>
                <a:xfrm>
                  <a:off x="3773020" y="3429000"/>
                  <a:ext cx="486287" cy="464101"/>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p:cNvSpPr txBox="1"/>
                <p:nvPr/>
              </p:nvSpPr>
              <p:spPr>
                <a:xfrm>
                  <a:off x="4625095" y="3357165"/>
                  <a:ext cx="1549591" cy="29841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r>
                              <a:rPr lang="en-US" b="0" i="1" baseline="-25000"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𝐾</m:t>
                            </m:r>
                          </m:e>
                          <m:sub>
                            <m:r>
                              <a:rPr lang="en-US" b="0" i="1" smtClean="0">
                                <a:latin typeface="Cambria Math" panose="02040503050406030204" pitchFamily="18" charset="0"/>
                              </a:rPr>
                              <m:t>𝑝</m:t>
                            </m:r>
                          </m:sub>
                        </m:sSub>
                        <m:r>
                          <a:rPr lang="en-US" b="0" i="1" smtClean="0">
                            <a:latin typeface="Cambria Math" panose="02040503050406030204" pitchFamily="18" charset="0"/>
                          </a:rPr>
                          <m:t>𝑒</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m:oMathPara>
                  </a14:m>
                  <a:endParaRPr lang="en-US" dirty="0"/>
                </a:p>
              </p:txBody>
            </p:sp>
          </mc:Choice>
          <mc:Fallback xmlns="">
            <p:sp>
              <p:nvSpPr>
                <p:cNvPr id="20" name="TextBox 19"/>
                <p:cNvSpPr txBox="1">
                  <a:spLocks noRot="1" noChangeAspect="1" noMove="1" noResize="1" noEditPoints="1" noAdjustHandles="1" noChangeArrowheads="1" noChangeShapeType="1" noTextEdit="1"/>
                </p:cNvSpPr>
                <p:nvPr/>
              </p:nvSpPr>
              <p:spPr>
                <a:xfrm>
                  <a:off x="4625095" y="3357165"/>
                  <a:ext cx="1549591" cy="298415"/>
                </a:xfrm>
                <a:prstGeom prst="rect">
                  <a:avLst/>
                </a:prstGeom>
                <a:blipFill rotWithShape="0">
                  <a:blip r:embed="rId7"/>
                  <a:stretch>
                    <a:fillRect l="-394" r="-3937" b="-2653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3410151" y="4097516"/>
                  <a:ext cx="1301767"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𝑃𝑟𝑜𝑝𝑜𝑟𝑡𝑖𝑜𝑛𝑎𝑙</m:t>
                        </m:r>
                        <m:r>
                          <a:rPr lang="en-US" sz="1600" b="0" i="1" smtClean="0">
                            <a:latin typeface="Cambria Math" panose="02040503050406030204" pitchFamily="18" charset="0"/>
                          </a:rPr>
                          <m:t> </m:t>
                        </m:r>
                      </m:oMath>
                    </m:oMathPara>
                  </a14:m>
                  <a:endParaRPr lang="en-US" sz="1600" b="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𝐶𝑜𝑛𝑡𝑟𝑜𝑙</m:t>
                        </m:r>
                      </m:oMath>
                    </m:oMathPara>
                  </a14:m>
                  <a:endParaRPr lang="en-US" sz="1600" dirty="0"/>
                </a:p>
              </p:txBody>
            </p:sp>
          </mc:Choice>
          <mc:Fallback xmlns="">
            <p:sp>
              <p:nvSpPr>
                <p:cNvPr id="21" name="TextBox 20"/>
                <p:cNvSpPr txBox="1">
                  <a:spLocks noRot="1" noChangeAspect="1" noMove="1" noResize="1" noEditPoints="1" noAdjustHandles="1" noChangeArrowheads="1" noChangeShapeType="1" noTextEdit="1"/>
                </p:cNvSpPr>
                <p:nvPr/>
              </p:nvSpPr>
              <p:spPr>
                <a:xfrm>
                  <a:off x="3410151" y="4097516"/>
                  <a:ext cx="1301767" cy="492443"/>
                </a:xfrm>
                <a:prstGeom prst="rect">
                  <a:avLst/>
                </a:prstGeom>
                <a:blipFill rotWithShape="0">
                  <a:blip r:embed="rId8"/>
                  <a:stretch>
                    <a:fillRect l="-5164" r="-939" b="-2469"/>
                  </a:stretch>
                </a:blipFill>
              </p:spPr>
              <p:txBody>
                <a:bodyPr/>
                <a:lstStyle/>
                <a:p>
                  <a:r>
                    <a:rPr lang="en-US">
                      <a:noFill/>
                    </a:rPr>
                    <a:t> </a:t>
                  </a:r>
                </a:p>
              </p:txBody>
            </p:sp>
          </mc:Fallback>
        </mc:AlternateContent>
        <p:sp>
          <p:nvSpPr>
            <p:cNvPr id="22" name="Rectangle 21"/>
            <p:cNvSpPr/>
            <p:nvPr/>
          </p:nvSpPr>
          <p:spPr>
            <a:xfrm>
              <a:off x="6442956" y="3287806"/>
              <a:ext cx="10668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4" name="TextBox 23"/>
                <p:cNvSpPr txBox="1"/>
                <p:nvPr/>
              </p:nvSpPr>
              <p:spPr>
                <a:xfrm>
                  <a:off x="6522169" y="3499050"/>
                  <a:ext cx="975395"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𝑃𝑙𝑎𝑛𝑡</m:t>
                        </m:r>
                      </m:oMath>
                    </m:oMathPara>
                  </a14:m>
                  <a:endParaRPr lang="en-US" sz="2800" dirty="0"/>
                </a:p>
              </p:txBody>
            </p:sp>
          </mc:Choice>
          <mc:Fallback xmlns="">
            <p:sp>
              <p:nvSpPr>
                <p:cNvPr id="24" name="TextBox 23"/>
                <p:cNvSpPr txBox="1">
                  <a:spLocks noRot="1" noChangeAspect="1" noMove="1" noResize="1" noEditPoints="1" noAdjustHandles="1" noChangeArrowheads="1" noChangeShapeType="1" noTextEdit="1"/>
                </p:cNvSpPr>
                <p:nvPr/>
              </p:nvSpPr>
              <p:spPr>
                <a:xfrm>
                  <a:off x="6522169" y="3499050"/>
                  <a:ext cx="975395" cy="430887"/>
                </a:xfrm>
                <a:prstGeom prst="rect">
                  <a:avLst/>
                </a:prstGeom>
                <a:blipFill rotWithShape="0">
                  <a:blip r:embed="rId9"/>
                  <a:stretch>
                    <a:fillRect/>
                  </a:stretch>
                </a:blipFill>
              </p:spPr>
              <p:txBody>
                <a:bodyPr/>
                <a:lstStyle/>
                <a:p>
                  <a:r>
                    <a:rPr lang="en-US">
                      <a:noFill/>
                    </a:rPr>
                    <a:t> </a:t>
                  </a:r>
                </a:p>
              </p:txBody>
            </p:sp>
          </mc:Fallback>
        </mc:AlternateContent>
        <p:cxnSp>
          <p:nvCxnSpPr>
            <p:cNvPr id="25" name="Straight Arrow Connector 24"/>
            <p:cNvCxnSpPr/>
            <p:nvPr/>
          </p:nvCxnSpPr>
          <p:spPr>
            <a:xfrm>
              <a:off x="7516212" y="3710011"/>
              <a:ext cx="548640" cy="0"/>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cxnSp>
          <p:nvCxnSpPr>
            <p:cNvPr id="26" name="Straight Arrow Connector 25"/>
            <p:cNvCxnSpPr/>
            <p:nvPr/>
          </p:nvCxnSpPr>
          <p:spPr>
            <a:xfrm>
              <a:off x="2213589" y="4953000"/>
              <a:ext cx="5486400" cy="0"/>
            </a:xfrm>
            <a:prstGeom prst="straightConnector1">
              <a:avLst/>
            </a:prstGeom>
            <a:ln w="19050">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27" name="Straight Arrow Connector 26"/>
            <p:cNvCxnSpPr/>
            <p:nvPr/>
          </p:nvCxnSpPr>
          <p:spPr>
            <a:xfrm rot="16200000">
              <a:off x="7078018" y="4339994"/>
              <a:ext cx="1261872" cy="0"/>
            </a:xfrm>
            <a:prstGeom prst="straightConnector1">
              <a:avLst/>
            </a:prstGeom>
            <a:ln w="19050">
              <a:headEnd type="none" w="med" len="med"/>
              <a:tailEnd type="none" w="med" len="med"/>
            </a:ln>
          </p:spPr>
          <p:style>
            <a:lnRef idx="1">
              <a:schemeClr val="accent2"/>
            </a:lnRef>
            <a:fillRef idx="0">
              <a:schemeClr val="accent2"/>
            </a:fillRef>
            <a:effectRef idx="0">
              <a:schemeClr val="accent2"/>
            </a:effectRef>
            <a:fontRef idx="minor">
              <a:schemeClr val="tx1"/>
            </a:fontRef>
          </p:style>
        </p:cxnSp>
        <p:sp>
          <p:nvSpPr>
            <p:cNvPr id="28" name="Rectangle 27"/>
            <p:cNvSpPr/>
            <p:nvPr/>
          </p:nvSpPr>
          <p:spPr>
            <a:xfrm>
              <a:off x="4435849" y="4616853"/>
              <a:ext cx="1066800" cy="66111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9" name="TextBox 28"/>
                <p:cNvSpPr txBox="1"/>
                <p:nvPr/>
              </p:nvSpPr>
              <p:spPr>
                <a:xfrm>
                  <a:off x="4506726" y="4834646"/>
                  <a:ext cx="934165"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𝐹𝑒𝑒𝑑𝑏𝑎𝑐𝑘</m:t>
                        </m:r>
                      </m:oMath>
                    </m:oMathPara>
                  </a14:m>
                  <a:endParaRPr lang="en-US" sz="1600" dirty="0"/>
                </a:p>
              </p:txBody>
            </p:sp>
          </mc:Choice>
          <mc:Fallback xmlns="">
            <p:sp>
              <p:nvSpPr>
                <p:cNvPr id="29" name="TextBox 28"/>
                <p:cNvSpPr txBox="1">
                  <a:spLocks noRot="1" noChangeAspect="1" noMove="1" noResize="1" noEditPoints="1" noAdjustHandles="1" noChangeArrowheads="1" noChangeShapeType="1" noTextEdit="1"/>
                </p:cNvSpPr>
                <p:nvPr/>
              </p:nvSpPr>
              <p:spPr>
                <a:xfrm>
                  <a:off x="4506726" y="4834646"/>
                  <a:ext cx="934165" cy="246221"/>
                </a:xfrm>
                <a:prstGeom prst="rect">
                  <a:avLst/>
                </a:prstGeom>
                <a:blipFill rotWithShape="0">
                  <a:blip r:embed="rId10"/>
                  <a:stretch>
                    <a:fillRect l="-5229" r="-3922" b="-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p:cNvSpPr txBox="1"/>
                <p:nvPr/>
              </p:nvSpPr>
              <p:spPr>
                <a:xfrm>
                  <a:off x="7692248" y="3397987"/>
                  <a:ext cx="46115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m:oMathPara>
                  </a14:m>
                  <a:endParaRPr lang="en-US" dirty="0"/>
                </a:p>
              </p:txBody>
            </p:sp>
          </mc:Choice>
          <mc:Fallback xmlns="">
            <p:sp>
              <p:nvSpPr>
                <p:cNvPr id="30" name="TextBox 29"/>
                <p:cNvSpPr txBox="1">
                  <a:spLocks noRot="1" noChangeAspect="1" noMove="1" noResize="1" noEditPoints="1" noAdjustHandles="1" noChangeArrowheads="1" noChangeShapeType="1" noTextEdit="1"/>
                </p:cNvSpPr>
                <p:nvPr/>
              </p:nvSpPr>
              <p:spPr>
                <a:xfrm>
                  <a:off x="7692248" y="3397987"/>
                  <a:ext cx="461152" cy="276999"/>
                </a:xfrm>
                <a:prstGeom prst="rect">
                  <a:avLst/>
                </a:prstGeom>
                <a:blipFill rotWithShape="0">
                  <a:blip r:embed="rId11"/>
                  <a:stretch>
                    <a:fillRect l="-6579" t="-2174" r="-17105" b="-32609"/>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32" name="TextBox 31"/>
              <p:cNvSpPr txBox="1"/>
              <p:nvPr/>
            </p:nvSpPr>
            <p:spPr>
              <a:xfrm>
                <a:off x="3855605" y="4589078"/>
                <a:ext cx="2169825" cy="43101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600" b="0" i="1" smtClean="0">
                              <a:latin typeface="Cambria Math" panose="02040503050406030204" pitchFamily="18" charset="0"/>
                            </a:rPr>
                          </m:ctrlPr>
                        </m:sSubPr>
                        <m:e>
                          <m:r>
                            <a:rPr lang="en-US" sz="2600" b="0" i="1" smtClean="0">
                              <a:latin typeface="Cambria Math" panose="02040503050406030204" pitchFamily="18" charset="0"/>
                            </a:rPr>
                            <m:t>𝑐</m:t>
                          </m:r>
                          <m:r>
                            <a:rPr lang="en-US" sz="2600" b="0" i="1" baseline="-25000" smtClean="0">
                              <a:latin typeface="Cambria Math" panose="02040503050406030204" pitchFamily="18" charset="0"/>
                            </a:rPr>
                            <m:t>𝑝</m:t>
                          </m:r>
                          <m:r>
                            <a:rPr lang="en-US" sz="2600" b="0" i="1" smtClean="0">
                              <a:latin typeface="Cambria Math" panose="02040503050406030204" pitchFamily="18" charset="0"/>
                            </a:rPr>
                            <m:t>(</m:t>
                          </m:r>
                          <m:r>
                            <a:rPr lang="en-US" sz="2600" b="0" i="1" smtClean="0">
                              <a:latin typeface="Cambria Math" panose="02040503050406030204" pitchFamily="18" charset="0"/>
                            </a:rPr>
                            <m:t>𝑡</m:t>
                          </m:r>
                          <m:r>
                            <a:rPr lang="en-US" sz="2600" b="0" i="1" smtClean="0">
                              <a:latin typeface="Cambria Math" panose="02040503050406030204" pitchFamily="18" charset="0"/>
                            </a:rPr>
                            <m:t>)=</m:t>
                          </m:r>
                          <m:r>
                            <a:rPr lang="en-US" sz="2600" b="0" i="1" smtClean="0">
                              <a:latin typeface="Cambria Math" panose="02040503050406030204" pitchFamily="18" charset="0"/>
                            </a:rPr>
                            <m:t>𝐾</m:t>
                          </m:r>
                        </m:e>
                        <m:sub>
                          <m:r>
                            <a:rPr lang="en-US" sz="2600" b="0" i="1" smtClean="0">
                              <a:latin typeface="Cambria Math" panose="02040503050406030204" pitchFamily="18" charset="0"/>
                            </a:rPr>
                            <m:t>𝑝</m:t>
                          </m:r>
                        </m:sub>
                      </m:sSub>
                      <m:r>
                        <a:rPr lang="en-US" sz="2600" b="0" i="1" smtClean="0">
                          <a:latin typeface="Cambria Math" panose="02040503050406030204" pitchFamily="18" charset="0"/>
                        </a:rPr>
                        <m:t>𝑒</m:t>
                      </m:r>
                      <m:r>
                        <a:rPr lang="en-US" sz="2600" b="0" i="1" smtClean="0">
                          <a:latin typeface="Cambria Math" panose="02040503050406030204" pitchFamily="18" charset="0"/>
                        </a:rPr>
                        <m:t>(</m:t>
                      </m:r>
                      <m:r>
                        <a:rPr lang="en-US" sz="2600" b="0" i="1" smtClean="0">
                          <a:latin typeface="Cambria Math" panose="02040503050406030204" pitchFamily="18" charset="0"/>
                        </a:rPr>
                        <m:t>𝑡</m:t>
                      </m:r>
                      <m:r>
                        <a:rPr lang="en-US" sz="2600" b="0" i="1" smtClean="0">
                          <a:latin typeface="Cambria Math" panose="02040503050406030204" pitchFamily="18" charset="0"/>
                        </a:rPr>
                        <m:t>)</m:t>
                      </m:r>
                    </m:oMath>
                  </m:oMathPara>
                </a14:m>
                <a:endParaRPr lang="en-US" sz="2600" dirty="0"/>
              </a:p>
            </p:txBody>
          </p:sp>
        </mc:Choice>
        <mc:Fallback xmlns="">
          <p:sp>
            <p:nvSpPr>
              <p:cNvPr id="32" name="TextBox 31"/>
              <p:cNvSpPr txBox="1">
                <a:spLocks noRot="1" noChangeAspect="1" noMove="1" noResize="1" noEditPoints="1" noAdjustHandles="1" noChangeArrowheads="1" noChangeShapeType="1" noTextEdit="1"/>
              </p:cNvSpPr>
              <p:nvPr/>
            </p:nvSpPr>
            <p:spPr>
              <a:xfrm>
                <a:off x="3855605" y="4589078"/>
                <a:ext cx="2169825" cy="431015"/>
              </a:xfrm>
              <a:prstGeom prst="rect">
                <a:avLst/>
              </a:prstGeom>
              <a:blipFill rotWithShape="0">
                <a:blip r:embed="rId12"/>
                <a:stretch>
                  <a:fillRect b="-14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p:cNvSpPr txBox="1"/>
              <p:nvPr/>
            </p:nvSpPr>
            <p:spPr>
              <a:xfrm>
                <a:off x="3914457" y="5791200"/>
                <a:ext cx="1648143" cy="8331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600" b="0" i="1" smtClean="0">
                              <a:latin typeface="Cambria Math" panose="02040503050406030204" pitchFamily="18" charset="0"/>
                            </a:rPr>
                          </m:ctrlPr>
                        </m:sSubPr>
                        <m:e>
                          <m:f>
                            <m:fPr>
                              <m:ctrlPr>
                                <a:rPr lang="en-US" sz="2600" b="0" i="1" smtClean="0">
                                  <a:latin typeface="Cambria Math" panose="02040503050406030204" pitchFamily="18" charset="0"/>
                                </a:rPr>
                              </m:ctrlPr>
                            </m:fPr>
                            <m:num>
                              <m:r>
                                <a:rPr lang="en-US" sz="2600" b="0" i="1" smtClean="0">
                                  <a:latin typeface="Cambria Math" panose="02040503050406030204" pitchFamily="18" charset="0"/>
                                </a:rPr>
                                <m:t>𝐶</m:t>
                              </m:r>
                              <m:r>
                                <a:rPr lang="en-US" sz="2600" i="1" baseline="-25000">
                                  <a:latin typeface="Cambria Math" panose="02040503050406030204" pitchFamily="18" charset="0"/>
                                </a:rPr>
                                <m:t>𝑝</m:t>
                              </m:r>
                              <m:r>
                                <a:rPr lang="en-US" sz="2600" i="1">
                                  <a:latin typeface="Cambria Math" panose="02040503050406030204" pitchFamily="18" charset="0"/>
                                </a:rPr>
                                <m:t>(</m:t>
                              </m:r>
                              <m:r>
                                <a:rPr lang="en-US" sz="2600" b="0" i="1" smtClean="0">
                                  <a:latin typeface="Cambria Math" panose="02040503050406030204" pitchFamily="18" charset="0"/>
                                </a:rPr>
                                <m:t>𝑠</m:t>
                              </m:r>
                              <m:r>
                                <a:rPr lang="en-US" sz="2600" i="1">
                                  <a:latin typeface="Cambria Math" panose="02040503050406030204" pitchFamily="18" charset="0"/>
                                </a:rPr>
                                <m:t>)</m:t>
                              </m:r>
                            </m:num>
                            <m:den>
                              <m:r>
                                <a:rPr lang="en-US" sz="2600" b="0" i="1" smtClean="0">
                                  <a:latin typeface="Cambria Math" panose="02040503050406030204" pitchFamily="18" charset="0"/>
                                </a:rPr>
                                <m:t>𝐸</m:t>
                              </m:r>
                              <m:r>
                                <a:rPr lang="en-US" sz="2600" b="0" i="1" smtClean="0">
                                  <a:latin typeface="Cambria Math" panose="02040503050406030204" pitchFamily="18" charset="0"/>
                                </a:rPr>
                                <m:t>(</m:t>
                              </m:r>
                              <m:r>
                                <a:rPr lang="en-US" sz="2600" b="0" i="1" smtClean="0">
                                  <a:latin typeface="Cambria Math" panose="02040503050406030204" pitchFamily="18" charset="0"/>
                                </a:rPr>
                                <m:t>𝑠</m:t>
                              </m:r>
                              <m:r>
                                <a:rPr lang="en-US" sz="2600" b="0" i="1" smtClean="0">
                                  <a:latin typeface="Cambria Math" panose="02040503050406030204" pitchFamily="18" charset="0"/>
                                </a:rPr>
                                <m:t>)</m:t>
                              </m:r>
                            </m:den>
                          </m:f>
                          <m:r>
                            <a:rPr lang="en-US" sz="2600" b="0" i="1" smtClean="0">
                              <a:latin typeface="Cambria Math" panose="02040503050406030204" pitchFamily="18" charset="0"/>
                            </a:rPr>
                            <m:t>=</m:t>
                          </m:r>
                          <m:r>
                            <a:rPr lang="en-US" sz="2600" b="0" i="1" smtClean="0">
                              <a:latin typeface="Cambria Math" panose="02040503050406030204" pitchFamily="18" charset="0"/>
                            </a:rPr>
                            <m:t>𝐾</m:t>
                          </m:r>
                        </m:e>
                        <m:sub>
                          <m:r>
                            <a:rPr lang="en-US" sz="2600" b="0" i="1" smtClean="0">
                              <a:latin typeface="Cambria Math" panose="02040503050406030204" pitchFamily="18" charset="0"/>
                            </a:rPr>
                            <m:t>𝑝</m:t>
                          </m:r>
                        </m:sub>
                      </m:sSub>
                    </m:oMath>
                  </m:oMathPara>
                </a14:m>
                <a:endParaRPr lang="en-US" sz="2600" dirty="0"/>
              </a:p>
            </p:txBody>
          </p:sp>
        </mc:Choice>
        <mc:Fallback xmlns="">
          <p:sp>
            <p:nvSpPr>
              <p:cNvPr id="33" name="TextBox 32"/>
              <p:cNvSpPr txBox="1">
                <a:spLocks noRot="1" noChangeAspect="1" noMove="1" noResize="1" noEditPoints="1" noAdjustHandles="1" noChangeArrowheads="1" noChangeShapeType="1" noTextEdit="1"/>
              </p:cNvSpPr>
              <p:nvPr/>
            </p:nvSpPr>
            <p:spPr>
              <a:xfrm>
                <a:off x="3914457" y="5791200"/>
                <a:ext cx="1648143" cy="833177"/>
              </a:xfrm>
              <a:prstGeom prst="rect">
                <a:avLst/>
              </a:prstGeom>
              <a:blipFill rotWithShape="0">
                <a:blip r:embed="rId1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308992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390">
                                            <p:txEl>
                                              <p:pRg st="6" end="6"/>
                                            </p:txEl>
                                          </p:spTgt>
                                        </p:tgtEl>
                                        <p:attrNameLst>
                                          <p:attrName>style.visibility</p:attrName>
                                        </p:attrNameLst>
                                      </p:cBhvr>
                                      <p:to>
                                        <p:strVal val="visible"/>
                                      </p:to>
                                    </p:set>
                                    <p:animEffect transition="in" filter="fade">
                                      <p:cBhvr>
                                        <p:cTn id="12" dur="500"/>
                                        <p:tgtEl>
                                          <p:spTgt spid="16390">
                                            <p:txEl>
                                              <p:pRg st="6" end="6"/>
                                            </p:txEl>
                                          </p:spTgt>
                                        </p:tgtEl>
                                      </p:cBhvr>
                                    </p:animEffect>
                                  </p:childTnLst>
                                </p:cTn>
                              </p:par>
                              <p:par>
                                <p:cTn id="13" presetID="1" presetClass="entr" presetSubtype="0" fill="hold" grpId="0" nodeType="with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390">
                                            <p:txEl>
                                              <p:pRg st="9" end="9"/>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8F5C88F-F18E-43B3-8155-BDCDA06E8F78}" type="slidenum">
              <a:rPr lang="en-US">
                <a:solidFill>
                  <a:schemeClr val="bg1"/>
                </a:solidFill>
              </a:rPr>
              <a:pPr eaLnBrk="1" hangingPunct="1"/>
              <a:t>9</a:t>
            </a:fld>
            <a:endParaRPr lang="en-US">
              <a:solidFill>
                <a:schemeClr val="bg1"/>
              </a:solidFill>
            </a:endParaRPr>
          </a:p>
        </p:txBody>
      </p:sp>
      <p:sp>
        <p:nvSpPr>
          <p:cNvPr id="16389" name="AutoShape 2"/>
          <p:cNvSpPr>
            <a:spLocks noGrp="1" noChangeArrowheads="1"/>
          </p:cNvSpPr>
          <p:nvPr>
            <p:ph type="title"/>
          </p:nvPr>
        </p:nvSpPr>
        <p:spPr>
          <a:xfrm>
            <a:off x="457200" y="33432"/>
            <a:ext cx="8229600" cy="695978"/>
          </a:xfrm>
        </p:spPr>
        <p:txBody>
          <a:bodyPr>
            <a:normAutofit/>
          </a:bodyPr>
          <a:lstStyle/>
          <a:p>
            <a:pPr eaLnBrk="1" hangingPunct="1"/>
            <a:r>
              <a:rPr lang="en-US" sz="3800" dirty="0"/>
              <a:t>Proportional Controllers (</a:t>
            </a:r>
            <a:r>
              <a:rPr lang="en-US" sz="3800" dirty="0">
                <a:solidFill>
                  <a:srgbClr val="FF0000"/>
                </a:solidFill>
              </a:rPr>
              <a:t>P</a:t>
            </a:r>
            <a:r>
              <a:rPr lang="en-US" sz="3800" dirty="0"/>
              <a:t>)</a:t>
            </a:r>
          </a:p>
        </p:txBody>
      </p:sp>
      <p:sp>
        <p:nvSpPr>
          <p:cNvPr id="16390" name="Rectangle 3"/>
          <p:cNvSpPr>
            <a:spLocks noGrp="1" noChangeArrowheads="1"/>
          </p:cNvSpPr>
          <p:nvPr>
            <p:ph type="body" idx="1"/>
          </p:nvPr>
        </p:nvSpPr>
        <p:spPr>
          <a:xfrm>
            <a:off x="0" y="762000"/>
            <a:ext cx="8839200" cy="5739839"/>
          </a:xfrm>
        </p:spPr>
        <p:txBody>
          <a:bodyPr>
            <a:normAutofit/>
          </a:bodyPr>
          <a:lstStyle/>
          <a:p>
            <a:pPr algn="just" eaLnBrk="0" hangingPunct="0"/>
            <a:r>
              <a:rPr lang="en-US" sz="2800" dirty="0">
                <a:cs typeface="Times New Roman" panose="02020603050405020304" pitchFamily="18" charset="0"/>
              </a:rPr>
              <a:t>As the gain is increased the system responds faster to changes in set-point but becomes progressively underdamped and eventually unstable. </a:t>
            </a:r>
          </a:p>
        </p:txBody>
      </p:sp>
      <p:pic>
        <p:nvPicPr>
          <p:cNvPr id="3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8384" y="2362200"/>
            <a:ext cx="7371216" cy="43688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7574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8F5C88F-F18E-43B3-8155-BDCDA06E8F78}" type="slidenum">
              <a:rPr lang="en-US">
                <a:solidFill>
                  <a:schemeClr val="bg1"/>
                </a:solidFill>
              </a:rPr>
              <a:pPr eaLnBrk="1" hangingPunct="1"/>
              <a:t>10</a:t>
            </a:fld>
            <a:endParaRPr lang="en-US">
              <a:solidFill>
                <a:schemeClr val="bg1"/>
              </a:solidFill>
            </a:endParaRPr>
          </a:p>
        </p:txBody>
      </p:sp>
      <p:sp>
        <p:nvSpPr>
          <p:cNvPr id="16389" name="AutoShape 2"/>
          <p:cNvSpPr>
            <a:spLocks noGrp="1" noChangeArrowheads="1"/>
          </p:cNvSpPr>
          <p:nvPr>
            <p:ph type="title"/>
          </p:nvPr>
        </p:nvSpPr>
        <p:spPr>
          <a:xfrm>
            <a:off x="457200" y="218422"/>
            <a:ext cx="8229600" cy="695978"/>
          </a:xfrm>
        </p:spPr>
        <p:txBody>
          <a:bodyPr>
            <a:normAutofit/>
          </a:bodyPr>
          <a:lstStyle/>
          <a:p>
            <a:pPr eaLnBrk="1" hangingPunct="1"/>
            <a:r>
              <a:rPr lang="en-US" sz="3800" dirty="0"/>
              <a:t>Proportional Plus Integral Controllers (</a:t>
            </a:r>
            <a:r>
              <a:rPr lang="en-US" sz="3800" dirty="0">
                <a:solidFill>
                  <a:srgbClr val="FF0000"/>
                </a:solidFill>
              </a:rPr>
              <a:t>PI</a:t>
            </a:r>
            <a:r>
              <a:rPr lang="en-US" sz="3800" dirty="0"/>
              <a:t>)</a:t>
            </a:r>
          </a:p>
        </p:txBody>
      </p:sp>
      <p:sp>
        <p:nvSpPr>
          <p:cNvPr id="16390" name="Rectangle 3"/>
          <p:cNvSpPr>
            <a:spLocks noGrp="1" noChangeArrowheads="1"/>
          </p:cNvSpPr>
          <p:nvPr>
            <p:ph type="body" idx="1"/>
          </p:nvPr>
        </p:nvSpPr>
        <p:spPr>
          <a:xfrm>
            <a:off x="0" y="1194361"/>
            <a:ext cx="8839200" cy="5739839"/>
          </a:xfrm>
        </p:spPr>
        <p:txBody>
          <a:bodyPr>
            <a:normAutofit/>
          </a:bodyPr>
          <a:lstStyle/>
          <a:p>
            <a:pPr algn="just">
              <a:lnSpc>
                <a:spcPct val="90000"/>
              </a:lnSpc>
            </a:pPr>
            <a:r>
              <a:rPr lang="en-US" sz="2800" dirty="0"/>
              <a:t>Integral control describes a controller in which the output rate of change is dependent on the magnitude of the input. </a:t>
            </a:r>
          </a:p>
          <a:p>
            <a:pPr algn="just">
              <a:lnSpc>
                <a:spcPct val="90000"/>
              </a:lnSpc>
            </a:pPr>
            <a:endParaRPr lang="en-US" sz="1200" dirty="0"/>
          </a:p>
          <a:p>
            <a:pPr algn="just">
              <a:lnSpc>
                <a:spcPct val="90000"/>
              </a:lnSpc>
            </a:pPr>
            <a:r>
              <a:rPr lang="en-US" sz="2800" dirty="0"/>
              <a:t>Specifically, a smaller amplitude input causes a slower rate of change of the output. </a:t>
            </a:r>
          </a:p>
        </p:txBody>
      </p:sp>
      <p:pic>
        <p:nvPicPr>
          <p:cNvPr id="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2362200" y="4402137"/>
            <a:ext cx="4405313" cy="1573213"/>
          </a:xfrm>
          <a:prstGeom prst="rect">
            <a:avLst/>
          </a:prstGeom>
          <a:noFill/>
        </p:spPr>
      </p:pic>
      <p:pic>
        <p:nvPicPr>
          <p:cNvPr id="7"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13563" y="4554537"/>
            <a:ext cx="2230437" cy="161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478337"/>
            <a:ext cx="2179638"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10155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90">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8F5C88F-F18E-43B3-8155-BDCDA06E8F78}" type="slidenum">
              <a:rPr lang="en-US">
                <a:solidFill>
                  <a:schemeClr val="bg1"/>
                </a:solidFill>
              </a:rPr>
              <a:pPr eaLnBrk="1" hangingPunct="1"/>
              <a:t>11</a:t>
            </a:fld>
            <a:endParaRPr lang="en-US">
              <a:solidFill>
                <a:schemeClr val="bg1"/>
              </a:solidFill>
            </a:endParaRPr>
          </a:p>
        </p:txBody>
      </p:sp>
      <p:sp>
        <p:nvSpPr>
          <p:cNvPr id="16389" name="AutoShape 2"/>
          <p:cNvSpPr>
            <a:spLocks noGrp="1" noChangeArrowheads="1"/>
          </p:cNvSpPr>
          <p:nvPr>
            <p:ph type="title"/>
          </p:nvPr>
        </p:nvSpPr>
        <p:spPr>
          <a:xfrm>
            <a:off x="457200" y="218422"/>
            <a:ext cx="8229600" cy="695978"/>
          </a:xfrm>
        </p:spPr>
        <p:txBody>
          <a:bodyPr>
            <a:normAutofit/>
          </a:bodyPr>
          <a:lstStyle/>
          <a:p>
            <a:pPr eaLnBrk="1" hangingPunct="1"/>
            <a:r>
              <a:rPr lang="en-US" sz="3800" dirty="0"/>
              <a:t>Proportional Plus Integral Controllers (</a:t>
            </a:r>
            <a:r>
              <a:rPr lang="en-US" sz="3800" dirty="0">
                <a:solidFill>
                  <a:srgbClr val="FF0000"/>
                </a:solidFill>
              </a:rPr>
              <a:t>PI</a:t>
            </a:r>
            <a:r>
              <a:rPr lang="en-US" sz="3800" dirty="0"/>
              <a:t>)</a:t>
            </a:r>
          </a:p>
        </p:txBody>
      </p:sp>
      <p:sp>
        <p:nvSpPr>
          <p:cNvPr id="16390" name="Rectangle 3"/>
          <p:cNvSpPr>
            <a:spLocks noGrp="1" noChangeArrowheads="1"/>
          </p:cNvSpPr>
          <p:nvPr>
            <p:ph type="body" idx="1"/>
          </p:nvPr>
        </p:nvSpPr>
        <p:spPr>
          <a:xfrm>
            <a:off x="0" y="1194361"/>
            <a:ext cx="8839200" cy="5739839"/>
          </a:xfrm>
        </p:spPr>
        <p:txBody>
          <a:bodyPr>
            <a:normAutofit/>
          </a:bodyPr>
          <a:lstStyle/>
          <a:p>
            <a:pPr algn="just"/>
            <a:r>
              <a:rPr lang="en-US" sz="2600" dirty="0"/>
              <a:t>The major advantage of integral controllers is that they have the unique ability to return the controlled variable back to the exact set point following a disturbance.</a:t>
            </a:r>
          </a:p>
          <a:p>
            <a:pPr algn="just"/>
            <a:endParaRPr lang="en-US" sz="2600" dirty="0"/>
          </a:p>
          <a:p>
            <a:pPr algn="just"/>
            <a:r>
              <a:rPr lang="en-US" sz="2600" dirty="0"/>
              <a:t>Disadvantages of the integral control mode are that it responds relatively slowly to an error signal and that it can initially allow a large deviation at the instant the error is produced. </a:t>
            </a:r>
          </a:p>
          <a:p>
            <a:pPr algn="just"/>
            <a:endParaRPr lang="en-US" sz="2600" dirty="0"/>
          </a:p>
          <a:p>
            <a:pPr algn="just"/>
            <a:r>
              <a:rPr lang="en-US" sz="2600" dirty="0"/>
              <a:t>This can lead to system instability and cyclic operation. For this reason, the integral control mode is not normally used alone, but is combined with another control mode.</a:t>
            </a:r>
          </a:p>
        </p:txBody>
      </p:sp>
    </p:spTree>
    <p:extLst>
      <p:ext uri="{BB962C8B-B14F-4D97-AF65-F5344CB8AC3E}">
        <p14:creationId xmlns:p14="http://schemas.microsoft.com/office/powerpoint/2010/main" val="842850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90">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39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8F5C88F-F18E-43B3-8155-BDCDA06E8F78}" type="slidenum">
              <a:rPr lang="en-US">
                <a:solidFill>
                  <a:schemeClr val="bg1"/>
                </a:solidFill>
              </a:rPr>
              <a:pPr eaLnBrk="1" hangingPunct="1"/>
              <a:t>12</a:t>
            </a:fld>
            <a:endParaRPr lang="en-US">
              <a:solidFill>
                <a:schemeClr val="bg1"/>
              </a:solidFill>
            </a:endParaRPr>
          </a:p>
        </p:txBody>
      </p:sp>
      <p:sp>
        <p:nvSpPr>
          <p:cNvPr id="16389" name="AutoShape 2"/>
          <p:cNvSpPr>
            <a:spLocks noGrp="1" noChangeArrowheads="1"/>
          </p:cNvSpPr>
          <p:nvPr>
            <p:ph type="title"/>
          </p:nvPr>
        </p:nvSpPr>
        <p:spPr>
          <a:xfrm>
            <a:off x="457200" y="33432"/>
            <a:ext cx="8229600" cy="695978"/>
          </a:xfrm>
        </p:spPr>
        <p:txBody>
          <a:bodyPr>
            <a:normAutofit/>
          </a:bodyPr>
          <a:lstStyle/>
          <a:p>
            <a:pPr eaLnBrk="1" hangingPunct="1"/>
            <a:r>
              <a:rPr lang="en-US" sz="3800" dirty="0"/>
              <a:t>Proportional Plus Integral Control (</a:t>
            </a:r>
            <a:r>
              <a:rPr lang="en-US" sz="3800" dirty="0">
                <a:solidFill>
                  <a:srgbClr val="FF0000"/>
                </a:solidFill>
              </a:rPr>
              <a:t>PI</a:t>
            </a:r>
            <a:r>
              <a:rPr lang="en-US" sz="3800" dirty="0"/>
              <a:t>)</a:t>
            </a:r>
          </a:p>
        </p:txBody>
      </p:sp>
      <mc:AlternateContent xmlns:mc="http://schemas.openxmlformats.org/markup-compatibility/2006" xmlns:a14="http://schemas.microsoft.com/office/drawing/2010/main">
        <mc:Choice Requires="a14">
          <p:sp>
            <p:nvSpPr>
              <p:cNvPr id="4" name="Rectangle 3"/>
              <p:cNvSpPr/>
              <p:nvPr/>
            </p:nvSpPr>
            <p:spPr>
              <a:xfrm>
                <a:off x="2117710" y="5164768"/>
                <a:ext cx="5746060" cy="14646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400" i="1" smtClean="0">
                          <a:latin typeface="Cambria Math" panose="02040503050406030204" pitchFamily="18" charset="0"/>
                        </a:rPr>
                        <m:t>𝑐</m:t>
                      </m:r>
                      <m:r>
                        <a:rPr lang="en-US" sz="3400" i="1" baseline="-25000">
                          <a:latin typeface="Cambria Math" panose="02040503050406030204" pitchFamily="18" charset="0"/>
                        </a:rPr>
                        <m:t>𝑝</m:t>
                      </m:r>
                      <m:r>
                        <a:rPr lang="en-US" sz="3400" b="0" i="1" baseline="-25000" smtClean="0">
                          <a:latin typeface="Cambria Math" panose="02040503050406030204" pitchFamily="18" charset="0"/>
                        </a:rPr>
                        <m:t>𝑖</m:t>
                      </m:r>
                      <m:d>
                        <m:dPr>
                          <m:ctrlPr>
                            <a:rPr lang="en-US" sz="3400" i="1" baseline="-25000">
                              <a:latin typeface="Cambria Math" panose="02040503050406030204" pitchFamily="18" charset="0"/>
                            </a:rPr>
                          </m:ctrlPr>
                        </m:dPr>
                        <m:e>
                          <m:r>
                            <a:rPr lang="en-US" sz="3400" i="1">
                              <a:latin typeface="Cambria Math" panose="02040503050406030204" pitchFamily="18" charset="0"/>
                            </a:rPr>
                            <m:t>𝑡</m:t>
                          </m:r>
                        </m:e>
                      </m:d>
                      <m:r>
                        <a:rPr lang="en-US" sz="3400" i="1">
                          <a:latin typeface="Cambria Math" panose="02040503050406030204" pitchFamily="18" charset="0"/>
                        </a:rPr>
                        <m:t>=</m:t>
                      </m:r>
                      <m:sSub>
                        <m:sSubPr>
                          <m:ctrlPr>
                            <a:rPr lang="en-US" sz="3400" i="1">
                              <a:latin typeface="Cambria Math" panose="02040503050406030204" pitchFamily="18" charset="0"/>
                            </a:rPr>
                          </m:ctrlPr>
                        </m:sSubPr>
                        <m:e>
                          <m:r>
                            <a:rPr lang="en-US" sz="3400" i="1">
                              <a:latin typeface="Cambria Math" panose="02040503050406030204" pitchFamily="18" charset="0"/>
                            </a:rPr>
                            <m:t>𝐾</m:t>
                          </m:r>
                        </m:e>
                        <m:sub>
                          <m:r>
                            <a:rPr lang="en-US" sz="3400" i="1">
                              <a:latin typeface="Cambria Math" panose="02040503050406030204" pitchFamily="18" charset="0"/>
                            </a:rPr>
                            <m:t>𝑝</m:t>
                          </m:r>
                        </m:sub>
                      </m:sSub>
                      <m:r>
                        <a:rPr lang="en-US" sz="3400" i="1">
                          <a:latin typeface="Cambria Math" panose="02040503050406030204" pitchFamily="18" charset="0"/>
                        </a:rPr>
                        <m:t>𝑒</m:t>
                      </m:r>
                      <m:d>
                        <m:dPr>
                          <m:ctrlPr>
                            <a:rPr lang="en-US" sz="3400" i="1">
                              <a:latin typeface="Cambria Math" panose="02040503050406030204" pitchFamily="18" charset="0"/>
                            </a:rPr>
                          </m:ctrlPr>
                        </m:dPr>
                        <m:e>
                          <m:r>
                            <a:rPr lang="en-US" sz="3400" i="1">
                              <a:latin typeface="Cambria Math" panose="02040503050406030204" pitchFamily="18" charset="0"/>
                            </a:rPr>
                            <m:t>𝑡</m:t>
                          </m:r>
                        </m:e>
                      </m:d>
                      <m:r>
                        <a:rPr lang="en-US" sz="3400" b="0" i="0" smtClean="0">
                          <a:latin typeface="Cambria Math" panose="02040503050406030204" pitchFamily="18" charset="0"/>
                        </a:rPr>
                        <m:t>+</m:t>
                      </m:r>
                      <m:sSub>
                        <m:sSubPr>
                          <m:ctrlPr>
                            <a:rPr lang="en-US" sz="3400" i="1">
                              <a:latin typeface="Cambria Math" panose="02040503050406030204" pitchFamily="18" charset="0"/>
                            </a:rPr>
                          </m:ctrlPr>
                        </m:sSubPr>
                        <m:e>
                          <m:r>
                            <a:rPr lang="en-US" sz="3400" i="1">
                              <a:latin typeface="Cambria Math" panose="02040503050406030204" pitchFamily="18" charset="0"/>
                            </a:rPr>
                            <m:t>𝐾</m:t>
                          </m:r>
                        </m:e>
                        <m:sub>
                          <m:r>
                            <a:rPr lang="en-US" sz="3400" b="0" i="1" smtClean="0">
                              <a:latin typeface="Cambria Math" panose="02040503050406030204" pitchFamily="18" charset="0"/>
                            </a:rPr>
                            <m:t>𝑖</m:t>
                          </m:r>
                        </m:sub>
                      </m:sSub>
                      <m:nary>
                        <m:naryPr>
                          <m:limLoc m:val="undOvr"/>
                          <m:subHide m:val="on"/>
                          <m:supHide m:val="on"/>
                          <m:ctrlPr>
                            <a:rPr lang="en-US" sz="3400" i="1" smtClean="0">
                              <a:latin typeface="Cambria Math" panose="02040503050406030204" pitchFamily="18" charset="0"/>
                            </a:rPr>
                          </m:ctrlPr>
                        </m:naryPr>
                        <m:sub/>
                        <m:sup/>
                        <m:e>
                          <m:r>
                            <a:rPr lang="en-US" sz="3400" b="0" i="1" smtClean="0">
                              <a:latin typeface="Cambria Math" panose="02040503050406030204" pitchFamily="18" charset="0"/>
                            </a:rPr>
                            <m:t>𝑒</m:t>
                          </m:r>
                          <m:d>
                            <m:dPr>
                              <m:ctrlPr>
                                <a:rPr lang="en-US" sz="3400" b="0" i="1" smtClean="0">
                                  <a:latin typeface="Cambria Math" panose="02040503050406030204" pitchFamily="18" charset="0"/>
                                </a:rPr>
                              </m:ctrlPr>
                            </m:dPr>
                            <m:e>
                              <m:r>
                                <a:rPr lang="en-US" sz="3400" b="0" i="1" smtClean="0">
                                  <a:latin typeface="Cambria Math" panose="02040503050406030204" pitchFamily="18" charset="0"/>
                                </a:rPr>
                                <m:t>𝑡</m:t>
                              </m:r>
                            </m:e>
                          </m:d>
                          <m:r>
                            <a:rPr lang="en-US" sz="3400" b="0" i="1" smtClean="0">
                              <a:latin typeface="Cambria Math" panose="02040503050406030204" pitchFamily="18" charset="0"/>
                            </a:rPr>
                            <m:t>𝑑𝑡</m:t>
                          </m:r>
                        </m:e>
                      </m:nary>
                    </m:oMath>
                  </m:oMathPara>
                </a14:m>
                <a:endParaRPr lang="en-US" sz="3400" dirty="0"/>
              </a:p>
            </p:txBody>
          </p:sp>
        </mc:Choice>
        <mc:Fallback xmlns="">
          <p:sp>
            <p:nvSpPr>
              <p:cNvPr id="4" name="Rectangle 3"/>
              <p:cNvSpPr>
                <a:spLocks noRot="1" noChangeAspect="1" noMove="1" noResize="1" noEditPoints="1" noAdjustHandles="1" noChangeArrowheads="1" noChangeShapeType="1" noTextEdit="1"/>
              </p:cNvSpPr>
              <p:nvPr/>
            </p:nvSpPr>
            <p:spPr>
              <a:xfrm>
                <a:off x="2117710" y="5164768"/>
                <a:ext cx="5746060" cy="1464632"/>
              </a:xfrm>
              <a:prstGeom prst="rect">
                <a:avLst/>
              </a:prstGeom>
              <a:blipFill rotWithShape="0">
                <a:blip r:embed="rId3"/>
                <a:stretch>
                  <a:fillRect/>
                </a:stretch>
              </a:blipFill>
            </p:spPr>
            <p:txBody>
              <a:bodyPr/>
              <a:lstStyle/>
              <a:p>
                <a:r>
                  <a:rPr lang="en-US">
                    <a:noFill/>
                  </a:rPr>
                  <a:t> </a:t>
                </a:r>
              </a:p>
            </p:txBody>
          </p:sp>
        </mc:Fallback>
      </mc:AlternateContent>
      <p:grpSp>
        <p:nvGrpSpPr>
          <p:cNvPr id="10" name="Group 9"/>
          <p:cNvGrpSpPr/>
          <p:nvPr/>
        </p:nvGrpSpPr>
        <p:grpSpPr>
          <a:xfrm>
            <a:off x="685800" y="1219200"/>
            <a:ext cx="7936353" cy="3296728"/>
            <a:chOff x="979047" y="2304145"/>
            <a:chExt cx="7936353" cy="3296728"/>
          </a:xfrm>
        </p:grpSpPr>
        <p:sp>
          <p:nvSpPr>
            <p:cNvPr id="2" name="Rectangle 1"/>
            <p:cNvSpPr/>
            <p:nvPr/>
          </p:nvSpPr>
          <p:spPr>
            <a:xfrm>
              <a:off x="3493647" y="3575984"/>
              <a:ext cx="10668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p:cNvSpPr/>
            <p:nvPr/>
          </p:nvSpPr>
          <p:spPr>
            <a:xfrm>
              <a:off x="1969647" y="3728384"/>
              <a:ext cx="5334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Arrow Connector 4"/>
            <p:cNvCxnSpPr>
              <a:stCxn id="3" idx="6"/>
              <a:endCxn id="2" idx="1"/>
            </p:cNvCxnSpPr>
            <p:nvPr/>
          </p:nvCxnSpPr>
          <p:spPr>
            <a:xfrm>
              <a:off x="2503047" y="3995084"/>
              <a:ext cx="990600" cy="0"/>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cxnSp>
          <p:nvCxnSpPr>
            <p:cNvPr id="11" name="Straight Arrow Connector 10"/>
            <p:cNvCxnSpPr/>
            <p:nvPr/>
          </p:nvCxnSpPr>
          <p:spPr>
            <a:xfrm>
              <a:off x="979047" y="3992843"/>
              <a:ext cx="990600" cy="0"/>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cxnSp>
          <p:nvCxnSpPr>
            <p:cNvPr id="12" name="Straight Arrow Connector 11"/>
            <p:cNvCxnSpPr/>
            <p:nvPr/>
          </p:nvCxnSpPr>
          <p:spPr>
            <a:xfrm rot="16200000">
              <a:off x="1752252" y="4757084"/>
              <a:ext cx="990600" cy="0"/>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cxnSp>
          <p:nvCxnSpPr>
            <p:cNvPr id="13" name="Straight Arrow Connector 12"/>
            <p:cNvCxnSpPr/>
            <p:nvPr/>
          </p:nvCxnSpPr>
          <p:spPr>
            <a:xfrm>
              <a:off x="5992906" y="4006290"/>
              <a:ext cx="1188720" cy="0"/>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sp>
          <p:nvSpPr>
            <p:cNvPr id="6" name="TextBox 5"/>
            <p:cNvSpPr txBox="1"/>
            <p:nvPr/>
          </p:nvSpPr>
          <p:spPr>
            <a:xfrm>
              <a:off x="2362001" y="4121942"/>
              <a:ext cx="279244" cy="461665"/>
            </a:xfrm>
            <a:prstGeom prst="rect">
              <a:avLst/>
            </a:prstGeom>
            <a:noFill/>
          </p:spPr>
          <p:txBody>
            <a:bodyPr wrap="none" rtlCol="0">
              <a:spAutoFit/>
            </a:bodyPr>
            <a:lstStyle/>
            <a:p>
              <a:r>
                <a:rPr lang="en-US" sz="2400" dirty="0"/>
                <a:t>-</a:t>
              </a:r>
            </a:p>
          </p:txBody>
        </p:sp>
        <mc:AlternateContent xmlns:mc="http://schemas.openxmlformats.org/markup-compatibility/2006" xmlns:a14="http://schemas.microsoft.com/office/drawing/2010/main">
          <mc:Choice Requires="a14">
            <p:sp>
              <p:nvSpPr>
                <p:cNvPr id="7" name="TextBox 6"/>
                <p:cNvSpPr txBox="1"/>
                <p:nvPr/>
              </p:nvSpPr>
              <p:spPr>
                <a:xfrm>
                  <a:off x="1005941" y="3655905"/>
                  <a:ext cx="45634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m:oMathPara>
                  </a14:m>
                  <a:endParaRPr lang="en-US" dirty="0"/>
                </a:p>
              </p:txBody>
            </p:sp>
          </mc:Choice>
          <mc:Fallback xmlns="">
            <p:sp>
              <p:nvSpPr>
                <p:cNvPr id="7" name="TextBox 6"/>
                <p:cNvSpPr txBox="1">
                  <a:spLocks noRot="1" noChangeAspect="1" noMove="1" noResize="1" noEditPoints="1" noAdjustHandles="1" noChangeArrowheads="1" noChangeShapeType="1" noTextEdit="1"/>
                </p:cNvSpPr>
                <p:nvPr/>
              </p:nvSpPr>
              <p:spPr>
                <a:xfrm>
                  <a:off x="1005941" y="3655905"/>
                  <a:ext cx="456343" cy="276999"/>
                </a:xfrm>
                <a:prstGeom prst="rect">
                  <a:avLst/>
                </a:prstGeom>
                <a:blipFill rotWithShape="0">
                  <a:blip r:embed="rId4"/>
                  <a:stretch>
                    <a:fillRect l="-6667" t="-4444" r="-18667" b="-3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1701345" y="4352774"/>
                  <a:ext cx="46891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m:oMathPara>
                  </a14:m>
                  <a:endParaRPr lang="en-US" dirty="0"/>
                </a:p>
              </p:txBody>
            </p:sp>
          </mc:Choice>
          <mc:Fallback xmlns="">
            <p:sp>
              <p:nvSpPr>
                <p:cNvPr id="17" name="TextBox 16"/>
                <p:cNvSpPr txBox="1">
                  <a:spLocks noRot="1" noChangeAspect="1" noMove="1" noResize="1" noEditPoints="1" noAdjustHandles="1" noChangeArrowheads="1" noChangeShapeType="1" noTextEdit="1"/>
                </p:cNvSpPr>
                <p:nvPr/>
              </p:nvSpPr>
              <p:spPr>
                <a:xfrm>
                  <a:off x="1701345" y="4352774"/>
                  <a:ext cx="468910" cy="276999"/>
                </a:xfrm>
                <a:prstGeom prst="rect">
                  <a:avLst/>
                </a:prstGeom>
                <a:blipFill rotWithShape="0">
                  <a:blip r:embed="rId5"/>
                  <a:stretch>
                    <a:fillRect l="-12987" t="-2222" r="-18182" b="-3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2522830" y="3569946"/>
                  <a:ext cx="46115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𝑒</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m:oMathPara>
                  </a14:m>
                  <a:endParaRPr lang="en-US" dirty="0"/>
                </a:p>
              </p:txBody>
            </p:sp>
          </mc:Choice>
          <mc:Fallback xmlns="">
            <p:sp>
              <p:nvSpPr>
                <p:cNvPr id="18" name="TextBox 17"/>
                <p:cNvSpPr txBox="1">
                  <a:spLocks noRot="1" noChangeAspect="1" noMove="1" noResize="1" noEditPoints="1" noAdjustHandles="1" noChangeArrowheads="1" noChangeShapeType="1" noTextEdit="1"/>
                </p:cNvSpPr>
                <p:nvPr/>
              </p:nvSpPr>
              <p:spPr>
                <a:xfrm>
                  <a:off x="2522830" y="3569946"/>
                  <a:ext cx="461152" cy="276999"/>
                </a:xfrm>
                <a:prstGeom prst="rect">
                  <a:avLst/>
                </a:prstGeom>
                <a:blipFill rotWithShape="0">
                  <a:blip r:embed="rId6"/>
                  <a:stretch>
                    <a:fillRect l="-6667" t="-4444" r="-18667" b="-3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3784572" y="3728384"/>
                  <a:ext cx="486287" cy="4641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𝐾</m:t>
                            </m:r>
                          </m:e>
                          <m:sub>
                            <m:r>
                              <a:rPr lang="en-US" sz="2800" b="0" i="1" smtClean="0">
                                <a:latin typeface="Cambria Math" panose="02040503050406030204" pitchFamily="18" charset="0"/>
                              </a:rPr>
                              <m:t>𝑝</m:t>
                            </m:r>
                          </m:sub>
                        </m:sSub>
                      </m:oMath>
                    </m:oMathPara>
                  </a14:m>
                  <a:endParaRPr lang="en-US" sz="2800" dirty="0"/>
                </a:p>
              </p:txBody>
            </p:sp>
          </mc:Choice>
          <mc:Fallback xmlns="">
            <p:sp>
              <p:nvSpPr>
                <p:cNvPr id="19" name="TextBox 18"/>
                <p:cNvSpPr txBox="1">
                  <a:spLocks noRot="1" noChangeAspect="1" noMove="1" noResize="1" noEditPoints="1" noAdjustHandles="1" noChangeArrowheads="1" noChangeShapeType="1" noTextEdit="1"/>
                </p:cNvSpPr>
                <p:nvPr/>
              </p:nvSpPr>
              <p:spPr>
                <a:xfrm>
                  <a:off x="3784572" y="3728384"/>
                  <a:ext cx="486287" cy="464101"/>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p:cNvSpPr txBox="1"/>
                <p:nvPr/>
              </p:nvSpPr>
              <p:spPr>
                <a:xfrm>
                  <a:off x="4592409" y="2304145"/>
                  <a:ext cx="1210908" cy="72654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𝑖</m:t>
                            </m:r>
                          </m:sub>
                        </m:sSub>
                        <m:nary>
                          <m:naryPr>
                            <m:limLoc m:val="undOvr"/>
                            <m:subHide m:val="on"/>
                            <m:supHide m:val="on"/>
                            <m:ctrlPr>
                              <a:rPr lang="en-US" b="0" i="1" smtClean="0">
                                <a:latin typeface="Cambria Math" panose="02040503050406030204" pitchFamily="18" charset="0"/>
                              </a:rPr>
                            </m:ctrlPr>
                          </m:naryPr>
                          <m:sub/>
                          <m:sup/>
                          <m:e>
                            <m:r>
                              <a:rPr lang="en-US" b="0" i="1" smtClean="0">
                                <a:latin typeface="Cambria Math" panose="02040503050406030204" pitchFamily="18" charset="0"/>
                              </a:rPr>
                              <m:t>𝑒</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e>
                        </m:nary>
                        <m:r>
                          <a:rPr lang="en-US" b="0" i="1" smtClean="0">
                            <a:latin typeface="Cambria Math" panose="02040503050406030204" pitchFamily="18" charset="0"/>
                          </a:rPr>
                          <m:t>𝑑𝑡</m:t>
                        </m:r>
                      </m:oMath>
                    </m:oMathPara>
                  </a14:m>
                  <a:endParaRPr lang="en-US" dirty="0"/>
                </a:p>
              </p:txBody>
            </p:sp>
          </mc:Choice>
          <mc:Fallback xmlns="">
            <p:sp>
              <p:nvSpPr>
                <p:cNvPr id="20" name="TextBox 19"/>
                <p:cNvSpPr txBox="1">
                  <a:spLocks noRot="1" noChangeAspect="1" noMove="1" noResize="1" noEditPoints="1" noAdjustHandles="1" noChangeArrowheads="1" noChangeShapeType="1" noTextEdit="1"/>
                </p:cNvSpPr>
                <p:nvPr/>
              </p:nvSpPr>
              <p:spPr>
                <a:xfrm>
                  <a:off x="4592409" y="2304145"/>
                  <a:ext cx="1210908" cy="726546"/>
                </a:xfrm>
                <a:prstGeom prst="rect">
                  <a:avLst/>
                </a:prstGeom>
                <a:blipFill rotWithShape="0">
                  <a:blip r:embed="rId8"/>
                  <a:stretch>
                    <a:fillRect/>
                  </a:stretch>
                </a:blipFill>
              </p:spPr>
              <p:txBody>
                <a:bodyPr/>
                <a:lstStyle/>
                <a:p>
                  <a:r>
                    <a:rPr lang="en-US">
                      <a:noFill/>
                    </a:rPr>
                    <a:t> </a:t>
                  </a:r>
                </a:p>
              </p:txBody>
            </p:sp>
          </mc:Fallback>
        </mc:AlternateContent>
        <p:sp>
          <p:nvSpPr>
            <p:cNvPr id="22" name="Rectangle 21"/>
            <p:cNvSpPr/>
            <p:nvPr/>
          </p:nvSpPr>
          <p:spPr>
            <a:xfrm>
              <a:off x="7204956" y="3587190"/>
              <a:ext cx="10668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4" name="TextBox 23"/>
                <p:cNvSpPr txBox="1"/>
                <p:nvPr/>
              </p:nvSpPr>
              <p:spPr>
                <a:xfrm>
                  <a:off x="7273306" y="3798434"/>
                  <a:ext cx="975395"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𝑃𝑙𝑎𝑛𝑡</m:t>
                        </m:r>
                      </m:oMath>
                    </m:oMathPara>
                  </a14:m>
                  <a:endParaRPr lang="en-US" sz="2800" dirty="0"/>
                </a:p>
              </p:txBody>
            </p:sp>
          </mc:Choice>
          <mc:Fallback xmlns="">
            <p:sp>
              <p:nvSpPr>
                <p:cNvPr id="24" name="TextBox 23"/>
                <p:cNvSpPr txBox="1">
                  <a:spLocks noRot="1" noChangeAspect="1" noMove="1" noResize="1" noEditPoints="1" noAdjustHandles="1" noChangeArrowheads="1" noChangeShapeType="1" noTextEdit="1"/>
                </p:cNvSpPr>
                <p:nvPr/>
              </p:nvSpPr>
              <p:spPr>
                <a:xfrm>
                  <a:off x="7273306" y="3798434"/>
                  <a:ext cx="975395" cy="430887"/>
                </a:xfrm>
                <a:prstGeom prst="rect">
                  <a:avLst/>
                </a:prstGeom>
                <a:blipFill rotWithShape="0">
                  <a:blip r:embed="rId9"/>
                  <a:stretch>
                    <a:fillRect/>
                  </a:stretch>
                </a:blipFill>
              </p:spPr>
              <p:txBody>
                <a:bodyPr/>
                <a:lstStyle/>
                <a:p>
                  <a:r>
                    <a:rPr lang="en-US">
                      <a:noFill/>
                    </a:rPr>
                    <a:t> </a:t>
                  </a:r>
                </a:p>
              </p:txBody>
            </p:sp>
          </mc:Fallback>
        </mc:AlternateContent>
        <p:cxnSp>
          <p:nvCxnSpPr>
            <p:cNvPr id="25" name="Straight Arrow Connector 24"/>
            <p:cNvCxnSpPr/>
            <p:nvPr/>
          </p:nvCxnSpPr>
          <p:spPr>
            <a:xfrm>
              <a:off x="8263666" y="4009395"/>
              <a:ext cx="548640" cy="0"/>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cxnSp>
          <p:nvCxnSpPr>
            <p:cNvPr id="26" name="Straight Arrow Connector 25"/>
            <p:cNvCxnSpPr/>
            <p:nvPr/>
          </p:nvCxnSpPr>
          <p:spPr>
            <a:xfrm>
              <a:off x="5541981" y="5252384"/>
              <a:ext cx="2926080" cy="0"/>
            </a:xfrm>
            <a:prstGeom prst="straightConnector1">
              <a:avLst/>
            </a:prstGeom>
            <a:ln w="19050">
              <a:headEnd type="arrow"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27" name="Straight Arrow Connector 26"/>
            <p:cNvCxnSpPr/>
            <p:nvPr/>
          </p:nvCxnSpPr>
          <p:spPr>
            <a:xfrm rot="16200000">
              <a:off x="7840018" y="4639378"/>
              <a:ext cx="1261872" cy="0"/>
            </a:xfrm>
            <a:prstGeom prst="straightConnector1">
              <a:avLst/>
            </a:prstGeom>
            <a:ln w="19050">
              <a:headEnd type="none" w="med" len="med"/>
              <a:tailEnd type="none" w="med" len="med"/>
            </a:ln>
          </p:spPr>
          <p:style>
            <a:lnRef idx="1">
              <a:schemeClr val="accent2"/>
            </a:lnRef>
            <a:fillRef idx="0">
              <a:schemeClr val="accent2"/>
            </a:fillRef>
            <a:effectRef idx="0">
              <a:schemeClr val="accent2"/>
            </a:effectRef>
            <a:fontRef idx="minor">
              <a:schemeClr val="tx1"/>
            </a:fontRef>
          </p:style>
        </p:cxnSp>
        <p:sp>
          <p:nvSpPr>
            <p:cNvPr id="28" name="Rectangle 27"/>
            <p:cNvSpPr/>
            <p:nvPr/>
          </p:nvSpPr>
          <p:spPr>
            <a:xfrm>
              <a:off x="4467127" y="4939755"/>
              <a:ext cx="1066800" cy="66111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9" name="TextBox 28"/>
                <p:cNvSpPr txBox="1"/>
                <p:nvPr/>
              </p:nvSpPr>
              <p:spPr>
                <a:xfrm>
                  <a:off x="4518278" y="5134030"/>
                  <a:ext cx="934165"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𝐹𝑒𝑒𝑑𝑏𝑎𝑐𝑘</m:t>
                        </m:r>
                      </m:oMath>
                    </m:oMathPara>
                  </a14:m>
                  <a:endParaRPr lang="en-US" sz="1600" dirty="0"/>
                </a:p>
              </p:txBody>
            </p:sp>
          </mc:Choice>
          <mc:Fallback xmlns="">
            <p:sp>
              <p:nvSpPr>
                <p:cNvPr id="29" name="TextBox 28"/>
                <p:cNvSpPr txBox="1">
                  <a:spLocks noRot="1" noChangeAspect="1" noMove="1" noResize="1" noEditPoints="1" noAdjustHandles="1" noChangeArrowheads="1" noChangeShapeType="1" noTextEdit="1"/>
                </p:cNvSpPr>
                <p:nvPr/>
              </p:nvSpPr>
              <p:spPr>
                <a:xfrm>
                  <a:off x="4518278" y="5134030"/>
                  <a:ext cx="934165" cy="246221"/>
                </a:xfrm>
                <a:prstGeom prst="rect">
                  <a:avLst/>
                </a:prstGeom>
                <a:blipFill rotWithShape="0">
                  <a:blip r:embed="rId10"/>
                  <a:stretch>
                    <a:fillRect l="-5229" r="-3922" b="-48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p:cNvSpPr txBox="1"/>
                <p:nvPr/>
              </p:nvSpPr>
              <p:spPr>
                <a:xfrm>
                  <a:off x="8454248" y="3697371"/>
                  <a:ext cx="46115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m:oMathPara>
                  </a14:m>
                  <a:endParaRPr lang="en-US" dirty="0"/>
                </a:p>
              </p:txBody>
            </p:sp>
          </mc:Choice>
          <mc:Fallback xmlns="">
            <p:sp>
              <p:nvSpPr>
                <p:cNvPr id="30" name="TextBox 29"/>
                <p:cNvSpPr txBox="1">
                  <a:spLocks noRot="1" noChangeAspect="1" noMove="1" noResize="1" noEditPoints="1" noAdjustHandles="1" noChangeArrowheads="1" noChangeShapeType="1" noTextEdit="1"/>
                </p:cNvSpPr>
                <p:nvPr/>
              </p:nvSpPr>
              <p:spPr>
                <a:xfrm>
                  <a:off x="8454248" y="3697371"/>
                  <a:ext cx="461152" cy="276999"/>
                </a:xfrm>
                <a:prstGeom prst="rect">
                  <a:avLst/>
                </a:prstGeom>
                <a:blipFill rotWithShape="0">
                  <a:blip r:embed="rId11"/>
                  <a:stretch>
                    <a:fillRect l="-6667" t="-2174" r="-18667" b="-32609"/>
                  </a:stretch>
                </a:blipFill>
              </p:spPr>
              <p:txBody>
                <a:bodyPr/>
                <a:lstStyle/>
                <a:p>
                  <a:r>
                    <a:rPr lang="en-US">
                      <a:noFill/>
                    </a:rPr>
                    <a:t> </a:t>
                  </a:r>
                </a:p>
              </p:txBody>
            </p:sp>
          </mc:Fallback>
        </mc:AlternateContent>
        <p:sp>
          <p:nvSpPr>
            <p:cNvPr id="31" name="Rectangle 30"/>
            <p:cNvSpPr/>
            <p:nvPr/>
          </p:nvSpPr>
          <p:spPr>
            <a:xfrm>
              <a:off x="3466753" y="2489677"/>
              <a:ext cx="10668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4" name="TextBox 33"/>
                <p:cNvSpPr txBox="1"/>
                <p:nvPr/>
              </p:nvSpPr>
              <p:spPr>
                <a:xfrm>
                  <a:off x="3722247" y="2505851"/>
                  <a:ext cx="543290" cy="677108"/>
                </a:xfrm>
                <a:prstGeom prst="rect">
                  <a:avLst/>
                </a:prstGeom>
                <a:noFill/>
              </p:spPr>
              <p:txBody>
                <a:bodyPr wrap="none" lIns="0" tIns="0" rIns="0" bIns="0" rtlCol="0">
                  <a:spAutoFit/>
                </a:bodyPr>
                <a:lstStyle/>
                <a:p>
                  <a14:m>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𝐾</m:t>
                          </m:r>
                        </m:e>
                        <m:sub>
                          <m:r>
                            <a:rPr lang="en-US" sz="2800" b="0" i="1" smtClean="0">
                              <a:latin typeface="Cambria Math" panose="02040503050406030204" pitchFamily="18" charset="0"/>
                            </a:rPr>
                            <m:t>𝑖</m:t>
                          </m:r>
                        </m:sub>
                      </m:sSub>
                    </m:oMath>
                  </a14:m>
                  <a:r>
                    <a:rPr lang="en-US" sz="4400" dirty="0"/>
                    <a:t>∫</a:t>
                  </a:r>
                </a:p>
              </p:txBody>
            </p:sp>
          </mc:Choice>
          <mc:Fallback xmlns="">
            <p:sp>
              <p:nvSpPr>
                <p:cNvPr id="34" name="TextBox 33"/>
                <p:cNvSpPr txBox="1">
                  <a:spLocks noRot="1" noChangeAspect="1" noMove="1" noResize="1" noEditPoints="1" noAdjustHandles="1" noChangeArrowheads="1" noChangeShapeType="1" noTextEdit="1"/>
                </p:cNvSpPr>
                <p:nvPr/>
              </p:nvSpPr>
              <p:spPr>
                <a:xfrm>
                  <a:off x="3722247" y="2505851"/>
                  <a:ext cx="543290" cy="677108"/>
                </a:xfrm>
                <a:prstGeom prst="rect">
                  <a:avLst/>
                </a:prstGeom>
                <a:blipFill rotWithShape="0">
                  <a:blip r:embed="rId12"/>
                  <a:stretch>
                    <a:fillRect l="-1124" t="-25225" r="-61798" b="-48649"/>
                  </a:stretch>
                </a:blipFill>
              </p:spPr>
              <p:txBody>
                <a:bodyPr/>
                <a:lstStyle/>
                <a:p>
                  <a:r>
                    <a:rPr lang="en-US">
                      <a:noFill/>
                    </a:rPr>
                    <a:t> </a:t>
                  </a:r>
                </a:p>
              </p:txBody>
            </p:sp>
          </mc:Fallback>
        </mc:AlternateContent>
        <p:cxnSp>
          <p:nvCxnSpPr>
            <p:cNvPr id="35" name="Straight Arrow Connector 34"/>
            <p:cNvCxnSpPr/>
            <p:nvPr/>
          </p:nvCxnSpPr>
          <p:spPr>
            <a:xfrm rot="16200000">
              <a:off x="2461766" y="3458584"/>
              <a:ext cx="1097280" cy="0"/>
            </a:xfrm>
            <a:prstGeom prst="straightConnector1">
              <a:avLst/>
            </a:prstGeom>
            <a:ln w="19050">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36" name="Straight Arrow Connector 35"/>
            <p:cNvCxnSpPr/>
            <p:nvPr/>
          </p:nvCxnSpPr>
          <p:spPr>
            <a:xfrm>
              <a:off x="3017519" y="2904565"/>
              <a:ext cx="457200" cy="0"/>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sp>
          <p:nvSpPr>
            <p:cNvPr id="37" name="Oval 36"/>
            <p:cNvSpPr/>
            <p:nvPr/>
          </p:nvSpPr>
          <p:spPr>
            <a:xfrm>
              <a:off x="5472953" y="3733800"/>
              <a:ext cx="5334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8" name="Straight Arrow Connector 37"/>
            <p:cNvCxnSpPr/>
            <p:nvPr/>
          </p:nvCxnSpPr>
          <p:spPr>
            <a:xfrm>
              <a:off x="4563035" y="4025153"/>
              <a:ext cx="914400" cy="0"/>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cxnSp>
          <p:nvCxnSpPr>
            <p:cNvPr id="39" name="Straight Arrow Connector 38"/>
            <p:cNvCxnSpPr/>
            <p:nvPr/>
          </p:nvCxnSpPr>
          <p:spPr>
            <a:xfrm rot="5400000">
              <a:off x="5325932" y="3321834"/>
              <a:ext cx="822960" cy="0"/>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cxnSp>
          <p:nvCxnSpPr>
            <p:cNvPr id="40" name="Straight Arrow Connector 39"/>
            <p:cNvCxnSpPr/>
            <p:nvPr/>
          </p:nvCxnSpPr>
          <p:spPr>
            <a:xfrm>
              <a:off x="4529866" y="2904564"/>
              <a:ext cx="1216152" cy="0"/>
            </a:xfrm>
            <a:prstGeom prst="straightConnector1">
              <a:avLst/>
            </a:prstGeom>
            <a:ln w="19050">
              <a:headEnd type="none" w="med" len="med"/>
              <a:tailEnd type="none" w="med" len="med"/>
            </a:ln>
          </p:spPr>
          <p:style>
            <a:lnRef idx="1">
              <a:schemeClr val="accent2"/>
            </a:lnRef>
            <a:fillRef idx="0">
              <a:schemeClr val="accent2"/>
            </a:fillRef>
            <a:effectRef idx="0">
              <a:schemeClr val="accent2"/>
            </a:effectRef>
            <a:fontRef idx="minor">
              <a:schemeClr val="tx1"/>
            </a:fontRef>
          </p:style>
        </p:cxnSp>
        <p:sp>
          <p:nvSpPr>
            <p:cNvPr id="41" name="TextBox 40"/>
            <p:cNvSpPr txBox="1"/>
            <p:nvPr/>
          </p:nvSpPr>
          <p:spPr>
            <a:xfrm>
              <a:off x="5152328" y="3635188"/>
              <a:ext cx="338554" cy="461665"/>
            </a:xfrm>
            <a:prstGeom prst="rect">
              <a:avLst/>
            </a:prstGeom>
            <a:noFill/>
          </p:spPr>
          <p:txBody>
            <a:bodyPr wrap="none" rtlCol="0">
              <a:spAutoFit/>
            </a:bodyPr>
            <a:lstStyle/>
            <a:p>
              <a:r>
                <a:rPr lang="en-US" sz="2400" dirty="0"/>
                <a:t>+</a:t>
              </a:r>
            </a:p>
          </p:txBody>
        </p:sp>
        <p:sp>
          <p:nvSpPr>
            <p:cNvPr id="42" name="TextBox 41"/>
            <p:cNvSpPr txBox="1"/>
            <p:nvPr/>
          </p:nvSpPr>
          <p:spPr>
            <a:xfrm>
              <a:off x="5415579" y="3413881"/>
              <a:ext cx="338554" cy="461665"/>
            </a:xfrm>
            <a:prstGeom prst="rect">
              <a:avLst/>
            </a:prstGeom>
            <a:noFill/>
          </p:spPr>
          <p:txBody>
            <a:bodyPr wrap="none" rtlCol="0">
              <a:spAutoFit/>
            </a:bodyPr>
            <a:lstStyle/>
            <a:p>
              <a:r>
                <a:rPr lang="en-US" sz="2400" dirty="0"/>
                <a:t>+</a:t>
              </a:r>
            </a:p>
          </p:txBody>
        </p:sp>
        <mc:AlternateContent xmlns:mc="http://schemas.openxmlformats.org/markup-compatibility/2006" xmlns:a14="http://schemas.microsoft.com/office/drawing/2010/main">
          <mc:Choice Requires="a14">
            <p:sp>
              <p:nvSpPr>
                <p:cNvPr id="43" name="TextBox 42"/>
                <p:cNvSpPr txBox="1"/>
                <p:nvPr/>
              </p:nvSpPr>
              <p:spPr>
                <a:xfrm>
                  <a:off x="4567437" y="3679671"/>
                  <a:ext cx="721993" cy="29841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𝑝</m:t>
                            </m:r>
                          </m:sub>
                        </m:sSub>
                        <m:r>
                          <a:rPr lang="en-US" i="1">
                            <a:latin typeface="Cambria Math" panose="02040503050406030204" pitchFamily="18" charset="0"/>
                          </a:rPr>
                          <m:t>𝑒</m:t>
                        </m:r>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oMath>
                    </m:oMathPara>
                  </a14:m>
                  <a:endParaRPr lang="en-US" dirty="0"/>
                </a:p>
              </p:txBody>
            </p:sp>
          </mc:Choice>
          <mc:Fallback xmlns="">
            <p:sp>
              <p:nvSpPr>
                <p:cNvPr id="43" name="TextBox 42"/>
                <p:cNvSpPr txBox="1">
                  <a:spLocks noRot="1" noChangeAspect="1" noMove="1" noResize="1" noEditPoints="1" noAdjustHandles="1" noChangeArrowheads="1" noChangeShapeType="1" noTextEdit="1"/>
                </p:cNvSpPr>
                <p:nvPr/>
              </p:nvSpPr>
              <p:spPr>
                <a:xfrm>
                  <a:off x="4567437" y="3679671"/>
                  <a:ext cx="721993" cy="298415"/>
                </a:xfrm>
                <a:prstGeom prst="rect">
                  <a:avLst/>
                </a:prstGeom>
                <a:blipFill rotWithShape="0">
                  <a:blip r:embed="rId13"/>
                  <a:stretch>
                    <a:fillRect l="-6723" t="-2041" r="-10924" b="-26531"/>
                  </a:stretch>
                </a:blipFill>
              </p:spPr>
              <p:txBody>
                <a:bodyPr/>
                <a:lstStyle/>
                <a:p>
                  <a:r>
                    <a:rPr lang="en-US">
                      <a:noFill/>
                    </a:rPr>
                    <a:t> </a:t>
                  </a:r>
                </a:p>
              </p:txBody>
            </p:sp>
          </mc:Fallback>
        </mc:AlternateContent>
        <p:cxnSp>
          <p:nvCxnSpPr>
            <p:cNvPr id="44" name="Straight Arrow Connector 43"/>
            <p:cNvCxnSpPr/>
            <p:nvPr/>
          </p:nvCxnSpPr>
          <p:spPr>
            <a:xfrm>
              <a:off x="2247551" y="5252384"/>
              <a:ext cx="2194560" cy="0"/>
            </a:xfrm>
            <a:prstGeom prst="straightConnector1">
              <a:avLst/>
            </a:prstGeom>
            <a:ln w="19050">
              <a:headEnd type="none" w="med" len="med"/>
              <a:tailEnd type="none" w="med" len="med"/>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a14="http://schemas.microsoft.com/office/drawing/2010/main">
          <mc:Choice Requires="a14">
            <p:sp>
              <p:nvSpPr>
                <p:cNvPr id="9" name="Rectangle 8"/>
                <p:cNvSpPr/>
                <p:nvPr/>
              </p:nvSpPr>
              <p:spPr>
                <a:xfrm>
                  <a:off x="6193612" y="3552916"/>
                  <a:ext cx="824648"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200" i="1" smtClean="0">
                            <a:latin typeface="Cambria Math" panose="02040503050406030204" pitchFamily="18" charset="0"/>
                          </a:rPr>
                          <m:t>𝑐</m:t>
                        </m:r>
                        <m:r>
                          <a:rPr lang="en-US" sz="2200" i="1" baseline="-25000">
                            <a:latin typeface="Cambria Math" panose="02040503050406030204" pitchFamily="18" charset="0"/>
                          </a:rPr>
                          <m:t>𝑝</m:t>
                        </m:r>
                        <m:r>
                          <a:rPr lang="en-US" sz="2200" b="0" i="1" baseline="-25000" smtClean="0">
                            <a:latin typeface="Cambria Math" panose="02040503050406030204" pitchFamily="18" charset="0"/>
                          </a:rPr>
                          <m:t>𝑖</m:t>
                        </m:r>
                        <m:d>
                          <m:dPr>
                            <m:ctrlPr>
                              <a:rPr lang="en-US" sz="2200" i="1" baseline="-25000">
                                <a:latin typeface="Cambria Math" panose="02040503050406030204" pitchFamily="18" charset="0"/>
                              </a:rPr>
                            </m:ctrlPr>
                          </m:dPr>
                          <m:e>
                            <m:r>
                              <a:rPr lang="en-US" sz="2200" i="1">
                                <a:latin typeface="Cambria Math" panose="02040503050406030204" pitchFamily="18" charset="0"/>
                              </a:rPr>
                              <m:t>𝑡</m:t>
                            </m:r>
                          </m:e>
                        </m:d>
                      </m:oMath>
                    </m:oMathPara>
                  </a14:m>
                  <a:endParaRPr lang="en-US" sz="2200" dirty="0"/>
                </a:p>
              </p:txBody>
            </p:sp>
          </mc:Choice>
          <mc:Fallback xmlns="">
            <p:sp>
              <p:nvSpPr>
                <p:cNvPr id="9" name="Rectangle 8"/>
                <p:cNvSpPr>
                  <a:spLocks noRot="1" noChangeAspect="1" noMove="1" noResize="1" noEditPoints="1" noAdjustHandles="1" noChangeArrowheads="1" noChangeShapeType="1" noTextEdit="1"/>
                </p:cNvSpPr>
                <p:nvPr/>
              </p:nvSpPr>
              <p:spPr>
                <a:xfrm>
                  <a:off x="6193612" y="3552916"/>
                  <a:ext cx="824648" cy="430887"/>
                </a:xfrm>
                <a:prstGeom prst="rect">
                  <a:avLst/>
                </a:prstGeom>
                <a:blipFill rotWithShape="0">
                  <a:blip r:embed="rId14"/>
                  <a:stretch>
                    <a:fillRect b="-11268"/>
                  </a:stretch>
                </a:blipFill>
              </p:spPr>
              <p:txBody>
                <a:bodyPr/>
                <a:lstStyle/>
                <a:p>
                  <a:r>
                    <a:rPr lang="en-US">
                      <a:noFill/>
                    </a:rPr>
                    <a:t> </a:t>
                  </a:r>
                </a:p>
              </p:txBody>
            </p:sp>
          </mc:Fallback>
        </mc:AlternateContent>
      </p:grpSp>
    </p:spTree>
    <p:extLst>
      <p:ext uri="{BB962C8B-B14F-4D97-AF65-F5344CB8AC3E}">
        <p14:creationId xmlns:p14="http://schemas.microsoft.com/office/powerpoint/2010/main" val="708241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8F5C88F-F18E-43B3-8155-BDCDA06E8F78}" type="slidenum">
              <a:rPr lang="en-US">
                <a:solidFill>
                  <a:schemeClr val="bg1"/>
                </a:solidFill>
              </a:rPr>
              <a:pPr eaLnBrk="1" hangingPunct="1"/>
              <a:t>13</a:t>
            </a:fld>
            <a:endParaRPr lang="en-US">
              <a:solidFill>
                <a:schemeClr val="bg1"/>
              </a:solidFill>
            </a:endParaRPr>
          </a:p>
        </p:txBody>
      </p:sp>
      <p:sp>
        <p:nvSpPr>
          <p:cNvPr id="16389" name="AutoShape 2"/>
          <p:cNvSpPr>
            <a:spLocks noGrp="1" noChangeArrowheads="1"/>
          </p:cNvSpPr>
          <p:nvPr>
            <p:ph type="title"/>
          </p:nvPr>
        </p:nvSpPr>
        <p:spPr>
          <a:xfrm>
            <a:off x="457200" y="33432"/>
            <a:ext cx="8229600" cy="695978"/>
          </a:xfrm>
        </p:spPr>
        <p:txBody>
          <a:bodyPr>
            <a:normAutofit/>
          </a:bodyPr>
          <a:lstStyle/>
          <a:p>
            <a:pPr eaLnBrk="1" hangingPunct="1"/>
            <a:r>
              <a:rPr lang="en-US" sz="3800" dirty="0"/>
              <a:t>Proportional Plus Integral Control (</a:t>
            </a:r>
            <a:r>
              <a:rPr lang="en-US" sz="3800" dirty="0">
                <a:solidFill>
                  <a:srgbClr val="FF0000"/>
                </a:solidFill>
              </a:rPr>
              <a:t>PI</a:t>
            </a:r>
            <a:r>
              <a:rPr lang="en-US" sz="3800" dirty="0"/>
              <a:t>)</a:t>
            </a:r>
          </a:p>
        </p:txBody>
      </p:sp>
      <p:sp>
        <p:nvSpPr>
          <p:cNvPr id="16390" name="Rectangle 3"/>
          <p:cNvSpPr>
            <a:spLocks noGrp="1" noChangeArrowheads="1"/>
          </p:cNvSpPr>
          <p:nvPr>
            <p:ph type="body" idx="1"/>
          </p:nvPr>
        </p:nvSpPr>
        <p:spPr>
          <a:xfrm>
            <a:off x="0" y="762000"/>
            <a:ext cx="8839200" cy="5739839"/>
          </a:xfrm>
        </p:spPr>
        <p:txBody>
          <a:bodyPr>
            <a:normAutofit/>
          </a:bodyPr>
          <a:lstStyle/>
          <a:p>
            <a:pPr algn="just" eaLnBrk="1" hangingPunct="1">
              <a:lnSpc>
                <a:spcPct val="90000"/>
              </a:lnSpc>
            </a:pPr>
            <a:endParaRPr lang="en-US" sz="2600" dirty="0"/>
          </a:p>
          <a:p>
            <a:pPr algn="just" eaLnBrk="1" hangingPunct="1">
              <a:lnSpc>
                <a:spcPct val="90000"/>
              </a:lnSpc>
            </a:pPr>
            <a:endParaRPr lang="en-US" sz="2600" dirty="0"/>
          </a:p>
          <a:p>
            <a:pPr algn="just" eaLnBrk="1" hangingPunct="1">
              <a:lnSpc>
                <a:spcPct val="90000"/>
              </a:lnSpc>
            </a:pPr>
            <a:endParaRPr lang="en-US" sz="2600" dirty="0"/>
          </a:p>
          <a:p>
            <a:pPr algn="just" eaLnBrk="1" hangingPunct="1">
              <a:lnSpc>
                <a:spcPct val="90000"/>
              </a:lnSpc>
            </a:pPr>
            <a:endParaRPr lang="en-US" sz="2600" dirty="0"/>
          </a:p>
          <a:p>
            <a:pPr algn="just" eaLnBrk="1" hangingPunct="1">
              <a:lnSpc>
                <a:spcPct val="90000"/>
              </a:lnSpc>
            </a:pPr>
            <a:r>
              <a:rPr lang="en-US" sz="2600" dirty="0"/>
              <a:t>The transfer function can be written as</a:t>
            </a:r>
          </a:p>
        </p:txBody>
      </p:sp>
      <mc:AlternateContent xmlns:mc="http://schemas.openxmlformats.org/markup-compatibility/2006" xmlns:a14="http://schemas.microsoft.com/office/drawing/2010/main">
        <mc:Choice Requires="a14">
          <p:sp>
            <p:nvSpPr>
              <p:cNvPr id="33" name="TextBox 32"/>
              <p:cNvSpPr txBox="1"/>
              <p:nvPr/>
            </p:nvSpPr>
            <p:spPr>
              <a:xfrm>
                <a:off x="2667000" y="3505200"/>
                <a:ext cx="3502113" cy="10894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400" b="0" i="1" smtClean="0">
                              <a:latin typeface="Cambria Math" panose="02040503050406030204" pitchFamily="18" charset="0"/>
                            </a:rPr>
                          </m:ctrlPr>
                        </m:sSubPr>
                        <m:e>
                          <m:f>
                            <m:fPr>
                              <m:ctrlPr>
                                <a:rPr lang="en-US" sz="3400" b="0" i="1" smtClean="0">
                                  <a:latin typeface="Cambria Math" panose="02040503050406030204" pitchFamily="18" charset="0"/>
                                </a:rPr>
                              </m:ctrlPr>
                            </m:fPr>
                            <m:num>
                              <m:r>
                                <a:rPr lang="en-US" sz="3400" b="0" i="1" smtClean="0">
                                  <a:latin typeface="Cambria Math" panose="02040503050406030204" pitchFamily="18" charset="0"/>
                                </a:rPr>
                                <m:t>𝐶</m:t>
                              </m:r>
                              <m:r>
                                <a:rPr lang="en-US" sz="3400" i="1" baseline="-25000">
                                  <a:latin typeface="Cambria Math" panose="02040503050406030204" pitchFamily="18" charset="0"/>
                                </a:rPr>
                                <m:t>𝑝</m:t>
                              </m:r>
                              <m:r>
                                <a:rPr lang="en-US" sz="3400" b="0" i="1" baseline="-25000" smtClean="0">
                                  <a:latin typeface="Cambria Math" panose="02040503050406030204" pitchFamily="18" charset="0"/>
                                </a:rPr>
                                <m:t>𝑖</m:t>
                              </m:r>
                              <m:r>
                                <a:rPr lang="en-US" sz="3400" i="1">
                                  <a:latin typeface="Cambria Math" panose="02040503050406030204" pitchFamily="18" charset="0"/>
                                </a:rPr>
                                <m:t>(</m:t>
                              </m:r>
                              <m:r>
                                <a:rPr lang="en-US" sz="3400" b="0" i="1" smtClean="0">
                                  <a:latin typeface="Cambria Math" panose="02040503050406030204" pitchFamily="18" charset="0"/>
                                </a:rPr>
                                <m:t>𝑠</m:t>
                              </m:r>
                              <m:r>
                                <a:rPr lang="en-US" sz="3400" i="1">
                                  <a:latin typeface="Cambria Math" panose="02040503050406030204" pitchFamily="18" charset="0"/>
                                </a:rPr>
                                <m:t>)</m:t>
                              </m:r>
                            </m:num>
                            <m:den>
                              <m:r>
                                <a:rPr lang="en-US" sz="3400" b="0" i="1" smtClean="0">
                                  <a:latin typeface="Cambria Math" panose="02040503050406030204" pitchFamily="18" charset="0"/>
                                </a:rPr>
                                <m:t>𝐸</m:t>
                              </m:r>
                              <m:r>
                                <a:rPr lang="en-US" sz="3400" b="0" i="1" smtClean="0">
                                  <a:latin typeface="Cambria Math" panose="02040503050406030204" pitchFamily="18" charset="0"/>
                                </a:rPr>
                                <m:t>(</m:t>
                              </m:r>
                              <m:r>
                                <a:rPr lang="en-US" sz="3400" b="0" i="1" smtClean="0">
                                  <a:latin typeface="Cambria Math" panose="02040503050406030204" pitchFamily="18" charset="0"/>
                                </a:rPr>
                                <m:t>𝑠</m:t>
                              </m:r>
                              <m:r>
                                <a:rPr lang="en-US" sz="3400" b="0" i="1" smtClean="0">
                                  <a:latin typeface="Cambria Math" panose="02040503050406030204" pitchFamily="18" charset="0"/>
                                </a:rPr>
                                <m:t>)</m:t>
                              </m:r>
                            </m:den>
                          </m:f>
                          <m:r>
                            <a:rPr lang="en-US" sz="3400" b="0" i="1" smtClean="0">
                              <a:latin typeface="Cambria Math" panose="02040503050406030204" pitchFamily="18" charset="0"/>
                            </a:rPr>
                            <m:t>=</m:t>
                          </m:r>
                          <m:r>
                            <a:rPr lang="en-US" sz="3400" b="0" i="1" smtClean="0">
                              <a:latin typeface="Cambria Math" panose="02040503050406030204" pitchFamily="18" charset="0"/>
                            </a:rPr>
                            <m:t>𝐾</m:t>
                          </m:r>
                        </m:e>
                        <m:sub>
                          <m:r>
                            <a:rPr lang="en-US" sz="3400" b="0" i="1" smtClean="0">
                              <a:latin typeface="Cambria Math" panose="02040503050406030204" pitchFamily="18" charset="0"/>
                            </a:rPr>
                            <m:t>𝑝</m:t>
                          </m:r>
                        </m:sub>
                      </m:sSub>
                      <m:r>
                        <a:rPr lang="en-US" sz="3400" b="0" i="1" smtClean="0">
                          <a:latin typeface="Cambria Math" panose="02040503050406030204" pitchFamily="18" charset="0"/>
                        </a:rPr>
                        <m:t>+</m:t>
                      </m:r>
                      <m:sSub>
                        <m:sSubPr>
                          <m:ctrlPr>
                            <a:rPr lang="en-US" sz="3400" b="0" i="1" smtClean="0">
                              <a:latin typeface="Cambria Math" panose="02040503050406030204" pitchFamily="18" charset="0"/>
                            </a:rPr>
                          </m:ctrlPr>
                        </m:sSubPr>
                        <m:e>
                          <m:r>
                            <a:rPr lang="en-US" sz="3400" b="0" i="1" smtClean="0">
                              <a:latin typeface="Cambria Math" panose="02040503050406030204" pitchFamily="18" charset="0"/>
                            </a:rPr>
                            <m:t>𝐾</m:t>
                          </m:r>
                        </m:e>
                        <m:sub>
                          <m:r>
                            <a:rPr lang="en-US" sz="3400" b="0" i="1" smtClean="0">
                              <a:latin typeface="Cambria Math" panose="02040503050406030204" pitchFamily="18" charset="0"/>
                            </a:rPr>
                            <m:t>𝑖</m:t>
                          </m:r>
                        </m:sub>
                      </m:sSub>
                      <m:f>
                        <m:fPr>
                          <m:ctrlPr>
                            <a:rPr lang="en-US" sz="3400" b="0" i="1" smtClean="0">
                              <a:latin typeface="Cambria Math" panose="02040503050406030204" pitchFamily="18" charset="0"/>
                            </a:rPr>
                          </m:ctrlPr>
                        </m:fPr>
                        <m:num>
                          <m:r>
                            <a:rPr lang="en-US" sz="3400" b="0" i="1" smtClean="0">
                              <a:latin typeface="Cambria Math" panose="02040503050406030204" pitchFamily="18" charset="0"/>
                            </a:rPr>
                            <m:t>1</m:t>
                          </m:r>
                        </m:num>
                        <m:den>
                          <m:r>
                            <a:rPr lang="en-US" sz="3400" b="0" i="1" smtClean="0">
                              <a:latin typeface="Cambria Math" panose="02040503050406030204" pitchFamily="18" charset="0"/>
                            </a:rPr>
                            <m:t>𝑠</m:t>
                          </m:r>
                        </m:den>
                      </m:f>
                    </m:oMath>
                  </m:oMathPara>
                </a14:m>
                <a:endParaRPr lang="en-US" sz="3400" dirty="0"/>
              </a:p>
            </p:txBody>
          </p:sp>
        </mc:Choice>
        <mc:Fallback xmlns="">
          <p:sp>
            <p:nvSpPr>
              <p:cNvPr id="33" name="TextBox 32"/>
              <p:cNvSpPr txBox="1">
                <a:spLocks noRot="1" noChangeAspect="1" noMove="1" noResize="1" noEditPoints="1" noAdjustHandles="1" noChangeArrowheads="1" noChangeShapeType="1" noTextEdit="1"/>
              </p:cNvSpPr>
              <p:nvPr/>
            </p:nvSpPr>
            <p:spPr>
              <a:xfrm>
                <a:off x="2667000" y="3505200"/>
                <a:ext cx="3502113" cy="1089401"/>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1981200" y="915549"/>
                <a:ext cx="5746060" cy="14646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400" i="1" smtClean="0">
                          <a:latin typeface="Cambria Math" panose="02040503050406030204" pitchFamily="18" charset="0"/>
                        </a:rPr>
                        <m:t>𝑐</m:t>
                      </m:r>
                      <m:r>
                        <a:rPr lang="en-US" sz="3400" i="1" baseline="-25000">
                          <a:latin typeface="Cambria Math" panose="02040503050406030204" pitchFamily="18" charset="0"/>
                        </a:rPr>
                        <m:t>𝑝</m:t>
                      </m:r>
                      <m:r>
                        <a:rPr lang="en-US" sz="3400" b="0" i="1" baseline="-25000" smtClean="0">
                          <a:latin typeface="Cambria Math" panose="02040503050406030204" pitchFamily="18" charset="0"/>
                        </a:rPr>
                        <m:t>𝑖</m:t>
                      </m:r>
                      <m:d>
                        <m:dPr>
                          <m:ctrlPr>
                            <a:rPr lang="en-US" sz="3400" i="1" baseline="-25000">
                              <a:latin typeface="Cambria Math" panose="02040503050406030204" pitchFamily="18" charset="0"/>
                            </a:rPr>
                          </m:ctrlPr>
                        </m:dPr>
                        <m:e>
                          <m:r>
                            <a:rPr lang="en-US" sz="3400" i="1">
                              <a:latin typeface="Cambria Math" panose="02040503050406030204" pitchFamily="18" charset="0"/>
                            </a:rPr>
                            <m:t>𝑡</m:t>
                          </m:r>
                        </m:e>
                      </m:d>
                      <m:r>
                        <a:rPr lang="en-US" sz="3400" i="1">
                          <a:latin typeface="Cambria Math" panose="02040503050406030204" pitchFamily="18" charset="0"/>
                        </a:rPr>
                        <m:t>=</m:t>
                      </m:r>
                      <m:sSub>
                        <m:sSubPr>
                          <m:ctrlPr>
                            <a:rPr lang="en-US" sz="3400" i="1">
                              <a:latin typeface="Cambria Math" panose="02040503050406030204" pitchFamily="18" charset="0"/>
                            </a:rPr>
                          </m:ctrlPr>
                        </m:sSubPr>
                        <m:e>
                          <m:r>
                            <a:rPr lang="en-US" sz="3400" i="1">
                              <a:latin typeface="Cambria Math" panose="02040503050406030204" pitchFamily="18" charset="0"/>
                            </a:rPr>
                            <m:t>𝐾</m:t>
                          </m:r>
                        </m:e>
                        <m:sub>
                          <m:r>
                            <a:rPr lang="en-US" sz="3400" i="1">
                              <a:latin typeface="Cambria Math" panose="02040503050406030204" pitchFamily="18" charset="0"/>
                            </a:rPr>
                            <m:t>𝑝</m:t>
                          </m:r>
                        </m:sub>
                      </m:sSub>
                      <m:r>
                        <a:rPr lang="en-US" sz="3400" i="1">
                          <a:latin typeface="Cambria Math" panose="02040503050406030204" pitchFamily="18" charset="0"/>
                        </a:rPr>
                        <m:t>𝑒</m:t>
                      </m:r>
                      <m:d>
                        <m:dPr>
                          <m:ctrlPr>
                            <a:rPr lang="en-US" sz="3400" i="1">
                              <a:latin typeface="Cambria Math" panose="02040503050406030204" pitchFamily="18" charset="0"/>
                            </a:rPr>
                          </m:ctrlPr>
                        </m:dPr>
                        <m:e>
                          <m:r>
                            <a:rPr lang="en-US" sz="3400" i="1">
                              <a:latin typeface="Cambria Math" panose="02040503050406030204" pitchFamily="18" charset="0"/>
                            </a:rPr>
                            <m:t>𝑡</m:t>
                          </m:r>
                        </m:e>
                      </m:d>
                      <m:r>
                        <a:rPr lang="en-US" sz="3400" b="0" i="0" smtClean="0">
                          <a:latin typeface="Cambria Math" panose="02040503050406030204" pitchFamily="18" charset="0"/>
                        </a:rPr>
                        <m:t>+</m:t>
                      </m:r>
                      <m:sSub>
                        <m:sSubPr>
                          <m:ctrlPr>
                            <a:rPr lang="en-US" sz="3400" i="1">
                              <a:latin typeface="Cambria Math" panose="02040503050406030204" pitchFamily="18" charset="0"/>
                            </a:rPr>
                          </m:ctrlPr>
                        </m:sSubPr>
                        <m:e>
                          <m:r>
                            <a:rPr lang="en-US" sz="3400" i="1">
                              <a:latin typeface="Cambria Math" panose="02040503050406030204" pitchFamily="18" charset="0"/>
                            </a:rPr>
                            <m:t>𝐾</m:t>
                          </m:r>
                        </m:e>
                        <m:sub>
                          <m:r>
                            <a:rPr lang="en-US" sz="3400" b="0" i="1" smtClean="0">
                              <a:latin typeface="Cambria Math" panose="02040503050406030204" pitchFamily="18" charset="0"/>
                            </a:rPr>
                            <m:t>𝑖</m:t>
                          </m:r>
                        </m:sub>
                      </m:sSub>
                      <m:nary>
                        <m:naryPr>
                          <m:limLoc m:val="undOvr"/>
                          <m:subHide m:val="on"/>
                          <m:supHide m:val="on"/>
                          <m:ctrlPr>
                            <a:rPr lang="en-US" sz="3400" i="1" smtClean="0">
                              <a:latin typeface="Cambria Math" panose="02040503050406030204" pitchFamily="18" charset="0"/>
                            </a:rPr>
                          </m:ctrlPr>
                        </m:naryPr>
                        <m:sub/>
                        <m:sup/>
                        <m:e>
                          <m:r>
                            <a:rPr lang="en-US" sz="3400" b="0" i="1" smtClean="0">
                              <a:latin typeface="Cambria Math" panose="02040503050406030204" pitchFamily="18" charset="0"/>
                            </a:rPr>
                            <m:t>𝑒</m:t>
                          </m:r>
                          <m:d>
                            <m:dPr>
                              <m:ctrlPr>
                                <a:rPr lang="en-US" sz="3400" b="0" i="1" smtClean="0">
                                  <a:latin typeface="Cambria Math" panose="02040503050406030204" pitchFamily="18" charset="0"/>
                                </a:rPr>
                              </m:ctrlPr>
                            </m:dPr>
                            <m:e>
                              <m:r>
                                <a:rPr lang="en-US" sz="3400" b="0" i="1" smtClean="0">
                                  <a:latin typeface="Cambria Math" panose="02040503050406030204" pitchFamily="18" charset="0"/>
                                </a:rPr>
                                <m:t>𝑡</m:t>
                              </m:r>
                            </m:e>
                          </m:d>
                          <m:r>
                            <a:rPr lang="en-US" sz="3400" b="0" i="1" smtClean="0">
                              <a:latin typeface="Cambria Math" panose="02040503050406030204" pitchFamily="18" charset="0"/>
                            </a:rPr>
                            <m:t>𝑑𝑡</m:t>
                          </m:r>
                        </m:e>
                      </m:nary>
                    </m:oMath>
                  </m:oMathPara>
                </a14:m>
                <a:endParaRPr lang="en-US" sz="3400" dirty="0"/>
              </a:p>
            </p:txBody>
          </p:sp>
        </mc:Choice>
        <mc:Fallback xmlns="">
          <p:sp>
            <p:nvSpPr>
              <p:cNvPr id="7" name="Rectangle 6"/>
              <p:cNvSpPr>
                <a:spLocks noRot="1" noChangeAspect="1" noMove="1" noResize="1" noEditPoints="1" noAdjustHandles="1" noChangeArrowheads="1" noChangeShapeType="1" noTextEdit="1"/>
              </p:cNvSpPr>
              <p:nvPr/>
            </p:nvSpPr>
            <p:spPr>
              <a:xfrm>
                <a:off x="1981200" y="915549"/>
                <a:ext cx="5746060" cy="1464632"/>
              </a:xfrm>
              <a:prstGeom prst="rect">
                <a:avLst/>
              </a:prstGeom>
              <a:blipFill rotWithShape="0">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709613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6390">
                                            <p:txEl>
                                              <p:pRg st="4" end="4"/>
                                            </p:txEl>
                                          </p:spTgt>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8F5C88F-F18E-43B3-8155-BDCDA06E8F78}" type="slidenum">
              <a:rPr lang="en-US">
                <a:solidFill>
                  <a:schemeClr val="bg1"/>
                </a:solidFill>
              </a:rPr>
              <a:pPr eaLnBrk="1" hangingPunct="1"/>
              <a:t>14</a:t>
            </a:fld>
            <a:endParaRPr lang="en-US">
              <a:solidFill>
                <a:schemeClr val="bg1"/>
              </a:solidFill>
            </a:endParaRPr>
          </a:p>
        </p:txBody>
      </p:sp>
      <p:sp>
        <p:nvSpPr>
          <p:cNvPr id="16389" name="AutoShape 2"/>
          <p:cNvSpPr>
            <a:spLocks noGrp="1" noChangeArrowheads="1"/>
          </p:cNvSpPr>
          <p:nvPr>
            <p:ph type="title"/>
          </p:nvPr>
        </p:nvSpPr>
        <p:spPr>
          <a:xfrm>
            <a:off x="457200" y="33432"/>
            <a:ext cx="8229600" cy="695978"/>
          </a:xfrm>
        </p:spPr>
        <p:txBody>
          <a:bodyPr>
            <a:normAutofit/>
          </a:bodyPr>
          <a:lstStyle/>
          <a:p>
            <a:pPr eaLnBrk="1" hangingPunct="1"/>
            <a:r>
              <a:rPr lang="en-US" sz="3800" dirty="0"/>
              <a:t>Proportional Plus derivative Control (</a:t>
            </a:r>
            <a:r>
              <a:rPr lang="en-US" sz="3800" dirty="0">
                <a:solidFill>
                  <a:srgbClr val="FF0000"/>
                </a:solidFill>
              </a:rPr>
              <a:t>PD</a:t>
            </a:r>
            <a:r>
              <a:rPr lang="en-US" sz="3800" dirty="0"/>
              <a:t>)</a:t>
            </a:r>
          </a:p>
        </p:txBody>
      </p:sp>
      <mc:AlternateContent xmlns:mc="http://schemas.openxmlformats.org/markup-compatibility/2006" xmlns:a14="http://schemas.microsoft.com/office/drawing/2010/main">
        <mc:Choice Requires="a14">
          <p:sp>
            <p:nvSpPr>
              <p:cNvPr id="4" name="Rectangle 3"/>
              <p:cNvSpPr/>
              <p:nvPr/>
            </p:nvSpPr>
            <p:spPr>
              <a:xfrm>
                <a:off x="2286000" y="5257800"/>
                <a:ext cx="5196807" cy="108888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400" i="1" smtClean="0">
                          <a:latin typeface="Cambria Math" panose="02040503050406030204" pitchFamily="18" charset="0"/>
                        </a:rPr>
                        <m:t>𝑐</m:t>
                      </m:r>
                      <m:r>
                        <a:rPr lang="en-US" sz="3400" i="1" baseline="-25000">
                          <a:latin typeface="Cambria Math" panose="02040503050406030204" pitchFamily="18" charset="0"/>
                        </a:rPr>
                        <m:t>𝑝</m:t>
                      </m:r>
                      <m:r>
                        <a:rPr lang="en-US" sz="3400" b="0" i="1" baseline="-25000" smtClean="0">
                          <a:latin typeface="Cambria Math" panose="02040503050406030204" pitchFamily="18" charset="0"/>
                        </a:rPr>
                        <m:t>𝑑</m:t>
                      </m:r>
                      <m:d>
                        <m:dPr>
                          <m:ctrlPr>
                            <a:rPr lang="en-US" sz="3400" i="1" baseline="-25000">
                              <a:latin typeface="Cambria Math" panose="02040503050406030204" pitchFamily="18" charset="0"/>
                            </a:rPr>
                          </m:ctrlPr>
                        </m:dPr>
                        <m:e>
                          <m:r>
                            <a:rPr lang="en-US" sz="3400" i="1">
                              <a:latin typeface="Cambria Math" panose="02040503050406030204" pitchFamily="18" charset="0"/>
                            </a:rPr>
                            <m:t>𝑡</m:t>
                          </m:r>
                        </m:e>
                      </m:d>
                      <m:r>
                        <a:rPr lang="en-US" sz="3400" i="1">
                          <a:latin typeface="Cambria Math" panose="02040503050406030204" pitchFamily="18" charset="0"/>
                        </a:rPr>
                        <m:t>=</m:t>
                      </m:r>
                      <m:sSub>
                        <m:sSubPr>
                          <m:ctrlPr>
                            <a:rPr lang="en-US" sz="3400" i="1">
                              <a:latin typeface="Cambria Math" panose="02040503050406030204" pitchFamily="18" charset="0"/>
                            </a:rPr>
                          </m:ctrlPr>
                        </m:sSubPr>
                        <m:e>
                          <m:r>
                            <a:rPr lang="en-US" sz="3400" i="1">
                              <a:latin typeface="Cambria Math" panose="02040503050406030204" pitchFamily="18" charset="0"/>
                            </a:rPr>
                            <m:t>𝐾</m:t>
                          </m:r>
                        </m:e>
                        <m:sub>
                          <m:r>
                            <a:rPr lang="en-US" sz="3400" i="1">
                              <a:latin typeface="Cambria Math" panose="02040503050406030204" pitchFamily="18" charset="0"/>
                            </a:rPr>
                            <m:t>𝑝</m:t>
                          </m:r>
                        </m:sub>
                      </m:sSub>
                      <m:r>
                        <a:rPr lang="en-US" sz="3400" i="1">
                          <a:latin typeface="Cambria Math" panose="02040503050406030204" pitchFamily="18" charset="0"/>
                        </a:rPr>
                        <m:t>𝑒</m:t>
                      </m:r>
                      <m:d>
                        <m:dPr>
                          <m:ctrlPr>
                            <a:rPr lang="en-US" sz="3400" i="1">
                              <a:latin typeface="Cambria Math" panose="02040503050406030204" pitchFamily="18" charset="0"/>
                            </a:rPr>
                          </m:ctrlPr>
                        </m:dPr>
                        <m:e>
                          <m:r>
                            <a:rPr lang="en-US" sz="3400" i="1">
                              <a:latin typeface="Cambria Math" panose="02040503050406030204" pitchFamily="18" charset="0"/>
                            </a:rPr>
                            <m:t>𝑡</m:t>
                          </m:r>
                        </m:e>
                      </m:d>
                      <m:r>
                        <a:rPr lang="en-US" sz="3400" b="0" i="0" smtClean="0">
                          <a:latin typeface="Cambria Math" panose="02040503050406030204" pitchFamily="18" charset="0"/>
                        </a:rPr>
                        <m:t>+</m:t>
                      </m:r>
                      <m:sSub>
                        <m:sSubPr>
                          <m:ctrlPr>
                            <a:rPr lang="en-US" sz="3400" i="1">
                              <a:latin typeface="Cambria Math" panose="02040503050406030204" pitchFamily="18" charset="0"/>
                            </a:rPr>
                          </m:ctrlPr>
                        </m:sSubPr>
                        <m:e>
                          <m:r>
                            <a:rPr lang="en-US" sz="3400" i="1">
                              <a:latin typeface="Cambria Math" panose="02040503050406030204" pitchFamily="18" charset="0"/>
                            </a:rPr>
                            <m:t>𝐾</m:t>
                          </m:r>
                        </m:e>
                        <m:sub>
                          <m:r>
                            <a:rPr lang="en-US" sz="3400" i="1">
                              <a:latin typeface="Cambria Math" panose="02040503050406030204" pitchFamily="18" charset="0"/>
                            </a:rPr>
                            <m:t>𝑑</m:t>
                          </m:r>
                        </m:sub>
                      </m:sSub>
                      <m:f>
                        <m:fPr>
                          <m:ctrlPr>
                            <a:rPr lang="en-US" sz="3400" i="1">
                              <a:latin typeface="Cambria Math" panose="02040503050406030204" pitchFamily="18" charset="0"/>
                            </a:rPr>
                          </m:ctrlPr>
                        </m:fPr>
                        <m:num>
                          <m:r>
                            <a:rPr lang="en-US" sz="3400" i="1">
                              <a:latin typeface="Cambria Math" panose="02040503050406030204" pitchFamily="18" charset="0"/>
                            </a:rPr>
                            <m:t>𝑑𝑒</m:t>
                          </m:r>
                          <m:r>
                            <a:rPr lang="en-US" sz="3400" i="1">
                              <a:latin typeface="Cambria Math" panose="02040503050406030204" pitchFamily="18" charset="0"/>
                            </a:rPr>
                            <m:t>(</m:t>
                          </m:r>
                          <m:r>
                            <a:rPr lang="en-US" sz="3400" i="1">
                              <a:latin typeface="Cambria Math" panose="02040503050406030204" pitchFamily="18" charset="0"/>
                            </a:rPr>
                            <m:t>𝑡</m:t>
                          </m:r>
                          <m:r>
                            <a:rPr lang="en-US" sz="3400" i="1">
                              <a:latin typeface="Cambria Math" panose="02040503050406030204" pitchFamily="18" charset="0"/>
                            </a:rPr>
                            <m:t>)</m:t>
                          </m:r>
                        </m:num>
                        <m:den>
                          <m:r>
                            <a:rPr lang="en-US" sz="3400" i="1">
                              <a:latin typeface="Cambria Math" panose="02040503050406030204" pitchFamily="18" charset="0"/>
                            </a:rPr>
                            <m:t>𝑑𝑡</m:t>
                          </m:r>
                        </m:den>
                      </m:f>
                    </m:oMath>
                  </m:oMathPara>
                </a14:m>
                <a:endParaRPr lang="en-US" sz="3400" dirty="0"/>
              </a:p>
            </p:txBody>
          </p:sp>
        </mc:Choice>
        <mc:Fallback xmlns="">
          <p:sp>
            <p:nvSpPr>
              <p:cNvPr id="4" name="Rectangle 3"/>
              <p:cNvSpPr>
                <a:spLocks noRot="1" noChangeAspect="1" noMove="1" noResize="1" noEditPoints="1" noAdjustHandles="1" noChangeArrowheads="1" noChangeShapeType="1" noTextEdit="1"/>
              </p:cNvSpPr>
              <p:nvPr/>
            </p:nvSpPr>
            <p:spPr>
              <a:xfrm>
                <a:off x="2286000" y="5257800"/>
                <a:ext cx="5196807" cy="1088888"/>
              </a:xfrm>
              <a:prstGeom prst="rect">
                <a:avLst/>
              </a:prstGeom>
              <a:blipFill rotWithShape="0">
                <a:blip r:embed="rId3"/>
                <a:stretch>
                  <a:fillRect/>
                </a:stretch>
              </a:blipFill>
            </p:spPr>
            <p:txBody>
              <a:bodyPr/>
              <a:lstStyle/>
              <a:p>
                <a:r>
                  <a:rPr lang="en-US">
                    <a:noFill/>
                  </a:rPr>
                  <a:t> </a:t>
                </a:r>
              </a:p>
            </p:txBody>
          </p:sp>
        </mc:Fallback>
      </mc:AlternateContent>
      <p:grpSp>
        <p:nvGrpSpPr>
          <p:cNvPr id="10" name="Group 9"/>
          <p:cNvGrpSpPr/>
          <p:nvPr/>
        </p:nvGrpSpPr>
        <p:grpSpPr>
          <a:xfrm>
            <a:off x="685800" y="1219200"/>
            <a:ext cx="7936353" cy="3247422"/>
            <a:chOff x="979047" y="2353451"/>
            <a:chExt cx="7936353" cy="3247422"/>
          </a:xfrm>
        </p:grpSpPr>
        <p:sp>
          <p:nvSpPr>
            <p:cNvPr id="2" name="Rectangle 1"/>
            <p:cNvSpPr/>
            <p:nvPr/>
          </p:nvSpPr>
          <p:spPr>
            <a:xfrm>
              <a:off x="3493647" y="3575984"/>
              <a:ext cx="10668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p:cNvSpPr/>
            <p:nvPr/>
          </p:nvSpPr>
          <p:spPr>
            <a:xfrm>
              <a:off x="1969647" y="3728384"/>
              <a:ext cx="5334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Arrow Connector 4"/>
            <p:cNvCxnSpPr>
              <a:stCxn id="3" idx="6"/>
              <a:endCxn id="2" idx="1"/>
            </p:cNvCxnSpPr>
            <p:nvPr/>
          </p:nvCxnSpPr>
          <p:spPr>
            <a:xfrm>
              <a:off x="2503047" y="3995084"/>
              <a:ext cx="990600" cy="0"/>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cxnSp>
          <p:nvCxnSpPr>
            <p:cNvPr id="11" name="Straight Arrow Connector 10"/>
            <p:cNvCxnSpPr/>
            <p:nvPr/>
          </p:nvCxnSpPr>
          <p:spPr>
            <a:xfrm>
              <a:off x="979047" y="3992843"/>
              <a:ext cx="990600" cy="0"/>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cxnSp>
          <p:nvCxnSpPr>
            <p:cNvPr id="12" name="Straight Arrow Connector 11"/>
            <p:cNvCxnSpPr/>
            <p:nvPr/>
          </p:nvCxnSpPr>
          <p:spPr>
            <a:xfrm rot="16200000">
              <a:off x="1752252" y="4757084"/>
              <a:ext cx="990600" cy="0"/>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cxnSp>
          <p:nvCxnSpPr>
            <p:cNvPr id="13" name="Straight Arrow Connector 12"/>
            <p:cNvCxnSpPr/>
            <p:nvPr/>
          </p:nvCxnSpPr>
          <p:spPr>
            <a:xfrm>
              <a:off x="5992906" y="4006290"/>
              <a:ext cx="1188720" cy="0"/>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sp>
          <p:nvSpPr>
            <p:cNvPr id="6" name="TextBox 5"/>
            <p:cNvSpPr txBox="1"/>
            <p:nvPr/>
          </p:nvSpPr>
          <p:spPr>
            <a:xfrm>
              <a:off x="2362001" y="4121942"/>
              <a:ext cx="279244" cy="461665"/>
            </a:xfrm>
            <a:prstGeom prst="rect">
              <a:avLst/>
            </a:prstGeom>
            <a:noFill/>
          </p:spPr>
          <p:txBody>
            <a:bodyPr wrap="none" rtlCol="0">
              <a:spAutoFit/>
            </a:bodyPr>
            <a:lstStyle/>
            <a:p>
              <a:r>
                <a:rPr lang="en-US" sz="2400" dirty="0"/>
                <a:t>-</a:t>
              </a:r>
            </a:p>
          </p:txBody>
        </p:sp>
        <mc:AlternateContent xmlns:mc="http://schemas.openxmlformats.org/markup-compatibility/2006" xmlns:a14="http://schemas.microsoft.com/office/drawing/2010/main">
          <mc:Choice Requires="a14">
            <p:sp>
              <p:nvSpPr>
                <p:cNvPr id="7" name="TextBox 6"/>
                <p:cNvSpPr txBox="1"/>
                <p:nvPr/>
              </p:nvSpPr>
              <p:spPr>
                <a:xfrm>
                  <a:off x="1005941" y="3655905"/>
                  <a:ext cx="45634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m:oMathPara>
                  </a14:m>
                  <a:endParaRPr lang="en-US" dirty="0"/>
                </a:p>
              </p:txBody>
            </p:sp>
          </mc:Choice>
          <mc:Fallback xmlns="">
            <p:sp>
              <p:nvSpPr>
                <p:cNvPr id="7" name="TextBox 6"/>
                <p:cNvSpPr txBox="1">
                  <a:spLocks noRot="1" noChangeAspect="1" noMove="1" noResize="1" noEditPoints="1" noAdjustHandles="1" noChangeArrowheads="1" noChangeShapeType="1" noTextEdit="1"/>
                </p:cNvSpPr>
                <p:nvPr/>
              </p:nvSpPr>
              <p:spPr>
                <a:xfrm>
                  <a:off x="1005941" y="3655905"/>
                  <a:ext cx="456343" cy="276999"/>
                </a:xfrm>
                <a:prstGeom prst="rect">
                  <a:avLst/>
                </a:prstGeom>
                <a:blipFill rotWithShape="0">
                  <a:blip r:embed="rId4"/>
                  <a:stretch>
                    <a:fillRect l="-6667" t="-4444" r="-18667" b="-3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1701345" y="4352774"/>
                  <a:ext cx="46891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m:oMathPara>
                  </a14:m>
                  <a:endParaRPr lang="en-US" dirty="0"/>
                </a:p>
              </p:txBody>
            </p:sp>
          </mc:Choice>
          <mc:Fallback xmlns="">
            <p:sp>
              <p:nvSpPr>
                <p:cNvPr id="17" name="TextBox 16"/>
                <p:cNvSpPr txBox="1">
                  <a:spLocks noRot="1" noChangeAspect="1" noMove="1" noResize="1" noEditPoints="1" noAdjustHandles="1" noChangeArrowheads="1" noChangeShapeType="1" noTextEdit="1"/>
                </p:cNvSpPr>
                <p:nvPr/>
              </p:nvSpPr>
              <p:spPr>
                <a:xfrm>
                  <a:off x="1701345" y="4352774"/>
                  <a:ext cx="468910" cy="276999"/>
                </a:xfrm>
                <a:prstGeom prst="rect">
                  <a:avLst/>
                </a:prstGeom>
                <a:blipFill rotWithShape="0">
                  <a:blip r:embed="rId5"/>
                  <a:stretch>
                    <a:fillRect l="-12987" t="-2222" r="-18182" b="-3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2522830" y="3569946"/>
                  <a:ext cx="46115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𝑒</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m:oMathPara>
                  </a14:m>
                  <a:endParaRPr lang="en-US" dirty="0"/>
                </a:p>
              </p:txBody>
            </p:sp>
          </mc:Choice>
          <mc:Fallback xmlns="">
            <p:sp>
              <p:nvSpPr>
                <p:cNvPr id="18" name="TextBox 17"/>
                <p:cNvSpPr txBox="1">
                  <a:spLocks noRot="1" noChangeAspect="1" noMove="1" noResize="1" noEditPoints="1" noAdjustHandles="1" noChangeArrowheads="1" noChangeShapeType="1" noTextEdit="1"/>
                </p:cNvSpPr>
                <p:nvPr/>
              </p:nvSpPr>
              <p:spPr>
                <a:xfrm>
                  <a:off x="2522830" y="3569946"/>
                  <a:ext cx="461152" cy="276999"/>
                </a:xfrm>
                <a:prstGeom prst="rect">
                  <a:avLst/>
                </a:prstGeom>
                <a:blipFill rotWithShape="0">
                  <a:blip r:embed="rId6"/>
                  <a:stretch>
                    <a:fillRect l="-6667" t="-4444" r="-18667" b="-3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3784572" y="3728384"/>
                  <a:ext cx="486287" cy="4641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𝐾</m:t>
                            </m:r>
                          </m:e>
                          <m:sub>
                            <m:r>
                              <a:rPr lang="en-US" sz="2800" b="0" i="1" smtClean="0">
                                <a:latin typeface="Cambria Math" panose="02040503050406030204" pitchFamily="18" charset="0"/>
                              </a:rPr>
                              <m:t>𝑝</m:t>
                            </m:r>
                          </m:sub>
                        </m:sSub>
                      </m:oMath>
                    </m:oMathPara>
                  </a14:m>
                  <a:endParaRPr lang="en-US" sz="2800" dirty="0"/>
                </a:p>
              </p:txBody>
            </p:sp>
          </mc:Choice>
          <mc:Fallback xmlns="">
            <p:sp>
              <p:nvSpPr>
                <p:cNvPr id="19" name="TextBox 18"/>
                <p:cNvSpPr txBox="1">
                  <a:spLocks noRot="1" noChangeAspect="1" noMove="1" noResize="1" noEditPoints="1" noAdjustHandles="1" noChangeArrowheads="1" noChangeShapeType="1" noTextEdit="1"/>
                </p:cNvSpPr>
                <p:nvPr/>
              </p:nvSpPr>
              <p:spPr>
                <a:xfrm>
                  <a:off x="3784572" y="3728384"/>
                  <a:ext cx="486287" cy="464101"/>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p:cNvSpPr txBox="1"/>
                <p:nvPr/>
              </p:nvSpPr>
              <p:spPr>
                <a:xfrm>
                  <a:off x="4571042" y="2353451"/>
                  <a:ext cx="898386" cy="5275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𝑑</m:t>
                            </m:r>
                          </m:sub>
                        </m:sSub>
                        <m:f>
                          <m:fPr>
                            <m:ctrlPr>
                              <a:rPr lang="en-US" b="0" i="1" smtClean="0">
                                <a:latin typeface="Cambria Math" panose="02040503050406030204" pitchFamily="18" charset="0"/>
                              </a:rPr>
                            </m:ctrlPr>
                          </m:fPr>
                          <m:num>
                            <m:r>
                              <a:rPr lang="en-US" b="0" i="1" smtClean="0">
                                <a:latin typeface="Cambria Math" panose="02040503050406030204" pitchFamily="18" charset="0"/>
                              </a:rPr>
                              <m:t>𝑑𝑒</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num>
                          <m:den>
                            <m:r>
                              <a:rPr lang="en-US" b="0" i="1" smtClean="0">
                                <a:latin typeface="Cambria Math" panose="02040503050406030204" pitchFamily="18" charset="0"/>
                              </a:rPr>
                              <m:t>𝑑𝑡</m:t>
                            </m:r>
                          </m:den>
                        </m:f>
                      </m:oMath>
                    </m:oMathPara>
                  </a14:m>
                  <a:endParaRPr lang="en-US" dirty="0"/>
                </a:p>
              </p:txBody>
            </p:sp>
          </mc:Choice>
          <mc:Fallback xmlns="">
            <p:sp>
              <p:nvSpPr>
                <p:cNvPr id="20" name="TextBox 19"/>
                <p:cNvSpPr txBox="1">
                  <a:spLocks noRot="1" noChangeAspect="1" noMove="1" noResize="1" noEditPoints="1" noAdjustHandles="1" noChangeArrowheads="1" noChangeShapeType="1" noTextEdit="1"/>
                </p:cNvSpPr>
                <p:nvPr/>
              </p:nvSpPr>
              <p:spPr>
                <a:xfrm>
                  <a:off x="4571042" y="2353451"/>
                  <a:ext cx="898386" cy="527580"/>
                </a:xfrm>
                <a:prstGeom prst="rect">
                  <a:avLst/>
                </a:prstGeom>
                <a:blipFill rotWithShape="0">
                  <a:blip r:embed="rId8"/>
                  <a:stretch>
                    <a:fillRect/>
                  </a:stretch>
                </a:blipFill>
              </p:spPr>
              <p:txBody>
                <a:bodyPr/>
                <a:lstStyle/>
                <a:p>
                  <a:r>
                    <a:rPr lang="en-US">
                      <a:noFill/>
                    </a:rPr>
                    <a:t> </a:t>
                  </a:r>
                </a:p>
              </p:txBody>
            </p:sp>
          </mc:Fallback>
        </mc:AlternateContent>
        <p:sp>
          <p:nvSpPr>
            <p:cNvPr id="22" name="Rectangle 21"/>
            <p:cNvSpPr/>
            <p:nvPr/>
          </p:nvSpPr>
          <p:spPr>
            <a:xfrm>
              <a:off x="7204956" y="3587190"/>
              <a:ext cx="10668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4" name="TextBox 23"/>
                <p:cNvSpPr txBox="1"/>
                <p:nvPr/>
              </p:nvSpPr>
              <p:spPr>
                <a:xfrm>
                  <a:off x="7273306" y="3798434"/>
                  <a:ext cx="975395"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𝑃𝑙𝑎𝑛𝑡</m:t>
                        </m:r>
                      </m:oMath>
                    </m:oMathPara>
                  </a14:m>
                  <a:endParaRPr lang="en-US" sz="2800" dirty="0"/>
                </a:p>
              </p:txBody>
            </p:sp>
          </mc:Choice>
          <mc:Fallback xmlns="">
            <p:sp>
              <p:nvSpPr>
                <p:cNvPr id="24" name="TextBox 23"/>
                <p:cNvSpPr txBox="1">
                  <a:spLocks noRot="1" noChangeAspect="1" noMove="1" noResize="1" noEditPoints="1" noAdjustHandles="1" noChangeArrowheads="1" noChangeShapeType="1" noTextEdit="1"/>
                </p:cNvSpPr>
                <p:nvPr/>
              </p:nvSpPr>
              <p:spPr>
                <a:xfrm>
                  <a:off x="7273306" y="3798434"/>
                  <a:ext cx="975395" cy="430887"/>
                </a:xfrm>
                <a:prstGeom prst="rect">
                  <a:avLst/>
                </a:prstGeom>
                <a:blipFill rotWithShape="0">
                  <a:blip r:embed="rId9"/>
                  <a:stretch>
                    <a:fillRect/>
                  </a:stretch>
                </a:blipFill>
              </p:spPr>
              <p:txBody>
                <a:bodyPr/>
                <a:lstStyle/>
                <a:p>
                  <a:r>
                    <a:rPr lang="en-US">
                      <a:noFill/>
                    </a:rPr>
                    <a:t> </a:t>
                  </a:r>
                </a:p>
              </p:txBody>
            </p:sp>
          </mc:Fallback>
        </mc:AlternateContent>
        <p:cxnSp>
          <p:nvCxnSpPr>
            <p:cNvPr id="25" name="Straight Arrow Connector 24"/>
            <p:cNvCxnSpPr/>
            <p:nvPr/>
          </p:nvCxnSpPr>
          <p:spPr>
            <a:xfrm>
              <a:off x="8263666" y="4009395"/>
              <a:ext cx="548640" cy="0"/>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cxnSp>
          <p:nvCxnSpPr>
            <p:cNvPr id="26" name="Straight Arrow Connector 25"/>
            <p:cNvCxnSpPr/>
            <p:nvPr/>
          </p:nvCxnSpPr>
          <p:spPr>
            <a:xfrm>
              <a:off x="5541981" y="5252384"/>
              <a:ext cx="2926080" cy="0"/>
            </a:xfrm>
            <a:prstGeom prst="straightConnector1">
              <a:avLst/>
            </a:prstGeom>
            <a:ln w="19050">
              <a:headEnd type="arrow"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27" name="Straight Arrow Connector 26"/>
            <p:cNvCxnSpPr/>
            <p:nvPr/>
          </p:nvCxnSpPr>
          <p:spPr>
            <a:xfrm rot="16200000">
              <a:off x="7840018" y="4639378"/>
              <a:ext cx="1261872" cy="0"/>
            </a:xfrm>
            <a:prstGeom prst="straightConnector1">
              <a:avLst/>
            </a:prstGeom>
            <a:ln w="19050">
              <a:headEnd type="none" w="med" len="med"/>
              <a:tailEnd type="none" w="med" len="med"/>
            </a:ln>
          </p:spPr>
          <p:style>
            <a:lnRef idx="1">
              <a:schemeClr val="accent2"/>
            </a:lnRef>
            <a:fillRef idx="0">
              <a:schemeClr val="accent2"/>
            </a:fillRef>
            <a:effectRef idx="0">
              <a:schemeClr val="accent2"/>
            </a:effectRef>
            <a:fontRef idx="minor">
              <a:schemeClr val="tx1"/>
            </a:fontRef>
          </p:style>
        </p:cxnSp>
        <p:sp>
          <p:nvSpPr>
            <p:cNvPr id="28" name="Rectangle 27"/>
            <p:cNvSpPr/>
            <p:nvPr/>
          </p:nvSpPr>
          <p:spPr>
            <a:xfrm>
              <a:off x="4467127" y="4939755"/>
              <a:ext cx="1066800" cy="66111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9" name="TextBox 28"/>
                <p:cNvSpPr txBox="1"/>
                <p:nvPr/>
              </p:nvSpPr>
              <p:spPr>
                <a:xfrm>
                  <a:off x="4518278" y="5134030"/>
                  <a:ext cx="934165"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𝐹𝑒𝑒𝑑𝑏𝑎𝑐𝑘</m:t>
                        </m:r>
                      </m:oMath>
                    </m:oMathPara>
                  </a14:m>
                  <a:endParaRPr lang="en-US" sz="1600" dirty="0"/>
                </a:p>
              </p:txBody>
            </p:sp>
          </mc:Choice>
          <mc:Fallback xmlns="">
            <p:sp>
              <p:nvSpPr>
                <p:cNvPr id="29" name="TextBox 28"/>
                <p:cNvSpPr txBox="1">
                  <a:spLocks noRot="1" noChangeAspect="1" noMove="1" noResize="1" noEditPoints="1" noAdjustHandles="1" noChangeArrowheads="1" noChangeShapeType="1" noTextEdit="1"/>
                </p:cNvSpPr>
                <p:nvPr/>
              </p:nvSpPr>
              <p:spPr>
                <a:xfrm>
                  <a:off x="4518278" y="5134030"/>
                  <a:ext cx="934165" cy="246221"/>
                </a:xfrm>
                <a:prstGeom prst="rect">
                  <a:avLst/>
                </a:prstGeom>
                <a:blipFill rotWithShape="0">
                  <a:blip r:embed="rId10"/>
                  <a:stretch>
                    <a:fillRect l="-5229" r="-3922" b="-48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p:cNvSpPr txBox="1"/>
                <p:nvPr/>
              </p:nvSpPr>
              <p:spPr>
                <a:xfrm>
                  <a:off x="8454248" y="3697371"/>
                  <a:ext cx="46115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m:oMathPara>
                  </a14:m>
                  <a:endParaRPr lang="en-US" dirty="0"/>
                </a:p>
              </p:txBody>
            </p:sp>
          </mc:Choice>
          <mc:Fallback xmlns="">
            <p:sp>
              <p:nvSpPr>
                <p:cNvPr id="30" name="TextBox 29"/>
                <p:cNvSpPr txBox="1">
                  <a:spLocks noRot="1" noChangeAspect="1" noMove="1" noResize="1" noEditPoints="1" noAdjustHandles="1" noChangeArrowheads="1" noChangeShapeType="1" noTextEdit="1"/>
                </p:cNvSpPr>
                <p:nvPr/>
              </p:nvSpPr>
              <p:spPr>
                <a:xfrm>
                  <a:off x="8454248" y="3697371"/>
                  <a:ext cx="461152" cy="276999"/>
                </a:xfrm>
                <a:prstGeom prst="rect">
                  <a:avLst/>
                </a:prstGeom>
                <a:blipFill rotWithShape="0">
                  <a:blip r:embed="rId11"/>
                  <a:stretch>
                    <a:fillRect l="-6667" t="-2174" r="-18667" b="-32609"/>
                  </a:stretch>
                </a:blipFill>
              </p:spPr>
              <p:txBody>
                <a:bodyPr/>
                <a:lstStyle/>
                <a:p>
                  <a:r>
                    <a:rPr lang="en-US">
                      <a:noFill/>
                    </a:rPr>
                    <a:t> </a:t>
                  </a:r>
                </a:p>
              </p:txBody>
            </p:sp>
          </mc:Fallback>
        </mc:AlternateContent>
        <p:sp>
          <p:nvSpPr>
            <p:cNvPr id="31" name="Rectangle 30"/>
            <p:cNvSpPr/>
            <p:nvPr/>
          </p:nvSpPr>
          <p:spPr>
            <a:xfrm>
              <a:off x="3466753" y="2489677"/>
              <a:ext cx="10668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4" name="TextBox 33"/>
                <p:cNvSpPr txBox="1"/>
                <p:nvPr/>
              </p:nvSpPr>
              <p:spPr>
                <a:xfrm>
                  <a:off x="3527612" y="2460812"/>
                  <a:ext cx="912621" cy="84664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𝐾</m:t>
                            </m:r>
                          </m:e>
                          <m:sub>
                            <m:r>
                              <a:rPr lang="en-US" sz="2800" b="0" i="1" smtClean="0">
                                <a:latin typeface="Cambria Math" panose="02040503050406030204" pitchFamily="18" charset="0"/>
                              </a:rPr>
                              <m:t>𝑑</m:t>
                            </m:r>
                          </m:sub>
                        </m:sSub>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𝑑</m:t>
                            </m:r>
                          </m:num>
                          <m:den>
                            <m:r>
                              <a:rPr lang="en-US" sz="2800" b="0" i="1" smtClean="0">
                                <a:latin typeface="Cambria Math" panose="02040503050406030204" pitchFamily="18" charset="0"/>
                              </a:rPr>
                              <m:t>𝑑𝑡</m:t>
                            </m:r>
                          </m:den>
                        </m:f>
                      </m:oMath>
                    </m:oMathPara>
                  </a14:m>
                  <a:endParaRPr lang="en-US" sz="2800" dirty="0"/>
                </a:p>
              </p:txBody>
            </p:sp>
          </mc:Choice>
          <mc:Fallback xmlns="">
            <p:sp>
              <p:nvSpPr>
                <p:cNvPr id="34" name="TextBox 33"/>
                <p:cNvSpPr txBox="1">
                  <a:spLocks noRot="1" noChangeAspect="1" noMove="1" noResize="1" noEditPoints="1" noAdjustHandles="1" noChangeArrowheads="1" noChangeShapeType="1" noTextEdit="1"/>
                </p:cNvSpPr>
                <p:nvPr/>
              </p:nvSpPr>
              <p:spPr>
                <a:xfrm>
                  <a:off x="3527612" y="2460812"/>
                  <a:ext cx="912621" cy="846642"/>
                </a:xfrm>
                <a:prstGeom prst="rect">
                  <a:avLst/>
                </a:prstGeom>
                <a:blipFill rotWithShape="0">
                  <a:blip r:embed="rId12"/>
                  <a:stretch>
                    <a:fillRect/>
                  </a:stretch>
                </a:blipFill>
              </p:spPr>
              <p:txBody>
                <a:bodyPr/>
                <a:lstStyle/>
                <a:p>
                  <a:r>
                    <a:rPr lang="en-US">
                      <a:noFill/>
                    </a:rPr>
                    <a:t> </a:t>
                  </a:r>
                </a:p>
              </p:txBody>
            </p:sp>
          </mc:Fallback>
        </mc:AlternateContent>
        <p:cxnSp>
          <p:nvCxnSpPr>
            <p:cNvPr id="35" name="Straight Arrow Connector 34"/>
            <p:cNvCxnSpPr/>
            <p:nvPr/>
          </p:nvCxnSpPr>
          <p:spPr>
            <a:xfrm rot="16200000">
              <a:off x="2461766" y="3458584"/>
              <a:ext cx="1097280" cy="0"/>
            </a:xfrm>
            <a:prstGeom prst="straightConnector1">
              <a:avLst/>
            </a:prstGeom>
            <a:ln w="19050">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36" name="Straight Arrow Connector 35"/>
            <p:cNvCxnSpPr/>
            <p:nvPr/>
          </p:nvCxnSpPr>
          <p:spPr>
            <a:xfrm>
              <a:off x="3017519" y="2904565"/>
              <a:ext cx="457200" cy="0"/>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sp>
          <p:nvSpPr>
            <p:cNvPr id="37" name="Oval 36"/>
            <p:cNvSpPr/>
            <p:nvPr/>
          </p:nvSpPr>
          <p:spPr>
            <a:xfrm>
              <a:off x="5472953" y="3733800"/>
              <a:ext cx="5334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8" name="Straight Arrow Connector 37"/>
            <p:cNvCxnSpPr/>
            <p:nvPr/>
          </p:nvCxnSpPr>
          <p:spPr>
            <a:xfrm>
              <a:off x="4563035" y="4025153"/>
              <a:ext cx="914400" cy="0"/>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cxnSp>
          <p:nvCxnSpPr>
            <p:cNvPr id="39" name="Straight Arrow Connector 38"/>
            <p:cNvCxnSpPr/>
            <p:nvPr/>
          </p:nvCxnSpPr>
          <p:spPr>
            <a:xfrm rot="5400000">
              <a:off x="5325932" y="3321834"/>
              <a:ext cx="822960" cy="0"/>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cxnSp>
          <p:nvCxnSpPr>
            <p:cNvPr id="40" name="Straight Arrow Connector 39"/>
            <p:cNvCxnSpPr/>
            <p:nvPr/>
          </p:nvCxnSpPr>
          <p:spPr>
            <a:xfrm>
              <a:off x="4529866" y="2904564"/>
              <a:ext cx="1216152" cy="0"/>
            </a:xfrm>
            <a:prstGeom prst="straightConnector1">
              <a:avLst/>
            </a:prstGeom>
            <a:ln w="19050">
              <a:headEnd type="none" w="med" len="med"/>
              <a:tailEnd type="none" w="med" len="med"/>
            </a:ln>
          </p:spPr>
          <p:style>
            <a:lnRef idx="1">
              <a:schemeClr val="accent2"/>
            </a:lnRef>
            <a:fillRef idx="0">
              <a:schemeClr val="accent2"/>
            </a:fillRef>
            <a:effectRef idx="0">
              <a:schemeClr val="accent2"/>
            </a:effectRef>
            <a:fontRef idx="minor">
              <a:schemeClr val="tx1"/>
            </a:fontRef>
          </p:style>
        </p:cxnSp>
        <p:sp>
          <p:nvSpPr>
            <p:cNvPr id="41" name="TextBox 40"/>
            <p:cNvSpPr txBox="1"/>
            <p:nvPr/>
          </p:nvSpPr>
          <p:spPr>
            <a:xfrm>
              <a:off x="5152328" y="3635188"/>
              <a:ext cx="338554" cy="461665"/>
            </a:xfrm>
            <a:prstGeom prst="rect">
              <a:avLst/>
            </a:prstGeom>
            <a:noFill/>
          </p:spPr>
          <p:txBody>
            <a:bodyPr wrap="none" rtlCol="0">
              <a:spAutoFit/>
            </a:bodyPr>
            <a:lstStyle/>
            <a:p>
              <a:r>
                <a:rPr lang="en-US" sz="2400" dirty="0"/>
                <a:t>+</a:t>
              </a:r>
            </a:p>
          </p:txBody>
        </p:sp>
        <p:sp>
          <p:nvSpPr>
            <p:cNvPr id="42" name="TextBox 41"/>
            <p:cNvSpPr txBox="1"/>
            <p:nvPr/>
          </p:nvSpPr>
          <p:spPr>
            <a:xfrm>
              <a:off x="5415579" y="3413881"/>
              <a:ext cx="338554" cy="461665"/>
            </a:xfrm>
            <a:prstGeom prst="rect">
              <a:avLst/>
            </a:prstGeom>
            <a:noFill/>
          </p:spPr>
          <p:txBody>
            <a:bodyPr wrap="none" rtlCol="0">
              <a:spAutoFit/>
            </a:bodyPr>
            <a:lstStyle/>
            <a:p>
              <a:r>
                <a:rPr lang="en-US" sz="2400" dirty="0"/>
                <a:t>+</a:t>
              </a:r>
            </a:p>
          </p:txBody>
        </p:sp>
        <mc:AlternateContent xmlns:mc="http://schemas.openxmlformats.org/markup-compatibility/2006" xmlns:a14="http://schemas.microsoft.com/office/drawing/2010/main">
          <mc:Choice Requires="a14">
            <p:sp>
              <p:nvSpPr>
                <p:cNvPr id="43" name="TextBox 42"/>
                <p:cNvSpPr txBox="1"/>
                <p:nvPr/>
              </p:nvSpPr>
              <p:spPr>
                <a:xfrm>
                  <a:off x="4567437" y="3679671"/>
                  <a:ext cx="721993" cy="29841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𝑝</m:t>
                            </m:r>
                          </m:sub>
                        </m:sSub>
                        <m:r>
                          <a:rPr lang="en-US" i="1">
                            <a:latin typeface="Cambria Math" panose="02040503050406030204" pitchFamily="18" charset="0"/>
                          </a:rPr>
                          <m:t>𝑒</m:t>
                        </m:r>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oMath>
                    </m:oMathPara>
                  </a14:m>
                  <a:endParaRPr lang="en-US" dirty="0"/>
                </a:p>
              </p:txBody>
            </p:sp>
          </mc:Choice>
          <mc:Fallback xmlns="">
            <p:sp>
              <p:nvSpPr>
                <p:cNvPr id="43" name="TextBox 42"/>
                <p:cNvSpPr txBox="1">
                  <a:spLocks noRot="1" noChangeAspect="1" noMove="1" noResize="1" noEditPoints="1" noAdjustHandles="1" noChangeArrowheads="1" noChangeShapeType="1" noTextEdit="1"/>
                </p:cNvSpPr>
                <p:nvPr/>
              </p:nvSpPr>
              <p:spPr>
                <a:xfrm>
                  <a:off x="4567437" y="3679671"/>
                  <a:ext cx="721993" cy="298415"/>
                </a:xfrm>
                <a:prstGeom prst="rect">
                  <a:avLst/>
                </a:prstGeom>
                <a:blipFill rotWithShape="0">
                  <a:blip r:embed="rId13"/>
                  <a:stretch>
                    <a:fillRect l="-6723" t="-2041" r="-10924" b="-26531"/>
                  </a:stretch>
                </a:blipFill>
              </p:spPr>
              <p:txBody>
                <a:bodyPr/>
                <a:lstStyle/>
                <a:p>
                  <a:r>
                    <a:rPr lang="en-US">
                      <a:noFill/>
                    </a:rPr>
                    <a:t> </a:t>
                  </a:r>
                </a:p>
              </p:txBody>
            </p:sp>
          </mc:Fallback>
        </mc:AlternateContent>
        <p:cxnSp>
          <p:nvCxnSpPr>
            <p:cNvPr id="44" name="Straight Arrow Connector 43"/>
            <p:cNvCxnSpPr/>
            <p:nvPr/>
          </p:nvCxnSpPr>
          <p:spPr>
            <a:xfrm>
              <a:off x="2247551" y="5252384"/>
              <a:ext cx="2194560" cy="0"/>
            </a:xfrm>
            <a:prstGeom prst="straightConnector1">
              <a:avLst/>
            </a:prstGeom>
            <a:ln w="19050">
              <a:headEnd type="none" w="med" len="med"/>
              <a:tailEnd type="none" w="med" len="med"/>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a14="http://schemas.microsoft.com/office/drawing/2010/main">
          <mc:Choice Requires="a14">
            <p:sp>
              <p:nvSpPr>
                <p:cNvPr id="9" name="Rectangle 8"/>
                <p:cNvSpPr/>
                <p:nvPr/>
              </p:nvSpPr>
              <p:spPr>
                <a:xfrm>
                  <a:off x="6193612" y="3552916"/>
                  <a:ext cx="874342"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200" i="1" smtClean="0">
                            <a:latin typeface="Cambria Math" panose="02040503050406030204" pitchFamily="18" charset="0"/>
                          </a:rPr>
                          <m:t>𝑐</m:t>
                        </m:r>
                        <m:r>
                          <a:rPr lang="en-US" sz="2200" i="1" baseline="-25000">
                            <a:latin typeface="Cambria Math" panose="02040503050406030204" pitchFamily="18" charset="0"/>
                          </a:rPr>
                          <m:t>𝑝</m:t>
                        </m:r>
                        <m:r>
                          <a:rPr lang="en-US" sz="2200" b="0" i="1" baseline="-25000" smtClean="0">
                            <a:latin typeface="Cambria Math" panose="02040503050406030204" pitchFamily="18" charset="0"/>
                          </a:rPr>
                          <m:t>𝑑</m:t>
                        </m:r>
                        <m:d>
                          <m:dPr>
                            <m:ctrlPr>
                              <a:rPr lang="en-US" sz="2200" i="1" baseline="-25000">
                                <a:latin typeface="Cambria Math" panose="02040503050406030204" pitchFamily="18" charset="0"/>
                              </a:rPr>
                            </m:ctrlPr>
                          </m:dPr>
                          <m:e>
                            <m:r>
                              <a:rPr lang="en-US" sz="2200" i="1">
                                <a:latin typeface="Cambria Math" panose="02040503050406030204" pitchFamily="18" charset="0"/>
                              </a:rPr>
                              <m:t>𝑡</m:t>
                            </m:r>
                          </m:e>
                        </m:d>
                      </m:oMath>
                    </m:oMathPara>
                  </a14:m>
                  <a:endParaRPr lang="en-US" sz="2200" dirty="0"/>
                </a:p>
              </p:txBody>
            </p:sp>
          </mc:Choice>
          <mc:Fallback xmlns="">
            <p:sp>
              <p:nvSpPr>
                <p:cNvPr id="9" name="Rectangle 8"/>
                <p:cNvSpPr>
                  <a:spLocks noRot="1" noChangeAspect="1" noMove="1" noResize="1" noEditPoints="1" noAdjustHandles="1" noChangeArrowheads="1" noChangeShapeType="1" noTextEdit="1"/>
                </p:cNvSpPr>
                <p:nvPr/>
              </p:nvSpPr>
              <p:spPr>
                <a:xfrm>
                  <a:off x="6193612" y="3552916"/>
                  <a:ext cx="874342" cy="430887"/>
                </a:xfrm>
                <a:prstGeom prst="rect">
                  <a:avLst/>
                </a:prstGeom>
                <a:blipFill rotWithShape="0">
                  <a:blip r:embed="rId14"/>
                  <a:stretch>
                    <a:fillRect b="-12857"/>
                  </a:stretch>
                </a:blipFill>
              </p:spPr>
              <p:txBody>
                <a:bodyPr/>
                <a:lstStyle/>
                <a:p>
                  <a:r>
                    <a:rPr lang="en-US">
                      <a:noFill/>
                    </a:rPr>
                    <a:t> </a:t>
                  </a:r>
                </a:p>
              </p:txBody>
            </p:sp>
          </mc:Fallback>
        </mc:AlternateContent>
      </p:grpSp>
    </p:spTree>
    <p:extLst>
      <p:ext uri="{BB962C8B-B14F-4D97-AF65-F5344CB8AC3E}">
        <p14:creationId xmlns:p14="http://schemas.microsoft.com/office/powerpoint/2010/main" val="1221192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8F5C88F-F18E-43B3-8155-BDCDA06E8F78}" type="slidenum">
              <a:rPr lang="en-US">
                <a:solidFill>
                  <a:schemeClr val="bg1"/>
                </a:solidFill>
              </a:rPr>
              <a:pPr eaLnBrk="1" hangingPunct="1"/>
              <a:t>15</a:t>
            </a:fld>
            <a:endParaRPr lang="en-US">
              <a:solidFill>
                <a:schemeClr val="bg1"/>
              </a:solidFill>
            </a:endParaRPr>
          </a:p>
        </p:txBody>
      </p:sp>
      <p:sp>
        <p:nvSpPr>
          <p:cNvPr id="16389" name="AutoShape 2"/>
          <p:cNvSpPr>
            <a:spLocks noGrp="1" noChangeArrowheads="1"/>
          </p:cNvSpPr>
          <p:nvPr>
            <p:ph type="title"/>
          </p:nvPr>
        </p:nvSpPr>
        <p:spPr>
          <a:xfrm>
            <a:off x="457200" y="33432"/>
            <a:ext cx="8229600" cy="695978"/>
          </a:xfrm>
        </p:spPr>
        <p:txBody>
          <a:bodyPr>
            <a:normAutofit/>
          </a:bodyPr>
          <a:lstStyle/>
          <a:p>
            <a:pPr eaLnBrk="1" hangingPunct="1"/>
            <a:r>
              <a:rPr lang="en-US" sz="3800" dirty="0"/>
              <a:t>Proportional Plus derivative Control (</a:t>
            </a:r>
            <a:r>
              <a:rPr lang="en-US" sz="3800" dirty="0">
                <a:solidFill>
                  <a:srgbClr val="FF0000"/>
                </a:solidFill>
              </a:rPr>
              <a:t>PD</a:t>
            </a:r>
            <a:r>
              <a:rPr lang="en-US" sz="3800" dirty="0"/>
              <a:t>)</a:t>
            </a:r>
          </a:p>
        </p:txBody>
      </p:sp>
      <p:sp>
        <p:nvSpPr>
          <p:cNvPr id="16390" name="Rectangle 3"/>
          <p:cNvSpPr>
            <a:spLocks noGrp="1" noChangeArrowheads="1"/>
          </p:cNvSpPr>
          <p:nvPr>
            <p:ph type="body" idx="1"/>
          </p:nvPr>
        </p:nvSpPr>
        <p:spPr>
          <a:xfrm>
            <a:off x="0" y="1194361"/>
            <a:ext cx="8839200" cy="5739839"/>
          </a:xfrm>
        </p:spPr>
        <p:txBody>
          <a:bodyPr>
            <a:normAutofit/>
          </a:bodyPr>
          <a:lstStyle/>
          <a:p>
            <a:pPr algn="just" eaLnBrk="1" hangingPunct="1">
              <a:lnSpc>
                <a:spcPct val="90000"/>
              </a:lnSpc>
            </a:pPr>
            <a:endParaRPr lang="en-US" sz="2600" dirty="0"/>
          </a:p>
          <a:p>
            <a:pPr algn="just" eaLnBrk="1" hangingPunct="1">
              <a:lnSpc>
                <a:spcPct val="90000"/>
              </a:lnSpc>
            </a:pPr>
            <a:endParaRPr lang="en-US" sz="2600" dirty="0"/>
          </a:p>
          <a:p>
            <a:pPr algn="just" eaLnBrk="1" hangingPunct="1">
              <a:lnSpc>
                <a:spcPct val="90000"/>
              </a:lnSpc>
            </a:pPr>
            <a:endParaRPr lang="en-US" sz="2600" dirty="0"/>
          </a:p>
          <a:p>
            <a:pPr algn="just" eaLnBrk="1" hangingPunct="1">
              <a:lnSpc>
                <a:spcPct val="90000"/>
              </a:lnSpc>
            </a:pPr>
            <a:r>
              <a:rPr lang="en-US" sz="2600" dirty="0"/>
              <a:t>The transfer function can be written as</a:t>
            </a:r>
          </a:p>
        </p:txBody>
      </p:sp>
      <mc:AlternateContent xmlns:mc="http://schemas.openxmlformats.org/markup-compatibility/2006" xmlns:a14="http://schemas.microsoft.com/office/drawing/2010/main">
        <mc:Choice Requires="a14">
          <p:sp>
            <p:nvSpPr>
              <p:cNvPr id="33" name="TextBox 32"/>
              <p:cNvSpPr txBox="1"/>
              <p:nvPr/>
            </p:nvSpPr>
            <p:spPr>
              <a:xfrm>
                <a:off x="2667000" y="3482599"/>
                <a:ext cx="3565784" cy="10894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400" b="0" i="1" smtClean="0">
                              <a:latin typeface="Cambria Math" panose="02040503050406030204" pitchFamily="18" charset="0"/>
                            </a:rPr>
                          </m:ctrlPr>
                        </m:sSubPr>
                        <m:e>
                          <m:f>
                            <m:fPr>
                              <m:ctrlPr>
                                <a:rPr lang="en-US" sz="3400" b="0" i="1" smtClean="0">
                                  <a:latin typeface="Cambria Math" panose="02040503050406030204" pitchFamily="18" charset="0"/>
                                </a:rPr>
                              </m:ctrlPr>
                            </m:fPr>
                            <m:num>
                              <m:r>
                                <a:rPr lang="en-US" sz="3400" b="0" i="1" smtClean="0">
                                  <a:latin typeface="Cambria Math" panose="02040503050406030204" pitchFamily="18" charset="0"/>
                                </a:rPr>
                                <m:t>𝐶</m:t>
                              </m:r>
                              <m:r>
                                <a:rPr lang="en-US" sz="3400" i="1" baseline="-25000">
                                  <a:latin typeface="Cambria Math" panose="02040503050406030204" pitchFamily="18" charset="0"/>
                                </a:rPr>
                                <m:t>𝑝</m:t>
                              </m:r>
                              <m:r>
                                <a:rPr lang="en-US" sz="3400" b="0" i="1" baseline="-25000" smtClean="0">
                                  <a:latin typeface="Cambria Math" panose="02040503050406030204" pitchFamily="18" charset="0"/>
                                </a:rPr>
                                <m:t>𝑑</m:t>
                              </m:r>
                              <m:r>
                                <a:rPr lang="en-US" sz="3400" i="1">
                                  <a:latin typeface="Cambria Math" panose="02040503050406030204" pitchFamily="18" charset="0"/>
                                </a:rPr>
                                <m:t>(</m:t>
                              </m:r>
                              <m:r>
                                <a:rPr lang="en-US" sz="3400" b="0" i="1" smtClean="0">
                                  <a:latin typeface="Cambria Math" panose="02040503050406030204" pitchFamily="18" charset="0"/>
                                </a:rPr>
                                <m:t>𝑠</m:t>
                              </m:r>
                              <m:r>
                                <a:rPr lang="en-US" sz="3400" i="1">
                                  <a:latin typeface="Cambria Math" panose="02040503050406030204" pitchFamily="18" charset="0"/>
                                </a:rPr>
                                <m:t>)</m:t>
                              </m:r>
                            </m:num>
                            <m:den>
                              <m:r>
                                <a:rPr lang="en-US" sz="3400" b="0" i="1" smtClean="0">
                                  <a:latin typeface="Cambria Math" panose="02040503050406030204" pitchFamily="18" charset="0"/>
                                </a:rPr>
                                <m:t>𝐸</m:t>
                              </m:r>
                              <m:r>
                                <a:rPr lang="en-US" sz="3400" b="0" i="1" smtClean="0">
                                  <a:latin typeface="Cambria Math" panose="02040503050406030204" pitchFamily="18" charset="0"/>
                                </a:rPr>
                                <m:t>(</m:t>
                              </m:r>
                              <m:r>
                                <a:rPr lang="en-US" sz="3400" b="0" i="1" smtClean="0">
                                  <a:latin typeface="Cambria Math" panose="02040503050406030204" pitchFamily="18" charset="0"/>
                                </a:rPr>
                                <m:t>𝑠</m:t>
                              </m:r>
                              <m:r>
                                <a:rPr lang="en-US" sz="3400" b="0" i="1" smtClean="0">
                                  <a:latin typeface="Cambria Math" panose="02040503050406030204" pitchFamily="18" charset="0"/>
                                </a:rPr>
                                <m:t>)</m:t>
                              </m:r>
                            </m:den>
                          </m:f>
                          <m:r>
                            <a:rPr lang="en-US" sz="3400" b="0" i="1" smtClean="0">
                              <a:latin typeface="Cambria Math" panose="02040503050406030204" pitchFamily="18" charset="0"/>
                            </a:rPr>
                            <m:t>=</m:t>
                          </m:r>
                          <m:r>
                            <a:rPr lang="en-US" sz="3400" b="0" i="1" smtClean="0">
                              <a:latin typeface="Cambria Math" panose="02040503050406030204" pitchFamily="18" charset="0"/>
                            </a:rPr>
                            <m:t>𝐾</m:t>
                          </m:r>
                        </m:e>
                        <m:sub>
                          <m:r>
                            <a:rPr lang="en-US" sz="3400" b="0" i="1" smtClean="0">
                              <a:latin typeface="Cambria Math" panose="02040503050406030204" pitchFamily="18" charset="0"/>
                            </a:rPr>
                            <m:t>𝑝</m:t>
                          </m:r>
                        </m:sub>
                      </m:sSub>
                      <m:r>
                        <a:rPr lang="en-US" sz="3400" b="0" i="1" smtClean="0">
                          <a:latin typeface="Cambria Math" panose="02040503050406030204" pitchFamily="18" charset="0"/>
                        </a:rPr>
                        <m:t>+</m:t>
                      </m:r>
                      <m:sSub>
                        <m:sSubPr>
                          <m:ctrlPr>
                            <a:rPr lang="en-US" sz="3400" b="0" i="1" smtClean="0">
                              <a:latin typeface="Cambria Math" panose="02040503050406030204" pitchFamily="18" charset="0"/>
                            </a:rPr>
                          </m:ctrlPr>
                        </m:sSubPr>
                        <m:e>
                          <m:r>
                            <a:rPr lang="en-US" sz="3400" b="0" i="1" smtClean="0">
                              <a:latin typeface="Cambria Math" panose="02040503050406030204" pitchFamily="18" charset="0"/>
                            </a:rPr>
                            <m:t>𝐾</m:t>
                          </m:r>
                        </m:e>
                        <m:sub>
                          <m:r>
                            <a:rPr lang="en-US" sz="3400" b="0" i="1" smtClean="0">
                              <a:latin typeface="Cambria Math" panose="02040503050406030204" pitchFamily="18" charset="0"/>
                            </a:rPr>
                            <m:t>𝑑</m:t>
                          </m:r>
                        </m:sub>
                      </m:sSub>
                      <m:r>
                        <a:rPr lang="en-US" sz="3400" b="0" i="1" smtClean="0">
                          <a:latin typeface="Cambria Math" panose="02040503050406030204" pitchFamily="18" charset="0"/>
                        </a:rPr>
                        <m:t>𝑠</m:t>
                      </m:r>
                    </m:oMath>
                  </m:oMathPara>
                </a14:m>
                <a:endParaRPr lang="en-US" sz="3400" dirty="0"/>
              </a:p>
            </p:txBody>
          </p:sp>
        </mc:Choice>
        <mc:Fallback xmlns="">
          <p:sp>
            <p:nvSpPr>
              <p:cNvPr id="33" name="TextBox 32"/>
              <p:cNvSpPr txBox="1">
                <a:spLocks noRot="1" noChangeAspect="1" noMove="1" noResize="1" noEditPoints="1" noAdjustHandles="1" noChangeArrowheads="1" noChangeShapeType="1" noTextEdit="1"/>
              </p:cNvSpPr>
              <p:nvPr/>
            </p:nvSpPr>
            <p:spPr>
              <a:xfrm>
                <a:off x="2667000" y="3482599"/>
                <a:ext cx="3565784" cy="1089401"/>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Rectangle 30"/>
              <p:cNvSpPr/>
              <p:nvPr/>
            </p:nvSpPr>
            <p:spPr>
              <a:xfrm>
                <a:off x="1752600" y="1044712"/>
                <a:ext cx="5196807" cy="108888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400" i="1" smtClean="0">
                          <a:latin typeface="Cambria Math" panose="02040503050406030204" pitchFamily="18" charset="0"/>
                        </a:rPr>
                        <m:t>𝑐</m:t>
                      </m:r>
                      <m:r>
                        <a:rPr lang="en-US" sz="3400" i="1" baseline="-25000">
                          <a:latin typeface="Cambria Math" panose="02040503050406030204" pitchFamily="18" charset="0"/>
                        </a:rPr>
                        <m:t>𝑝</m:t>
                      </m:r>
                      <m:r>
                        <a:rPr lang="en-US" sz="3400" b="0" i="1" baseline="-25000" smtClean="0">
                          <a:latin typeface="Cambria Math" panose="02040503050406030204" pitchFamily="18" charset="0"/>
                        </a:rPr>
                        <m:t>𝑑</m:t>
                      </m:r>
                      <m:d>
                        <m:dPr>
                          <m:ctrlPr>
                            <a:rPr lang="en-US" sz="3400" i="1" baseline="-25000">
                              <a:latin typeface="Cambria Math" panose="02040503050406030204" pitchFamily="18" charset="0"/>
                            </a:rPr>
                          </m:ctrlPr>
                        </m:dPr>
                        <m:e>
                          <m:r>
                            <a:rPr lang="en-US" sz="3400" i="1">
                              <a:latin typeface="Cambria Math" panose="02040503050406030204" pitchFamily="18" charset="0"/>
                            </a:rPr>
                            <m:t>𝑡</m:t>
                          </m:r>
                        </m:e>
                      </m:d>
                      <m:r>
                        <a:rPr lang="en-US" sz="3400" i="1">
                          <a:latin typeface="Cambria Math" panose="02040503050406030204" pitchFamily="18" charset="0"/>
                        </a:rPr>
                        <m:t>=</m:t>
                      </m:r>
                      <m:sSub>
                        <m:sSubPr>
                          <m:ctrlPr>
                            <a:rPr lang="en-US" sz="3400" i="1">
                              <a:latin typeface="Cambria Math" panose="02040503050406030204" pitchFamily="18" charset="0"/>
                            </a:rPr>
                          </m:ctrlPr>
                        </m:sSubPr>
                        <m:e>
                          <m:r>
                            <a:rPr lang="en-US" sz="3400" i="1">
                              <a:latin typeface="Cambria Math" panose="02040503050406030204" pitchFamily="18" charset="0"/>
                            </a:rPr>
                            <m:t>𝐾</m:t>
                          </m:r>
                        </m:e>
                        <m:sub>
                          <m:r>
                            <a:rPr lang="en-US" sz="3400" i="1">
                              <a:latin typeface="Cambria Math" panose="02040503050406030204" pitchFamily="18" charset="0"/>
                            </a:rPr>
                            <m:t>𝑝</m:t>
                          </m:r>
                        </m:sub>
                      </m:sSub>
                      <m:r>
                        <a:rPr lang="en-US" sz="3400" i="1">
                          <a:latin typeface="Cambria Math" panose="02040503050406030204" pitchFamily="18" charset="0"/>
                        </a:rPr>
                        <m:t>𝑒</m:t>
                      </m:r>
                      <m:d>
                        <m:dPr>
                          <m:ctrlPr>
                            <a:rPr lang="en-US" sz="3400" i="1">
                              <a:latin typeface="Cambria Math" panose="02040503050406030204" pitchFamily="18" charset="0"/>
                            </a:rPr>
                          </m:ctrlPr>
                        </m:dPr>
                        <m:e>
                          <m:r>
                            <a:rPr lang="en-US" sz="3400" i="1">
                              <a:latin typeface="Cambria Math" panose="02040503050406030204" pitchFamily="18" charset="0"/>
                            </a:rPr>
                            <m:t>𝑡</m:t>
                          </m:r>
                        </m:e>
                      </m:d>
                      <m:r>
                        <a:rPr lang="en-US" sz="3400" b="0" i="0" smtClean="0">
                          <a:latin typeface="Cambria Math" panose="02040503050406030204" pitchFamily="18" charset="0"/>
                        </a:rPr>
                        <m:t>+</m:t>
                      </m:r>
                      <m:sSub>
                        <m:sSubPr>
                          <m:ctrlPr>
                            <a:rPr lang="en-US" sz="3400" i="1">
                              <a:latin typeface="Cambria Math" panose="02040503050406030204" pitchFamily="18" charset="0"/>
                            </a:rPr>
                          </m:ctrlPr>
                        </m:sSubPr>
                        <m:e>
                          <m:r>
                            <a:rPr lang="en-US" sz="3400" i="1">
                              <a:latin typeface="Cambria Math" panose="02040503050406030204" pitchFamily="18" charset="0"/>
                            </a:rPr>
                            <m:t>𝐾</m:t>
                          </m:r>
                        </m:e>
                        <m:sub>
                          <m:r>
                            <a:rPr lang="en-US" sz="3400" i="1">
                              <a:latin typeface="Cambria Math" panose="02040503050406030204" pitchFamily="18" charset="0"/>
                            </a:rPr>
                            <m:t>𝑑</m:t>
                          </m:r>
                        </m:sub>
                      </m:sSub>
                      <m:f>
                        <m:fPr>
                          <m:ctrlPr>
                            <a:rPr lang="en-US" sz="3400" i="1">
                              <a:latin typeface="Cambria Math" panose="02040503050406030204" pitchFamily="18" charset="0"/>
                            </a:rPr>
                          </m:ctrlPr>
                        </m:fPr>
                        <m:num>
                          <m:r>
                            <a:rPr lang="en-US" sz="3400" i="1">
                              <a:latin typeface="Cambria Math" panose="02040503050406030204" pitchFamily="18" charset="0"/>
                            </a:rPr>
                            <m:t>𝑑𝑒</m:t>
                          </m:r>
                          <m:r>
                            <a:rPr lang="en-US" sz="3400" i="1">
                              <a:latin typeface="Cambria Math" panose="02040503050406030204" pitchFamily="18" charset="0"/>
                            </a:rPr>
                            <m:t>(</m:t>
                          </m:r>
                          <m:r>
                            <a:rPr lang="en-US" sz="3400" i="1">
                              <a:latin typeface="Cambria Math" panose="02040503050406030204" pitchFamily="18" charset="0"/>
                            </a:rPr>
                            <m:t>𝑡</m:t>
                          </m:r>
                          <m:r>
                            <a:rPr lang="en-US" sz="3400" i="1">
                              <a:latin typeface="Cambria Math" panose="02040503050406030204" pitchFamily="18" charset="0"/>
                            </a:rPr>
                            <m:t>)</m:t>
                          </m:r>
                        </m:num>
                        <m:den>
                          <m:r>
                            <a:rPr lang="en-US" sz="3400" i="1">
                              <a:latin typeface="Cambria Math" panose="02040503050406030204" pitchFamily="18" charset="0"/>
                            </a:rPr>
                            <m:t>𝑑𝑡</m:t>
                          </m:r>
                        </m:den>
                      </m:f>
                    </m:oMath>
                  </m:oMathPara>
                </a14:m>
                <a:endParaRPr lang="en-US" sz="3400" dirty="0"/>
              </a:p>
            </p:txBody>
          </p:sp>
        </mc:Choice>
        <mc:Fallback xmlns="">
          <p:sp>
            <p:nvSpPr>
              <p:cNvPr id="31" name="Rectangle 30"/>
              <p:cNvSpPr>
                <a:spLocks noRot="1" noChangeAspect="1" noMove="1" noResize="1" noEditPoints="1" noAdjustHandles="1" noChangeArrowheads="1" noChangeShapeType="1" noTextEdit="1"/>
              </p:cNvSpPr>
              <p:nvPr/>
            </p:nvSpPr>
            <p:spPr>
              <a:xfrm>
                <a:off x="1752600" y="1044712"/>
                <a:ext cx="5196807" cy="1088888"/>
              </a:xfrm>
              <a:prstGeom prst="rect">
                <a:avLst/>
              </a:prstGeom>
              <a:blipFill rotWithShape="0">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502483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90">
                                            <p:txEl>
                                              <p:pRg st="3" end="3"/>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8F5C88F-F18E-43B3-8155-BDCDA06E8F78}" type="slidenum">
              <a:rPr lang="en-US">
                <a:solidFill>
                  <a:schemeClr val="bg1"/>
                </a:solidFill>
              </a:rPr>
              <a:pPr eaLnBrk="1" hangingPunct="1"/>
              <a:t>16</a:t>
            </a:fld>
            <a:endParaRPr lang="en-US">
              <a:solidFill>
                <a:schemeClr val="bg1"/>
              </a:solidFill>
            </a:endParaRPr>
          </a:p>
        </p:txBody>
      </p:sp>
      <p:sp>
        <p:nvSpPr>
          <p:cNvPr id="16389" name="AutoShape 2"/>
          <p:cNvSpPr>
            <a:spLocks noGrp="1" noChangeArrowheads="1"/>
          </p:cNvSpPr>
          <p:nvPr>
            <p:ph type="title"/>
          </p:nvPr>
        </p:nvSpPr>
        <p:spPr>
          <a:xfrm>
            <a:off x="457200" y="33432"/>
            <a:ext cx="8229600" cy="695978"/>
          </a:xfrm>
        </p:spPr>
        <p:txBody>
          <a:bodyPr>
            <a:normAutofit/>
          </a:bodyPr>
          <a:lstStyle/>
          <a:p>
            <a:pPr eaLnBrk="1" hangingPunct="1"/>
            <a:r>
              <a:rPr lang="en-US" sz="3800" dirty="0"/>
              <a:t>Proportional Plus derivative Control (</a:t>
            </a:r>
            <a:r>
              <a:rPr lang="en-US" sz="3800" dirty="0">
                <a:solidFill>
                  <a:srgbClr val="FF0000"/>
                </a:solidFill>
              </a:rPr>
              <a:t>PD</a:t>
            </a:r>
            <a:r>
              <a:rPr lang="en-US" sz="3800" dirty="0"/>
              <a:t>)</a:t>
            </a:r>
          </a:p>
        </p:txBody>
      </p:sp>
      <p:sp>
        <p:nvSpPr>
          <p:cNvPr id="16390" name="Rectangle 3"/>
          <p:cNvSpPr>
            <a:spLocks noGrp="1" noChangeArrowheads="1"/>
          </p:cNvSpPr>
          <p:nvPr>
            <p:ph type="body" idx="1"/>
          </p:nvPr>
        </p:nvSpPr>
        <p:spPr>
          <a:xfrm>
            <a:off x="0" y="762000"/>
            <a:ext cx="8991600" cy="5739839"/>
          </a:xfrm>
        </p:spPr>
        <p:txBody>
          <a:bodyPr>
            <a:normAutofit/>
          </a:bodyPr>
          <a:lstStyle/>
          <a:p>
            <a:pPr algn="just">
              <a:spcBef>
                <a:spcPct val="50000"/>
              </a:spcBef>
            </a:pPr>
            <a:r>
              <a:rPr lang="en-US" sz="2400" dirty="0"/>
              <a:t>The stability and overshoot problems that arise when a  proportional controller is used at high gain can be mitigated by adding a term proportional to the time-derivative of the error signal. The value of the damping can be adjusted to achieve a critically damped response.</a:t>
            </a:r>
          </a:p>
        </p:txBody>
      </p:sp>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2803525"/>
            <a:ext cx="6316417" cy="3978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6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8F5C88F-F18E-43B3-8155-BDCDA06E8F78}" type="slidenum">
              <a:rPr lang="en-US">
                <a:solidFill>
                  <a:schemeClr val="bg1"/>
                </a:solidFill>
              </a:rPr>
              <a:pPr eaLnBrk="1" hangingPunct="1"/>
              <a:t>17</a:t>
            </a:fld>
            <a:endParaRPr lang="en-US">
              <a:solidFill>
                <a:schemeClr val="bg1"/>
              </a:solidFill>
            </a:endParaRPr>
          </a:p>
        </p:txBody>
      </p:sp>
      <p:sp>
        <p:nvSpPr>
          <p:cNvPr id="16389" name="AutoShape 2"/>
          <p:cNvSpPr>
            <a:spLocks noGrp="1" noChangeArrowheads="1"/>
          </p:cNvSpPr>
          <p:nvPr>
            <p:ph type="title"/>
          </p:nvPr>
        </p:nvSpPr>
        <p:spPr>
          <a:xfrm>
            <a:off x="457200" y="33432"/>
            <a:ext cx="8229600" cy="695978"/>
          </a:xfrm>
        </p:spPr>
        <p:txBody>
          <a:bodyPr>
            <a:normAutofit/>
          </a:bodyPr>
          <a:lstStyle/>
          <a:p>
            <a:pPr eaLnBrk="1" hangingPunct="1"/>
            <a:r>
              <a:rPr lang="en-US" sz="3800" dirty="0"/>
              <a:t>Proportional Plus derivative Control (</a:t>
            </a:r>
            <a:r>
              <a:rPr lang="en-US" sz="3800" dirty="0">
                <a:solidFill>
                  <a:srgbClr val="FF0000"/>
                </a:solidFill>
              </a:rPr>
              <a:t>PD</a:t>
            </a:r>
            <a:r>
              <a:rPr lang="en-US" sz="3800" dirty="0"/>
              <a:t>)</a:t>
            </a:r>
          </a:p>
        </p:txBody>
      </p:sp>
      <p:sp>
        <p:nvSpPr>
          <p:cNvPr id="16390" name="Rectangle 3"/>
          <p:cNvSpPr>
            <a:spLocks noGrp="1" noChangeArrowheads="1"/>
          </p:cNvSpPr>
          <p:nvPr>
            <p:ph type="body" idx="1"/>
          </p:nvPr>
        </p:nvSpPr>
        <p:spPr>
          <a:xfrm>
            <a:off x="0" y="1041961"/>
            <a:ext cx="8991600" cy="5739839"/>
          </a:xfrm>
        </p:spPr>
        <p:txBody>
          <a:bodyPr>
            <a:normAutofit/>
          </a:bodyPr>
          <a:lstStyle/>
          <a:p>
            <a:pPr algn="just">
              <a:lnSpc>
                <a:spcPct val="90000"/>
              </a:lnSpc>
            </a:pPr>
            <a:r>
              <a:rPr lang="en-US" sz="2400" dirty="0"/>
              <a:t>The higher the error signal rate of change, the sooner the final control element is positioned to the desired value. </a:t>
            </a:r>
          </a:p>
          <a:p>
            <a:pPr algn="just">
              <a:lnSpc>
                <a:spcPct val="90000"/>
              </a:lnSpc>
            </a:pPr>
            <a:endParaRPr lang="en-US" sz="2400" dirty="0"/>
          </a:p>
          <a:p>
            <a:pPr algn="just">
              <a:lnSpc>
                <a:spcPct val="90000"/>
              </a:lnSpc>
            </a:pPr>
            <a:r>
              <a:rPr lang="en-US" sz="2400" dirty="0"/>
              <a:t>The added derivative action reduces initial overshoot of the measured variable, and therefore aids in stabilizing the process sooner.</a:t>
            </a:r>
          </a:p>
          <a:p>
            <a:pPr algn="just">
              <a:lnSpc>
                <a:spcPct val="90000"/>
              </a:lnSpc>
            </a:pPr>
            <a:endParaRPr lang="en-US" sz="2400" dirty="0"/>
          </a:p>
          <a:p>
            <a:pPr algn="just">
              <a:lnSpc>
                <a:spcPct val="90000"/>
              </a:lnSpc>
            </a:pPr>
            <a:r>
              <a:rPr lang="en-US" sz="2400" dirty="0"/>
              <a:t>This control mode is called proportional plus derivative (PD) control because the derivative section responds to the rate of change of the error signal</a:t>
            </a:r>
          </a:p>
        </p:txBody>
      </p:sp>
      <p:pic>
        <p:nvPicPr>
          <p:cNvPr id="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2895600" y="5238750"/>
            <a:ext cx="3541713" cy="1193800"/>
          </a:xfrm>
          <a:prstGeom prst="rect">
            <a:avLst/>
          </a:prstGeom>
          <a:noFill/>
        </p:spPr>
      </p:pic>
      <p:pic>
        <p:nvPicPr>
          <p:cNvPr id="8"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4933950"/>
            <a:ext cx="2362200" cy="182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29400" y="5162550"/>
            <a:ext cx="2438400" cy="169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56891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90">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390">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8F5C88F-F18E-43B3-8155-BDCDA06E8F78}" type="slidenum">
              <a:rPr lang="en-US">
                <a:solidFill>
                  <a:schemeClr val="bg1"/>
                </a:solidFill>
              </a:rPr>
              <a:pPr eaLnBrk="1" hangingPunct="1"/>
              <a:t>18</a:t>
            </a:fld>
            <a:endParaRPr lang="en-US">
              <a:solidFill>
                <a:schemeClr val="bg1"/>
              </a:solidFill>
            </a:endParaRPr>
          </a:p>
        </p:txBody>
      </p:sp>
      <p:sp>
        <p:nvSpPr>
          <p:cNvPr id="16389" name="AutoShape 2"/>
          <p:cNvSpPr>
            <a:spLocks noGrp="1" noChangeArrowheads="1"/>
          </p:cNvSpPr>
          <p:nvPr>
            <p:ph type="title"/>
          </p:nvPr>
        </p:nvSpPr>
        <p:spPr>
          <a:xfrm>
            <a:off x="0" y="33432"/>
            <a:ext cx="9144000" cy="695978"/>
          </a:xfrm>
        </p:spPr>
        <p:txBody>
          <a:bodyPr>
            <a:normAutofit/>
          </a:bodyPr>
          <a:lstStyle/>
          <a:p>
            <a:pPr eaLnBrk="1" hangingPunct="1"/>
            <a:r>
              <a:rPr lang="en-US" sz="3200" dirty="0"/>
              <a:t>Proportional Plus Integral Plus Derivative Control (</a:t>
            </a:r>
            <a:r>
              <a:rPr lang="en-US" sz="3200" dirty="0">
                <a:solidFill>
                  <a:srgbClr val="FF0000"/>
                </a:solidFill>
              </a:rPr>
              <a:t>PID</a:t>
            </a:r>
            <a:r>
              <a:rPr lang="en-US" sz="3200" dirty="0"/>
              <a:t>)</a:t>
            </a:r>
          </a:p>
        </p:txBody>
      </p:sp>
      <mc:AlternateContent xmlns:mc="http://schemas.openxmlformats.org/markup-compatibility/2006" xmlns:a14="http://schemas.microsoft.com/office/drawing/2010/main">
        <mc:Choice Requires="a14">
          <p:sp>
            <p:nvSpPr>
              <p:cNvPr id="4" name="Rectangle 3"/>
              <p:cNvSpPr/>
              <p:nvPr/>
            </p:nvSpPr>
            <p:spPr>
              <a:xfrm>
                <a:off x="990600" y="5410200"/>
                <a:ext cx="7552837" cy="138403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200" i="1" smtClean="0">
                          <a:latin typeface="Cambria Math" panose="02040503050406030204" pitchFamily="18" charset="0"/>
                        </a:rPr>
                        <m:t>𝑐</m:t>
                      </m:r>
                      <m:r>
                        <a:rPr lang="en-US" sz="3200" i="1" baseline="-25000">
                          <a:latin typeface="Cambria Math" panose="02040503050406030204" pitchFamily="18" charset="0"/>
                        </a:rPr>
                        <m:t>𝑝</m:t>
                      </m:r>
                      <m:r>
                        <a:rPr lang="en-US" sz="3200" b="0" i="1" baseline="-25000" smtClean="0">
                          <a:latin typeface="Cambria Math" panose="02040503050406030204" pitchFamily="18" charset="0"/>
                        </a:rPr>
                        <m:t>𝑖𝑑</m:t>
                      </m:r>
                      <m:d>
                        <m:dPr>
                          <m:ctrlPr>
                            <a:rPr lang="en-US" sz="3200" i="1" baseline="-25000">
                              <a:latin typeface="Cambria Math" panose="02040503050406030204" pitchFamily="18" charset="0"/>
                            </a:rPr>
                          </m:ctrlPr>
                        </m:dPr>
                        <m:e>
                          <m:r>
                            <a:rPr lang="en-US" sz="3200" i="1">
                              <a:latin typeface="Cambria Math" panose="02040503050406030204" pitchFamily="18" charset="0"/>
                            </a:rPr>
                            <m:t>𝑡</m:t>
                          </m:r>
                        </m:e>
                      </m:d>
                      <m:r>
                        <a:rPr lang="en-US" sz="3200" i="1">
                          <a:latin typeface="Cambria Math" panose="02040503050406030204" pitchFamily="18" charset="0"/>
                        </a:rPr>
                        <m:t>=</m:t>
                      </m:r>
                      <m:sSub>
                        <m:sSubPr>
                          <m:ctrlPr>
                            <a:rPr lang="en-US" sz="3200" i="1">
                              <a:latin typeface="Cambria Math" panose="02040503050406030204" pitchFamily="18" charset="0"/>
                            </a:rPr>
                          </m:ctrlPr>
                        </m:sSubPr>
                        <m:e>
                          <m:r>
                            <a:rPr lang="en-US" sz="3200" i="1">
                              <a:latin typeface="Cambria Math" panose="02040503050406030204" pitchFamily="18" charset="0"/>
                            </a:rPr>
                            <m:t>𝐾</m:t>
                          </m:r>
                        </m:e>
                        <m:sub>
                          <m:r>
                            <a:rPr lang="en-US" sz="3200" i="1">
                              <a:latin typeface="Cambria Math" panose="02040503050406030204" pitchFamily="18" charset="0"/>
                            </a:rPr>
                            <m:t>𝑝</m:t>
                          </m:r>
                        </m:sub>
                      </m:sSub>
                      <m:r>
                        <a:rPr lang="en-US" sz="3200" i="1">
                          <a:latin typeface="Cambria Math" panose="02040503050406030204" pitchFamily="18" charset="0"/>
                        </a:rPr>
                        <m:t>𝑒</m:t>
                      </m:r>
                      <m:d>
                        <m:dPr>
                          <m:ctrlPr>
                            <a:rPr lang="en-US" sz="3200" i="1">
                              <a:latin typeface="Cambria Math" panose="02040503050406030204" pitchFamily="18" charset="0"/>
                            </a:rPr>
                          </m:ctrlPr>
                        </m:dPr>
                        <m:e>
                          <m:r>
                            <a:rPr lang="en-US" sz="3200" i="1">
                              <a:latin typeface="Cambria Math" panose="02040503050406030204" pitchFamily="18" charset="0"/>
                            </a:rPr>
                            <m:t>𝑡</m:t>
                          </m:r>
                        </m:e>
                      </m:d>
                      <m:r>
                        <a:rPr lang="en-US" sz="3200" b="0" i="0" smtClean="0">
                          <a:latin typeface="Cambria Math" panose="02040503050406030204" pitchFamily="18" charset="0"/>
                        </a:rPr>
                        <m:t>+</m:t>
                      </m:r>
                      <m:sSub>
                        <m:sSubPr>
                          <m:ctrlPr>
                            <a:rPr lang="en-US" sz="3200" i="1">
                              <a:latin typeface="Cambria Math" panose="02040503050406030204" pitchFamily="18" charset="0"/>
                            </a:rPr>
                          </m:ctrlPr>
                        </m:sSubPr>
                        <m:e>
                          <m:r>
                            <a:rPr lang="en-US" sz="3200" i="1">
                              <a:latin typeface="Cambria Math" panose="02040503050406030204" pitchFamily="18" charset="0"/>
                            </a:rPr>
                            <m:t>𝐾</m:t>
                          </m:r>
                        </m:e>
                        <m:sub>
                          <m:r>
                            <a:rPr lang="en-US" sz="3200" i="1">
                              <a:latin typeface="Cambria Math" panose="02040503050406030204" pitchFamily="18" charset="0"/>
                            </a:rPr>
                            <m:t>𝑖</m:t>
                          </m:r>
                        </m:sub>
                      </m:sSub>
                      <m:nary>
                        <m:naryPr>
                          <m:limLoc m:val="undOvr"/>
                          <m:subHide m:val="on"/>
                          <m:supHide m:val="on"/>
                          <m:ctrlPr>
                            <a:rPr lang="en-US" sz="3200" i="1">
                              <a:latin typeface="Cambria Math" panose="02040503050406030204" pitchFamily="18" charset="0"/>
                            </a:rPr>
                          </m:ctrlPr>
                        </m:naryPr>
                        <m:sub/>
                        <m:sup/>
                        <m:e>
                          <m:r>
                            <a:rPr lang="en-US" sz="3200" i="1">
                              <a:latin typeface="Cambria Math" panose="02040503050406030204" pitchFamily="18" charset="0"/>
                            </a:rPr>
                            <m:t>𝑒</m:t>
                          </m:r>
                          <m:r>
                            <a:rPr lang="en-US" sz="3200" i="1">
                              <a:latin typeface="Cambria Math" panose="02040503050406030204" pitchFamily="18" charset="0"/>
                            </a:rPr>
                            <m:t>(</m:t>
                          </m:r>
                          <m:r>
                            <a:rPr lang="en-US" sz="3200" i="1">
                              <a:latin typeface="Cambria Math" panose="02040503050406030204" pitchFamily="18" charset="0"/>
                            </a:rPr>
                            <m:t>𝑡</m:t>
                          </m:r>
                          <m:r>
                            <a:rPr lang="en-US" sz="3200" i="1">
                              <a:latin typeface="Cambria Math" panose="02040503050406030204" pitchFamily="18" charset="0"/>
                            </a:rPr>
                            <m:t>)</m:t>
                          </m:r>
                        </m:e>
                      </m:nary>
                      <m:r>
                        <a:rPr lang="en-US" sz="3200" i="1">
                          <a:latin typeface="Cambria Math" panose="02040503050406030204" pitchFamily="18" charset="0"/>
                        </a:rPr>
                        <m:t>𝑑𝑡</m:t>
                      </m:r>
                      <m:r>
                        <a:rPr lang="en-US" sz="3200" b="0" i="0" smtClean="0">
                          <a:latin typeface="Cambria Math" panose="02040503050406030204" pitchFamily="18" charset="0"/>
                        </a:rPr>
                        <m:t>+</m:t>
                      </m:r>
                      <m:sSub>
                        <m:sSubPr>
                          <m:ctrlPr>
                            <a:rPr lang="en-US" sz="3200" i="1">
                              <a:latin typeface="Cambria Math" panose="02040503050406030204" pitchFamily="18" charset="0"/>
                            </a:rPr>
                          </m:ctrlPr>
                        </m:sSubPr>
                        <m:e>
                          <m:r>
                            <a:rPr lang="en-US" sz="3200" i="1">
                              <a:latin typeface="Cambria Math" panose="02040503050406030204" pitchFamily="18" charset="0"/>
                            </a:rPr>
                            <m:t>𝐾</m:t>
                          </m:r>
                        </m:e>
                        <m:sub>
                          <m:r>
                            <a:rPr lang="en-US" sz="3200" i="1">
                              <a:latin typeface="Cambria Math" panose="02040503050406030204" pitchFamily="18" charset="0"/>
                            </a:rPr>
                            <m:t>𝑑</m:t>
                          </m:r>
                        </m:sub>
                      </m:sSub>
                      <m:f>
                        <m:fPr>
                          <m:ctrlPr>
                            <a:rPr lang="en-US" sz="3200" i="1">
                              <a:latin typeface="Cambria Math" panose="02040503050406030204" pitchFamily="18" charset="0"/>
                            </a:rPr>
                          </m:ctrlPr>
                        </m:fPr>
                        <m:num>
                          <m:r>
                            <a:rPr lang="en-US" sz="3200" i="1">
                              <a:latin typeface="Cambria Math" panose="02040503050406030204" pitchFamily="18" charset="0"/>
                            </a:rPr>
                            <m:t>𝑑𝑒</m:t>
                          </m:r>
                          <m:r>
                            <a:rPr lang="en-US" sz="3200" i="1">
                              <a:latin typeface="Cambria Math" panose="02040503050406030204" pitchFamily="18" charset="0"/>
                            </a:rPr>
                            <m:t>(</m:t>
                          </m:r>
                          <m:r>
                            <a:rPr lang="en-US" sz="3200" i="1">
                              <a:latin typeface="Cambria Math" panose="02040503050406030204" pitchFamily="18" charset="0"/>
                            </a:rPr>
                            <m:t>𝑡</m:t>
                          </m:r>
                          <m:r>
                            <a:rPr lang="en-US" sz="3200" i="1">
                              <a:latin typeface="Cambria Math" panose="02040503050406030204" pitchFamily="18" charset="0"/>
                            </a:rPr>
                            <m:t>)</m:t>
                          </m:r>
                        </m:num>
                        <m:den>
                          <m:r>
                            <a:rPr lang="en-US" sz="3200" i="1">
                              <a:latin typeface="Cambria Math" panose="02040503050406030204" pitchFamily="18" charset="0"/>
                            </a:rPr>
                            <m:t>𝑑𝑡</m:t>
                          </m:r>
                        </m:den>
                      </m:f>
                    </m:oMath>
                  </m:oMathPara>
                </a14:m>
                <a:endParaRPr lang="en-US" sz="3200" dirty="0"/>
              </a:p>
            </p:txBody>
          </p:sp>
        </mc:Choice>
        <mc:Fallback xmlns="">
          <p:sp>
            <p:nvSpPr>
              <p:cNvPr id="4" name="Rectangle 3"/>
              <p:cNvSpPr>
                <a:spLocks noRot="1" noChangeAspect="1" noMove="1" noResize="1" noEditPoints="1" noAdjustHandles="1" noChangeArrowheads="1" noChangeShapeType="1" noTextEdit="1"/>
              </p:cNvSpPr>
              <p:nvPr/>
            </p:nvSpPr>
            <p:spPr>
              <a:xfrm>
                <a:off x="990600" y="5410200"/>
                <a:ext cx="7552837" cy="1384033"/>
              </a:xfrm>
              <a:prstGeom prst="rect">
                <a:avLst/>
              </a:prstGeom>
              <a:blipFill rotWithShape="0">
                <a:blip r:embed="rId3"/>
                <a:stretch>
                  <a:fillRect/>
                </a:stretch>
              </a:blipFill>
            </p:spPr>
            <p:txBody>
              <a:bodyPr/>
              <a:lstStyle/>
              <a:p>
                <a:r>
                  <a:rPr lang="en-US">
                    <a:noFill/>
                  </a:rPr>
                  <a:t> </a:t>
                </a:r>
              </a:p>
            </p:txBody>
          </p:sp>
        </mc:Fallback>
      </mc:AlternateContent>
      <p:grpSp>
        <p:nvGrpSpPr>
          <p:cNvPr id="8" name="Group 7"/>
          <p:cNvGrpSpPr/>
          <p:nvPr/>
        </p:nvGrpSpPr>
        <p:grpSpPr>
          <a:xfrm>
            <a:off x="609600" y="990600"/>
            <a:ext cx="7936353" cy="4038600"/>
            <a:chOff x="685800" y="1219200"/>
            <a:chExt cx="7936353" cy="4038600"/>
          </a:xfrm>
        </p:grpSpPr>
        <p:sp>
          <p:nvSpPr>
            <p:cNvPr id="2" name="Rectangle 1"/>
            <p:cNvSpPr/>
            <p:nvPr/>
          </p:nvSpPr>
          <p:spPr>
            <a:xfrm>
              <a:off x="3200400" y="2441733"/>
              <a:ext cx="10668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p:cNvSpPr/>
            <p:nvPr/>
          </p:nvSpPr>
          <p:spPr>
            <a:xfrm>
              <a:off x="1676400" y="2594133"/>
              <a:ext cx="5334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Arrow Connector 4"/>
            <p:cNvCxnSpPr>
              <a:stCxn id="3" idx="6"/>
              <a:endCxn id="2" idx="1"/>
            </p:cNvCxnSpPr>
            <p:nvPr/>
          </p:nvCxnSpPr>
          <p:spPr>
            <a:xfrm>
              <a:off x="2209800" y="2860833"/>
              <a:ext cx="990600" cy="0"/>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cxnSp>
          <p:nvCxnSpPr>
            <p:cNvPr id="11" name="Straight Arrow Connector 10"/>
            <p:cNvCxnSpPr/>
            <p:nvPr/>
          </p:nvCxnSpPr>
          <p:spPr>
            <a:xfrm>
              <a:off x="685800" y="2858592"/>
              <a:ext cx="990600" cy="0"/>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cxnSp>
          <p:nvCxnSpPr>
            <p:cNvPr id="12" name="Straight Arrow Connector 11"/>
            <p:cNvCxnSpPr/>
            <p:nvPr/>
          </p:nvCxnSpPr>
          <p:spPr>
            <a:xfrm rot="16200000">
              <a:off x="1026458" y="4038600"/>
              <a:ext cx="1828800" cy="0"/>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cxnSp>
          <p:nvCxnSpPr>
            <p:cNvPr id="13" name="Straight Arrow Connector 12"/>
            <p:cNvCxnSpPr/>
            <p:nvPr/>
          </p:nvCxnSpPr>
          <p:spPr>
            <a:xfrm>
              <a:off x="5699659" y="2872039"/>
              <a:ext cx="1188720" cy="0"/>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sp>
          <p:nvSpPr>
            <p:cNvPr id="6" name="TextBox 5"/>
            <p:cNvSpPr txBox="1"/>
            <p:nvPr/>
          </p:nvSpPr>
          <p:spPr>
            <a:xfrm>
              <a:off x="2068754" y="2987691"/>
              <a:ext cx="279244" cy="461665"/>
            </a:xfrm>
            <a:prstGeom prst="rect">
              <a:avLst/>
            </a:prstGeom>
            <a:noFill/>
          </p:spPr>
          <p:txBody>
            <a:bodyPr wrap="none" rtlCol="0">
              <a:spAutoFit/>
            </a:bodyPr>
            <a:lstStyle/>
            <a:p>
              <a:r>
                <a:rPr lang="en-US" sz="2400" dirty="0"/>
                <a:t>-</a:t>
              </a:r>
            </a:p>
          </p:txBody>
        </p:sp>
        <mc:AlternateContent xmlns:mc="http://schemas.openxmlformats.org/markup-compatibility/2006" xmlns:a14="http://schemas.microsoft.com/office/drawing/2010/main">
          <mc:Choice Requires="a14">
            <p:sp>
              <p:nvSpPr>
                <p:cNvPr id="7" name="TextBox 6"/>
                <p:cNvSpPr txBox="1"/>
                <p:nvPr/>
              </p:nvSpPr>
              <p:spPr>
                <a:xfrm>
                  <a:off x="712694" y="2521654"/>
                  <a:ext cx="45634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m:oMathPara>
                  </a14:m>
                  <a:endParaRPr lang="en-US" dirty="0"/>
                </a:p>
              </p:txBody>
            </p:sp>
          </mc:Choice>
          <mc:Fallback xmlns="">
            <p:sp>
              <p:nvSpPr>
                <p:cNvPr id="7" name="TextBox 6"/>
                <p:cNvSpPr txBox="1">
                  <a:spLocks noRot="1" noChangeAspect="1" noMove="1" noResize="1" noEditPoints="1" noAdjustHandles="1" noChangeArrowheads="1" noChangeShapeType="1" noTextEdit="1"/>
                </p:cNvSpPr>
                <p:nvPr/>
              </p:nvSpPr>
              <p:spPr>
                <a:xfrm>
                  <a:off x="712694" y="2521654"/>
                  <a:ext cx="456343" cy="276999"/>
                </a:xfrm>
                <a:prstGeom prst="rect">
                  <a:avLst/>
                </a:prstGeom>
                <a:blipFill rotWithShape="0">
                  <a:blip r:embed="rId4"/>
                  <a:stretch>
                    <a:fillRect l="-6667" t="-2174" r="-18667" b="-326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1408098" y="3218523"/>
                  <a:ext cx="46891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m:oMathPara>
                  </a14:m>
                  <a:endParaRPr lang="en-US" dirty="0"/>
                </a:p>
              </p:txBody>
            </p:sp>
          </mc:Choice>
          <mc:Fallback xmlns="">
            <p:sp>
              <p:nvSpPr>
                <p:cNvPr id="17" name="TextBox 16"/>
                <p:cNvSpPr txBox="1">
                  <a:spLocks noRot="1" noChangeAspect="1" noMove="1" noResize="1" noEditPoints="1" noAdjustHandles="1" noChangeArrowheads="1" noChangeShapeType="1" noTextEdit="1"/>
                </p:cNvSpPr>
                <p:nvPr/>
              </p:nvSpPr>
              <p:spPr>
                <a:xfrm>
                  <a:off x="1408098" y="3218523"/>
                  <a:ext cx="468910" cy="276999"/>
                </a:xfrm>
                <a:prstGeom prst="rect">
                  <a:avLst/>
                </a:prstGeom>
                <a:blipFill rotWithShape="0">
                  <a:blip r:embed="rId5"/>
                  <a:stretch>
                    <a:fillRect l="-12987" t="-2174" r="-18182" b="-326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2229583" y="2435695"/>
                  <a:ext cx="46115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𝑒</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m:oMathPara>
                  </a14:m>
                  <a:endParaRPr lang="en-US" dirty="0"/>
                </a:p>
              </p:txBody>
            </p:sp>
          </mc:Choice>
          <mc:Fallback xmlns="">
            <p:sp>
              <p:nvSpPr>
                <p:cNvPr id="18" name="TextBox 17"/>
                <p:cNvSpPr txBox="1">
                  <a:spLocks noRot="1" noChangeAspect="1" noMove="1" noResize="1" noEditPoints="1" noAdjustHandles="1" noChangeArrowheads="1" noChangeShapeType="1" noTextEdit="1"/>
                </p:cNvSpPr>
                <p:nvPr/>
              </p:nvSpPr>
              <p:spPr>
                <a:xfrm>
                  <a:off x="2229583" y="2435695"/>
                  <a:ext cx="461152" cy="276999"/>
                </a:xfrm>
                <a:prstGeom prst="rect">
                  <a:avLst/>
                </a:prstGeom>
                <a:blipFill rotWithShape="0">
                  <a:blip r:embed="rId6"/>
                  <a:stretch>
                    <a:fillRect l="-6579" t="-2222" r="-17105" b="-3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3491325" y="2594133"/>
                  <a:ext cx="486287" cy="4641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𝐾</m:t>
                            </m:r>
                          </m:e>
                          <m:sub>
                            <m:r>
                              <a:rPr lang="en-US" sz="2800" b="0" i="1" smtClean="0">
                                <a:latin typeface="Cambria Math" panose="02040503050406030204" pitchFamily="18" charset="0"/>
                              </a:rPr>
                              <m:t>𝑝</m:t>
                            </m:r>
                          </m:sub>
                        </m:sSub>
                      </m:oMath>
                    </m:oMathPara>
                  </a14:m>
                  <a:endParaRPr lang="en-US" sz="2800" dirty="0"/>
                </a:p>
              </p:txBody>
            </p:sp>
          </mc:Choice>
          <mc:Fallback xmlns="">
            <p:sp>
              <p:nvSpPr>
                <p:cNvPr id="19" name="TextBox 18"/>
                <p:cNvSpPr txBox="1">
                  <a:spLocks noRot="1" noChangeAspect="1" noMove="1" noResize="1" noEditPoints="1" noAdjustHandles="1" noChangeArrowheads="1" noChangeShapeType="1" noTextEdit="1"/>
                </p:cNvSpPr>
                <p:nvPr/>
              </p:nvSpPr>
              <p:spPr>
                <a:xfrm>
                  <a:off x="3491325" y="2594133"/>
                  <a:ext cx="486287" cy="464101"/>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p:cNvSpPr txBox="1"/>
                <p:nvPr/>
              </p:nvSpPr>
              <p:spPr>
                <a:xfrm>
                  <a:off x="4277795" y="1219200"/>
                  <a:ext cx="898386" cy="5275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𝑑</m:t>
                            </m:r>
                          </m:sub>
                        </m:sSub>
                        <m:f>
                          <m:fPr>
                            <m:ctrlPr>
                              <a:rPr lang="en-US" b="0" i="1" smtClean="0">
                                <a:latin typeface="Cambria Math" panose="02040503050406030204" pitchFamily="18" charset="0"/>
                              </a:rPr>
                            </m:ctrlPr>
                          </m:fPr>
                          <m:num>
                            <m:r>
                              <a:rPr lang="en-US" b="0" i="1" smtClean="0">
                                <a:latin typeface="Cambria Math" panose="02040503050406030204" pitchFamily="18" charset="0"/>
                              </a:rPr>
                              <m:t>𝑑𝑒</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num>
                          <m:den>
                            <m:r>
                              <a:rPr lang="en-US" b="0" i="1" smtClean="0">
                                <a:latin typeface="Cambria Math" panose="02040503050406030204" pitchFamily="18" charset="0"/>
                              </a:rPr>
                              <m:t>𝑑𝑡</m:t>
                            </m:r>
                          </m:den>
                        </m:f>
                      </m:oMath>
                    </m:oMathPara>
                  </a14:m>
                  <a:endParaRPr lang="en-US" dirty="0"/>
                </a:p>
              </p:txBody>
            </p:sp>
          </mc:Choice>
          <mc:Fallback xmlns="">
            <p:sp>
              <p:nvSpPr>
                <p:cNvPr id="20" name="TextBox 19"/>
                <p:cNvSpPr txBox="1">
                  <a:spLocks noRot="1" noChangeAspect="1" noMove="1" noResize="1" noEditPoints="1" noAdjustHandles="1" noChangeArrowheads="1" noChangeShapeType="1" noTextEdit="1"/>
                </p:cNvSpPr>
                <p:nvPr/>
              </p:nvSpPr>
              <p:spPr>
                <a:xfrm>
                  <a:off x="4277795" y="1219200"/>
                  <a:ext cx="898386" cy="527580"/>
                </a:xfrm>
                <a:prstGeom prst="rect">
                  <a:avLst/>
                </a:prstGeom>
                <a:blipFill rotWithShape="0">
                  <a:blip r:embed="rId8"/>
                  <a:stretch>
                    <a:fillRect/>
                  </a:stretch>
                </a:blipFill>
              </p:spPr>
              <p:txBody>
                <a:bodyPr/>
                <a:lstStyle/>
                <a:p>
                  <a:r>
                    <a:rPr lang="en-US">
                      <a:noFill/>
                    </a:rPr>
                    <a:t> </a:t>
                  </a:r>
                </a:p>
              </p:txBody>
            </p:sp>
          </mc:Fallback>
        </mc:AlternateContent>
        <p:sp>
          <p:nvSpPr>
            <p:cNvPr id="22" name="Rectangle 21"/>
            <p:cNvSpPr/>
            <p:nvPr/>
          </p:nvSpPr>
          <p:spPr>
            <a:xfrm>
              <a:off x="6911709" y="2452939"/>
              <a:ext cx="10668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4" name="TextBox 23"/>
                <p:cNvSpPr txBox="1"/>
                <p:nvPr/>
              </p:nvSpPr>
              <p:spPr>
                <a:xfrm>
                  <a:off x="6980059" y="2664183"/>
                  <a:ext cx="975395"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𝑃𝑙𝑎𝑛𝑡</m:t>
                        </m:r>
                      </m:oMath>
                    </m:oMathPara>
                  </a14:m>
                  <a:endParaRPr lang="en-US" sz="2800" dirty="0"/>
                </a:p>
              </p:txBody>
            </p:sp>
          </mc:Choice>
          <mc:Fallback xmlns="">
            <p:sp>
              <p:nvSpPr>
                <p:cNvPr id="24" name="TextBox 23"/>
                <p:cNvSpPr txBox="1">
                  <a:spLocks noRot="1" noChangeAspect="1" noMove="1" noResize="1" noEditPoints="1" noAdjustHandles="1" noChangeArrowheads="1" noChangeShapeType="1" noTextEdit="1"/>
                </p:cNvSpPr>
                <p:nvPr/>
              </p:nvSpPr>
              <p:spPr>
                <a:xfrm>
                  <a:off x="6980059" y="2664183"/>
                  <a:ext cx="975395" cy="430887"/>
                </a:xfrm>
                <a:prstGeom prst="rect">
                  <a:avLst/>
                </a:prstGeom>
                <a:blipFill rotWithShape="0">
                  <a:blip r:embed="rId9"/>
                  <a:stretch>
                    <a:fillRect/>
                  </a:stretch>
                </a:blipFill>
              </p:spPr>
              <p:txBody>
                <a:bodyPr/>
                <a:lstStyle/>
                <a:p>
                  <a:r>
                    <a:rPr lang="en-US">
                      <a:noFill/>
                    </a:rPr>
                    <a:t> </a:t>
                  </a:r>
                </a:p>
              </p:txBody>
            </p:sp>
          </mc:Fallback>
        </mc:AlternateContent>
        <p:cxnSp>
          <p:nvCxnSpPr>
            <p:cNvPr id="25" name="Straight Arrow Connector 24"/>
            <p:cNvCxnSpPr/>
            <p:nvPr/>
          </p:nvCxnSpPr>
          <p:spPr>
            <a:xfrm>
              <a:off x="7970419" y="2875144"/>
              <a:ext cx="548640" cy="0"/>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cxnSp>
          <p:nvCxnSpPr>
            <p:cNvPr id="26" name="Straight Arrow Connector 25"/>
            <p:cNvCxnSpPr/>
            <p:nvPr/>
          </p:nvCxnSpPr>
          <p:spPr>
            <a:xfrm>
              <a:off x="5251627" y="4953000"/>
              <a:ext cx="2926080" cy="0"/>
            </a:xfrm>
            <a:prstGeom prst="straightConnector1">
              <a:avLst/>
            </a:prstGeom>
            <a:ln w="19050">
              <a:headEnd type="arrow"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27" name="Straight Arrow Connector 26"/>
            <p:cNvCxnSpPr/>
            <p:nvPr/>
          </p:nvCxnSpPr>
          <p:spPr>
            <a:xfrm rot="16200000">
              <a:off x="7126147" y="3914887"/>
              <a:ext cx="2103120" cy="0"/>
            </a:xfrm>
            <a:prstGeom prst="straightConnector1">
              <a:avLst/>
            </a:prstGeom>
            <a:ln w="19050">
              <a:headEnd type="none" w="med" len="med"/>
              <a:tailEnd type="none" w="med" len="med"/>
            </a:ln>
          </p:spPr>
          <p:style>
            <a:lnRef idx="1">
              <a:schemeClr val="accent2"/>
            </a:lnRef>
            <a:fillRef idx="0">
              <a:schemeClr val="accent2"/>
            </a:fillRef>
            <a:effectRef idx="0">
              <a:schemeClr val="accent2"/>
            </a:effectRef>
            <a:fontRef idx="minor">
              <a:schemeClr val="tx1"/>
            </a:fontRef>
          </p:style>
        </p:cxnSp>
        <p:sp>
          <p:nvSpPr>
            <p:cNvPr id="28" name="Rectangle 27"/>
            <p:cNvSpPr/>
            <p:nvPr/>
          </p:nvSpPr>
          <p:spPr>
            <a:xfrm>
              <a:off x="4166694" y="4596682"/>
              <a:ext cx="1066800" cy="66111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9" name="TextBox 28"/>
                <p:cNvSpPr txBox="1"/>
                <p:nvPr/>
              </p:nvSpPr>
              <p:spPr>
                <a:xfrm>
                  <a:off x="4250066" y="4790902"/>
                  <a:ext cx="934165"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𝐹𝑒𝑒𝑑𝑏𝑎𝑐𝑘</m:t>
                        </m:r>
                      </m:oMath>
                    </m:oMathPara>
                  </a14:m>
                  <a:endParaRPr lang="en-US" sz="1600" dirty="0"/>
                </a:p>
              </p:txBody>
            </p:sp>
          </mc:Choice>
          <mc:Fallback xmlns="">
            <p:sp>
              <p:nvSpPr>
                <p:cNvPr id="29" name="TextBox 28"/>
                <p:cNvSpPr txBox="1">
                  <a:spLocks noRot="1" noChangeAspect="1" noMove="1" noResize="1" noEditPoints="1" noAdjustHandles="1" noChangeArrowheads="1" noChangeShapeType="1" noTextEdit="1"/>
                </p:cNvSpPr>
                <p:nvPr/>
              </p:nvSpPr>
              <p:spPr>
                <a:xfrm>
                  <a:off x="4250066" y="4790902"/>
                  <a:ext cx="934165" cy="246221"/>
                </a:xfrm>
                <a:prstGeom prst="rect">
                  <a:avLst/>
                </a:prstGeom>
                <a:blipFill rotWithShape="0">
                  <a:blip r:embed="rId10"/>
                  <a:stretch>
                    <a:fillRect l="-5229" r="-3922" b="-48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p:cNvSpPr txBox="1"/>
                <p:nvPr/>
              </p:nvSpPr>
              <p:spPr>
                <a:xfrm>
                  <a:off x="8161001" y="2563120"/>
                  <a:ext cx="46115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m:oMathPara>
                  </a14:m>
                  <a:endParaRPr lang="en-US" dirty="0"/>
                </a:p>
              </p:txBody>
            </p:sp>
          </mc:Choice>
          <mc:Fallback xmlns="">
            <p:sp>
              <p:nvSpPr>
                <p:cNvPr id="30" name="TextBox 29"/>
                <p:cNvSpPr txBox="1">
                  <a:spLocks noRot="1" noChangeAspect="1" noMove="1" noResize="1" noEditPoints="1" noAdjustHandles="1" noChangeArrowheads="1" noChangeShapeType="1" noTextEdit="1"/>
                </p:cNvSpPr>
                <p:nvPr/>
              </p:nvSpPr>
              <p:spPr>
                <a:xfrm>
                  <a:off x="8161001" y="2563120"/>
                  <a:ext cx="461152" cy="276999"/>
                </a:xfrm>
                <a:prstGeom prst="rect">
                  <a:avLst/>
                </a:prstGeom>
                <a:blipFill rotWithShape="0">
                  <a:blip r:embed="rId11"/>
                  <a:stretch>
                    <a:fillRect l="-6579" t="-2222" r="-17105" b="-35556"/>
                  </a:stretch>
                </a:blipFill>
              </p:spPr>
              <p:txBody>
                <a:bodyPr/>
                <a:lstStyle/>
                <a:p>
                  <a:r>
                    <a:rPr lang="en-US">
                      <a:noFill/>
                    </a:rPr>
                    <a:t> </a:t>
                  </a:r>
                </a:p>
              </p:txBody>
            </p:sp>
          </mc:Fallback>
        </mc:AlternateContent>
        <p:sp>
          <p:nvSpPr>
            <p:cNvPr id="31" name="Rectangle 30"/>
            <p:cNvSpPr/>
            <p:nvPr/>
          </p:nvSpPr>
          <p:spPr>
            <a:xfrm>
              <a:off x="3173506" y="1355426"/>
              <a:ext cx="10668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4" name="TextBox 33"/>
                <p:cNvSpPr txBox="1"/>
                <p:nvPr/>
              </p:nvSpPr>
              <p:spPr>
                <a:xfrm>
                  <a:off x="3234365" y="1326561"/>
                  <a:ext cx="912621" cy="84664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𝐾</m:t>
                            </m:r>
                          </m:e>
                          <m:sub>
                            <m:r>
                              <a:rPr lang="en-US" sz="2800" b="0" i="1" smtClean="0">
                                <a:latin typeface="Cambria Math" panose="02040503050406030204" pitchFamily="18" charset="0"/>
                              </a:rPr>
                              <m:t>𝑑</m:t>
                            </m:r>
                          </m:sub>
                        </m:sSub>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𝑑</m:t>
                            </m:r>
                          </m:num>
                          <m:den>
                            <m:r>
                              <a:rPr lang="en-US" sz="2800" b="0" i="1" smtClean="0">
                                <a:latin typeface="Cambria Math" panose="02040503050406030204" pitchFamily="18" charset="0"/>
                              </a:rPr>
                              <m:t>𝑑𝑡</m:t>
                            </m:r>
                          </m:den>
                        </m:f>
                      </m:oMath>
                    </m:oMathPara>
                  </a14:m>
                  <a:endParaRPr lang="en-US" sz="2800" dirty="0"/>
                </a:p>
              </p:txBody>
            </p:sp>
          </mc:Choice>
          <mc:Fallback xmlns="">
            <p:sp>
              <p:nvSpPr>
                <p:cNvPr id="34" name="TextBox 33"/>
                <p:cNvSpPr txBox="1">
                  <a:spLocks noRot="1" noChangeAspect="1" noMove="1" noResize="1" noEditPoints="1" noAdjustHandles="1" noChangeArrowheads="1" noChangeShapeType="1" noTextEdit="1"/>
                </p:cNvSpPr>
                <p:nvPr/>
              </p:nvSpPr>
              <p:spPr>
                <a:xfrm>
                  <a:off x="3234365" y="1326561"/>
                  <a:ext cx="912621" cy="846642"/>
                </a:xfrm>
                <a:prstGeom prst="rect">
                  <a:avLst/>
                </a:prstGeom>
                <a:blipFill rotWithShape="0">
                  <a:blip r:embed="rId12"/>
                  <a:stretch>
                    <a:fillRect/>
                  </a:stretch>
                </a:blipFill>
              </p:spPr>
              <p:txBody>
                <a:bodyPr/>
                <a:lstStyle/>
                <a:p>
                  <a:r>
                    <a:rPr lang="en-US">
                      <a:noFill/>
                    </a:rPr>
                    <a:t> </a:t>
                  </a:r>
                </a:p>
              </p:txBody>
            </p:sp>
          </mc:Fallback>
        </mc:AlternateContent>
        <p:cxnSp>
          <p:nvCxnSpPr>
            <p:cNvPr id="35" name="Straight Arrow Connector 34"/>
            <p:cNvCxnSpPr/>
            <p:nvPr/>
          </p:nvCxnSpPr>
          <p:spPr>
            <a:xfrm rot="16200000">
              <a:off x="2168519" y="2324333"/>
              <a:ext cx="1097280" cy="0"/>
            </a:xfrm>
            <a:prstGeom prst="straightConnector1">
              <a:avLst/>
            </a:prstGeom>
            <a:ln w="19050">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36" name="Straight Arrow Connector 35"/>
            <p:cNvCxnSpPr/>
            <p:nvPr/>
          </p:nvCxnSpPr>
          <p:spPr>
            <a:xfrm>
              <a:off x="2724272" y="1770314"/>
              <a:ext cx="457200" cy="0"/>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sp>
          <p:nvSpPr>
            <p:cNvPr id="37" name="Oval 36"/>
            <p:cNvSpPr/>
            <p:nvPr/>
          </p:nvSpPr>
          <p:spPr>
            <a:xfrm>
              <a:off x="5179706" y="2599549"/>
              <a:ext cx="5334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8" name="Straight Arrow Connector 37"/>
            <p:cNvCxnSpPr/>
            <p:nvPr/>
          </p:nvCxnSpPr>
          <p:spPr>
            <a:xfrm>
              <a:off x="4269788" y="2890902"/>
              <a:ext cx="914400" cy="0"/>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cxnSp>
          <p:nvCxnSpPr>
            <p:cNvPr id="39" name="Straight Arrow Connector 38"/>
            <p:cNvCxnSpPr/>
            <p:nvPr/>
          </p:nvCxnSpPr>
          <p:spPr>
            <a:xfrm rot="5400000">
              <a:off x="5032685" y="2187583"/>
              <a:ext cx="822960" cy="0"/>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cxnSp>
          <p:nvCxnSpPr>
            <p:cNvPr id="40" name="Straight Arrow Connector 39"/>
            <p:cNvCxnSpPr/>
            <p:nvPr/>
          </p:nvCxnSpPr>
          <p:spPr>
            <a:xfrm>
              <a:off x="4236619" y="1770313"/>
              <a:ext cx="1216152" cy="0"/>
            </a:xfrm>
            <a:prstGeom prst="straightConnector1">
              <a:avLst/>
            </a:prstGeom>
            <a:ln w="19050">
              <a:headEnd type="none" w="med" len="med"/>
              <a:tailEnd type="none" w="med" len="med"/>
            </a:ln>
          </p:spPr>
          <p:style>
            <a:lnRef idx="1">
              <a:schemeClr val="accent2"/>
            </a:lnRef>
            <a:fillRef idx="0">
              <a:schemeClr val="accent2"/>
            </a:fillRef>
            <a:effectRef idx="0">
              <a:schemeClr val="accent2"/>
            </a:effectRef>
            <a:fontRef idx="minor">
              <a:schemeClr val="tx1"/>
            </a:fontRef>
          </p:style>
        </p:cxnSp>
        <p:sp>
          <p:nvSpPr>
            <p:cNvPr id="41" name="TextBox 40"/>
            <p:cNvSpPr txBox="1"/>
            <p:nvPr/>
          </p:nvSpPr>
          <p:spPr>
            <a:xfrm>
              <a:off x="4899422" y="2514384"/>
              <a:ext cx="338554" cy="461665"/>
            </a:xfrm>
            <a:prstGeom prst="rect">
              <a:avLst/>
            </a:prstGeom>
            <a:noFill/>
          </p:spPr>
          <p:txBody>
            <a:bodyPr wrap="none" rtlCol="0">
              <a:spAutoFit/>
            </a:bodyPr>
            <a:lstStyle/>
            <a:p>
              <a:r>
                <a:rPr lang="en-US" sz="2400" dirty="0"/>
                <a:t>+</a:t>
              </a:r>
            </a:p>
          </p:txBody>
        </p:sp>
        <p:sp>
          <p:nvSpPr>
            <p:cNvPr id="42" name="TextBox 41"/>
            <p:cNvSpPr txBox="1"/>
            <p:nvPr/>
          </p:nvSpPr>
          <p:spPr>
            <a:xfrm>
              <a:off x="5122332" y="2279630"/>
              <a:ext cx="338554" cy="461665"/>
            </a:xfrm>
            <a:prstGeom prst="rect">
              <a:avLst/>
            </a:prstGeom>
            <a:noFill/>
          </p:spPr>
          <p:txBody>
            <a:bodyPr wrap="none" rtlCol="0">
              <a:spAutoFit/>
            </a:bodyPr>
            <a:lstStyle/>
            <a:p>
              <a:r>
                <a:rPr lang="en-US" sz="2400" dirty="0"/>
                <a:t>+</a:t>
              </a:r>
            </a:p>
          </p:txBody>
        </p:sp>
        <mc:AlternateContent xmlns:mc="http://schemas.openxmlformats.org/markup-compatibility/2006" xmlns:a14="http://schemas.microsoft.com/office/drawing/2010/main">
          <mc:Choice Requires="a14">
            <p:sp>
              <p:nvSpPr>
                <p:cNvPr id="43" name="TextBox 42"/>
                <p:cNvSpPr txBox="1"/>
                <p:nvPr/>
              </p:nvSpPr>
              <p:spPr>
                <a:xfrm>
                  <a:off x="4260743" y="2545420"/>
                  <a:ext cx="721993" cy="29841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𝑝</m:t>
                            </m:r>
                          </m:sub>
                        </m:sSub>
                        <m:r>
                          <a:rPr lang="en-US" i="1">
                            <a:latin typeface="Cambria Math" panose="02040503050406030204" pitchFamily="18" charset="0"/>
                          </a:rPr>
                          <m:t>𝑒</m:t>
                        </m:r>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oMath>
                    </m:oMathPara>
                  </a14:m>
                  <a:endParaRPr lang="en-US" dirty="0"/>
                </a:p>
              </p:txBody>
            </p:sp>
          </mc:Choice>
          <mc:Fallback xmlns="">
            <p:sp>
              <p:nvSpPr>
                <p:cNvPr id="43" name="TextBox 42"/>
                <p:cNvSpPr txBox="1">
                  <a:spLocks noRot="1" noChangeAspect="1" noMove="1" noResize="1" noEditPoints="1" noAdjustHandles="1" noChangeArrowheads="1" noChangeShapeType="1" noTextEdit="1"/>
                </p:cNvSpPr>
                <p:nvPr/>
              </p:nvSpPr>
              <p:spPr>
                <a:xfrm>
                  <a:off x="4260743" y="2545420"/>
                  <a:ext cx="721993" cy="298415"/>
                </a:xfrm>
                <a:prstGeom prst="rect">
                  <a:avLst/>
                </a:prstGeom>
                <a:blipFill rotWithShape="0">
                  <a:blip r:embed="rId13"/>
                  <a:stretch>
                    <a:fillRect l="-6723" r="-10924" b="-26531"/>
                  </a:stretch>
                </a:blipFill>
              </p:spPr>
              <p:txBody>
                <a:bodyPr/>
                <a:lstStyle/>
                <a:p>
                  <a:r>
                    <a:rPr lang="en-US">
                      <a:noFill/>
                    </a:rPr>
                    <a:t> </a:t>
                  </a:r>
                </a:p>
              </p:txBody>
            </p:sp>
          </mc:Fallback>
        </mc:AlternateContent>
        <p:cxnSp>
          <p:nvCxnSpPr>
            <p:cNvPr id="44" name="Straight Arrow Connector 43"/>
            <p:cNvCxnSpPr/>
            <p:nvPr/>
          </p:nvCxnSpPr>
          <p:spPr>
            <a:xfrm>
              <a:off x="1929205" y="4953000"/>
              <a:ext cx="2194560" cy="0"/>
            </a:xfrm>
            <a:prstGeom prst="straightConnector1">
              <a:avLst/>
            </a:prstGeom>
            <a:ln w="19050">
              <a:headEnd type="none" w="med" len="med"/>
              <a:tailEnd type="none" w="med" len="med"/>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a14="http://schemas.microsoft.com/office/drawing/2010/main">
          <mc:Choice Requires="a14">
            <p:sp>
              <p:nvSpPr>
                <p:cNvPr id="9" name="Rectangle 8"/>
                <p:cNvSpPr/>
                <p:nvPr/>
              </p:nvSpPr>
              <p:spPr>
                <a:xfrm>
                  <a:off x="5900365" y="2418665"/>
                  <a:ext cx="944874"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200" i="1" smtClean="0">
                            <a:latin typeface="Cambria Math" panose="02040503050406030204" pitchFamily="18" charset="0"/>
                          </a:rPr>
                          <m:t>𝑐</m:t>
                        </m:r>
                        <m:r>
                          <a:rPr lang="en-US" sz="2200" i="1" baseline="-25000">
                            <a:latin typeface="Cambria Math" panose="02040503050406030204" pitchFamily="18" charset="0"/>
                          </a:rPr>
                          <m:t>𝑝</m:t>
                        </m:r>
                        <m:r>
                          <a:rPr lang="en-US" sz="2200" b="0" i="1" baseline="-25000" smtClean="0">
                            <a:latin typeface="Cambria Math" panose="02040503050406030204" pitchFamily="18" charset="0"/>
                          </a:rPr>
                          <m:t>𝑖𝑑</m:t>
                        </m:r>
                        <m:d>
                          <m:dPr>
                            <m:ctrlPr>
                              <a:rPr lang="en-US" sz="2200" i="1" baseline="-25000">
                                <a:latin typeface="Cambria Math" panose="02040503050406030204" pitchFamily="18" charset="0"/>
                              </a:rPr>
                            </m:ctrlPr>
                          </m:dPr>
                          <m:e>
                            <m:r>
                              <a:rPr lang="en-US" sz="2200" i="1">
                                <a:latin typeface="Cambria Math" panose="02040503050406030204" pitchFamily="18" charset="0"/>
                              </a:rPr>
                              <m:t>𝑡</m:t>
                            </m:r>
                          </m:e>
                        </m:d>
                      </m:oMath>
                    </m:oMathPara>
                  </a14:m>
                  <a:endParaRPr lang="en-US" sz="2200" dirty="0"/>
                </a:p>
              </p:txBody>
            </p:sp>
          </mc:Choice>
          <mc:Fallback xmlns="">
            <p:sp>
              <p:nvSpPr>
                <p:cNvPr id="9" name="Rectangle 8"/>
                <p:cNvSpPr>
                  <a:spLocks noRot="1" noChangeAspect="1" noMove="1" noResize="1" noEditPoints="1" noAdjustHandles="1" noChangeArrowheads="1" noChangeShapeType="1" noTextEdit="1"/>
                </p:cNvSpPr>
                <p:nvPr/>
              </p:nvSpPr>
              <p:spPr>
                <a:xfrm>
                  <a:off x="5900365" y="2418665"/>
                  <a:ext cx="944874" cy="430887"/>
                </a:xfrm>
                <a:prstGeom prst="rect">
                  <a:avLst/>
                </a:prstGeom>
                <a:blipFill rotWithShape="0">
                  <a:blip r:embed="rId14"/>
                  <a:stretch>
                    <a:fillRect b="-11268"/>
                  </a:stretch>
                </a:blipFill>
              </p:spPr>
              <p:txBody>
                <a:bodyPr/>
                <a:lstStyle/>
                <a:p>
                  <a:r>
                    <a:rPr lang="en-US">
                      <a:noFill/>
                    </a:rPr>
                    <a:t> </a:t>
                  </a:r>
                </a:p>
              </p:txBody>
            </p:sp>
          </mc:Fallback>
        </mc:AlternateContent>
        <p:sp>
          <p:nvSpPr>
            <p:cNvPr id="46" name="Rectangle 45"/>
            <p:cNvSpPr/>
            <p:nvPr/>
          </p:nvSpPr>
          <p:spPr>
            <a:xfrm>
              <a:off x="3192434" y="3505200"/>
              <a:ext cx="10668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8" name="Straight Arrow Connector 47"/>
            <p:cNvCxnSpPr/>
            <p:nvPr/>
          </p:nvCxnSpPr>
          <p:spPr>
            <a:xfrm>
              <a:off x="2716306" y="3906641"/>
              <a:ext cx="457200" cy="0"/>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cxnSp>
          <p:nvCxnSpPr>
            <p:cNvPr id="49" name="Straight Arrow Connector 48"/>
            <p:cNvCxnSpPr/>
            <p:nvPr/>
          </p:nvCxnSpPr>
          <p:spPr>
            <a:xfrm>
              <a:off x="4255547" y="3920087"/>
              <a:ext cx="1216152" cy="0"/>
            </a:xfrm>
            <a:prstGeom prst="straightConnector1">
              <a:avLst/>
            </a:prstGeom>
            <a:ln w="19050">
              <a:headEnd type="none" w="med" len="med"/>
              <a:tailEnd type="none" w="med" len="med"/>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a14="http://schemas.microsoft.com/office/drawing/2010/main">
          <mc:Choice Requires="a14">
            <p:sp>
              <p:nvSpPr>
                <p:cNvPr id="50" name="TextBox 49"/>
                <p:cNvSpPr txBox="1"/>
                <p:nvPr/>
              </p:nvSpPr>
              <p:spPr>
                <a:xfrm>
                  <a:off x="3429000" y="3513892"/>
                  <a:ext cx="543290" cy="677108"/>
                </a:xfrm>
                <a:prstGeom prst="rect">
                  <a:avLst/>
                </a:prstGeom>
                <a:noFill/>
              </p:spPr>
              <p:txBody>
                <a:bodyPr wrap="none" lIns="0" tIns="0" rIns="0" bIns="0" rtlCol="0">
                  <a:spAutoFit/>
                </a:bodyPr>
                <a:lstStyle/>
                <a:p>
                  <a14:m>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𝐾</m:t>
                          </m:r>
                        </m:e>
                        <m:sub>
                          <m:r>
                            <a:rPr lang="en-US" sz="2800" b="0" i="1" smtClean="0">
                              <a:latin typeface="Cambria Math" panose="02040503050406030204" pitchFamily="18" charset="0"/>
                            </a:rPr>
                            <m:t>𝑖</m:t>
                          </m:r>
                        </m:sub>
                      </m:sSub>
                    </m:oMath>
                  </a14:m>
                  <a:r>
                    <a:rPr lang="en-US" sz="4400" dirty="0"/>
                    <a:t>∫</a:t>
                  </a:r>
                </a:p>
              </p:txBody>
            </p:sp>
          </mc:Choice>
          <mc:Fallback xmlns="">
            <p:sp>
              <p:nvSpPr>
                <p:cNvPr id="50" name="TextBox 49"/>
                <p:cNvSpPr txBox="1">
                  <a:spLocks noRot="1" noChangeAspect="1" noMove="1" noResize="1" noEditPoints="1" noAdjustHandles="1" noChangeArrowheads="1" noChangeShapeType="1" noTextEdit="1"/>
                </p:cNvSpPr>
                <p:nvPr/>
              </p:nvSpPr>
              <p:spPr>
                <a:xfrm>
                  <a:off x="3429000" y="3513892"/>
                  <a:ext cx="543290" cy="677108"/>
                </a:xfrm>
                <a:prstGeom prst="rect">
                  <a:avLst/>
                </a:prstGeom>
                <a:blipFill rotWithShape="0">
                  <a:blip r:embed="rId15"/>
                  <a:stretch>
                    <a:fillRect t="-25225" r="-61798" b="-4864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p:cNvSpPr txBox="1"/>
                <p:nvPr/>
              </p:nvSpPr>
              <p:spPr>
                <a:xfrm>
                  <a:off x="4253753" y="3343433"/>
                  <a:ext cx="1210908" cy="72654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𝑖</m:t>
                            </m:r>
                          </m:sub>
                        </m:sSub>
                        <m:nary>
                          <m:naryPr>
                            <m:limLoc m:val="undOvr"/>
                            <m:subHide m:val="on"/>
                            <m:supHide m:val="on"/>
                            <m:ctrlPr>
                              <a:rPr lang="en-US" b="0" i="1" smtClean="0">
                                <a:latin typeface="Cambria Math" panose="02040503050406030204" pitchFamily="18" charset="0"/>
                              </a:rPr>
                            </m:ctrlPr>
                          </m:naryPr>
                          <m:sub/>
                          <m:sup/>
                          <m:e>
                            <m:r>
                              <a:rPr lang="en-US" b="0" i="1" smtClean="0">
                                <a:latin typeface="Cambria Math" panose="02040503050406030204" pitchFamily="18" charset="0"/>
                              </a:rPr>
                              <m:t>𝑒</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e>
                        </m:nary>
                        <m:r>
                          <a:rPr lang="en-US" b="0" i="1" smtClean="0">
                            <a:latin typeface="Cambria Math" panose="02040503050406030204" pitchFamily="18" charset="0"/>
                          </a:rPr>
                          <m:t>𝑑𝑡</m:t>
                        </m:r>
                      </m:oMath>
                    </m:oMathPara>
                  </a14:m>
                  <a:endParaRPr lang="en-US" dirty="0"/>
                </a:p>
              </p:txBody>
            </p:sp>
          </mc:Choice>
          <mc:Fallback xmlns="">
            <p:sp>
              <p:nvSpPr>
                <p:cNvPr id="51" name="TextBox 50"/>
                <p:cNvSpPr txBox="1">
                  <a:spLocks noRot="1" noChangeAspect="1" noMove="1" noResize="1" noEditPoints="1" noAdjustHandles="1" noChangeArrowheads="1" noChangeShapeType="1" noTextEdit="1"/>
                </p:cNvSpPr>
                <p:nvPr/>
              </p:nvSpPr>
              <p:spPr>
                <a:xfrm>
                  <a:off x="4253753" y="3343433"/>
                  <a:ext cx="1210908" cy="726546"/>
                </a:xfrm>
                <a:prstGeom prst="rect">
                  <a:avLst/>
                </a:prstGeom>
                <a:blipFill rotWithShape="0">
                  <a:blip r:embed="rId16"/>
                  <a:stretch>
                    <a:fillRect/>
                  </a:stretch>
                </a:blipFill>
              </p:spPr>
              <p:txBody>
                <a:bodyPr/>
                <a:lstStyle/>
                <a:p>
                  <a:r>
                    <a:rPr lang="en-US">
                      <a:noFill/>
                    </a:rPr>
                    <a:t> </a:t>
                  </a:r>
                </a:p>
              </p:txBody>
            </p:sp>
          </mc:Fallback>
        </mc:AlternateContent>
        <p:cxnSp>
          <p:nvCxnSpPr>
            <p:cNvPr id="52" name="Straight Arrow Connector 51"/>
            <p:cNvCxnSpPr/>
            <p:nvPr/>
          </p:nvCxnSpPr>
          <p:spPr>
            <a:xfrm rot="16200000" flipV="1">
              <a:off x="5039061" y="3528508"/>
              <a:ext cx="822960" cy="0"/>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cxnSp>
          <p:nvCxnSpPr>
            <p:cNvPr id="53" name="Straight Arrow Connector 52"/>
            <p:cNvCxnSpPr/>
            <p:nvPr/>
          </p:nvCxnSpPr>
          <p:spPr>
            <a:xfrm rot="16200000">
              <a:off x="2167666" y="3391348"/>
              <a:ext cx="1097280" cy="0"/>
            </a:xfrm>
            <a:prstGeom prst="straightConnector1">
              <a:avLst/>
            </a:prstGeom>
            <a:ln w="19050">
              <a:headEnd type="none" w="med" len="med"/>
              <a:tailEnd type="none" w="med" len="med"/>
            </a:ln>
          </p:spPr>
          <p:style>
            <a:lnRef idx="1">
              <a:schemeClr val="accent2"/>
            </a:lnRef>
            <a:fillRef idx="0">
              <a:schemeClr val="accent2"/>
            </a:fillRef>
            <a:effectRef idx="0">
              <a:schemeClr val="accent2"/>
            </a:effectRef>
            <a:fontRef idx="minor">
              <a:schemeClr val="tx1"/>
            </a:fontRef>
          </p:style>
        </p:cxnSp>
        <p:sp>
          <p:nvSpPr>
            <p:cNvPr id="54" name="TextBox 53"/>
            <p:cNvSpPr txBox="1"/>
            <p:nvPr/>
          </p:nvSpPr>
          <p:spPr>
            <a:xfrm>
              <a:off x="5049234" y="3012158"/>
              <a:ext cx="338554" cy="461665"/>
            </a:xfrm>
            <a:prstGeom prst="rect">
              <a:avLst/>
            </a:prstGeom>
            <a:noFill/>
          </p:spPr>
          <p:txBody>
            <a:bodyPr wrap="none" rtlCol="0">
              <a:spAutoFit/>
            </a:bodyPr>
            <a:lstStyle/>
            <a:p>
              <a:r>
                <a:rPr lang="en-US" sz="2400" dirty="0"/>
                <a:t>+</a:t>
              </a:r>
            </a:p>
          </p:txBody>
        </p:sp>
      </p:grpSp>
    </p:spTree>
    <p:extLst>
      <p:ext uri="{BB962C8B-B14F-4D97-AF65-F5344CB8AC3E}">
        <p14:creationId xmlns:p14="http://schemas.microsoft.com/office/powerpoint/2010/main" val="3858299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8F5C88F-F18E-43B3-8155-BDCDA06E8F78}" type="slidenum">
              <a:rPr lang="en-US">
                <a:solidFill>
                  <a:schemeClr val="bg1"/>
                </a:solidFill>
              </a:rPr>
              <a:pPr eaLnBrk="1" hangingPunct="1"/>
              <a:t>19</a:t>
            </a:fld>
            <a:endParaRPr lang="en-US">
              <a:solidFill>
                <a:schemeClr val="bg1"/>
              </a:solidFill>
            </a:endParaRPr>
          </a:p>
        </p:txBody>
      </p:sp>
      <p:sp>
        <p:nvSpPr>
          <p:cNvPr id="16389" name="AutoShape 2"/>
          <p:cNvSpPr>
            <a:spLocks noGrp="1" noChangeArrowheads="1"/>
          </p:cNvSpPr>
          <p:nvPr>
            <p:ph type="title"/>
          </p:nvPr>
        </p:nvSpPr>
        <p:spPr>
          <a:xfrm>
            <a:off x="0" y="33432"/>
            <a:ext cx="9144000" cy="695978"/>
          </a:xfrm>
        </p:spPr>
        <p:txBody>
          <a:bodyPr>
            <a:normAutofit/>
          </a:bodyPr>
          <a:lstStyle/>
          <a:p>
            <a:pPr eaLnBrk="1" hangingPunct="1"/>
            <a:r>
              <a:rPr lang="en-US" sz="3200" dirty="0"/>
              <a:t>Proportional Plus Integral Plus Derivative Control (</a:t>
            </a:r>
            <a:r>
              <a:rPr lang="en-US" sz="3200" dirty="0">
                <a:solidFill>
                  <a:srgbClr val="FF0000"/>
                </a:solidFill>
              </a:rPr>
              <a:t>PID</a:t>
            </a:r>
            <a:r>
              <a:rPr lang="en-US" sz="3200" dirty="0"/>
              <a:t>)</a:t>
            </a:r>
          </a:p>
        </p:txBody>
      </p:sp>
      <mc:AlternateContent xmlns:mc="http://schemas.openxmlformats.org/markup-compatibility/2006" xmlns:a14="http://schemas.microsoft.com/office/drawing/2010/main">
        <mc:Choice Requires="a14">
          <p:sp>
            <p:nvSpPr>
              <p:cNvPr id="4" name="Rectangle 3"/>
              <p:cNvSpPr/>
              <p:nvPr/>
            </p:nvSpPr>
            <p:spPr>
              <a:xfrm>
                <a:off x="795581" y="1066800"/>
                <a:ext cx="7552837" cy="138403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200" i="1" smtClean="0">
                          <a:latin typeface="Cambria Math" panose="02040503050406030204" pitchFamily="18" charset="0"/>
                        </a:rPr>
                        <m:t>𝑐</m:t>
                      </m:r>
                      <m:r>
                        <a:rPr lang="en-US" sz="3200" i="1" baseline="-25000">
                          <a:latin typeface="Cambria Math" panose="02040503050406030204" pitchFamily="18" charset="0"/>
                        </a:rPr>
                        <m:t>𝑝</m:t>
                      </m:r>
                      <m:r>
                        <a:rPr lang="en-US" sz="3200" b="0" i="1" baseline="-25000" smtClean="0">
                          <a:latin typeface="Cambria Math" panose="02040503050406030204" pitchFamily="18" charset="0"/>
                        </a:rPr>
                        <m:t>𝑖𝑑</m:t>
                      </m:r>
                      <m:d>
                        <m:dPr>
                          <m:ctrlPr>
                            <a:rPr lang="en-US" sz="3200" i="1" baseline="-25000">
                              <a:latin typeface="Cambria Math" panose="02040503050406030204" pitchFamily="18" charset="0"/>
                            </a:rPr>
                          </m:ctrlPr>
                        </m:dPr>
                        <m:e>
                          <m:r>
                            <a:rPr lang="en-US" sz="3200" i="1">
                              <a:latin typeface="Cambria Math" panose="02040503050406030204" pitchFamily="18" charset="0"/>
                            </a:rPr>
                            <m:t>𝑡</m:t>
                          </m:r>
                        </m:e>
                      </m:d>
                      <m:r>
                        <a:rPr lang="en-US" sz="3200" i="1">
                          <a:latin typeface="Cambria Math" panose="02040503050406030204" pitchFamily="18" charset="0"/>
                        </a:rPr>
                        <m:t>=</m:t>
                      </m:r>
                      <m:sSub>
                        <m:sSubPr>
                          <m:ctrlPr>
                            <a:rPr lang="en-US" sz="3200" i="1">
                              <a:latin typeface="Cambria Math" panose="02040503050406030204" pitchFamily="18" charset="0"/>
                            </a:rPr>
                          </m:ctrlPr>
                        </m:sSubPr>
                        <m:e>
                          <m:r>
                            <a:rPr lang="en-US" sz="3200" i="1">
                              <a:latin typeface="Cambria Math" panose="02040503050406030204" pitchFamily="18" charset="0"/>
                            </a:rPr>
                            <m:t>𝐾</m:t>
                          </m:r>
                        </m:e>
                        <m:sub>
                          <m:r>
                            <a:rPr lang="en-US" sz="3200" i="1">
                              <a:latin typeface="Cambria Math" panose="02040503050406030204" pitchFamily="18" charset="0"/>
                            </a:rPr>
                            <m:t>𝑝</m:t>
                          </m:r>
                        </m:sub>
                      </m:sSub>
                      <m:r>
                        <a:rPr lang="en-US" sz="3200" i="1">
                          <a:latin typeface="Cambria Math" panose="02040503050406030204" pitchFamily="18" charset="0"/>
                        </a:rPr>
                        <m:t>𝑒</m:t>
                      </m:r>
                      <m:d>
                        <m:dPr>
                          <m:ctrlPr>
                            <a:rPr lang="en-US" sz="3200" i="1">
                              <a:latin typeface="Cambria Math" panose="02040503050406030204" pitchFamily="18" charset="0"/>
                            </a:rPr>
                          </m:ctrlPr>
                        </m:dPr>
                        <m:e>
                          <m:r>
                            <a:rPr lang="en-US" sz="3200" i="1">
                              <a:latin typeface="Cambria Math" panose="02040503050406030204" pitchFamily="18" charset="0"/>
                            </a:rPr>
                            <m:t>𝑡</m:t>
                          </m:r>
                        </m:e>
                      </m:d>
                      <m:r>
                        <a:rPr lang="en-US" sz="3200" b="0" i="0" smtClean="0">
                          <a:latin typeface="Cambria Math" panose="02040503050406030204" pitchFamily="18" charset="0"/>
                        </a:rPr>
                        <m:t>+</m:t>
                      </m:r>
                      <m:sSub>
                        <m:sSubPr>
                          <m:ctrlPr>
                            <a:rPr lang="en-US" sz="3200" i="1">
                              <a:latin typeface="Cambria Math" panose="02040503050406030204" pitchFamily="18" charset="0"/>
                            </a:rPr>
                          </m:ctrlPr>
                        </m:sSubPr>
                        <m:e>
                          <m:r>
                            <a:rPr lang="en-US" sz="3200" i="1">
                              <a:latin typeface="Cambria Math" panose="02040503050406030204" pitchFamily="18" charset="0"/>
                            </a:rPr>
                            <m:t>𝐾</m:t>
                          </m:r>
                        </m:e>
                        <m:sub>
                          <m:r>
                            <a:rPr lang="en-US" sz="3200" i="1">
                              <a:latin typeface="Cambria Math" panose="02040503050406030204" pitchFamily="18" charset="0"/>
                            </a:rPr>
                            <m:t>𝑖</m:t>
                          </m:r>
                        </m:sub>
                      </m:sSub>
                      <m:nary>
                        <m:naryPr>
                          <m:limLoc m:val="undOvr"/>
                          <m:subHide m:val="on"/>
                          <m:supHide m:val="on"/>
                          <m:ctrlPr>
                            <a:rPr lang="en-US" sz="3200" i="1">
                              <a:latin typeface="Cambria Math" panose="02040503050406030204" pitchFamily="18" charset="0"/>
                            </a:rPr>
                          </m:ctrlPr>
                        </m:naryPr>
                        <m:sub/>
                        <m:sup/>
                        <m:e>
                          <m:r>
                            <a:rPr lang="en-US" sz="3200" i="1">
                              <a:latin typeface="Cambria Math" panose="02040503050406030204" pitchFamily="18" charset="0"/>
                            </a:rPr>
                            <m:t>𝑒</m:t>
                          </m:r>
                          <m:r>
                            <a:rPr lang="en-US" sz="3200" i="1">
                              <a:latin typeface="Cambria Math" panose="02040503050406030204" pitchFamily="18" charset="0"/>
                            </a:rPr>
                            <m:t>(</m:t>
                          </m:r>
                          <m:r>
                            <a:rPr lang="en-US" sz="3200" i="1">
                              <a:latin typeface="Cambria Math" panose="02040503050406030204" pitchFamily="18" charset="0"/>
                            </a:rPr>
                            <m:t>𝑡</m:t>
                          </m:r>
                          <m:r>
                            <a:rPr lang="en-US" sz="3200" i="1">
                              <a:latin typeface="Cambria Math" panose="02040503050406030204" pitchFamily="18" charset="0"/>
                            </a:rPr>
                            <m:t>)</m:t>
                          </m:r>
                        </m:e>
                      </m:nary>
                      <m:r>
                        <a:rPr lang="en-US" sz="3200" i="1">
                          <a:latin typeface="Cambria Math" panose="02040503050406030204" pitchFamily="18" charset="0"/>
                        </a:rPr>
                        <m:t>𝑑𝑡</m:t>
                      </m:r>
                      <m:r>
                        <a:rPr lang="en-US" sz="3200" b="0" i="0" smtClean="0">
                          <a:latin typeface="Cambria Math" panose="02040503050406030204" pitchFamily="18" charset="0"/>
                        </a:rPr>
                        <m:t>+</m:t>
                      </m:r>
                      <m:sSub>
                        <m:sSubPr>
                          <m:ctrlPr>
                            <a:rPr lang="en-US" sz="3200" i="1">
                              <a:latin typeface="Cambria Math" panose="02040503050406030204" pitchFamily="18" charset="0"/>
                            </a:rPr>
                          </m:ctrlPr>
                        </m:sSubPr>
                        <m:e>
                          <m:r>
                            <a:rPr lang="en-US" sz="3200" i="1">
                              <a:latin typeface="Cambria Math" panose="02040503050406030204" pitchFamily="18" charset="0"/>
                            </a:rPr>
                            <m:t>𝐾</m:t>
                          </m:r>
                        </m:e>
                        <m:sub>
                          <m:r>
                            <a:rPr lang="en-US" sz="3200" i="1">
                              <a:latin typeface="Cambria Math" panose="02040503050406030204" pitchFamily="18" charset="0"/>
                            </a:rPr>
                            <m:t>𝑑</m:t>
                          </m:r>
                        </m:sub>
                      </m:sSub>
                      <m:f>
                        <m:fPr>
                          <m:ctrlPr>
                            <a:rPr lang="en-US" sz="3200" i="1">
                              <a:latin typeface="Cambria Math" panose="02040503050406030204" pitchFamily="18" charset="0"/>
                            </a:rPr>
                          </m:ctrlPr>
                        </m:fPr>
                        <m:num>
                          <m:r>
                            <a:rPr lang="en-US" sz="3200" i="1">
                              <a:latin typeface="Cambria Math" panose="02040503050406030204" pitchFamily="18" charset="0"/>
                            </a:rPr>
                            <m:t>𝑑𝑒</m:t>
                          </m:r>
                          <m:r>
                            <a:rPr lang="en-US" sz="3200" i="1">
                              <a:latin typeface="Cambria Math" panose="02040503050406030204" pitchFamily="18" charset="0"/>
                            </a:rPr>
                            <m:t>(</m:t>
                          </m:r>
                          <m:r>
                            <a:rPr lang="en-US" sz="3200" i="1">
                              <a:latin typeface="Cambria Math" panose="02040503050406030204" pitchFamily="18" charset="0"/>
                            </a:rPr>
                            <m:t>𝑡</m:t>
                          </m:r>
                          <m:r>
                            <a:rPr lang="en-US" sz="3200" i="1">
                              <a:latin typeface="Cambria Math" panose="02040503050406030204" pitchFamily="18" charset="0"/>
                            </a:rPr>
                            <m:t>)</m:t>
                          </m:r>
                        </m:num>
                        <m:den>
                          <m:r>
                            <a:rPr lang="en-US" sz="3200" i="1">
                              <a:latin typeface="Cambria Math" panose="02040503050406030204" pitchFamily="18" charset="0"/>
                            </a:rPr>
                            <m:t>𝑑𝑡</m:t>
                          </m:r>
                        </m:den>
                      </m:f>
                    </m:oMath>
                  </m:oMathPara>
                </a14:m>
                <a:endParaRPr lang="en-US" sz="3200" dirty="0"/>
              </a:p>
            </p:txBody>
          </p:sp>
        </mc:Choice>
        <mc:Fallback xmlns="">
          <p:sp>
            <p:nvSpPr>
              <p:cNvPr id="4" name="Rectangle 3"/>
              <p:cNvSpPr>
                <a:spLocks noRot="1" noChangeAspect="1" noMove="1" noResize="1" noEditPoints="1" noAdjustHandles="1" noChangeArrowheads="1" noChangeShapeType="1" noTextEdit="1"/>
              </p:cNvSpPr>
              <p:nvPr/>
            </p:nvSpPr>
            <p:spPr>
              <a:xfrm>
                <a:off x="795581" y="1066800"/>
                <a:ext cx="7552837" cy="1384033"/>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p:cNvSpPr txBox="1"/>
              <p:nvPr/>
            </p:nvSpPr>
            <p:spPr>
              <a:xfrm>
                <a:off x="2209800" y="2968991"/>
                <a:ext cx="5079789" cy="112088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400" b="0" i="1" smtClean="0">
                              <a:latin typeface="Cambria Math" panose="02040503050406030204" pitchFamily="18" charset="0"/>
                            </a:rPr>
                          </m:ctrlPr>
                        </m:sSubPr>
                        <m:e>
                          <m:f>
                            <m:fPr>
                              <m:ctrlPr>
                                <a:rPr lang="en-US" sz="3400" b="0" i="1" smtClean="0">
                                  <a:latin typeface="Cambria Math" panose="02040503050406030204" pitchFamily="18" charset="0"/>
                                </a:rPr>
                              </m:ctrlPr>
                            </m:fPr>
                            <m:num>
                              <m:r>
                                <a:rPr lang="en-US" sz="3400" b="0" i="1" smtClean="0">
                                  <a:latin typeface="Cambria Math" panose="02040503050406030204" pitchFamily="18" charset="0"/>
                                </a:rPr>
                                <m:t>𝐶</m:t>
                              </m:r>
                              <m:r>
                                <a:rPr lang="en-US" sz="3400" i="1" baseline="-25000">
                                  <a:latin typeface="Cambria Math" panose="02040503050406030204" pitchFamily="18" charset="0"/>
                                </a:rPr>
                                <m:t>𝑝</m:t>
                              </m:r>
                              <m:r>
                                <a:rPr lang="en-US" sz="3400" b="0" i="1" baseline="-25000" smtClean="0">
                                  <a:latin typeface="Cambria Math" panose="02040503050406030204" pitchFamily="18" charset="0"/>
                                </a:rPr>
                                <m:t>𝑖𝑑</m:t>
                              </m:r>
                              <m:r>
                                <a:rPr lang="en-US" sz="3400" i="1">
                                  <a:latin typeface="Cambria Math" panose="02040503050406030204" pitchFamily="18" charset="0"/>
                                </a:rPr>
                                <m:t>(</m:t>
                              </m:r>
                              <m:r>
                                <a:rPr lang="en-US" sz="3400" b="0" i="1" smtClean="0">
                                  <a:latin typeface="Cambria Math" panose="02040503050406030204" pitchFamily="18" charset="0"/>
                                </a:rPr>
                                <m:t>𝑠</m:t>
                              </m:r>
                              <m:r>
                                <a:rPr lang="en-US" sz="3400" i="1">
                                  <a:latin typeface="Cambria Math" panose="02040503050406030204" pitchFamily="18" charset="0"/>
                                </a:rPr>
                                <m:t>)</m:t>
                              </m:r>
                            </m:num>
                            <m:den>
                              <m:r>
                                <a:rPr lang="en-US" sz="3400" b="0" i="1" smtClean="0">
                                  <a:latin typeface="Cambria Math" panose="02040503050406030204" pitchFamily="18" charset="0"/>
                                </a:rPr>
                                <m:t>𝐸</m:t>
                              </m:r>
                              <m:r>
                                <a:rPr lang="en-US" sz="3400" b="0" i="1" smtClean="0">
                                  <a:latin typeface="Cambria Math" panose="02040503050406030204" pitchFamily="18" charset="0"/>
                                </a:rPr>
                                <m:t>(</m:t>
                              </m:r>
                              <m:r>
                                <a:rPr lang="en-US" sz="3400" b="0" i="1" smtClean="0">
                                  <a:latin typeface="Cambria Math" panose="02040503050406030204" pitchFamily="18" charset="0"/>
                                </a:rPr>
                                <m:t>𝑠</m:t>
                              </m:r>
                              <m:r>
                                <a:rPr lang="en-US" sz="3400" b="0" i="1" smtClean="0">
                                  <a:latin typeface="Cambria Math" panose="02040503050406030204" pitchFamily="18" charset="0"/>
                                </a:rPr>
                                <m:t>)</m:t>
                              </m:r>
                            </m:den>
                          </m:f>
                          <m:r>
                            <a:rPr lang="en-US" sz="3400" b="0" i="1" smtClean="0">
                              <a:latin typeface="Cambria Math" panose="02040503050406030204" pitchFamily="18" charset="0"/>
                            </a:rPr>
                            <m:t>=</m:t>
                          </m:r>
                          <m:r>
                            <a:rPr lang="en-US" sz="3400" b="0" i="1" smtClean="0">
                              <a:latin typeface="Cambria Math" panose="02040503050406030204" pitchFamily="18" charset="0"/>
                            </a:rPr>
                            <m:t>𝐾</m:t>
                          </m:r>
                        </m:e>
                        <m:sub>
                          <m:r>
                            <a:rPr lang="en-US" sz="3400" b="0" i="1" smtClean="0">
                              <a:latin typeface="Cambria Math" panose="02040503050406030204" pitchFamily="18" charset="0"/>
                            </a:rPr>
                            <m:t>𝑝</m:t>
                          </m:r>
                        </m:sub>
                      </m:sSub>
                      <m:r>
                        <a:rPr lang="en-US" sz="3400" b="0" i="1" smtClean="0">
                          <a:latin typeface="Cambria Math" panose="02040503050406030204" pitchFamily="18" charset="0"/>
                        </a:rPr>
                        <m:t>+</m:t>
                      </m:r>
                      <m:sSub>
                        <m:sSubPr>
                          <m:ctrlPr>
                            <a:rPr lang="en-US" sz="3400" b="0" i="1" smtClean="0">
                              <a:latin typeface="Cambria Math" panose="02040503050406030204" pitchFamily="18" charset="0"/>
                            </a:rPr>
                          </m:ctrlPr>
                        </m:sSubPr>
                        <m:e>
                          <m:r>
                            <a:rPr lang="en-US" sz="3400" b="0" i="1" smtClean="0">
                              <a:latin typeface="Cambria Math" panose="02040503050406030204" pitchFamily="18" charset="0"/>
                            </a:rPr>
                            <m:t>𝐾</m:t>
                          </m:r>
                        </m:e>
                        <m:sub>
                          <m:r>
                            <a:rPr lang="en-US" sz="3400" b="0" i="1" smtClean="0">
                              <a:latin typeface="Cambria Math" panose="02040503050406030204" pitchFamily="18" charset="0"/>
                            </a:rPr>
                            <m:t>𝑖</m:t>
                          </m:r>
                        </m:sub>
                      </m:sSub>
                      <m:f>
                        <m:fPr>
                          <m:ctrlPr>
                            <a:rPr lang="en-US" sz="3400" b="0" i="1" smtClean="0">
                              <a:latin typeface="Cambria Math" panose="02040503050406030204" pitchFamily="18" charset="0"/>
                            </a:rPr>
                          </m:ctrlPr>
                        </m:fPr>
                        <m:num>
                          <m:r>
                            <a:rPr lang="en-US" sz="3400" b="0" i="1" smtClean="0">
                              <a:latin typeface="Cambria Math" panose="02040503050406030204" pitchFamily="18" charset="0"/>
                            </a:rPr>
                            <m:t>1</m:t>
                          </m:r>
                        </m:num>
                        <m:den>
                          <m:r>
                            <a:rPr lang="en-US" sz="3400" b="0" i="1" smtClean="0">
                              <a:latin typeface="Cambria Math" panose="02040503050406030204" pitchFamily="18" charset="0"/>
                            </a:rPr>
                            <m:t>𝑠</m:t>
                          </m:r>
                        </m:den>
                      </m:f>
                      <m:sSub>
                        <m:sSubPr>
                          <m:ctrlPr>
                            <a:rPr lang="en-US" sz="3400" b="0" i="1" smtClean="0">
                              <a:latin typeface="Cambria Math" panose="02040503050406030204" pitchFamily="18" charset="0"/>
                            </a:rPr>
                          </m:ctrlPr>
                        </m:sSubPr>
                        <m:e>
                          <m:r>
                            <a:rPr lang="en-US" sz="3400" b="0" i="1" smtClean="0">
                              <a:latin typeface="Cambria Math" panose="02040503050406030204" pitchFamily="18" charset="0"/>
                            </a:rPr>
                            <m:t>+</m:t>
                          </m:r>
                          <m:r>
                            <a:rPr lang="en-US" sz="3400" b="0" i="1" smtClean="0">
                              <a:latin typeface="Cambria Math" panose="02040503050406030204" pitchFamily="18" charset="0"/>
                            </a:rPr>
                            <m:t>𝐾</m:t>
                          </m:r>
                        </m:e>
                        <m:sub>
                          <m:r>
                            <a:rPr lang="en-US" sz="3400" b="0" i="1" smtClean="0">
                              <a:latin typeface="Cambria Math" panose="02040503050406030204" pitchFamily="18" charset="0"/>
                            </a:rPr>
                            <m:t>𝑑</m:t>
                          </m:r>
                        </m:sub>
                      </m:sSub>
                      <m:r>
                        <a:rPr lang="en-US" sz="3400" b="0" i="1" smtClean="0">
                          <a:latin typeface="Cambria Math" panose="02040503050406030204" pitchFamily="18" charset="0"/>
                        </a:rPr>
                        <m:t>𝑠</m:t>
                      </m:r>
                    </m:oMath>
                  </m:oMathPara>
                </a14:m>
                <a:endParaRPr lang="en-US" sz="3400" dirty="0"/>
              </a:p>
            </p:txBody>
          </p:sp>
        </mc:Choice>
        <mc:Fallback xmlns="">
          <p:sp>
            <p:nvSpPr>
              <p:cNvPr id="47" name="TextBox 46"/>
              <p:cNvSpPr txBox="1">
                <a:spLocks noRot="1" noChangeAspect="1" noMove="1" noResize="1" noEditPoints="1" noAdjustHandles="1" noChangeArrowheads="1" noChangeShapeType="1" noTextEdit="1"/>
              </p:cNvSpPr>
              <p:nvPr/>
            </p:nvSpPr>
            <p:spPr>
              <a:xfrm>
                <a:off x="2209800" y="2968991"/>
                <a:ext cx="5079789" cy="1120884"/>
              </a:xfrm>
              <a:prstGeom prst="rect">
                <a:avLst/>
              </a:prstGeom>
              <a:blipFill rotWithShape="0">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614679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9" name="AutoShape 2"/>
          <p:cNvSpPr>
            <a:spLocks noGrp="1" noChangeArrowheads="1"/>
          </p:cNvSpPr>
          <p:nvPr>
            <p:ph type="title"/>
          </p:nvPr>
        </p:nvSpPr>
        <p:spPr>
          <a:xfrm>
            <a:off x="0" y="0"/>
            <a:ext cx="9144000" cy="1143000"/>
          </a:xfrm>
        </p:spPr>
        <p:txBody>
          <a:bodyPr>
            <a:normAutofit/>
          </a:bodyPr>
          <a:lstStyle/>
          <a:p>
            <a:pPr eaLnBrk="1" hangingPunct="1"/>
            <a:r>
              <a:rPr lang="en-US" sz="3200" dirty="0"/>
              <a:t>Proportional Plus Integral Plus Derivative Control (</a:t>
            </a:r>
            <a:r>
              <a:rPr lang="en-US" sz="3200" dirty="0">
                <a:solidFill>
                  <a:srgbClr val="FF0000"/>
                </a:solidFill>
              </a:rPr>
              <a:t>PID</a:t>
            </a:r>
            <a:r>
              <a:rPr lang="en-US" sz="3200" dirty="0"/>
              <a:t>)</a:t>
            </a:r>
          </a:p>
        </p:txBody>
      </p:sp>
      <p:sp>
        <p:nvSpPr>
          <p:cNvPr id="2" name="Content Placeholder 1"/>
          <p:cNvSpPr>
            <a:spLocks noGrp="1"/>
          </p:cNvSpPr>
          <p:nvPr>
            <p:ph idx="1"/>
          </p:nvPr>
        </p:nvSpPr>
        <p:spPr>
          <a:xfrm>
            <a:off x="76200" y="1143000"/>
            <a:ext cx="8991600" cy="4525963"/>
          </a:xfrm>
        </p:spPr>
        <p:txBody>
          <a:bodyPr>
            <a:normAutofit/>
          </a:bodyPr>
          <a:lstStyle/>
          <a:p>
            <a:pPr algn="just"/>
            <a:r>
              <a:rPr lang="en-US" sz="2400" dirty="0"/>
              <a:t>Although PD control deals neatly with the overshoot and ringing problems associated with proportional control it does not cure the problem with the steady-state error. Fortunately it is possible to eliminate this while using relatively low gain by adding an integral term to the control function which becomes </a:t>
            </a:r>
          </a:p>
        </p:txBody>
      </p:sp>
      <p:sp>
        <p:nvSpPr>
          <p:cNvPr id="1638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8F5C88F-F18E-43B3-8155-BDCDA06E8F78}" type="slidenum">
              <a:rPr lang="en-US">
                <a:solidFill>
                  <a:schemeClr val="bg1"/>
                </a:solidFill>
              </a:rPr>
              <a:pPr eaLnBrk="1" hangingPunct="1"/>
              <a:t>20</a:t>
            </a:fld>
            <a:endParaRPr lang="en-US">
              <a:solidFill>
                <a:schemeClr val="bg1"/>
              </a:solidFill>
            </a:endParaRPr>
          </a:p>
        </p:txBody>
      </p:sp>
      <p:pic>
        <p:nvPicPr>
          <p:cNvPr id="7" name="Picture 1029" descr="PID control graph (4kB)"/>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3200400"/>
            <a:ext cx="5867400" cy="3432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7832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84" name="Group 64"/>
          <p:cNvGrpSpPr>
            <a:grpSpLocks/>
          </p:cNvGrpSpPr>
          <p:nvPr/>
        </p:nvGrpSpPr>
        <p:grpSpPr bwMode="auto">
          <a:xfrm>
            <a:off x="304800" y="1524000"/>
            <a:ext cx="8458200" cy="4343400"/>
            <a:chOff x="-3" y="-3"/>
            <a:chExt cx="3784" cy="1654"/>
          </a:xfrm>
        </p:grpSpPr>
        <p:grpSp>
          <p:nvGrpSpPr>
            <p:cNvPr id="5182" name="Group 62"/>
            <p:cNvGrpSpPr>
              <a:grpSpLocks/>
            </p:cNvGrpSpPr>
            <p:nvPr/>
          </p:nvGrpSpPr>
          <p:grpSpPr bwMode="auto">
            <a:xfrm>
              <a:off x="0" y="0"/>
              <a:ext cx="3778" cy="1648"/>
              <a:chOff x="0" y="0"/>
              <a:chExt cx="3778" cy="1648"/>
            </a:xfrm>
          </p:grpSpPr>
          <p:grpSp>
            <p:nvGrpSpPr>
              <p:cNvPr id="5143" name="Group 23"/>
              <p:cNvGrpSpPr>
                <a:grpSpLocks/>
              </p:cNvGrpSpPr>
              <p:nvPr/>
            </p:nvGrpSpPr>
            <p:grpSpPr bwMode="auto">
              <a:xfrm>
                <a:off x="0" y="0"/>
                <a:ext cx="791" cy="403"/>
                <a:chOff x="0" y="0"/>
                <a:chExt cx="791" cy="403"/>
              </a:xfrm>
            </p:grpSpPr>
            <p:sp>
              <p:nvSpPr>
                <p:cNvPr id="5122" name="Rectangle 2"/>
                <p:cNvSpPr>
                  <a:spLocks noChangeArrowheads="1"/>
                </p:cNvSpPr>
                <p:nvPr/>
              </p:nvSpPr>
              <p:spPr bwMode="auto">
                <a:xfrm>
                  <a:off x="6" y="6"/>
                  <a:ext cx="779" cy="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sz="2200">
                      <a:ln w="0"/>
                      <a:effectLst>
                        <a:outerShdw blurRad="38100" dist="19050" dir="2700000" algn="tl" rotWithShape="0">
                          <a:schemeClr val="dk1">
                            <a:alpha val="40000"/>
                          </a:schemeClr>
                        </a:outerShdw>
                      </a:effectLst>
                      <a:cs typeface="Times New Roman" panose="02020603050405020304" pitchFamily="18" charset="0"/>
                    </a:rPr>
                    <a:t>CL RESPONSE</a:t>
                  </a:r>
                </a:p>
                <a:p>
                  <a:pPr algn="ctr" eaLnBrk="0" hangingPunct="0"/>
                  <a:endParaRPr lang="en-US" sz="2200">
                    <a:ln w="0"/>
                    <a:effectLst>
                      <a:outerShdw blurRad="38100" dist="19050" dir="2700000" algn="tl" rotWithShape="0">
                        <a:schemeClr val="dk1">
                          <a:alpha val="40000"/>
                        </a:schemeClr>
                      </a:outerShdw>
                    </a:effectLst>
                  </a:endParaRPr>
                </a:p>
              </p:txBody>
            </p:sp>
            <p:sp>
              <p:nvSpPr>
                <p:cNvPr id="5142" name="Rectangle 22"/>
                <p:cNvSpPr>
                  <a:spLocks noChangeArrowheads="1"/>
                </p:cNvSpPr>
                <p:nvPr/>
              </p:nvSpPr>
              <p:spPr bwMode="auto">
                <a:xfrm>
                  <a:off x="0" y="0"/>
                  <a:ext cx="791"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200">
                    <a:ln w="0"/>
                    <a:effectLst>
                      <a:outerShdw blurRad="38100" dist="19050" dir="2700000" algn="tl" rotWithShape="0">
                        <a:schemeClr val="dk1">
                          <a:alpha val="40000"/>
                        </a:schemeClr>
                      </a:outerShdw>
                    </a:effectLst>
                  </a:endParaRPr>
                </a:p>
              </p:txBody>
            </p:sp>
          </p:grpSp>
          <p:grpSp>
            <p:nvGrpSpPr>
              <p:cNvPr id="5145" name="Group 25"/>
              <p:cNvGrpSpPr>
                <a:grpSpLocks/>
              </p:cNvGrpSpPr>
              <p:nvPr/>
            </p:nvGrpSpPr>
            <p:grpSpPr bwMode="auto">
              <a:xfrm>
                <a:off x="791" y="0"/>
                <a:ext cx="671" cy="403"/>
                <a:chOff x="791" y="0"/>
                <a:chExt cx="671" cy="403"/>
              </a:xfrm>
            </p:grpSpPr>
            <p:sp>
              <p:nvSpPr>
                <p:cNvPr id="5123" name="Rectangle 3"/>
                <p:cNvSpPr>
                  <a:spLocks noChangeArrowheads="1"/>
                </p:cNvSpPr>
                <p:nvPr/>
              </p:nvSpPr>
              <p:spPr bwMode="auto">
                <a:xfrm>
                  <a:off x="797" y="6"/>
                  <a:ext cx="659" cy="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sz="2200">
                      <a:ln w="0"/>
                      <a:effectLst>
                        <a:outerShdw blurRad="38100" dist="19050" dir="2700000" algn="tl" rotWithShape="0">
                          <a:schemeClr val="dk1">
                            <a:alpha val="40000"/>
                          </a:schemeClr>
                        </a:outerShdw>
                      </a:effectLst>
                      <a:cs typeface="Times New Roman" panose="02020603050405020304" pitchFamily="18" charset="0"/>
                    </a:rPr>
                    <a:t>RISE TIME</a:t>
                  </a:r>
                </a:p>
                <a:p>
                  <a:pPr algn="ctr" eaLnBrk="0" hangingPunct="0"/>
                  <a:endParaRPr lang="en-US" sz="2200">
                    <a:ln w="0"/>
                    <a:effectLst>
                      <a:outerShdw blurRad="38100" dist="19050" dir="2700000" algn="tl" rotWithShape="0">
                        <a:schemeClr val="dk1">
                          <a:alpha val="40000"/>
                        </a:schemeClr>
                      </a:outerShdw>
                    </a:effectLst>
                  </a:endParaRPr>
                </a:p>
              </p:txBody>
            </p:sp>
            <p:sp>
              <p:nvSpPr>
                <p:cNvPr id="5144" name="Rectangle 24"/>
                <p:cNvSpPr>
                  <a:spLocks noChangeArrowheads="1"/>
                </p:cNvSpPr>
                <p:nvPr/>
              </p:nvSpPr>
              <p:spPr bwMode="auto">
                <a:xfrm>
                  <a:off x="791" y="0"/>
                  <a:ext cx="671"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200">
                    <a:ln w="0"/>
                    <a:effectLst>
                      <a:outerShdw blurRad="38100" dist="19050" dir="2700000" algn="tl" rotWithShape="0">
                        <a:schemeClr val="dk1">
                          <a:alpha val="40000"/>
                        </a:schemeClr>
                      </a:outerShdw>
                    </a:effectLst>
                  </a:endParaRPr>
                </a:p>
              </p:txBody>
            </p:sp>
          </p:grpSp>
          <p:grpSp>
            <p:nvGrpSpPr>
              <p:cNvPr id="5147" name="Group 27"/>
              <p:cNvGrpSpPr>
                <a:grpSpLocks/>
              </p:cNvGrpSpPr>
              <p:nvPr/>
            </p:nvGrpSpPr>
            <p:grpSpPr bwMode="auto">
              <a:xfrm>
                <a:off x="1462" y="0"/>
                <a:ext cx="747" cy="403"/>
                <a:chOff x="1462" y="0"/>
                <a:chExt cx="747" cy="403"/>
              </a:xfrm>
            </p:grpSpPr>
            <p:sp>
              <p:nvSpPr>
                <p:cNvPr id="5124" name="Rectangle 4"/>
                <p:cNvSpPr>
                  <a:spLocks noChangeArrowheads="1"/>
                </p:cNvSpPr>
                <p:nvPr/>
              </p:nvSpPr>
              <p:spPr bwMode="auto">
                <a:xfrm>
                  <a:off x="1468" y="6"/>
                  <a:ext cx="735" cy="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sz="2200">
                      <a:ln w="0"/>
                      <a:effectLst>
                        <a:outerShdw blurRad="38100" dist="19050" dir="2700000" algn="tl" rotWithShape="0">
                          <a:schemeClr val="dk1">
                            <a:alpha val="40000"/>
                          </a:schemeClr>
                        </a:outerShdw>
                      </a:effectLst>
                      <a:cs typeface="Times New Roman" panose="02020603050405020304" pitchFamily="18" charset="0"/>
                    </a:rPr>
                    <a:t>OVERSHOOT</a:t>
                  </a:r>
                </a:p>
                <a:p>
                  <a:pPr algn="ctr" eaLnBrk="0" hangingPunct="0"/>
                  <a:endParaRPr lang="en-US" sz="2200">
                    <a:ln w="0"/>
                    <a:effectLst>
                      <a:outerShdw blurRad="38100" dist="19050" dir="2700000" algn="tl" rotWithShape="0">
                        <a:schemeClr val="dk1">
                          <a:alpha val="40000"/>
                        </a:schemeClr>
                      </a:outerShdw>
                    </a:effectLst>
                  </a:endParaRPr>
                </a:p>
              </p:txBody>
            </p:sp>
            <p:sp>
              <p:nvSpPr>
                <p:cNvPr id="5146" name="Rectangle 26"/>
                <p:cNvSpPr>
                  <a:spLocks noChangeArrowheads="1"/>
                </p:cNvSpPr>
                <p:nvPr/>
              </p:nvSpPr>
              <p:spPr bwMode="auto">
                <a:xfrm>
                  <a:off x="1462" y="0"/>
                  <a:ext cx="74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200">
                    <a:ln w="0"/>
                    <a:effectLst>
                      <a:outerShdw blurRad="38100" dist="19050" dir="2700000" algn="tl" rotWithShape="0">
                        <a:schemeClr val="dk1">
                          <a:alpha val="40000"/>
                        </a:schemeClr>
                      </a:outerShdw>
                    </a:effectLst>
                  </a:endParaRPr>
                </a:p>
              </p:txBody>
            </p:sp>
          </p:grpSp>
          <p:grpSp>
            <p:nvGrpSpPr>
              <p:cNvPr id="5149" name="Group 29"/>
              <p:cNvGrpSpPr>
                <a:grpSpLocks/>
              </p:cNvGrpSpPr>
              <p:nvPr/>
            </p:nvGrpSpPr>
            <p:grpSpPr bwMode="auto">
              <a:xfrm>
                <a:off x="2209" y="0"/>
                <a:ext cx="898" cy="403"/>
                <a:chOff x="2209" y="0"/>
                <a:chExt cx="898" cy="403"/>
              </a:xfrm>
            </p:grpSpPr>
            <p:sp>
              <p:nvSpPr>
                <p:cNvPr id="5125" name="Rectangle 5"/>
                <p:cNvSpPr>
                  <a:spLocks noChangeArrowheads="1"/>
                </p:cNvSpPr>
                <p:nvPr/>
              </p:nvSpPr>
              <p:spPr bwMode="auto">
                <a:xfrm>
                  <a:off x="2215" y="6"/>
                  <a:ext cx="886" cy="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sz="2200">
                      <a:ln w="0"/>
                      <a:effectLst>
                        <a:outerShdw blurRad="38100" dist="19050" dir="2700000" algn="tl" rotWithShape="0">
                          <a:schemeClr val="dk1">
                            <a:alpha val="40000"/>
                          </a:schemeClr>
                        </a:outerShdw>
                      </a:effectLst>
                      <a:cs typeface="Times New Roman" panose="02020603050405020304" pitchFamily="18" charset="0"/>
                    </a:rPr>
                    <a:t>SETTLING TIME</a:t>
                  </a:r>
                </a:p>
                <a:p>
                  <a:pPr algn="ctr" eaLnBrk="0" hangingPunct="0"/>
                  <a:endParaRPr lang="en-US" sz="2200">
                    <a:ln w="0"/>
                    <a:effectLst>
                      <a:outerShdw blurRad="38100" dist="19050" dir="2700000" algn="tl" rotWithShape="0">
                        <a:schemeClr val="dk1">
                          <a:alpha val="40000"/>
                        </a:schemeClr>
                      </a:outerShdw>
                    </a:effectLst>
                  </a:endParaRPr>
                </a:p>
              </p:txBody>
            </p:sp>
            <p:sp>
              <p:nvSpPr>
                <p:cNvPr id="5148" name="Rectangle 28"/>
                <p:cNvSpPr>
                  <a:spLocks noChangeArrowheads="1"/>
                </p:cNvSpPr>
                <p:nvPr/>
              </p:nvSpPr>
              <p:spPr bwMode="auto">
                <a:xfrm>
                  <a:off x="2209" y="0"/>
                  <a:ext cx="898"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200">
                    <a:ln w="0"/>
                    <a:effectLst>
                      <a:outerShdw blurRad="38100" dist="19050" dir="2700000" algn="tl" rotWithShape="0">
                        <a:schemeClr val="dk1">
                          <a:alpha val="40000"/>
                        </a:schemeClr>
                      </a:outerShdw>
                    </a:effectLst>
                  </a:endParaRPr>
                </a:p>
              </p:txBody>
            </p:sp>
          </p:grpSp>
          <p:grpSp>
            <p:nvGrpSpPr>
              <p:cNvPr id="5151" name="Group 31"/>
              <p:cNvGrpSpPr>
                <a:grpSpLocks/>
              </p:cNvGrpSpPr>
              <p:nvPr/>
            </p:nvGrpSpPr>
            <p:grpSpPr bwMode="auto">
              <a:xfrm>
                <a:off x="3107" y="0"/>
                <a:ext cx="671" cy="403"/>
                <a:chOff x="3107" y="0"/>
                <a:chExt cx="671" cy="403"/>
              </a:xfrm>
            </p:grpSpPr>
            <p:sp>
              <p:nvSpPr>
                <p:cNvPr id="5126" name="Rectangle 6"/>
                <p:cNvSpPr>
                  <a:spLocks noChangeArrowheads="1"/>
                </p:cNvSpPr>
                <p:nvPr/>
              </p:nvSpPr>
              <p:spPr bwMode="auto">
                <a:xfrm>
                  <a:off x="3113" y="6"/>
                  <a:ext cx="659" cy="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sz="2200">
                      <a:ln w="0"/>
                      <a:effectLst>
                        <a:outerShdw blurRad="38100" dist="19050" dir="2700000" algn="tl" rotWithShape="0">
                          <a:schemeClr val="dk1">
                            <a:alpha val="40000"/>
                          </a:schemeClr>
                        </a:outerShdw>
                      </a:effectLst>
                      <a:cs typeface="Times New Roman" panose="02020603050405020304" pitchFamily="18" charset="0"/>
                    </a:rPr>
                    <a:t>S-S ERROR</a:t>
                  </a:r>
                </a:p>
                <a:p>
                  <a:pPr algn="ctr" eaLnBrk="0" hangingPunct="0"/>
                  <a:endParaRPr lang="en-US" sz="2200">
                    <a:ln w="0"/>
                    <a:effectLst>
                      <a:outerShdw blurRad="38100" dist="19050" dir="2700000" algn="tl" rotWithShape="0">
                        <a:schemeClr val="dk1">
                          <a:alpha val="40000"/>
                        </a:schemeClr>
                      </a:outerShdw>
                    </a:effectLst>
                  </a:endParaRPr>
                </a:p>
              </p:txBody>
            </p:sp>
            <p:sp>
              <p:nvSpPr>
                <p:cNvPr id="5150" name="Rectangle 30"/>
                <p:cNvSpPr>
                  <a:spLocks noChangeArrowheads="1"/>
                </p:cNvSpPr>
                <p:nvPr/>
              </p:nvSpPr>
              <p:spPr bwMode="auto">
                <a:xfrm>
                  <a:off x="3107" y="0"/>
                  <a:ext cx="671"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200">
                    <a:ln w="0"/>
                    <a:effectLst>
                      <a:outerShdw blurRad="38100" dist="19050" dir="2700000" algn="tl" rotWithShape="0">
                        <a:schemeClr val="dk1">
                          <a:alpha val="40000"/>
                        </a:schemeClr>
                      </a:outerShdw>
                    </a:effectLst>
                  </a:endParaRPr>
                </a:p>
              </p:txBody>
            </p:sp>
          </p:grpSp>
          <p:grpSp>
            <p:nvGrpSpPr>
              <p:cNvPr id="5153" name="Group 33"/>
              <p:cNvGrpSpPr>
                <a:grpSpLocks/>
              </p:cNvGrpSpPr>
              <p:nvPr/>
            </p:nvGrpSpPr>
            <p:grpSpPr bwMode="auto">
              <a:xfrm>
                <a:off x="0" y="415"/>
                <a:ext cx="791" cy="403"/>
                <a:chOff x="0" y="415"/>
                <a:chExt cx="791" cy="403"/>
              </a:xfrm>
            </p:grpSpPr>
            <p:sp>
              <p:nvSpPr>
                <p:cNvPr id="5127" name="Rectangle 7"/>
                <p:cNvSpPr>
                  <a:spLocks noChangeArrowheads="1"/>
                </p:cNvSpPr>
                <p:nvPr/>
              </p:nvSpPr>
              <p:spPr bwMode="auto">
                <a:xfrm>
                  <a:off x="6" y="421"/>
                  <a:ext cx="779" cy="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sz="2200">
                      <a:ln w="0"/>
                      <a:effectLst>
                        <a:outerShdw blurRad="38100" dist="19050" dir="2700000" algn="tl" rotWithShape="0">
                          <a:schemeClr val="dk1">
                            <a:alpha val="40000"/>
                          </a:schemeClr>
                        </a:outerShdw>
                      </a:effectLst>
                      <a:cs typeface="Times New Roman" panose="02020603050405020304" pitchFamily="18" charset="0"/>
                    </a:rPr>
                    <a:t>Kp</a:t>
                  </a:r>
                </a:p>
                <a:p>
                  <a:pPr algn="ctr" eaLnBrk="0" hangingPunct="0"/>
                  <a:endParaRPr lang="en-US" sz="2200">
                    <a:ln w="0"/>
                    <a:effectLst>
                      <a:outerShdw blurRad="38100" dist="19050" dir="2700000" algn="tl" rotWithShape="0">
                        <a:schemeClr val="dk1">
                          <a:alpha val="40000"/>
                        </a:schemeClr>
                      </a:outerShdw>
                    </a:effectLst>
                  </a:endParaRPr>
                </a:p>
              </p:txBody>
            </p:sp>
            <p:sp>
              <p:nvSpPr>
                <p:cNvPr id="5152" name="Rectangle 32"/>
                <p:cNvSpPr>
                  <a:spLocks noChangeArrowheads="1"/>
                </p:cNvSpPr>
                <p:nvPr/>
              </p:nvSpPr>
              <p:spPr bwMode="auto">
                <a:xfrm>
                  <a:off x="0" y="415"/>
                  <a:ext cx="791"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200">
                    <a:ln w="0"/>
                    <a:effectLst>
                      <a:outerShdw blurRad="38100" dist="19050" dir="2700000" algn="tl" rotWithShape="0">
                        <a:schemeClr val="dk1">
                          <a:alpha val="40000"/>
                        </a:schemeClr>
                      </a:outerShdw>
                    </a:effectLst>
                  </a:endParaRPr>
                </a:p>
              </p:txBody>
            </p:sp>
          </p:grpSp>
          <p:grpSp>
            <p:nvGrpSpPr>
              <p:cNvPr id="5155" name="Group 35"/>
              <p:cNvGrpSpPr>
                <a:grpSpLocks/>
              </p:cNvGrpSpPr>
              <p:nvPr/>
            </p:nvGrpSpPr>
            <p:grpSpPr bwMode="auto">
              <a:xfrm>
                <a:off x="791" y="415"/>
                <a:ext cx="671" cy="403"/>
                <a:chOff x="791" y="415"/>
                <a:chExt cx="671" cy="403"/>
              </a:xfrm>
            </p:grpSpPr>
            <p:sp>
              <p:nvSpPr>
                <p:cNvPr id="5128" name="Rectangle 8"/>
                <p:cNvSpPr>
                  <a:spLocks noChangeArrowheads="1"/>
                </p:cNvSpPr>
                <p:nvPr/>
              </p:nvSpPr>
              <p:spPr bwMode="auto">
                <a:xfrm>
                  <a:off x="797" y="421"/>
                  <a:ext cx="659" cy="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sz="2200">
                      <a:ln w="0"/>
                      <a:effectLst>
                        <a:outerShdw blurRad="38100" dist="19050" dir="2700000" algn="tl" rotWithShape="0">
                          <a:schemeClr val="dk1">
                            <a:alpha val="40000"/>
                          </a:schemeClr>
                        </a:outerShdw>
                      </a:effectLst>
                      <a:cs typeface="Times New Roman" panose="02020603050405020304" pitchFamily="18" charset="0"/>
                    </a:rPr>
                    <a:t>Decrease</a:t>
                  </a:r>
                </a:p>
                <a:p>
                  <a:pPr algn="ctr" eaLnBrk="0" hangingPunct="0"/>
                  <a:endParaRPr lang="en-US" sz="2200">
                    <a:ln w="0"/>
                    <a:effectLst>
                      <a:outerShdw blurRad="38100" dist="19050" dir="2700000" algn="tl" rotWithShape="0">
                        <a:schemeClr val="dk1">
                          <a:alpha val="40000"/>
                        </a:schemeClr>
                      </a:outerShdw>
                    </a:effectLst>
                  </a:endParaRPr>
                </a:p>
              </p:txBody>
            </p:sp>
            <p:sp>
              <p:nvSpPr>
                <p:cNvPr id="5154" name="Rectangle 34"/>
                <p:cNvSpPr>
                  <a:spLocks noChangeArrowheads="1"/>
                </p:cNvSpPr>
                <p:nvPr/>
              </p:nvSpPr>
              <p:spPr bwMode="auto">
                <a:xfrm>
                  <a:off x="791" y="415"/>
                  <a:ext cx="671"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200">
                    <a:ln w="0"/>
                    <a:effectLst>
                      <a:outerShdw blurRad="38100" dist="19050" dir="2700000" algn="tl" rotWithShape="0">
                        <a:schemeClr val="dk1">
                          <a:alpha val="40000"/>
                        </a:schemeClr>
                      </a:outerShdw>
                    </a:effectLst>
                  </a:endParaRPr>
                </a:p>
              </p:txBody>
            </p:sp>
          </p:grpSp>
          <p:grpSp>
            <p:nvGrpSpPr>
              <p:cNvPr id="5157" name="Group 37"/>
              <p:cNvGrpSpPr>
                <a:grpSpLocks/>
              </p:cNvGrpSpPr>
              <p:nvPr/>
            </p:nvGrpSpPr>
            <p:grpSpPr bwMode="auto">
              <a:xfrm>
                <a:off x="1462" y="415"/>
                <a:ext cx="747" cy="403"/>
                <a:chOff x="1462" y="415"/>
                <a:chExt cx="747" cy="403"/>
              </a:xfrm>
            </p:grpSpPr>
            <p:sp>
              <p:nvSpPr>
                <p:cNvPr id="5129" name="Rectangle 9"/>
                <p:cNvSpPr>
                  <a:spLocks noChangeArrowheads="1"/>
                </p:cNvSpPr>
                <p:nvPr/>
              </p:nvSpPr>
              <p:spPr bwMode="auto">
                <a:xfrm>
                  <a:off x="1468" y="421"/>
                  <a:ext cx="735" cy="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sz="2200">
                      <a:ln w="0"/>
                      <a:effectLst>
                        <a:outerShdw blurRad="38100" dist="19050" dir="2700000" algn="tl" rotWithShape="0">
                          <a:schemeClr val="dk1">
                            <a:alpha val="40000"/>
                          </a:schemeClr>
                        </a:outerShdw>
                      </a:effectLst>
                      <a:cs typeface="Times New Roman" panose="02020603050405020304" pitchFamily="18" charset="0"/>
                    </a:rPr>
                    <a:t>Increase</a:t>
                  </a:r>
                </a:p>
                <a:p>
                  <a:pPr algn="ctr" eaLnBrk="0" hangingPunct="0"/>
                  <a:endParaRPr lang="en-US" sz="2200">
                    <a:ln w="0"/>
                    <a:effectLst>
                      <a:outerShdw blurRad="38100" dist="19050" dir="2700000" algn="tl" rotWithShape="0">
                        <a:schemeClr val="dk1">
                          <a:alpha val="40000"/>
                        </a:schemeClr>
                      </a:outerShdw>
                    </a:effectLst>
                  </a:endParaRPr>
                </a:p>
              </p:txBody>
            </p:sp>
            <p:sp>
              <p:nvSpPr>
                <p:cNvPr id="5156" name="Rectangle 36"/>
                <p:cNvSpPr>
                  <a:spLocks noChangeArrowheads="1"/>
                </p:cNvSpPr>
                <p:nvPr/>
              </p:nvSpPr>
              <p:spPr bwMode="auto">
                <a:xfrm>
                  <a:off x="1462" y="415"/>
                  <a:ext cx="74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200">
                    <a:ln w="0"/>
                    <a:effectLst>
                      <a:outerShdw blurRad="38100" dist="19050" dir="2700000" algn="tl" rotWithShape="0">
                        <a:schemeClr val="dk1">
                          <a:alpha val="40000"/>
                        </a:schemeClr>
                      </a:outerShdw>
                    </a:effectLst>
                  </a:endParaRPr>
                </a:p>
              </p:txBody>
            </p:sp>
          </p:grpSp>
          <p:grpSp>
            <p:nvGrpSpPr>
              <p:cNvPr id="5159" name="Group 39"/>
              <p:cNvGrpSpPr>
                <a:grpSpLocks/>
              </p:cNvGrpSpPr>
              <p:nvPr/>
            </p:nvGrpSpPr>
            <p:grpSpPr bwMode="auto">
              <a:xfrm>
                <a:off x="2209" y="415"/>
                <a:ext cx="898" cy="403"/>
                <a:chOff x="2209" y="415"/>
                <a:chExt cx="898" cy="403"/>
              </a:xfrm>
            </p:grpSpPr>
            <p:sp>
              <p:nvSpPr>
                <p:cNvPr id="5130" name="Rectangle 10"/>
                <p:cNvSpPr>
                  <a:spLocks noChangeArrowheads="1"/>
                </p:cNvSpPr>
                <p:nvPr/>
              </p:nvSpPr>
              <p:spPr bwMode="auto">
                <a:xfrm>
                  <a:off x="2215" y="421"/>
                  <a:ext cx="886" cy="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sz="2200">
                      <a:ln w="0"/>
                      <a:effectLst>
                        <a:outerShdw blurRad="38100" dist="19050" dir="2700000" algn="tl" rotWithShape="0">
                          <a:schemeClr val="dk1">
                            <a:alpha val="40000"/>
                          </a:schemeClr>
                        </a:outerShdw>
                      </a:effectLst>
                      <a:cs typeface="Times New Roman" panose="02020603050405020304" pitchFamily="18" charset="0"/>
                    </a:rPr>
                    <a:t>Small Change</a:t>
                  </a:r>
                </a:p>
                <a:p>
                  <a:pPr algn="ctr" eaLnBrk="0" hangingPunct="0"/>
                  <a:endParaRPr lang="en-US" sz="2200">
                    <a:ln w="0"/>
                    <a:effectLst>
                      <a:outerShdw blurRad="38100" dist="19050" dir="2700000" algn="tl" rotWithShape="0">
                        <a:schemeClr val="dk1">
                          <a:alpha val="40000"/>
                        </a:schemeClr>
                      </a:outerShdw>
                    </a:effectLst>
                  </a:endParaRPr>
                </a:p>
              </p:txBody>
            </p:sp>
            <p:sp>
              <p:nvSpPr>
                <p:cNvPr id="5158" name="Rectangle 38"/>
                <p:cNvSpPr>
                  <a:spLocks noChangeArrowheads="1"/>
                </p:cNvSpPr>
                <p:nvPr/>
              </p:nvSpPr>
              <p:spPr bwMode="auto">
                <a:xfrm>
                  <a:off x="2209" y="415"/>
                  <a:ext cx="898"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200">
                    <a:ln w="0"/>
                    <a:effectLst>
                      <a:outerShdw blurRad="38100" dist="19050" dir="2700000" algn="tl" rotWithShape="0">
                        <a:schemeClr val="dk1">
                          <a:alpha val="40000"/>
                        </a:schemeClr>
                      </a:outerShdw>
                    </a:effectLst>
                  </a:endParaRPr>
                </a:p>
              </p:txBody>
            </p:sp>
          </p:grpSp>
          <p:grpSp>
            <p:nvGrpSpPr>
              <p:cNvPr id="5161" name="Group 41"/>
              <p:cNvGrpSpPr>
                <a:grpSpLocks/>
              </p:cNvGrpSpPr>
              <p:nvPr/>
            </p:nvGrpSpPr>
            <p:grpSpPr bwMode="auto">
              <a:xfrm>
                <a:off x="3107" y="415"/>
                <a:ext cx="671" cy="403"/>
                <a:chOff x="3107" y="415"/>
                <a:chExt cx="671" cy="403"/>
              </a:xfrm>
            </p:grpSpPr>
            <p:sp>
              <p:nvSpPr>
                <p:cNvPr id="5131" name="Rectangle 11"/>
                <p:cNvSpPr>
                  <a:spLocks noChangeArrowheads="1"/>
                </p:cNvSpPr>
                <p:nvPr/>
              </p:nvSpPr>
              <p:spPr bwMode="auto">
                <a:xfrm>
                  <a:off x="3113" y="421"/>
                  <a:ext cx="659" cy="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sz="2200">
                      <a:ln w="0"/>
                      <a:effectLst>
                        <a:outerShdw blurRad="38100" dist="19050" dir="2700000" algn="tl" rotWithShape="0">
                          <a:schemeClr val="dk1">
                            <a:alpha val="40000"/>
                          </a:schemeClr>
                        </a:outerShdw>
                      </a:effectLst>
                      <a:cs typeface="Times New Roman" panose="02020603050405020304" pitchFamily="18" charset="0"/>
                    </a:rPr>
                    <a:t>Decrease</a:t>
                  </a:r>
                </a:p>
                <a:p>
                  <a:pPr algn="ctr" eaLnBrk="0" hangingPunct="0"/>
                  <a:endParaRPr lang="en-US" sz="2200">
                    <a:ln w="0"/>
                    <a:effectLst>
                      <a:outerShdw blurRad="38100" dist="19050" dir="2700000" algn="tl" rotWithShape="0">
                        <a:schemeClr val="dk1">
                          <a:alpha val="40000"/>
                        </a:schemeClr>
                      </a:outerShdw>
                    </a:effectLst>
                  </a:endParaRPr>
                </a:p>
              </p:txBody>
            </p:sp>
            <p:sp>
              <p:nvSpPr>
                <p:cNvPr id="5160" name="Rectangle 40"/>
                <p:cNvSpPr>
                  <a:spLocks noChangeArrowheads="1"/>
                </p:cNvSpPr>
                <p:nvPr/>
              </p:nvSpPr>
              <p:spPr bwMode="auto">
                <a:xfrm>
                  <a:off x="3107" y="415"/>
                  <a:ext cx="671"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200">
                    <a:ln w="0"/>
                    <a:effectLst>
                      <a:outerShdw blurRad="38100" dist="19050" dir="2700000" algn="tl" rotWithShape="0">
                        <a:schemeClr val="dk1">
                          <a:alpha val="40000"/>
                        </a:schemeClr>
                      </a:outerShdw>
                    </a:effectLst>
                  </a:endParaRPr>
                </a:p>
              </p:txBody>
            </p:sp>
          </p:grpSp>
          <p:grpSp>
            <p:nvGrpSpPr>
              <p:cNvPr id="5163" name="Group 43"/>
              <p:cNvGrpSpPr>
                <a:grpSpLocks/>
              </p:cNvGrpSpPr>
              <p:nvPr/>
            </p:nvGrpSpPr>
            <p:grpSpPr bwMode="auto">
              <a:xfrm>
                <a:off x="0" y="830"/>
                <a:ext cx="791" cy="403"/>
                <a:chOff x="0" y="830"/>
                <a:chExt cx="791" cy="403"/>
              </a:xfrm>
            </p:grpSpPr>
            <p:sp>
              <p:nvSpPr>
                <p:cNvPr id="5132" name="Rectangle 12"/>
                <p:cNvSpPr>
                  <a:spLocks noChangeArrowheads="1"/>
                </p:cNvSpPr>
                <p:nvPr/>
              </p:nvSpPr>
              <p:spPr bwMode="auto">
                <a:xfrm>
                  <a:off x="6" y="836"/>
                  <a:ext cx="779" cy="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sz="2200">
                      <a:ln w="0"/>
                      <a:effectLst>
                        <a:outerShdw blurRad="38100" dist="19050" dir="2700000" algn="tl" rotWithShape="0">
                          <a:schemeClr val="dk1">
                            <a:alpha val="40000"/>
                          </a:schemeClr>
                        </a:outerShdw>
                      </a:effectLst>
                      <a:cs typeface="Times New Roman" panose="02020603050405020304" pitchFamily="18" charset="0"/>
                    </a:rPr>
                    <a:t>Ki</a:t>
                  </a:r>
                </a:p>
                <a:p>
                  <a:pPr algn="ctr" eaLnBrk="0" hangingPunct="0"/>
                  <a:endParaRPr lang="en-US" sz="2200">
                    <a:ln w="0"/>
                    <a:effectLst>
                      <a:outerShdw blurRad="38100" dist="19050" dir="2700000" algn="tl" rotWithShape="0">
                        <a:schemeClr val="dk1">
                          <a:alpha val="40000"/>
                        </a:schemeClr>
                      </a:outerShdw>
                    </a:effectLst>
                  </a:endParaRPr>
                </a:p>
              </p:txBody>
            </p:sp>
            <p:sp>
              <p:nvSpPr>
                <p:cNvPr id="5162" name="Rectangle 42"/>
                <p:cNvSpPr>
                  <a:spLocks noChangeArrowheads="1"/>
                </p:cNvSpPr>
                <p:nvPr/>
              </p:nvSpPr>
              <p:spPr bwMode="auto">
                <a:xfrm>
                  <a:off x="0" y="830"/>
                  <a:ext cx="791"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200">
                    <a:ln w="0"/>
                    <a:effectLst>
                      <a:outerShdw blurRad="38100" dist="19050" dir="2700000" algn="tl" rotWithShape="0">
                        <a:schemeClr val="dk1">
                          <a:alpha val="40000"/>
                        </a:schemeClr>
                      </a:outerShdw>
                    </a:effectLst>
                  </a:endParaRPr>
                </a:p>
              </p:txBody>
            </p:sp>
          </p:grpSp>
          <p:grpSp>
            <p:nvGrpSpPr>
              <p:cNvPr id="5165" name="Group 45"/>
              <p:cNvGrpSpPr>
                <a:grpSpLocks/>
              </p:cNvGrpSpPr>
              <p:nvPr/>
            </p:nvGrpSpPr>
            <p:grpSpPr bwMode="auto">
              <a:xfrm>
                <a:off x="791" y="830"/>
                <a:ext cx="671" cy="403"/>
                <a:chOff x="791" y="830"/>
                <a:chExt cx="671" cy="403"/>
              </a:xfrm>
            </p:grpSpPr>
            <p:sp>
              <p:nvSpPr>
                <p:cNvPr id="5133" name="Rectangle 13"/>
                <p:cNvSpPr>
                  <a:spLocks noChangeArrowheads="1"/>
                </p:cNvSpPr>
                <p:nvPr/>
              </p:nvSpPr>
              <p:spPr bwMode="auto">
                <a:xfrm>
                  <a:off x="797" y="836"/>
                  <a:ext cx="659" cy="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sz="2200">
                      <a:ln w="0"/>
                      <a:effectLst>
                        <a:outerShdw blurRad="38100" dist="19050" dir="2700000" algn="tl" rotWithShape="0">
                          <a:schemeClr val="dk1">
                            <a:alpha val="40000"/>
                          </a:schemeClr>
                        </a:outerShdw>
                      </a:effectLst>
                      <a:cs typeface="Times New Roman" panose="02020603050405020304" pitchFamily="18" charset="0"/>
                    </a:rPr>
                    <a:t>Decrease</a:t>
                  </a:r>
                </a:p>
                <a:p>
                  <a:pPr algn="ctr" eaLnBrk="0" hangingPunct="0"/>
                  <a:endParaRPr lang="en-US" sz="2200">
                    <a:ln w="0"/>
                    <a:effectLst>
                      <a:outerShdw blurRad="38100" dist="19050" dir="2700000" algn="tl" rotWithShape="0">
                        <a:schemeClr val="dk1">
                          <a:alpha val="40000"/>
                        </a:schemeClr>
                      </a:outerShdw>
                    </a:effectLst>
                  </a:endParaRPr>
                </a:p>
              </p:txBody>
            </p:sp>
            <p:sp>
              <p:nvSpPr>
                <p:cNvPr id="5164" name="Rectangle 44"/>
                <p:cNvSpPr>
                  <a:spLocks noChangeArrowheads="1"/>
                </p:cNvSpPr>
                <p:nvPr/>
              </p:nvSpPr>
              <p:spPr bwMode="auto">
                <a:xfrm>
                  <a:off x="791" y="830"/>
                  <a:ext cx="671"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200">
                    <a:ln w="0"/>
                    <a:effectLst>
                      <a:outerShdw blurRad="38100" dist="19050" dir="2700000" algn="tl" rotWithShape="0">
                        <a:schemeClr val="dk1">
                          <a:alpha val="40000"/>
                        </a:schemeClr>
                      </a:outerShdw>
                    </a:effectLst>
                  </a:endParaRPr>
                </a:p>
              </p:txBody>
            </p:sp>
          </p:grpSp>
          <p:grpSp>
            <p:nvGrpSpPr>
              <p:cNvPr id="5167" name="Group 47"/>
              <p:cNvGrpSpPr>
                <a:grpSpLocks/>
              </p:cNvGrpSpPr>
              <p:nvPr/>
            </p:nvGrpSpPr>
            <p:grpSpPr bwMode="auto">
              <a:xfrm>
                <a:off x="1462" y="830"/>
                <a:ext cx="747" cy="403"/>
                <a:chOff x="1462" y="830"/>
                <a:chExt cx="747" cy="403"/>
              </a:xfrm>
            </p:grpSpPr>
            <p:sp>
              <p:nvSpPr>
                <p:cNvPr id="5134" name="Rectangle 14"/>
                <p:cNvSpPr>
                  <a:spLocks noChangeArrowheads="1"/>
                </p:cNvSpPr>
                <p:nvPr/>
              </p:nvSpPr>
              <p:spPr bwMode="auto">
                <a:xfrm>
                  <a:off x="1468" y="836"/>
                  <a:ext cx="735" cy="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sz="2200">
                      <a:ln w="0"/>
                      <a:effectLst>
                        <a:outerShdw blurRad="38100" dist="19050" dir="2700000" algn="tl" rotWithShape="0">
                          <a:schemeClr val="dk1">
                            <a:alpha val="40000"/>
                          </a:schemeClr>
                        </a:outerShdw>
                      </a:effectLst>
                      <a:cs typeface="Times New Roman" panose="02020603050405020304" pitchFamily="18" charset="0"/>
                    </a:rPr>
                    <a:t>Increase</a:t>
                  </a:r>
                </a:p>
                <a:p>
                  <a:pPr algn="ctr" eaLnBrk="0" hangingPunct="0"/>
                  <a:endParaRPr lang="en-US" sz="2200">
                    <a:ln w="0"/>
                    <a:effectLst>
                      <a:outerShdw blurRad="38100" dist="19050" dir="2700000" algn="tl" rotWithShape="0">
                        <a:schemeClr val="dk1">
                          <a:alpha val="40000"/>
                        </a:schemeClr>
                      </a:outerShdw>
                    </a:effectLst>
                  </a:endParaRPr>
                </a:p>
              </p:txBody>
            </p:sp>
            <p:sp>
              <p:nvSpPr>
                <p:cNvPr id="5166" name="Rectangle 46"/>
                <p:cNvSpPr>
                  <a:spLocks noChangeArrowheads="1"/>
                </p:cNvSpPr>
                <p:nvPr/>
              </p:nvSpPr>
              <p:spPr bwMode="auto">
                <a:xfrm>
                  <a:off x="1462" y="830"/>
                  <a:ext cx="74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200">
                    <a:ln w="0"/>
                    <a:effectLst>
                      <a:outerShdw blurRad="38100" dist="19050" dir="2700000" algn="tl" rotWithShape="0">
                        <a:schemeClr val="dk1">
                          <a:alpha val="40000"/>
                        </a:schemeClr>
                      </a:outerShdw>
                    </a:effectLst>
                  </a:endParaRPr>
                </a:p>
              </p:txBody>
            </p:sp>
          </p:grpSp>
          <p:grpSp>
            <p:nvGrpSpPr>
              <p:cNvPr id="5169" name="Group 49"/>
              <p:cNvGrpSpPr>
                <a:grpSpLocks/>
              </p:cNvGrpSpPr>
              <p:nvPr/>
            </p:nvGrpSpPr>
            <p:grpSpPr bwMode="auto">
              <a:xfrm>
                <a:off x="2209" y="830"/>
                <a:ext cx="898" cy="403"/>
                <a:chOff x="2209" y="830"/>
                <a:chExt cx="898" cy="403"/>
              </a:xfrm>
            </p:grpSpPr>
            <p:sp>
              <p:nvSpPr>
                <p:cNvPr id="5135" name="Rectangle 15"/>
                <p:cNvSpPr>
                  <a:spLocks noChangeArrowheads="1"/>
                </p:cNvSpPr>
                <p:nvPr/>
              </p:nvSpPr>
              <p:spPr bwMode="auto">
                <a:xfrm>
                  <a:off x="2215" y="836"/>
                  <a:ext cx="886" cy="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sz="2200">
                      <a:ln w="0"/>
                      <a:effectLst>
                        <a:outerShdw blurRad="38100" dist="19050" dir="2700000" algn="tl" rotWithShape="0">
                          <a:schemeClr val="dk1">
                            <a:alpha val="40000"/>
                          </a:schemeClr>
                        </a:outerShdw>
                      </a:effectLst>
                      <a:cs typeface="Times New Roman" panose="02020603050405020304" pitchFamily="18" charset="0"/>
                    </a:rPr>
                    <a:t>Increase</a:t>
                  </a:r>
                </a:p>
                <a:p>
                  <a:pPr algn="ctr" eaLnBrk="0" hangingPunct="0"/>
                  <a:endParaRPr lang="en-US" sz="2200">
                    <a:ln w="0"/>
                    <a:effectLst>
                      <a:outerShdw blurRad="38100" dist="19050" dir="2700000" algn="tl" rotWithShape="0">
                        <a:schemeClr val="dk1">
                          <a:alpha val="40000"/>
                        </a:schemeClr>
                      </a:outerShdw>
                    </a:effectLst>
                  </a:endParaRPr>
                </a:p>
              </p:txBody>
            </p:sp>
            <p:sp>
              <p:nvSpPr>
                <p:cNvPr id="5168" name="Rectangle 48"/>
                <p:cNvSpPr>
                  <a:spLocks noChangeArrowheads="1"/>
                </p:cNvSpPr>
                <p:nvPr/>
              </p:nvSpPr>
              <p:spPr bwMode="auto">
                <a:xfrm>
                  <a:off x="2209" y="830"/>
                  <a:ext cx="898"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200">
                    <a:ln w="0"/>
                    <a:effectLst>
                      <a:outerShdw blurRad="38100" dist="19050" dir="2700000" algn="tl" rotWithShape="0">
                        <a:schemeClr val="dk1">
                          <a:alpha val="40000"/>
                        </a:schemeClr>
                      </a:outerShdw>
                    </a:effectLst>
                  </a:endParaRPr>
                </a:p>
              </p:txBody>
            </p:sp>
          </p:grpSp>
          <p:grpSp>
            <p:nvGrpSpPr>
              <p:cNvPr id="5171" name="Group 51"/>
              <p:cNvGrpSpPr>
                <a:grpSpLocks/>
              </p:cNvGrpSpPr>
              <p:nvPr/>
            </p:nvGrpSpPr>
            <p:grpSpPr bwMode="auto">
              <a:xfrm>
                <a:off x="3107" y="830"/>
                <a:ext cx="671" cy="403"/>
                <a:chOff x="3107" y="830"/>
                <a:chExt cx="671" cy="403"/>
              </a:xfrm>
            </p:grpSpPr>
            <p:sp>
              <p:nvSpPr>
                <p:cNvPr id="5136" name="Rectangle 16"/>
                <p:cNvSpPr>
                  <a:spLocks noChangeArrowheads="1"/>
                </p:cNvSpPr>
                <p:nvPr/>
              </p:nvSpPr>
              <p:spPr bwMode="auto">
                <a:xfrm>
                  <a:off x="3113" y="836"/>
                  <a:ext cx="659" cy="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sz="2200">
                      <a:ln w="0"/>
                      <a:effectLst>
                        <a:outerShdw blurRad="38100" dist="19050" dir="2700000" algn="tl" rotWithShape="0">
                          <a:schemeClr val="dk1">
                            <a:alpha val="40000"/>
                          </a:schemeClr>
                        </a:outerShdw>
                      </a:effectLst>
                      <a:cs typeface="Times New Roman" panose="02020603050405020304" pitchFamily="18" charset="0"/>
                    </a:rPr>
                    <a:t>Eliminate</a:t>
                  </a:r>
                </a:p>
                <a:p>
                  <a:pPr algn="ctr" eaLnBrk="0" hangingPunct="0"/>
                  <a:endParaRPr lang="en-US" sz="2200">
                    <a:ln w="0"/>
                    <a:effectLst>
                      <a:outerShdw blurRad="38100" dist="19050" dir="2700000" algn="tl" rotWithShape="0">
                        <a:schemeClr val="dk1">
                          <a:alpha val="40000"/>
                        </a:schemeClr>
                      </a:outerShdw>
                    </a:effectLst>
                  </a:endParaRPr>
                </a:p>
              </p:txBody>
            </p:sp>
            <p:sp>
              <p:nvSpPr>
                <p:cNvPr id="5170" name="Rectangle 50"/>
                <p:cNvSpPr>
                  <a:spLocks noChangeArrowheads="1"/>
                </p:cNvSpPr>
                <p:nvPr/>
              </p:nvSpPr>
              <p:spPr bwMode="auto">
                <a:xfrm>
                  <a:off x="3107" y="830"/>
                  <a:ext cx="671"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200">
                    <a:ln w="0"/>
                    <a:effectLst>
                      <a:outerShdw blurRad="38100" dist="19050" dir="2700000" algn="tl" rotWithShape="0">
                        <a:schemeClr val="dk1">
                          <a:alpha val="40000"/>
                        </a:schemeClr>
                      </a:outerShdw>
                    </a:effectLst>
                  </a:endParaRPr>
                </a:p>
              </p:txBody>
            </p:sp>
          </p:grpSp>
          <p:grpSp>
            <p:nvGrpSpPr>
              <p:cNvPr id="5173" name="Group 53"/>
              <p:cNvGrpSpPr>
                <a:grpSpLocks/>
              </p:cNvGrpSpPr>
              <p:nvPr/>
            </p:nvGrpSpPr>
            <p:grpSpPr bwMode="auto">
              <a:xfrm>
                <a:off x="0" y="1245"/>
                <a:ext cx="791" cy="403"/>
                <a:chOff x="0" y="1245"/>
                <a:chExt cx="791" cy="403"/>
              </a:xfrm>
            </p:grpSpPr>
            <p:sp>
              <p:nvSpPr>
                <p:cNvPr id="5137" name="Rectangle 17"/>
                <p:cNvSpPr>
                  <a:spLocks noChangeArrowheads="1"/>
                </p:cNvSpPr>
                <p:nvPr/>
              </p:nvSpPr>
              <p:spPr bwMode="auto">
                <a:xfrm>
                  <a:off x="6" y="1251"/>
                  <a:ext cx="779" cy="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sz="2200">
                      <a:ln w="0"/>
                      <a:effectLst>
                        <a:outerShdw blurRad="38100" dist="19050" dir="2700000" algn="tl" rotWithShape="0">
                          <a:schemeClr val="dk1">
                            <a:alpha val="40000"/>
                          </a:schemeClr>
                        </a:outerShdw>
                      </a:effectLst>
                      <a:cs typeface="Times New Roman" panose="02020603050405020304" pitchFamily="18" charset="0"/>
                    </a:rPr>
                    <a:t>Kd</a:t>
                  </a:r>
                </a:p>
                <a:p>
                  <a:pPr algn="ctr" eaLnBrk="0" hangingPunct="0"/>
                  <a:endParaRPr lang="en-US" sz="2200">
                    <a:ln w="0"/>
                    <a:effectLst>
                      <a:outerShdw blurRad="38100" dist="19050" dir="2700000" algn="tl" rotWithShape="0">
                        <a:schemeClr val="dk1">
                          <a:alpha val="40000"/>
                        </a:schemeClr>
                      </a:outerShdw>
                    </a:effectLst>
                  </a:endParaRPr>
                </a:p>
              </p:txBody>
            </p:sp>
            <p:sp>
              <p:nvSpPr>
                <p:cNvPr id="5172" name="Rectangle 52"/>
                <p:cNvSpPr>
                  <a:spLocks noChangeArrowheads="1"/>
                </p:cNvSpPr>
                <p:nvPr/>
              </p:nvSpPr>
              <p:spPr bwMode="auto">
                <a:xfrm>
                  <a:off x="0" y="1245"/>
                  <a:ext cx="791"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200">
                    <a:ln w="0"/>
                    <a:effectLst>
                      <a:outerShdw blurRad="38100" dist="19050" dir="2700000" algn="tl" rotWithShape="0">
                        <a:schemeClr val="dk1">
                          <a:alpha val="40000"/>
                        </a:schemeClr>
                      </a:outerShdw>
                    </a:effectLst>
                  </a:endParaRPr>
                </a:p>
              </p:txBody>
            </p:sp>
          </p:grpSp>
          <p:grpSp>
            <p:nvGrpSpPr>
              <p:cNvPr id="5175" name="Group 55"/>
              <p:cNvGrpSpPr>
                <a:grpSpLocks/>
              </p:cNvGrpSpPr>
              <p:nvPr/>
            </p:nvGrpSpPr>
            <p:grpSpPr bwMode="auto">
              <a:xfrm>
                <a:off x="791" y="1245"/>
                <a:ext cx="671" cy="403"/>
                <a:chOff x="791" y="1245"/>
                <a:chExt cx="671" cy="403"/>
              </a:xfrm>
            </p:grpSpPr>
            <p:sp>
              <p:nvSpPr>
                <p:cNvPr id="5138" name="Rectangle 18"/>
                <p:cNvSpPr>
                  <a:spLocks noChangeArrowheads="1"/>
                </p:cNvSpPr>
                <p:nvPr/>
              </p:nvSpPr>
              <p:spPr bwMode="auto">
                <a:xfrm>
                  <a:off x="797" y="1251"/>
                  <a:ext cx="659" cy="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sz="2200">
                      <a:ln w="0"/>
                      <a:effectLst>
                        <a:outerShdw blurRad="38100" dist="19050" dir="2700000" algn="tl" rotWithShape="0">
                          <a:schemeClr val="dk1">
                            <a:alpha val="40000"/>
                          </a:schemeClr>
                        </a:outerShdw>
                      </a:effectLst>
                      <a:cs typeface="Times New Roman" panose="02020603050405020304" pitchFamily="18" charset="0"/>
                    </a:rPr>
                    <a:t>Small Change</a:t>
                  </a:r>
                </a:p>
                <a:p>
                  <a:pPr algn="ctr" eaLnBrk="0" hangingPunct="0"/>
                  <a:endParaRPr lang="en-US" sz="2200">
                    <a:ln w="0"/>
                    <a:effectLst>
                      <a:outerShdw blurRad="38100" dist="19050" dir="2700000" algn="tl" rotWithShape="0">
                        <a:schemeClr val="dk1">
                          <a:alpha val="40000"/>
                        </a:schemeClr>
                      </a:outerShdw>
                    </a:effectLst>
                  </a:endParaRPr>
                </a:p>
              </p:txBody>
            </p:sp>
            <p:sp>
              <p:nvSpPr>
                <p:cNvPr id="5174" name="Rectangle 54"/>
                <p:cNvSpPr>
                  <a:spLocks noChangeArrowheads="1"/>
                </p:cNvSpPr>
                <p:nvPr/>
              </p:nvSpPr>
              <p:spPr bwMode="auto">
                <a:xfrm>
                  <a:off x="791" y="1245"/>
                  <a:ext cx="671"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200">
                    <a:ln w="0"/>
                    <a:effectLst>
                      <a:outerShdw blurRad="38100" dist="19050" dir="2700000" algn="tl" rotWithShape="0">
                        <a:schemeClr val="dk1">
                          <a:alpha val="40000"/>
                        </a:schemeClr>
                      </a:outerShdw>
                    </a:effectLst>
                  </a:endParaRPr>
                </a:p>
              </p:txBody>
            </p:sp>
          </p:grpSp>
          <p:grpSp>
            <p:nvGrpSpPr>
              <p:cNvPr id="5177" name="Group 57"/>
              <p:cNvGrpSpPr>
                <a:grpSpLocks/>
              </p:cNvGrpSpPr>
              <p:nvPr/>
            </p:nvGrpSpPr>
            <p:grpSpPr bwMode="auto">
              <a:xfrm>
                <a:off x="1462" y="1245"/>
                <a:ext cx="747" cy="403"/>
                <a:chOff x="1462" y="1245"/>
                <a:chExt cx="747" cy="403"/>
              </a:xfrm>
            </p:grpSpPr>
            <p:sp>
              <p:nvSpPr>
                <p:cNvPr id="5139" name="Rectangle 19"/>
                <p:cNvSpPr>
                  <a:spLocks noChangeArrowheads="1"/>
                </p:cNvSpPr>
                <p:nvPr/>
              </p:nvSpPr>
              <p:spPr bwMode="auto">
                <a:xfrm>
                  <a:off x="1468" y="1251"/>
                  <a:ext cx="735" cy="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sz="2200">
                      <a:ln w="0"/>
                      <a:effectLst>
                        <a:outerShdw blurRad="38100" dist="19050" dir="2700000" algn="tl" rotWithShape="0">
                          <a:schemeClr val="dk1">
                            <a:alpha val="40000"/>
                          </a:schemeClr>
                        </a:outerShdw>
                      </a:effectLst>
                      <a:cs typeface="Times New Roman" panose="02020603050405020304" pitchFamily="18" charset="0"/>
                    </a:rPr>
                    <a:t>Decrease</a:t>
                  </a:r>
                </a:p>
                <a:p>
                  <a:pPr algn="ctr" eaLnBrk="0" hangingPunct="0"/>
                  <a:endParaRPr lang="en-US" sz="2200">
                    <a:ln w="0"/>
                    <a:effectLst>
                      <a:outerShdw blurRad="38100" dist="19050" dir="2700000" algn="tl" rotWithShape="0">
                        <a:schemeClr val="dk1">
                          <a:alpha val="40000"/>
                        </a:schemeClr>
                      </a:outerShdw>
                    </a:effectLst>
                  </a:endParaRPr>
                </a:p>
              </p:txBody>
            </p:sp>
            <p:sp>
              <p:nvSpPr>
                <p:cNvPr id="5176" name="Rectangle 56"/>
                <p:cNvSpPr>
                  <a:spLocks noChangeArrowheads="1"/>
                </p:cNvSpPr>
                <p:nvPr/>
              </p:nvSpPr>
              <p:spPr bwMode="auto">
                <a:xfrm>
                  <a:off x="1462" y="1245"/>
                  <a:ext cx="747"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200">
                    <a:ln w="0"/>
                    <a:effectLst>
                      <a:outerShdw blurRad="38100" dist="19050" dir="2700000" algn="tl" rotWithShape="0">
                        <a:schemeClr val="dk1">
                          <a:alpha val="40000"/>
                        </a:schemeClr>
                      </a:outerShdw>
                    </a:effectLst>
                  </a:endParaRPr>
                </a:p>
              </p:txBody>
            </p:sp>
          </p:grpSp>
          <p:grpSp>
            <p:nvGrpSpPr>
              <p:cNvPr id="5179" name="Group 59"/>
              <p:cNvGrpSpPr>
                <a:grpSpLocks/>
              </p:cNvGrpSpPr>
              <p:nvPr/>
            </p:nvGrpSpPr>
            <p:grpSpPr bwMode="auto">
              <a:xfrm>
                <a:off x="2209" y="1245"/>
                <a:ext cx="898" cy="403"/>
                <a:chOff x="2209" y="1245"/>
                <a:chExt cx="898" cy="403"/>
              </a:xfrm>
            </p:grpSpPr>
            <p:sp>
              <p:nvSpPr>
                <p:cNvPr id="5140" name="Rectangle 20"/>
                <p:cNvSpPr>
                  <a:spLocks noChangeArrowheads="1"/>
                </p:cNvSpPr>
                <p:nvPr/>
              </p:nvSpPr>
              <p:spPr bwMode="auto">
                <a:xfrm>
                  <a:off x="2215" y="1251"/>
                  <a:ext cx="886" cy="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sz="2200">
                      <a:ln w="0"/>
                      <a:effectLst>
                        <a:outerShdw blurRad="38100" dist="19050" dir="2700000" algn="tl" rotWithShape="0">
                          <a:schemeClr val="dk1">
                            <a:alpha val="40000"/>
                          </a:schemeClr>
                        </a:outerShdw>
                      </a:effectLst>
                      <a:cs typeface="Times New Roman" panose="02020603050405020304" pitchFamily="18" charset="0"/>
                    </a:rPr>
                    <a:t>Decrease</a:t>
                  </a:r>
                </a:p>
                <a:p>
                  <a:pPr algn="ctr" eaLnBrk="0" hangingPunct="0"/>
                  <a:endParaRPr lang="en-US" sz="2200">
                    <a:ln w="0"/>
                    <a:effectLst>
                      <a:outerShdw blurRad="38100" dist="19050" dir="2700000" algn="tl" rotWithShape="0">
                        <a:schemeClr val="dk1">
                          <a:alpha val="40000"/>
                        </a:schemeClr>
                      </a:outerShdw>
                    </a:effectLst>
                  </a:endParaRPr>
                </a:p>
              </p:txBody>
            </p:sp>
            <p:sp>
              <p:nvSpPr>
                <p:cNvPr id="5178" name="Rectangle 58"/>
                <p:cNvSpPr>
                  <a:spLocks noChangeArrowheads="1"/>
                </p:cNvSpPr>
                <p:nvPr/>
              </p:nvSpPr>
              <p:spPr bwMode="auto">
                <a:xfrm>
                  <a:off x="2209" y="1245"/>
                  <a:ext cx="898"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200">
                    <a:ln w="0"/>
                    <a:effectLst>
                      <a:outerShdw blurRad="38100" dist="19050" dir="2700000" algn="tl" rotWithShape="0">
                        <a:schemeClr val="dk1">
                          <a:alpha val="40000"/>
                        </a:schemeClr>
                      </a:outerShdw>
                    </a:effectLst>
                  </a:endParaRPr>
                </a:p>
              </p:txBody>
            </p:sp>
          </p:grpSp>
          <p:grpSp>
            <p:nvGrpSpPr>
              <p:cNvPr id="5181" name="Group 61"/>
              <p:cNvGrpSpPr>
                <a:grpSpLocks/>
              </p:cNvGrpSpPr>
              <p:nvPr/>
            </p:nvGrpSpPr>
            <p:grpSpPr bwMode="auto">
              <a:xfrm>
                <a:off x="3107" y="1245"/>
                <a:ext cx="671" cy="403"/>
                <a:chOff x="3107" y="1245"/>
                <a:chExt cx="671" cy="403"/>
              </a:xfrm>
            </p:grpSpPr>
            <p:sp>
              <p:nvSpPr>
                <p:cNvPr id="5141" name="Rectangle 21"/>
                <p:cNvSpPr>
                  <a:spLocks noChangeArrowheads="1"/>
                </p:cNvSpPr>
                <p:nvPr/>
              </p:nvSpPr>
              <p:spPr bwMode="auto">
                <a:xfrm>
                  <a:off x="3113" y="1251"/>
                  <a:ext cx="659" cy="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sz="2200">
                      <a:ln w="0"/>
                      <a:effectLst>
                        <a:outerShdw blurRad="38100" dist="19050" dir="2700000" algn="tl" rotWithShape="0">
                          <a:schemeClr val="dk1">
                            <a:alpha val="40000"/>
                          </a:schemeClr>
                        </a:outerShdw>
                      </a:effectLst>
                      <a:cs typeface="Times New Roman" panose="02020603050405020304" pitchFamily="18" charset="0"/>
                    </a:rPr>
                    <a:t>Small Change</a:t>
                  </a:r>
                </a:p>
                <a:p>
                  <a:pPr eaLnBrk="0" hangingPunct="0"/>
                  <a:endParaRPr lang="en-US" sz="2200">
                    <a:ln w="0"/>
                    <a:effectLst>
                      <a:outerShdw blurRad="38100" dist="19050" dir="2700000" algn="tl" rotWithShape="0">
                        <a:schemeClr val="dk1">
                          <a:alpha val="40000"/>
                        </a:schemeClr>
                      </a:outerShdw>
                    </a:effectLst>
                  </a:endParaRPr>
                </a:p>
              </p:txBody>
            </p:sp>
            <p:sp>
              <p:nvSpPr>
                <p:cNvPr id="5180" name="Rectangle 60"/>
                <p:cNvSpPr>
                  <a:spLocks noChangeArrowheads="1"/>
                </p:cNvSpPr>
                <p:nvPr/>
              </p:nvSpPr>
              <p:spPr bwMode="auto">
                <a:xfrm>
                  <a:off x="3107" y="1245"/>
                  <a:ext cx="671"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200">
                    <a:ln w="0"/>
                    <a:effectLst>
                      <a:outerShdw blurRad="38100" dist="19050" dir="2700000" algn="tl" rotWithShape="0">
                        <a:schemeClr val="dk1">
                          <a:alpha val="40000"/>
                        </a:schemeClr>
                      </a:outerShdw>
                    </a:effectLst>
                  </a:endParaRPr>
                </a:p>
              </p:txBody>
            </p:sp>
          </p:grpSp>
        </p:grpSp>
        <p:sp>
          <p:nvSpPr>
            <p:cNvPr id="5183" name="Rectangle 63"/>
            <p:cNvSpPr>
              <a:spLocks noChangeArrowheads="1"/>
            </p:cNvSpPr>
            <p:nvPr/>
          </p:nvSpPr>
          <p:spPr bwMode="auto">
            <a:xfrm>
              <a:off x="-3" y="-3"/>
              <a:ext cx="3784" cy="1654"/>
            </a:xfrm>
            <a:prstGeom prst="rect">
              <a:avLst/>
            </a:prstGeom>
            <a:noFill/>
            <a:ln w="9525">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200">
                <a:ln w="0"/>
                <a:effectLst>
                  <a:outerShdw blurRad="38100" dist="19050" dir="2700000" algn="tl" rotWithShape="0">
                    <a:schemeClr val="dk1">
                      <a:alpha val="40000"/>
                    </a:schemeClr>
                  </a:outerShdw>
                </a:effectLst>
              </a:endParaRPr>
            </a:p>
          </p:txBody>
        </p:sp>
      </p:grpSp>
      <p:sp>
        <p:nvSpPr>
          <p:cNvPr id="5185" name="Line 65"/>
          <p:cNvSpPr>
            <a:spLocks noChangeShapeType="1"/>
          </p:cNvSpPr>
          <p:nvPr/>
        </p:nvSpPr>
        <p:spPr bwMode="auto">
          <a:xfrm flipH="1" flipV="1">
            <a:off x="1600200" y="2743200"/>
            <a:ext cx="0" cy="762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 name="Title 1"/>
          <p:cNvSpPr>
            <a:spLocks noGrp="1"/>
          </p:cNvSpPr>
          <p:nvPr>
            <p:ph type="title"/>
          </p:nvPr>
        </p:nvSpPr>
        <p:spPr>
          <a:xfrm>
            <a:off x="152400" y="274638"/>
            <a:ext cx="8763000" cy="1143000"/>
          </a:xfrm>
        </p:spPr>
        <p:txBody>
          <a:bodyPr>
            <a:normAutofit fontScale="90000"/>
          </a:bodyPr>
          <a:lstStyle/>
          <a:p>
            <a:r>
              <a:rPr lang="en-US" sz="4000" b="1" dirty="0"/>
              <a:t>The Characteristics of P, I, and D controllers</a:t>
            </a:r>
            <a:br>
              <a:rPr lang="en-US" b="1" dirty="0"/>
            </a:br>
            <a:endParaRPr lang="en-US" dirty="0"/>
          </a:p>
        </p:txBody>
      </p:sp>
      <p:sp>
        <p:nvSpPr>
          <p:cNvPr id="3" name="Slide Number Placeholder 2"/>
          <p:cNvSpPr>
            <a:spLocks noGrp="1"/>
          </p:cNvSpPr>
          <p:nvPr>
            <p:ph type="sldNum" sz="quarter" idx="12"/>
          </p:nvPr>
        </p:nvSpPr>
        <p:spPr/>
        <p:txBody>
          <a:bodyPr/>
          <a:lstStyle/>
          <a:p>
            <a:fld id="{7A0D5CAB-8BF0-4EA3-BAE4-9835C852A49B}" type="slidenum">
              <a:rPr lang="en-GB" smtClean="0"/>
              <a:pPr/>
              <a:t>21</a:t>
            </a:fld>
            <a:endParaRPr lang="en-GB" dirty="0"/>
          </a:p>
        </p:txBody>
      </p:sp>
    </p:spTree>
    <p:extLst>
      <p:ext uri="{BB962C8B-B14F-4D97-AF65-F5344CB8AC3E}">
        <p14:creationId xmlns:p14="http://schemas.microsoft.com/office/powerpoint/2010/main" val="358413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ChangeArrowheads="1"/>
          </p:cNvSpPr>
          <p:nvPr/>
        </p:nvSpPr>
        <p:spPr bwMode="auto">
          <a:xfrm>
            <a:off x="76200" y="76200"/>
            <a:ext cx="8915400"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sz="2400">
                <a:solidFill>
                  <a:schemeClr val="tx1"/>
                </a:solidFill>
                <a:latin typeface="Times New Roman" panose="02020603050405020304" pitchFamily="18" charset="0"/>
              </a:defRPr>
            </a:lvl1pPr>
            <a:lvl2pPr marL="914400" indent="-457200">
              <a:defRPr sz="2400">
                <a:solidFill>
                  <a:schemeClr val="tx1"/>
                </a:solidFill>
                <a:latin typeface="Times New Roman" panose="02020603050405020304" pitchFamily="18" charset="0"/>
              </a:defRPr>
            </a:lvl2pPr>
            <a:lvl3pPr marL="1371600" indent="-457200">
              <a:defRPr sz="2400">
                <a:solidFill>
                  <a:schemeClr val="tx1"/>
                </a:solidFill>
                <a:latin typeface="Times New Roman" panose="02020603050405020304" pitchFamily="18" charset="0"/>
              </a:defRPr>
            </a:lvl3pPr>
            <a:lvl4pPr marL="1828800" indent="-457200">
              <a:defRPr sz="2400">
                <a:solidFill>
                  <a:schemeClr val="tx1"/>
                </a:solidFill>
                <a:latin typeface="Times New Roman" panose="02020603050405020304" pitchFamily="18" charset="0"/>
              </a:defRPr>
            </a:lvl4pPr>
            <a:lvl5pPr marL="2286000" indent="-457200">
              <a:defRPr sz="2400">
                <a:solidFill>
                  <a:schemeClr val="tx1"/>
                </a:solidFill>
                <a:latin typeface="Times New Roman" panose="02020603050405020304" pitchFamily="18" charset="0"/>
              </a:defRPr>
            </a:lvl5pPr>
            <a:lvl6pPr marL="2743200" indent="-457200" fontAlgn="base">
              <a:spcBef>
                <a:spcPct val="0"/>
              </a:spcBef>
              <a:spcAft>
                <a:spcPct val="0"/>
              </a:spcAft>
              <a:defRPr sz="2400">
                <a:solidFill>
                  <a:schemeClr val="tx1"/>
                </a:solidFill>
                <a:latin typeface="Times New Roman" panose="02020603050405020304" pitchFamily="18" charset="0"/>
              </a:defRPr>
            </a:lvl6pPr>
            <a:lvl7pPr marL="3200400" indent="-457200" fontAlgn="base">
              <a:spcBef>
                <a:spcPct val="0"/>
              </a:spcBef>
              <a:spcAft>
                <a:spcPct val="0"/>
              </a:spcAft>
              <a:defRPr sz="2400">
                <a:solidFill>
                  <a:schemeClr val="tx1"/>
                </a:solidFill>
                <a:latin typeface="Times New Roman" panose="02020603050405020304" pitchFamily="18" charset="0"/>
              </a:defRPr>
            </a:lvl7pPr>
            <a:lvl8pPr marL="3657600" indent="-457200" fontAlgn="base">
              <a:spcBef>
                <a:spcPct val="0"/>
              </a:spcBef>
              <a:spcAft>
                <a:spcPct val="0"/>
              </a:spcAft>
              <a:defRPr sz="2400">
                <a:solidFill>
                  <a:schemeClr val="tx1"/>
                </a:solidFill>
                <a:latin typeface="Times New Roman" panose="02020603050405020304" pitchFamily="18" charset="0"/>
              </a:defRPr>
            </a:lvl8pPr>
            <a:lvl9pPr marL="4114800" indent="-457200"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pPr>
            <a:r>
              <a:rPr lang="en-US" sz="3200" b="1" dirty="0"/>
              <a:t>Tips for Designing a PID Controller</a:t>
            </a:r>
          </a:p>
          <a:p>
            <a:pPr>
              <a:spcBef>
                <a:spcPct val="50000"/>
              </a:spcBef>
            </a:pPr>
            <a:endParaRPr lang="en-US" sz="1800" dirty="0"/>
          </a:p>
          <a:p>
            <a:pPr algn="just">
              <a:spcBef>
                <a:spcPct val="50000"/>
              </a:spcBef>
            </a:pPr>
            <a:r>
              <a:rPr lang="en-US" sz="2000" dirty="0"/>
              <a:t>1.	Obtain an open-loop response and determine what needs to be improved </a:t>
            </a:r>
          </a:p>
          <a:p>
            <a:pPr algn="just">
              <a:spcBef>
                <a:spcPct val="50000"/>
              </a:spcBef>
            </a:pPr>
            <a:r>
              <a:rPr lang="en-US" sz="2000" dirty="0"/>
              <a:t>2.	Add a proportional control to improve the rise time </a:t>
            </a:r>
          </a:p>
          <a:p>
            <a:pPr algn="just">
              <a:spcBef>
                <a:spcPct val="50000"/>
              </a:spcBef>
            </a:pPr>
            <a:r>
              <a:rPr lang="en-US" sz="2000" dirty="0"/>
              <a:t>3.	Add a derivative control to improve the overshoot </a:t>
            </a:r>
          </a:p>
          <a:p>
            <a:pPr algn="just">
              <a:spcBef>
                <a:spcPct val="50000"/>
              </a:spcBef>
            </a:pPr>
            <a:r>
              <a:rPr lang="en-US" sz="2000" dirty="0"/>
              <a:t>4.	Add an integral control to eliminate the steady-state error </a:t>
            </a:r>
          </a:p>
          <a:p>
            <a:pPr algn="just">
              <a:spcBef>
                <a:spcPct val="50000"/>
              </a:spcBef>
              <a:buFontTx/>
              <a:buAutoNum type="arabicPeriod" startAt="5"/>
            </a:pPr>
            <a:r>
              <a:rPr lang="en-US" sz="2000" dirty="0"/>
              <a:t>Adjust each of </a:t>
            </a:r>
            <a:r>
              <a:rPr lang="en-US" sz="2000" i="1" dirty="0" err="1">
                <a:solidFill>
                  <a:srgbClr val="FF0000"/>
                </a:solidFill>
              </a:rPr>
              <a:t>K</a:t>
            </a:r>
            <a:r>
              <a:rPr lang="en-US" sz="2000" i="1" baseline="-25000" dirty="0" err="1">
                <a:solidFill>
                  <a:srgbClr val="FF0000"/>
                </a:solidFill>
              </a:rPr>
              <a:t>p</a:t>
            </a:r>
            <a:r>
              <a:rPr lang="en-US" sz="2000" dirty="0"/>
              <a:t>, </a:t>
            </a:r>
            <a:r>
              <a:rPr lang="en-US" sz="2000" i="1" dirty="0">
                <a:solidFill>
                  <a:srgbClr val="FF0000"/>
                </a:solidFill>
              </a:rPr>
              <a:t>K</a:t>
            </a:r>
            <a:r>
              <a:rPr lang="en-US" sz="2000" i="1" baseline="-25000" dirty="0">
                <a:solidFill>
                  <a:srgbClr val="FF0000"/>
                </a:solidFill>
              </a:rPr>
              <a:t>i</a:t>
            </a:r>
            <a:r>
              <a:rPr lang="en-US" sz="2000" dirty="0"/>
              <a:t>, and </a:t>
            </a:r>
            <a:r>
              <a:rPr lang="en-US" sz="2000" i="1" dirty="0" err="1">
                <a:solidFill>
                  <a:srgbClr val="FF0000"/>
                </a:solidFill>
              </a:rPr>
              <a:t>K</a:t>
            </a:r>
            <a:r>
              <a:rPr lang="en-US" sz="2000" i="1" baseline="-25000" dirty="0" err="1">
                <a:solidFill>
                  <a:srgbClr val="FF0000"/>
                </a:solidFill>
              </a:rPr>
              <a:t>d</a:t>
            </a:r>
            <a:r>
              <a:rPr lang="en-US" sz="2000" dirty="0"/>
              <a:t> until you obtain a desired overall response.  </a:t>
            </a:r>
          </a:p>
          <a:p>
            <a:pPr algn="just">
              <a:spcBef>
                <a:spcPct val="50000"/>
              </a:spcBef>
            </a:pPr>
            <a:endParaRPr lang="en-US" sz="2000" dirty="0"/>
          </a:p>
          <a:p>
            <a:pPr marL="285750" indent="-285750" algn="just">
              <a:spcBef>
                <a:spcPct val="50000"/>
              </a:spcBef>
              <a:buFont typeface="Arial" panose="020B0604020202020204" pitchFamily="34" charset="0"/>
              <a:buChar char="•"/>
            </a:pPr>
            <a:r>
              <a:rPr lang="en-US" sz="2200" dirty="0"/>
              <a:t>Lastly, please keep in mind that you do not need to implement all three controllers (proportional, derivative, and integral) into a single system, if not necessary. For example, if a PI controller gives a good enough response (like the above example), then you don't need to implement derivative controller to the system. Keep the controller as simple as possible. </a:t>
            </a:r>
          </a:p>
        </p:txBody>
      </p:sp>
      <p:sp>
        <p:nvSpPr>
          <p:cNvPr id="2" name="Slide Number Placeholder 1"/>
          <p:cNvSpPr>
            <a:spLocks noGrp="1"/>
          </p:cNvSpPr>
          <p:nvPr>
            <p:ph type="sldNum" sz="quarter" idx="12"/>
          </p:nvPr>
        </p:nvSpPr>
        <p:spPr/>
        <p:txBody>
          <a:bodyPr/>
          <a:lstStyle/>
          <a:p>
            <a:fld id="{7A0D5CAB-8BF0-4EA3-BAE4-9835C852A49B}" type="slidenum">
              <a:rPr lang="en-GB" smtClean="0"/>
              <a:pPr/>
              <a:t>22</a:t>
            </a:fld>
            <a:endParaRPr lang="en-GB" dirty="0"/>
          </a:p>
        </p:txBody>
      </p:sp>
    </p:spTree>
    <p:extLst>
      <p:ext uri="{BB962C8B-B14F-4D97-AF65-F5344CB8AC3E}">
        <p14:creationId xmlns:p14="http://schemas.microsoft.com/office/powerpoint/2010/main" val="1741918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42">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42">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42">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242">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24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PID Tuning Rules</a:t>
            </a:r>
          </a:p>
        </p:txBody>
      </p:sp>
      <p:sp>
        <p:nvSpPr>
          <p:cNvPr id="3" name="Text Placeholder 2"/>
          <p:cNvSpPr>
            <a:spLocks noGrp="1"/>
          </p:cNvSpPr>
          <p:nvPr>
            <p:ph type="body" idx="1"/>
          </p:nvPr>
        </p:nvSpPr>
        <p:spPr/>
        <p:txBody>
          <a:bodyPr/>
          <a:lstStyle/>
          <a:p>
            <a:r>
              <a:rPr lang="en-US" dirty="0"/>
              <a:t>Part-II</a:t>
            </a:r>
          </a:p>
        </p:txBody>
      </p:sp>
      <p:sp>
        <p:nvSpPr>
          <p:cNvPr id="4" name="Slide Number Placeholder 3"/>
          <p:cNvSpPr>
            <a:spLocks noGrp="1"/>
          </p:cNvSpPr>
          <p:nvPr>
            <p:ph type="sldNum" sz="quarter" idx="12"/>
          </p:nvPr>
        </p:nvSpPr>
        <p:spPr/>
        <p:txBody>
          <a:bodyPr/>
          <a:lstStyle/>
          <a:p>
            <a:fld id="{7A0D5CAB-8BF0-4EA3-BAE4-9835C852A49B}" type="slidenum">
              <a:rPr lang="en-GB" smtClean="0"/>
              <a:pPr/>
              <a:t>23</a:t>
            </a:fld>
            <a:endParaRPr lang="en-GB" dirty="0"/>
          </a:p>
        </p:txBody>
      </p:sp>
    </p:spTree>
    <p:extLst>
      <p:ext uri="{BB962C8B-B14F-4D97-AF65-F5344CB8AC3E}">
        <p14:creationId xmlns:p14="http://schemas.microsoft.com/office/powerpoint/2010/main" val="21492696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2412"/>
            <a:ext cx="8229600" cy="808338"/>
          </a:xfrm>
        </p:spPr>
        <p:txBody>
          <a:bodyPr/>
          <a:lstStyle/>
          <a:p>
            <a:r>
              <a:rPr lang="en-US" dirty="0"/>
              <a:t>PID Tuning</a:t>
            </a:r>
          </a:p>
        </p:txBody>
      </p:sp>
      <p:sp>
        <p:nvSpPr>
          <p:cNvPr id="5" name="Content Placeholder 4"/>
          <p:cNvSpPr>
            <a:spLocks noGrp="1"/>
          </p:cNvSpPr>
          <p:nvPr>
            <p:ph idx="1"/>
          </p:nvPr>
        </p:nvSpPr>
        <p:spPr>
          <a:xfrm>
            <a:off x="17930" y="736322"/>
            <a:ext cx="8839200" cy="4525963"/>
          </a:xfrm>
        </p:spPr>
        <p:txBody>
          <a:bodyPr>
            <a:normAutofit/>
          </a:bodyPr>
          <a:lstStyle/>
          <a:p>
            <a:r>
              <a:rPr lang="en-US" sz="2800" dirty="0"/>
              <a:t>The transfer function of PID controller is given as</a:t>
            </a:r>
          </a:p>
          <a:p>
            <a:endParaRPr lang="en-US" sz="2800" dirty="0"/>
          </a:p>
          <a:p>
            <a:endParaRPr lang="en-US" sz="1800" dirty="0"/>
          </a:p>
          <a:p>
            <a:r>
              <a:rPr lang="en-US" sz="2800" dirty="0"/>
              <a:t>It can be simplified as</a:t>
            </a:r>
          </a:p>
          <a:p>
            <a:endParaRPr lang="en-US" sz="2800" dirty="0"/>
          </a:p>
          <a:p>
            <a:endParaRPr lang="en-US" sz="1400" dirty="0"/>
          </a:p>
          <a:p>
            <a:r>
              <a:rPr lang="en-US" sz="2800" dirty="0"/>
              <a:t>Where </a:t>
            </a:r>
          </a:p>
        </p:txBody>
      </p:sp>
      <mc:AlternateContent xmlns:mc="http://schemas.openxmlformats.org/markup-compatibility/2006" xmlns:a14="http://schemas.microsoft.com/office/drawing/2010/main">
        <mc:Choice Requires="a14">
          <p:sp>
            <p:nvSpPr>
              <p:cNvPr id="6" name="TextBox 5"/>
              <p:cNvSpPr txBox="1"/>
              <p:nvPr/>
            </p:nvSpPr>
            <p:spPr>
              <a:xfrm>
                <a:off x="2604247" y="1232015"/>
                <a:ext cx="4033091" cy="89710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𝐶</m:t>
                              </m:r>
                              <m:r>
                                <a:rPr lang="en-US" sz="2800" i="1" baseline="-25000">
                                  <a:latin typeface="Cambria Math" panose="02040503050406030204" pitchFamily="18" charset="0"/>
                                </a:rPr>
                                <m:t>𝑝</m:t>
                              </m:r>
                              <m:r>
                                <a:rPr lang="en-US" sz="2800" b="0" i="1" baseline="-25000" smtClean="0">
                                  <a:latin typeface="Cambria Math" panose="02040503050406030204" pitchFamily="18" charset="0"/>
                                </a:rPr>
                                <m:t>𝑖𝑑</m:t>
                              </m:r>
                              <m:r>
                                <a:rPr lang="en-US" sz="2800" i="1">
                                  <a:latin typeface="Cambria Math" panose="02040503050406030204" pitchFamily="18" charset="0"/>
                                </a:rPr>
                                <m:t>(</m:t>
                              </m:r>
                              <m:r>
                                <a:rPr lang="en-US" sz="2800" b="0" i="1" smtClean="0">
                                  <a:latin typeface="Cambria Math" panose="02040503050406030204" pitchFamily="18" charset="0"/>
                                </a:rPr>
                                <m:t>𝑠</m:t>
                              </m:r>
                              <m:r>
                                <a:rPr lang="en-US" sz="2800" i="1">
                                  <a:latin typeface="Cambria Math" panose="02040503050406030204" pitchFamily="18" charset="0"/>
                                </a:rPr>
                                <m:t>)</m:t>
                              </m:r>
                            </m:num>
                            <m:den>
                              <m:r>
                                <a:rPr lang="en-US" sz="2800" b="0" i="1" smtClean="0">
                                  <a:latin typeface="Cambria Math" panose="02040503050406030204" pitchFamily="18" charset="0"/>
                                </a:rPr>
                                <m:t>𝐸</m:t>
                              </m:r>
                              <m:r>
                                <a:rPr lang="en-US" sz="2800" b="0" i="1" smtClean="0">
                                  <a:latin typeface="Cambria Math" panose="02040503050406030204" pitchFamily="18" charset="0"/>
                                </a:rPr>
                                <m:t>(</m:t>
                              </m:r>
                              <m:r>
                                <a:rPr lang="en-US" sz="2800" b="0" i="1" smtClean="0">
                                  <a:latin typeface="Cambria Math" panose="02040503050406030204" pitchFamily="18" charset="0"/>
                                </a:rPr>
                                <m:t>𝑠</m:t>
                              </m:r>
                              <m:r>
                                <a:rPr lang="en-US" sz="2800" b="0" i="1" smtClean="0">
                                  <a:latin typeface="Cambria Math" panose="02040503050406030204" pitchFamily="18" charset="0"/>
                                </a:rPr>
                                <m:t>)</m:t>
                              </m:r>
                            </m:den>
                          </m:f>
                          <m:r>
                            <a:rPr lang="en-US" sz="2800" b="0" i="1" smtClean="0">
                              <a:latin typeface="Cambria Math" panose="02040503050406030204" pitchFamily="18" charset="0"/>
                            </a:rPr>
                            <m:t>=</m:t>
                          </m:r>
                          <m:r>
                            <a:rPr lang="en-US" sz="2800" b="0" i="1" smtClean="0">
                              <a:latin typeface="Cambria Math" panose="02040503050406030204" pitchFamily="18" charset="0"/>
                            </a:rPr>
                            <m:t>𝐾</m:t>
                          </m:r>
                        </m:e>
                        <m:sub>
                          <m:r>
                            <a:rPr lang="en-US" sz="2800" b="0" i="1" smtClean="0">
                              <a:latin typeface="Cambria Math" panose="02040503050406030204" pitchFamily="18" charset="0"/>
                            </a:rPr>
                            <m:t>𝑝</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𝐾</m:t>
                          </m:r>
                        </m:e>
                        <m:sub>
                          <m:r>
                            <a:rPr lang="en-US" sz="2800" b="0" i="1" smtClean="0">
                              <a:latin typeface="Cambria Math" panose="02040503050406030204" pitchFamily="18" charset="0"/>
                            </a:rPr>
                            <m:t>𝑖</m:t>
                          </m:r>
                        </m:sub>
                      </m:sSub>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1</m:t>
                          </m:r>
                        </m:num>
                        <m:den>
                          <m:r>
                            <a:rPr lang="en-US" sz="2800" b="0" i="1" smtClean="0">
                              <a:latin typeface="Cambria Math" panose="02040503050406030204" pitchFamily="18" charset="0"/>
                            </a:rPr>
                            <m:t>𝑠</m:t>
                          </m:r>
                        </m:den>
                      </m:f>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m:t>
                          </m:r>
                          <m:r>
                            <a:rPr lang="en-US" sz="2800" b="0" i="1" smtClean="0">
                              <a:latin typeface="Cambria Math" panose="02040503050406030204" pitchFamily="18" charset="0"/>
                            </a:rPr>
                            <m:t>𝐾</m:t>
                          </m:r>
                        </m:e>
                        <m:sub>
                          <m:r>
                            <a:rPr lang="en-US" sz="2800" b="0" i="1" smtClean="0">
                              <a:latin typeface="Cambria Math" panose="02040503050406030204" pitchFamily="18" charset="0"/>
                            </a:rPr>
                            <m:t>𝑑</m:t>
                          </m:r>
                        </m:sub>
                      </m:sSub>
                      <m:r>
                        <a:rPr lang="en-US" sz="2800" b="0" i="1" smtClean="0">
                          <a:latin typeface="Cambria Math" panose="02040503050406030204" pitchFamily="18" charset="0"/>
                        </a:rPr>
                        <m:t>𝑠</m:t>
                      </m:r>
                    </m:oMath>
                  </m:oMathPara>
                </a14:m>
                <a:endParaRPr lang="en-US" sz="2800" dirty="0"/>
              </a:p>
            </p:txBody>
          </p:sp>
        </mc:Choice>
        <mc:Fallback xmlns="">
          <p:sp>
            <p:nvSpPr>
              <p:cNvPr id="6" name="TextBox 5"/>
              <p:cNvSpPr txBox="1">
                <a:spLocks noRot="1" noChangeAspect="1" noMove="1" noResize="1" noEditPoints="1" noAdjustHandles="1" noChangeArrowheads="1" noChangeShapeType="1" noTextEdit="1"/>
              </p:cNvSpPr>
              <p:nvPr/>
            </p:nvSpPr>
            <p:spPr>
              <a:xfrm>
                <a:off x="2604247" y="1232015"/>
                <a:ext cx="4033091" cy="897105"/>
              </a:xfrm>
              <a:prstGeom prst="rect">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2411104" y="2610136"/>
                <a:ext cx="4250907" cy="88222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𝐶</m:t>
                              </m:r>
                              <m:r>
                                <a:rPr lang="en-US" sz="2800" i="1" baseline="-25000">
                                  <a:latin typeface="Cambria Math" panose="02040503050406030204" pitchFamily="18" charset="0"/>
                                </a:rPr>
                                <m:t>𝑝</m:t>
                              </m:r>
                              <m:r>
                                <a:rPr lang="en-US" sz="2800" b="0" i="1" baseline="-25000" smtClean="0">
                                  <a:latin typeface="Cambria Math" panose="02040503050406030204" pitchFamily="18" charset="0"/>
                                </a:rPr>
                                <m:t>𝑖𝑑</m:t>
                              </m:r>
                              <m:d>
                                <m:dPr>
                                  <m:ctrlPr>
                                    <a:rPr lang="en-US" sz="2800" b="0" i="1" baseline="-25000">
                                      <a:latin typeface="Cambria Math" panose="02040503050406030204" pitchFamily="18" charset="0"/>
                                    </a:rPr>
                                  </m:ctrlPr>
                                </m:dPr>
                                <m:e>
                                  <m:r>
                                    <a:rPr lang="en-US" sz="2800" b="0" i="1" smtClean="0">
                                      <a:latin typeface="Cambria Math" panose="02040503050406030204" pitchFamily="18" charset="0"/>
                                    </a:rPr>
                                    <m:t>𝑠</m:t>
                                  </m:r>
                                </m:e>
                              </m:d>
                            </m:num>
                            <m:den>
                              <m:r>
                                <a:rPr lang="en-US" sz="2800" b="0" i="1" smtClean="0">
                                  <a:latin typeface="Cambria Math" panose="02040503050406030204" pitchFamily="18" charset="0"/>
                                </a:rPr>
                                <m:t>𝐸</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𝑠</m:t>
                                  </m:r>
                                </m:e>
                              </m:d>
                            </m:den>
                          </m:f>
                          <m:r>
                            <a:rPr lang="en-US" sz="2800" b="0" i="1" smtClean="0">
                              <a:latin typeface="Cambria Math" panose="02040503050406030204" pitchFamily="18" charset="0"/>
                            </a:rPr>
                            <m:t>=</m:t>
                          </m:r>
                          <m:r>
                            <a:rPr lang="en-US" sz="2800" b="0" i="1" smtClean="0">
                              <a:latin typeface="Cambria Math" panose="02040503050406030204" pitchFamily="18" charset="0"/>
                            </a:rPr>
                            <m:t>𝐾</m:t>
                          </m:r>
                        </m:e>
                        <m:sub>
                          <m:r>
                            <a:rPr lang="en-US" sz="2800" b="0" i="1" smtClean="0">
                              <a:latin typeface="Cambria Math" panose="02040503050406030204" pitchFamily="18" charset="0"/>
                            </a:rPr>
                            <m:t>𝑝</m:t>
                          </m:r>
                        </m:sub>
                      </m:sSub>
                      <m:r>
                        <a:rPr lang="en-US" sz="2800" b="0" i="1" smtClean="0">
                          <a:latin typeface="Cambria Math" panose="02040503050406030204" pitchFamily="18" charset="0"/>
                        </a:rPr>
                        <m:t>(1+</m:t>
                      </m:r>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1</m:t>
                          </m:r>
                        </m:num>
                        <m:den>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𝑇</m:t>
                              </m:r>
                            </m:e>
                            <m:sub>
                              <m:r>
                                <a:rPr lang="en-US" sz="2800" b="0" i="1" smtClean="0">
                                  <a:latin typeface="Cambria Math" panose="02040503050406030204" pitchFamily="18" charset="0"/>
                                </a:rPr>
                                <m:t>𝑖</m:t>
                              </m:r>
                            </m:sub>
                          </m:sSub>
                          <m:r>
                            <a:rPr lang="en-US" sz="2800" b="0" i="1" smtClean="0">
                              <a:latin typeface="Cambria Math" panose="02040503050406030204" pitchFamily="18" charset="0"/>
                            </a:rPr>
                            <m:t>𝑠</m:t>
                          </m:r>
                        </m:den>
                      </m:f>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m:t>
                          </m:r>
                          <m:r>
                            <a:rPr lang="en-US" sz="2800" b="0" i="1" smtClean="0">
                              <a:latin typeface="Cambria Math" panose="02040503050406030204" pitchFamily="18" charset="0"/>
                            </a:rPr>
                            <m:t>𝑇</m:t>
                          </m:r>
                        </m:e>
                        <m:sub>
                          <m:r>
                            <a:rPr lang="en-US" sz="2800" b="0" i="1" smtClean="0">
                              <a:latin typeface="Cambria Math" panose="02040503050406030204" pitchFamily="18" charset="0"/>
                            </a:rPr>
                            <m:t>𝑑</m:t>
                          </m:r>
                        </m:sub>
                      </m:sSub>
                      <m:r>
                        <a:rPr lang="en-US" sz="2800" b="0" i="1" smtClean="0">
                          <a:latin typeface="Cambria Math" panose="02040503050406030204" pitchFamily="18" charset="0"/>
                        </a:rPr>
                        <m:t>𝑠</m:t>
                      </m:r>
                      <m:r>
                        <a:rPr lang="en-US" sz="2800" b="0" i="1" smtClean="0">
                          <a:latin typeface="Cambria Math" panose="02040503050406030204" pitchFamily="18" charset="0"/>
                        </a:rPr>
                        <m:t>)</m:t>
                      </m:r>
                    </m:oMath>
                  </m:oMathPara>
                </a14:m>
                <a:endParaRPr lang="en-US" sz="2800" dirty="0"/>
              </a:p>
            </p:txBody>
          </p:sp>
        </mc:Choice>
        <mc:Fallback xmlns="">
          <p:sp>
            <p:nvSpPr>
              <p:cNvPr id="7" name="TextBox 6"/>
              <p:cNvSpPr txBox="1">
                <a:spLocks noRot="1" noChangeAspect="1" noMove="1" noResize="1" noEditPoints="1" noAdjustHandles="1" noChangeArrowheads="1" noChangeShapeType="1" noTextEdit="1"/>
              </p:cNvSpPr>
              <p:nvPr/>
            </p:nvSpPr>
            <p:spPr>
              <a:xfrm>
                <a:off x="2411104" y="2610136"/>
                <a:ext cx="4250907" cy="882229"/>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2133600" y="3653496"/>
                <a:ext cx="1243289" cy="89043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𝑇</m:t>
                          </m:r>
                        </m:e>
                        <m:sub>
                          <m:r>
                            <a:rPr lang="en-US" sz="2800" b="0" i="1" smtClean="0">
                              <a:latin typeface="Cambria Math" panose="02040503050406030204" pitchFamily="18" charset="0"/>
                            </a:rPr>
                            <m:t>𝑖</m:t>
                          </m:r>
                        </m:sub>
                      </m:sSub>
                      <m:r>
                        <a:rPr lang="en-US" sz="2800" b="0" i="1" smtClean="0">
                          <a:latin typeface="Cambria Math" panose="02040503050406030204" pitchFamily="18" charset="0"/>
                        </a:rPr>
                        <m:t>=</m:t>
                      </m:r>
                      <m:f>
                        <m:fPr>
                          <m:ctrlPr>
                            <a:rPr lang="en-US" sz="2800" i="1">
                              <a:latin typeface="Cambria Math" panose="02040503050406030204" pitchFamily="18" charset="0"/>
                            </a:rPr>
                          </m:ctrlPr>
                        </m:fPr>
                        <m:num>
                          <m:sSub>
                            <m:sSubPr>
                              <m:ctrlPr>
                                <a:rPr lang="en-US" sz="2800" i="1">
                                  <a:latin typeface="Cambria Math" panose="02040503050406030204" pitchFamily="18" charset="0"/>
                                </a:rPr>
                              </m:ctrlPr>
                            </m:sSubPr>
                            <m:e>
                              <m:r>
                                <a:rPr lang="en-US" sz="2800" i="1">
                                  <a:latin typeface="Cambria Math" panose="02040503050406030204" pitchFamily="18" charset="0"/>
                                </a:rPr>
                                <m:t>𝐾</m:t>
                              </m:r>
                            </m:e>
                            <m:sub>
                              <m:r>
                                <a:rPr lang="en-US" sz="2800" i="1">
                                  <a:latin typeface="Cambria Math" panose="02040503050406030204" pitchFamily="18" charset="0"/>
                                </a:rPr>
                                <m:t>𝑝</m:t>
                              </m:r>
                            </m:sub>
                          </m:sSub>
                        </m:num>
                        <m:den>
                          <m:sSub>
                            <m:sSubPr>
                              <m:ctrlPr>
                                <a:rPr lang="en-US" sz="2800" i="1">
                                  <a:latin typeface="Cambria Math" panose="02040503050406030204" pitchFamily="18" charset="0"/>
                                </a:rPr>
                              </m:ctrlPr>
                            </m:sSubPr>
                            <m:e>
                              <m:r>
                                <a:rPr lang="en-US" sz="2800" i="1">
                                  <a:latin typeface="Cambria Math" panose="02040503050406030204" pitchFamily="18" charset="0"/>
                                </a:rPr>
                                <m:t>𝐾</m:t>
                              </m:r>
                            </m:e>
                            <m:sub>
                              <m:r>
                                <a:rPr lang="en-US" sz="2800" i="1">
                                  <a:latin typeface="Cambria Math" panose="02040503050406030204" pitchFamily="18" charset="0"/>
                                </a:rPr>
                                <m:t>𝑖</m:t>
                              </m:r>
                            </m:sub>
                          </m:sSub>
                        </m:den>
                      </m:f>
                    </m:oMath>
                  </m:oMathPara>
                </a14:m>
                <a:endParaRPr lang="en-US" sz="2800" dirty="0"/>
              </a:p>
            </p:txBody>
          </p:sp>
        </mc:Choice>
        <mc:Fallback xmlns="">
          <p:sp>
            <p:nvSpPr>
              <p:cNvPr id="8" name="TextBox 7"/>
              <p:cNvSpPr txBox="1">
                <a:spLocks noRot="1" noChangeAspect="1" noMove="1" noResize="1" noEditPoints="1" noAdjustHandles="1" noChangeArrowheads="1" noChangeShapeType="1" noTextEdit="1"/>
              </p:cNvSpPr>
              <p:nvPr/>
            </p:nvSpPr>
            <p:spPr>
              <a:xfrm>
                <a:off x="2133600" y="3653496"/>
                <a:ext cx="1243289" cy="890437"/>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4789145" y="3653496"/>
                <a:ext cx="1327864" cy="92672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𝑇</m:t>
                          </m:r>
                        </m:e>
                        <m:sub>
                          <m:r>
                            <a:rPr lang="en-US" sz="2800" b="0" i="1" smtClean="0">
                              <a:latin typeface="Cambria Math" panose="02040503050406030204" pitchFamily="18" charset="0"/>
                            </a:rPr>
                            <m:t>𝑑</m:t>
                          </m:r>
                        </m:sub>
                      </m:sSub>
                      <m:r>
                        <a:rPr lang="en-US" sz="2800" b="0" i="1" smtClean="0">
                          <a:latin typeface="Cambria Math" panose="02040503050406030204" pitchFamily="18" charset="0"/>
                        </a:rPr>
                        <m:t>=</m:t>
                      </m:r>
                      <m:f>
                        <m:fPr>
                          <m:ctrlPr>
                            <a:rPr lang="en-US" sz="2800" i="1">
                              <a:latin typeface="Cambria Math" panose="02040503050406030204" pitchFamily="18" charset="0"/>
                            </a:rPr>
                          </m:ctrlPr>
                        </m:fPr>
                        <m:num>
                          <m:sSub>
                            <m:sSubPr>
                              <m:ctrlPr>
                                <a:rPr lang="en-US" sz="2800" i="1">
                                  <a:latin typeface="Cambria Math" panose="02040503050406030204" pitchFamily="18" charset="0"/>
                                </a:rPr>
                              </m:ctrlPr>
                            </m:sSubPr>
                            <m:e>
                              <m:r>
                                <a:rPr lang="en-US" sz="2800" i="1">
                                  <a:latin typeface="Cambria Math" panose="02040503050406030204" pitchFamily="18" charset="0"/>
                                </a:rPr>
                                <m:t>𝐾</m:t>
                              </m:r>
                            </m:e>
                            <m:sub>
                              <m:r>
                                <a:rPr lang="en-US" sz="2800" b="0" i="1" smtClean="0">
                                  <a:latin typeface="Cambria Math" panose="02040503050406030204" pitchFamily="18" charset="0"/>
                                </a:rPr>
                                <m:t>𝑑</m:t>
                              </m:r>
                            </m:sub>
                          </m:sSub>
                        </m:num>
                        <m:den>
                          <m:sSub>
                            <m:sSubPr>
                              <m:ctrlPr>
                                <a:rPr lang="en-US" sz="2800" i="1">
                                  <a:latin typeface="Cambria Math" panose="02040503050406030204" pitchFamily="18" charset="0"/>
                                </a:rPr>
                              </m:ctrlPr>
                            </m:sSubPr>
                            <m:e>
                              <m:r>
                                <a:rPr lang="en-US" sz="2800" i="1">
                                  <a:latin typeface="Cambria Math" panose="02040503050406030204" pitchFamily="18" charset="0"/>
                                </a:rPr>
                                <m:t>𝐾</m:t>
                              </m:r>
                            </m:e>
                            <m:sub>
                              <m:r>
                                <a:rPr lang="en-US" sz="2800" b="0" i="1" smtClean="0">
                                  <a:latin typeface="Cambria Math" panose="02040503050406030204" pitchFamily="18" charset="0"/>
                                </a:rPr>
                                <m:t>𝑝</m:t>
                              </m:r>
                            </m:sub>
                          </m:sSub>
                        </m:den>
                      </m:f>
                    </m:oMath>
                  </m:oMathPara>
                </a14:m>
                <a:endParaRPr lang="en-US" sz="2800" dirty="0"/>
              </a:p>
            </p:txBody>
          </p:sp>
        </mc:Choice>
        <mc:Fallback xmlns="">
          <p:sp>
            <p:nvSpPr>
              <p:cNvPr id="9" name="TextBox 8"/>
              <p:cNvSpPr txBox="1">
                <a:spLocks noRot="1" noChangeAspect="1" noMove="1" noResize="1" noEditPoints="1" noAdjustHandles="1" noChangeArrowheads="1" noChangeShapeType="1" noTextEdit="1"/>
              </p:cNvSpPr>
              <p:nvPr/>
            </p:nvSpPr>
            <p:spPr>
              <a:xfrm>
                <a:off x="4789145" y="3653496"/>
                <a:ext cx="1327864" cy="926729"/>
              </a:xfrm>
              <a:prstGeom prst="rect">
                <a:avLst/>
              </a:prstGeom>
              <a:blipFill rotWithShape="0">
                <a:blip r:embed="rId5"/>
                <a:stretch>
                  <a:fillRect/>
                </a:stretch>
              </a:blipFill>
            </p:spPr>
            <p:txBody>
              <a:bodyPr/>
              <a:lstStyle/>
              <a:p>
                <a:r>
                  <a:rPr lang="en-US">
                    <a:noFill/>
                  </a:rPr>
                  <a:t> </a:t>
                </a:r>
              </a:p>
            </p:txBody>
          </p:sp>
        </mc:Fallback>
      </mc:AlternateContent>
      <p:pic>
        <p:nvPicPr>
          <p:cNvPr id="12" name="Picture 11"/>
          <p:cNvPicPr>
            <a:picLocks noChangeAspect="1"/>
          </p:cNvPicPr>
          <p:nvPr/>
        </p:nvPicPr>
        <p:blipFill>
          <a:blip r:embed="rId6"/>
          <a:stretch>
            <a:fillRect/>
          </a:stretch>
        </p:blipFill>
        <p:spPr>
          <a:xfrm>
            <a:off x="381000" y="4954078"/>
            <a:ext cx="8171330" cy="1910670"/>
          </a:xfrm>
          <a:prstGeom prst="rect">
            <a:avLst/>
          </a:prstGeom>
        </p:spPr>
      </p:pic>
      <p:sp>
        <p:nvSpPr>
          <p:cNvPr id="2" name="Slide Number Placeholder 1"/>
          <p:cNvSpPr>
            <a:spLocks noGrp="1"/>
          </p:cNvSpPr>
          <p:nvPr>
            <p:ph type="sldNum" sz="quarter" idx="12"/>
          </p:nvPr>
        </p:nvSpPr>
        <p:spPr/>
        <p:txBody>
          <a:bodyPr/>
          <a:lstStyle/>
          <a:p>
            <a:fld id="{7A0D5CAB-8BF0-4EA3-BAE4-9835C852A49B}" type="slidenum">
              <a:rPr lang="en-GB" smtClean="0"/>
              <a:pPr/>
              <a:t>24</a:t>
            </a:fld>
            <a:endParaRPr lang="en-GB" dirty="0"/>
          </a:p>
        </p:txBody>
      </p:sp>
    </p:spTree>
    <p:extLst>
      <p:ext uri="{BB962C8B-B14F-4D97-AF65-F5344CB8AC3E}">
        <p14:creationId xmlns:p14="http://schemas.microsoft.com/office/powerpoint/2010/main" val="733079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6" end="6"/>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52400"/>
            <a:ext cx="8229600" cy="808338"/>
          </a:xfrm>
        </p:spPr>
        <p:txBody>
          <a:bodyPr/>
          <a:lstStyle/>
          <a:p>
            <a:r>
              <a:rPr lang="en-US" dirty="0"/>
              <a:t>PID Tuning</a:t>
            </a:r>
          </a:p>
        </p:txBody>
      </p:sp>
      <mc:AlternateContent xmlns:mc="http://schemas.openxmlformats.org/markup-compatibility/2006" xmlns:a14="http://schemas.microsoft.com/office/drawing/2010/main">
        <mc:Choice Requires="a14">
          <p:sp>
            <p:nvSpPr>
              <p:cNvPr id="5" name="Content Placeholder 4"/>
              <p:cNvSpPr>
                <a:spLocks noGrp="1"/>
              </p:cNvSpPr>
              <p:nvPr>
                <p:ph idx="1"/>
              </p:nvPr>
            </p:nvSpPr>
            <p:spPr>
              <a:xfrm>
                <a:off x="152400" y="1219200"/>
                <a:ext cx="8839200" cy="5486399"/>
              </a:xfrm>
            </p:spPr>
            <p:txBody>
              <a:bodyPr>
                <a:normAutofit lnSpcReduction="10000"/>
              </a:bodyPr>
              <a:lstStyle/>
              <a:p>
                <a:pPr algn="just"/>
                <a:r>
                  <a:rPr lang="en-US" sz="2800" dirty="0"/>
                  <a:t>The process of selecting the controller parameters (</a:t>
                </a:r>
                <a14:m>
                  <m:oMath xmlns:m="http://schemas.openxmlformats.org/officeDocument/2006/math">
                    <m:sSub>
                      <m:sSubPr>
                        <m:ctrlPr>
                          <a:rPr lang="en-US" sz="2800" i="1" smtClean="0">
                            <a:solidFill>
                              <a:srgbClr val="FF0000"/>
                            </a:solidFill>
                            <a:latin typeface="Cambria Math" panose="02040503050406030204" pitchFamily="18" charset="0"/>
                          </a:rPr>
                        </m:ctrlPr>
                      </m:sSubPr>
                      <m:e>
                        <m:r>
                          <a:rPr lang="en-US" sz="2800" b="0" i="1" smtClean="0">
                            <a:solidFill>
                              <a:srgbClr val="FF0000"/>
                            </a:solidFill>
                            <a:latin typeface="Cambria Math" panose="02040503050406030204" pitchFamily="18" charset="0"/>
                          </a:rPr>
                          <m:t>𝐾</m:t>
                        </m:r>
                      </m:e>
                      <m:sub>
                        <m:r>
                          <a:rPr lang="en-US" sz="2800" b="0" i="1" smtClean="0">
                            <a:solidFill>
                              <a:srgbClr val="FF0000"/>
                            </a:solidFill>
                            <a:latin typeface="Cambria Math" panose="02040503050406030204" pitchFamily="18" charset="0"/>
                          </a:rPr>
                          <m:t>𝑝</m:t>
                        </m:r>
                      </m:sub>
                    </m:sSub>
                    <m:r>
                      <a:rPr lang="en-US" sz="2800" b="0" i="1" smtClean="0">
                        <a:latin typeface="Cambria Math" panose="02040503050406030204" pitchFamily="18" charset="0"/>
                      </a:rPr>
                      <m:t>, </m:t>
                    </m:r>
                    <m:sSub>
                      <m:sSubPr>
                        <m:ctrlPr>
                          <a:rPr lang="en-US" sz="2800" b="0" i="1" smtClean="0">
                            <a:solidFill>
                              <a:srgbClr val="FF0000"/>
                            </a:solidFill>
                            <a:latin typeface="Cambria Math" panose="02040503050406030204" pitchFamily="18" charset="0"/>
                          </a:rPr>
                        </m:ctrlPr>
                      </m:sSubPr>
                      <m:e>
                        <m:r>
                          <a:rPr lang="en-US" sz="2800" b="0" i="1" smtClean="0">
                            <a:solidFill>
                              <a:srgbClr val="FF0000"/>
                            </a:solidFill>
                            <a:latin typeface="Cambria Math" panose="02040503050406030204" pitchFamily="18" charset="0"/>
                          </a:rPr>
                          <m:t>𝑇</m:t>
                        </m:r>
                      </m:e>
                      <m:sub>
                        <m:r>
                          <a:rPr lang="en-US" sz="2800" b="0" i="1" smtClean="0">
                            <a:solidFill>
                              <a:srgbClr val="FF0000"/>
                            </a:solidFill>
                            <a:latin typeface="Cambria Math" panose="02040503050406030204" pitchFamily="18" charset="0"/>
                          </a:rPr>
                          <m:t>𝑖</m:t>
                        </m:r>
                      </m:sub>
                    </m:sSub>
                    <m:r>
                      <a:rPr lang="en-US" sz="2800" b="0" i="1" smtClean="0">
                        <a:latin typeface="Cambria Math" panose="02040503050406030204" pitchFamily="18" charset="0"/>
                      </a:rPr>
                      <m:t> </m:t>
                    </m:r>
                    <m:r>
                      <m:rPr>
                        <m:sty m:val="p"/>
                      </m:rPr>
                      <a:rPr lang="en-US" sz="2800" b="0" i="0" smtClean="0">
                        <a:latin typeface="Cambria Math" panose="02040503050406030204" pitchFamily="18" charset="0"/>
                      </a:rPr>
                      <m:t>and</m:t>
                    </m:r>
                    <m:r>
                      <a:rPr lang="en-US" sz="2800" b="0" i="1" smtClean="0">
                        <a:latin typeface="Cambria Math" panose="02040503050406030204" pitchFamily="18" charset="0"/>
                      </a:rPr>
                      <m:t> </m:t>
                    </m:r>
                    <m:sSub>
                      <m:sSubPr>
                        <m:ctrlPr>
                          <a:rPr lang="en-US" sz="2800" b="0" i="1" smtClean="0">
                            <a:solidFill>
                              <a:srgbClr val="FF0000"/>
                            </a:solidFill>
                            <a:latin typeface="Cambria Math" panose="02040503050406030204" pitchFamily="18" charset="0"/>
                          </a:rPr>
                        </m:ctrlPr>
                      </m:sSubPr>
                      <m:e>
                        <m:r>
                          <a:rPr lang="en-US" sz="2800" b="0" i="1" smtClean="0">
                            <a:solidFill>
                              <a:srgbClr val="FF0000"/>
                            </a:solidFill>
                            <a:latin typeface="Cambria Math" panose="02040503050406030204" pitchFamily="18" charset="0"/>
                          </a:rPr>
                          <m:t>𝑇</m:t>
                        </m:r>
                      </m:e>
                      <m:sub>
                        <m:r>
                          <a:rPr lang="en-US" sz="2800" b="0" i="1" smtClean="0">
                            <a:solidFill>
                              <a:srgbClr val="FF0000"/>
                            </a:solidFill>
                            <a:latin typeface="Cambria Math" panose="02040503050406030204" pitchFamily="18" charset="0"/>
                          </a:rPr>
                          <m:t>𝑑</m:t>
                        </m:r>
                      </m:sub>
                    </m:sSub>
                  </m:oMath>
                </a14:m>
                <a:r>
                  <a:rPr lang="en-US" sz="2800" dirty="0"/>
                  <a:t>) to meet given performance specifications is known as controller tuning.</a:t>
                </a:r>
              </a:p>
              <a:p>
                <a:pPr algn="just"/>
                <a:endParaRPr lang="en-US" sz="2800" dirty="0"/>
              </a:p>
              <a:p>
                <a:pPr algn="just"/>
                <a:r>
                  <a:rPr lang="en-US" sz="2800" dirty="0"/>
                  <a:t>Ziegler and Nichols suggested rules for tuning PID controllers experimentally.</a:t>
                </a:r>
              </a:p>
              <a:p>
                <a:pPr algn="just"/>
                <a:endParaRPr lang="en-US" sz="2800" dirty="0"/>
              </a:p>
              <a:p>
                <a:pPr algn="just"/>
                <a:r>
                  <a:rPr lang="en-US" sz="2800" dirty="0"/>
                  <a:t>Which are useful when mathematical models of plants are not known.</a:t>
                </a:r>
              </a:p>
              <a:p>
                <a:pPr algn="just"/>
                <a:endParaRPr lang="en-US" sz="2800" dirty="0"/>
              </a:p>
              <a:p>
                <a:pPr algn="just"/>
                <a:r>
                  <a:rPr lang="en-US" sz="2800" dirty="0"/>
                  <a:t>These rules can, of course, be applied to the design of systems with known mathematical models.</a:t>
                </a:r>
              </a:p>
            </p:txBody>
          </p:sp>
        </mc:Choice>
        <mc:Fallback xmlns="">
          <p:sp>
            <p:nvSpPr>
              <p:cNvPr id="5" name="Content Placeholder 4"/>
              <p:cNvSpPr>
                <a:spLocks noGrp="1" noRot="1" noChangeAspect="1" noMove="1" noResize="1" noEditPoints="1" noAdjustHandles="1" noChangeArrowheads="1" noChangeShapeType="1" noTextEdit="1"/>
              </p:cNvSpPr>
              <p:nvPr>
                <p:ph idx="1"/>
              </p:nvPr>
            </p:nvSpPr>
            <p:spPr>
              <a:xfrm>
                <a:off x="152400" y="1219200"/>
                <a:ext cx="8839200" cy="5486399"/>
              </a:xfrm>
              <a:blipFill rotWithShape="0">
                <a:blip r:embed="rId2"/>
                <a:stretch>
                  <a:fillRect l="-1241" t="-1778" r="-1379"/>
                </a:stretch>
              </a:blipFill>
            </p:spPr>
            <p:txBody>
              <a:bodyPr/>
              <a:lstStyle/>
              <a:p>
                <a:r>
                  <a:rPr lang="en-US">
                    <a:noFill/>
                  </a:rPr>
                  <a:t> </a:t>
                </a:r>
              </a:p>
            </p:txBody>
          </p:sp>
        </mc:Fallback>
      </mc:AlternateContent>
      <p:sp>
        <p:nvSpPr>
          <p:cNvPr id="2" name="Slide Number Placeholder 1"/>
          <p:cNvSpPr>
            <a:spLocks noGrp="1"/>
          </p:cNvSpPr>
          <p:nvPr>
            <p:ph type="sldNum" sz="quarter" idx="12"/>
          </p:nvPr>
        </p:nvSpPr>
        <p:spPr/>
        <p:txBody>
          <a:bodyPr/>
          <a:lstStyle/>
          <a:p>
            <a:fld id="{7A0D5CAB-8BF0-4EA3-BAE4-9835C852A49B}" type="slidenum">
              <a:rPr lang="en-GB" smtClean="0"/>
              <a:pPr/>
              <a:t>25</a:t>
            </a:fld>
            <a:endParaRPr lang="en-GB" dirty="0"/>
          </a:p>
        </p:txBody>
      </p:sp>
    </p:spTree>
    <p:extLst>
      <p:ext uri="{BB962C8B-B14F-4D97-AF65-F5344CB8AC3E}">
        <p14:creationId xmlns:p14="http://schemas.microsoft.com/office/powerpoint/2010/main" val="1619984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52400"/>
            <a:ext cx="8229600" cy="808338"/>
          </a:xfrm>
        </p:spPr>
        <p:txBody>
          <a:bodyPr/>
          <a:lstStyle/>
          <a:p>
            <a:r>
              <a:rPr lang="en-US" dirty="0"/>
              <a:t>PID Tuning</a:t>
            </a:r>
          </a:p>
        </p:txBody>
      </p:sp>
      <mc:AlternateContent xmlns:mc="http://schemas.openxmlformats.org/markup-compatibility/2006" xmlns:a14="http://schemas.microsoft.com/office/drawing/2010/main">
        <mc:Choice Requires="a14">
          <p:sp>
            <p:nvSpPr>
              <p:cNvPr id="5" name="Content Placeholder 4"/>
              <p:cNvSpPr>
                <a:spLocks noGrp="1"/>
              </p:cNvSpPr>
              <p:nvPr>
                <p:ph idx="1"/>
              </p:nvPr>
            </p:nvSpPr>
            <p:spPr>
              <a:xfrm>
                <a:off x="152400" y="1219200"/>
                <a:ext cx="8839200" cy="5486399"/>
              </a:xfrm>
            </p:spPr>
            <p:txBody>
              <a:bodyPr>
                <a:normAutofit fontScale="92500" lnSpcReduction="10000"/>
              </a:bodyPr>
              <a:lstStyle/>
              <a:p>
                <a:pPr algn="just"/>
                <a:r>
                  <a:rPr lang="en-US" sz="2800" dirty="0"/>
                  <a:t>Such rules suggest a set of values of </a:t>
                </a:r>
                <a14:m>
                  <m:oMath xmlns:m="http://schemas.openxmlformats.org/officeDocument/2006/math">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𝐾</m:t>
                        </m:r>
                      </m:e>
                      <m:sub>
                        <m:r>
                          <a:rPr lang="en-US" sz="2800" i="1">
                            <a:solidFill>
                              <a:srgbClr val="FF0000"/>
                            </a:solidFill>
                            <a:latin typeface="Cambria Math" panose="02040503050406030204" pitchFamily="18" charset="0"/>
                          </a:rPr>
                          <m:t>𝑝</m:t>
                        </m:r>
                      </m:sub>
                    </m:sSub>
                    <m:r>
                      <a:rPr lang="en-US" sz="2800" i="1">
                        <a:latin typeface="Cambria Math" panose="02040503050406030204" pitchFamily="18" charset="0"/>
                      </a:rPr>
                      <m:t>, </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𝑇</m:t>
                        </m:r>
                      </m:e>
                      <m:sub>
                        <m:r>
                          <a:rPr lang="en-US" sz="2800" i="1">
                            <a:solidFill>
                              <a:srgbClr val="FF0000"/>
                            </a:solidFill>
                            <a:latin typeface="Cambria Math" panose="02040503050406030204" pitchFamily="18" charset="0"/>
                          </a:rPr>
                          <m:t>𝑖</m:t>
                        </m:r>
                      </m:sub>
                    </m:sSub>
                    <m:r>
                      <a:rPr lang="en-US" sz="2800" i="1">
                        <a:latin typeface="Cambria Math" panose="02040503050406030204" pitchFamily="18" charset="0"/>
                      </a:rPr>
                      <m:t> </m:t>
                    </m:r>
                    <m:r>
                      <m:rPr>
                        <m:sty m:val="p"/>
                      </m:rPr>
                      <a:rPr lang="en-US" sz="2800">
                        <a:latin typeface="Cambria Math" panose="02040503050406030204" pitchFamily="18" charset="0"/>
                      </a:rPr>
                      <m:t>and</m:t>
                    </m:r>
                    <m:r>
                      <a:rPr lang="en-US" sz="2800" i="1">
                        <a:latin typeface="Cambria Math" panose="02040503050406030204" pitchFamily="18" charset="0"/>
                      </a:rPr>
                      <m:t> </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𝑇</m:t>
                        </m:r>
                      </m:e>
                      <m:sub>
                        <m:r>
                          <a:rPr lang="en-US" sz="2800" i="1">
                            <a:solidFill>
                              <a:srgbClr val="FF0000"/>
                            </a:solidFill>
                            <a:latin typeface="Cambria Math" panose="02040503050406030204" pitchFamily="18" charset="0"/>
                          </a:rPr>
                          <m:t>𝑑</m:t>
                        </m:r>
                      </m:sub>
                    </m:sSub>
                  </m:oMath>
                </a14:m>
                <a:r>
                  <a:rPr lang="en-US" sz="2800" dirty="0"/>
                  <a:t> that will give a stable operation of the system. </a:t>
                </a:r>
              </a:p>
              <a:p>
                <a:pPr algn="just"/>
                <a:endParaRPr lang="en-US" sz="2800" dirty="0"/>
              </a:p>
              <a:p>
                <a:pPr algn="just"/>
                <a:r>
                  <a:rPr lang="en-US" sz="2800" dirty="0"/>
                  <a:t>However, the resulting system may exhibit a large maximum overshoot in the step response, which is unacceptable. </a:t>
                </a:r>
              </a:p>
              <a:p>
                <a:pPr algn="just"/>
                <a:endParaRPr lang="en-US" sz="2800" dirty="0"/>
              </a:p>
              <a:p>
                <a:pPr algn="just"/>
                <a:r>
                  <a:rPr lang="en-US" sz="2800" dirty="0"/>
                  <a:t>In such a case we need series of fine tunings until an acceptable result is obtained. </a:t>
                </a:r>
              </a:p>
              <a:p>
                <a:pPr algn="just"/>
                <a:endParaRPr lang="en-US" sz="2800" dirty="0"/>
              </a:p>
              <a:p>
                <a:pPr algn="just"/>
                <a:r>
                  <a:rPr lang="en-US" sz="2800" dirty="0"/>
                  <a:t>In fact, the Ziegler–Nichols tuning rules give an educated guess for the parameter values and provide a starting point for fine tuning, rather than giving the final settings for </a:t>
                </a:r>
                <a14:m>
                  <m:oMath xmlns:m="http://schemas.openxmlformats.org/officeDocument/2006/math">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𝐾</m:t>
                        </m:r>
                      </m:e>
                      <m:sub>
                        <m:r>
                          <a:rPr lang="en-US" sz="2800" i="1">
                            <a:solidFill>
                              <a:srgbClr val="FF0000"/>
                            </a:solidFill>
                            <a:latin typeface="Cambria Math" panose="02040503050406030204" pitchFamily="18" charset="0"/>
                          </a:rPr>
                          <m:t>𝑝</m:t>
                        </m:r>
                      </m:sub>
                    </m:sSub>
                    <m:r>
                      <a:rPr lang="en-US" sz="2800" i="1">
                        <a:latin typeface="Cambria Math" panose="02040503050406030204" pitchFamily="18" charset="0"/>
                      </a:rPr>
                      <m:t>, </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𝑇</m:t>
                        </m:r>
                      </m:e>
                      <m:sub>
                        <m:r>
                          <a:rPr lang="en-US" sz="2800" i="1">
                            <a:solidFill>
                              <a:srgbClr val="FF0000"/>
                            </a:solidFill>
                            <a:latin typeface="Cambria Math" panose="02040503050406030204" pitchFamily="18" charset="0"/>
                          </a:rPr>
                          <m:t>𝑖</m:t>
                        </m:r>
                      </m:sub>
                    </m:sSub>
                    <m:r>
                      <a:rPr lang="en-US" sz="2800" i="1">
                        <a:latin typeface="Cambria Math" panose="02040503050406030204" pitchFamily="18" charset="0"/>
                      </a:rPr>
                      <m:t> </m:t>
                    </m:r>
                    <m:r>
                      <m:rPr>
                        <m:sty m:val="p"/>
                      </m:rPr>
                      <a:rPr lang="en-US" sz="2800">
                        <a:latin typeface="Cambria Math" panose="02040503050406030204" pitchFamily="18" charset="0"/>
                      </a:rPr>
                      <m:t>and</m:t>
                    </m:r>
                    <m:r>
                      <a:rPr lang="en-US" sz="2800" i="1">
                        <a:latin typeface="Cambria Math" panose="02040503050406030204" pitchFamily="18" charset="0"/>
                      </a:rPr>
                      <m:t> </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𝑇</m:t>
                        </m:r>
                      </m:e>
                      <m:sub>
                        <m:r>
                          <a:rPr lang="en-US" sz="2800" i="1">
                            <a:solidFill>
                              <a:srgbClr val="FF0000"/>
                            </a:solidFill>
                            <a:latin typeface="Cambria Math" panose="02040503050406030204" pitchFamily="18" charset="0"/>
                          </a:rPr>
                          <m:t>𝑑</m:t>
                        </m:r>
                      </m:sub>
                    </m:sSub>
                  </m:oMath>
                </a14:m>
                <a:r>
                  <a:rPr lang="en-US" sz="2800" dirty="0"/>
                  <a:t> in a single shot.</a:t>
                </a:r>
              </a:p>
            </p:txBody>
          </p:sp>
        </mc:Choice>
        <mc:Fallback xmlns="">
          <p:sp>
            <p:nvSpPr>
              <p:cNvPr id="5" name="Content Placeholder 4"/>
              <p:cNvSpPr>
                <a:spLocks noGrp="1" noRot="1" noChangeAspect="1" noMove="1" noResize="1" noEditPoints="1" noAdjustHandles="1" noChangeArrowheads="1" noChangeShapeType="1" noTextEdit="1"/>
              </p:cNvSpPr>
              <p:nvPr>
                <p:ph idx="1"/>
              </p:nvPr>
            </p:nvSpPr>
            <p:spPr>
              <a:xfrm>
                <a:off x="152400" y="1219200"/>
                <a:ext cx="8839200" cy="5486399"/>
              </a:xfrm>
              <a:blipFill rotWithShape="0">
                <a:blip r:embed="rId2"/>
                <a:stretch>
                  <a:fillRect l="-1034" t="-1444" r="-1241"/>
                </a:stretch>
              </a:blipFill>
            </p:spPr>
            <p:txBody>
              <a:bodyPr/>
              <a:lstStyle/>
              <a:p>
                <a:r>
                  <a:rPr lang="en-US">
                    <a:noFill/>
                  </a:rPr>
                  <a:t> </a:t>
                </a:r>
              </a:p>
            </p:txBody>
          </p:sp>
        </mc:Fallback>
      </mc:AlternateContent>
      <p:sp>
        <p:nvSpPr>
          <p:cNvPr id="2" name="Slide Number Placeholder 1"/>
          <p:cNvSpPr>
            <a:spLocks noGrp="1"/>
          </p:cNvSpPr>
          <p:nvPr>
            <p:ph type="sldNum" sz="quarter" idx="12"/>
          </p:nvPr>
        </p:nvSpPr>
        <p:spPr/>
        <p:txBody>
          <a:bodyPr/>
          <a:lstStyle/>
          <a:p>
            <a:fld id="{7A0D5CAB-8BF0-4EA3-BAE4-9835C852A49B}" type="slidenum">
              <a:rPr lang="en-GB" smtClean="0"/>
              <a:pPr/>
              <a:t>26</a:t>
            </a:fld>
            <a:endParaRPr lang="en-GB" dirty="0"/>
          </a:p>
        </p:txBody>
      </p:sp>
    </p:spTree>
    <p:extLst>
      <p:ext uri="{BB962C8B-B14F-4D97-AF65-F5344CB8AC3E}">
        <p14:creationId xmlns:p14="http://schemas.microsoft.com/office/powerpoint/2010/main" val="3411360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52400"/>
            <a:ext cx="8229600" cy="808338"/>
          </a:xfrm>
        </p:spPr>
        <p:txBody>
          <a:bodyPr>
            <a:normAutofit fontScale="90000"/>
          </a:bodyPr>
          <a:lstStyle/>
          <a:p>
            <a:r>
              <a:rPr lang="en-US" dirty="0"/>
              <a:t>Zeigler-Nichol’s PID Tuning Methods</a:t>
            </a:r>
          </a:p>
        </p:txBody>
      </p:sp>
      <mc:AlternateContent xmlns:mc="http://schemas.openxmlformats.org/markup-compatibility/2006" xmlns:a14="http://schemas.microsoft.com/office/drawing/2010/main">
        <mc:Choice Requires="a14">
          <p:sp>
            <p:nvSpPr>
              <p:cNvPr id="5" name="Content Placeholder 4"/>
              <p:cNvSpPr>
                <a:spLocks noGrp="1"/>
              </p:cNvSpPr>
              <p:nvPr>
                <p:ph idx="1"/>
              </p:nvPr>
            </p:nvSpPr>
            <p:spPr>
              <a:xfrm>
                <a:off x="152400" y="1219200"/>
                <a:ext cx="8839200" cy="5486399"/>
              </a:xfrm>
            </p:spPr>
            <p:txBody>
              <a:bodyPr>
                <a:normAutofit lnSpcReduction="10000"/>
              </a:bodyPr>
              <a:lstStyle/>
              <a:p>
                <a:pPr algn="just"/>
                <a:r>
                  <a:rPr lang="en-US" sz="2800" dirty="0"/>
                  <a:t>Ziegler and Nichols proposed rules for determining values of the </a:t>
                </a:r>
                <a14:m>
                  <m:oMath xmlns:m="http://schemas.openxmlformats.org/officeDocument/2006/math">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𝐾</m:t>
                        </m:r>
                      </m:e>
                      <m:sub>
                        <m:r>
                          <a:rPr lang="en-US" sz="2800" i="1">
                            <a:solidFill>
                              <a:srgbClr val="FF0000"/>
                            </a:solidFill>
                            <a:latin typeface="Cambria Math" panose="02040503050406030204" pitchFamily="18" charset="0"/>
                          </a:rPr>
                          <m:t>𝑝</m:t>
                        </m:r>
                      </m:sub>
                    </m:sSub>
                    <m:r>
                      <a:rPr lang="en-US" sz="2800" i="1">
                        <a:latin typeface="Cambria Math" panose="02040503050406030204" pitchFamily="18" charset="0"/>
                      </a:rPr>
                      <m:t>, </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𝑇</m:t>
                        </m:r>
                      </m:e>
                      <m:sub>
                        <m:r>
                          <a:rPr lang="en-US" sz="2800" i="1">
                            <a:solidFill>
                              <a:srgbClr val="FF0000"/>
                            </a:solidFill>
                            <a:latin typeface="Cambria Math" panose="02040503050406030204" pitchFamily="18" charset="0"/>
                          </a:rPr>
                          <m:t>𝑖</m:t>
                        </m:r>
                      </m:sub>
                    </m:sSub>
                    <m:r>
                      <a:rPr lang="en-US" sz="2800" i="1">
                        <a:latin typeface="Cambria Math" panose="02040503050406030204" pitchFamily="18" charset="0"/>
                      </a:rPr>
                      <m:t> </m:t>
                    </m:r>
                    <m:r>
                      <m:rPr>
                        <m:sty m:val="p"/>
                      </m:rPr>
                      <a:rPr lang="en-US" sz="2800">
                        <a:latin typeface="Cambria Math" panose="02040503050406030204" pitchFamily="18" charset="0"/>
                      </a:rPr>
                      <m:t>and</m:t>
                    </m:r>
                    <m:r>
                      <a:rPr lang="en-US" sz="2800" i="1">
                        <a:latin typeface="Cambria Math" panose="02040503050406030204" pitchFamily="18" charset="0"/>
                      </a:rPr>
                      <m:t> </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𝑇</m:t>
                        </m:r>
                      </m:e>
                      <m:sub>
                        <m:r>
                          <a:rPr lang="en-US" sz="2800" i="1">
                            <a:solidFill>
                              <a:srgbClr val="FF0000"/>
                            </a:solidFill>
                            <a:latin typeface="Cambria Math" panose="02040503050406030204" pitchFamily="18" charset="0"/>
                          </a:rPr>
                          <m:t>𝑑</m:t>
                        </m:r>
                      </m:sub>
                    </m:sSub>
                  </m:oMath>
                </a14:m>
                <a:r>
                  <a:rPr lang="en-US" sz="2800" dirty="0"/>
                  <a:t> based on the transient response characteristics of a given plant. </a:t>
                </a:r>
              </a:p>
              <a:p>
                <a:pPr algn="just"/>
                <a:endParaRPr lang="en-US" sz="2800" dirty="0"/>
              </a:p>
              <a:p>
                <a:r>
                  <a:rPr lang="en-US" sz="2800" dirty="0"/>
                  <a:t>Such determination of the parameters of PID controllers or tuning of PID controllers can be made by engineers on-site by experiments on the plant.</a:t>
                </a:r>
              </a:p>
              <a:p>
                <a:endParaRPr lang="en-US" sz="2800" dirty="0"/>
              </a:p>
              <a:p>
                <a:pPr algn="just"/>
                <a:r>
                  <a:rPr lang="en-US" sz="2800" dirty="0"/>
                  <a:t>There are two methods called Ziegler–Nichols tuning rules: </a:t>
                </a:r>
              </a:p>
              <a:p>
                <a:pPr algn="just"/>
                <a:endParaRPr lang="en-US" sz="1500" dirty="0"/>
              </a:p>
              <a:p>
                <a:pPr lvl="2" algn="just"/>
                <a:r>
                  <a:rPr lang="en-US" dirty="0"/>
                  <a:t>First method (open loop Method)</a:t>
                </a:r>
              </a:p>
              <a:p>
                <a:pPr lvl="2" algn="just"/>
                <a:r>
                  <a:rPr lang="en-US" dirty="0"/>
                  <a:t>Second method (Closed Loop Method)</a:t>
                </a:r>
              </a:p>
            </p:txBody>
          </p:sp>
        </mc:Choice>
        <mc:Fallback xmlns="">
          <p:sp>
            <p:nvSpPr>
              <p:cNvPr id="5" name="Content Placeholder 4"/>
              <p:cNvSpPr>
                <a:spLocks noGrp="1" noRot="1" noChangeAspect="1" noMove="1" noResize="1" noEditPoints="1" noAdjustHandles="1" noChangeArrowheads="1" noChangeShapeType="1" noTextEdit="1"/>
              </p:cNvSpPr>
              <p:nvPr>
                <p:ph idx="1"/>
              </p:nvPr>
            </p:nvSpPr>
            <p:spPr>
              <a:xfrm>
                <a:off x="152400" y="1219200"/>
                <a:ext cx="8839200" cy="5486399"/>
              </a:xfrm>
              <a:blipFill rotWithShape="0">
                <a:blip r:embed="rId2"/>
                <a:stretch>
                  <a:fillRect l="-1241" t="-1778" r="-1379" b="-222"/>
                </a:stretch>
              </a:blipFill>
            </p:spPr>
            <p:txBody>
              <a:bodyPr/>
              <a:lstStyle/>
              <a:p>
                <a:r>
                  <a:rPr lang="en-US">
                    <a:noFill/>
                  </a:rPr>
                  <a:t> </a:t>
                </a:r>
              </a:p>
            </p:txBody>
          </p:sp>
        </mc:Fallback>
      </mc:AlternateContent>
      <p:sp>
        <p:nvSpPr>
          <p:cNvPr id="2" name="Slide Number Placeholder 1"/>
          <p:cNvSpPr>
            <a:spLocks noGrp="1"/>
          </p:cNvSpPr>
          <p:nvPr>
            <p:ph type="sldNum" sz="quarter" idx="12"/>
          </p:nvPr>
        </p:nvSpPr>
        <p:spPr/>
        <p:txBody>
          <a:bodyPr/>
          <a:lstStyle/>
          <a:p>
            <a:fld id="{7A0D5CAB-8BF0-4EA3-BAE4-9835C852A49B}" type="slidenum">
              <a:rPr lang="en-GB" smtClean="0"/>
              <a:pPr/>
              <a:t>27</a:t>
            </a:fld>
            <a:endParaRPr lang="en-GB" dirty="0"/>
          </a:p>
        </p:txBody>
      </p:sp>
    </p:spTree>
    <p:extLst>
      <p:ext uri="{BB962C8B-B14F-4D97-AF65-F5344CB8AC3E}">
        <p14:creationId xmlns:p14="http://schemas.microsoft.com/office/powerpoint/2010/main" val="1098548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52400"/>
            <a:ext cx="8229600" cy="808338"/>
          </a:xfrm>
        </p:spPr>
        <p:txBody>
          <a:bodyPr>
            <a:normAutofit/>
          </a:bodyPr>
          <a:lstStyle/>
          <a:p>
            <a:r>
              <a:rPr lang="en-US" dirty="0"/>
              <a:t>Zeigler-Nichol’s First Method</a:t>
            </a:r>
          </a:p>
        </p:txBody>
      </p:sp>
      <p:sp>
        <p:nvSpPr>
          <p:cNvPr id="5" name="Content Placeholder 4"/>
          <p:cNvSpPr>
            <a:spLocks noGrp="1"/>
          </p:cNvSpPr>
          <p:nvPr>
            <p:ph idx="1"/>
          </p:nvPr>
        </p:nvSpPr>
        <p:spPr>
          <a:xfrm>
            <a:off x="0" y="1191904"/>
            <a:ext cx="3886200" cy="5486399"/>
          </a:xfrm>
        </p:spPr>
        <p:txBody>
          <a:bodyPr>
            <a:normAutofit/>
          </a:bodyPr>
          <a:lstStyle/>
          <a:p>
            <a:pPr algn="just"/>
            <a:r>
              <a:rPr lang="en-US" sz="2600" dirty="0"/>
              <a:t>In the first method, we obtain experimentally the response of the plant to a unit-step input.</a:t>
            </a:r>
          </a:p>
          <a:p>
            <a:pPr algn="just"/>
            <a:endParaRPr lang="en-US" sz="2600" dirty="0"/>
          </a:p>
          <a:p>
            <a:pPr algn="just"/>
            <a:r>
              <a:rPr lang="en-US" sz="2600" dirty="0"/>
              <a:t>If the plant involves neither integrator(s) nor dominant complex-conjugate poles, then such a unit-step response curve may look S-shaped</a:t>
            </a:r>
          </a:p>
        </p:txBody>
      </p:sp>
      <p:pic>
        <p:nvPicPr>
          <p:cNvPr id="2" name="Picture 1"/>
          <p:cNvPicPr>
            <a:picLocks noChangeAspect="1"/>
          </p:cNvPicPr>
          <p:nvPr/>
        </p:nvPicPr>
        <p:blipFill>
          <a:blip r:embed="rId2"/>
          <a:stretch>
            <a:fillRect/>
          </a:stretch>
        </p:blipFill>
        <p:spPr>
          <a:xfrm>
            <a:off x="4314752" y="1528282"/>
            <a:ext cx="4753048" cy="1367318"/>
          </a:xfrm>
          <a:prstGeom prst="rect">
            <a:avLst/>
          </a:prstGeom>
        </p:spPr>
      </p:pic>
      <p:pic>
        <p:nvPicPr>
          <p:cNvPr id="3" name="Picture 2"/>
          <p:cNvPicPr>
            <a:picLocks noChangeAspect="1"/>
          </p:cNvPicPr>
          <p:nvPr/>
        </p:nvPicPr>
        <p:blipFill>
          <a:blip r:embed="rId3"/>
          <a:stretch>
            <a:fillRect/>
          </a:stretch>
        </p:blipFill>
        <p:spPr>
          <a:xfrm>
            <a:off x="4018788" y="3463144"/>
            <a:ext cx="5109979" cy="3242455"/>
          </a:xfrm>
          <a:prstGeom prst="rect">
            <a:avLst/>
          </a:prstGeom>
        </p:spPr>
      </p:pic>
      <p:sp>
        <p:nvSpPr>
          <p:cNvPr id="6" name="Slide Number Placeholder 5"/>
          <p:cNvSpPr>
            <a:spLocks noGrp="1"/>
          </p:cNvSpPr>
          <p:nvPr>
            <p:ph type="sldNum" sz="quarter" idx="12"/>
          </p:nvPr>
        </p:nvSpPr>
        <p:spPr/>
        <p:txBody>
          <a:bodyPr/>
          <a:lstStyle/>
          <a:p>
            <a:fld id="{7A0D5CAB-8BF0-4EA3-BAE4-9835C852A49B}" type="slidenum">
              <a:rPr lang="en-GB" smtClean="0"/>
              <a:pPr/>
              <a:t>28</a:t>
            </a:fld>
            <a:endParaRPr lang="en-GB" dirty="0"/>
          </a:p>
        </p:txBody>
      </p:sp>
    </p:spTree>
    <p:extLst>
      <p:ext uri="{BB962C8B-B14F-4D97-AF65-F5344CB8AC3E}">
        <p14:creationId xmlns:p14="http://schemas.microsoft.com/office/powerpoint/2010/main" val="3676018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0"/>
            <a:ext cx="8229600" cy="685800"/>
          </a:xfrm>
        </p:spPr>
        <p:txBody>
          <a:bodyPr>
            <a:normAutofit fontScale="90000"/>
          </a:bodyPr>
          <a:lstStyle/>
          <a:p>
            <a:r>
              <a:rPr lang="en-US" dirty="0"/>
              <a:t>Zeigler-Nichol’s First Method</a:t>
            </a:r>
          </a:p>
        </p:txBody>
      </p:sp>
      <p:sp>
        <p:nvSpPr>
          <p:cNvPr id="5" name="Content Placeholder 4"/>
          <p:cNvSpPr>
            <a:spLocks noGrp="1"/>
          </p:cNvSpPr>
          <p:nvPr>
            <p:ph idx="1"/>
          </p:nvPr>
        </p:nvSpPr>
        <p:spPr>
          <a:xfrm>
            <a:off x="76200" y="762000"/>
            <a:ext cx="8991600" cy="5486399"/>
          </a:xfrm>
        </p:spPr>
        <p:txBody>
          <a:bodyPr>
            <a:normAutofit/>
          </a:bodyPr>
          <a:lstStyle/>
          <a:p>
            <a:pPr algn="just"/>
            <a:r>
              <a:rPr lang="en-US" sz="2600" dirty="0"/>
              <a:t>This method applies if the response to a step input exhibits an S-shaped curve. </a:t>
            </a:r>
          </a:p>
          <a:p>
            <a:pPr algn="just"/>
            <a:endParaRPr lang="en-US" sz="1400" dirty="0"/>
          </a:p>
          <a:p>
            <a:pPr algn="just"/>
            <a:r>
              <a:rPr lang="en-US" sz="2600" dirty="0"/>
              <a:t>Such step-response curves may be generated experimentally or from a dynamic simulation of the plant.</a:t>
            </a:r>
          </a:p>
        </p:txBody>
      </p:sp>
      <p:pic>
        <p:nvPicPr>
          <p:cNvPr id="6" name="Picture 5"/>
          <p:cNvPicPr>
            <a:picLocks noChangeAspect="1"/>
          </p:cNvPicPr>
          <p:nvPr/>
        </p:nvPicPr>
        <p:blipFill>
          <a:blip r:embed="rId2"/>
          <a:stretch>
            <a:fillRect/>
          </a:stretch>
        </p:blipFill>
        <p:spPr>
          <a:xfrm>
            <a:off x="315468" y="3048000"/>
            <a:ext cx="8752332" cy="3505200"/>
          </a:xfrm>
          <a:prstGeom prst="rect">
            <a:avLst/>
          </a:prstGeom>
        </p:spPr>
      </p:pic>
      <p:sp>
        <p:nvSpPr>
          <p:cNvPr id="7" name="TextBox 6"/>
          <p:cNvSpPr txBox="1"/>
          <p:nvPr/>
        </p:nvSpPr>
        <p:spPr>
          <a:xfrm>
            <a:off x="457200" y="2723038"/>
            <a:ext cx="1111971" cy="461665"/>
          </a:xfrm>
          <a:prstGeom prst="rect">
            <a:avLst/>
          </a:prstGeom>
          <a:noFill/>
        </p:spPr>
        <p:txBody>
          <a:bodyPr wrap="none" rtlCol="0">
            <a:spAutoFit/>
          </a:bodyPr>
          <a:lstStyle/>
          <a:p>
            <a:r>
              <a:rPr lang="en-US" sz="2400" b="1" dirty="0">
                <a:solidFill>
                  <a:srgbClr val="C00000"/>
                </a:solidFill>
              </a:rPr>
              <a:t>Table-1</a:t>
            </a:r>
          </a:p>
        </p:txBody>
      </p:sp>
      <p:sp>
        <p:nvSpPr>
          <p:cNvPr id="2" name="Slide Number Placeholder 1"/>
          <p:cNvSpPr>
            <a:spLocks noGrp="1"/>
          </p:cNvSpPr>
          <p:nvPr>
            <p:ph type="sldNum" sz="quarter" idx="12"/>
          </p:nvPr>
        </p:nvSpPr>
        <p:spPr/>
        <p:txBody>
          <a:bodyPr/>
          <a:lstStyle/>
          <a:p>
            <a:fld id="{7A0D5CAB-8BF0-4EA3-BAE4-9835C852A49B}" type="slidenum">
              <a:rPr lang="en-GB" smtClean="0"/>
              <a:pPr/>
              <a:t>29</a:t>
            </a:fld>
            <a:endParaRPr lang="en-GB" dirty="0"/>
          </a:p>
        </p:txBody>
      </p:sp>
    </p:spTree>
    <p:extLst>
      <p:ext uri="{BB962C8B-B14F-4D97-AF65-F5344CB8AC3E}">
        <p14:creationId xmlns:p14="http://schemas.microsoft.com/office/powerpoint/2010/main" val="2366872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0"/>
            <a:ext cx="8229600" cy="685800"/>
          </a:xfrm>
        </p:spPr>
        <p:txBody>
          <a:bodyPr>
            <a:normAutofit fontScale="90000"/>
          </a:bodyPr>
          <a:lstStyle/>
          <a:p>
            <a:r>
              <a:rPr lang="en-US" dirty="0"/>
              <a:t>Zeigler-Nichol’s Second Method</a:t>
            </a:r>
          </a:p>
        </p:txBody>
      </p:sp>
      <mc:AlternateContent xmlns:mc="http://schemas.openxmlformats.org/markup-compatibility/2006" xmlns:a14="http://schemas.microsoft.com/office/drawing/2010/main">
        <mc:Choice Requires="a14">
          <p:sp>
            <p:nvSpPr>
              <p:cNvPr id="5" name="Content Placeholder 4"/>
              <p:cNvSpPr>
                <a:spLocks noGrp="1"/>
              </p:cNvSpPr>
              <p:nvPr>
                <p:ph idx="1"/>
              </p:nvPr>
            </p:nvSpPr>
            <p:spPr>
              <a:xfrm>
                <a:off x="76200" y="762000"/>
                <a:ext cx="8991600" cy="6096000"/>
              </a:xfrm>
            </p:spPr>
            <p:txBody>
              <a:bodyPr>
                <a:normAutofit/>
              </a:bodyPr>
              <a:lstStyle/>
              <a:p>
                <a:pPr algn="just"/>
                <a:r>
                  <a:rPr lang="en-US" sz="2800" dirty="0"/>
                  <a:t>In the second method, we first set </a:t>
                </a:r>
                <a14:m>
                  <m:oMath xmlns:m="http://schemas.openxmlformats.org/officeDocument/2006/math">
                    <m:sSub>
                      <m:sSubPr>
                        <m:ctrlPr>
                          <a:rPr lang="en-US" sz="2800" i="1" smtClean="0">
                            <a:solidFill>
                              <a:srgbClr val="FF0000"/>
                            </a:solidFill>
                            <a:latin typeface="Cambria Math" panose="02040503050406030204" pitchFamily="18" charset="0"/>
                          </a:rPr>
                        </m:ctrlPr>
                      </m:sSubPr>
                      <m:e>
                        <m:r>
                          <a:rPr lang="en-US" sz="2800" b="0" i="1" smtClean="0">
                            <a:solidFill>
                              <a:srgbClr val="FF0000"/>
                            </a:solidFill>
                            <a:latin typeface="Cambria Math" panose="02040503050406030204" pitchFamily="18" charset="0"/>
                          </a:rPr>
                          <m:t>𝑇</m:t>
                        </m:r>
                      </m:e>
                      <m:sub>
                        <m:r>
                          <a:rPr lang="en-US" sz="2800" b="0" i="1" smtClean="0">
                            <a:solidFill>
                              <a:srgbClr val="FF0000"/>
                            </a:solidFill>
                            <a:latin typeface="Cambria Math" panose="02040503050406030204" pitchFamily="18" charset="0"/>
                          </a:rPr>
                          <m:t>𝑖</m:t>
                        </m:r>
                      </m:sub>
                    </m:sSub>
                    <m:r>
                      <a:rPr lang="en-US" sz="2800" b="0" i="1" smtClean="0">
                        <a:solidFill>
                          <a:srgbClr val="FF0000"/>
                        </a:solidFill>
                        <a:latin typeface="Cambria Math" panose="02040503050406030204" pitchFamily="18" charset="0"/>
                      </a:rPr>
                      <m:t>=</m:t>
                    </m:r>
                    <m:r>
                      <a:rPr lang="en-US" sz="2800" b="0" i="1" smtClean="0">
                        <a:solidFill>
                          <a:srgbClr val="FF0000"/>
                        </a:solidFill>
                        <a:latin typeface="Cambria Math" panose="02040503050406030204" pitchFamily="18" charset="0"/>
                        <a:ea typeface="Cambria Math" panose="02040503050406030204" pitchFamily="18" charset="0"/>
                      </a:rPr>
                      <m:t>∞</m:t>
                    </m:r>
                  </m:oMath>
                </a14:m>
                <a:r>
                  <a:rPr lang="en-US" sz="2800" dirty="0"/>
                  <a:t> and </a:t>
                </a:r>
                <a14:m>
                  <m:oMath xmlns:m="http://schemas.openxmlformats.org/officeDocument/2006/math">
                    <m:sSub>
                      <m:sSubPr>
                        <m:ctrlPr>
                          <a:rPr lang="en-US" sz="2400" i="1" smtClean="0">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𝑇</m:t>
                        </m:r>
                      </m:e>
                      <m:sub>
                        <m:r>
                          <a:rPr lang="en-US" sz="2400" b="0" i="1" smtClean="0">
                            <a:solidFill>
                              <a:srgbClr val="FF0000"/>
                            </a:solidFill>
                            <a:latin typeface="Cambria Math" panose="02040503050406030204" pitchFamily="18" charset="0"/>
                          </a:rPr>
                          <m:t>𝑑</m:t>
                        </m:r>
                      </m:sub>
                    </m:sSub>
                    <m:r>
                      <a:rPr lang="en-US" sz="2400" i="1">
                        <a:solidFill>
                          <a:srgbClr val="FF0000"/>
                        </a:solidFill>
                        <a:latin typeface="Cambria Math" panose="02040503050406030204" pitchFamily="18" charset="0"/>
                      </a:rPr>
                      <m:t>=</m:t>
                    </m:r>
                    <m:r>
                      <a:rPr lang="en-US" sz="2400" b="0" i="1" smtClean="0">
                        <a:solidFill>
                          <a:srgbClr val="FF0000"/>
                        </a:solidFill>
                        <a:latin typeface="Cambria Math" panose="02040503050406030204" pitchFamily="18" charset="0"/>
                      </a:rPr>
                      <m:t>0</m:t>
                    </m:r>
                  </m:oMath>
                </a14:m>
                <a:r>
                  <a:rPr lang="en-US" sz="2600" dirty="0"/>
                  <a:t>.</a:t>
                </a:r>
              </a:p>
              <a:p>
                <a:pPr algn="just"/>
                <a:endParaRPr lang="en-US" sz="2000" dirty="0"/>
              </a:p>
              <a:p>
                <a:pPr algn="just"/>
                <a:r>
                  <a:rPr lang="en-US" sz="2800" dirty="0"/>
                  <a:t>Using the proportional control action only (as shown in figure), increase </a:t>
                </a:r>
                <a:r>
                  <a:rPr lang="en-US" sz="2800" i="1" dirty="0" err="1">
                    <a:solidFill>
                      <a:srgbClr val="FF0000"/>
                    </a:solidFill>
                  </a:rPr>
                  <a:t>K</a:t>
                </a:r>
                <a:r>
                  <a:rPr lang="en-US" sz="2800" baseline="-25000" dirty="0" err="1">
                    <a:solidFill>
                      <a:srgbClr val="FF0000"/>
                    </a:solidFill>
                  </a:rPr>
                  <a:t>p</a:t>
                </a:r>
                <a:r>
                  <a:rPr lang="en-US" sz="2800" dirty="0"/>
                  <a:t> from </a:t>
                </a:r>
                <a:r>
                  <a:rPr lang="en-US" sz="2800" dirty="0">
                    <a:solidFill>
                      <a:srgbClr val="FF0000"/>
                    </a:solidFill>
                  </a:rPr>
                  <a:t>0</a:t>
                </a:r>
                <a:r>
                  <a:rPr lang="en-US" sz="2800" dirty="0"/>
                  <a:t> to a critical value </a:t>
                </a:r>
                <a:r>
                  <a:rPr lang="en-US" sz="2800" i="1" dirty="0" err="1">
                    <a:solidFill>
                      <a:srgbClr val="FF0000"/>
                    </a:solidFill>
                  </a:rPr>
                  <a:t>K</a:t>
                </a:r>
                <a:r>
                  <a:rPr lang="en-US" sz="2800" baseline="-25000" dirty="0" err="1">
                    <a:solidFill>
                      <a:srgbClr val="FF0000"/>
                    </a:solidFill>
                  </a:rPr>
                  <a:t>cr</a:t>
                </a:r>
                <a:r>
                  <a:rPr lang="en-US" sz="2800" dirty="0"/>
                  <a:t> at which the output first exhibits sustained oscillations.</a:t>
                </a:r>
              </a:p>
              <a:p>
                <a:pPr algn="just"/>
                <a:endParaRPr lang="en-US" sz="2800" dirty="0"/>
              </a:p>
              <a:p>
                <a:pPr algn="just"/>
                <a:endParaRPr lang="en-US" sz="4000" dirty="0"/>
              </a:p>
              <a:p>
                <a:pPr algn="just"/>
                <a:endParaRPr lang="en-US" sz="4000" dirty="0"/>
              </a:p>
              <a:p>
                <a:pPr algn="just"/>
                <a:r>
                  <a:rPr lang="en-US" sz="2800" dirty="0"/>
                  <a:t>If the output does not exhibit sustained oscillations for whatever value </a:t>
                </a:r>
                <a:r>
                  <a:rPr lang="en-US" sz="2800" i="1" dirty="0" err="1">
                    <a:solidFill>
                      <a:srgbClr val="FF0000"/>
                    </a:solidFill>
                  </a:rPr>
                  <a:t>K</a:t>
                </a:r>
                <a:r>
                  <a:rPr lang="en-US" sz="2800" baseline="-25000" dirty="0" err="1">
                    <a:solidFill>
                      <a:srgbClr val="FF0000"/>
                    </a:solidFill>
                  </a:rPr>
                  <a:t>p</a:t>
                </a:r>
                <a:r>
                  <a:rPr lang="en-US" sz="2800" dirty="0"/>
                  <a:t> may take, then this method does not apply.</a:t>
                </a:r>
                <a:endParaRPr lang="en-US" sz="2600" dirty="0"/>
              </a:p>
            </p:txBody>
          </p:sp>
        </mc:Choice>
        <mc:Fallback xmlns="">
          <p:sp>
            <p:nvSpPr>
              <p:cNvPr id="5" name="Content Placeholder 4"/>
              <p:cNvSpPr>
                <a:spLocks noGrp="1" noRot="1" noChangeAspect="1" noMove="1" noResize="1" noEditPoints="1" noAdjustHandles="1" noChangeArrowheads="1" noChangeShapeType="1" noTextEdit="1"/>
              </p:cNvSpPr>
              <p:nvPr>
                <p:ph idx="1"/>
              </p:nvPr>
            </p:nvSpPr>
            <p:spPr>
              <a:xfrm>
                <a:off x="76200" y="762000"/>
                <a:ext cx="8991600" cy="6096000"/>
              </a:xfrm>
              <a:blipFill rotWithShape="0">
                <a:blip r:embed="rId2"/>
                <a:stretch>
                  <a:fillRect l="-1220" t="-900" r="-1356"/>
                </a:stretch>
              </a:blipFill>
            </p:spPr>
            <p:txBody>
              <a:bodyPr/>
              <a:lstStyle/>
              <a:p>
                <a:r>
                  <a:rPr lang="en-US">
                    <a:noFill/>
                  </a:rPr>
                  <a:t> </a:t>
                </a:r>
              </a:p>
            </p:txBody>
          </p:sp>
        </mc:Fallback>
      </mc:AlternateContent>
      <p:pic>
        <p:nvPicPr>
          <p:cNvPr id="3" name="Picture 2"/>
          <p:cNvPicPr>
            <a:picLocks noChangeAspect="1"/>
          </p:cNvPicPr>
          <p:nvPr/>
        </p:nvPicPr>
        <p:blipFill rotWithShape="1">
          <a:blip r:embed="rId3"/>
          <a:srcRect t="11843"/>
          <a:stretch/>
        </p:blipFill>
        <p:spPr>
          <a:xfrm>
            <a:off x="1905000" y="3191435"/>
            <a:ext cx="5568110" cy="1578938"/>
          </a:xfrm>
          <a:prstGeom prst="rect">
            <a:avLst/>
          </a:prstGeom>
        </p:spPr>
      </p:pic>
      <p:sp>
        <p:nvSpPr>
          <p:cNvPr id="2" name="Slide Number Placeholder 1"/>
          <p:cNvSpPr>
            <a:spLocks noGrp="1"/>
          </p:cNvSpPr>
          <p:nvPr>
            <p:ph type="sldNum" sz="quarter" idx="12"/>
          </p:nvPr>
        </p:nvSpPr>
        <p:spPr/>
        <p:txBody>
          <a:bodyPr/>
          <a:lstStyle/>
          <a:p>
            <a:fld id="{7A0D5CAB-8BF0-4EA3-BAE4-9835C852A49B}" type="slidenum">
              <a:rPr lang="en-GB" smtClean="0"/>
              <a:pPr/>
              <a:t>30</a:t>
            </a:fld>
            <a:endParaRPr lang="en-GB" dirty="0"/>
          </a:p>
        </p:txBody>
      </p:sp>
    </p:spTree>
    <p:extLst>
      <p:ext uri="{BB962C8B-B14F-4D97-AF65-F5344CB8AC3E}">
        <p14:creationId xmlns:p14="http://schemas.microsoft.com/office/powerpoint/2010/main" val="888675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0"/>
            <a:ext cx="8229600" cy="685800"/>
          </a:xfrm>
        </p:spPr>
        <p:txBody>
          <a:bodyPr>
            <a:normAutofit fontScale="90000"/>
          </a:bodyPr>
          <a:lstStyle/>
          <a:p>
            <a:r>
              <a:rPr lang="en-US" dirty="0"/>
              <a:t>Zeigler-Nichol’s Second Method</a:t>
            </a:r>
          </a:p>
        </p:txBody>
      </p:sp>
      <p:sp>
        <p:nvSpPr>
          <p:cNvPr id="5" name="Content Placeholder 4"/>
          <p:cNvSpPr>
            <a:spLocks noGrp="1"/>
          </p:cNvSpPr>
          <p:nvPr>
            <p:ph idx="1"/>
          </p:nvPr>
        </p:nvSpPr>
        <p:spPr>
          <a:xfrm>
            <a:off x="0" y="1143000"/>
            <a:ext cx="3810000" cy="1905000"/>
          </a:xfrm>
        </p:spPr>
        <p:txBody>
          <a:bodyPr>
            <a:normAutofit/>
          </a:bodyPr>
          <a:lstStyle/>
          <a:p>
            <a:pPr algn="just"/>
            <a:r>
              <a:rPr lang="en-US" sz="2400" dirty="0"/>
              <a:t>Thus, the critical gain </a:t>
            </a:r>
            <a:r>
              <a:rPr lang="en-US" sz="2400" i="1" dirty="0" err="1">
                <a:solidFill>
                  <a:srgbClr val="FF0000"/>
                </a:solidFill>
              </a:rPr>
              <a:t>K</a:t>
            </a:r>
            <a:r>
              <a:rPr lang="en-US" sz="2400" baseline="-25000" dirty="0" err="1">
                <a:solidFill>
                  <a:srgbClr val="FF0000"/>
                </a:solidFill>
              </a:rPr>
              <a:t>cr</a:t>
            </a:r>
            <a:r>
              <a:rPr lang="en-US" sz="2400" dirty="0"/>
              <a:t> and the corresponding period </a:t>
            </a:r>
            <a:r>
              <a:rPr lang="en-US" sz="2400" i="1" dirty="0" err="1">
                <a:solidFill>
                  <a:srgbClr val="FF0000"/>
                </a:solidFill>
              </a:rPr>
              <a:t>P</a:t>
            </a:r>
            <a:r>
              <a:rPr lang="en-US" sz="2400" i="1" baseline="-25000" dirty="0" err="1">
                <a:solidFill>
                  <a:srgbClr val="FF0000"/>
                </a:solidFill>
              </a:rPr>
              <a:t>cr</a:t>
            </a:r>
            <a:r>
              <a:rPr lang="en-US" sz="2400" dirty="0"/>
              <a:t> are determined.</a:t>
            </a:r>
          </a:p>
        </p:txBody>
      </p:sp>
      <p:pic>
        <p:nvPicPr>
          <p:cNvPr id="2" name="Picture 1"/>
          <p:cNvPicPr>
            <a:picLocks noChangeAspect="1"/>
          </p:cNvPicPr>
          <p:nvPr/>
        </p:nvPicPr>
        <p:blipFill>
          <a:blip r:embed="rId2"/>
          <a:stretch>
            <a:fillRect/>
          </a:stretch>
        </p:blipFill>
        <p:spPr>
          <a:xfrm>
            <a:off x="4038600" y="751435"/>
            <a:ext cx="5105400" cy="2548249"/>
          </a:xfrm>
          <a:prstGeom prst="rect">
            <a:avLst/>
          </a:prstGeom>
        </p:spPr>
      </p:pic>
      <p:pic>
        <p:nvPicPr>
          <p:cNvPr id="6" name="Picture 5"/>
          <p:cNvPicPr>
            <a:picLocks noChangeAspect="1"/>
          </p:cNvPicPr>
          <p:nvPr/>
        </p:nvPicPr>
        <p:blipFill>
          <a:blip r:embed="rId3"/>
          <a:stretch>
            <a:fillRect/>
          </a:stretch>
        </p:blipFill>
        <p:spPr>
          <a:xfrm>
            <a:off x="304800" y="3432423"/>
            <a:ext cx="8503427" cy="3425577"/>
          </a:xfrm>
          <a:prstGeom prst="rect">
            <a:avLst/>
          </a:prstGeom>
        </p:spPr>
      </p:pic>
      <p:sp>
        <p:nvSpPr>
          <p:cNvPr id="3" name="TextBox 2"/>
          <p:cNvSpPr txBox="1"/>
          <p:nvPr/>
        </p:nvSpPr>
        <p:spPr>
          <a:xfrm>
            <a:off x="457200" y="3068851"/>
            <a:ext cx="1111971" cy="461665"/>
          </a:xfrm>
          <a:prstGeom prst="rect">
            <a:avLst/>
          </a:prstGeom>
          <a:noFill/>
        </p:spPr>
        <p:txBody>
          <a:bodyPr wrap="none" rtlCol="0">
            <a:spAutoFit/>
          </a:bodyPr>
          <a:lstStyle/>
          <a:p>
            <a:r>
              <a:rPr lang="en-US" sz="2400" b="1" dirty="0">
                <a:solidFill>
                  <a:srgbClr val="C00000"/>
                </a:solidFill>
              </a:rPr>
              <a:t>Table-2</a:t>
            </a:r>
          </a:p>
        </p:txBody>
      </p:sp>
      <p:sp>
        <p:nvSpPr>
          <p:cNvPr id="7" name="Slide Number Placeholder 6"/>
          <p:cNvSpPr>
            <a:spLocks noGrp="1"/>
          </p:cNvSpPr>
          <p:nvPr>
            <p:ph type="sldNum" sz="quarter" idx="12"/>
          </p:nvPr>
        </p:nvSpPr>
        <p:spPr/>
        <p:txBody>
          <a:bodyPr/>
          <a:lstStyle/>
          <a:p>
            <a:fld id="{7A0D5CAB-8BF0-4EA3-BAE4-9835C852A49B}" type="slidenum">
              <a:rPr lang="en-GB" smtClean="0"/>
              <a:pPr/>
              <a:t>31</a:t>
            </a:fld>
            <a:endParaRPr lang="en-GB" dirty="0"/>
          </a:p>
        </p:txBody>
      </p:sp>
    </p:spTree>
    <p:extLst>
      <p:ext uri="{BB962C8B-B14F-4D97-AF65-F5344CB8AC3E}">
        <p14:creationId xmlns:p14="http://schemas.microsoft.com/office/powerpoint/2010/main" val="1840020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Example-1</a:t>
            </a:r>
          </a:p>
        </p:txBody>
      </p:sp>
      <p:graphicFrame>
        <p:nvGraphicFramePr>
          <p:cNvPr id="260098" name="Object 2"/>
          <p:cNvGraphicFramePr>
            <a:graphicFrameLocks noChangeAspect="1"/>
          </p:cNvGraphicFramePr>
          <p:nvPr>
            <p:extLst>
              <p:ext uri="{D42A27DB-BD31-4B8C-83A1-F6EECF244321}">
                <p14:modId xmlns:p14="http://schemas.microsoft.com/office/powerpoint/2010/main" val="886357139"/>
              </p:ext>
            </p:extLst>
          </p:nvPr>
        </p:nvGraphicFramePr>
        <p:xfrm>
          <a:off x="2932113" y="1538288"/>
          <a:ext cx="3121025" cy="1200150"/>
        </p:xfrm>
        <a:graphic>
          <a:graphicData uri="http://schemas.openxmlformats.org/presentationml/2006/ole">
            <mc:AlternateContent xmlns:mc="http://schemas.openxmlformats.org/markup-compatibility/2006">
              <mc:Choice xmlns:v="urn:schemas-microsoft-com:vml" Requires="v">
                <p:oleObj name="Equation" r:id="rId2" imgW="1091880" imgH="419040" progId="Equation.3">
                  <p:embed/>
                </p:oleObj>
              </mc:Choice>
              <mc:Fallback>
                <p:oleObj name="Equation" r:id="rId2" imgW="1091880" imgH="419040" progId="Equation.3">
                  <p:embed/>
                  <p:pic>
                    <p:nvPicPr>
                      <p:cNvPr id="0" name=""/>
                      <p:cNvPicPr>
                        <a:picLocks noChangeAspect="1" noChangeArrowheads="1"/>
                      </p:cNvPicPr>
                      <p:nvPr/>
                    </p:nvPicPr>
                    <p:blipFill>
                      <a:blip r:embed="rId3"/>
                      <a:srcRect/>
                      <a:stretch>
                        <a:fillRect/>
                      </a:stretch>
                    </p:blipFill>
                    <p:spPr bwMode="auto">
                      <a:xfrm>
                        <a:off x="2932113" y="1538288"/>
                        <a:ext cx="3121025" cy="1200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2" name="Group 21"/>
          <p:cNvGrpSpPr/>
          <p:nvPr/>
        </p:nvGrpSpPr>
        <p:grpSpPr>
          <a:xfrm>
            <a:off x="2286000" y="3581400"/>
            <a:ext cx="3893080" cy="2619584"/>
            <a:chOff x="1691680" y="3717032"/>
            <a:chExt cx="3893080" cy="2619584"/>
          </a:xfrm>
        </p:grpSpPr>
        <p:cxnSp>
          <p:nvCxnSpPr>
            <p:cNvPr id="6" name="Straight Arrow Connector 5"/>
            <p:cNvCxnSpPr/>
            <p:nvPr/>
          </p:nvCxnSpPr>
          <p:spPr>
            <a:xfrm flipV="1">
              <a:off x="2082790" y="3717032"/>
              <a:ext cx="0" cy="230425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2082790" y="6007640"/>
              <a:ext cx="324036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Freeform 8"/>
            <p:cNvSpPr/>
            <p:nvPr/>
          </p:nvSpPr>
          <p:spPr>
            <a:xfrm>
              <a:off x="2089935" y="4148920"/>
              <a:ext cx="3152633" cy="1856095"/>
            </a:xfrm>
            <a:custGeom>
              <a:avLst/>
              <a:gdLst>
                <a:gd name="connsiteX0" fmla="*/ 0 w 3152633"/>
                <a:gd name="connsiteY0" fmla="*/ 1856095 h 1856095"/>
                <a:gd name="connsiteX1" fmla="*/ 177421 w 3152633"/>
                <a:gd name="connsiteY1" fmla="*/ 1828799 h 1856095"/>
                <a:gd name="connsiteX2" fmla="*/ 313899 w 3152633"/>
                <a:gd name="connsiteY2" fmla="*/ 1733265 h 1856095"/>
                <a:gd name="connsiteX3" fmla="*/ 423081 w 3152633"/>
                <a:gd name="connsiteY3" fmla="*/ 1514901 h 1856095"/>
                <a:gd name="connsiteX4" fmla="*/ 627797 w 3152633"/>
                <a:gd name="connsiteY4" fmla="*/ 627796 h 1856095"/>
                <a:gd name="connsiteX5" fmla="*/ 1214651 w 3152633"/>
                <a:gd name="connsiteY5" fmla="*/ 191068 h 1856095"/>
                <a:gd name="connsiteX6" fmla="*/ 2156346 w 3152633"/>
                <a:gd name="connsiteY6" fmla="*/ 27295 h 1856095"/>
                <a:gd name="connsiteX7" fmla="*/ 3152633 w 3152633"/>
                <a:gd name="connsiteY7" fmla="*/ 27295 h 1856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52633" h="1856095">
                  <a:moveTo>
                    <a:pt x="0" y="1856095"/>
                  </a:moveTo>
                  <a:cubicBezTo>
                    <a:pt x="62552" y="1852683"/>
                    <a:pt x="125105" y="1849271"/>
                    <a:pt x="177421" y="1828799"/>
                  </a:cubicBezTo>
                  <a:cubicBezTo>
                    <a:pt x="229737" y="1808327"/>
                    <a:pt x="272956" y="1785581"/>
                    <a:pt x="313899" y="1733265"/>
                  </a:cubicBezTo>
                  <a:cubicBezTo>
                    <a:pt x="354842" y="1680949"/>
                    <a:pt x="370765" y="1699146"/>
                    <a:pt x="423081" y="1514901"/>
                  </a:cubicBezTo>
                  <a:cubicBezTo>
                    <a:pt x="475397" y="1330656"/>
                    <a:pt x="495869" y="848435"/>
                    <a:pt x="627797" y="627796"/>
                  </a:cubicBezTo>
                  <a:cubicBezTo>
                    <a:pt x="759725" y="407157"/>
                    <a:pt x="959893" y="291151"/>
                    <a:pt x="1214651" y="191068"/>
                  </a:cubicBezTo>
                  <a:cubicBezTo>
                    <a:pt x="1469409" y="90985"/>
                    <a:pt x="1833349" y="54591"/>
                    <a:pt x="2156346" y="27295"/>
                  </a:cubicBezTo>
                  <a:cubicBezTo>
                    <a:pt x="2479343" y="0"/>
                    <a:pt x="2815988" y="13647"/>
                    <a:pt x="3152633" y="27295"/>
                  </a:cubicBezTo>
                </a:path>
              </a:pathLst>
            </a:cu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cxnSp>
          <p:nvCxnSpPr>
            <p:cNvPr id="11" name="Straight Connector 10"/>
            <p:cNvCxnSpPr/>
            <p:nvPr/>
          </p:nvCxnSpPr>
          <p:spPr>
            <a:xfrm flipV="1">
              <a:off x="2082790" y="4162567"/>
              <a:ext cx="3159778" cy="0"/>
            </a:xfrm>
            <a:prstGeom prst="line">
              <a:avLst/>
            </a:prstGeom>
            <a:ln>
              <a:solidFill>
                <a:srgbClr val="BB0788"/>
              </a:solidFill>
              <a:prstDash val="dash"/>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1691680" y="3991416"/>
              <a:ext cx="301686" cy="369332"/>
            </a:xfrm>
            <a:prstGeom prst="rect">
              <a:avLst/>
            </a:prstGeom>
            <a:noFill/>
          </p:spPr>
          <p:txBody>
            <a:bodyPr wrap="none" rtlCol="0">
              <a:spAutoFit/>
            </a:bodyPr>
            <a:lstStyle/>
            <a:p>
              <a:r>
                <a:rPr lang="en-GB" dirty="0"/>
                <a:t>1</a:t>
              </a:r>
            </a:p>
          </p:txBody>
        </p:sp>
        <p:sp>
          <p:nvSpPr>
            <p:cNvPr id="17" name="TextBox 16"/>
            <p:cNvSpPr txBox="1"/>
            <p:nvPr/>
          </p:nvSpPr>
          <p:spPr>
            <a:xfrm>
              <a:off x="5323150" y="5805264"/>
              <a:ext cx="261610" cy="369332"/>
            </a:xfrm>
            <a:prstGeom prst="rect">
              <a:avLst/>
            </a:prstGeom>
            <a:noFill/>
          </p:spPr>
          <p:txBody>
            <a:bodyPr wrap="none" rtlCol="0">
              <a:spAutoFit/>
            </a:bodyPr>
            <a:lstStyle/>
            <a:p>
              <a:r>
                <a:rPr lang="en-GB" dirty="0"/>
                <a:t>t</a:t>
              </a:r>
            </a:p>
          </p:txBody>
        </p:sp>
        <p:cxnSp>
          <p:nvCxnSpPr>
            <p:cNvPr id="19" name="Straight Connector 18"/>
            <p:cNvCxnSpPr/>
            <p:nvPr/>
          </p:nvCxnSpPr>
          <p:spPr>
            <a:xfrm flipV="1">
              <a:off x="2082790" y="6021288"/>
              <a:ext cx="0" cy="288032"/>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V="1">
              <a:off x="2442830" y="6021288"/>
              <a:ext cx="0" cy="288032"/>
            </a:xfrm>
            <a:prstGeom prst="line">
              <a:avLst/>
            </a:prstGeom>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2113848" y="5967284"/>
              <a:ext cx="282450" cy="369332"/>
            </a:xfrm>
            <a:prstGeom prst="rect">
              <a:avLst/>
            </a:prstGeom>
            <a:noFill/>
          </p:spPr>
          <p:txBody>
            <a:bodyPr wrap="none" rtlCol="0">
              <a:spAutoFit/>
            </a:bodyPr>
            <a:lstStyle/>
            <a:p>
              <a:r>
                <a:rPr lang="en-GB" i="1" dirty="0"/>
                <a:t>L</a:t>
              </a:r>
              <a:endParaRPr lang="en-GB" i="1" baseline="-25000" dirty="0"/>
            </a:p>
          </p:txBody>
        </p:sp>
      </p:grpSp>
      <p:sp>
        <p:nvSpPr>
          <p:cNvPr id="3" name="Slide Number Placeholder 2"/>
          <p:cNvSpPr>
            <a:spLocks noGrp="1"/>
          </p:cNvSpPr>
          <p:nvPr>
            <p:ph type="sldNum" sz="quarter" idx="12"/>
          </p:nvPr>
        </p:nvSpPr>
        <p:spPr/>
        <p:txBody>
          <a:bodyPr/>
          <a:lstStyle/>
          <a:p>
            <a:fld id="{7A0D5CAB-8BF0-4EA3-BAE4-9835C852A49B}" type="slidenum">
              <a:rPr lang="en-GB" smtClean="0"/>
              <a:pPr/>
              <a:t>32</a:t>
            </a:fld>
            <a:endParaRPr lang="en-GB" dirty="0"/>
          </a:p>
        </p:txBody>
      </p:sp>
    </p:spTree>
    <p:extLst>
      <p:ext uri="{BB962C8B-B14F-4D97-AF65-F5344CB8AC3E}">
        <p14:creationId xmlns:p14="http://schemas.microsoft.com/office/powerpoint/2010/main" val="5485596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4510"/>
            <a:ext cx="8229600" cy="778098"/>
          </a:xfrm>
        </p:spPr>
        <p:txBody>
          <a:bodyPr>
            <a:normAutofit/>
          </a:bodyPr>
          <a:lstStyle/>
          <a:p>
            <a:r>
              <a:rPr lang="en-GB" sz="4000" dirty="0"/>
              <a:t>Example-1</a:t>
            </a:r>
          </a:p>
        </p:txBody>
      </p:sp>
      <p:pic>
        <p:nvPicPr>
          <p:cNvPr id="2055" name="Picture 7" descr="http://www.atp.ruhr-uni-bochum.de/rt1/syscontrol/img1242.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1913" y="1524000"/>
            <a:ext cx="7660173" cy="4758083"/>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p:cNvSpPr>
            <a:spLocks noGrp="1"/>
          </p:cNvSpPr>
          <p:nvPr>
            <p:ph type="sldNum" sz="quarter" idx="12"/>
          </p:nvPr>
        </p:nvSpPr>
        <p:spPr/>
        <p:txBody>
          <a:bodyPr/>
          <a:lstStyle/>
          <a:p>
            <a:fld id="{7A0D5CAB-8BF0-4EA3-BAE4-9835C852A49B}" type="slidenum">
              <a:rPr lang="en-GB" smtClean="0"/>
              <a:pPr/>
              <a:t>33</a:t>
            </a:fld>
            <a:endParaRPr lang="en-GB" dirty="0"/>
          </a:p>
        </p:txBody>
      </p:sp>
    </p:spTree>
    <p:extLst>
      <p:ext uri="{BB962C8B-B14F-4D97-AF65-F5344CB8AC3E}">
        <p14:creationId xmlns:p14="http://schemas.microsoft.com/office/powerpoint/2010/main" val="34741051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4510"/>
            <a:ext cx="8229600" cy="778098"/>
          </a:xfrm>
        </p:spPr>
        <p:txBody>
          <a:bodyPr>
            <a:normAutofit/>
          </a:bodyPr>
          <a:lstStyle/>
          <a:p>
            <a:r>
              <a:rPr lang="en-GB" sz="4000" dirty="0"/>
              <a:t>Example-1</a:t>
            </a:r>
          </a:p>
        </p:txBody>
      </p:sp>
      <p:graphicFrame>
        <p:nvGraphicFramePr>
          <p:cNvPr id="260098" name="Object 2"/>
          <p:cNvGraphicFramePr>
            <a:graphicFrameLocks noChangeAspect="1"/>
          </p:cNvGraphicFramePr>
          <p:nvPr>
            <p:extLst>
              <p:ext uri="{D42A27DB-BD31-4B8C-83A1-F6EECF244321}">
                <p14:modId xmlns:p14="http://schemas.microsoft.com/office/powerpoint/2010/main" val="4205853788"/>
              </p:ext>
            </p:extLst>
          </p:nvPr>
        </p:nvGraphicFramePr>
        <p:xfrm>
          <a:off x="258133" y="2832451"/>
          <a:ext cx="2484487" cy="904862"/>
        </p:xfrm>
        <a:graphic>
          <a:graphicData uri="http://schemas.openxmlformats.org/presentationml/2006/ole">
            <mc:AlternateContent xmlns:mc="http://schemas.openxmlformats.org/markup-compatibility/2006">
              <mc:Choice xmlns:v="urn:schemas-microsoft-com:vml" Requires="v">
                <p:oleObj name="Equation" r:id="rId3" imgW="977760" imgH="355320" progId="Equation.3">
                  <p:embed/>
                </p:oleObj>
              </mc:Choice>
              <mc:Fallback>
                <p:oleObj name="Equation" r:id="rId3" imgW="977760" imgH="35532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8133" y="2832451"/>
                        <a:ext cx="2484487" cy="9048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5" name="Picture 3"/>
          <p:cNvPicPr>
            <a:picLocks noChangeAspect="1" noChangeArrowheads="1"/>
          </p:cNvPicPr>
          <p:nvPr/>
        </p:nvPicPr>
        <p:blipFill>
          <a:blip r:embed="rId5" cstate="print"/>
          <a:srcRect l="11250" t="7051" r="7500"/>
          <a:stretch>
            <a:fillRect/>
          </a:stretch>
        </p:blipFill>
        <p:spPr bwMode="auto">
          <a:xfrm>
            <a:off x="2915816" y="1237696"/>
            <a:ext cx="6078312" cy="4980184"/>
          </a:xfrm>
          <a:prstGeom prst="rect">
            <a:avLst/>
          </a:prstGeom>
          <a:noFill/>
          <a:ln w="9525">
            <a:noFill/>
            <a:miter lim="800000"/>
            <a:headEnd/>
            <a:tailEnd/>
          </a:ln>
          <a:effectLst/>
        </p:spPr>
      </p:pic>
      <p:sp>
        <p:nvSpPr>
          <p:cNvPr id="3" name="Freeform 2"/>
          <p:cNvSpPr/>
          <p:nvPr/>
        </p:nvSpPr>
        <p:spPr>
          <a:xfrm>
            <a:off x="3271838" y="1900238"/>
            <a:ext cx="5514975" cy="3357562"/>
          </a:xfrm>
          <a:custGeom>
            <a:avLst/>
            <a:gdLst>
              <a:gd name="connsiteX0" fmla="*/ 0 w 5514975"/>
              <a:gd name="connsiteY0" fmla="*/ 3357562 h 3357562"/>
              <a:gd name="connsiteX1" fmla="*/ 628650 w 5514975"/>
              <a:gd name="connsiteY1" fmla="*/ 3000375 h 3357562"/>
              <a:gd name="connsiteX2" fmla="*/ 1471612 w 5514975"/>
              <a:gd name="connsiteY2" fmla="*/ 1328737 h 3357562"/>
              <a:gd name="connsiteX3" fmla="*/ 2700337 w 5514975"/>
              <a:gd name="connsiteY3" fmla="*/ 342900 h 3357562"/>
              <a:gd name="connsiteX4" fmla="*/ 5514975 w 5514975"/>
              <a:gd name="connsiteY4" fmla="*/ 0 h 3357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4975" h="3357562">
                <a:moveTo>
                  <a:pt x="0" y="3357562"/>
                </a:moveTo>
                <a:cubicBezTo>
                  <a:pt x="191690" y="3348037"/>
                  <a:pt x="383381" y="3338512"/>
                  <a:pt x="628650" y="3000375"/>
                </a:cubicBezTo>
                <a:cubicBezTo>
                  <a:pt x="873919" y="2662238"/>
                  <a:pt x="1126331" y="1771649"/>
                  <a:pt x="1471612" y="1328737"/>
                </a:cubicBezTo>
                <a:cubicBezTo>
                  <a:pt x="1816893" y="885824"/>
                  <a:pt x="2026443" y="564356"/>
                  <a:pt x="2700337" y="342900"/>
                </a:cubicBezTo>
                <a:cubicBezTo>
                  <a:pt x="3374231" y="121444"/>
                  <a:pt x="4444603" y="60722"/>
                  <a:pt x="5514975"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p:cNvSpPr/>
          <p:nvPr/>
        </p:nvSpPr>
        <p:spPr>
          <a:xfrm>
            <a:off x="4481512" y="3505200"/>
            <a:ext cx="91440" cy="914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p:cNvCxnSpPr/>
          <p:nvPr/>
        </p:nvCxnSpPr>
        <p:spPr>
          <a:xfrm flipH="1">
            <a:off x="4005264" y="1900238"/>
            <a:ext cx="914400" cy="3890962"/>
          </a:xfrm>
          <a:prstGeom prst="line">
            <a:avLst/>
          </a:prstGeom>
        </p:spPr>
        <p:style>
          <a:lnRef idx="1">
            <a:schemeClr val="accent1"/>
          </a:lnRef>
          <a:fillRef idx="0">
            <a:schemeClr val="accent1"/>
          </a:fillRef>
          <a:effectRef idx="0">
            <a:schemeClr val="accent1"/>
          </a:effectRef>
          <a:fontRef idx="minor">
            <a:schemeClr val="tx1"/>
          </a:fontRef>
        </p:style>
      </p:cxnSp>
      <p:sp>
        <p:nvSpPr>
          <p:cNvPr id="6" name="Slide Number Placeholder 5"/>
          <p:cNvSpPr>
            <a:spLocks noGrp="1"/>
          </p:cNvSpPr>
          <p:nvPr>
            <p:ph type="sldNum" sz="quarter" idx="12"/>
          </p:nvPr>
        </p:nvSpPr>
        <p:spPr/>
        <p:txBody>
          <a:bodyPr/>
          <a:lstStyle/>
          <a:p>
            <a:fld id="{7A0D5CAB-8BF0-4EA3-BAE4-9835C852A49B}" type="slidenum">
              <a:rPr lang="en-GB" smtClean="0"/>
              <a:pPr/>
              <a:t>34</a:t>
            </a:fld>
            <a:endParaRPr lang="en-GB" dirty="0"/>
          </a:p>
        </p:txBody>
      </p:sp>
    </p:spTree>
    <p:extLst>
      <p:ext uri="{BB962C8B-B14F-4D97-AF65-F5344CB8AC3E}">
        <p14:creationId xmlns:p14="http://schemas.microsoft.com/office/powerpoint/2010/main" val="2300350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62000"/>
          </a:xfrm>
        </p:spPr>
        <p:txBody>
          <a:bodyPr/>
          <a:lstStyle/>
          <a:p>
            <a:r>
              <a:rPr lang="en-US" dirty="0"/>
              <a:t>Example-2</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28600" y="1066800"/>
                <a:ext cx="8229600" cy="5059363"/>
              </a:xfrm>
            </p:spPr>
            <p:txBody>
              <a:bodyPr>
                <a:normAutofit/>
              </a:bodyPr>
              <a:lstStyle/>
              <a:p>
                <a:pPr algn="just"/>
                <a:r>
                  <a:rPr lang="en-US" sz="2600" dirty="0"/>
                  <a:t>Consider the control system shown in following figure.</a:t>
                </a:r>
              </a:p>
              <a:p>
                <a:pPr algn="just"/>
                <a:endParaRPr lang="en-US" sz="2600" dirty="0"/>
              </a:p>
              <a:p>
                <a:pPr algn="just"/>
                <a:endParaRPr lang="en-US" sz="2600" dirty="0"/>
              </a:p>
              <a:p>
                <a:pPr algn="just"/>
                <a:endParaRPr lang="en-US" sz="2600" dirty="0"/>
              </a:p>
              <a:p>
                <a:pPr algn="just"/>
                <a:endParaRPr lang="en-US" sz="2600" dirty="0"/>
              </a:p>
              <a:p>
                <a:pPr algn="just"/>
                <a:endParaRPr lang="en-US" sz="2600" dirty="0"/>
              </a:p>
              <a:p>
                <a:pPr algn="just"/>
                <a:endParaRPr lang="en-US" sz="2600" dirty="0"/>
              </a:p>
              <a:p>
                <a:pPr algn="just"/>
                <a:r>
                  <a:rPr lang="en-US" sz="2600" dirty="0"/>
                  <a:t>Apply a Ziegler–Nichols tuning rule for the determination of the values of parameters </a:t>
                </a:r>
                <a14:m>
                  <m:oMath xmlns:m="http://schemas.openxmlformats.org/officeDocument/2006/math">
                    <m:sSub>
                      <m:sSubPr>
                        <m:ctrlPr>
                          <a:rPr lang="en-US" sz="2400" i="1">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𝐾</m:t>
                        </m:r>
                      </m:e>
                      <m:sub>
                        <m:r>
                          <a:rPr lang="en-US" sz="2400" i="1">
                            <a:solidFill>
                              <a:srgbClr val="FF0000"/>
                            </a:solidFill>
                            <a:latin typeface="Cambria Math" panose="02040503050406030204" pitchFamily="18" charset="0"/>
                          </a:rPr>
                          <m:t>𝑝</m:t>
                        </m:r>
                      </m:sub>
                    </m:sSub>
                    <m:r>
                      <a:rPr lang="en-US" sz="2400" i="1">
                        <a:latin typeface="Cambria Math" panose="02040503050406030204" pitchFamily="18" charset="0"/>
                      </a:rPr>
                      <m:t>, </m:t>
                    </m:r>
                    <m:sSub>
                      <m:sSubPr>
                        <m:ctrlPr>
                          <a:rPr lang="en-US" sz="2400" i="1">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𝑇</m:t>
                        </m:r>
                      </m:e>
                      <m:sub>
                        <m:r>
                          <a:rPr lang="en-US" sz="2400" i="1">
                            <a:solidFill>
                              <a:srgbClr val="FF0000"/>
                            </a:solidFill>
                            <a:latin typeface="Cambria Math" panose="02040503050406030204" pitchFamily="18" charset="0"/>
                          </a:rPr>
                          <m:t>𝑖</m:t>
                        </m:r>
                      </m:sub>
                    </m:sSub>
                    <m:r>
                      <a:rPr lang="en-US" sz="2400" i="1">
                        <a:latin typeface="Cambria Math" panose="02040503050406030204" pitchFamily="18" charset="0"/>
                      </a:rPr>
                      <m:t> </m:t>
                    </m:r>
                    <m:r>
                      <m:rPr>
                        <m:sty m:val="p"/>
                      </m:rPr>
                      <a:rPr lang="en-US" sz="2400">
                        <a:latin typeface="Cambria Math" panose="02040503050406030204" pitchFamily="18" charset="0"/>
                      </a:rPr>
                      <m:t>and</m:t>
                    </m:r>
                    <m:r>
                      <a:rPr lang="en-US" sz="2400" i="1">
                        <a:latin typeface="Cambria Math" panose="02040503050406030204" pitchFamily="18" charset="0"/>
                      </a:rPr>
                      <m:t> </m:t>
                    </m:r>
                    <m:sSub>
                      <m:sSubPr>
                        <m:ctrlPr>
                          <a:rPr lang="en-US" sz="2400" i="1">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𝑇</m:t>
                        </m:r>
                      </m:e>
                      <m:sub>
                        <m:r>
                          <a:rPr lang="en-US" sz="2400" i="1">
                            <a:solidFill>
                              <a:srgbClr val="FF0000"/>
                            </a:solidFill>
                            <a:latin typeface="Cambria Math" panose="02040503050406030204" pitchFamily="18" charset="0"/>
                          </a:rPr>
                          <m:t>𝑑</m:t>
                        </m:r>
                      </m:sub>
                    </m:sSub>
                  </m:oMath>
                </a14:m>
                <a:r>
                  <a:rPr lang="en-US" sz="2600"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28600" y="1066800"/>
                <a:ext cx="8229600" cy="5059363"/>
              </a:xfrm>
              <a:blipFill rotWithShape="0">
                <a:blip r:embed="rId2"/>
                <a:stretch>
                  <a:fillRect l="-1185" t="-964" r="-1259"/>
                </a:stretch>
              </a:blipFill>
            </p:spPr>
            <p:txBody>
              <a:bodyPr/>
              <a:lstStyle/>
              <a:p>
                <a:r>
                  <a:rPr lang="en-US">
                    <a:noFill/>
                  </a:rPr>
                  <a:t> </a:t>
                </a:r>
              </a:p>
            </p:txBody>
          </p:sp>
        </mc:Fallback>
      </mc:AlternateContent>
      <p:pic>
        <p:nvPicPr>
          <p:cNvPr id="4" name="Picture 3"/>
          <p:cNvPicPr>
            <a:picLocks noChangeAspect="1"/>
          </p:cNvPicPr>
          <p:nvPr/>
        </p:nvPicPr>
        <p:blipFill>
          <a:blip r:embed="rId3"/>
          <a:stretch>
            <a:fillRect/>
          </a:stretch>
        </p:blipFill>
        <p:spPr>
          <a:xfrm>
            <a:off x="838200" y="1981200"/>
            <a:ext cx="7258080" cy="1981200"/>
          </a:xfrm>
          <a:prstGeom prst="rect">
            <a:avLst/>
          </a:prstGeom>
        </p:spPr>
      </p:pic>
      <p:sp>
        <p:nvSpPr>
          <p:cNvPr id="5" name="Slide Number Placeholder 4"/>
          <p:cNvSpPr>
            <a:spLocks noGrp="1"/>
          </p:cNvSpPr>
          <p:nvPr>
            <p:ph type="sldNum" sz="quarter" idx="12"/>
          </p:nvPr>
        </p:nvSpPr>
        <p:spPr/>
        <p:txBody>
          <a:bodyPr/>
          <a:lstStyle/>
          <a:p>
            <a:fld id="{7A0D5CAB-8BF0-4EA3-BAE4-9835C852A49B}" type="slidenum">
              <a:rPr lang="en-GB" smtClean="0"/>
              <a:pPr/>
              <a:t>35</a:t>
            </a:fld>
            <a:endParaRPr lang="en-GB" dirty="0"/>
          </a:p>
        </p:txBody>
      </p:sp>
    </p:spTree>
    <p:extLst>
      <p:ext uri="{BB962C8B-B14F-4D97-AF65-F5344CB8AC3E}">
        <p14:creationId xmlns:p14="http://schemas.microsoft.com/office/powerpoint/2010/main" val="16334195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62000"/>
          </a:xfrm>
        </p:spPr>
        <p:txBody>
          <a:bodyPr/>
          <a:lstStyle/>
          <a:p>
            <a:r>
              <a:rPr lang="en-US" dirty="0"/>
              <a:t>Example-2</a:t>
            </a:r>
          </a:p>
        </p:txBody>
      </p:sp>
      <p:sp>
        <p:nvSpPr>
          <p:cNvPr id="3" name="Content Placeholder 2"/>
          <p:cNvSpPr>
            <a:spLocks noGrp="1"/>
          </p:cNvSpPr>
          <p:nvPr>
            <p:ph idx="1"/>
          </p:nvPr>
        </p:nvSpPr>
        <p:spPr>
          <a:xfrm>
            <a:off x="228600" y="1066800"/>
            <a:ext cx="8229600" cy="5059363"/>
          </a:xfrm>
        </p:spPr>
        <p:txBody>
          <a:bodyPr>
            <a:normAutofit/>
          </a:bodyPr>
          <a:lstStyle/>
          <a:p>
            <a:pPr algn="just"/>
            <a:r>
              <a:rPr lang="en-US" sz="2600" dirty="0"/>
              <a:t>Transfer function of the plant is </a:t>
            </a:r>
          </a:p>
          <a:p>
            <a:pPr algn="just"/>
            <a:endParaRPr lang="en-US" sz="2600" dirty="0"/>
          </a:p>
          <a:p>
            <a:pPr algn="just"/>
            <a:endParaRPr lang="en-US" sz="2600" dirty="0"/>
          </a:p>
          <a:p>
            <a:pPr algn="just"/>
            <a:endParaRPr lang="en-US" sz="2600" dirty="0"/>
          </a:p>
          <a:p>
            <a:pPr algn="just"/>
            <a:r>
              <a:rPr lang="en-US" sz="2600" dirty="0"/>
              <a:t>Since plant has an integrator therefore Ziegler-Nichol’s first method is not applicable. </a:t>
            </a:r>
          </a:p>
          <a:p>
            <a:pPr algn="just"/>
            <a:endParaRPr lang="en-US" sz="1200" dirty="0"/>
          </a:p>
          <a:p>
            <a:pPr algn="just"/>
            <a:endParaRPr lang="en-US" sz="1200" dirty="0"/>
          </a:p>
          <a:p>
            <a:pPr algn="just"/>
            <a:r>
              <a:rPr lang="en-US" sz="2600" dirty="0"/>
              <a:t>According to second method proportional gain is varied till sustained oscillations are produced. </a:t>
            </a:r>
          </a:p>
          <a:p>
            <a:pPr algn="just"/>
            <a:endParaRPr lang="en-US" sz="2600" dirty="0"/>
          </a:p>
          <a:p>
            <a:pPr algn="just"/>
            <a:r>
              <a:rPr lang="en-US" sz="2600" dirty="0"/>
              <a:t>That value of </a:t>
            </a:r>
            <a:r>
              <a:rPr lang="en-US" sz="2600" i="1" dirty="0" err="1">
                <a:solidFill>
                  <a:srgbClr val="FF0000"/>
                </a:solidFill>
              </a:rPr>
              <a:t>K</a:t>
            </a:r>
            <a:r>
              <a:rPr lang="en-US" sz="2600" i="1" baseline="-25000" dirty="0" err="1">
                <a:solidFill>
                  <a:srgbClr val="FF0000"/>
                </a:solidFill>
              </a:rPr>
              <a:t>c</a:t>
            </a:r>
            <a:r>
              <a:rPr lang="en-US" sz="2600" dirty="0"/>
              <a:t> is referred as </a:t>
            </a:r>
            <a:r>
              <a:rPr lang="en-US" sz="2600" i="1" dirty="0" err="1">
                <a:solidFill>
                  <a:srgbClr val="FF0000"/>
                </a:solidFill>
              </a:rPr>
              <a:t>K</a:t>
            </a:r>
            <a:r>
              <a:rPr lang="en-US" sz="2600" i="1" baseline="-25000" dirty="0" err="1">
                <a:solidFill>
                  <a:srgbClr val="FF0000"/>
                </a:solidFill>
              </a:rPr>
              <a:t>cr</a:t>
            </a:r>
            <a:r>
              <a:rPr lang="en-US" sz="2600" dirty="0"/>
              <a:t>. </a:t>
            </a:r>
          </a:p>
          <a:p>
            <a:pPr algn="just"/>
            <a:endParaRPr lang="en-US" sz="2600" dirty="0"/>
          </a:p>
          <a:p>
            <a:pPr algn="just"/>
            <a:endParaRPr lang="en-US" sz="2600" dirty="0"/>
          </a:p>
        </p:txBody>
      </p:sp>
      <mc:AlternateContent xmlns:mc="http://schemas.openxmlformats.org/markup-compatibility/2006" xmlns:a14="http://schemas.microsoft.com/office/drawing/2010/main">
        <mc:Choice Requires="a14">
          <p:sp>
            <p:nvSpPr>
              <p:cNvPr id="5" name="TextBox 4"/>
              <p:cNvSpPr txBox="1"/>
              <p:nvPr/>
            </p:nvSpPr>
            <p:spPr>
              <a:xfrm>
                <a:off x="2514600" y="1831425"/>
                <a:ext cx="3627083" cy="88588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𝐺</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𝑠</m:t>
                          </m:r>
                        </m:e>
                      </m:d>
                      <m:r>
                        <a:rPr lang="en-US" sz="2800" b="0" i="1" smtClean="0">
                          <a:latin typeface="Cambria Math" panose="02040503050406030204" pitchFamily="18" charset="0"/>
                        </a:rPr>
                        <m:t>=</m:t>
                      </m:r>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1</m:t>
                          </m:r>
                        </m:num>
                        <m:den>
                          <m:r>
                            <a:rPr lang="en-US" sz="2800" b="0" i="1" smtClean="0">
                              <a:latin typeface="Cambria Math" panose="02040503050406030204" pitchFamily="18" charset="0"/>
                            </a:rPr>
                            <m:t>𝑠</m:t>
                          </m:r>
                          <m:r>
                            <a:rPr lang="en-US" sz="2800" b="0" i="1" smtClean="0">
                              <a:latin typeface="Cambria Math" panose="02040503050406030204" pitchFamily="18" charset="0"/>
                            </a:rPr>
                            <m:t>(</m:t>
                          </m:r>
                          <m:r>
                            <a:rPr lang="en-US" sz="2800" b="0" i="1" smtClean="0">
                              <a:latin typeface="Cambria Math" panose="02040503050406030204" pitchFamily="18" charset="0"/>
                            </a:rPr>
                            <m:t>𝑠</m:t>
                          </m:r>
                          <m:r>
                            <a:rPr lang="en-US" sz="2800" b="0" i="1" smtClean="0">
                              <a:latin typeface="Cambria Math" panose="02040503050406030204" pitchFamily="18" charset="0"/>
                            </a:rPr>
                            <m:t>+1)(</m:t>
                          </m:r>
                          <m:r>
                            <a:rPr lang="en-US" sz="2800" b="0" i="1" smtClean="0">
                              <a:latin typeface="Cambria Math" panose="02040503050406030204" pitchFamily="18" charset="0"/>
                            </a:rPr>
                            <m:t>𝑠</m:t>
                          </m:r>
                          <m:r>
                            <a:rPr lang="en-US" sz="2800" b="0" i="1" smtClean="0">
                              <a:latin typeface="Cambria Math" panose="02040503050406030204" pitchFamily="18" charset="0"/>
                            </a:rPr>
                            <m:t>+5)</m:t>
                          </m:r>
                        </m:den>
                      </m:f>
                    </m:oMath>
                  </m:oMathPara>
                </a14:m>
                <a:endParaRPr lang="en-US" sz="2800" dirty="0"/>
              </a:p>
            </p:txBody>
          </p:sp>
        </mc:Choice>
        <mc:Fallback xmlns="">
          <p:sp>
            <p:nvSpPr>
              <p:cNvPr id="5" name="TextBox 4"/>
              <p:cNvSpPr txBox="1">
                <a:spLocks noRot="1" noChangeAspect="1" noMove="1" noResize="1" noEditPoints="1" noAdjustHandles="1" noChangeArrowheads="1" noChangeShapeType="1" noTextEdit="1"/>
              </p:cNvSpPr>
              <p:nvPr/>
            </p:nvSpPr>
            <p:spPr>
              <a:xfrm>
                <a:off x="2514600" y="1831425"/>
                <a:ext cx="3627083" cy="885884"/>
              </a:xfrm>
              <a:prstGeom prst="rect">
                <a:avLst/>
              </a:prstGeom>
              <a:blipFill rotWithShape="0">
                <a:blip r:embed="rId2"/>
                <a:stretch>
                  <a:fillRect/>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7A0D5CAB-8BF0-4EA3-BAE4-9835C852A49B}" type="slidenum">
              <a:rPr lang="en-GB" smtClean="0"/>
              <a:pPr/>
              <a:t>36</a:t>
            </a:fld>
            <a:endParaRPr lang="en-GB" dirty="0"/>
          </a:p>
        </p:txBody>
      </p:sp>
    </p:spTree>
    <p:extLst>
      <p:ext uri="{BB962C8B-B14F-4D97-AF65-F5344CB8AC3E}">
        <p14:creationId xmlns:p14="http://schemas.microsoft.com/office/powerpoint/2010/main" val="2870640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62000"/>
          </a:xfrm>
        </p:spPr>
        <p:txBody>
          <a:bodyPr/>
          <a:lstStyle/>
          <a:p>
            <a:r>
              <a:rPr lang="en-US" dirty="0"/>
              <a:t>Example-2</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52400" y="762000"/>
                <a:ext cx="8839200" cy="5059363"/>
              </a:xfrm>
            </p:spPr>
            <p:txBody>
              <a:bodyPr>
                <a:normAutofit/>
              </a:bodyPr>
              <a:lstStyle/>
              <a:p>
                <a:pPr algn="just"/>
                <a:r>
                  <a:rPr lang="en-US" sz="2600" dirty="0"/>
                  <a:t>Here, since the transfer function of the plant is known we can find </a:t>
                </a:r>
                <a14:m>
                  <m:oMath xmlns:m="http://schemas.openxmlformats.org/officeDocument/2006/math">
                    <m:sSub>
                      <m:sSubPr>
                        <m:ctrlPr>
                          <a:rPr lang="en-US" sz="2600" i="1" smtClean="0">
                            <a:solidFill>
                              <a:srgbClr val="FF0000"/>
                            </a:solidFill>
                            <a:latin typeface="Cambria Math" panose="02040503050406030204" pitchFamily="18" charset="0"/>
                          </a:rPr>
                        </m:ctrlPr>
                      </m:sSubPr>
                      <m:e>
                        <m:r>
                          <a:rPr lang="en-US" sz="2600" b="0" i="1" smtClean="0">
                            <a:solidFill>
                              <a:srgbClr val="FF0000"/>
                            </a:solidFill>
                            <a:latin typeface="Cambria Math" panose="02040503050406030204" pitchFamily="18" charset="0"/>
                          </a:rPr>
                          <m:t>𝐾</m:t>
                        </m:r>
                      </m:e>
                      <m:sub>
                        <m:r>
                          <a:rPr lang="en-US" sz="2600" b="0" i="1" smtClean="0">
                            <a:solidFill>
                              <a:srgbClr val="FF0000"/>
                            </a:solidFill>
                            <a:latin typeface="Cambria Math" panose="02040503050406030204" pitchFamily="18" charset="0"/>
                          </a:rPr>
                          <m:t>𝑐𝑟</m:t>
                        </m:r>
                      </m:sub>
                    </m:sSub>
                  </m:oMath>
                </a14:m>
                <a:r>
                  <a:rPr lang="en-US" sz="2600" dirty="0"/>
                  <a:t> using</a:t>
                </a:r>
              </a:p>
              <a:p>
                <a:pPr algn="just"/>
                <a:endParaRPr lang="en-US" sz="1000" dirty="0"/>
              </a:p>
              <a:p>
                <a:pPr lvl="1" algn="just"/>
                <a:r>
                  <a:rPr lang="en-US" sz="2200" dirty="0"/>
                  <a:t>Root Locus</a:t>
                </a:r>
              </a:p>
              <a:p>
                <a:pPr lvl="1" algn="just"/>
                <a:r>
                  <a:rPr lang="en-US" sz="2200" dirty="0"/>
                  <a:t>Routh-Herwitz Stability Criterion</a:t>
                </a:r>
              </a:p>
              <a:p>
                <a:pPr algn="just"/>
                <a:endParaRPr lang="en-US" sz="2600" dirty="0"/>
              </a:p>
              <a:p>
                <a:pPr algn="just"/>
                <a:r>
                  <a:rPr lang="en-US" sz="2600" dirty="0"/>
                  <a:t>By setting </a:t>
                </a:r>
                <a14:m>
                  <m:oMath xmlns:m="http://schemas.openxmlformats.org/officeDocument/2006/math">
                    <m:sSub>
                      <m:sSubPr>
                        <m:ctrlPr>
                          <a:rPr lang="en-US" sz="2600" i="1" smtClean="0">
                            <a:solidFill>
                              <a:srgbClr val="FF0000"/>
                            </a:solidFill>
                            <a:latin typeface="Cambria Math" panose="02040503050406030204" pitchFamily="18" charset="0"/>
                          </a:rPr>
                        </m:ctrlPr>
                      </m:sSubPr>
                      <m:e>
                        <m:r>
                          <a:rPr lang="en-US" sz="2600" b="0" i="1" smtClean="0">
                            <a:solidFill>
                              <a:srgbClr val="FF0000"/>
                            </a:solidFill>
                            <a:latin typeface="Cambria Math" panose="02040503050406030204" pitchFamily="18" charset="0"/>
                          </a:rPr>
                          <m:t>𝑇</m:t>
                        </m:r>
                      </m:e>
                      <m:sub>
                        <m:r>
                          <a:rPr lang="en-US" sz="2600" b="0" i="1" smtClean="0">
                            <a:solidFill>
                              <a:srgbClr val="FF0000"/>
                            </a:solidFill>
                            <a:latin typeface="Cambria Math" panose="02040503050406030204" pitchFamily="18" charset="0"/>
                          </a:rPr>
                          <m:t>𝑖</m:t>
                        </m:r>
                      </m:sub>
                    </m:sSub>
                    <m:r>
                      <a:rPr lang="en-US" sz="2600" b="0" i="1" smtClean="0">
                        <a:solidFill>
                          <a:srgbClr val="FF0000"/>
                        </a:solidFill>
                        <a:latin typeface="Cambria Math" panose="02040503050406030204" pitchFamily="18" charset="0"/>
                      </a:rPr>
                      <m:t>=</m:t>
                    </m:r>
                    <m:r>
                      <a:rPr lang="en-US" sz="2600" b="0" i="1" smtClean="0">
                        <a:solidFill>
                          <a:srgbClr val="FF0000"/>
                        </a:solidFill>
                        <a:latin typeface="Cambria Math" panose="02040503050406030204" pitchFamily="18" charset="0"/>
                        <a:ea typeface="Cambria Math" panose="02040503050406030204" pitchFamily="18" charset="0"/>
                      </a:rPr>
                      <m:t>∞</m:t>
                    </m:r>
                  </m:oMath>
                </a14:m>
                <a:r>
                  <a:rPr lang="en-US" sz="2600" dirty="0"/>
                  <a:t> and </a:t>
                </a:r>
                <a14:m>
                  <m:oMath xmlns:m="http://schemas.openxmlformats.org/officeDocument/2006/math">
                    <m:sSub>
                      <m:sSubPr>
                        <m:ctrlPr>
                          <a:rPr lang="en-US" sz="2600" i="1" smtClean="0">
                            <a:solidFill>
                              <a:srgbClr val="FF0000"/>
                            </a:solidFill>
                            <a:latin typeface="Cambria Math" panose="02040503050406030204" pitchFamily="18" charset="0"/>
                          </a:rPr>
                        </m:ctrlPr>
                      </m:sSubPr>
                      <m:e>
                        <m:r>
                          <a:rPr lang="en-US" sz="2600" i="1">
                            <a:solidFill>
                              <a:srgbClr val="FF0000"/>
                            </a:solidFill>
                            <a:latin typeface="Cambria Math" panose="02040503050406030204" pitchFamily="18" charset="0"/>
                          </a:rPr>
                          <m:t>𝑇</m:t>
                        </m:r>
                      </m:e>
                      <m:sub>
                        <m:r>
                          <a:rPr lang="en-US" sz="2600" b="0" i="1" smtClean="0">
                            <a:solidFill>
                              <a:srgbClr val="FF0000"/>
                            </a:solidFill>
                            <a:latin typeface="Cambria Math" panose="02040503050406030204" pitchFamily="18" charset="0"/>
                          </a:rPr>
                          <m:t>𝑑</m:t>
                        </m:r>
                      </m:sub>
                    </m:sSub>
                    <m:r>
                      <a:rPr lang="en-US" sz="2600" i="1">
                        <a:solidFill>
                          <a:srgbClr val="FF0000"/>
                        </a:solidFill>
                        <a:latin typeface="Cambria Math" panose="02040503050406030204" pitchFamily="18" charset="0"/>
                      </a:rPr>
                      <m:t>=</m:t>
                    </m:r>
                    <m:r>
                      <a:rPr lang="en-US" sz="2600" b="0" i="1" smtClean="0">
                        <a:solidFill>
                          <a:srgbClr val="FF0000"/>
                        </a:solidFill>
                        <a:latin typeface="Cambria Math" panose="02040503050406030204" pitchFamily="18" charset="0"/>
                      </a:rPr>
                      <m:t>0</m:t>
                    </m:r>
                  </m:oMath>
                </a14:m>
                <a:r>
                  <a:rPr lang="en-US" sz="2600" dirty="0"/>
                  <a:t> closed loop transfer function is obtained as follows. </a:t>
                </a:r>
              </a:p>
              <a:p>
                <a:pPr algn="just"/>
                <a:endParaRPr lang="en-US" sz="2600" dirty="0"/>
              </a:p>
              <a:p>
                <a:pPr algn="just"/>
                <a:endParaRPr lang="en-US" sz="26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52400" y="762000"/>
                <a:ext cx="8839200" cy="5059363"/>
              </a:xfrm>
              <a:blipFill rotWithShape="0">
                <a:blip r:embed="rId2"/>
                <a:stretch>
                  <a:fillRect l="-1034" t="-964" r="-12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3036313" y="5948181"/>
                <a:ext cx="3821687" cy="80650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𝐶</m:t>
                          </m:r>
                          <m:r>
                            <a:rPr lang="en-US" sz="2400" b="0" i="1" smtClean="0">
                              <a:latin typeface="Cambria Math" panose="02040503050406030204" pitchFamily="18" charset="0"/>
                            </a:rPr>
                            <m:t>(</m:t>
                          </m:r>
                          <m:r>
                            <a:rPr lang="en-US" sz="2400" b="0" i="1" smtClean="0">
                              <a:latin typeface="Cambria Math" panose="02040503050406030204" pitchFamily="18" charset="0"/>
                            </a:rPr>
                            <m:t>𝑠</m:t>
                          </m:r>
                          <m:r>
                            <a:rPr lang="en-US" sz="2400" b="0" i="1" smtClean="0">
                              <a:latin typeface="Cambria Math" panose="02040503050406030204" pitchFamily="18" charset="0"/>
                            </a:rPr>
                            <m:t>)</m:t>
                          </m:r>
                        </m:num>
                        <m:den>
                          <m:r>
                            <a:rPr lang="en-US" sz="2400" b="0" i="1" smtClean="0">
                              <a:latin typeface="Cambria Math" panose="02040503050406030204" pitchFamily="18" charset="0"/>
                            </a:rPr>
                            <m:t>𝑅</m:t>
                          </m:r>
                          <m:r>
                            <a:rPr lang="en-US" sz="2400" b="0" i="1" smtClean="0">
                              <a:latin typeface="Cambria Math" panose="02040503050406030204" pitchFamily="18" charset="0"/>
                            </a:rPr>
                            <m:t>(</m:t>
                          </m:r>
                          <m:r>
                            <a:rPr lang="en-US" sz="2400" b="0" i="1" smtClean="0">
                              <a:latin typeface="Cambria Math" panose="02040503050406030204" pitchFamily="18" charset="0"/>
                            </a:rPr>
                            <m:t>𝑠</m:t>
                          </m:r>
                          <m:r>
                            <a:rPr lang="en-US" sz="2400" b="0" i="1" smtClean="0">
                              <a:latin typeface="Cambria Math" panose="02040503050406030204" pitchFamily="18" charset="0"/>
                            </a:rPr>
                            <m:t>)</m:t>
                          </m:r>
                        </m:den>
                      </m:f>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𝐾</m:t>
                              </m:r>
                            </m:e>
                            <m:sub>
                              <m:r>
                                <a:rPr lang="en-US" sz="2400" b="0" i="1" smtClean="0">
                                  <a:latin typeface="Cambria Math" panose="02040503050406030204" pitchFamily="18" charset="0"/>
                                </a:rPr>
                                <m:t>𝑝</m:t>
                              </m:r>
                            </m:sub>
                          </m:sSub>
                        </m:num>
                        <m:den>
                          <m:r>
                            <a:rPr lang="en-US" sz="2400" b="0" i="1" smtClean="0">
                              <a:latin typeface="Cambria Math" panose="02040503050406030204" pitchFamily="18" charset="0"/>
                            </a:rPr>
                            <m:t>𝑠</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𝑠</m:t>
                              </m:r>
                              <m:r>
                                <a:rPr lang="en-US" sz="2400" b="0" i="1" smtClean="0">
                                  <a:latin typeface="Cambria Math" panose="02040503050406030204" pitchFamily="18" charset="0"/>
                                </a:rPr>
                                <m:t>+1</m:t>
                              </m:r>
                            </m:e>
                          </m:d>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𝑠</m:t>
                              </m:r>
                              <m:r>
                                <a:rPr lang="en-US" sz="2400" b="0" i="1" smtClean="0">
                                  <a:latin typeface="Cambria Math" panose="02040503050406030204" pitchFamily="18" charset="0"/>
                                </a:rPr>
                                <m:t>+5</m:t>
                              </m:r>
                            </m:e>
                          </m:d>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𝐾</m:t>
                              </m:r>
                            </m:e>
                            <m:sub>
                              <m:r>
                                <a:rPr lang="en-US" sz="2400" i="1">
                                  <a:latin typeface="Cambria Math" panose="02040503050406030204" pitchFamily="18" charset="0"/>
                                </a:rPr>
                                <m:t>𝑝</m:t>
                              </m:r>
                            </m:sub>
                          </m:sSub>
                        </m:den>
                      </m:f>
                    </m:oMath>
                  </m:oMathPara>
                </a14:m>
                <a:endParaRPr lang="en-US" sz="2400" dirty="0"/>
              </a:p>
            </p:txBody>
          </p:sp>
        </mc:Choice>
        <mc:Fallback xmlns="">
          <p:sp>
            <p:nvSpPr>
              <p:cNvPr id="10" name="TextBox 9"/>
              <p:cNvSpPr txBox="1">
                <a:spLocks noRot="1" noChangeAspect="1" noMove="1" noResize="1" noEditPoints="1" noAdjustHandles="1" noChangeArrowheads="1" noChangeShapeType="1" noTextEdit="1"/>
              </p:cNvSpPr>
              <p:nvPr/>
            </p:nvSpPr>
            <p:spPr>
              <a:xfrm>
                <a:off x="3036313" y="5948181"/>
                <a:ext cx="3821687" cy="806503"/>
              </a:xfrm>
              <a:prstGeom prst="rect">
                <a:avLst/>
              </a:prstGeom>
              <a:blipFill rotWithShape="0">
                <a:blip r:embed="rId3"/>
                <a:stretch>
                  <a:fillRect/>
                </a:stretch>
              </a:blipFill>
            </p:spPr>
            <p:txBody>
              <a:bodyPr/>
              <a:lstStyle/>
              <a:p>
                <a:r>
                  <a:rPr lang="en-US">
                    <a:noFill/>
                  </a:rPr>
                  <a:t> </a:t>
                </a:r>
              </a:p>
            </p:txBody>
          </p:sp>
        </mc:Fallback>
      </mc:AlternateContent>
      <p:grpSp>
        <p:nvGrpSpPr>
          <p:cNvPr id="11" name="Group 10"/>
          <p:cNvGrpSpPr/>
          <p:nvPr/>
        </p:nvGrpSpPr>
        <p:grpSpPr>
          <a:xfrm>
            <a:off x="1828800" y="4098618"/>
            <a:ext cx="6191280" cy="1690001"/>
            <a:chOff x="1600200" y="4876800"/>
            <a:chExt cx="6191280" cy="1690001"/>
          </a:xfrm>
        </p:grpSpPr>
        <p:pic>
          <p:nvPicPr>
            <p:cNvPr id="12" name="Picture 11"/>
            <p:cNvPicPr>
              <a:picLocks noChangeAspect="1"/>
            </p:cNvPicPr>
            <p:nvPr/>
          </p:nvPicPr>
          <p:blipFill>
            <a:blip r:embed="rId4"/>
            <a:stretch>
              <a:fillRect/>
            </a:stretch>
          </p:blipFill>
          <p:spPr>
            <a:xfrm>
              <a:off x="1600200" y="4876800"/>
              <a:ext cx="6191280" cy="1690001"/>
            </a:xfrm>
            <a:prstGeom prst="rect">
              <a:avLst/>
            </a:prstGeom>
          </p:spPr>
        </p:pic>
        <mc:AlternateContent xmlns:mc="http://schemas.openxmlformats.org/markup-compatibility/2006" xmlns:a14="http://schemas.microsoft.com/office/drawing/2010/main">
          <mc:Choice Requires="a14">
            <p:sp>
              <p:nvSpPr>
                <p:cNvPr id="13" name="TextBox 12"/>
                <p:cNvSpPr txBox="1"/>
                <p:nvPr/>
              </p:nvSpPr>
              <p:spPr>
                <a:xfrm>
                  <a:off x="3505200" y="5029200"/>
                  <a:ext cx="491890" cy="397866"/>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𝐾</m:t>
                            </m:r>
                          </m:e>
                          <m:sub>
                            <m:r>
                              <a:rPr lang="en-US" sz="2400" b="0" i="1" smtClean="0">
                                <a:latin typeface="Cambria Math" panose="02040503050406030204" pitchFamily="18" charset="0"/>
                              </a:rPr>
                              <m:t>𝑝</m:t>
                            </m:r>
                          </m:sub>
                        </m:sSub>
                      </m:oMath>
                    </m:oMathPara>
                  </a14:m>
                  <a:endParaRPr lang="en-US" sz="2400" dirty="0"/>
                </a:p>
              </p:txBody>
            </p:sp>
          </mc:Choice>
          <mc:Fallback xmlns="">
            <p:sp>
              <p:nvSpPr>
                <p:cNvPr id="13" name="TextBox 12"/>
                <p:cNvSpPr txBox="1">
                  <a:spLocks noRot="1" noChangeAspect="1" noMove="1" noResize="1" noEditPoints="1" noAdjustHandles="1" noChangeArrowheads="1" noChangeShapeType="1" noTextEdit="1"/>
                </p:cNvSpPr>
                <p:nvPr/>
              </p:nvSpPr>
              <p:spPr>
                <a:xfrm>
                  <a:off x="3505200" y="5029200"/>
                  <a:ext cx="491890" cy="397866"/>
                </a:xfrm>
                <a:prstGeom prst="rect">
                  <a:avLst/>
                </a:prstGeom>
                <a:blipFill rotWithShape="0">
                  <a:blip r:embed="rId5"/>
                  <a:stretch>
                    <a:fillRect l="-7500" b="-18182"/>
                  </a:stretch>
                </a:blipFill>
              </p:spPr>
              <p:txBody>
                <a:bodyPr/>
                <a:lstStyle/>
                <a:p>
                  <a:r>
                    <a:rPr lang="en-US">
                      <a:noFill/>
                    </a:rPr>
                    <a:t> </a:t>
                  </a:r>
                </a:p>
              </p:txBody>
            </p:sp>
          </mc:Fallback>
        </mc:AlternateContent>
        <p:sp>
          <p:nvSpPr>
            <p:cNvPr id="14" name="Rectangle 13"/>
            <p:cNvSpPr/>
            <p:nvPr/>
          </p:nvSpPr>
          <p:spPr>
            <a:xfrm>
              <a:off x="3293945" y="5699388"/>
              <a:ext cx="914400" cy="533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Slide Number Placeholder 3"/>
          <p:cNvSpPr>
            <a:spLocks noGrp="1"/>
          </p:cNvSpPr>
          <p:nvPr>
            <p:ph type="sldNum" sz="quarter" idx="12"/>
          </p:nvPr>
        </p:nvSpPr>
        <p:spPr/>
        <p:txBody>
          <a:bodyPr/>
          <a:lstStyle/>
          <a:p>
            <a:fld id="{7A0D5CAB-8BF0-4EA3-BAE4-9835C852A49B}" type="slidenum">
              <a:rPr lang="en-GB" smtClean="0"/>
              <a:pPr/>
              <a:t>37</a:t>
            </a:fld>
            <a:endParaRPr lang="en-GB" dirty="0"/>
          </a:p>
        </p:txBody>
      </p:sp>
    </p:spTree>
    <p:extLst>
      <p:ext uri="{BB962C8B-B14F-4D97-AF65-F5344CB8AC3E}">
        <p14:creationId xmlns:p14="http://schemas.microsoft.com/office/powerpoint/2010/main" val="1055156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62000"/>
          </a:xfrm>
        </p:spPr>
        <p:txBody>
          <a:bodyPr/>
          <a:lstStyle/>
          <a:p>
            <a:r>
              <a:rPr lang="en-US" dirty="0"/>
              <a:t>Example-2</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52400" y="762000"/>
                <a:ext cx="8839200" cy="5059363"/>
              </a:xfrm>
            </p:spPr>
            <p:txBody>
              <a:bodyPr>
                <a:normAutofit/>
              </a:bodyPr>
              <a:lstStyle/>
              <a:p>
                <a:pPr algn="just"/>
                <a:r>
                  <a:rPr lang="en-US" sz="2600" dirty="0"/>
                  <a:t>The value of </a:t>
                </a:r>
                <a14:m>
                  <m:oMath xmlns:m="http://schemas.openxmlformats.org/officeDocument/2006/math">
                    <m:sSub>
                      <m:sSubPr>
                        <m:ctrlPr>
                          <a:rPr lang="en-US" sz="2600" i="1" smtClean="0">
                            <a:solidFill>
                              <a:srgbClr val="FF0000"/>
                            </a:solidFill>
                            <a:latin typeface="Cambria Math" panose="02040503050406030204" pitchFamily="18" charset="0"/>
                          </a:rPr>
                        </m:ctrlPr>
                      </m:sSubPr>
                      <m:e>
                        <m:r>
                          <a:rPr lang="en-US" sz="2600" b="0" i="1" smtClean="0">
                            <a:solidFill>
                              <a:srgbClr val="FF0000"/>
                            </a:solidFill>
                            <a:latin typeface="Cambria Math" panose="02040503050406030204" pitchFamily="18" charset="0"/>
                          </a:rPr>
                          <m:t>𝐾</m:t>
                        </m:r>
                      </m:e>
                      <m:sub>
                        <m:r>
                          <a:rPr lang="en-US" sz="2600" b="0" i="1" smtClean="0">
                            <a:solidFill>
                              <a:srgbClr val="FF0000"/>
                            </a:solidFill>
                            <a:latin typeface="Cambria Math" panose="02040503050406030204" pitchFamily="18" charset="0"/>
                          </a:rPr>
                          <m:t>𝑝</m:t>
                        </m:r>
                      </m:sub>
                    </m:sSub>
                  </m:oMath>
                </a14:m>
                <a:r>
                  <a:rPr lang="en-US" sz="2600" dirty="0"/>
                  <a:t> that makes the system marginally unstable so that sustained oscillation occurs can be obtained as</a:t>
                </a:r>
              </a:p>
              <a:p>
                <a:pPr algn="just"/>
                <a:endParaRPr lang="en-US" sz="2600" dirty="0"/>
              </a:p>
              <a:p>
                <a:pPr algn="just"/>
                <a:endParaRPr lang="en-US" sz="2600" dirty="0"/>
              </a:p>
              <a:p>
                <a:pPr algn="just"/>
                <a:r>
                  <a:rPr lang="en-US" sz="2600" dirty="0"/>
                  <a:t>The Routh array is obtained as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52400" y="762000"/>
                <a:ext cx="8839200" cy="5059363"/>
              </a:xfrm>
              <a:blipFill rotWithShape="0">
                <a:blip r:embed="rId2"/>
                <a:stretch>
                  <a:fillRect l="-1034" t="-964" r="-12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2774448" y="1965642"/>
                <a:ext cx="3702552" cy="47275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2800" i="1" smtClean="0">
                              <a:latin typeface="Cambria Math" panose="02040503050406030204" pitchFamily="18" charset="0"/>
                            </a:rPr>
                          </m:ctrlPr>
                        </m:sSupPr>
                        <m:e>
                          <m:r>
                            <a:rPr lang="en-US" sz="2800" b="0" i="1" smtClean="0">
                              <a:latin typeface="Cambria Math" panose="02040503050406030204" pitchFamily="18" charset="0"/>
                            </a:rPr>
                            <m:t>𝑠</m:t>
                          </m:r>
                        </m:e>
                        <m:sup>
                          <m:r>
                            <a:rPr lang="en-US" sz="2800" b="0" i="1" smtClean="0">
                              <a:latin typeface="Cambria Math" panose="02040503050406030204" pitchFamily="18" charset="0"/>
                            </a:rPr>
                            <m:t>3</m:t>
                          </m:r>
                        </m:sup>
                      </m:sSup>
                      <m:r>
                        <a:rPr lang="en-US" sz="2800" b="0" i="1" smtClean="0">
                          <a:latin typeface="Cambria Math" panose="02040503050406030204" pitchFamily="18" charset="0"/>
                        </a:rPr>
                        <m:t>+6</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𝑠</m:t>
                          </m:r>
                        </m:e>
                        <m:sup>
                          <m:r>
                            <a:rPr lang="en-US" sz="2800" b="0" i="1" smtClean="0">
                              <a:latin typeface="Cambria Math" panose="02040503050406030204" pitchFamily="18" charset="0"/>
                            </a:rPr>
                            <m:t>2</m:t>
                          </m:r>
                        </m:sup>
                      </m:sSup>
                      <m:r>
                        <a:rPr lang="en-US" sz="2800" b="0" i="1" smtClean="0">
                          <a:latin typeface="Cambria Math" panose="02040503050406030204" pitchFamily="18" charset="0"/>
                        </a:rPr>
                        <m:t>+5</m:t>
                      </m:r>
                      <m:r>
                        <a:rPr lang="en-US" sz="2800" b="0" i="1" smtClean="0">
                          <a:latin typeface="Cambria Math" panose="02040503050406030204" pitchFamily="18" charset="0"/>
                        </a:rPr>
                        <m:t>𝑠</m:t>
                      </m:r>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𝐾</m:t>
                          </m:r>
                        </m:e>
                        <m:sub>
                          <m:r>
                            <a:rPr lang="en-US" sz="2800" i="1">
                              <a:latin typeface="Cambria Math" panose="02040503050406030204" pitchFamily="18" charset="0"/>
                            </a:rPr>
                            <m:t>𝑝</m:t>
                          </m:r>
                        </m:sub>
                      </m:sSub>
                      <m:r>
                        <a:rPr lang="en-US" sz="2800" b="0" i="1" smtClean="0">
                          <a:latin typeface="Cambria Math" panose="02040503050406030204" pitchFamily="18" charset="0"/>
                        </a:rPr>
                        <m:t>=0</m:t>
                      </m:r>
                    </m:oMath>
                  </m:oMathPara>
                </a14:m>
                <a:endParaRPr lang="en-US" sz="2800" dirty="0"/>
              </a:p>
            </p:txBody>
          </p:sp>
        </mc:Choice>
        <mc:Fallback xmlns="">
          <p:sp>
            <p:nvSpPr>
              <p:cNvPr id="10" name="TextBox 9"/>
              <p:cNvSpPr txBox="1">
                <a:spLocks noRot="1" noChangeAspect="1" noMove="1" noResize="1" noEditPoints="1" noAdjustHandles="1" noChangeArrowheads="1" noChangeShapeType="1" noTextEdit="1"/>
              </p:cNvSpPr>
              <p:nvPr/>
            </p:nvSpPr>
            <p:spPr>
              <a:xfrm>
                <a:off x="2774448" y="1965642"/>
                <a:ext cx="3702552" cy="472758"/>
              </a:xfrm>
              <a:prstGeom prst="rect">
                <a:avLst/>
              </a:prstGeom>
              <a:blipFill rotWithShape="0">
                <a:blip r:embed="rId3"/>
                <a:stretch>
                  <a:fillRect/>
                </a:stretch>
              </a:blipFill>
            </p:spPr>
            <p:txBody>
              <a:bodyPr/>
              <a:lstStyle/>
              <a:p>
                <a:r>
                  <a:rPr lang="en-US">
                    <a:noFill/>
                  </a:rPr>
                  <a:t> </a:t>
                </a:r>
              </a:p>
            </p:txBody>
          </p:sp>
        </mc:Fallback>
      </mc:AlternateContent>
      <p:pic>
        <p:nvPicPr>
          <p:cNvPr id="4" name="Picture 3"/>
          <p:cNvPicPr>
            <a:picLocks noChangeAspect="1"/>
          </p:cNvPicPr>
          <p:nvPr/>
        </p:nvPicPr>
        <p:blipFill>
          <a:blip r:embed="rId4"/>
          <a:stretch>
            <a:fillRect/>
          </a:stretch>
        </p:blipFill>
        <p:spPr>
          <a:xfrm>
            <a:off x="5791200" y="2971800"/>
            <a:ext cx="3057624" cy="2593254"/>
          </a:xfrm>
          <a:prstGeom prst="rect">
            <a:avLst/>
          </a:prstGeom>
        </p:spPr>
      </p:pic>
      <mc:AlternateContent xmlns:mc="http://schemas.openxmlformats.org/markup-compatibility/2006" xmlns:a14="http://schemas.microsoft.com/office/drawing/2010/main">
        <mc:Choice Requires="a14">
          <p:sp>
            <p:nvSpPr>
              <p:cNvPr id="5" name="Rectangle 4"/>
              <p:cNvSpPr/>
              <p:nvPr/>
            </p:nvSpPr>
            <p:spPr>
              <a:xfrm>
                <a:off x="152400" y="3352800"/>
                <a:ext cx="5105400" cy="2523896"/>
              </a:xfrm>
              <a:prstGeom prst="rect">
                <a:avLst/>
              </a:prstGeom>
            </p:spPr>
            <p:txBody>
              <a:bodyPr wrap="square">
                <a:spAutoFit/>
              </a:bodyPr>
              <a:lstStyle/>
              <a:p>
                <a:pPr marL="285750" indent="-285750" algn="just">
                  <a:buFont typeface="Arial" panose="020B0604020202020204" pitchFamily="34" charset="0"/>
                  <a:buChar char="•"/>
                </a:pPr>
                <a:r>
                  <a:rPr lang="en-US" sz="2600" dirty="0"/>
                  <a:t>Examining the coefficients of first column of the Routh array we find that sustained oscillations will occur if  </a:t>
                </a:r>
                <a14:m>
                  <m:oMath xmlns:m="http://schemas.openxmlformats.org/officeDocument/2006/math">
                    <m:sSub>
                      <m:sSubPr>
                        <m:ctrlPr>
                          <a:rPr lang="en-US" sz="2600" i="1">
                            <a:solidFill>
                              <a:srgbClr val="FF0000"/>
                            </a:solidFill>
                            <a:latin typeface="Cambria Math" panose="02040503050406030204" pitchFamily="18" charset="0"/>
                          </a:rPr>
                        </m:ctrlPr>
                      </m:sSubPr>
                      <m:e>
                        <m:r>
                          <a:rPr lang="en-US" sz="2600" i="1">
                            <a:solidFill>
                              <a:srgbClr val="FF0000"/>
                            </a:solidFill>
                            <a:latin typeface="Cambria Math" panose="02040503050406030204" pitchFamily="18" charset="0"/>
                          </a:rPr>
                          <m:t>𝐾</m:t>
                        </m:r>
                      </m:e>
                      <m:sub>
                        <m:r>
                          <a:rPr lang="en-US" sz="2600" i="1">
                            <a:solidFill>
                              <a:srgbClr val="FF0000"/>
                            </a:solidFill>
                            <a:latin typeface="Cambria Math" panose="02040503050406030204" pitchFamily="18" charset="0"/>
                          </a:rPr>
                          <m:t>𝑝</m:t>
                        </m:r>
                      </m:sub>
                    </m:sSub>
                    <m:r>
                      <a:rPr lang="en-US" sz="2600" b="0" i="1" smtClean="0">
                        <a:solidFill>
                          <a:srgbClr val="FF0000"/>
                        </a:solidFill>
                        <a:latin typeface="Cambria Math" panose="02040503050406030204" pitchFamily="18" charset="0"/>
                      </a:rPr>
                      <m:t>=30</m:t>
                    </m:r>
                  </m:oMath>
                </a14:m>
                <a:r>
                  <a:rPr lang="en-US" sz="2600" dirty="0"/>
                  <a:t>.</a:t>
                </a:r>
              </a:p>
              <a:p>
                <a:pPr marL="285750" indent="-285750" algn="just">
                  <a:buFont typeface="Arial" panose="020B0604020202020204" pitchFamily="34" charset="0"/>
                  <a:buChar char="•"/>
                </a:pPr>
                <a:endParaRPr lang="en-US" sz="2600" dirty="0"/>
              </a:p>
              <a:p>
                <a:pPr marL="285750" indent="-285750" algn="just">
                  <a:buFont typeface="Arial" panose="020B0604020202020204" pitchFamily="34" charset="0"/>
                  <a:buChar char="•"/>
                </a:pPr>
                <a:r>
                  <a:rPr lang="en-US" sz="2600" dirty="0"/>
                  <a:t>Thus the critical gain </a:t>
                </a:r>
                <a14:m>
                  <m:oMath xmlns:m="http://schemas.openxmlformats.org/officeDocument/2006/math">
                    <m:sSub>
                      <m:sSubPr>
                        <m:ctrlPr>
                          <a:rPr lang="en-US" sz="2600" i="1">
                            <a:solidFill>
                              <a:srgbClr val="FF0000"/>
                            </a:solidFill>
                            <a:latin typeface="Cambria Math" panose="02040503050406030204" pitchFamily="18" charset="0"/>
                          </a:rPr>
                        </m:ctrlPr>
                      </m:sSubPr>
                      <m:e>
                        <m:r>
                          <a:rPr lang="en-US" sz="2600" i="1">
                            <a:solidFill>
                              <a:srgbClr val="FF0000"/>
                            </a:solidFill>
                            <a:latin typeface="Cambria Math" panose="02040503050406030204" pitchFamily="18" charset="0"/>
                          </a:rPr>
                          <m:t>𝐾</m:t>
                        </m:r>
                      </m:e>
                      <m:sub>
                        <m:r>
                          <a:rPr lang="en-US" sz="2600" b="0" i="1" smtClean="0">
                            <a:solidFill>
                              <a:srgbClr val="FF0000"/>
                            </a:solidFill>
                            <a:latin typeface="Cambria Math" panose="02040503050406030204" pitchFamily="18" charset="0"/>
                          </a:rPr>
                          <m:t>𝑐𝑟</m:t>
                        </m:r>
                      </m:sub>
                    </m:sSub>
                  </m:oMath>
                </a14:m>
                <a:r>
                  <a:rPr lang="en-US" sz="2600" dirty="0"/>
                  <a:t> is   </a:t>
                </a:r>
              </a:p>
            </p:txBody>
          </p:sp>
        </mc:Choice>
        <mc:Fallback xmlns="">
          <p:sp>
            <p:nvSpPr>
              <p:cNvPr id="5" name="Rectangle 4"/>
              <p:cNvSpPr>
                <a:spLocks noRot="1" noChangeAspect="1" noMove="1" noResize="1" noEditPoints="1" noAdjustHandles="1" noChangeArrowheads="1" noChangeShapeType="1" noTextEdit="1"/>
              </p:cNvSpPr>
              <p:nvPr/>
            </p:nvSpPr>
            <p:spPr>
              <a:xfrm>
                <a:off x="152400" y="3352800"/>
                <a:ext cx="5105400" cy="2523896"/>
              </a:xfrm>
              <a:prstGeom prst="rect">
                <a:avLst/>
              </a:prstGeom>
              <a:blipFill rotWithShape="0">
                <a:blip r:embed="rId5"/>
                <a:stretch>
                  <a:fillRect l="-1790" t="-1932" r="-2029" b="-53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2705100" y="6103442"/>
                <a:ext cx="1648208"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i="1" smtClean="0">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𝐾</m:t>
                          </m:r>
                        </m:e>
                        <m:sub>
                          <m:r>
                            <a:rPr lang="en-US" sz="2800" b="0" i="1" smtClean="0">
                              <a:solidFill>
                                <a:schemeClr val="tx1"/>
                              </a:solidFill>
                              <a:latin typeface="Cambria Math" panose="02040503050406030204" pitchFamily="18" charset="0"/>
                            </a:rPr>
                            <m:t>𝑐𝑟</m:t>
                          </m:r>
                        </m:sub>
                      </m:sSub>
                      <m:r>
                        <a:rPr lang="en-US" sz="2800" i="1">
                          <a:solidFill>
                            <a:schemeClr val="tx1"/>
                          </a:solidFill>
                          <a:latin typeface="Cambria Math" panose="02040503050406030204" pitchFamily="18" charset="0"/>
                        </a:rPr>
                        <m:t>=30</m:t>
                      </m:r>
                    </m:oMath>
                  </m:oMathPara>
                </a14:m>
                <a:endParaRPr lang="en-US" sz="2800" dirty="0">
                  <a:solidFill>
                    <a:schemeClr val="tx1"/>
                  </a:solidFill>
                </a:endParaRPr>
              </a:p>
            </p:txBody>
          </p:sp>
        </mc:Choice>
        <mc:Fallback xmlns="">
          <p:sp>
            <p:nvSpPr>
              <p:cNvPr id="6" name="Rectangle 5"/>
              <p:cNvSpPr>
                <a:spLocks noRot="1" noChangeAspect="1" noMove="1" noResize="1" noEditPoints="1" noAdjustHandles="1" noChangeArrowheads="1" noChangeShapeType="1" noTextEdit="1"/>
              </p:cNvSpPr>
              <p:nvPr/>
            </p:nvSpPr>
            <p:spPr>
              <a:xfrm>
                <a:off x="2705100" y="6103442"/>
                <a:ext cx="1648208" cy="523220"/>
              </a:xfrm>
              <a:prstGeom prst="rect">
                <a:avLst/>
              </a:prstGeom>
              <a:blipFill rotWithShape="0">
                <a:blip r:embed="rId6"/>
                <a:stretch>
                  <a:fillRect/>
                </a:stretch>
              </a:blipFill>
            </p:spPr>
            <p:txBody>
              <a:bodyPr/>
              <a:lstStyle/>
              <a:p>
                <a:r>
                  <a:rPr lang="en-US">
                    <a:noFill/>
                  </a:rPr>
                  <a:t> </a:t>
                </a:r>
              </a:p>
            </p:txBody>
          </p:sp>
        </mc:Fallback>
      </mc:AlternateContent>
      <p:sp>
        <p:nvSpPr>
          <p:cNvPr id="7" name="Slide Number Placeholder 6"/>
          <p:cNvSpPr>
            <a:spLocks noGrp="1"/>
          </p:cNvSpPr>
          <p:nvPr>
            <p:ph type="sldNum" sz="quarter" idx="12"/>
          </p:nvPr>
        </p:nvSpPr>
        <p:spPr/>
        <p:txBody>
          <a:bodyPr/>
          <a:lstStyle/>
          <a:p>
            <a:fld id="{7A0D5CAB-8BF0-4EA3-BAE4-9835C852A49B}" type="slidenum">
              <a:rPr lang="en-GB" smtClean="0"/>
              <a:pPr/>
              <a:t>38</a:t>
            </a:fld>
            <a:endParaRPr lang="en-GB" dirty="0"/>
          </a:p>
        </p:txBody>
      </p:sp>
    </p:spTree>
    <p:extLst>
      <p:ext uri="{BB962C8B-B14F-4D97-AF65-F5344CB8AC3E}">
        <p14:creationId xmlns:p14="http://schemas.microsoft.com/office/powerpoint/2010/main" val="3643701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62000"/>
          </a:xfrm>
        </p:spPr>
        <p:txBody>
          <a:bodyPr/>
          <a:lstStyle/>
          <a:p>
            <a:r>
              <a:rPr lang="en-US" dirty="0"/>
              <a:t>Example-2</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52400" y="762000"/>
                <a:ext cx="8839200" cy="5059363"/>
              </a:xfrm>
            </p:spPr>
            <p:txBody>
              <a:bodyPr>
                <a:normAutofit/>
              </a:bodyPr>
              <a:lstStyle/>
              <a:p>
                <a:pPr algn="just"/>
                <a:r>
                  <a:rPr lang="en-US" sz="2600" dirty="0"/>
                  <a:t>With gain </a:t>
                </a:r>
                <a14:m>
                  <m:oMath xmlns:m="http://schemas.openxmlformats.org/officeDocument/2006/math">
                    <m:sSub>
                      <m:sSubPr>
                        <m:ctrlPr>
                          <a:rPr lang="en-US" sz="2600" i="1" smtClean="0">
                            <a:solidFill>
                              <a:srgbClr val="FF0000"/>
                            </a:solidFill>
                            <a:latin typeface="Cambria Math" panose="02040503050406030204" pitchFamily="18" charset="0"/>
                          </a:rPr>
                        </m:ctrlPr>
                      </m:sSubPr>
                      <m:e>
                        <m:r>
                          <a:rPr lang="en-US" sz="2600" b="0" i="1" smtClean="0">
                            <a:solidFill>
                              <a:srgbClr val="FF0000"/>
                            </a:solidFill>
                            <a:latin typeface="Cambria Math" panose="02040503050406030204" pitchFamily="18" charset="0"/>
                          </a:rPr>
                          <m:t>𝐾</m:t>
                        </m:r>
                      </m:e>
                      <m:sub>
                        <m:r>
                          <a:rPr lang="en-US" sz="2600" b="0" i="1" smtClean="0">
                            <a:solidFill>
                              <a:srgbClr val="FF0000"/>
                            </a:solidFill>
                            <a:latin typeface="Cambria Math" panose="02040503050406030204" pitchFamily="18" charset="0"/>
                          </a:rPr>
                          <m:t>𝑝</m:t>
                        </m:r>
                      </m:sub>
                    </m:sSub>
                  </m:oMath>
                </a14:m>
                <a:r>
                  <a:rPr lang="en-US" sz="2600" dirty="0"/>
                  <a:t> set equal to 30, the characteristic equation becomes</a:t>
                </a:r>
              </a:p>
              <a:p>
                <a:pPr algn="just"/>
                <a:endParaRPr lang="en-US" sz="2600" dirty="0"/>
              </a:p>
              <a:p>
                <a:pPr algn="just"/>
                <a:r>
                  <a:rPr lang="en-US" sz="2600" dirty="0"/>
                  <a:t>To find the frequency of sustained oscillations, we substitute </a:t>
                </a:r>
                <a14:m>
                  <m:oMath xmlns:m="http://schemas.openxmlformats.org/officeDocument/2006/math">
                    <m:r>
                      <a:rPr lang="en-US" sz="2600" b="0" i="1" smtClean="0">
                        <a:solidFill>
                          <a:srgbClr val="FF0000"/>
                        </a:solidFill>
                        <a:latin typeface="Cambria Math" panose="02040503050406030204" pitchFamily="18" charset="0"/>
                      </a:rPr>
                      <m:t>𝑠</m:t>
                    </m:r>
                    <m:r>
                      <a:rPr lang="en-US" sz="2600" b="0" i="1" smtClean="0">
                        <a:solidFill>
                          <a:srgbClr val="FF0000"/>
                        </a:solidFill>
                        <a:latin typeface="Cambria Math" panose="02040503050406030204" pitchFamily="18" charset="0"/>
                      </a:rPr>
                      <m:t>=</m:t>
                    </m:r>
                    <m:r>
                      <a:rPr lang="en-US" sz="2600" b="0" i="1" smtClean="0">
                        <a:solidFill>
                          <a:srgbClr val="FF0000"/>
                        </a:solidFill>
                        <a:latin typeface="Cambria Math" panose="02040503050406030204" pitchFamily="18" charset="0"/>
                      </a:rPr>
                      <m:t>𝑗</m:t>
                    </m:r>
                    <m:r>
                      <a:rPr lang="en-US" sz="2600" b="0" i="1" smtClean="0">
                        <a:solidFill>
                          <a:srgbClr val="FF0000"/>
                        </a:solidFill>
                        <a:latin typeface="Cambria Math" panose="02040503050406030204" pitchFamily="18" charset="0"/>
                        <a:ea typeface="Cambria Math" panose="02040503050406030204" pitchFamily="18" charset="0"/>
                      </a:rPr>
                      <m:t>𝜔</m:t>
                    </m:r>
                  </m:oMath>
                </a14:m>
                <a:r>
                  <a:rPr lang="en-US" sz="2600" dirty="0">
                    <a:solidFill>
                      <a:srgbClr val="FF0000"/>
                    </a:solidFill>
                  </a:rPr>
                  <a:t> </a:t>
                </a:r>
                <a:r>
                  <a:rPr lang="en-US" sz="2600" dirty="0"/>
                  <a:t>into the characteristic equation.  </a:t>
                </a:r>
              </a:p>
              <a:p>
                <a:pPr algn="just"/>
                <a:endParaRPr lang="en-US" sz="2600" dirty="0"/>
              </a:p>
              <a:p>
                <a:pPr algn="just"/>
                <a:endParaRPr lang="en-US" sz="2600" dirty="0"/>
              </a:p>
              <a:p>
                <a:pPr algn="just"/>
                <a:r>
                  <a:rPr lang="en-US" sz="2600" dirty="0"/>
                  <a:t>Further simplification leads to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52400" y="762000"/>
                <a:ext cx="8839200" cy="5059363"/>
              </a:xfrm>
              <a:blipFill rotWithShape="0">
                <a:blip r:embed="rId2"/>
                <a:stretch>
                  <a:fillRect l="-1034" t="-964" r="-12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2505526" y="1626513"/>
                <a:ext cx="3695563"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2800" i="1" smtClean="0">
                              <a:latin typeface="Cambria Math" panose="02040503050406030204" pitchFamily="18" charset="0"/>
                            </a:rPr>
                          </m:ctrlPr>
                        </m:sSupPr>
                        <m:e>
                          <m:r>
                            <a:rPr lang="en-US" sz="2800" b="0" i="1" smtClean="0">
                              <a:latin typeface="Cambria Math" panose="02040503050406030204" pitchFamily="18" charset="0"/>
                            </a:rPr>
                            <m:t>𝑠</m:t>
                          </m:r>
                        </m:e>
                        <m:sup>
                          <m:r>
                            <a:rPr lang="en-US" sz="2800" b="0" i="1" smtClean="0">
                              <a:latin typeface="Cambria Math" panose="02040503050406030204" pitchFamily="18" charset="0"/>
                            </a:rPr>
                            <m:t>3</m:t>
                          </m:r>
                        </m:sup>
                      </m:sSup>
                      <m:r>
                        <a:rPr lang="en-US" sz="2800" b="0" i="1" smtClean="0">
                          <a:latin typeface="Cambria Math" panose="02040503050406030204" pitchFamily="18" charset="0"/>
                        </a:rPr>
                        <m:t>+6</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𝑠</m:t>
                          </m:r>
                        </m:e>
                        <m:sup>
                          <m:r>
                            <a:rPr lang="en-US" sz="2800" b="0" i="1" smtClean="0">
                              <a:latin typeface="Cambria Math" panose="02040503050406030204" pitchFamily="18" charset="0"/>
                            </a:rPr>
                            <m:t>2</m:t>
                          </m:r>
                        </m:sup>
                      </m:sSup>
                      <m:r>
                        <a:rPr lang="en-US" sz="2800" b="0" i="1" smtClean="0">
                          <a:latin typeface="Cambria Math" panose="02040503050406030204" pitchFamily="18" charset="0"/>
                        </a:rPr>
                        <m:t>+5</m:t>
                      </m:r>
                      <m:r>
                        <a:rPr lang="en-US" sz="2800" b="0" i="1" smtClean="0">
                          <a:latin typeface="Cambria Math" panose="02040503050406030204" pitchFamily="18" charset="0"/>
                        </a:rPr>
                        <m:t>𝑠</m:t>
                      </m:r>
                      <m:r>
                        <a:rPr lang="en-US" sz="2800" i="1">
                          <a:latin typeface="Cambria Math" panose="02040503050406030204" pitchFamily="18" charset="0"/>
                        </a:rPr>
                        <m:t>+</m:t>
                      </m:r>
                      <m:r>
                        <a:rPr lang="en-US" sz="2800" i="1" smtClean="0">
                          <a:latin typeface="Cambria Math" panose="02040503050406030204" pitchFamily="18" charset="0"/>
                        </a:rPr>
                        <m:t>3</m:t>
                      </m:r>
                      <m:r>
                        <a:rPr lang="en-US" sz="2800" b="0" i="1" smtClean="0">
                          <a:latin typeface="Cambria Math" panose="02040503050406030204" pitchFamily="18" charset="0"/>
                        </a:rPr>
                        <m:t>0=0</m:t>
                      </m:r>
                    </m:oMath>
                  </m:oMathPara>
                </a14:m>
                <a:endParaRPr lang="en-US" sz="2800" dirty="0"/>
              </a:p>
            </p:txBody>
          </p:sp>
        </mc:Choice>
        <mc:Fallback xmlns="">
          <p:sp>
            <p:nvSpPr>
              <p:cNvPr id="10" name="TextBox 9"/>
              <p:cNvSpPr txBox="1">
                <a:spLocks noRot="1" noChangeAspect="1" noMove="1" noResize="1" noEditPoints="1" noAdjustHandles="1" noChangeArrowheads="1" noChangeShapeType="1" noTextEdit="1"/>
              </p:cNvSpPr>
              <p:nvPr/>
            </p:nvSpPr>
            <p:spPr>
              <a:xfrm>
                <a:off x="2505526" y="1626513"/>
                <a:ext cx="3695563" cy="430887"/>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2072409" y="3302913"/>
                <a:ext cx="4633191"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2800" i="1" smtClean="0">
                              <a:latin typeface="Cambria Math" panose="02040503050406030204" pitchFamily="18" charset="0"/>
                            </a:rPr>
                          </m:ctrlPr>
                        </m:sSupPr>
                        <m:e>
                          <m:r>
                            <a:rPr lang="en-US" sz="2800" b="0" i="1" smtClean="0">
                              <a:latin typeface="Cambria Math" panose="02040503050406030204" pitchFamily="18" charset="0"/>
                            </a:rPr>
                            <m:t>(</m:t>
                          </m:r>
                          <m:r>
                            <a:rPr lang="en-US" sz="2800" b="0" i="1" smtClean="0">
                              <a:latin typeface="Cambria Math" panose="02040503050406030204" pitchFamily="18" charset="0"/>
                            </a:rPr>
                            <m:t>𝑗</m:t>
                          </m:r>
                          <m:r>
                            <a:rPr lang="en-US" sz="2800" b="0" i="1" smtClean="0">
                              <a:latin typeface="Cambria Math" panose="02040503050406030204" pitchFamily="18" charset="0"/>
                              <a:ea typeface="Cambria Math" panose="02040503050406030204" pitchFamily="18" charset="0"/>
                            </a:rPr>
                            <m:t>𝜔</m:t>
                          </m:r>
                          <m:r>
                            <a:rPr lang="en-US" sz="2800" b="0" i="1" smtClean="0">
                              <a:latin typeface="Cambria Math" panose="02040503050406030204" pitchFamily="18" charset="0"/>
                            </a:rPr>
                            <m:t>)</m:t>
                          </m:r>
                        </m:e>
                        <m:sup>
                          <m:r>
                            <a:rPr lang="en-US" sz="2800" b="0" i="1" smtClean="0">
                              <a:latin typeface="Cambria Math" panose="02040503050406030204" pitchFamily="18" charset="0"/>
                            </a:rPr>
                            <m:t>3</m:t>
                          </m:r>
                        </m:sup>
                      </m:sSup>
                      <m:r>
                        <a:rPr lang="en-US" sz="2800" b="0" i="1" smtClean="0">
                          <a:latin typeface="Cambria Math" panose="02040503050406030204" pitchFamily="18" charset="0"/>
                        </a:rPr>
                        <m:t>+6</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m:t>
                          </m:r>
                          <m:r>
                            <a:rPr lang="en-US" sz="2800" i="1">
                              <a:latin typeface="Cambria Math" panose="02040503050406030204" pitchFamily="18" charset="0"/>
                            </a:rPr>
                            <m:t>𝑗</m:t>
                          </m:r>
                          <m:r>
                            <a:rPr lang="en-US" sz="2800" i="1">
                              <a:latin typeface="Cambria Math" panose="02040503050406030204" pitchFamily="18" charset="0"/>
                              <a:ea typeface="Cambria Math" panose="02040503050406030204" pitchFamily="18" charset="0"/>
                            </a:rPr>
                            <m:t>𝜔</m:t>
                          </m:r>
                          <m:r>
                            <a:rPr lang="en-US" sz="2800" b="0" i="1" smtClean="0">
                              <a:latin typeface="Cambria Math" panose="02040503050406030204" pitchFamily="18" charset="0"/>
                              <a:ea typeface="Cambria Math" panose="02040503050406030204" pitchFamily="18" charset="0"/>
                            </a:rPr>
                            <m:t>)</m:t>
                          </m:r>
                        </m:e>
                        <m:sup>
                          <m:r>
                            <a:rPr lang="en-US" sz="2800" b="0" i="1" smtClean="0">
                              <a:latin typeface="Cambria Math" panose="02040503050406030204" pitchFamily="18" charset="0"/>
                            </a:rPr>
                            <m:t>2</m:t>
                          </m:r>
                        </m:sup>
                      </m:sSup>
                      <m:r>
                        <a:rPr lang="en-US" sz="2800" b="0" i="1" smtClean="0">
                          <a:latin typeface="Cambria Math" panose="02040503050406030204" pitchFamily="18" charset="0"/>
                        </a:rPr>
                        <m:t>+5</m:t>
                      </m:r>
                      <m:r>
                        <a:rPr lang="en-US" sz="2800" i="1">
                          <a:latin typeface="Cambria Math" panose="02040503050406030204" pitchFamily="18" charset="0"/>
                        </a:rPr>
                        <m:t>𝑗</m:t>
                      </m:r>
                      <m:r>
                        <a:rPr lang="en-US" sz="2800" i="1">
                          <a:latin typeface="Cambria Math" panose="02040503050406030204" pitchFamily="18" charset="0"/>
                          <a:ea typeface="Cambria Math" panose="02040503050406030204" pitchFamily="18" charset="0"/>
                        </a:rPr>
                        <m:t>𝜔</m:t>
                      </m:r>
                      <m:r>
                        <a:rPr lang="en-US" sz="2800" i="1">
                          <a:latin typeface="Cambria Math" panose="02040503050406030204" pitchFamily="18" charset="0"/>
                        </a:rPr>
                        <m:t>+</m:t>
                      </m:r>
                      <m:r>
                        <a:rPr lang="en-US" sz="2800" i="1" smtClean="0">
                          <a:latin typeface="Cambria Math" panose="02040503050406030204" pitchFamily="18" charset="0"/>
                        </a:rPr>
                        <m:t>3</m:t>
                      </m:r>
                      <m:r>
                        <a:rPr lang="en-US" sz="2800" b="0" i="1" smtClean="0">
                          <a:latin typeface="Cambria Math" panose="02040503050406030204" pitchFamily="18" charset="0"/>
                        </a:rPr>
                        <m:t>0=0</m:t>
                      </m:r>
                    </m:oMath>
                  </m:oMathPara>
                </a14:m>
                <a:endParaRPr lang="en-US" sz="2800" dirty="0"/>
              </a:p>
            </p:txBody>
          </p:sp>
        </mc:Choice>
        <mc:Fallback xmlns="">
          <p:sp>
            <p:nvSpPr>
              <p:cNvPr id="8" name="TextBox 7"/>
              <p:cNvSpPr txBox="1">
                <a:spLocks noRot="1" noChangeAspect="1" noMove="1" noResize="1" noEditPoints="1" noAdjustHandles="1" noChangeArrowheads="1" noChangeShapeType="1" noTextEdit="1"/>
              </p:cNvSpPr>
              <p:nvPr/>
            </p:nvSpPr>
            <p:spPr>
              <a:xfrm>
                <a:off x="2072409" y="3302913"/>
                <a:ext cx="4633191" cy="430887"/>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2301009" y="4674513"/>
                <a:ext cx="4493794"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2800" i="1" smtClean="0">
                              <a:latin typeface="Cambria Math" panose="02040503050406030204" pitchFamily="18" charset="0"/>
                            </a:rPr>
                          </m:ctrlPr>
                        </m:sSupPr>
                        <m:e>
                          <m:r>
                            <a:rPr lang="en-US" sz="2800" b="0" i="1" smtClean="0">
                              <a:latin typeface="Cambria Math" panose="02040503050406030204" pitchFamily="18" charset="0"/>
                            </a:rPr>
                            <m:t>6(5−</m:t>
                          </m:r>
                          <m:r>
                            <a:rPr lang="en-US" sz="2800" b="0" i="1" smtClean="0">
                              <a:latin typeface="Cambria Math" panose="02040503050406030204" pitchFamily="18" charset="0"/>
                              <a:ea typeface="Cambria Math" panose="02040503050406030204" pitchFamily="18" charset="0"/>
                            </a:rPr>
                            <m:t>𝜔</m:t>
                          </m:r>
                        </m:e>
                        <m:sup>
                          <m:r>
                            <a:rPr lang="en-US" sz="2800" b="0" i="1" smtClean="0">
                              <a:latin typeface="Cambria Math" panose="02040503050406030204" pitchFamily="18" charset="0"/>
                            </a:rPr>
                            <m:t>2</m:t>
                          </m:r>
                        </m:sup>
                      </m:sSup>
                      <m:r>
                        <a:rPr lang="en-US" sz="2800" b="0" i="1" smtClean="0">
                          <a:latin typeface="Cambria Math" panose="02040503050406030204" pitchFamily="18" charset="0"/>
                        </a:rPr>
                        <m:t>)+</m:t>
                      </m:r>
                      <m:r>
                        <a:rPr lang="en-US" sz="2800" i="1">
                          <a:latin typeface="Cambria Math" panose="02040503050406030204" pitchFamily="18" charset="0"/>
                        </a:rPr>
                        <m:t>𝑗</m:t>
                      </m:r>
                      <m:r>
                        <a:rPr lang="en-US" sz="2800" i="1">
                          <a:latin typeface="Cambria Math" panose="02040503050406030204" pitchFamily="18" charset="0"/>
                          <a:ea typeface="Cambria Math" panose="02040503050406030204" pitchFamily="18" charset="0"/>
                        </a:rPr>
                        <m:t>𝜔</m:t>
                      </m:r>
                      <m:sSup>
                        <m:sSupPr>
                          <m:ctrlPr>
                            <a:rPr lang="en-US" sz="2800" i="1">
                              <a:latin typeface="Cambria Math" panose="02040503050406030204" pitchFamily="18" charset="0"/>
                            </a:rPr>
                          </m:ctrlPr>
                        </m:sSupPr>
                        <m:e>
                          <m:r>
                            <a:rPr lang="en-US" sz="2800" i="1">
                              <a:latin typeface="Cambria Math" panose="02040503050406030204" pitchFamily="18" charset="0"/>
                            </a:rPr>
                            <m:t>(5−</m:t>
                          </m:r>
                          <m:r>
                            <a:rPr lang="en-US" sz="2800" i="1">
                              <a:latin typeface="Cambria Math" panose="02040503050406030204" pitchFamily="18" charset="0"/>
                              <a:ea typeface="Cambria Math" panose="02040503050406030204" pitchFamily="18" charset="0"/>
                            </a:rPr>
                            <m:t>𝜔</m:t>
                          </m:r>
                        </m:e>
                        <m:sup>
                          <m:r>
                            <a:rPr lang="en-US" sz="2800" i="1">
                              <a:latin typeface="Cambria Math" panose="02040503050406030204" pitchFamily="18" charset="0"/>
                            </a:rPr>
                            <m:t>2</m:t>
                          </m:r>
                        </m:sup>
                      </m:sSup>
                      <m:r>
                        <a:rPr lang="en-US" sz="2800" i="1">
                          <a:latin typeface="Cambria Math" panose="02040503050406030204" pitchFamily="18" charset="0"/>
                        </a:rPr>
                        <m:t>)</m:t>
                      </m:r>
                      <m:r>
                        <a:rPr lang="en-US" sz="2800" b="0" i="1" smtClean="0">
                          <a:latin typeface="Cambria Math" panose="02040503050406030204" pitchFamily="18" charset="0"/>
                        </a:rPr>
                        <m:t>=0</m:t>
                      </m:r>
                    </m:oMath>
                  </m:oMathPara>
                </a14:m>
                <a:endParaRPr lang="en-US" sz="2800" dirty="0"/>
              </a:p>
            </p:txBody>
          </p:sp>
        </mc:Choice>
        <mc:Fallback xmlns="">
          <p:sp>
            <p:nvSpPr>
              <p:cNvPr id="9" name="TextBox 8"/>
              <p:cNvSpPr txBox="1">
                <a:spLocks noRot="1" noChangeAspect="1" noMove="1" noResize="1" noEditPoints="1" noAdjustHandles="1" noChangeArrowheads="1" noChangeShapeType="1" noTextEdit="1"/>
              </p:cNvSpPr>
              <p:nvPr/>
            </p:nvSpPr>
            <p:spPr>
              <a:xfrm>
                <a:off x="2301009" y="4674513"/>
                <a:ext cx="4493794" cy="430887"/>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3048000" y="5417370"/>
                <a:ext cx="2307042"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2800" i="1" smtClean="0">
                              <a:latin typeface="Cambria Math" panose="02040503050406030204" pitchFamily="18" charset="0"/>
                            </a:rPr>
                          </m:ctrlPr>
                        </m:sSupPr>
                        <m:e>
                          <m:r>
                            <a:rPr lang="en-US" sz="2800" b="0" i="1" smtClean="0">
                              <a:latin typeface="Cambria Math" panose="02040503050406030204" pitchFamily="18" charset="0"/>
                            </a:rPr>
                            <m:t>6(5−</m:t>
                          </m:r>
                          <m:r>
                            <a:rPr lang="en-US" sz="2800" b="0" i="1" smtClean="0">
                              <a:latin typeface="Cambria Math" panose="02040503050406030204" pitchFamily="18" charset="0"/>
                              <a:ea typeface="Cambria Math" panose="02040503050406030204" pitchFamily="18" charset="0"/>
                            </a:rPr>
                            <m:t>𝜔</m:t>
                          </m:r>
                        </m:e>
                        <m:sup>
                          <m:r>
                            <a:rPr lang="en-US" sz="2800" b="0" i="1" smtClean="0">
                              <a:latin typeface="Cambria Math" panose="02040503050406030204" pitchFamily="18" charset="0"/>
                            </a:rPr>
                            <m:t>2</m:t>
                          </m:r>
                        </m:sup>
                      </m:sSup>
                      <m:r>
                        <a:rPr lang="en-US" sz="2800" b="0" i="1" smtClean="0">
                          <a:latin typeface="Cambria Math" panose="02040503050406030204" pitchFamily="18" charset="0"/>
                        </a:rPr>
                        <m:t>)=0</m:t>
                      </m:r>
                    </m:oMath>
                  </m:oMathPara>
                </a14:m>
                <a:endParaRPr lang="en-US" sz="2800" dirty="0"/>
              </a:p>
            </p:txBody>
          </p:sp>
        </mc:Choice>
        <mc:Fallback xmlns="">
          <p:sp>
            <p:nvSpPr>
              <p:cNvPr id="11" name="TextBox 10"/>
              <p:cNvSpPr txBox="1">
                <a:spLocks noRot="1" noChangeAspect="1" noMove="1" noResize="1" noEditPoints="1" noAdjustHandles="1" noChangeArrowheads="1" noChangeShapeType="1" noTextEdit="1"/>
              </p:cNvSpPr>
              <p:nvPr/>
            </p:nvSpPr>
            <p:spPr>
              <a:xfrm>
                <a:off x="3048000" y="5417370"/>
                <a:ext cx="2307042" cy="430887"/>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2971800" y="6101667"/>
                <a:ext cx="2618922" cy="49039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ea typeface="Cambria Math" panose="02040503050406030204" pitchFamily="18" charset="0"/>
                        </a:rPr>
                        <m:t>𝜔</m:t>
                      </m:r>
                      <m:r>
                        <a:rPr lang="en-US" sz="2800" b="0" i="1" smtClean="0">
                          <a:latin typeface="Cambria Math" panose="02040503050406030204" pitchFamily="18" charset="0"/>
                        </a:rPr>
                        <m:t>=</m:t>
                      </m:r>
                      <m:rad>
                        <m:radPr>
                          <m:degHide m:val="on"/>
                          <m:ctrlPr>
                            <a:rPr lang="en-US" sz="2800" b="0" i="1" smtClean="0">
                              <a:latin typeface="Cambria Math" panose="02040503050406030204" pitchFamily="18" charset="0"/>
                            </a:rPr>
                          </m:ctrlPr>
                        </m:radPr>
                        <m:deg/>
                        <m:e>
                          <m:r>
                            <a:rPr lang="en-US" sz="2800" b="0" i="1" smtClean="0">
                              <a:latin typeface="Cambria Math" panose="02040503050406030204" pitchFamily="18" charset="0"/>
                            </a:rPr>
                            <m:t>5</m:t>
                          </m:r>
                        </m:e>
                      </m:rad>
                      <m:r>
                        <a:rPr lang="en-US" sz="2800" b="0" i="1" smtClean="0">
                          <a:latin typeface="Cambria Math" panose="02040503050406030204" pitchFamily="18" charset="0"/>
                        </a:rPr>
                        <m:t> </m:t>
                      </m:r>
                      <m:r>
                        <a:rPr lang="en-US" sz="2800" b="0" i="1" smtClean="0">
                          <a:latin typeface="Cambria Math" panose="02040503050406030204" pitchFamily="18" charset="0"/>
                        </a:rPr>
                        <m:t>𝑟𝑎𝑑</m:t>
                      </m:r>
                      <m:r>
                        <a:rPr lang="en-US" sz="2800" b="0" i="1" smtClean="0">
                          <a:latin typeface="Cambria Math" panose="02040503050406030204" pitchFamily="18" charset="0"/>
                        </a:rPr>
                        <m:t>/</m:t>
                      </m:r>
                      <m:r>
                        <a:rPr lang="en-US" sz="2800" b="0" i="1" smtClean="0">
                          <a:latin typeface="Cambria Math" panose="02040503050406030204" pitchFamily="18" charset="0"/>
                        </a:rPr>
                        <m:t>𝑠𝑒𝑐</m:t>
                      </m:r>
                    </m:oMath>
                  </m:oMathPara>
                </a14:m>
                <a:endParaRPr lang="en-US" sz="2800" dirty="0"/>
              </a:p>
            </p:txBody>
          </p:sp>
        </mc:Choice>
        <mc:Fallback xmlns="">
          <p:sp>
            <p:nvSpPr>
              <p:cNvPr id="12" name="TextBox 11"/>
              <p:cNvSpPr txBox="1">
                <a:spLocks noRot="1" noChangeAspect="1" noMove="1" noResize="1" noEditPoints="1" noAdjustHandles="1" noChangeArrowheads="1" noChangeShapeType="1" noTextEdit="1"/>
              </p:cNvSpPr>
              <p:nvPr/>
            </p:nvSpPr>
            <p:spPr>
              <a:xfrm>
                <a:off x="2971800" y="6101667"/>
                <a:ext cx="2618922" cy="490391"/>
              </a:xfrm>
              <a:prstGeom prst="rect">
                <a:avLst/>
              </a:prstGeom>
              <a:blipFill rotWithShape="0">
                <a:blip r:embed="rId7"/>
                <a:stretch>
                  <a:fillRect/>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7A0D5CAB-8BF0-4EA3-BAE4-9835C852A49B}" type="slidenum">
              <a:rPr lang="en-GB" smtClean="0"/>
              <a:pPr/>
              <a:t>39</a:t>
            </a:fld>
            <a:endParaRPr lang="en-GB" dirty="0"/>
          </a:p>
        </p:txBody>
      </p:sp>
    </p:spTree>
    <p:extLst>
      <p:ext uri="{BB962C8B-B14F-4D97-AF65-F5344CB8AC3E}">
        <p14:creationId xmlns:p14="http://schemas.microsoft.com/office/powerpoint/2010/main" val="123369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1" grpId="0"/>
      <p:bldP spid="12"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62000"/>
          </a:xfrm>
        </p:spPr>
        <p:txBody>
          <a:bodyPr/>
          <a:lstStyle/>
          <a:p>
            <a:r>
              <a:rPr lang="en-US" dirty="0"/>
              <a:t>Example-2</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6200" y="1722437"/>
                <a:ext cx="8839200" cy="5059363"/>
              </a:xfrm>
            </p:spPr>
            <p:txBody>
              <a:bodyPr>
                <a:normAutofit/>
              </a:bodyPr>
              <a:lstStyle/>
              <a:p>
                <a:pPr algn="just"/>
                <a:r>
                  <a:rPr lang="en-US" sz="2600" dirty="0"/>
                  <a:t>Hence the period of sustained oscillations </a:t>
                </a:r>
                <a14:m>
                  <m:oMath xmlns:m="http://schemas.openxmlformats.org/officeDocument/2006/math">
                    <m:sSub>
                      <m:sSubPr>
                        <m:ctrlPr>
                          <a:rPr lang="en-US" sz="2600" i="1" smtClean="0">
                            <a:solidFill>
                              <a:srgbClr val="FF0000"/>
                            </a:solidFill>
                            <a:latin typeface="Cambria Math" panose="02040503050406030204" pitchFamily="18" charset="0"/>
                          </a:rPr>
                        </m:ctrlPr>
                      </m:sSubPr>
                      <m:e>
                        <m:r>
                          <a:rPr lang="en-US" sz="2600" b="0" i="1" smtClean="0">
                            <a:solidFill>
                              <a:srgbClr val="FF0000"/>
                            </a:solidFill>
                            <a:latin typeface="Cambria Math" panose="02040503050406030204" pitchFamily="18" charset="0"/>
                          </a:rPr>
                          <m:t>𝑃</m:t>
                        </m:r>
                      </m:e>
                      <m:sub>
                        <m:r>
                          <a:rPr lang="en-US" sz="2600" b="0" i="1" smtClean="0">
                            <a:solidFill>
                              <a:srgbClr val="FF0000"/>
                            </a:solidFill>
                            <a:latin typeface="Cambria Math" panose="02040503050406030204" pitchFamily="18" charset="0"/>
                          </a:rPr>
                          <m:t>𝑐𝑟</m:t>
                        </m:r>
                      </m:sub>
                    </m:sSub>
                  </m:oMath>
                </a14:m>
                <a:r>
                  <a:rPr lang="en-US" sz="2600" dirty="0"/>
                  <a:t> is</a:t>
                </a:r>
              </a:p>
              <a:p>
                <a:pPr algn="just"/>
                <a:endParaRPr lang="en-US" sz="2600" dirty="0"/>
              </a:p>
              <a:p>
                <a:pPr algn="just"/>
                <a:endParaRPr lang="en-US" sz="2600" dirty="0"/>
              </a:p>
              <a:p>
                <a:pPr algn="just"/>
                <a:endParaRPr lang="en-US" sz="2600" dirty="0"/>
              </a:p>
              <a:p>
                <a:pPr algn="just"/>
                <a:endParaRPr lang="en-US" sz="2600" dirty="0"/>
              </a:p>
              <a:p>
                <a:pPr algn="just"/>
                <a:endParaRPr lang="en-US" sz="2600" dirty="0"/>
              </a:p>
              <a:p>
                <a:pPr algn="just"/>
                <a:r>
                  <a:rPr lang="en-US" sz="2600" dirty="0"/>
                  <a:t>Referring to </a:t>
                </a:r>
                <a:r>
                  <a:rPr lang="en-US" sz="2600" dirty="0">
                    <a:solidFill>
                      <a:srgbClr val="C00000"/>
                    </a:solidFill>
                  </a:rPr>
                  <a:t>Table-2</a:t>
                </a:r>
                <a:r>
                  <a:rPr lang="en-US" sz="2600" dirty="0"/>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6200" y="1722437"/>
                <a:ext cx="8839200" cy="5059363"/>
              </a:xfrm>
              <a:blipFill rotWithShape="0">
                <a:blip r:embed="rId2"/>
                <a:stretch>
                  <a:fillRect l="-1103" t="-108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3048000" y="1039605"/>
                <a:ext cx="2618922" cy="49039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ea typeface="Cambria Math" panose="02040503050406030204" pitchFamily="18" charset="0"/>
                        </a:rPr>
                        <m:t>𝜔</m:t>
                      </m:r>
                      <m:r>
                        <a:rPr lang="en-US" sz="2800" b="0" i="1" smtClean="0">
                          <a:latin typeface="Cambria Math" panose="02040503050406030204" pitchFamily="18" charset="0"/>
                        </a:rPr>
                        <m:t>=</m:t>
                      </m:r>
                      <m:rad>
                        <m:radPr>
                          <m:degHide m:val="on"/>
                          <m:ctrlPr>
                            <a:rPr lang="en-US" sz="2800" b="0" i="1" smtClean="0">
                              <a:latin typeface="Cambria Math" panose="02040503050406030204" pitchFamily="18" charset="0"/>
                            </a:rPr>
                          </m:ctrlPr>
                        </m:radPr>
                        <m:deg/>
                        <m:e>
                          <m:r>
                            <a:rPr lang="en-US" sz="2800" b="0" i="1" smtClean="0">
                              <a:latin typeface="Cambria Math" panose="02040503050406030204" pitchFamily="18" charset="0"/>
                            </a:rPr>
                            <m:t>5</m:t>
                          </m:r>
                        </m:e>
                      </m:rad>
                      <m:r>
                        <a:rPr lang="en-US" sz="2800" b="0" i="1" smtClean="0">
                          <a:latin typeface="Cambria Math" panose="02040503050406030204" pitchFamily="18" charset="0"/>
                        </a:rPr>
                        <m:t> </m:t>
                      </m:r>
                      <m:r>
                        <a:rPr lang="en-US" sz="2800" b="0" i="1" smtClean="0">
                          <a:latin typeface="Cambria Math" panose="02040503050406030204" pitchFamily="18" charset="0"/>
                        </a:rPr>
                        <m:t>𝑟𝑎𝑑</m:t>
                      </m:r>
                      <m:r>
                        <a:rPr lang="en-US" sz="2800" b="0" i="1" smtClean="0">
                          <a:latin typeface="Cambria Math" panose="02040503050406030204" pitchFamily="18" charset="0"/>
                        </a:rPr>
                        <m:t>/</m:t>
                      </m:r>
                      <m:r>
                        <a:rPr lang="en-US" sz="2800" b="0" i="1" smtClean="0">
                          <a:latin typeface="Cambria Math" panose="02040503050406030204" pitchFamily="18" charset="0"/>
                        </a:rPr>
                        <m:t>𝑠𝑒𝑐</m:t>
                      </m:r>
                    </m:oMath>
                  </m:oMathPara>
                </a14:m>
                <a:endParaRPr lang="en-US" sz="2800" dirty="0"/>
              </a:p>
            </p:txBody>
          </p:sp>
        </mc:Choice>
        <mc:Fallback xmlns="">
          <p:sp>
            <p:nvSpPr>
              <p:cNvPr id="12" name="TextBox 11"/>
              <p:cNvSpPr txBox="1">
                <a:spLocks noRot="1" noChangeAspect="1" noMove="1" noResize="1" noEditPoints="1" noAdjustHandles="1" noChangeArrowheads="1" noChangeShapeType="1" noTextEdit="1"/>
              </p:cNvSpPr>
              <p:nvPr/>
            </p:nvSpPr>
            <p:spPr>
              <a:xfrm>
                <a:off x="3048000" y="1039605"/>
                <a:ext cx="2618922" cy="490391"/>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le 3"/>
              <p:cNvSpPr/>
              <p:nvPr/>
            </p:nvSpPr>
            <p:spPr>
              <a:xfrm>
                <a:off x="3505200" y="2414233"/>
                <a:ext cx="1601657" cy="90172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i="1" smtClean="0">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𝑃</m:t>
                          </m:r>
                        </m:e>
                        <m:sub>
                          <m:r>
                            <a:rPr lang="en-US" sz="2800" i="1">
                              <a:solidFill>
                                <a:schemeClr val="tx1"/>
                              </a:solidFill>
                              <a:latin typeface="Cambria Math" panose="02040503050406030204" pitchFamily="18" charset="0"/>
                            </a:rPr>
                            <m:t>𝑐𝑟</m:t>
                          </m:r>
                        </m:sub>
                      </m:sSub>
                      <m:r>
                        <a:rPr lang="en-US" sz="2800" b="0" i="1" smtClean="0">
                          <a:solidFill>
                            <a:schemeClr val="tx1"/>
                          </a:solidFill>
                          <a:latin typeface="Cambria Math" panose="02040503050406030204" pitchFamily="18" charset="0"/>
                        </a:rPr>
                        <m:t>=</m:t>
                      </m:r>
                      <m:f>
                        <m:fPr>
                          <m:ctrlPr>
                            <a:rPr lang="en-US" sz="2800" b="0" i="1" smtClean="0">
                              <a:solidFill>
                                <a:schemeClr val="tx1"/>
                              </a:solidFill>
                              <a:latin typeface="Cambria Math" panose="02040503050406030204" pitchFamily="18" charset="0"/>
                            </a:rPr>
                          </m:ctrlPr>
                        </m:fPr>
                        <m:num>
                          <m:r>
                            <a:rPr lang="en-US" sz="2800" b="0" i="1" smtClean="0">
                              <a:solidFill>
                                <a:schemeClr val="tx1"/>
                              </a:solidFill>
                              <a:latin typeface="Cambria Math" panose="02040503050406030204" pitchFamily="18" charset="0"/>
                            </a:rPr>
                            <m:t>2</m:t>
                          </m:r>
                          <m:r>
                            <a:rPr lang="en-US" sz="2800" b="0" i="1" smtClean="0">
                              <a:solidFill>
                                <a:schemeClr val="tx1"/>
                              </a:solidFill>
                              <a:latin typeface="Cambria Math" panose="02040503050406030204" pitchFamily="18" charset="0"/>
                              <a:ea typeface="Cambria Math" panose="02040503050406030204" pitchFamily="18" charset="0"/>
                            </a:rPr>
                            <m:t>𝜋</m:t>
                          </m:r>
                        </m:num>
                        <m:den>
                          <m:r>
                            <a:rPr lang="en-US" sz="2800" b="0" i="1" smtClean="0">
                              <a:solidFill>
                                <a:schemeClr val="tx1"/>
                              </a:solidFill>
                              <a:latin typeface="Cambria Math" panose="02040503050406030204" pitchFamily="18" charset="0"/>
                              <a:ea typeface="Cambria Math" panose="02040503050406030204" pitchFamily="18" charset="0"/>
                            </a:rPr>
                            <m:t>𝜔</m:t>
                          </m:r>
                        </m:den>
                      </m:f>
                    </m:oMath>
                  </m:oMathPara>
                </a14:m>
                <a:endParaRPr lang="en-US" sz="2800" dirty="0">
                  <a:solidFill>
                    <a:schemeClr val="tx1"/>
                  </a:solidFill>
                </a:endParaRPr>
              </a:p>
            </p:txBody>
          </p:sp>
        </mc:Choice>
        <mc:Fallback xmlns="">
          <p:sp>
            <p:nvSpPr>
              <p:cNvPr id="4" name="Rectangle 3"/>
              <p:cNvSpPr>
                <a:spLocks noRot="1" noChangeAspect="1" noMove="1" noResize="1" noEditPoints="1" noAdjustHandles="1" noChangeArrowheads="1" noChangeShapeType="1" noTextEdit="1"/>
              </p:cNvSpPr>
              <p:nvPr/>
            </p:nvSpPr>
            <p:spPr>
              <a:xfrm>
                <a:off x="3505200" y="2414233"/>
                <a:ext cx="1601657" cy="901722"/>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2819400" y="3516591"/>
                <a:ext cx="3749553" cy="9823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i="1" smtClean="0">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𝑃</m:t>
                          </m:r>
                        </m:e>
                        <m:sub>
                          <m:r>
                            <a:rPr lang="en-US" sz="2800" i="1">
                              <a:solidFill>
                                <a:schemeClr val="tx1"/>
                              </a:solidFill>
                              <a:latin typeface="Cambria Math" panose="02040503050406030204" pitchFamily="18" charset="0"/>
                            </a:rPr>
                            <m:t>𝑐𝑟</m:t>
                          </m:r>
                        </m:sub>
                      </m:sSub>
                      <m:r>
                        <a:rPr lang="en-US" sz="2800" b="0" i="1" smtClean="0">
                          <a:solidFill>
                            <a:schemeClr val="tx1"/>
                          </a:solidFill>
                          <a:latin typeface="Cambria Math" panose="02040503050406030204" pitchFamily="18" charset="0"/>
                        </a:rPr>
                        <m:t>=</m:t>
                      </m:r>
                      <m:f>
                        <m:fPr>
                          <m:ctrlPr>
                            <a:rPr lang="en-US" sz="2800" b="0" i="1" smtClean="0">
                              <a:solidFill>
                                <a:schemeClr val="tx1"/>
                              </a:solidFill>
                              <a:latin typeface="Cambria Math" panose="02040503050406030204" pitchFamily="18" charset="0"/>
                            </a:rPr>
                          </m:ctrlPr>
                        </m:fPr>
                        <m:num>
                          <m:r>
                            <a:rPr lang="en-US" sz="2800" b="0" i="1" smtClean="0">
                              <a:solidFill>
                                <a:schemeClr val="tx1"/>
                              </a:solidFill>
                              <a:latin typeface="Cambria Math" panose="02040503050406030204" pitchFamily="18" charset="0"/>
                            </a:rPr>
                            <m:t>2</m:t>
                          </m:r>
                          <m:r>
                            <a:rPr lang="en-US" sz="2800" b="0" i="1" smtClean="0">
                              <a:solidFill>
                                <a:schemeClr val="tx1"/>
                              </a:solidFill>
                              <a:latin typeface="Cambria Math" panose="02040503050406030204" pitchFamily="18" charset="0"/>
                              <a:ea typeface="Cambria Math" panose="02040503050406030204" pitchFamily="18" charset="0"/>
                            </a:rPr>
                            <m:t>𝜋</m:t>
                          </m:r>
                        </m:num>
                        <m:den>
                          <m:rad>
                            <m:radPr>
                              <m:degHide m:val="on"/>
                              <m:ctrlPr>
                                <a:rPr lang="en-US" sz="2800" b="0" i="1" smtClean="0">
                                  <a:solidFill>
                                    <a:schemeClr val="tx1"/>
                                  </a:solidFill>
                                  <a:latin typeface="Cambria Math" panose="02040503050406030204" pitchFamily="18" charset="0"/>
                                </a:rPr>
                              </m:ctrlPr>
                            </m:radPr>
                            <m:deg/>
                            <m:e>
                              <m:r>
                                <a:rPr lang="en-US" sz="2800" b="0" i="1" smtClean="0">
                                  <a:solidFill>
                                    <a:schemeClr val="tx1"/>
                                  </a:solidFill>
                                  <a:latin typeface="Cambria Math" panose="02040503050406030204" pitchFamily="18" charset="0"/>
                                </a:rPr>
                                <m:t>5</m:t>
                              </m:r>
                            </m:e>
                          </m:rad>
                        </m:den>
                      </m:f>
                      <m:r>
                        <a:rPr lang="en-US" sz="2800" b="0" i="1" smtClean="0">
                          <a:solidFill>
                            <a:schemeClr val="tx1"/>
                          </a:solidFill>
                          <a:latin typeface="Cambria Math" panose="02040503050406030204" pitchFamily="18" charset="0"/>
                        </a:rPr>
                        <m:t>=2.8099 </m:t>
                      </m:r>
                      <m:r>
                        <a:rPr lang="en-US" sz="2800" b="0" i="1" smtClean="0">
                          <a:solidFill>
                            <a:schemeClr val="tx1"/>
                          </a:solidFill>
                          <a:latin typeface="Cambria Math" panose="02040503050406030204" pitchFamily="18" charset="0"/>
                        </a:rPr>
                        <m:t>𝑠𝑒𝑐</m:t>
                      </m:r>
                    </m:oMath>
                  </m:oMathPara>
                </a14:m>
                <a:endParaRPr lang="en-US" sz="2800" dirty="0">
                  <a:solidFill>
                    <a:schemeClr val="tx1"/>
                  </a:solidFill>
                </a:endParaRPr>
              </a:p>
            </p:txBody>
          </p:sp>
        </mc:Choice>
        <mc:Fallback xmlns="">
          <p:sp>
            <p:nvSpPr>
              <p:cNvPr id="13" name="Rectangle 12"/>
              <p:cNvSpPr>
                <a:spLocks noRot="1" noChangeAspect="1" noMove="1" noResize="1" noEditPoints="1" noAdjustHandles="1" noChangeArrowheads="1" noChangeShapeType="1" noTextEdit="1"/>
              </p:cNvSpPr>
              <p:nvPr/>
            </p:nvSpPr>
            <p:spPr>
              <a:xfrm>
                <a:off x="2819400" y="3516591"/>
                <a:ext cx="3749553" cy="982320"/>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p:cNvSpPr/>
              <p:nvPr/>
            </p:nvSpPr>
            <p:spPr>
              <a:xfrm>
                <a:off x="3158201" y="4939553"/>
                <a:ext cx="2991268" cy="55643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𝐾</m:t>
                          </m:r>
                        </m:e>
                        <m:sub>
                          <m:r>
                            <a:rPr lang="en-US" sz="2800" b="0" i="1" smtClean="0">
                              <a:solidFill>
                                <a:schemeClr val="tx1"/>
                              </a:solidFill>
                              <a:latin typeface="Cambria Math" panose="02040503050406030204" pitchFamily="18" charset="0"/>
                            </a:rPr>
                            <m:t>𝑝</m:t>
                          </m:r>
                        </m:sub>
                      </m:sSub>
                      <m:r>
                        <a:rPr lang="en-US" sz="2800" b="0" i="1" smtClean="0">
                          <a:solidFill>
                            <a:schemeClr val="tx1"/>
                          </a:solidFill>
                          <a:latin typeface="Cambria Math" panose="02040503050406030204" pitchFamily="18" charset="0"/>
                        </a:rPr>
                        <m:t>=0.6</m:t>
                      </m:r>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𝐾</m:t>
                          </m:r>
                        </m:e>
                        <m:sub>
                          <m:r>
                            <a:rPr lang="en-US" sz="2800" b="0" i="1" smtClean="0">
                              <a:solidFill>
                                <a:schemeClr val="tx1"/>
                              </a:solidFill>
                              <a:latin typeface="Cambria Math" panose="02040503050406030204" pitchFamily="18" charset="0"/>
                            </a:rPr>
                            <m:t>𝑐𝑟</m:t>
                          </m:r>
                        </m:sub>
                      </m:sSub>
                      <m:r>
                        <a:rPr lang="en-US" sz="2800" b="0" i="1" smtClean="0">
                          <a:solidFill>
                            <a:schemeClr val="tx1"/>
                          </a:solidFill>
                          <a:latin typeface="Cambria Math" panose="02040503050406030204" pitchFamily="18" charset="0"/>
                        </a:rPr>
                        <m:t>=18</m:t>
                      </m:r>
                    </m:oMath>
                  </m:oMathPara>
                </a14:m>
                <a:endParaRPr lang="en-US" sz="2800" dirty="0">
                  <a:solidFill>
                    <a:schemeClr val="tx1"/>
                  </a:solidFill>
                </a:endParaRPr>
              </a:p>
            </p:txBody>
          </p:sp>
        </mc:Choice>
        <mc:Fallback xmlns="">
          <p:sp>
            <p:nvSpPr>
              <p:cNvPr id="14" name="Rectangle 13"/>
              <p:cNvSpPr>
                <a:spLocks noRot="1" noChangeAspect="1" noMove="1" noResize="1" noEditPoints="1" noAdjustHandles="1" noChangeArrowheads="1" noChangeShapeType="1" noTextEdit="1"/>
              </p:cNvSpPr>
              <p:nvPr/>
            </p:nvSpPr>
            <p:spPr>
              <a:xfrm>
                <a:off x="3158201" y="4939553"/>
                <a:ext cx="2991268" cy="556434"/>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p:cNvSpPr/>
              <p:nvPr/>
            </p:nvSpPr>
            <p:spPr>
              <a:xfrm>
                <a:off x="3357282" y="5536328"/>
                <a:ext cx="3181320" cy="523220"/>
              </a:xfrm>
              <a:prstGeom prst="rect">
                <a:avLst/>
              </a:prstGeom>
            </p:spPr>
            <p:txBody>
              <a:bodyPr wrap="none">
                <a:spAutoFit/>
              </a:bodyPr>
              <a:lstStyle/>
              <a:p>
                <a14:m>
                  <m:oMath xmlns:m="http://schemas.openxmlformats.org/officeDocument/2006/math">
                    <m:sSub>
                      <m:sSubPr>
                        <m:ctrlPr>
                          <a:rPr lang="en-US" sz="280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𝑇</m:t>
                        </m:r>
                      </m:e>
                      <m:sub>
                        <m:r>
                          <a:rPr lang="en-US" sz="2800" b="0" i="1" smtClean="0">
                            <a:solidFill>
                              <a:schemeClr val="tx1"/>
                            </a:solidFill>
                            <a:latin typeface="Cambria Math" panose="02040503050406030204" pitchFamily="18" charset="0"/>
                          </a:rPr>
                          <m:t>𝑖</m:t>
                        </m:r>
                      </m:sub>
                    </m:sSub>
                    <m:r>
                      <a:rPr lang="en-US" sz="2800" b="0" i="1" smtClean="0">
                        <a:solidFill>
                          <a:schemeClr val="tx1"/>
                        </a:solidFill>
                        <a:latin typeface="Cambria Math" panose="02040503050406030204" pitchFamily="18" charset="0"/>
                      </a:rPr>
                      <m:t>=0.5</m:t>
                    </m:r>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𝑃</m:t>
                        </m:r>
                      </m:e>
                      <m:sub>
                        <m:r>
                          <a:rPr lang="en-US" sz="2800" b="0" i="1" smtClean="0">
                            <a:solidFill>
                              <a:schemeClr val="tx1"/>
                            </a:solidFill>
                            <a:latin typeface="Cambria Math" panose="02040503050406030204" pitchFamily="18" charset="0"/>
                          </a:rPr>
                          <m:t>𝑐𝑟</m:t>
                        </m:r>
                      </m:sub>
                    </m:sSub>
                    <m:r>
                      <a:rPr lang="en-US" sz="2800" b="0" i="1" smtClean="0">
                        <a:solidFill>
                          <a:schemeClr val="tx1"/>
                        </a:solidFill>
                        <a:latin typeface="Cambria Math" panose="02040503050406030204" pitchFamily="18" charset="0"/>
                      </a:rPr>
                      <m:t>=1.40</m:t>
                    </m:r>
                  </m:oMath>
                </a14:m>
                <a:r>
                  <a:rPr lang="en-US" sz="2800" dirty="0">
                    <a:solidFill>
                      <a:schemeClr val="tx1"/>
                    </a:solidFill>
                  </a:rPr>
                  <a:t>5</a:t>
                </a:r>
              </a:p>
            </p:txBody>
          </p:sp>
        </mc:Choice>
        <mc:Fallback xmlns="">
          <p:sp>
            <p:nvSpPr>
              <p:cNvPr id="15" name="Rectangle 14"/>
              <p:cNvSpPr>
                <a:spLocks noRot="1" noChangeAspect="1" noMove="1" noResize="1" noEditPoints="1" noAdjustHandles="1" noChangeArrowheads="1" noChangeShapeType="1" noTextEdit="1"/>
              </p:cNvSpPr>
              <p:nvPr/>
            </p:nvSpPr>
            <p:spPr>
              <a:xfrm>
                <a:off x="3357282" y="5536328"/>
                <a:ext cx="3181320" cy="523220"/>
              </a:xfrm>
              <a:prstGeom prst="rect">
                <a:avLst/>
              </a:prstGeom>
              <a:blipFill rotWithShape="0">
                <a:blip r:embed="rId7"/>
                <a:stretch>
                  <a:fillRect t="-10465" r="-2682" b="-325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p:cNvSpPr/>
              <p:nvPr/>
            </p:nvSpPr>
            <p:spPr>
              <a:xfrm>
                <a:off x="3276600" y="6182380"/>
                <a:ext cx="4150495"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𝑇</m:t>
                          </m:r>
                        </m:e>
                        <m:sub>
                          <m:r>
                            <a:rPr lang="en-US" sz="2800" b="0" i="1" smtClean="0">
                              <a:solidFill>
                                <a:schemeClr val="tx1"/>
                              </a:solidFill>
                              <a:latin typeface="Cambria Math" panose="02040503050406030204" pitchFamily="18" charset="0"/>
                            </a:rPr>
                            <m:t>𝑑</m:t>
                          </m:r>
                        </m:sub>
                      </m:sSub>
                      <m:r>
                        <a:rPr lang="en-US" sz="2800" b="0" i="1" smtClean="0">
                          <a:solidFill>
                            <a:schemeClr val="tx1"/>
                          </a:solidFill>
                          <a:latin typeface="Cambria Math" panose="02040503050406030204" pitchFamily="18" charset="0"/>
                        </a:rPr>
                        <m:t>=0.125</m:t>
                      </m:r>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𝑃</m:t>
                          </m:r>
                        </m:e>
                        <m:sub>
                          <m:r>
                            <a:rPr lang="en-US" sz="2800" b="0" i="1" smtClean="0">
                              <a:solidFill>
                                <a:schemeClr val="tx1"/>
                              </a:solidFill>
                              <a:latin typeface="Cambria Math" panose="02040503050406030204" pitchFamily="18" charset="0"/>
                            </a:rPr>
                            <m:t>𝑐𝑟</m:t>
                          </m:r>
                        </m:sub>
                      </m:sSub>
                      <m:r>
                        <a:rPr lang="en-US" sz="2800" b="0" i="1" smtClean="0">
                          <a:solidFill>
                            <a:schemeClr val="tx1"/>
                          </a:solidFill>
                          <a:latin typeface="Cambria Math" panose="02040503050406030204" pitchFamily="18" charset="0"/>
                        </a:rPr>
                        <m:t>=0.35124</m:t>
                      </m:r>
                    </m:oMath>
                  </m:oMathPara>
                </a14:m>
                <a:endParaRPr lang="en-US" sz="2800" dirty="0">
                  <a:solidFill>
                    <a:schemeClr val="tx1"/>
                  </a:solidFill>
                </a:endParaRPr>
              </a:p>
            </p:txBody>
          </p:sp>
        </mc:Choice>
        <mc:Fallback xmlns="">
          <p:sp>
            <p:nvSpPr>
              <p:cNvPr id="16" name="Rectangle 15"/>
              <p:cNvSpPr>
                <a:spLocks noRot="1" noChangeAspect="1" noMove="1" noResize="1" noEditPoints="1" noAdjustHandles="1" noChangeArrowheads="1" noChangeShapeType="1" noTextEdit="1"/>
              </p:cNvSpPr>
              <p:nvPr/>
            </p:nvSpPr>
            <p:spPr>
              <a:xfrm>
                <a:off x="3276600" y="6182380"/>
                <a:ext cx="4150495" cy="523220"/>
              </a:xfrm>
              <a:prstGeom prst="rect">
                <a:avLst/>
              </a:prstGeom>
              <a:blipFill rotWithShape="0">
                <a:blip r:embed="rId8"/>
                <a:stretch>
                  <a:fillRect/>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p:txBody>
          <a:bodyPr/>
          <a:lstStyle/>
          <a:p>
            <a:fld id="{7A0D5CAB-8BF0-4EA3-BAE4-9835C852A49B}" type="slidenum">
              <a:rPr lang="en-GB" smtClean="0"/>
              <a:pPr/>
              <a:t>40</a:t>
            </a:fld>
            <a:endParaRPr lang="en-GB" dirty="0"/>
          </a:p>
        </p:txBody>
      </p:sp>
    </p:spTree>
    <p:extLst>
      <p:ext uri="{BB962C8B-B14F-4D97-AF65-F5344CB8AC3E}">
        <p14:creationId xmlns:p14="http://schemas.microsoft.com/office/powerpoint/2010/main" val="4273061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3" grpId="0"/>
      <p:bldP spid="14" grpId="0"/>
      <p:bldP spid="15" grpId="0"/>
      <p:bldP spid="16"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62000"/>
          </a:xfrm>
        </p:spPr>
        <p:txBody>
          <a:bodyPr/>
          <a:lstStyle/>
          <a:p>
            <a:r>
              <a:rPr lang="en-US" dirty="0"/>
              <a:t>Example-2</a:t>
            </a:r>
          </a:p>
        </p:txBody>
      </p:sp>
      <p:sp>
        <p:nvSpPr>
          <p:cNvPr id="3" name="Content Placeholder 2"/>
          <p:cNvSpPr>
            <a:spLocks noGrp="1"/>
          </p:cNvSpPr>
          <p:nvPr>
            <p:ph idx="1"/>
          </p:nvPr>
        </p:nvSpPr>
        <p:spPr>
          <a:xfrm>
            <a:off x="76200" y="1722437"/>
            <a:ext cx="8839200" cy="5059363"/>
          </a:xfrm>
        </p:spPr>
        <p:txBody>
          <a:bodyPr>
            <a:normAutofit/>
          </a:bodyPr>
          <a:lstStyle/>
          <a:p>
            <a:pPr algn="just"/>
            <a:r>
              <a:rPr lang="en-US" sz="2600" dirty="0"/>
              <a:t>Transfer function of PID controller is thus obtained as</a:t>
            </a:r>
          </a:p>
          <a:p>
            <a:pPr marL="0" indent="0" algn="just">
              <a:buNone/>
            </a:pPr>
            <a:endParaRPr lang="en-US" sz="2600" dirty="0"/>
          </a:p>
        </p:txBody>
      </p:sp>
      <mc:AlternateContent xmlns:mc="http://schemas.openxmlformats.org/markup-compatibility/2006" xmlns:a14="http://schemas.microsoft.com/office/drawing/2010/main">
        <mc:Choice Requires="a14">
          <p:sp>
            <p:nvSpPr>
              <p:cNvPr id="14" name="Rectangle 13"/>
              <p:cNvSpPr/>
              <p:nvPr/>
            </p:nvSpPr>
            <p:spPr>
              <a:xfrm>
                <a:off x="228600" y="1002101"/>
                <a:ext cx="1535741" cy="55643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𝐾</m:t>
                          </m:r>
                        </m:e>
                        <m:sub>
                          <m:r>
                            <a:rPr lang="en-US" sz="2800" b="0" i="1" smtClean="0">
                              <a:solidFill>
                                <a:schemeClr val="tx1"/>
                              </a:solidFill>
                              <a:latin typeface="Cambria Math" panose="02040503050406030204" pitchFamily="18" charset="0"/>
                            </a:rPr>
                            <m:t>𝑝</m:t>
                          </m:r>
                        </m:sub>
                      </m:sSub>
                      <m:r>
                        <a:rPr lang="en-US" sz="2800" b="0" i="1" smtClean="0">
                          <a:solidFill>
                            <a:schemeClr val="tx1"/>
                          </a:solidFill>
                          <a:latin typeface="Cambria Math" panose="02040503050406030204" pitchFamily="18" charset="0"/>
                        </a:rPr>
                        <m:t>=18</m:t>
                      </m:r>
                    </m:oMath>
                  </m:oMathPara>
                </a14:m>
                <a:endParaRPr lang="en-US" sz="2800" dirty="0">
                  <a:solidFill>
                    <a:schemeClr val="tx1"/>
                  </a:solidFill>
                </a:endParaRPr>
              </a:p>
            </p:txBody>
          </p:sp>
        </mc:Choice>
        <mc:Fallback xmlns="">
          <p:sp>
            <p:nvSpPr>
              <p:cNvPr id="14" name="Rectangle 13"/>
              <p:cNvSpPr>
                <a:spLocks noRot="1" noChangeAspect="1" noMove="1" noResize="1" noEditPoints="1" noAdjustHandles="1" noChangeArrowheads="1" noChangeShapeType="1" noTextEdit="1"/>
              </p:cNvSpPr>
              <p:nvPr/>
            </p:nvSpPr>
            <p:spPr>
              <a:xfrm>
                <a:off x="228600" y="1002101"/>
                <a:ext cx="1535741" cy="556434"/>
              </a:xfrm>
              <a:prstGeom prst="rect">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p:cNvSpPr/>
              <p:nvPr/>
            </p:nvSpPr>
            <p:spPr>
              <a:xfrm>
                <a:off x="3463334" y="972092"/>
                <a:ext cx="1794466" cy="523220"/>
              </a:xfrm>
              <a:prstGeom prst="rect">
                <a:avLst/>
              </a:prstGeom>
            </p:spPr>
            <p:txBody>
              <a:bodyPr wrap="none">
                <a:spAutoFit/>
              </a:bodyPr>
              <a:lstStyle/>
              <a:p>
                <a14:m>
                  <m:oMath xmlns:m="http://schemas.openxmlformats.org/officeDocument/2006/math">
                    <m:sSub>
                      <m:sSubPr>
                        <m:ctrlPr>
                          <a:rPr lang="en-US" sz="280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𝑇</m:t>
                        </m:r>
                      </m:e>
                      <m:sub>
                        <m:r>
                          <a:rPr lang="en-US" sz="2800" b="0" i="1" smtClean="0">
                            <a:solidFill>
                              <a:schemeClr val="tx1"/>
                            </a:solidFill>
                            <a:latin typeface="Cambria Math" panose="02040503050406030204" pitchFamily="18" charset="0"/>
                          </a:rPr>
                          <m:t>𝑖</m:t>
                        </m:r>
                      </m:sub>
                    </m:sSub>
                    <m:r>
                      <a:rPr lang="en-US" sz="2800" b="0" i="1" smtClean="0">
                        <a:solidFill>
                          <a:schemeClr val="tx1"/>
                        </a:solidFill>
                        <a:latin typeface="Cambria Math" panose="02040503050406030204" pitchFamily="18" charset="0"/>
                      </a:rPr>
                      <m:t>=1.40</m:t>
                    </m:r>
                  </m:oMath>
                </a14:m>
                <a:r>
                  <a:rPr lang="en-US" sz="2800" dirty="0">
                    <a:solidFill>
                      <a:schemeClr val="tx1"/>
                    </a:solidFill>
                  </a:rPr>
                  <a:t>5</a:t>
                </a:r>
              </a:p>
            </p:txBody>
          </p:sp>
        </mc:Choice>
        <mc:Fallback xmlns="">
          <p:sp>
            <p:nvSpPr>
              <p:cNvPr id="15" name="Rectangle 14"/>
              <p:cNvSpPr>
                <a:spLocks noRot="1" noChangeAspect="1" noMove="1" noResize="1" noEditPoints="1" noAdjustHandles="1" noChangeArrowheads="1" noChangeShapeType="1" noTextEdit="1"/>
              </p:cNvSpPr>
              <p:nvPr/>
            </p:nvSpPr>
            <p:spPr>
              <a:xfrm>
                <a:off x="3463334" y="972092"/>
                <a:ext cx="1794466" cy="523220"/>
              </a:xfrm>
              <a:prstGeom prst="rect">
                <a:avLst/>
              </a:prstGeom>
              <a:blipFill rotWithShape="0">
                <a:blip r:embed="rId3"/>
                <a:stretch>
                  <a:fillRect t="-10465" r="-5763" b="-325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p:cNvSpPr/>
              <p:nvPr/>
            </p:nvSpPr>
            <p:spPr>
              <a:xfrm>
                <a:off x="6247149" y="1018708"/>
                <a:ext cx="2366097"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𝑇</m:t>
                          </m:r>
                        </m:e>
                        <m:sub>
                          <m:r>
                            <a:rPr lang="en-US" sz="2800" b="0" i="1" smtClean="0">
                              <a:solidFill>
                                <a:schemeClr val="tx1"/>
                              </a:solidFill>
                              <a:latin typeface="Cambria Math" panose="02040503050406030204" pitchFamily="18" charset="0"/>
                            </a:rPr>
                            <m:t>𝑑</m:t>
                          </m:r>
                        </m:sub>
                      </m:sSub>
                      <m:r>
                        <a:rPr lang="en-US" sz="2800" b="0" i="1" smtClean="0">
                          <a:solidFill>
                            <a:schemeClr val="tx1"/>
                          </a:solidFill>
                          <a:latin typeface="Cambria Math" panose="02040503050406030204" pitchFamily="18" charset="0"/>
                        </a:rPr>
                        <m:t>=0.35124</m:t>
                      </m:r>
                    </m:oMath>
                  </m:oMathPara>
                </a14:m>
                <a:endParaRPr lang="en-US" sz="2800" dirty="0">
                  <a:solidFill>
                    <a:schemeClr val="tx1"/>
                  </a:solidFill>
                </a:endParaRPr>
              </a:p>
            </p:txBody>
          </p:sp>
        </mc:Choice>
        <mc:Fallback xmlns="">
          <p:sp>
            <p:nvSpPr>
              <p:cNvPr id="16" name="Rectangle 15"/>
              <p:cNvSpPr>
                <a:spLocks noRot="1" noChangeAspect="1" noMove="1" noResize="1" noEditPoints="1" noAdjustHandles="1" noChangeArrowheads="1" noChangeShapeType="1" noTextEdit="1"/>
              </p:cNvSpPr>
              <p:nvPr/>
            </p:nvSpPr>
            <p:spPr>
              <a:xfrm>
                <a:off x="6247149" y="1018708"/>
                <a:ext cx="2366097" cy="523220"/>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2235113" y="2426165"/>
                <a:ext cx="4250907" cy="88222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sSub>
                            <m:sSubPr>
                              <m:ctrlPr>
                                <a:rPr lang="en-US" sz="2800" i="1">
                                  <a:latin typeface="Cambria Math" panose="02040503050406030204" pitchFamily="18" charset="0"/>
                                </a:rPr>
                              </m:ctrlPr>
                            </m:sSubPr>
                            <m:e>
                              <m:r>
                                <a:rPr lang="en-US" sz="2800" i="1">
                                  <a:latin typeface="Cambria Math" panose="02040503050406030204" pitchFamily="18" charset="0"/>
                                </a:rPr>
                                <m:t>𝐺</m:t>
                              </m:r>
                            </m:e>
                            <m:sub>
                              <m:r>
                                <a:rPr lang="en-US" sz="2800" i="1">
                                  <a:latin typeface="Cambria Math" panose="02040503050406030204" pitchFamily="18" charset="0"/>
                                </a:rPr>
                                <m:t>𝑐</m:t>
                              </m:r>
                            </m:sub>
                          </m:sSub>
                          <m:r>
                            <a:rPr lang="en-US" sz="2800" i="1">
                              <a:latin typeface="Cambria Math" panose="02040503050406030204" pitchFamily="18" charset="0"/>
                            </a:rPr>
                            <m:t>(</m:t>
                          </m:r>
                          <m:r>
                            <a:rPr lang="en-US" sz="2800" i="1">
                              <a:latin typeface="Cambria Math" panose="02040503050406030204" pitchFamily="18" charset="0"/>
                            </a:rPr>
                            <m:t>𝑠</m:t>
                          </m:r>
                          <m:r>
                            <a:rPr lang="en-US" sz="2800" i="1">
                              <a:latin typeface="Cambria Math" panose="02040503050406030204" pitchFamily="18" charset="0"/>
                            </a:rPr>
                            <m:t>)=</m:t>
                          </m:r>
                          <m:r>
                            <a:rPr lang="en-US" sz="2800" i="1">
                              <a:latin typeface="Cambria Math" panose="02040503050406030204" pitchFamily="18" charset="0"/>
                            </a:rPr>
                            <m:t>𝐾</m:t>
                          </m:r>
                        </m:e>
                        <m:sub>
                          <m:r>
                            <a:rPr lang="en-US" sz="2800" b="0" i="1" smtClean="0">
                              <a:latin typeface="Cambria Math" panose="02040503050406030204" pitchFamily="18" charset="0"/>
                            </a:rPr>
                            <m:t>𝑝</m:t>
                          </m:r>
                        </m:sub>
                      </m:sSub>
                      <m:r>
                        <a:rPr lang="en-US" sz="2800" b="0" i="1" smtClean="0">
                          <a:latin typeface="Cambria Math" panose="02040503050406030204" pitchFamily="18" charset="0"/>
                        </a:rPr>
                        <m:t>(1+</m:t>
                      </m:r>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1</m:t>
                          </m:r>
                        </m:num>
                        <m:den>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𝑇</m:t>
                              </m:r>
                            </m:e>
                            <m:sub>
                              <m:r>
                                <a:rPr lang="en-US" sz="2800" b="0" i="1" smtClean="0">
                                  <a:latin typeface="Cambria Math" panose="02040503050406030204" pitchFamily="18" charset="0"/>
                                </a:rPr>
                                <m:t>𝑖</m:t>
                              </m:r>
                            </m:sub>
                          </m:sSub>
                          <m:r>
                            <a:rPr lang="en-US" sz="2800" b="0" i="1" smtClean="0">
                              <a:latin typeface="Cambria Math" panose="02040503050406030204" pitchFamily="18" charset="0"/>
                            </a:rPr>
                            <m:t>𝑠</m:t>
                          </m:r>
                        </m:den>
                      </m:f>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m:t>
                          </m:r>
                          <m:r>
                            <a:rPr lang="en-US" sz="2800" b="0" i="1" smtClean="0">
                              <a:latin typeface="Cambria Math" panose="02040503050406030204" pitchFamily="18" charset="0"/>
                            </a:rPr>
                            <m:t>𝑇</m:t>
                          </m:r>
                        </m:e>
                        <m:sub>
                          <m:r>
                            <a:rPr lang="en-US" sz="2800" b="0" i="1" smtClean="0">
                              <a:latin typeface="Cambria Math" panose="02040503050406030204" pitchFamily="18" charset="0"/>
                            </a:rPr>
                            <m:t>𝑑</m:t>
                          </m:r>
                        </m:sub>
                      </m:sSub>
                      <m:r>
                        <a:rPr lang="en-US" sz="2800" b="0" i="1" smtClean="0">
                          <a:latin typeface="Cambria Math" panose="02040503050406030204" pitchFamily="18" charset="0"/>
                        </a:rPr>
                        <m:t>𝑠</m:t>
                      </m:r>
                      <m:r>
                        <a:rPr lang="en-US" sz="2800" b="0" i="1" smtClean="0">
                          <a:latin typeface="Cambria Math" panose="02040503050406030204" pitchFamily="18" charset="0"/>
                        </a:rPr>
                        <m:t>)</m:t>
                      </m:r>
                    </m:oMath>
                  </m:oMathPara>
                </a14:m>
                <a:endParaRPr lang="en-US" sz="2800" dirty="0"/>
              </a:p>
            </p:txBody>
          </p:sp>
        </mc:Choice>
        <mc:Fallback xmlns="">
          <p:sp>
            <p:nvSpPr>
              <p:cNvPr id="17" name="TextBox 16"/>
              <p:cNvSpPr txBox="1">
                <a:spLocks noRot="1" noChangeAspect="1" noMove="1" noResize="1" noEditPoints="1" noAdjustHandles="1" noChangeArrowheads="1" noChangeShapeType="1" noTextEdit="1"/>
              </p:cNvSpPr>
              <p:nvPr/>
            </p:nvSpPr>
            <p:spPr>
              <a:xfrm>
                <a:off x="2235113" y="2426165"/>
                <a:ext cx="4250907" cy="882229"/>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1905000" y="3533819"/>
                <a:ext cx="5609934" cy="80958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800" i="1" smtClean="0">
                              <a:latin typeface="Cambria Math" panose="02040503050406030204" pitchFamily="18" charset="0"/>
                            </a:rPr>
                          </m:ctrlPr>
                        </m:sSubPr>
                        <m:e>
                          <m:r>
                            <a:rPr lang="en-US" sz="2800" i="1">
                              <a:latin typeface="Cambria Math" panose="02040503050406030204" pitchFamily="18" charset="0"/>
                            </a:rPr>
                            <m:t>𝐺</m:t>
                          </m:r>
                        </m:e>
                        <m:sub>
                          <m:r>
                            <a:rPr lang="en-US" sz="2800" i="1">
                              <a:latin typeface="Cambria Math" panose="02040503050406030204" pitchFamily="18" charset="0"/>
                            </a:rPr>
                            <m:t>𝑐</m:t>
                          </m:r>
                        </m:sub>
                      </m:sSub>
                      <m:r>
                        <a:rPr lang="en-US" sz="2800" i="1">
                          <a:latin typeface="Cambria Math" panose="02040503050406030204" pitchFamily="18" charset="0"/>
                        </a:rPr>
                        <m:t>(</m:t>
                      </m:r>
                      <m:r>
                        <a:rPr lang="en-US" sz="2800" i="1">
                          <a:latin typeface="Cambria Math" panose="02040503050406030204" pitchFamily="18" charset="0"/>
                        </a:rPr>
                        <m:t>𝑠</m:t>
                      </m:r>
                      <m:r>
                        <a:rPr lang="en-US" sz="2800" i="1">
                          <a:latin typeface="Cambria Math" panose="02040503050406030204" pitchFamily="18" charset="0"/>
                        </a:rPr>
                        <m:t>)=18(1+</m:t>
                      </m:r>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1</m:t>
                          </m:r>
                        </m:num>
                        <m:den>
                          <m:r>
                            <a:rPr lang="en-US" sz="2800" b="0" i="1" smtClean="0">
                              <a:latin typeface="Cambria Math" panose="02040503050406030204" pitchFamily="18" charset="0"/>
                            </a:rPr>
                            <m:t>1.405</m:t>
                          </m:r>
                          <m:r>
                            <a:rPr lang="en-US" sz="2800" b="0" i="1" smtClean="0">
                              <a:latin typeface="Cambria Math" panose="02040503050406030204" pitchFamily="18" charset="0"/>
                            </a:rPr>
                            <m:t>𝑠</m:t>
                          </m:r>
                        </m:den>
                      </m:f>
                      <m:r>
                        <a:rPr lang="en-US" sz="2800" b="0" i="1" smtClean="0">
                          <a:latin typeface="Cambria Math" panose="02040503050406030204" pitchFamily="18" charset="0"/>
                        </a:rPr>
                        <m:t>+0.35124</m:t>
                      </m:r>
                      <m:r>
                        <a:rPr lang="en-US" sz="2800" b="0" i="1" smtClean="0">
                          <a:latin typeface="Cambria Math" panose="02040503050406030204" pitchFamily="18" charset="0"/>
                        </a:rPr>
                        <m:t>𝑠</m:t>
                      </m:r>
                      <m:r>
                        <a:rPr lang="en-US" sz="2800" b="0" i="1" smtClean="0">
                          <a:latin typeface="Cambria Math" panose="02040503050406030204" pitchFamily="18" charset="0"/>
                        </a:rPr>
                        <m:t>)</m:t>
                      </m:r>
                    </m:oMath>
                  </m:oMathPara>
                </a14:m>
                <a:endParaRPr lang="en-US" sz="2800" dirty="0"/>
              </a:p>
            </p:txBody>
          </p:sp>
        </mc:Choice>
        <mc:Fallback xmlns="">
          <p:sp>
            <p:nvSpPr>
              <p:cNvPr id="18" name="TextBox 17"/>
              <p:cNvSpPr txBox="1">
                <a:spLocks noRot="1" noChangeAspect="1" noMove="1" noResize="1" noEditPoints="1" noAdjustHandles="1" noChangeArrowheads="1" noChangeShapeType="1" noTextEdit="1"/>
              </p:cNvSpPr>
              <p:nvPr/>
            </p:nvSpPr>
            <p:spPr>
              <a:xfrm>
                <a:off x="1905000" y="3533819"/>
                <a:ext cx="5609934" cy="809581"/>
              </a:xfrm>
              <a:prstGeom prst="rect">
                <a:avLst/>
              </a:prstGeom>
              <a:blipFill rotWithShape="0">
                <a:blip r:embed="rId6"/>
                <a:stretch>
                  <a:fillRect/>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7A0D5CAB-8BF0-4EA3-BAE4-9835C852A49B}" type="slidenum">
              <a:rPr lang="en-GB" smtClean="0"/>
              <a:pPr/>
              <a:t>41</a:t>
            </a:fld>
            <a:endParaRPr lang="en-GB" dirty="0"/>
          </a:p>
        </p:txBody>
      </p:sp>
    </p:spTree>
    <p:extLst>
      <p:ext uri="{BB962C8B-B14F-4D97-AF65-F5344CB8AC3E}">
        <p14:creationId xmlns:p14="http://schemas.microsoft.com/office/powerpoint/2010/main" val="682300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0342"/>
            <a:ext cx="8229600" cy="609600"/>
          </a:xfrm>
        </p:spPr>
        <p:txBody>
          <a:bodyPr>
            <a:normAutofit fontScale="90000"/>
          </a:bodyPr>
          <a:lstStyle/>
          <a:p>
            <a:r>
              <a:rPr lang="en-US" dirty="0"/>
              <a:t>Example-2</a:t>
            </a:r>
          </a:p>
        </p:txBody>
      </p:sp>
      <p:pic>
        <p:nvPicPr>
          <p:cNvPr id="6" name="Picture 5"/>
          <p:cNvPicPr>
            <a:picLocks noChangeAspect="1"/>
          </p:cNvPicPr>
          <p:nvPr/>
        </p:nvPicPr>
        <p:blipFill>
          <a:blip r:embed="rId2"/>
          <a:stretch>
            <a:fillRect/>
          </a:stretch>
        </p:blipFill>
        <p:spPr>
          <a:xfrm>
            <a:off x="1752600" y="2514600"/>
            <a:ext cx="5315630" cy="4343400"/>
          </a:xfrm>
          <a:prstGeom prst="rect">
            <a:avLst/>
          </a:prstGeom>
        </p:spPr>
      </p:pic>
      <p:pic>
        <p:nvPicPr>
          <p:cNvPr id="7" name="Picture 6"/>
          <p:cNvPicPr>
            <a:picLocks noChangeAspect="1"/>
          </p:cNvPicPr>
          <p:nvPr/>
        </p:nvPicPr>
        <p:blipFill rotWithShape="1">
          <a:blip r:embed="rId3"/>
          <a:srcRect t="16647"/>
          <a:stretch/>
        </p:blipFill>
        <p:spPr>
          <a:xfrm>
            <a:off x="1143000" y="836018"/>
            <a:ext cx="6562461" cy="1526182"/>
          </a:xfrm>
          <a:prstGeom prst="rect">
            <a:avLst/>
          </a:prstGeom>
        </p:spPr>
      </p:pic>
      <p:sp>
        <p:nvSpPr>
          <p:cNvPr id="3" name="Slide Number Placeholder 2"/>
          <p:cNvSpPr>
            <a:spLocks noGrp="1"/>
          </p:cNvSpPr>
          <p:nvPr>
            <p:ph type="sldNum" sz="quarter" idx="12"/>
          </p:nvPr>
        </p:nvSpPr>
        <p:spPr/>
        <p:txBody>
          <a:bodyPr/>
          <a:lstStyle/>
          <a:p>
            <a:fld id="{7A0D5CAB-8BF0-4EA3-BAE4-9835C852A49B}" type="slidenum">
              <a:rPr lang="en-GB" smtClean="0"/>
              <a:pPr/>
              <a:t>42</a:t>
            </a:fld>
            <a:endParaRPr lang="en-GB" dirty="0"/>
          </a:p>
        </p:txBody>
      </p:sp>
    </p:spTree>
    <p:extLst>
      <p:ext uri="{BB962C8B-B14F-4D97-AF65-F5344CB8AC3E}">
        <p14:creationId xmlns:p14="http://schemas.microsoft.com/office/powerpoint/2010/main" val="2760513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15962"/>
          </a:xfrm>
        </p:spPr>
        <p:txBody>
          <a:bodyPr>
            <a:normAutofit fontScale="90000"/>
          </a:bodyPr>
          <a:lstStyle/>
          <a:p>
            <a:r>
              <a:rPr lang="en-US" dirty="0"/>
              <a:t>Electronic PID Controller</a:t>
            </a:r>
          </a:p>
        </p:txBody>
      </p:sp>
      <p:grpSp>
        <p:nvGrpSpPr>
          <p:cNvPr id="17" name="Group 16"/>
          <p:cNvGrpSpPr/>
          <p:nvPr/>
        </p:nvGrpSpPr>
        <p:grpSpPr>
          <a:xfrm>
            <a:off x="76200" y="609600"/>
            <a:ext cx="8077200" cy="6248400"/>
            <a:chOff x="775447" y="609600"/>
            <a:chExt cx="8077200" cy="6248400"/>
          </a:xfrm>
        </p:grpSpPr>
        <p:pic>
          <p:nvPicPr>
            <p:cNvPr id="1026" name="Picture 2" descr="http://www.ecircuitcenter.com/Circuits/op_pid/image002.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5447" y="609600"/>
              <a:ext cx="8077200" cy="624840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3" name="TextBox 2"/>
                <p:cNvSpPr txBox="1"/>
                <p:nvPr/>
              </p:nvSpPr>
              <p:spPr>
                <a:xfrm>
                  <a:off x="2008094" y="801127"/>
                  <a:ext cx="374615" cy="276999"/>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1</m:t>
                            </m:r>
                          </m:sub>
                        </m:sSub>
                      </m:oMath>
                    </m:oMathPara>
                  </a14:m>
                  <a:endParaRPr lang="en-US" dirty="0"/>
                </a:p>
              </p:txBody>
            </p:sp>
          </mc:Choice>
          <mc:Fallback xmlns="">
            <p:sp>
              <p:nvSpPr>
                <p:cNvPr id="3" name="TextBox 2"/>
                <p:cNvSpPr txBox="1">
                  <a:spLocks noRot="1" noChangeAspect="1" noMove="1" noResize="1" noEditPoints="1" noAdjustHandles="1" noChangeArrowheads="1" noChangeShapeType="1" noTextEdit="1"/>
                </p:cNvSpPr>
                <p:nvPr/>
              </p:nvSpPr>
              <p:spPr>
                <a:xfrm>
                  <a:off x="2008094" y="801127"/>
                  <a:ext cx="374615" cy="276999"/>
                </a:xfrm>
                <a:prstGeom prst="rect">
                  <a:avLst/>
                </a:prstGeom>
                <a:blipFill rotWithShape="0">
                  <a:blip r:embed="rId3"/>
                  <a:stretch>
                    <a:fillRect l="-4918"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3188855" y="824753"/>
                  <a:ext cx="374615" cy="276999"/>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2</m:t>
                            </m:r>
                          </m:sub>
                        </m:sSub>
                      </m:oMath>
                    </m:oMathPara>
                  </a14:m>
                  <a:endParaRPr lang="en-US" dirty="0"/>
                </a:p>
              </p:txBody>
            </p:sp>
          </mc:Choice>
          <mc:Fallback xmlns="">
            <p:sp>
              <p:nvSpPr>
                <p:cNvPr id="5" name="TextBox 4"/>
                <p:cNvSpPr txBox="1">
                  <a:spLocks noRot="1" noChangeAspect="1" noMove="1" noResize="1" noEditPoints="1" noAdjustHandles="1" noChangeArrowheads="1" noChangeShapeType="1" noTextEdit="1"/>
                </p:cNvSpPr>
                <p:nvPr/>
              </p:nvSpPr>
              <p:spPr>
                <a:xfrm>
                  <a:off x="3188855" y="824753"/>
                  <a:ext cx="374615" cy="276999"/>
                </a:xfrm>
                <a:prstGeom prst="rect">
                  <a:avLst/>
                </a:prstGeom>
                <a:blipFill rotWithShape="0">
                  <a:blip r:embed="rId4"/>
                  <a:stretch>
                    <a:fillRect l="-4839"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3229197" y="3075801"/>
                  <a:ext cx="374615" cy="276999"/>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𝐷</m:t>
                            </m:r>
                            <m:r>
                              <a:rPr lang="en-US" b="0" i="1" smtClean="0">
                                <a:latin typeface="Cambria Math" panose="02040503050406030204" pitchFamily="18" charset="0"/>
                              </a:rPr>
                              <m:t>1</m:t>
                            </m:r>
                          </m:sub>
                        </m:sSub>
                      </m:oMath>
                    </m:oMathPara>
                  </a14:m>
                  <a:endParaRPr lang="en-US" dirty="0"/>
                </a:p>
              </p:txBody>
            </p:sp>
          </mc:Choice>
          <mc:Fallback xmlns="">
            <p:sp>
              <p:nvSpPr>
                <p:cNvPr id="6" name="TextBox 5"/>
                <p:cNvSpPr txBox="1">
                  <a:spLocks noRot="1" noChangeAspect="1" noMove="1" noResize="1" noEditPoints="1" noAdjustHandles="1" noChangeArrowheads="1" noChangeShapeType="1" noTextEdit="1"/>
                </p:cNvSpPr>
                <p:nvPr/>
              </p:nvSpPr>
              <p:spPr>
                <a:xfrm>
                  <a:off x="3229197" y="3075801"/>
                  <a:ext cx="374615" cy="276999"/>
                </a:xfrm>
                <a:prstGeom prst="rect">
                  <a:avLst/>
                </a:prstGeom>
                <a:blipFill rotWithShape="0">
                  <a:blip r:embed="rId5"/>
                  <a:stretch>
                    <a:fillRect l="-21311" r="-13115" b="-1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2168507" y="3031430"/>
                  <a:ext cx="374615" cy="276999"/>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𝐷</m:t>
                            </m:r>
                            <m:r>
                              <a:rPr lang="en-US" b="0" i="1" smtClean="0">
                                <a:latin typeface="Cambria Math" panose="02040503050406030204" pitchFamily="18" charset="0"/>
                              </a:rPr>
                              <m:t>2</m:t>
                            </m:r>
                          </m:sub>
                        </m:sSub>
                      </m:oMath>
                    </m:oMathPara>
                  </a14:m>
                  <a:endParaRPr lang="en-US" dirty="0"/>
                </a:p>
              </p:txBody>
            </p:sp>
          </mc:Choice>
          <mc:Fallback xmlns="">
            <p:sp>
              <p:nvSpPr>
                <p:cNvPr id="7" name="TextBox 6"/>
                <p:cNvSpPr txBox="1">
                  <a:spLocks noRot="1" noChangeAspect="1" noMove="1" noResize="1" noEditPoints="1" noAdjustHandles="1" noChangeArrowheads="1" noChangeShapeType="1" noTextEdit="1"/>
                </p:cNvSpPr>
                <p:nvPr/>
              </p:nvSpPr>
              <p:spPr>
                <a:xfrm>
                  <a:off x="2168507" y="3031430"/>
                  <a:ext cx="374615" cy="276999"/>
                </a:xfrm>
                <a:prstGeom prst="rect">
                  <a:avLst/>
                </a:prstGeom>
                <a:blipFill rotWithShape="0">
                  <a:blip r:embed="rId6"/>
                  <a:stretch>
                    <a:fillRect l="-21311" r="-13115"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1574457" y="2892930"/>
                  <a:ext cx="374615" cy="276999"/>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𝐷</m:t>
                            </m:r>
                          </m:sub>
                        </m:sSub>
                      </m:oMath>
                    </m:oMathPara>
                  </a14:m>
                  <a:endParaRPr lang="en-US" dirty="0"/>
                </a:p>
              </p:txBody>
            </p:sp>
          </mc:Choice>
          <mc:Fallback xmlns="">
            <p:sp>
              <p:nvSpPr>
                <p:cNvPr id="8" name="TextBox 7"/>
                <p:cNvSpPr txBox="1">
                  <a:spLocks noRot="1" noChangeAspect="1" noMove="1" noResize="1" noEditPoints="1" noAdjustHandles="1" noChangeArrowheads="1" noChangeShapeType="1" noTextEdit="1"/>
                </p:cNvSpPr>
                <p:nvPr/>
              </p:nvSpPr>
              <p:spPr>
                <a:xfrm>
                  <a:off x="1574457" y="2892930"/>
                  <a:ext cx="374615" cy="276999"/>
                </a:xfrm>
                <a:prstGeom prst="rect">
                  <a:avLst/>
                </a:prstGeom>
                <a:blipFill rotWithShape="0">
                  <a:blip r:embed="rId7"/>
                  <a:stretch>
                    <a:fillRect l="-6557" b="-1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3229196" y="5174902"/>
                  <a:ext cx="374615" cy="276999"/>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𝐼</m:t>
                            </m:r>
                          </m:sub>
                        </m:sSub>
                      </m:oMath>
                    </m:oMathPara>
                  </a14:m>
                  <a:endParaRPr lang="en-US" dirty="0"/>
                </a:p>
              </p:txBody>
            </p:sp>
          </mc:Choice>
          <mc:Fallback xmlns="">
            <p:sp>
              <p:nvSpPr>
                <p:cNvPr id="9" name="TextBox 8"/>
                <p:cNvSpPr txBox="1">
                  <a:spLocks noRot="1" noChangeAspect="1" noMove="1" noResize="1" noEditPoints="1" noAdjustHandles="1" noChangeArrowheads="1" noChangeShapeType="1" noTextEdit="1"/>
                </p:cNvSpPr>
                <p:nvPr/>
              </p:nvSpPr>
              <p:spPr>
                <a:xfrm>
                  <a:off x="3229196" y="5174902"/>
                  <a:ext cx="374615" cy="276999"/>
                </a:xfrm>
                <a:prstGeom prst="rect">
                  <a:avLst/>
                </a:prstGeom>
                <a:blipFill rotWithShape="0">
                  <a:blip r:embed="rId8"/>
                  <a:stretch>
                    <a:fillRect b="-1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1938205" y="5123233"/>
                  <a:ext cx="374615" cy="276999"/>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𝐼</m:t>
                            </m:r>
                          </m:sub>
                        </m:sSub>
                      </m:oMath>
                    </m:oMathPara>
                  </a14:m>
                  <a:endParaRPr lang="en-US" dirty="0"/>
                </a:p>
              </p:txBody>
            </p:sp>
          </mc:Choice>
          <mc:Fallback xmlns="">
            <p:sp>
              <p:nvSpPr>
                <p:cNvPr id="10" name="TextBox 9"/>
                <p:cNvSpPr txBox="1">
                  <a:spLocks noRot="1" noChangeAspect="1" noMove="1" noResize="1" noEditPoints="1" noAdjustHandles="1" noChangeArrowheads="1" noChangeShapeType="1" noTextEdit="1"/>
                </p:cNvSpPr>
                <p:nvPr/>
              </p:nvSpPr>
              <p:spPr>
                <a:xfrm>
                  <a:off x="1938205" y="5123233"/>
                  <a:ext cx="374615" cy="276999"/>
                </a:xfrm>
                <a:prstGeom prst="rect">
                  <a:avLst/>
                </a:prstGeom>
                <a:blipFill rotWithShape="0">
                  <a:blip r:embed="rId9"/>
                  <a:stretch>
                    <a:fillRect l="-1613"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4290563" y="1527446"/>
                  <a:ext cx="374615" cy="276999"/>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3</m:t>
                            </m:r>
                          </m:sub>
                        </m:sSub>
                      </m:oMath>
                    </m:oMathPara>
                  </a14:m>
                  <a:endParaRPr lang="en-US" dirty="0"/>
                </a:p>
              </p:txBody>
            </p:sp>
          </mc:Choice>
          <mc:Fallback xmlns="">
            <p:sp>
              <p:nvSpPr>
                <p:cNvPr id="11" name="TextBox 10"/>
                <p:cNvSpPr txBox="1">
                  <a:spLocks noRot="1" noChangeAspect="1" noMove="1" noResize="1" noEditPoints="1" noAdjustHandles="1" noChangeArrowheads="1" noChangeShapeType="1" noTextEdit="1"/>
                </p:cNvSpPr>
                <p:nvPr/>
              </p:nvSpPr>
              <p:spPr>
                <a:xfrm>
                  <a:off x="4290563" y="1527446"/>
                  <a:ext cx="374615" cy="276999"/>
                </a:xfrm>
                <a:prstGeom prst="rect">
                  <a:avLst/>
                </a:prstGeom>
                <a:blipFill rotWithShape="0">
                  <a:blip r:embed="rId10"/>
                  <a:stretch>
                    <a:fillRect l="-4839" b="-1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4295997" y="3810907"/>
                  <a:ext cx="374615" cy="276999"/>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4</m:t>
                            </m:r>
                          </m:sub>
                        </m:sSub>
                      </m:oMath>
                    </m:oMathPara>
                  </a14:m>
                  <a:endParaRPr lang="en-US" dirty="0"/>
                </a:p>
              </p:txBody>
            </p:sp>
          </mc:Choice>
          <mc:Fallback xmlns="">
            <p:sp>
              <p:nvSpPr>
                <p:cNvPr id="12" name="TextBox 11"/>
                <p:cNvSpPr txBox="1">
                  <a:spLocks noRot="1" noChangeAspect="1" noMove="1" noResize="1" noEditPoints="1" noAdjustHandles="1" noChangeArrowheads="1" noChangeShapeType="1" noTextEdit="1"/>
                </p:cNvSpPr>
                <p:nvPr/>
              </p:nvSpPr>
              <p:spPr>
                <a:xfrm>
                  <a:off x="4295997" y="3810907"/>
                  <a:ext cx="374615" cy="276999"/>
                </a:xfrm>
                <a:prstGeom prst="rect">
                  <a:avLst/>
                </a:prstGeom>
                <a:blipFill rotWithShape="0">
                  <a:blip r:embed="rId11"/>
                  <a:stretch>
                    <a:fillRect l="-4918"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4384692" y="5915527"/>
                  <a:ext cx="374615" cy="276999"/>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5</m:t>
                            </m:r>
                          </m:sub>
                        </m:sSub>
                      </m:oMath>
                    </m:oMathPara>
                  </a14:m>
                  <a:endParaRPr lang="en-US" dirty="0"/>
                </a:p>
              </p:txBody>
            </p:sp>
          </mc:Choice>
          <mc:Fallback xmlns="">
            <p:sp>
              <p:nvSpPr>
                <p:cNvPr id="13" name="TextBox 12"/>
                <p:cNvSpPr txBox="1">
                  <a:spLocks noRot="1" noChangeAspect="1" noMove="1" noResize="1" noEditPoints="1" noAdjustHandles="1" noChangeArrowheads="1" noChangeShapeType="1" noTextEdit="1"/>
                </p:cNvSpPr>
                <p:nvPr/>
              </p:nvSpPr>
              <p:spPr>
                <a:xfrm>
                  <a:off x="4384692" y="5915527"/>
                  <a:ext cx="374615" cy="276999"/>
                </a:xfrm>
                <a:prstGeom prst="rect">
                  <a:avLst/>
                </a:prstGeom>
                <a:blipFill rotWithShape="0">
                  <a:blip r:embed="rId12"/>
                  <a:stretch>
                    <a:fillRect l="-6557"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5817417" y="3075801"/>
                  <a:ext cx="374615" cy="276999"/>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6</m:t>
                            </m:r>
                          </m:sub>
                        </m:sSub>
                      </m:oMath>
                    </m:oMathPara>
                  </a14:m>
                  <a:endParaRPr lang="en-US" dirty="0"/>
                </a:p>
              </p:txBody>
            </p:sp>
          </mc:Choice>
          <mc:Fallback xmlns="">
            <p:sp>
              <p:nvSpPr>
                <p:cNvPr id="14" name="TextBox 13"/>
                <p:cNvSpPr txBox="1">
                  <a:spLocks noRot="1" noChangeAspect="1" noMove="1" noResize="1" noEditPoints="1" noAdjustHandles="1" noChangeArrowheads="1" noChangeShapeType="1" noTextEdit="1"/>
                </p:cNvSpPr>
                <p:nvPr/>
              </p:nvSpPr>
              <p:spPr>
                <a:xfrm>
                  <a:off x="5817417" y="3075801"/>
                  <a:ext cx="374615" cy="276999"/>
                </a:xfrm>
                <a:prstGeom prst="rect">
                  <a:avLst/>
                </a:prstGeom>
                <a:blipFill rotWithShape="0">
                  <a:blip r:embed="rId13"/>
                  <a:stretch>
                    <a:fillRect l="-6557" b="-1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6781800" y="3052127"/>
                  <a:ext cx="374615" cy="276999"/>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7</m:t>
                            </m:r>
                          </m:sub>
                        </m:sSub>
                      </m:oMath>
                    </m:oMathPara>
                  </a14:m>
                  <a:endParaRPr lang="en-US" dirty="0"/>
                </a:p>
              </p:txBody>
            </p:sp>
          </mc:Choice>
          <mc:Fallback xmlns="">
            <p:sp>
              <p:nvSpPr>
                <p:cNvPr id="15" name="TextBox 14"/>
                <p:cNvSpPr txBox="1">
                  <a:spLocks noRot="1" noChangeAspect="1" noMove="1" noResize="1" noEditPoints="1" noAdjustHandles="1" noChangeArrowheads="1" noChangeShapeType="1" noTextEdit="1"/>
                </p:cNvSpPr>
                <p:nvPr/>
              </p:nvSpPr>
              <p:spPr>
                <a:xfrm>
                  <a:off x="6781800" y="3052127"/>
                  <a:ext cx="374615" cy="276999"/>
                </a:xfrm>
                <a:prstGeom prst="rect">
                  <a:avLst/>
                </a:prstGeom>
                <a:blipFill rotWithShape="0">
                  <a:blip r:embed="rId14"/>
                  <a:stretch>
                    <a:fillRect l="-6557" b="-1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7746183" y="3075800"/>
                  <a:ext cx="374615" cy="276999"/>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8</m:t>
                            </m:r>
                          </m:sub>
                        </m:sSub>
                      </m:oMath>
                    </m:oMathPara>
                  </a14:m>
                  <a:endParaRPr lang="en-US" dirty="0"/>
                </a:p>
              </p:txBody>
            </p:sp>
          </mc:Choice>
          <mc:Fallback xmlns="">
            <p:sp>
              <p:nvSpPr>
                <p:cNvPr id="16" name="TextBox 15"/>
                <p:cNvSpPr txBox="1">
                  <a:spLocks noRot="1" noChangeAspect="1" noMove="1" noResize="1" noEditPoints="1" noAdjustHandles="1" noChangeArrowheads="1" noChangeShapeType="1" noTextEdit="1"/>
                </p:cNvSpPr>
                <p:nvPr/>
              </p:nvSpPr>
              <p:spPr>
                <a:xfrm>
                  <a:off x="7746183" y="3075800"/>
                  <a:ext cx="374615" cy="276999"/>
                </a:xfrm>
                <a:prstGeom prst="rect">
                  <a:avLst/>
                </a:prstGeom>
                <a:blipFill rotWithShape="0">
                  <a:blip r:embed="rId15"/>
                  <a:stretch>
                    <a:fillRect l="-6557" b="-15556"/>
                  </a:stretch>
                </a:blipFill>
              </p:spPr>
              <p:txBody>
                <a:bodyPr/>
                <a:lstStyle/>
                <a:p>
                  <a:r>
                    <a:rPr lang="en-US">
                      <a:noFill/>
                    </a:rPr>
                    <a:t> </a:t>
                  </a:r>
                </a:p>
              </p:txBody>
            </p:sp>
          </mc:Fallback>
        </mc:AlternateContent>
        <p:sp>
          <p:nvSpPr>
            <p:cNvPr id="4" name="Rectangle 3"/>
            <p:cNvSpPr/>
            <p:nvPr/>
          </p:nvSpPr>
          <p:spPr>
            <a:xfrm>
              <a:off x="2485126" y="848797"/>
              <a:ext cx="318247" cy="25295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3872753" y="891988"/>
              <a:ext cx="318247" cy="25295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3455894" y="2100280"/>
              <a:ext cx="318247" cy="25295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2615115" y="3099844"/>
              <a:ext cx="318247" cy="25295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3971640" y="3075800"/>
              <a:ext cx="318247" cy="25295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p:nvSpPr>
          <p:spPr>
            <a:xfrm>
              <a:off x="3455894" y="4352662"/>
              <a:ext cx="318247" cy="25295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3429000" y="6426385"/>
              <a:ext cx="318247" cy="25295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p:nvSpPr>
          <p:spPr>
            <a:xfrm>
              <a:off x="5909644" y="4352661"/>
              <a:ext cx="318247" cy="25295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p:nvPr/>
          </p:nvSpPr>
          <p:spPr>
            <a:xfrm>
              <a:off x="7933490" y="4352660"/>
              <a:ext cx="318247" cy="25295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p:nvSpPr>
          <p:spPr>
            <a:xfrm>
              <a:off x="2485125" y="5174902"/>
              <a:ext cx="318247" cy="25295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p:cNvSpPr/>
            <p:nvPr/>
          </p:nvSpPr>
          <p:spPr>
            <a:xfrm>
              <a:off x="3971639" y="5198946"/>
              <a:ext cx="318247" cy="25295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p:cNvSpPr/>
            <p:nvPr/>
          </p:nvSpPr>
          <p:spPr>
            <a:xfrm>
              <a:off x="5000953" y="3031429"/>
              <a:ext cx="318247" cy="25295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p:cNvSpPr/>
            <p:nvPr/>
          </p:nvSpPr>
          <p:spPr>
            <a:xfrm>
              <a:off x="6488142" y="3059954"/>
              <a:ext cx="318247" cy="25295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7066640" y="2938931"/>
              <a:ext cx="318247" cy="25295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76164" y="3022463"/>
              <a:ext cx="318247" cy="25295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p:cNvSpPr/>
            <p:nvPr/>
          </p:nvSpPr>
          <p:spPr>
            <a:xfrm>
              <a:off x="1168402" y="3099844"/>
              <a:ext cx="318247" cy="25295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4" name="TextBox 33"/>
                <p:cNvSpPr txBox="1"/>
                <p:nvPr/>
              </p:nvSpPr>
              <p:spPr>
                <a:xfrm>
                  <a:off x="817013" y="3063777"/>
                  <a:ext cx="374615" cy="276999"/>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𝑒</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m:oMathPara>
                  </a14:m>
                  <a:endParaRPr lang="en-US" dirty="0"/>
                </a:p>
              </p:txBody>
            </p:sp>
          </mc:Choice>
          <mc:Fallback xmlns="">
            <p:sp>
              <p:nvSpPr>
                <p:cNvPr id="34" name="TextBox 33"/>
                <p:cNvSpPr txBox="1">
                  <a:spLocks noRot="1" noChangeAspect="1" noMove="1" noResize="1" noEditPoints="1" noAdjustHandles="1" noChangeArrowheads="1" noChangeShapeType="1" noTextEdit="1"/>
                </p:cNvSpPr>
                <p:nvPr/>
              </p:nvSpPr>
              <p:spPr>
                <a:xfrm>
                  <a:off x="817013" y="3063777"/>
                  <a:ext cx="374615" cy="276999"/>
                </a:xfrm>
                <a:prstGeom prst="rect">
                  <a:avLst/>
                </a:prstGeom>
                <a:blipFill rotWithShape="0">
                  <a:blip r:embed="rId16"/>
                  <a:stretch>
                    <a:fillRect l="-16129" t="-4444" r="-37097" b="-35556"/>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36" name="TextBox 35"/>
              <p:cNvSpPr txBox="1"/>
              <p:nvPr/>
            </p:nvSpPr>
            <p:spPr>
              <a:xfrm>
                <a:off x="5817206" y="844249"/>
                <a:ext cx="1735284" cy="689228"/>
              </a:xfrm>
              <a:prstGeom prst="rect">
                <a:avLst/>
              </a:prstGeom>
              <a:solidFill>
                <a:srgbClr val="D2ECB6"/>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𝐾</m:t>
                          </m:r>
                        </m:e>
                        <m:sub>
                          <m:r>
                            <a:rPr lang="en-US" sz="2200" b="0" i="1" smtClean="0">
                              <a:latin typeface="Cambria Math" panose="02040503050406030204" pitchFamily="18" charset="0"/>
                            </a:rPr>
                            <m:t>𝑝</m:t>
                          </m:r>
                        </m:sub>
                      </m:sSub>
                      <m:r>
                        <a:rPr lang="en-US" sz="2200" b="0" i="1" smtClean="0">
                          <a:latin typeface="Cambria Math" panose="02040503050406030204" pitchFamily="18" charset="0"/>
                        </a:rPr>
                        <m:t>=−</m:t>
                      </m:r>
                      <m:f>
                        <m:fPr>
                          <m:ctrlPr>
                            <a:rPr lang="en-US" sz="2200" b="0" i="1" smtClean="0">
                              <a:latin typeface="Cambria Math" panose="02040503050406030204" pitchFamily="18" charset="0"/>
                            </a:rPr>
                          </m:ctrlPr>
                        </m:fPr>
                        <m:num>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𝑅</m:t>
                              </m:r>
                            </m:e>
                            <m:sub>
                              <m:r>
                                <a:rPr lang="en-US" sz="2200" b="0" i="1" smtClean="0">
                                  <a:latin typeface="Cambria Math" panose="02040503050406030204" pitchFamily="18" charset="0"/>
                                </a:rPr>
                                <m:t>2</m:t>
                              </m:r>
                            </m:sub>
                          </m:sSub>
                        </m:num>
                        <m:den>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𝑅</m:t>
                              </m:r>
                            </m:e>
                            <m:sub>
                              <m:r>
                                <a:rPr lang="en-US" sz="2200" b="0" i="1" smtClean="0">
                                  <a:latin typeface="Cambria Math" panose="02040503050406030204" pitchFamily="18" charset="0"/>
                                </a:rPr>
                                <m:t>1</m:t>
                              </m:r>
                            </m:sub>
                          </m:sSub>
                        </m:den>
                      </m:f>
                    </m:oMath>
                  </m:oMathPara>
                </a14:m>
                <a:endParaRPr lang="en-US" sz="2200" dirty="0"/>
              </a:p>
            </p:txBody>
          </p:sp>
        </mc:Choice>
        <mc:Fallback xmlns="">
          <p:sp>
            <p:nvSpPr>
              <p:cNvPr id="36" name="TextBox 35"/>
              <p:cNvSpPr txBox="1">
                <a:spLocks noRot="1" noChangeAspect="1" noMove="1" noResize="1" noEditPoints="1" noAdjustHandles="1" noChangeArrowheads="1" noChangeShapeType="1" noTextEdit="1"/>
              </p:cNvSpPr>
              <p:nvPr/>
            </p:nvSpPr>
            <p:spPr>
              <a:xfrm>
                <a:off x="5817206" y="844249"/>
                <a:ext cx="1735284" cy="689228"/>
              </a:xfrm>
              <a:prstGeom prst="rect">
                <a:avLst/>
              </a:prstGeom>
              <a:blipFill rotWithShape="0">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p:cNvSpPr txBox="1"/>
              <p:nvPr/>
            </p:nvSpPr>
            <p:spPr>
              <a:xfrm>
                <a:off x="5817205" y="1533488"/>
                <a:ext cx="1999595" cy="338554"/>
              </a:xfrm>
              <a:prstGeom prst="rect">
                <a:avLst/>
              </a:prstGeom>
              <a:solidFill>
                <a:srgbClr val="D2ECB6"/>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𝑇</m:t>
                          </m:r>
                        </m:e>
                        <m:sub>
                          <m:r>
                            <a:rPr lang="en-US" sz="2200" b="0" i="1" smtClean="0">
                              <a:latin typeface="Cambria Math" panose="02040503050406030204" pitchFamily="18" charset="0"/>
                            </a:rPr>
                            <m:t>𝑑</m:t>
                          </m:r>
                        </m:sub>
                      </m:sSub>
                      <m:r>
                        <a:rPr lang="en-US" sz="2200" b="0" i="1" smtClean="0">
                          <a:latin typeface="Cambria Math" panose="02040503050406030204" pitchFamily="18" charset="0"/>
                        </a:rPr>
                        <m:t>=−</m:t>
                      </m:r>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𝑅</m:t>
                          </m:r>
                        </m:e>
                        <m:sub>
                          <m:r>
                            <a:rPr lang="en-US" sz="2200" b="0" i="1" smtClean="0">
                              <a:latin typeface="Cambria Math" panose="02040503050406030204" pitchFamily="18" charset="0"/>
                            </a:rPr>
                            <m:t>𝐷</m:t>
                          </m:r>
                          <m:r>
                            <a:rPr lang="en-US" sz="2200" b="0" i="1" smtClean="0">
                              <a:latin typeface="Cambria Math" panose="02040503050406030204" pitchFamily="18" charset="0"/>
                            </a:rPr>
                            <m:t>2</m:t>
                          </m:r>
                        </m:sub>
                      </m:sSub>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𝐶</m:t>
                          </m:r>
                        </m:e>
                        <m:sub>
                          <m:r>
                            <a:rPr lang="en-US" sz="2200" b="0" i="1" smtClean="0">
                              <a:latin typeface="Cambria Math" panose="02040503050406030204" pitchFamily="18" charset="0"/>
                            </a:rPr>
                            <m:t>𝐷</m:t>
                          </m:r>
                        </m:sub>
                      </m:sSub>
                    </m:oMath>
                  </m:oMathPara>
                </a14:m>
                <a:endParaRPr lang="en-US" sz="2200" dirty="0"/>
              </a:p>
            </p:txBody>
          </p:sp>
        </mc:Choice>
        <mc:Fallback xmlns="">
          <p:sp>
            <p:nvSpPr>
              <p:cNvPr id="37" name="TextBox 36"/>
              <p:cNvSpPr txBox="1">
                <a:spLocks noRot="1" noChangeAspect="1" noMove="1" noResize="1" noEditPoints="1" noAdjustHandles="1" noChangeArrowheads="1" noChangeShapeType="1" noTextEdit="1"/>
              </p:cNvSpPr>
              <p:nvPr/>
            </p:nvSpPr>
            <p:spPr>
              <a:xfrm>
                <a:off x="5817205" y="1533488"/>
                <a:ext cx="1999595" cy="338554"/>
              </a:xfrm>
              <a:prstGeom prst="rect">
                <a:avLst/>
              </a:prstGeom>
              <a:blipFill rotWithShape="0">
                <a:blip r:embed="rId18"/>
                <a:stretch>
                  <a:fillRect b="-1636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p:cNvSpPr txBox="1"/>
              <p:nvPr/>
            </p:nvSpPr>
            <p:spPr>
              <a:xfrm>
                <a:off x="5816485" y="2057480"/>
                <a:ext cx="1999595" cy="338554"/>
              </a:xfrm>
              <a:prstGeom prst="rect">
                <a:avLst/>
              </a:prstGeom>
              <a:solidFill>
                <a:srgbClr val="D2ECB6"/>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𝑇</m:t>
                          </m:r>
                        </m:e>
                        <m:sub>
                          <m:r>
                            <a:rPr lang="en-US" sz="2200" b="0" i="1" smtClean="0">
                              <a:latin typeface="Cambria Math" panose="02040503050406030204" pitchFamily="18" charset="0"/>
                            </a:rPr>
                            <m:t>𝑖</m:t>
                          </m:r>
                        </m:sub>
                      </m:sSub>
                      <m:r>
                        <a:rPr lang="en-US" sz="2200" b="0" i="1" smtClean="0">
                          <a:latin typeface="Cambria Math" panose="02040503050406030204" pitchFamily="18" charset="0"/>
                        </a:rPr>
                        <m:t>=−</m:t>
                      </m:r>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𝑅</m:t>
                          </m:r>
                        </m:e>
                        <m:sub>
                          <m:r>
                            <a:rPr lang="en-US" sz="2200" b="0" i="1" smtClean="0">
                              <a:latin typeface="Cambria Math" panose="02040503050406030204" pitchFamily="18" charset="0"/>
                            </a:rPr>
                            <m:t>𝐼</m:t>
                          </m:r>
                        </m:sub>
                      </m:sSub>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𝐶</m:t>
                          </m:r>
                        </m:e>
                        <m:sub>
                          <m:r>
                            <a:rPr lang="en-US" sz="2200" b="0" i="1" smtClean="0">
                              <a:latin typeface="Cambria Math" panose="02040503050406030204" pitchFamily="18" charset="0"/>
                            </a:rPr>
                            <m:t>𝐼</m:t>
                          </m:r>
                        </m:sub>
                      </m:sSub>
                    </m:oMath>
                  </m:oMathPara>
                </a14:m>
                <a:endParaRPr lang="en-US" sz="2200" dirty="0"/>
              </a:p>
            </p:txBody>
          </p:sp>
        </mc:Choice>
        <mc:Fallback xmlns="">
          <p:sp>
            <p:nvSpPr>
              <p:cNvPr id="38" name="TextBox 37"/>
              <p:cNvSpPr txBox="1">
                <a:spLocks noRot="1" noChangeAspect="1" noMove="1" noResize="1" noEditPoints="1" noAdjustHandles="1" noChangeArrowheads="1" noChangeShapeType="1" noTextEdit="1"/>
              </p:cNvSpPr>
              <p:nvPr/>
            </p:nvSpPr>
            <p:spPr>
              <a:xfrm>
                <a:off x="5816485" y="2057480"/>
                <a:ext cx="1999595" cy="338554"/>
              </a:xfrm>
              <a:prstGeom prst="rect">
                <a:avLst/>
              </a:prstGeom>
              <a:blipFill rotWithShape="0">
                <a:blip r:embed="rId19"/>
                <a:stretch>
                  <a:fillRect b="-16364"/>
                </a:stretch>
              </a:blipFill>
            </p:spPr>
            <p:txBody>
              <a:bodyPr/>
              <a:lstStyle/>
              <a:p>
                <a:r>
                  <a:rPr lang="en-US">
                    <a:noFill/>
                  </a:rPr>
                  <a:t> </a:t>
                </a:r>
              </a:p>
            </p:txBody>
          </p:sp>
        </mc:Fallback>
      </mc:AlternateContent>
      <p:sp>
        <p:nvSpPr>
          <p:cNvPr id="25" name="Slide Number Placeholder 24"/>
          <p:cNvSpPr>
            <a:spLocks noGrp="1"/>
          </p:cNvSpPr>
          <p:nvPr>
            <p:ph type="sldNum" sz="quarter" idx="12"/>
          </p:nvPr>
        </p:nvSpPr>
        <p:spPr/>
        <p:txBody>
          <a:bodyPr/>
          <a:lstStyle/>
          <a:p>
            <a:fld id="{7A0D5CAB-8BF0-4EA3-BAE4-9835C852A49B}" type="slidenum">
              <a:rPr lang="en-GB" smtClean="0"/>
              <a:pPr/>
              <a:t>43</a:t>
            </a:fld>
            <a:endParaRPr lang="en-GB" dirty="0"/>
          </a:p>
        </p:txBody>
      </p:sp>
    </p:spTree>
    <p:extLst>
      <p:ext uri="{BB962C8B-B14F-4D97-AF65-F5344CB8AC3E}">
        <p14:creationId xmlns:p14="http://schemas.microsoft.com/office/powerpoint/2010/main" val="15018567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38200"/>
          </a:xfrm>
        </p:spPr>
        <p:txBody>
          <a:bodyPr/>
          <a:lstStyle/>
          <a:p>
            <a:r>
              <a:rPr lang="en-US" dirty="0"/>
              <a:t>Electronic PID Controller</a:t>
            </a:r>
          </a:p>
        </p:txBody>
      </p:sp>
      <p:pic>
        <p:nvPicPr>
          <p:cNvPr id="4" name="Picture 3"/>
          <p:cNvPicPr>
            <a:picLocks noChangeAspect="1"/>
          </p:cNvPicPr>
          <p:nvPr/>
        </p:nvPicPr>
        <p:blipFill>
          <a:blip r:embed="rId2"/>
          <a:stretch>
            <a:fillRect/>
          </a:stretch>
        </p:blipFill>
        <p:spPr>
          <a:xfrm>
            <a:off x="1143000" y="912125"/>
            <a:ext cx="6629833" cy="2865517"/>
          </a:xfrm>
          <a:prstGeom prst="rect">
            <a:avLst/>
          </a:prstGeom>
        </p:spPr>
      </p:pic>
      <mc:AlternateContent xmlns:mc="http://schemas.openxmlformats.org/markup-compatibility/2006" xmlns:a14="http://schemas.microsoft.com/office/drawing/2010/main">
        <mc:Choice Requires="a14">
          <p:sp>
            <p:nvSpPr>
              <p:cNvPr id="5" name="TextBox 4"/>
              <p:cNvSpPr txBox="1"/>
              <p:nvPr/>
            </p:nvSpPr>
            <p:spPr>
              <a:xfrm>
                <a:off x="1981200" y="4038600"/>
                <a:ext cx="5202258" cy="8331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600" i="1" smtClean="0">
                              <a:latin typeface="Cambria Math" panose="02040503050406030204" pitchFamily="18" charset="0"/>
                            </a:rPr>
                          </m:ctrlPr>
                        </m:fPr>
                        <m:num>
                          <m:sSub>
                            <m:sSubPr>
                              <m:ctrlPr>
                                <a:rPr lang="en-US" sz="2600" i="1" smtClean="0">
                                  <a:latin typeface="Cambria Math" panose="02040503050406030204" pitchFamily="18" charset="0"/>
                                </a:rPr>
                              </m:ctrlPr>
                            </m:sSubPr>
                            <m:e>
                              <m:r>
                                <a:rPr lang="en-US" sz="2600" b="0" i="1" smtClean="0">
                                  <a:latin typeface="Cambria Math" panose="02040503050406030204" pitchFamily="18" charset="0"/>
                                </a:rPr>
                                <m:t>𝐸</m:t>
                              </m:r>
                            </m:e>
                            <m:sub>
                              <m:r>
                                <a:rPr lang="en-US" sz="2600" b="0" i="1" smtClean="0">
                                  <a:latin typeface="Cambria Math" panose="02040503050406030204" pitchFamily="18" charset="0"/>
                                </a:rPr>
                                <m:t>𝑜</m:t>
                              </m:r>
                            </m:sub>
                          </m:sSub>
                          <m:r>
                            <a:rPr lang="en-US" sz="2600" b="0" i="1" smtClean="0">
                              <a:latin typeface="Cambria Math" panose="02040503050406030204" pitchFamily="18" charset="0"/>
                            </a:rPr>
                            <m:t>(</m:t>
                          </m:r>
                          <m:r>
                            <a:rPr lang="en-US" sz="2600" b="0" i="1" smtClean="0">
                              <a:latin typeface="Cambria Math" panose="02040503050406030204" pitchFamily="18" charset="0"/>
                            </a:rPr>
                            <m:t>𝑠</m:t>
                          </m:r>
                          <m:r>
                            <a:rPr lang="en-US" sz="2600" b="0" i="1" smtClean="0">
                              <a:latin typeface="Cambria Math" panose="02040503050406030204" pitchFamily="18" charset="0"/>
                            </a:rPr>
                            <m:t>)</m:t>
                          </m:r>
                        </m:num>
                        <m:den>
                          <m:sSub>
                            <m:sSubPr>
                              <m:ctrlPr>
                                <a:rPr lang="en-US" sz="2600" i="1" smtClean="0">
                                  <a:latin typeface="Cambria Math" panose="02040503050406030204" pitchFamily="18" charset="0"/>
                                </a:rPr>
                              </m:ctrlPr>
                            </m:sSubPr>
                            <m:e>
                              <m:r>
                                <a:rPr lang="en-US" sz="2600" b="0" i="1" smtClean="0">
                                  <a:latin typeface="Cambria Math" panose="02040503050406030204" pitchFamily="18" charset="0"/>
                                </a:rPr>
                                <m:t>𝐸</m:t>
                              </m:r>
                            </m:e>
                            <m:sub>
                              <m:r>
                                <a:rPr lang="en-US" sz="2600" b="0" i="1" smtClean="0">
                                  <a:latin typeface="Cambria Math" panose="02040503050406030204" pitchFamily="18" charset="0"/>
                                </a:rPr>
                                <m:t>𝑖</m:t>
                              </m:r>
                            </m:sub>
                          </m:sSub>
                          <m:r>
                            <a:rPr lang="en-US" sz="2600" b="0" i="1" smtClean="0">
                              <a:latin typeface="Cambria Math" panose="02040503050406030204" pitchFamily="18" charset="0"/>
                            </a:rPr>
                            <m:t>(</m:t>
                          </m:r>
                          <m:r>
                            <a:rPr lang="en-US" sz="2600" b="0" i="1" smtClean="0">
                              <a:latin typeface="Cambria Math" panose="02040503050406030204" pitchFamily="18" charset="0"/>
                            </a:rPr>
                            <m:t>𝑠</m:t>
                          </m:r>
                          <m:r>
                            <a:rPr lang="en-US" sz="2600" b="0" i="1" smtClean="0">
                              <a:latin typeface="Cambria Math" panose="02040503050406030204" pitchFamily="18" charset="0"/>
                            </a:rPr>
                            <m:t>)</m:t>
                          </m:r>
                        </m:den>
                      </m:f>
                      <m:r>
                        <a:rPr lang="en-US" sz="2600" b="0" i="1" smtClean="0">
                          <a:latin typeface="Cambria Math" panose="02040503050406030204" pitchFamily="18" charset="0"/>
                        </a:rPr>
                        <m:t>=</m:t>
                      </m:r>
                      <m:f>
                        <m:fPr>
                          <m:ctrlPr>
                            <a:rPr lang="en-US" sz="2600" b="0" i="1" smtClean="0">
                              <a:latin typeface="Cambria Math" panose="02040503050406030204" pitchFamily="18" charset="0"/>
                            </a:rPr>
                          </m:ctrlPr>
                        </m:fPr>
                        <m:num>
                          <m:sSub>
                            <m:sSubPr>
                              <m:ctrlPr>
                                <a:rPr lang="en-US" sz="2600" b="0" i="1" smtClean="0">
                                  <a:latin typeface="Cambria Math" panose="02040503050406030204" pitchFamily="18" charset="0"/>
                                </a:rPr>
                              </m:ctrlPr>
                            </m:sSubPr>
                            <m:e>
                              <m:r>
                                <a:rPr lang="en-US" sz="2600" b="0" i="1" smtClean="0">
                                  <a:latin typeface="Cambria Math" panose="02040503050406030204" pitchFamily="18" charset="0"/>
                                </a:rPr>
                                <m:t>𝑅</m:t>
                              </m:r>
                            </m:e>
                            <m:sub>
                              <m:r>
                                <a:rPr lang="en-US" sz="2600" b="0" i="1" smtClean="0">
                                  <a:latin typeface="Cambria Math" panose="02040503050406030204" pitchFamily="18" charset="0"/>
                                </a:rPr>
                                <m:t>4</m:t>
                              </m:r>
                            </m:sub>
                          </m:sSub>
                        </m:num>
                        <m:den>
                          <m:sSub>
                            <m:sSubPr>
                              <m:ctrlPr>
                                <a:rPr lang="en-US" sz="2600" b="0" i="1" smtClean="0">
                                  <a:latin typeface="Cambria Math" panose="02040503050406030204" pitchFamily="18" charset="0"/>
                                </a:rPr>
                              </m:ctrlPr>
                            </m:sSubPr>
                            <m:e>
                              <m:r>
                                <a:rPr lang="en-US" sz="2600" b="0" i="1" smtClean="0">
                                  <a:latin typeface="Cambria Math" panose="02040503050406030204" pitchFamily="18" charset="0"/>
                                </a:rPr>
                                <m:t>𝑅</m:t>
                              </m:r>
                            </m:e>
                            <m:sub>
                              <m:r>
                                <a:rPr lang="en-US" sz="2600" b="0" i="1" smtClean="0">
                                  <a:latin typeface="Cambria Math" panose="02040503050406030204" pitchFamily="18" charset="0"/>
                                </a:rPr>
                                <m:t>3</m:t>
                              </m:r>
                            </m:sub>
                          </m:sSub>
                        </m:den>
                      </m:f>
                      <m:r>
                        <a:rPr lang="en-US" sz="2600" b="0" i="1" smtClean="0">
                          <a:latin typeface="Cambria Math" panose="02040503050406030204" pitchFamily="18" charset="0"/>
                        </a:rPr>
                        <m:t> </m:t>
                      </m:r>
                      <m:f>
                        <m:fPr>
                          <m:ctrlPr>
                            <a:rPr lang="en-US" sz="2600" b="0" i="1" smtClean="0">
                              <a:latin typeface="Cambria Math" panose="02040503050406030204" pitchFamily="18" charset="0"/>
                            </a:rPr>
                          </m:ctrlPr>
                        </m:fPr>
                        <m:num>
                          <m:r>
                            <a:rPr lang="en-US" sz="2600" i="1">
                              <a:latin typeface="Cambria Math" panose="02040503050406030204" pitchFamily="18" charset="0"/>
                            </a:rPr>
                            <m:t>(</m:t>
                          </m:r>
                          <m:sSub>
                            <m:sSubPr>
                              <m:ctrlPr>
                                <a:rPr lang="en-US" sz="2600" i="1" smtClean="0">
                                  <a:latin typeface="Cambria Math" panose="02040503050406030204" pitchFamily="18" charset="0"/>
                                </a:rPr>
                              </m:ctrlPr>
                            </m:sSubPr>
                            <m:e>
                              <m:r>
                                <a:rPr lang="en-US" sz="2600" b="0" i="1" smtClean="0">
                                  <a:latin typeface="Cambria Math" panose="02040503050406030204" pitchFamily="18" charset="0"/>
                                </a:rPr>
                                <m:t>𝑅</m:t>
                              </m:r>
                            </m:e>
                            <m:sub>
                              <m:r>
                                <a:rPr lang="en-US" sz="2600" b="0" i="1" smtClean="0">
                                  <a:latin typeface="Cambria Math" panose="02040503050406030204" pitchFamily="18" charset="0"/>
                                </a:rPr>
                                <m:t>1</m:t>
                              </m:r>
                            </m:sub>
                          </m:sSub>
                          <m:sSub>
                            <m:sSubPr>
                              <m:ctrlPr>
                                <a:rPr lang="en-US" sz="2600" i="1" smtClean="0">
                                  <a:latin typeface="Cambria Math" panose="02040503050406030204" pitchFamily="18" charset="0"/>
                                </a:rPr>
                              </m:ctrlPr>
                            </m:sSubPr>
                            <m:e>
                              <m:r>
                                <a:rPr lang="en-US" sz="2600" b="0" i="1" smtClean="0">
                                  <a:latin typeface="Cambria Math" panose="02040503050406030204" pitchFamily="18" charset="0"/>
                                </a:rPr>
                                <m:t>𝐶</m:t>
                              </m:r>
                            </m:e>
                            <m:sub>
                              <m:r>
                                <a:rPr lang="en-US" sz="2600" b="0" i="1" smtClean="0">
                                  <a:latin typeface="Cambria Math" panose="02040503050406030204" pitchFamily="18" charset="0"/>
                                </a:rPr>
                                <m:t>1</m:t>
                              </m:r>
                            </m:sub>
                          </m:sSub>
                          <m:r>
                            <a:rPr lang="en-US" sz="2600" b="0" i="1" smtClean="0">
                              <a:latin typeface="Cambria Math" panose="02040503050406030204" pitchFamily="18" charset="0"/>
                            </a:rPr>
                            <m:t>𝑠</m:t>
                          </m:r>
                          <m:r>
                            <a:rPr lang="en-US" sz="2600" b="0" i="1" smtClean="0">
                              <a:latin typeface="Cambria Math" panose="02040503050406030204" pitchFamily="18" charset="0"/>
                            </a:rPr>
                            <m:t>+1)(</m:t>
                          </m:r>
                          <m:sSub>
                            <m:sSubPr>
                              <m:ctrlPr>
                                <a:rPr lang="en-US" sz="2600" i="1">
                                  <a:latin typeface="Cambria Math" panose="02040503050406030204" pitchFamily="18" charset="0"/>
                                </a:rPr>
                              </m:ctrlPr>
                            </m:sSubPr>
                            <m:e>
                              <m:r>
                                <a:rPr lang="en-US" sz="2600" i="1">
                                  <a:latin typeface="Cambria Math" panose="02040503050406030204" pitchFamily="18" charset="0"/>
                                </a:rPr>
                                <m:t>𝑅</m:t>
                              </m:r>
                            </m:e>
                            <m:sub>
                              <m:r>
                                <a:rPr lang="en-US" sz="2600" b="0" i="1" smtClean="0">
                                  <a:latin typeface="Cambria Math" panose="02040503050406030204" pitchFamily="18" charset="0"/>
                                </a:rPr>
                                <m:t>2</m:t>
                              </m:r>
                            </m:sub>
                          </m:sSub>
                          <m:sSub>
                            <m:sSubPr>
                              <m:ctrlPr>
                                <a:rPr lang="en-US" sz="2600" i="1">
                                  <a:latin typeface="Cambria Math" panose="02040503050406030204" pitchFamily="18" charset="0"/>
                                </a:rPr>
                              </m:ctrlPr>
                            </m:sSubPr>
                            <m:e>
                              <m:r>
                                <a:rPr lang="en-US" sz="2600" i="1">
                                  <a:latin typeface="Cambria Math" panose="02040503050406030204" pitchFamily="18" charset="0"/>
                                </a:rPr>
                                <m:t>𝐶</m:t>
                              </m:r>
                            </m:e>
                            <m:sub>
                              <m:r>
                                <a:rPr lang="en-US" sz="2600" b="0" i="1" smtClean="0">
                                  <a:latin typeface="Cambria Math" panose="02040503050406030204" pitchFamily="18" charset="0"/>
                                </a:rPr>
                                <m:t>2</m:t>
                              </m:r>
                            </m:sub>
                          </m:sSub>
                          <m:r>
                            <a:rPr lang="en-US" sz="2600" i="1">
                              <a:latin typeface="Cambria Math" panose="02040503050406030204" pitchFamily="18" charset="0"/>
                            </a:rPr>
                            <m:t>𝑠</m:t>
                          </m:r>
                          <m:r>
                            <a:rPr lang="en-US" sz="2600" i="1">
                              <a:latin typeface="Cambria Math" panose="02040503050406030204" pitchFamily="18" charset="0"/>
                            </a:rPr>
                            <m:t>+1)</m:t>
                          </m:r>
                        </m:num>
                        <m:den>
                          <m:sSub>
                            <m:sSubPr>
                              <m:ctrlPr>
                                <a:rPr lang="en-US" sz="2600" i="1" smtClean="0">
                                  <a:latin typeface="Cambria Math" panose="02040503050406030204" pitchFamily="18" charset="0"/>
                                </a:rPr>
                              </m:ctrlPr>
                            </m:sSubPr>
                            <m:e>
                              <m:r>
                                <a:rPr lang="en-US" sz="2600" i="1">
                                  <a:latin typeface="Cambria Math" panose="02040503050406030204" pitchFamily="18" charset="0"/>
                                </a:rPr>
                                <m:t>𝑅</m:t>
                              </m:r>
                            </m:e>
                            <m:sub>
                              <m:r>
                                <a:rPr lang="en-US" sz="2600" b="0" i="1" smtClean="0">
                                  <a:latin typeface="Cambria Math" panose="02040503050406030204" pitchFamily="18" charset="0"/>
                                </a:rPr>
                                <m:t>2</m:t>
                              </m:r>
                            </m:sub>
                          </m:sSub>
                          <m:sSub>
                            <m:sSubPr>
                              <m:ctrlPr>
                                <a:rPr lang="en-US" sz="2600" i="1">
                                  <a:latin typeface="Cambria Math" panose="02040503050406030204" pitchFamily="18" charset="0"/>
                                </a:rPr>
                              </m:ctrlPr>
                            </m:sSubPr>
                            <m:e>
                              <m:r>
                                <a:rPr lang="en-US" sz="2600" i="1">
                                  <a:latin typeface="Cambria Math" panose="02040503050406030204" pitchFamily="18" charset="0"/>
                                </a:rPr>
                                <m:t>𝐶</m:t>
                              </m:r>
                            </m:e>
                            <m:sub>
                              <m:r>
                                <a:rPr lang="en-US" sz="2600" b="0" i="1" smtClean="0">
                                  <a:latin typeface="Cambria Math" panose="02040503050406030204" pitchFamily="18" charset="0"/>
                                </a:rPr>
                                <m:t>2</m:t>
                              </m:r>
                            </m:sub>
                          </m:sSub>
                          <m:r>
                            <a:rPr lang="en-US" sz="2600" i="1">
                              <a:latin typeface="Cambria Math" panose="02040503050406030204" pitchFamily="18" charset="0"/>
                            </a:rPr>
                            <m:t>𝑠</m:t>
                          </m:r>
                        </m:den>
                      </m:f>
                    </m:oMath>
                  </m:oMathPara>
                </a14:m>
                <a:endParaRPr lang="en-US" sz="2600" dirty="0"/>
              </a:p>
            </p:txBody>
          </p:sp>
        </mc:Choice>
        <mc:Fallback xmlns="">
          <p:sp>
            <p:nvSpPr>
              <p:cNvPr id="5" name="TextBox 4"/>
              <p:cNvSpPr txBox="1">
                <a:spLocks noRot="1" noChangeAspect="1" noMove="1" noResize="1" noEditPoints="1" noAdjustHandles="1" noChangeArrowheads="1" noChangeShapeType="1" noTextEdit="1"/>
              </p:cNvSpPr>
              <p:nvPr/>
            </p:nvSpPr>
            <p:spPr>
              <a:xfrm>
                <a:off x="1981200" y="4038600"/>
                <a:ext cx="5202258" cy="833177"/>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1219200" y="5486400"/>
                <a:ext cx="6801477" cy="89902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600" i="1" smtClean="0">
                              <a:latin typeface="Cambria Math" panose="02040503050406030204" pitchFamily="18" charset="0"/>
                            </a:rPr>
                          </m:ctrlPr>
                        </m:fPr>
                        <m:num>
                          <m:sSub>
                            <m:sSubPr>
                              <m:ctrlPr>
                                <a:rPr lang="en-US" sz="2600" i="1" smtClean="0">
                                  <a:latin typeface="Cambria Math" panose="02040503050406030204" pitchFamily="18" charset="0"/>
                                </a:rPr>
                              </m:ctrlPr>
                            </m:sSubPr>
                            <m:e>
                              <m:r>
                                <a:rPr lang="en-US" sz="2600" b="0" i="1" smtClean="0">
                                  <a:latin typeface="Cambria Math" panose="02040503050406030204" pitchFamily="18" charset="0"/>
                                </a:rPr>
                                <m:t>𝐸</m:t>
                              </m:r>
                            </m:e>
                            <m:sub>
                              <m:r>
                                <a:rPr lang="en-US" sz="2600" b="0" i="1" smtClean="0">
                                  <a:latin typeface="Cambria Math" panose="02040503050406030204" pitchFamily="18" charset="0"/>
                                </a:rPr>
                                <m:t>𝑜</m:t>
                              </m:r>
                            </m:sub>
                          </m:sSub>
                          <m:r>
                            <a:rPr lang="en-US" sz="2600" b="0" i="1" smtClean="0">
                              <a:latin typeface="Cambria Math" panose="02040503050406030204" pitchFamily="18" charset="0"/>
                            </a:rPr>
                            <m:t>(</m:t>
                          </m:r>
                          <m:r>
                            <a:rPr lang="en-US" sz="2600" b="0" i="1" smtClean="0">
                              <a:latin typeface="Cambria Math" panose="02040503050406030204" pitchFamily="18" charset="0"/>
                            </a:rPr>
                            <m:t>𝑠</m:t>
                          </m:r>
                          <m:r>
                            <a:rPr lang="en-US" sz="2600" b="0" i="1" smtClean="0">
                              <a:latin typeface="Cambria Math" panose="02040503050406030204" pitchFamily="18" charset="0"/>
                            </a:rPr>
                            <m:t>)</m:t>
                          </m:r>
                        </m:num>
                        <m:den>
                          <m:sSub>
                            <m:sSubPr>
                              <m:ctrlPr>
                                <a:rPr lang="en-US" sz="2600" i="1" smtClean="0">
                                  <a:latin typeface="Cambria Math" panose="02040503050406030204" pitchFamily="18" charset="0"/>
                                </a:rPr>
                              </m:ctrlPr>
                            </m:sSubPr>
                            <m:e>
                              <m:r>
                                <a:rPr lang="en-US" sz="2600" b="0" i="1" smtClean="0">
                                  <a:latin typeface="Cambria Math" panose="02040503050406030204" pitchFamily="18" charset="0"/>
                                </a:rPr>
                                <m:t>𝐸</m:t>
                              </m:r>
                            </m:e>
                            <m:sub>
                              <m:r>
                                <a:rPr lang="en-US" sz="2600" b="0" i="1" smtClean="0">
                                  <a:latin typeface="Cambria Math" panose="02040503050406030204" pitchFamily="18" charset="0"/>
                                </a:rPr>
                                <m:t>𝑖</m:t>
                              </m:r>
                            </m:sub>
                          </m:sSub>
                          <m:r>
                            <a:rPr lang="en-US" sz="2600" b="0" i="1" smtClean="0">
                              <a:latin typeface="Cambria Math" panose="02040503050406030204" pitchFamily="18" charset="0"/>
                            </a:rPr>
                            <m:t>(</m:t>
                          </m:r>
                          <m:r>
                            <a:rPr lang="en-US" sz="2600" b="0" i="1" smtClean="0">
                              <a:latin typeface="Cambria Math" panose="02040503050406030204" pitchFamily="18" charset="0"/>
                            </a:rPr>
                            <m:t>𝑠</m:t>
                          </m:r>
                          <m:r>
                            <a:rPr lang="en-US" sz="2600" b="0" i="1" smtClean="0">
                              <a:latin typeface="Cambria Math" panose="02040503050406030204" pitchFamily="18" charset="0"/>
                            </a:rPr>
                            <m:t>)</m:t>
                          </m:r>
                        </m:den>
                      </m:f>
                      <m:r>
                        <a:rPr lang="en-US" sz="2600" b="0" i="1" smtClean="0">
                          <a:latin typeface="Cambria Math" panose="02040503050406030204" pitchFamily="18" charset="0"/>
                        </a:rPr>
                        <m:t>=</m:t>
                      </m:r>
                      <m:f>
                        <m:fPr>
                          <m:ctrlPr>
                            <a:rPr lang="en-US" sz="2600" b="0" i="1" smtClean="0">
                              <a:latin typeface="Cambria Math" panose="02040503050406030204" pitchFamily="18" charset="0"/>
                            </a:rPr>
                          </m:ctrlPr>
                        </m:fPr>
                        <m:num>
                          <m:sSub>
                            <m:sSubPr>
                              <m:ctrlPr>
                                <a:rPr lang="en-US" sz="2600" b="0" i="1" smtClean="0">
                                  <a:latin typeface="Cambria Math" panose="02040503050406030204" pitchFamily="18" charset="0"/>
                                </a:rPr>
                              </m:ctrlPr>
                            </m:sSubPr>
                            <m:e>
                              <m:r>
                                <a:rPr lang="en-US" sz="2600" b="0" i="1" smtClean="0">
                                  <a:latin typeface="Cambria Math" panose="02040503050406030204" pitchFamily="18" charset="0"/>
                                </a:rPr>
                                <m:t>𝑅</m:t>
                              </m:r>
                            </m:e>
                            <m:sub>
                              <m:r>
                                <a:rPr lang="en-US" sz="2600" b="0" i="1" smtClean="0">
                                  <a:latin typeface="Cambria Math" panose="02040503050406030204" pitchFamily="18" charset="0"/>
                                </a:rPr>
                                <m:t>4</m:t>
                              </m:r>
                            </m:sub>
                          </m:sSub>
                          <m:sSub>
                            <m:sSubPr>
                              <m:ctrlPr>
                                <a:rPr lang="en-US" sz="2600" b="0" i="1" smtClean="0">
                                  <a:latin typeface="Cambria Math" panose="02040503050406030204" pitchFamily="18" charset="0"/>
                                </a:rPr>
                              </m:ctrlPr>
                            </m:sSubPr>
                            <m:e>
                              <m:r>
                                <a:rPr lang="en-US" sz="2600" b="0" i="1" smtClean="0">
                                  <a:latin typeface="Cambria Math" panose="02040503050406030204" pitchFamily="18" charset="0"/>
                                </a:rPr>
                                <m:t>𝑅</m:t>
                              </m:r>
                            </m:e>
                            <m:sub>
                              <m:r>
                                <a:rPr lang="en-US" sz="2600" b="0" i="1" smtClean="0">
                                  <a:latin typeface="Cambria Math" panose="02040503050406030204" pitchFamily="18" charset="0"/>
                                </a:rPr>
                                <m:t>2</m:t>
                              </m:r>
                            </m:sub>
                          </m:sSub>
                        </m:num>
                        <m:den>
                          <m:sSub>
                            <m:sSubPr>
                              <m:ctrlPr>
                                <a:rPr lang="en-US" sz="2600" b="0" i="1" smtClean="0">
                                  <a:latin typeface="Cambria Math" panose="02040503050406030204" pitchFamily="18" charset="0"/>
                                </a:rPr>
                              </m:ctrlPr>
                            </m:sSubPr>
                            <m:e>
                              <m:r>
                                <a:rPr lang="en-US" sz="2600" b="0" i="1" smtClean="0">
                                  <a:latin typeface="Cambria Math" panose="02040503050406030204" pitchFamily="18" charset="0"/>
                                </a:rPr>
                                <m:t>𝑅</m:t>
                              </m:r>
                            </m:e>
                            <m:sub>
                              <m:r>
                                <a:rPr lang="en-US" sz="2600" b="0" i="1" smtClean="0">
                                  <a:latin typeface="Cambria Math" panose="02040503050406030204" pitchFamily="18" charset="0"/>
                                </a:rPr>
                                <m:t>3</m:t>
                              </m:r>
                            </m:sub>
                          </m:sSub>
                          <m:sSub>
                            <m:sSubPr>
                              <m:ctrlPr>
                                <a:rPr lang="en-US" sz="2600" b="0" i="1" smtClean="0">
                                  <a:latin typeface="Cambria Math" panose="02040503050406030204" pitchFamily="18" charset="0"/>
                                </a:rPr>
                              </m:ctrlPr>
                            </m:sSubPr>
                            <m:e>
                              <m:r>
                                <a:rPr lang="en-US" sz="2600" b="0" i="1" smtClean="0">
                                  <a:latin typeface="Cambria Math" panose="02040503050406030204" pitchFamily="18" charset="0"/>
                                </a:rPr>
                                <m:t>𝑅</m:t>
                              </m:r>
                            </m:e>
                            <m:sub>
                              <m:r>
                                <a:rPr lang="en-US" sz="2600" b="0" i="1" smtClean="0">
                                  <a:latin typeface="Cambria Math" panose="02040503050406030204" pitchFamily="18" charset="0"/>
                                </a:rPr>
                                <m:t>1</m:t>
                              </m:r>
                            </m:sub>
                          </m:sSub>
                        </m:den>
                      </m:f>
                      <m:r>
                        <a:rPr lang="en-US" sz="2600" b="0" i="1" smtClean="0">
                          <a:latin typeface="Cambria Math" panose="02040503050406030204" pitchFamily="18" charset="0"/>
                        </a:rPr>
                        <m:t> </m:t>
                      </m:r>
                      <m:d>
                        <m:dPr>
                          <m:ctrlPr>
                            <a:rPr lang="en-US" sz="2600" b="0" i="1" smtClean="0">
                              <a:latin typeface="Cambria Math" panose="02040503050406030204" pitchFamily="18" charset="0"/>
                            </a:rPr>
                          </m:ctrlPr>
                        </m:dPr>
                        <m:e>
                          <m:f>
                            <m:fPr>
                              <m:ctrlPr>
                                <a:rPr lang="en-US" sz="2600" b="0" i="1" smtClean="0">
                                  <a:latin typeface="Cambria Math" panose="02040503050406030204" pitchFamily="18" charset="0"/>
                                </a:rPr>
                              </m:ctrlPr>
                            </m:fPr>
                            <m:num>
                              <m:sSub>
                                <m:sSubPr>
                                  <m:ctrlPr>
                                    <a:rPr lang="en-US" sz="2600" i="1">
                                      <a:latin typeface="Cambria Math" panose="02040503050406030204" pitchFamily="18" charset="0"/>
                                    </a:rPr>
                                  </m:ctrlPr>
                                </m:sSubPr>
                                <m:e>
                                  <m:r>
                                    <a:rPr lang="en-US" sz="2600" i="1">
                                      <a:latin typeface="Cambria Math" panose="02040503050406030204" pitchFamily="18" charset="0"/>
                                    </a:rPr>
                                    <m:t>𝑅</m:t>
                                  </m:r>
                                </m:e>
                                <m:sub>
                                  <m:r>
                                    <a:rPr lang="en-US" sz="2600" i="1">
                                      <a:latin typeface="Cambria Math" panose="02040503050406030204" pitchFamily="18" charset="0"/>
                                    </a:rPr>
                                    <m:t>1</m:t>
                                  </m:r>
                                </m:sub>
                              </m:sSub>
                              <m:sSub>
                                <m:sSubPr>
                                  <m:ctrlPr>
                                    <a:rPr lang="en-US" sz="2600" i="1">
                                      <a:latin typeface="Cambria Math" panose="02040503050406030204" pitchFamily="18" charset="0"/>
                                    </a:rPr>
                                  </m:ctrlPr>
                                </m:sSubPr>
                                <m:e>
                                  <m:r>
                                    <a:rPr lang="en-US" sz="2600" i="1">
                                      <a:latin typeface="Cambria Math" panose="02040503050406030204" pitchFamily="18" charset="0"/>
                                    </a:rPr>
                                    <m:t>𝐶</m:t>
                                  </m:r>
                                </m:e>
                                <m:sub>
                                  <m:r>
                                    <a:rPr lang="en-US" sz="2600" i="1">
                                      <a:latin typeface="Cambria Math" panose="02040503050406030204" pitchFamily="18" charset="0"/>
                                    </a:rPr>
                                    <m:t>1</m:t>
                                  </m:r>
                                </m:sub>
                              </m:sSub>
                              <m:r>
                                <a:rPr lang="en-US" sz="2600" b="0" i="1" smtClean="0">
                                  <a:latin typeface="Cambria Math" panose="02040503050406030204" pitchFamily="18" charset="0"/>
                                </a:rPr>
                                <m:t>+</m:t>
                              </m:r>
                              <m:sSub>
                                <m:sSubPr>
                                  <m:ctrlPr>
                                    <a:rPr lang="en-US" sz="2600" i="1">
                                      <a:latin typeface="Cambria Math" panose="02040503050406030204" pitchFamily="18" charset="0"/>
                                    </a:rPr>
                                  </m:ctrlPr>
                                </m:sSubPr>
                                <m:e>
                                  <m:r>
                                    <a:rPr lang="en-US" sz="2600" i="1">
                                      <a:latin typeface="Cambria Math" panose="02040503050406030204" pitchFamily="18" charset="0"/>
                                    </a:rPr>
                                    <m:t>𝑅</m:t>
                                  </m:r>
                                </m:e>
                                <m:sub>
                                  <m:r>
                                    <a:rPr lang="en-US" sz="2600" i="1">
                                      <a:latin typeface="Cambria Math" panose="02040503050406030204" pitchFamily="18" charset="0"/>
                                    </a:rPr>
                                    <m:t>2</m:t>
                                  </m:r>
                                </m:sub>
                              </m:sSub>
                              <m:sSub>
                                <m:sSubPr>
                                  <m:ctrlPr>
                                    <a:rPr lang="en-US" sz="2600" i="1">
                                      <a:latin typeface="Cambria Math" panose="02040503050406030204" pitchFamily="18" charset="0"/>
                                    </a:rPr>
                                  </m:ctrlPr>
                                </m:sSubPr>
                                <m:e>
                                  <m:r>
                                    <a:rPr lang="en-US" sz="2600" i="1">
                                      <a:latin typeface="Cambria Math" panose="02040503050406030204" pitchFamily="18" charset="0"/>
                                    </a:rPr>
                                    <m:t>𝐶</m:t>
                                  </m:r>
                                </m:e>
                                <m:sub>
                                  <m:r>
                                    <a:rPr lang="en-US" sz="2600" i="1">
                                      <a:latin typeface="Cambria Math" panose="02040503050406030204" pitchFamily="18" charset="0"/>
                                    </a:rPr>
                                    <m:t>2</m:t>
                                  </m:r>
                                </m:sub>
                              </m:sSub>
                            </m:num>
                            <m:den>
                              <m:sSub>
                                <m:sSubPr>
                                  <m:ctrlPr>
                                    <a:rPr lang="en-US" sz="2600" i="1">
                                      <a:latin typeface="Cambria Math" panose="02040503050406030204" pitchFamily="18" charset="0"/>
                                    </a:rPr>
                                  </m:ctrlPr>
                                </m:sSubPr>
                                <m:e>
                                  <m:r>
                                    <a:rPr lang="en-US" sz="2600" i="1">
                                      <a:latin typeface="Cambria Math" panose="02040503050406030204" pitchFamily="18" charset="0"/>
                                    </a:rPr>
                                    <m:t>𝑅</m:t>
                                  </m:r>
                                </m:e>
                                <m:sub>
                                  <m:r>
                                    <a:rPr lang="en-US" sz="2600" i="1">
                                      <a:latin typeface="Cambria Math" panose="02040503050406030204" pitchFamily="18" charset="0"/>
                                    </a:rPr>
                                    <m:t>2</m:t>
                                  </m:r>
                                </m:sub>
                              </m:sSub>
                              <m:sSub>
                                <m:sSubPr>
                                  <m:ctrlPr>
                                    <a:rPr lang="en-US" sz="2600" i="1">
                                      <a:latin typeface="Cambria Math" panose="02040503050406030204" pitchFamily="18" charset="0"/>
                                    </a:rPr>
                                  </m:ctrlPr>
                                </m:sSubPr>
                                <m:e>
                                  <m:r>
                                    <a:rPr lang="en-US" sz="2600" i="1">
                                      <a:latin typeface="Cambria Math" panose="02040503050406030204" pitchFamily="18" charset="0"/>
                                    </a:rPr>
                                    <m:t>𝐶</m:t>
                                  </m:r>
                                </m:e>
                                <m:sub>
                                  <m:r>
                                    <a:rPr lang="en-US" sz="2600" i="1">
                                      <a:latin typeface="Cambria Math" panose="02040503050406030204" pitchFamily="18" charset="0"/>
                                    </a:rPr>
                                    <m:t>2</m:t>
                                  </m:r>
                                </m:sub>
                              </m:sSub>
                            </m:den>
                          </m:f>
                          <m:r>
                            <a:rPr lang="en-US" sz="2600" b="0" i="1" smtClean="0">
                              <a:latin typeface="Cambria Math" panose="02040503050406030204" pitchFamily="18" charset="0"/>
                            </a:rPr>
                            <m:t>+</m:t>
                          </m:r>
                          <m:f>
                            <m:fPr>
                              <m:ctrlPr>
                                <a:rPr lang="en-US" sz="2600" b="0" i="1" smtClean="0">
                                  <a:latin typeface="Cambria Math" panose="02040503050406030204" pitchFamily="18" charset="0"/>
                                </a:rPr>
                              </m:ctrlPr>
                            </m:fPr>
                            <m:num>
                              <m:r>
                                <a:rPr lang="en-US" sz="2600" b="0" i="1" smtClean="0">
                                  <a:latin typeface="Cambria Math" panose="02040503050406030204" pitchFamily="18" charset="0"/>
                                </a:rPr>
                                <m:t>1</m:t>
                              </m:r>
                            </m:num>
                            <m:den>
                              <m:sSub>
                                <m:sSubPr>
                                  <m:ctrlPr>
                                    <a:rPr lang="en-US" sz="2600" i="1">
                                      <a:latin typeface="Cambria Math" panose="02040503050406030204" pitchFamily="18" charset="0"/>
                                    </a:rPr>
                                  </m:ctrlPr>
                                </m:sSubPr>
                                <m:e>
                                  <m:r>
                                    <a:rPr lang="en-US" sz="2600" i="1">
                                      <a:latin typeface="Cambria Math" panose="02040503050406030204" pitchFamily="18" charset="0"/>
                                    </a:rPr>
                                    <m:t>𝑅</m:t>
                                  </m:r>
                                </m:e>
                                <m:sub>
                                  <m:r>
                                    <a:rPr lang="en-US" sz="2600" b="0" i="1" smtClean="0">
                                      <a:latin typeface="Cambria Math" panose="02040503050406030204" pitchFamily="18" charset="0"/>
                                    </a:rPr>
                                    <m:t>2</m:t>
                                  </m:r>
                                </m:sub>
                              </m:sSub>
                              <m:sSub>
                                <m:sSubPr>
                                  <m:ctrlPr>
                                    <a:rPr lang="en-US" sz="2600" i="1">
                                      <a:latin typeface="Cambria Math" panose="02040503050406030204" pitchFamily="18" charset="0"/>
                                    </a:rPr>
                                  </m:ctrlPr>
                                </m:sSubPr>
                                <m:e>
                                  <m:r>
                                    <a:rPr lang="en-US" sz="2600" i="1">
                                      <a:latin typeface="Cambria Math" panose="02040503050406030204" pitchFamily="18" charset="0"/>
                                    </a:rPr>
                                    <m:t>𝐶</m:t>
                                  </m:r>
                                </m:e>
                                <m:sub>
                                  <m:r>
                                    <a:rPr lang="en-US" sz="2600" b="0" i="1" smtClean="0">
                                      <a:latin typeface="Cambria Math" panose="02040503050406030204" pitchFamily="18" charset="0"/>
                                    </a:rPr>
                                    <m:t>2</m:t>
                                  </m:r>
                                </m:sub>
                              </m:sSub>
                              <m:r>
                                <a:rPr lang="en-US" sz="2600" i="1">
                                  <a:latin typeface="Cambria Math" panose="02040503050406030204" pitchFamily="18" charset="0"/>
                                </a:rPr>
                                <m:t>𝑠</m:t>
                              </m:r>
                            </m:den>
                          </m:f>
                          <m:r>
                            <a:rPr lang="en-US" sz="2600" b="0" i="1" smtClean="0">
                              <a:latin typeface="Cambria Math" panose="02040503050406030204" pitchFamily="18" charset="0"/>
                            </a:rPr>
                            <m:t>+</m:t>
                          </m:r>
                          <m:sSub>
                            <m:sSubPr>
                              <m:ctrlPr>
                                <a:rPr lang="en-US" sz="2600" i="1">
                                  <a:latin typeface="Cambria Math" panose="02040503050406030204" pitchFamily="18" charset="0"/>
                                </a:rPr>
                              </m:ctrlPr>
                            </m:sSubPr>
                            <m:e>
                              <m:r>
                                <a:rPr lang="en-US" sz="2600" i="1">
                                  <a:latin typeface="Cambria Math" panose="02040503050406030204" pitchFamily="18" charset="0"/>
                                </a:rPr>
                                <m:t>𝑅</m:t>
                              </m:r>
                            </m:e>
                            <m:sub>
                              <m:r>
                                <a:rPr lang="en-US" sz="2600" i="1">
                                  <a:latin typeface="Cambria Math" panose="02040503050406030204" pitchFamily="18" charset="0"/>
                                </a:rPr>
                                <m:t>1</m:t>
                              </m:r>
                            </m:sub>
                          </m:sSub>
                          <m:sSub>
                            <m:sSubPr>
                              <m:ctrlPr>
                                <a:rPr lang="en-US" sz="2600" i="1">
                                  <a:latin typeface="Cambria Math" panose="02040503050406030204" pitchFamily="18" charset="0"/>
                                </a:rPr>
                              </m:ctrlPr>
                            </m:sSubPr>
                            <m:e>
                              <m:r>
                                <a:rPr lang="en-US" sz="2600" i="1">
                                  <a:latin typeface="Cambria Math" panose="02040503050406030204" pitchFamily="18" charset="0"/>
                                </a:rPr>
                                <m:t>𝐶</m:t>
                              </m:r>
                            </m:e>
                            <m:sub>
                              <m:r>
                                <a:rPr lang="en-US" sz="2600" i="1">
                                  <a:latin typeface="Cambria Math" panose="02040503050406030204" pitchFamily="18" charset="0"/>
                                </a:rPr>
                                <m:t>1</m:t>
                              </m:r>
                            </m:sub>
                          </m:sSub>
                          <m:r>
                            <a:rPr lang="en-US" sz="2600" i="1">
                              <a:latin typeface="Cambria Math" panose="02040503050406030204" pitchFamily="18" charset="0"/>
                            </a:rPr>
                            <m:t>𝑠</m:t>
                          </m:r>
                        </m:e>
                      </m:d>
                    </m:oMath>
                  </m:oMathPara>
                </a14:m>
                <a:endParaRPr lang="en-US" sz="2600" dirty="0"/>
              </a:p>
            </p:txBody>
          </p:sp>
        </mc:Choice>
        <mc:Fallback xmlns="">
          <p:sp>
            <p:nvSpPr>
              <p:cNvPr id="6" name="TextBox 5"/>
              <p:cNvSpPr txBox="1">
                <a:spLocks noRot="1" noChangeAspect="1" noMove="1" noResize="1" noEditPoints="1" noAdjustHandles="1" noChangeArrowheads="1" noChangeShapeType="1" noTextEdit="1"/>
              </p:cNvSpPr>
              <p:nvPr/>
            </p:nvSpPr>
            <p:spPr>
              <a:xfrm>
                <a:off x="1219200" y="5486400"/>
                <a:ext cx="6801477" cy="899029"/>
              </a:xfrm>
              <a:prstGeom prst="rect">
                <a:avLst/>
              </a:prstGeom>
              <a:blipFill rotWithShape="0">
                <a:blip r:embed="rId4"/>
                <a:stretch>
                  <a:fillRect/>
                </a:stretch>
              </a:blipFill>
            </p:spPr>
            <p:txBody>
              <a:bodyPr/>
              <a:lstStyle/>
              <a:p>
                <a:r>
                  <a:rPr lang="en-US">
                    <a:noFill/>
                  </a:rPr>
                  <a:t> </a:t>
                </a:r>
              </a:p>
            </p:txBody>
          </p:sp>
        </mc:Fallback>
      </mc:AlternateContent>
      <p:sp>
        <p:nvSpPr>
          <p:cNvPr id="3" name="Slide Number Placeholder 2"/>
          <p:cNvSpPr>
            <a:spLocks noGrp="1"/>
          </p:cNvSpPr>
          <p:nvPr>
            <p:ph type="sldNum" sz="quarter" idx="12"/>
          </p:nvPr>
        </p:nvSpPr>
        <p:spPr/>
        <p:txBody>
          <a:bodyPr/>
          <a:lstStyle/>
          <a:p>
            <a:fld id="{7A0D5CAB-8BF0-4EA3-BAE4-9835C852A49B}" type="slidenum">
              <a:rPr lang="en-GB" smtClean="0"/>
              <a:pPr/>
              <a:t>44</a:t>
            </a:fld>
            <a:endParaRPr lang="en-GB" dirty="0"/>
          </a:p>
        </p:txBody>
      </p:sp>
    </p:spTree>
    <p:extLst>
      <p:ext uri="{BB962C8B-B14F-4D97-AF65-F5344CB8AC3E}">
        <p14:creationId xmlns:p14="http://schemas.microsoft.com/office/powerpoint/2010/main" val="2858926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38200"/>
          </a:xfrm>
        </p:spPr>
        <p:txBody>
          <a:bodyPr/>
          <a:lstStyle/>
          <a:p>
            <a:r>
              <a:rPr lang="en-US" dirty="0"/>
              <a:t>Electronic PID Controller</a:t>
            </a:r>
          </a:p>
        </p:txBody>
      </p:sp>
      <mc:AlternateContent xmlns:mc="http://schemas.openxmlformats.org/markup-compatibility/2006" xmlns:a14="http://schemas.microsoft.com/office/drawing/2010/main">
        <mc:Choice Requires="a14">
          <p:sp>
            <p:nvSpPr>
              <p:cNvPr id="6" name="TextBox 5"/>
              <p:cNvSpPr txBox="1"/>
              <p:nvPr/>
            </p:nvSpPr>
            <p:spPr>
              <a:xfrm>
                <a:off x="1447800" y="990600"/>
                <a:ext cx="6801477" cy="89902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600" i="1" smtClean="0">
                              <a:latin typeface="Cambria Math" panose="02040503050406030204" pitchFamily="18" charset="0"/>
                            </a:rPr>
                          </m:ctrlPr>
                        </m:fPr>
                        <m:num>
                          <m:sSub>
                            <m:sSubPr>
                              <m:ctrlPr>
                                <a:rPr lang="en-US" sz="2600" i="1" smtClean="0">
                                  <a:latin typeface="Cambria Math" panose="02040503050406030204" pitchFamily="18" charset="0"/>
                                </a:rPr>
                              </m:ctrlPr>
                            </m:sSubPr>
                            <m:e>
                              <m:r>
                                <a:rPr lang="en-US" sz="2600" b="0" i="1" smtClean="0">
                                  <a:latin typeface="Cambria Math" panose="02040503050406030204" pitchFamily="18" charset="0"/>
                                </a:rPr>
                                <m:t>𝐸</m:t>
                              </m:r>
                            </m:e>
                            <m:sub>
                              <m:r>
                                <a:rPr lang="en-US" sz="2600" b="0" i="1" smtClean="0">
                                  <a:latin typeface="Cambria Math" panose="02040503050406030204" pitchFamily="18" charset="0"/>
                                </a:rPr>
                                <m:t>𝑜</m:t>
                              </m:r>
                            </m:sub>
                          </m:sSub>
                          <m:r>
                            <a:rPr lang="en-US" sz="2600" b="0" i="1" smtClean="0">
                              <a:latin typeface="Cambria Math" panose="02040503050406030204" pitchFamily="18" charset="0"/>
                            </a:rPr>
                            <m:t>(</m:t>
                          </m:r>
                          <m:r>
                            <a:rPr lang="en-US" sz="2600" b="0" i="1" smtClean="0">
                              <a:latin typeface="Cambria Math" panose="02040503050406030204" pitchFamily="18" charset="0"/>
                            </a:rPr>
                            <m:t>𝑠</m:t>
                          </m:r>
                          <m:r>
                            <a:rPr lang="en-US" sz="2600" b="0" i="1" smtClean="0">
                              <a:latin typeface="Cambria Math" panose="02040503050406030204" pitchFamily="18" charset="0"/>
                            </a:rPr>
                            <m:t>)</m:t>
                          </m:r>
                        </m:num>
                        <m:den>
                          <m:sSub>
                            <m:sSubPr>
                              <m:ctrlPr>
                                <a:rPr lang="en-US" sz="2600" i="1" smtClean="0">
                                  <a:latin typeface="Cambria Math" panose="02040503050406030204" pitchFamily="18" charset="0"/>
                                </a:rPr>
                              </m:ctrlPr>
                            </m:sSubPr>
                            <m:e>
                              <m:r>
                                <a:rPr lang="en-US" sz="2600" b="0" i="1" smtClean="0">
                                  <a:latin typeface="Cambria Math" panose="02040503050406030204" pitchFamily="18" charset="0"/>
                                </a:rPr>
                                <m:t>𝐸</m:t>
                              </m:r>
                            </m:e>
                            <m:sub>
                              <m:r>
                                <a:rPr lang="en-US" sz="2600" b="0" i="1" smtClean="0">
                                  <a:latin typeface="Cambria Math" panose="02040503050406030204" pitchFamily="18" charset="0"/>
                                </a:rPr>
                                <m:t>𝑖</m:t>
                              </m:r>
                            </m:sub>
                          </m:sSub>
                          <m:r>
                            <a:rPr lang="en-US" sz="2600" b="0" i="1" smtClean="0">
                              <a:latin typeface="Cambria Math" panose="02040503050406030204" pitchFamily="18" charset="0"/>
                            </a:rPr>
                            <m:t>(</m:t>
                          </m:r>
                          <m:r>
                            <a:rPr lang="en-US" sz="2600" b="0" i="1" smtClean="0">
                              <a:latin typeface="Cambria Math" panose="02040503050406030204" pitchFamily="18" charset="0"/>
                            </a:rPr>
                            <m:t>𝑠</m:t>
                          </m:r>
                          <m:r>
                            <a:rPr lang="en-US" sz="2600" b="0" i="1" smtClean="0">
                              <a:latin typeface="Cambria Math" panose="02040503050406030204" pitchFamily="18" charset="0"/>
                            </a:rPr>
                            <m:t>)</m:t>
                          </m:r>
                        </m:den>
                      </m:f>
                      <m:r>
                        <a:rPr lang="en-US" sz="2600" b="0" i="1" smtClean="0">
                          <a:latin typeface="Cambria Math" panose="02040503050406030204" pitchFamily="18" charset="0"/>
                        </a:rPr>
                        <m:t>=</m:t>
                      </m:r>
                      <m:f>
                        <m:fPr>
                          <m:ctrlPr>
                            <a:rPr lang="en-US" sz="2600" b="0" i="1" smtClean="0">
                              <a:latin typeface="Cambria Math" panose="02040503050406030204" pitchFamily="18" charset="0"/>
                            </a:rPr>
                          </m:ctrlPr>
                        </m:fPr>
                        <m:num>
                          <m:sSub>
                            <m:sSubPr>
                              <m:ctrlPr>
                                <a:rPr lang="en-US" sz="2600" b="0" i="1" smtClean="0">
                                  <a:latin typeface="Cambria Math" panose="02040503050406030204" pitchFamily="18" charset="0"/>
                                </a:rPr>
                              </m:ctrlPr>
                            </m:sSubPr>
                            <m:e>
                              <m:r>
                                <a:rPr lang="en-US" sz="2600" b="0" i="1" smtClean="0">
                                  <a:latin typeface="Cambria Math" panose="02040503050406030204" pitchFamily="18" charset="0"/>
                                </a:rPr>
                                <m:t>𝑅</m:t>
                              </m:r>
                            </m:e>
                            <m:sub>
                              <m:r>
                                <a:rPr lang="en-US" sz="2600" b="0" i="1" smtClean="0">
                                  <a:latin typeface="Cambria Math" panose="02040503050406030204" pitchFamily="18" charset="0"/>
                                </a:rPr>
                                <m:t>4</m:t>
                              </m:r>
                            </m:sub>
                          </m:sSub>
                          <m:sSub>
                            <m:sSubPr>
                              <m:ctrlPr>
                                <a:rPr lang="en-US" sz="2600" b="0" i="1" smtClean="0">
                                  <a:latin typeface="Cambria Math" panose="02040503050406030204" pitchFamily="18" charset="0"/>
                                </a:rPr>
                              </m:ctrlPr>
                            </m:sSubPr>
                            <m:e>
                              <m:r>
                                <a:rPr lang="en-US" sz="2600" b="0" i="1" smtClean="0">
                                  <a:latin typeface="Cambria Math" panose="02040503050406030204" pitchFamily="18" charset="0"/>
                                </a:rPr>
                                <m:t>𝑅</m:t>
                              </m:r>
                            </m:e>
                            <m:sub>
                              <m:r>
                                <a:rPr lang="en-US" sz="2600" b="0" i="1" smtClean="0">
                                  <a:latin typeface="Cambria Math" panose="02040503050406030204" pitchFamily="18" charset="0"/>
                                </a:rPr>
                                <m:t>2</m:t>
                              </m:r>
                            </m:sub>
                          </m:sSub>
                        </m:num>
                        <m:den>
                          <m:sSub>
                            <m:sSubPr>
                              <m:ctrlPr>
                                <a:rPr lang="en-US" sz="2600" b="0" i="1" smtClean="0">
                                  <a:latin typeface="Cambria Math" panose="02040503050406030204" pitchFamily="18" charset="0"/>
                                </a:rPr>
                              </m:ctrlPr>
                            </m:sSubPr>
                            <m:e>
                              <m:r>
                                <a:rPr lang="en-US" sz="2600" b="0" i="1" smtClean="0">
                                  <a:latin typeface="Cambria Math" panose="02040503050406030204" pitchFamily="18" charset="0"/>
                                </a:rPr>
                                <m:t>𝑅</m:t>
                              </m:r>
                            </m:e>
                            <m:sub>
                              <m:r>
                                <a:rPr lang="en-US" sz="2600" b="0" i="1" smtClean="0">
                                  <a:latin typeface="Cambria Math" panose="02040503050406030204" pitchFamily="18" charset="0"/>
                                </a:rPr>
                                <m:t>3</m:t>
                              </m:r>
                            </m:sub>
                          </m:sSub>
                          <m:sSub>
                            <m:sSubPr>
                              <m:ctrlPr>
                                <a:rPr lang="en-US" sz="2600" b="0" i="1" smtClean="0">
                                  <a:latin typeface="Cambria Math" panose="02040503050406030204" pitchFamily="18" charset="0"/>
                                </a:rPr>
                              </m:ctrlPr>
                            </m:sSubPr>
                            <m:e>
                              <m:r>
                                <a:rPr lang="en-US" sz="2600" b="0" i="1" smtClean="0">
                                  <a:latin typeface="Cambria Math" panose="02040503050406030204" pitchFamily="18" charset="0"/>
                                </a:rPr>
                                <m:t>𝑅</m:t>
                              </m:r>
                            </m:e>
                            <m:sub>
                              <m:r>
                                <a:rPr lang="en-US" sz="2600" b="0" i="1" smtClean="0">
                                  <a:latin typeface="Cambria Math" panose="02040503050406030204" pitchFamily="18" charset="0"/>
                                </a:rPr>
                                <m:t>1</m:t>
                              </m:r>
                            </m:sub>
                          </m:sSub>
                        </m:den>
                      </m:f>
                      <m:r>
                        <a:rPr lang="en-US" sz="2600" b="0" i="1" smtClean="0">
                          <a:latin typeface="Cambria Math" panose="02040503050406030204" pitchFamily="18" charset="0"/>
                        </a:rPr>
                        <m:t> </m:t>
                      </m:r>
                      <m:d>
                        <m:dPr>
                          <m:ctrlPr>
                            <a:rPr lang="en-US" sz="2600" b="0" i="1" smtClean="0">
                              <a:latin typeface="Cambria Math" panose="02040503050406030204" pitchFamily="18" charset="0"/>
                            </a:rPr>
                          </m:ctrlPr>
                        </m:dPr>
                        <m:e>
                          <m:f>
                            <m:fPr>
                              <m:ctrlPr>
                                <a:rPr lang="en-US" sz="2600" b="0" i="1" smtClean="0">
                                  <a:latin typeface="Cambria Math" panose="02040503050406030204" pitchFamily="18" charset="0"/>
                                </a:rPr>
                              </m:ctrlPr>
                            </m:fPr>
                            <m:num>
                              <m:sSub>
                                <m:sSubPr>
                                  <m:ctrlPr>
                                    <a:rPr lang="en-US" sz="2600" i="1">
                                      <a:latin typeface="Cambria Math" panose="02040503050406030204" pitchFamily="18" charset="0"/>
                                    </a:rPr>
                                  </m:ctrlPr>
                                </m:sSubPr>
                                <m:e>
                                  <m:r>
                                    <a:rPr lang="en-US" sz="2600" i="1">
                                      <a:latin typeface="Cambria Math" panose="02040503050406030204" pitchFamily="18" charset="0"/>
                                    </a:rPr>
                                    <m:t>𝑅</m:t>
                                  </m:r>
                                </m:e>
                                <m:sub>
                                  <m:r>
                                    <a:rPr lang="en-US" sz="2600" i="1">
                                      <a:latin typeface="Cambria Math" panose="02040503050406030204" pitchFamily="18" charset="0"/>
                                    </a:rPr>
                                    <m:t>1</m:t>
                                  </m:r>
                                </m:sub>
                              </m:sSub>
                              <m:sSub>
                                <m:sSubPr>
                                  <m:ctrlPr>
                                    <a:rPr lang="en-US" sz="2600" i="1">
                                      <a:latin typeface="Cambria Math" panose="02040503050406030204" pitchFamily="18" charset="0"/>
                                    </a:rPr>
                                  </m:ctrlPr>
                                </m:sSubPr>
                                <m:e>
                                  <m:r>
                                    <a:rPr lang="en-US" sz="2600" i="1">
                                      <a:latin typeface="Cambria Math" panose="02040503050406030204" pitchFamily="18" charset="0"/>
                                    </a:rPr>
                                    <m:t>𝐶</m:t>
                                  </m:r>
                                </m:e>
                                <m:sub>
                                  <m:r>
                                    <a:rPr lang="en-US" sz="2600" i="1">
                                      <a:latin typeface="Cambria Math" panose="02040503050406030204" pitchFamily="18" charset="0"/>
                                    </a:rPr>
                                    <m:t>1</m:t>
                                  </m:r>
                                </m:sub>
                              </m:sSub>
                              <m:r>
                                <a:rPr lang="en-US" sz="2600" b="0" i="1" smtClean="0">
                                  <a:latin typeface="Cambria Math" panose="02040503050406030204" pitchFamily="18" charset="0"/>
                                </a:rPr>
                                <m:t>+</m:t>
                              </m:r>
                              <m:sSub>
                                <m:sSubPr>
                                  <m:ctrlPr>
                                    <a:rPr lang="en-US" sz="2600" i="1">
                                      <a:latin typeface="Cambria Math" panose="02040503050406030204" pitchFamily="18" charset="0"/>
                                    </a:rPr>
                                  </m:ctrlPr>
                                </m:sSubPr>
                                <m:e>
                                  <m:r>
                                    <a:rPr lang="en-US" sz="2600" i="1">
                                      <a:latin typeface="Cambria Math" panose="02040503050406030204" pitchFamily="18" charset="0"/>
                                    </a:rPr>
                                    <m:t>𝑅</m:t>
                                  </m:r>
                                </m:e>
                                <m:sub>
                                  <m:r>
                                    <a:rPr lang="en-US" sz="2600" i="1">
                                      <a:latin typeface="Cambria Math" panose="02040503050406030204" pitchFamily="18" charset="0"/>
                                    </a:rPr>
                                    <m:t>2</m:t>
                                  </m:r>
                                </m:sub>
                              </m:sSub>
                              <m:sSub>
                                <m:sSubPr>
                                  <m:ctrlPr>
                                    <a:rPr lang="en-US" sz="2600" i="1">
                                      <a:latin typeface="Cambria Math" panose="02040503050406030204" pitchFamily="18" charset="0"/>
                                    </a:rPr>
                                  </m:ctrlPr>
                                </m:sSubPr>
                                <m:e>
                                  <m:r>
                                    <a:rPr lang="en-US" sz="2600" i="1">
                                      <a:latin typeface="Cambria Math" panose="02040503050406030204" pitchFamily="18" charset="0"/>
                                    </a:rPr>
                                    <m:t>𝐶</m:t>
                                  </m:r>
                                </m:e>
                                <m:sub>
                                  <m:r>
                                    <a:rPr lang="en-US" sz="2600" i="1">
                                      <a:latin typeface="Cambria Math" panose="02040503050406030204" pitchFamily="18" charset="0"/>
                                    </a:rPr>
                                    <m:t>2</m:t>
                                  </m:r>
                                </m:sub>
                              </m:sSub>
                            </m:num>
                            <m:den>
                              <m:sSub>
                                <m:sSubPr>
                                  <m:ctrlPr>
                                    <a:rPr lang="en-US" sz="2600" i="1">
                                      <a:latin typeface="Cambria Math" panose="02040503050406030204" pitchFamily="18" charset="0"/>
                                    </a:rPr>
                                  </m:ctrlPr>
                                </m:sSubPr>
                                <m:e>
                                  <m:r>
                                    <a:rPr lang="en-US" sz="2600" i="1">
                                      <a:latin typeface="Cambria Math" panose="02040503050406030204" pitchFamily="18" charset="0"/>
                                    </a:rPr>
                                    <m:t>𝑅</m:t>
                                  </m:r>
                                </m:e>
                                <m:sub>
                                  <m:r>
                                    <a:rPr lang="en-US" sz="2600" i="1">
                                      <a:latin typeface="Cambria Math" panose="02040503050406030204" pitchFamily="18" charset="0"/>
                                    </a:rPr>
                                    <m:t>2</m:t>
                                  </m:r>
                                </m:sub>
                              </m:sSub>
                              <m:sSub>
                                <m:sSubPr>
                                  <m:ctrlPr>
                                    <a:rPr lang="en-US" sz="2600" i="1">
                                      <a:latin typeface="Cambria Math" panose="02040503050406030204" pitchFamily="18" charset="0"/>
                                    </a:rPr>
                                  </m:ctrlPr>
                                </m:sSubPr>
                                <m:e>
                                  <m:r>
                                    <a:rPr lang="en-US" sz="2600" i="1">
                                      <a:latin typeface="Cambria Math" panose="02040503050406030204" pitchFamily="18" charset="0"/>
                                    </a:rPr>
                                    <m:t>𝐶</m:t>
                                  </m:r>
                                </m:e>
                                <m:sub>
                                  <m:r>
                                    <a:rPr lang="en-US" sz="2600" i="1">
                                      <a:latin typeface="Cambria Math" panose="02040503050406030204" pitchFamily="18" charset="0"/>
                                    </a:rPr>
                                    <m:t>2</m:t>
                                  </m:r>
                                </m:sub>
                              </m:sSub>
                            </m:den>
                          </m:f>
                          <m:r>
                            <a:rPr lang="en-US" sz="2600" b="0" i="1" smtClean="0">
                              <a:latin typeface="Cambria Math" panose="02040503050406030204" pitchFamily="18" charset="0"/>
                            </a:rPr>
                            <m:t>+</m:t>
                          </m:r>
                          <m:f>
                            <m:fPr>
                              <m:ctrlPr>
                                <a:rPr lang="en-US" sz="2600" b="0" i="1" smtClean="0">
                                  <a:latin typeface="Cambria Math" panose="02040503050406030204" pitchFamily="18" charset="0"/>
                                </a:rPr>
                              </m:ctrlPr>
                            </m:fPr>
                            <m:num>
                              <m:r>
                                <a:rPr lang="en-US" sz="2600" b="0" i="1" smtClean="0">
                                  <a:latin typeface="Cambria Math" panose="02040503050406030204" pitchFamily="18" charset="0"/>
                                </a:rPr>
                                <m:t>1</m:t>
                              </m:r>
                            </m:num>
                            <m:den>
                              <m:sSub>
                                <m:sSubPr>
                                  <m:ctrlPr>
                                    <a:rPr lang="en-US" sz="2600" i="1">
                                      <a:latin typeface="Cambria Math" panose="02040503050406030204" pitchFamily="18" charset="0"/>
                                    </a:rPr>
                                  </m:ctrlPr>
                                </m:sSubPr>
                                <m:e>
                                  <m:r>
                                    <a:rPr lang="en-US" sz="2600" i="1">
                                      <a:latin typeface="Cambria Math" panose="02040503050406030204" pitchFamily="18" charset="0"/>
                                    </a:rPr>
                                    <m:t>𝑅</m:t>
                                  </m:r>
                                </m:e>
                                <m:sub>
                                  <m:r>
                                    <a:rPr lang="en-US" sz="2600" b="0" i="1" smtClean="0">
                                      <a:latin typeface="Cambria Math" panose="02040503050406030204" pitchFamily="18" charset="0"/>
                                    </a:rPr>
                                    <m:t>2</m:t>
                                  </m:r>
                                </m:sub>
                              </m:sSub>
                              <m:sSub>
                                <m:sSubPr>
                                  <m:ctrlPr>
                                    <a:rPr lang="en-US" sz="2600" i="1">
                                      <a:latin typeface="Cambria Math" panose="02040503050406030204" pitchFamily="18" charset="0"/>
                                    </a:rPr>
                                  </m:ctrlPr>
                                </m:sSubPr>
                                <m:e>
                                  <m:r>
                                    <a:rPr lang="en-US" sz="2600" i="1">
                                      <a:latin typeface="Cambria Math" panose="02040503050406030204" pitchFamily="18" charset="0"/>
                                    </a:rPr>
                                    <m:t>𝐶</m:t>
                                  </m:r>
                                </m:e>
                                <m:sub>
                                  <m:r>
                                    <a:rPr lang="en-US" sz="2600" b="0" i="1" smtClean="0">
                                      <a:latin typeface="Cambria Math" panose="02040503050406030204" pitchFamily="18" charset="0"/>
                                    </a:rPr>
                                    <m:t>2</m:t>
                                  </m:r>
                                </m:sub>
                              </m:sSub>
                              <m:r>
                                <a:rPr lang="en-US" sz="2600" i="1">
                                  <a:latin typeface="Cambria Math" panose="02040503050406030204" pitchFamily="18" charset="0"/>
                                </a:rPr>
                                <m:t>𝑠</m:t>
                              </m:r>
                            </m:den>
                          </m:f>
                          <m:r>
                            <a:rPr lang="en-US" sz="2600" b="0" i="1" smtClean="0">
                              <a:latin typeface="Cambria Math" panose="02040503050406030204" pitchFamily="18" charset="0"/>
                            </a:rPr>
                            <m:t>+</m:t>
                          </m:r>
                          <m:sSub>
                            <m:sSubPr>
                              <m:ctrlPr>
                                <a:rPr lang="en-US" sz="2600" i="1">
                                  <a:latin typeface="Cambria Math" panose="02040503050406030204" pitchFamily="18" charset="0"/>
                                </a:rPr>
                              </m:ctrlPr>
                            </m:sSubPr>
                            <m:e>
                              <m:r>
                                <a:rPr lang="en-US" sz="2600" i="1">
                                  <a:latin typeface="Cambria Math" panose="02040503050406030204" pitchFamily="18" charset="0"/>
                                </a:rPr>
                                <m:t>𝑅</m:t>
                              </m:r>
                            </m:e>
                            <m:sub>
                              <m:r>
                                <a:rPr lang="en-US" sz="2600" i="1">
                                  <a:latin typeface="Cambria Math" panose="02040503050406030204" pitchFamily="18" charset="0"/>
                                </a:rPr>
                                <m:t>1</m:t>
                              </m:r>
                            </m:sub>
                          </m:sSub>
                          <m:sSub>
                            <m:sSubPr>
                              <m:ctrlPr>
                                <a:rPr lang="en-US" sz="2600" i="1">
                                  <a:latin typeface="Cambria Math" panose="02040503050406030204" pitchFamily="18" charset="0"/>
                                </a:rPr>
                              </m:ctrlPr>
                            </m:sSubPr>
                            <m:e>
                              <m:r>
                                <a:rPr lang="en-US" sz="2600" i="1">
                                  <a:latin typeface="Cambria Math" panose="02040503050406030204" pitchFamily="18" charset="0"/>
                                </a:rPr>
                                <m:t>𝐶</m:t>
                              </m:r>
                            </m:e>
                            <m:sub>
                              <m:r>
                                <a:rPr lang="en-US" sz="2600" i="1">
                                  <a:latin typeface="Cambria Math" panose="02040503050406030204" pitchFamily="18" charset="0"/>
                                </a:rPr>
                                <m:t>1</m:t>
                              </m:r>
                            </m:sub>
                          </m:sSub>
                          <m:r>
                            <a:rPr lang="en-US" sz="2600" i="1">
                              <a:latin typeface="Cambria Math" panose="02040503050406030204" pitchFamily="18" charset="0"/>
                            </a:rPr>
                            <m:t>𝑠</m:t>
                          </m:r>
                        </m:e>
                      </m:d>
                    </m:oMath>
                  </m:oMathPara>
                </a14:m>
                <a:endParaRPr lang="en-US" sz="2600" dirty="0"/>
              </a:p>
            </p:txBody>
          </p:sp>
        </mc:Choice>
        <mc:Fallback xmlns="">
          <p:sp>
            <p:nvSpPr>
              <p:cNvPr id="6" name="TextBox 5"/>
              <p:cNvSpPr txBox="1">
                <a:spLocks noRot="1" noChangeAspect="1" noMove="1" noResize="1" noEditPoints="1" noAdjustHandles="1" noChangeArrowheads="1" noChangeShapeType="1" noTextEdit="1"/>
              </p:cNvSpPr>
              <p:nvPr/>
            </p:nvSpPr>
            <p:spPr>
              <a:xfrm>
                <a:off x="1447800" y="990600"/>
                <a:ext cx="6801477" cy="899029"/>
              </a:xfrm>
              <a:prstGeom prst="rect">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501391" y="2209800"/>
                <a:ext cx="8490209" cy="82189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400" i="1" smtClean="0">
                              <a:latin typeface="Cambria Math" panose="02040503050406030204" pitchFamily="18" charset="0"/>
                            </a:rPr>
                          </m:ctrlPr>
                        </m:fPr>
                        <m:num>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𝐸</m:t>
                              </m:r>
                            </m:e>
                            <m:sub>
                              <m:r>
                                <a:rPr lang="en-US" sz="2400" b="0" i="1" smtClean="0">
                                  <a:latin typeface="Cambria Math" panose="02040503050406030204" pitchFamily="18" charset="0"/>
                                </a:rPr>
                                <m:t>𝑜</m:t>
                              </m:r>
                            </m:sub>
                          </m:sSub>
                          <m:r>
                            <a:rPr lang="en-US" sz="2400" b="0" i="1" smtClean="0">
                              <a:latin typeface="Cambria Math" panose="02040503050406030204" pitchFamily="18" charset="0"/>
                            </a:rPr>
                            <m:t>(</m:t>
                          </m:r>
                          <m:r>
                            <a:rPr lang="en-US" sz="2400" b="0" i="1" smtClean="0">
                              <a:latin typeface="Cambria Math" panose="02040503050406030204" pitchFamily="18" charset="0"/>
                            </a:rPr>
                            <m:t>𝑠</m:t>
                          </m:r>
                          <m:r>
                            <a:rPr lang="en-US" sz="2400" b="0" i="1" smtClean="0">
                              <a:latin typeface="Cambria Math" panose="02040503050406030204" pitchFamily="18" charset="0"/>
                            </a:rPr>
                            <m:t>)</m:t>
                          </m:r>
                        </m:num>
                        <m:den>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𝐸</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m:t>
                          </m:r>
                          <m:r>
                            <a:rPr lang="en-US" sz="2400" b="0" i="1" smtClean="0">
                              <a:latin typeface="Cambria Math" panose="02040503050406030204" pitchFamily="18" charset="0"/>
                            </a:rPr>
                            <m:t>𝑠</m:t>
                          </m:r>
                          <m:r>
                            <a:rPr lang="en-US" sz="2400" b="0" i="1" smtClean="0">
                              <a:latin typeface="Cambria Math" panose="02040503050406030204" pitchFamily="18" charset="0"/>
                            </a:rPr>
                            <m:t>)</m:t>
                          </m:r>
                        </m:den>
                      </m:f>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4</m:t>
                              </m:r>
                            </m:sub>
                          </m:sSub>
                          <m:d>
                            <m:dPr>
                              <m:ctrlPr>
                                <a:rPr lang="en-US" sz="2400" b="0" i="1" smtClean="0">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1</m:t>
                                  </m:r>
                                </m:sub>
                              </m:sSub>
                              <m:sSub>
                                <m:sSubPr>
                                  <m:ctrlPr>
                                    <a:rPr lang="en-US" sz="2400" i="1">
                                      <a:latin typeface="Cambria Math" panose="02040503050406030204" pitchFamily="18" charset="0"/>
                                    </a:rPr>
                                  </m:ctrlPr>
                                </m:sSubPr>
                                <m:e>
                                  <m:r>
                                    <a:rPr lang="en-US" sz="2400" i="1">
                                      <a:latin typeface="Cambria Math" panose="02040503050406030204" pitchFamily="18" charset="0"/>
                                    </a:rPr>
                                    <m:t>𝐶</m:t>
                                  </m:r>
                                </m:e>
                                <m:sub>
                                  <m:r>
                                    <a:rPr lang="en-US" sz="2400" i="1">
                                      <a:latin typeface="Cambria Math" panose="02040503050406030204" pitchFamily="18" charset="0"/>
                                    </a:rPr>
                                    <m:t>1</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2</m:t>
                                  </m:r>
                                </m:sub>
                              </m:sSub>
                              <m:sSub>
                                <m:sSubPr>
                                  <m:ctrlPr>
                                    <a:rPr lang="en-US" sz="2400" i="1">
                                      <a:latin typeface="Cambria Math" panose="02040503050406030204" pitchFamily="18" charset="0"/>
                                    </a:rPr>
                                  </m:ctrlPr>
                                </m:sSubPr>
                                <m:e>
                                  <m:r>
                                    <a:rPr lang="en-US" sz="2400" i="1">
                                      <a:latin typeface="Cambria Math" panose="02040503050406030204" pitchFamily="18" charset="0"/>
                                    </a:rPr>
                                    <m:t>𝐶</m:t>
                                  </m:r>
                                </m:e>
                                <m:sub>
                                  <m:r>
                                    <a:rPr lang="en-US" sz="2400" i="1">
                                      <a:latin typeface="Cambria Math" panose="02040503050406030204" pitchFamily="18" charset="0"/>
                                    </a:rPr>
                                    <m:t>2</m:t>
                                  </m:r>
                                </m:sub>
                              </m:sSub>
                            </m:e>
                          </m:d>
                        </m:num>
                        <m:den>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3</m:t>
                              </m:r>
                            </m:sub>
                          </m:sSub>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1</m:t>
                              </m:r>
                            </m:sub>
                          </m:sSub>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𝐶</m:t>
                              </m:r>
                            </m:e>
                            <m:sub>
                              <m:r>
                                <a:rPr lang="en-US" sz="2400" b="0" i="1" smtClean="0">
                                  <a:latin typeface="Cambria Math" panose="02040503050406030204" pitchFamily="18" charset="0"/>
                                </a:rPr>
                                <m:t>2</m:t>
                              </m:r>
                            </m:sub>
                          </m:sSub>
                        </m:den>
                      </m:f>
                      <m:d>
                        <m:dPr>
                          <m:begChr m:val="["/>
                          <m:endChr m:val="]"/>
                          <m:ctrlPr>
                            <a:rPr lang="en-US" sz="2400" b="0" i="1" smtClean="0">
                              <a:latin typeface="Cambria Math" panose="02040503050406030204" pitchFamily="18" charset="0"/>
                            </a:rPr>
                          </m:ctrlPr>
                        </m:dPr>
                        <m:e>
                          <m:r>
                            <a:rPr lang="en-US" sz="2400" i="1">
                              <a:latin typeface="Cambria Math" panose="02040503050406030204" pitchFamily="18" charset="0"/>
                            </a:rPr>
                            <m:t>1+</m:t>
                          </m:r>
                          <m:f>
                            <m:fPr>
                              <m:ctrlPr>
                                <a:rPr lang="en-US" sz="2400" i="1">
                                  <a:latin typeface="Cambria Math" panose="02040503050406030204" pitchFamily="18" charset="0"/>
                                </a:rPr>
                              </m:ctrlPr>
                            </m:fPr>
                            <m:num>
                              <m:r>
                                <a:rPr lang="en-US" sz="2400" i="1">
                                  <a:latin typeface="Cambria Math" panose="02040503050406030204" pitchFamily="18" charset="0"/>
                                </a:rPr>
                                <m:t>1</m:t>
                              </m:r>
                            </m:num>
                            <m:den>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1</m:t>
                                          </m:r>
                                        </m:sub>
                                      </m:sSub>
                                      <m:sSub>
                                        <m:sSubPr>
                                          <m:ctrlPr>
                                            <a:rPr lang="en-US" sz="2400" i="1">
                                              <a:latin typeface="Cambria Math" panose="02040503050406030204" pitchFamily="18" charset="0"/>
                                            </a:rPr>
                                          </m:ctrlPr>
                                        </m:sSubPr>
                                        <m:e>
                                          <m:r>
                                            <a:rPr lang="en-US" sz="2400" i="1">
                                              <a:latin typeface="Cambria Math" panose="02040503050406030204" pitchFamily="18" charset="0"/>
                                            </a:rPr>
                                            <m:t>𝐶</m:t>
                                          </m:r>
                                        </m:e>
                                        <m:sub>
                                          <m:r>
                                            <a:rPr lang="en-US" sz="2400" i="1">
                                              <a:latin typeface="Cambria Math" panose="02040503050406030204" pitchFamily="18" charset="0"/>
                                            </a:rPr>
                                            <m:t>1</m:t>
                                          </m:r>
                                        </m:sub>
                                      </m:sSub>
                                      <m:r>
                                        <a:rPr lang="en-US" sz="2400" i="1">
                                          <a:latin typeface="Cambria Math" panose="02040503050406030204" pitchFamily="18" charset="0"/>
                                        </a:rPr>
                                        <m:t>+</m:t>
                                      </m:r>
                                      <m:r>
                                        <a:rPr lang="en-US" sz="2400" i="1">
                                          <a:latin typeface="Cambria Math" panose="02040503050406030204" pitchFamily="18" charset="0"/>
                                        </a:rPr>
                                        <m:t>𝑅</m:t>
                                      </m:r>
                                    </m:e>
                                    <m:sub>
                                      <m:r>
                                        <a:rPr lang="en-US" sz="2400" i="1">
                                          <a:latin typeface="Cambria Math" panose="02040503050406030204" pitchFamily="18" charset="0"/>
                                        </a:rPr>
                                        <m:t>2</m:t>
                                      </m:r>
                                    </m:sub>
                                  </m:sSub>
                                  <m:sSub>
                                    <m:sSubPr>
                                      <m:ctrlPr>
                                        <a:rPr lang="en-US" sz="2400" i="1">
                                          <a:latin typeface="Cambria Math" panose="02040503050406030204" pitchFamily="18" charset="0"/>
                                        </a:rPr>
                                      </m:ctrlPr>
                                    </m:sSubPr>
                                    <m:e>
                                      <m:r>
                                        <a:rPr lang="en-US" sz="2400" i="1">
                                          <a:latin typeface="Cambria Math" panose="02040503050406030204" pitchFamily="18" charset="0"/>
                                        </a:rPr>
                                        <m:t>𝐶</m:t>
                                      </m:r>
                                    </m:e>
                                    <m:sub>
                                      <m:r>
                                        <a:rPr lang="en-US" sz="2400" i="1">
                                          <a:latin typeface="Cambria Math" panose="02040503050406030204" pitchFamily="18" charset="0"/>
                                        </a:rPr>
                                        <m:t>2</m:t>
                                      </m:r>
                                    </m:sub>
                                  </m:sSub>
                                </m:e>
                              </m:d>
                              <m:r>
                                <a:rPr lang="en-US" sz="2400" i="1">
                                  <a:latin typeface="Cambria Math" panose="02040503050406030204" pitchFamily="18" charset="0"/>
                                </a:rPr>
                                <m:t>𝑠</m:t>
                              </m:r>
                            </m:den>
                          </m:f>
                          <m:r>
                            <a:rPr lang="en-US" sz="2400" i="1">
                              <a:latin typeface="Cambria Math" panose="02040503050406030204" pitchFamily="18" charset="0"/>
                            </a:rPr>
                            <m:t>+</m:t>
                          </m:r>
                          <m:f>
                            <m:fPr>
                              <m:ctrlPr>
                                <a:rPr lang="en-US" sz="2400" i="1" smtClean="0">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1</m:t>
                                  </m:r>
                                </m:sub>
                              </m:sSub>
                              <m:sSub>
                                <m:sSubPr>
                                  <m:ctrlPr>
                                    <a:rPr lang="en-US" sz="2400" i="1">
                                      <a:latin typeface="Cambria Math" panose="02040503050406030204" pitchFamily="18" charset="0"/>
                                    </a:rPr>
                                  </m:ctrlPr>
                                </m:sSubPr>
                                <m:e>
                                  <m:r>
                                    <a:rPr lang="en-US" sz="2400" i="1">
                                      <a:latin typeface="Cambria Math" panose="02040503050406030204" pitchFamily="18" charset="0"/>
                                    </a:rPr>
                                    <m:t>𝐶</m:t>
                                  </m:r>
                                </m:e>
                                <m:sub>
                                  <m:r>
                                    <a:rPr lang="en-US" sz="2400" i="1">
                                      <a:latin typeface="Cambria Math" panose="02040503050406030204" pitchFamily="18" charset="0"/>
                                    </a:rPr>
                                    <m:t>1</m:t>
                                  </m:r>
                                </m:sub>
                              </m:sSub>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2</m:t>
                                  </m:r>
                                </m:sub>
                              </m:sSub>
                              <m:sSub>
                                <m:sSubPr>
                                  <m:ctrlPr>
                                    <a:rPr lang="en-US" sz="2400" i="1">
                                      <a:latin typeface="Cambria Math" panose="02040503050406030204" pitchFamily="18" charset="0"/>
                                    </a:rPr>
                                  </m:ctrlPr>
                                </m:sSubPr>
                                <m:e>
                                  <m:r>
                                    <a:rPr lang="en-US" sz="2400" i="1">
                                      <a:latin typeface="Cambria Math" panose="02040503050406030204" pitchFamily="18" charset="0"/>
                                    </a:rPr>
                                    <m:t>𝐶</m:t>
                                  </m:r>
                                </m:e>
                                <m:sub>
                                  <m:r>
                                    <a:rPr lang="en-US" sz="2400" i="1">
                                      <a:latin typeface="Cambria Math" panose="02040503050406030204" pitchFamily="18" charset="0"/>
                                    </a:rPr>
                                    <m:t>2</m:t>
                                  </m:r>
                                </m:sub>
                              </m:sSub>
                            </m:num>
                            <m:den>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1</m:t>
                                  </m:r>
                                </m:sub>
                              </m:sSub>
                              <m:sSub>
                                <m:sSubPr>
                                  <m:ctrlPr>
                                    <a:rPr lang="en-US" sz="2400" i="1">
                                      <a:latin typeface="Cambria Math" panose="02040503050406030204" pitchFamily="18" charset="0"/>
                                    </a:rPr>
                                  </m:ctrlPr>
                                </m:sSubPr>
                                <m:e>
                                  <m:r>
                                    <a:rPr lang="en-US" sz="2400" i="1">
                                      <a:latin typeface="Cambria Math" panose="02040503050406030204" pitchFamily="18" charset="0"/>
                                    </a:rPr>
                                    <m:t>𝐶</m:t>
                                  </m:r>
                                </m:e>
                                <m:sub>
                                  <m:r>
                                    <a:rPr lang="en-US" sz="2400" i="1">
                                      <a:latin typeface="Cambria Math" panose="02040503050406030204" pitchFamily="18" charset="0"/>
                                    </a:rPr>
                                    <m:t>1</m:t>
                                  </m:r>
                                </m:sub>
                              </m:sSub>
                              <m:sSub>
                                <m:sSubPr>
                                  <m:ctrlPr>
                                    <a:rPr lang="en-US" sz="2400" i="1">
                                      <a:latin typeface="Cambria Math" panose="02040503050406030204" pitchFamily="18" charset="0"/>
                                    </a:rPr>
                                  </m:ctrlPr>
                                </m:sSubPr>
                                <m:e>
                                  <m:r>
                                    <a:rPr lang="en-US" sz="2400" b="0" i="1" smtClean="0">
                                      <a:latin typeface="Cambria Math" panose="02040503050406030204" pitchFamily="18" charset="0"/>
                                    </a:rPr>
                                    <m:t>+</m:t>
                                  </m:r>
                                  <m:r>
                                    <a:rPr lang="en-US" sz="2400" i="1">
                                      <a:latin typeface="Cambria Math" panose="02040503050406030204" pitchFamily="18" charset="0"/>
                                    </a:rPr>
                                    <m:t>𝑅</m:t>
                                  </m:r>
                                </m:e>
                                <m:sub>
                                  <m:r>
                                    <a:rPr lang="en-US" sz="2400" i="1">
                                      <a:latin typeface="Cambria Math" panose="02040503050406030204" pitchFamily="18" charset="0"/>
                                    </a:rPr>
                                    <m:t>2</m:t>
                                  </m:r>
                                </m:sub>
                              </m:sSub>
                              <m:sSub>
                                <m:sSubPr>
                                  <m:ctrlPr>
                                    <a:rPr lang="en-US" sz="2400" i="1">
                                      <a:latin typeface="Cambria Math" panose="02040503050406030204" pitchFamily="18" charset="0"/>
                                    </a:rPr>
                                  </m:ctrlPr>
                                </m:sSubPr>
                                <m:e>
                                  <m:r>
                                    <a:rPr lang="en-US" sz="2400" i="1">
                                      <a:latin typeface="Cambria Math" panose="02040503050406030204" pitchFamily="18" charset="0"/>
                                    </a:rPr>
                                    <m:t>𝐶</m:t>
                                  </m:r>
                                </m:e>
                                <m:sub>
                                  <m:r>
                                    <a:rPr lang="en-US" sz="2400" i="1">
                                      <a:latin typeface="Cambria Math" panose="02040503050406030204" pitchFamily="18" charset="0"/>
                                    </a:rPr>
                                    <m:t>2</m:t>
                                  </m:r>
                                </m:sub>
                              </m:sSub>
                            </m:den>
                          </m:f>
                          <m:r>
                            <a:rPr lang="en-US" sz="2400" i="1">
                              <a:latin typeface="Cambria Math" panose="02040503050406030204" pitchFamily="18" charset="0"/>
                            </a:rPr>
                            <m:t>𝑠</m:t>
                          </m:r>
                        </m:e>
                      </m:d>
                    </m:oMath>
                  </m:oMathPara>
                </a14:m>
                <a:endParaRPr lang="en-US" sz="2400" dirty="0"/>
              </a:p>
            </p:txBody>
          </p:sp>
        </mc:Choice>
        <mc:Fallback xmlns="">
          <p:sp>
            <p:nvSpPr>
              <p:cNvPr id="7" name="TextBox 6"/>
              <p:cNvSpPr txBox="1">
                <a:spLocks noRot="1" noChangeAspect="1" noMove="1" noResize="1" noEditPoints="1" noAdjustHandles="1" noChangeArrowheads="1" noChangeShapeType="1" noTextEdit="1"/>
              </p:cNvSpPr>
              <p:nvPr/>
            </p:nvSpPr>
            <p:spPr>
              <a:xfrm>
                <a:off x="501391" y="2209800"/>
                <a:ext cx="8490209" cy="821892"/>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143301" y="3667655"/>
                <a:ext cx="3039742" cy="779059"/>
              </a:xfrm>
              <a:prstGeom prst="rect">
                <a:avLst/>
              </a:prstGeom>
              <a:solidFill>
                <a:srgbClr val="D2ECB6"/>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𝐾</m:t>
                          </m:r>
                        </m:e>
                        <m:sub>
                          <m:r>
                            <a:rPr lang="en-US" sz="2400" b="0" i="1" smtClean="0">
                              <a:latin typeface="Cambria Math" panose="02040503050406030204" pitchFamily="18" charset="0"/>
                            </a:rPr>
                            <m:t>𝑝</m:t>
                          </m:r>
                        </m:sub>
                      </m:sSub>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4</m:t>
                              </m:r>
                            </m:sub>
                          </m:sSub>
                          <m:d>
                            <m:dPr>
                              <m:ctrlPr>
                                <a:rPr lang="en-US" sz="2400" b="0" i="1" smtClean="0">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1</m:t>
                                  </m:r>
                                </m:sub>
                              </m:sSub>
                              <m:sSub>
                                <m:sSubPr>
                                  <m:ctrlPr>
                                    <a:rPr lang="en-US" sz="2400" i="1">
                                      <a:latin typeface="Cambria Math" panose="02040503050406030204" pitchFamily="18" charset="0"/>
                                    </a:rPr>
                                  </m:ctrlPr>
                                </m:sSubPr>
                                <m:e>
                                  <m:r>
                                    <a:rPr lang="en-US" sz="2400" i="1">
                                      <a:latin typeface="Cambria Math" panose="02040503050406030204" pitchFamily="18" charset="0"/>
                                    </a:rPr>
                                    <m:t>𝐶</m:t>
                                  </m:r>
                                </m:e>
                                <m:sub>
                                  <m:r>
                                    <a:rPr lang="en-US" sz="2400" i="1">
                                      <a:latin typeface="Cambria Math" panose="02040503050406030204" pitchFamily="18" charset="0"/>
                                    </a:rPr>
                                    <m:t>1</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2</m:t>
                                  </m:r>
                                </m:sub>
                              </m:sSub>
                              <m:sSub>
                                <m:sSubPr>
                                  <m:ctrlPr>
                                    <a:rPr lang="en-US" sz="2400" i="1">
                                      <a:latin typeface="Cambria Math" panose="02040503050406030204" pitchFamily="18" charset="0"/>
                                    </a:rPr>
                                  </m:ctrlPr>
                                </m:sSubPr>
                                <m:e>
                                  <m:r>
                                    <a:rPr lang="en-US" sz="2400" i="1">
                                      <a:latin typeface="Cambria Math" panose="02040503050406030204" pitchFamily="18" charset="0"/>
                                    </a:rPr>
                                    <m:t>𝐶</m:t>
                                  </m:r>
                                </m:e>
                                <m:sub>
                                  <m:r>
                                    <a:rPr lang="en-US" sz="2400" i="1">
                                      <a:latin typeface="Cambria Math" panose="02040503050406030204" pitchFamily="18" charset="0"/>
                                    </a:rPr>
                                    <m:t>2</m:t>
                                  </m:r>
                                </m:sub>
                              </m:sSub>
                            </m:e>
                          </m:d>
                        </m:num>
                        <m:den>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3</m:t>
                              </m:r>
                            </m:sub>
                          </m:sSub>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1</m:t>
                              </m:r>
                            </m:sub>
                          </m:sSub>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𝐶</m:t>
                              </m:r>
                            </m:e>
                            <m:sub>
                              <m:r>
                                <a:rPr lang="en-US" sz="2400" b="0" i="1" smtClean="0">
                                  <a:latin typeface="Cambria Math" panose="02040503050406030204" pitchFamily="18" charset="0"/>
                                </a:rPr>
                                <m:t>2</m:t>
                              </m:r>
                            </m:sub>
                          </m:sSub>
                        </m:den>
                      </m:f>
                    </m:oMath>
                  </m:oMathPara>
                </a14:m>
                <a:endParaRPr lang="en-US" sz="2400" dirty="0"/>
              </a:p>
            </p:txBody>
          </p:sp>
        </mc:Choice>
        <mc:Fallback xmlns="">
          <p:sp>
            <p:nvSpPr>
              <p:cNvPr id="8" name="TextBox 7"/>
              <p:cNvSpPr txBox="1">
                <a:spLocks noRot="1" noChangeAspect="1" noMove="1" noResize="1" noEditPoints="1" noAdjustHandles="1" noChangeArrowheads="1" noChangeShapeType="1" noTextEdit="1"/>
              </p:cNvSpPr>
              <p:nvPr/>
            </p:nvSpPr>
            <p:spPr>
              <a:xfrm>
                <a:off x="143301" y="3667655"/>
                <a:ext cx="3039742" cy="779059"/>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3733628" y="3820055"/>
                <a:ext cx="2353273" cy="369332"/>
              </a:xfrm>
              <a:prstGeom prst="rect">
                <a:avLst/>
              </a:prstGeom>
              <a:solidFill>
                <a:srgbClr val="D2ECB6"/>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𝑇</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1</m:t>
                              </m:r>
                            </m:sub>
                          </m:sSub>
                          <m:sSub>
                            <m:sSubPr>
                              <m:ctrlPr>
                                <a:rPr lang="en-US" sz="2400" i="1">
                                  <a:latin typeface="Cambria Math" panose="02040503050406030204" pitchFamily="18" charset="0"/>
                                </a:rPr>
                              </m:ctrlPr>
                            </m:sSubPr>
                            <m:e>
                              <m:r>
                                <a:rPr lang="en-US" sz="2400" i="1">
                                  <a:latin typeface="Cambria Math" panose="02040503050406030204" pitchFamily="18" charset="0"/>
                                </a:rPr>
                                <m:t>𝐶</m:t>
                              </m:r>
                            </m:e>
                            <m:sub>
                              <m:r>
                                <a:rPr lang="en-US" sz="2400" i="1">
                                  <a:latin typeface="Cambria Math" panose="02040503050406030204" pitchFamily="18" charset="0"/>
                                </a:rPr>
                                <m:t>1</m:t>
                              </m:r>
                            </m:sub>
                          </m:sSub>
                          <m:r>
                            <a:rPr lang="en-US" sz="2400" i="1">
                              <a:latin typeface="Cambria Math" panose="02040503050406030204" pitchFamily="18" charset="0"/>
                            </a:rPr>
                            <m:t>+</m:t>
                          </m:r>
                          <m:r>
                            <a:rPr lang="en-US" sz="2400" i="1">
                              <a:latin typeface="Cambria Math" panose="02040503050406030204" pitchFamily="18" charset="0"/>
                            </a:rPr>
                            <m:t>𝑅</m:t>
                          </m:r>
                        </m:e>
                        <m:sub>
                          <m:r>
                            <a:rPr lang="en-US" sz="2400" i="1">
                              <a:latin typeface="Cambria Math" panose="02040503050406030204" pitchFamily="18" charset="0"/>
                            </a:rPr>
                            <m:t>2</m:t>
                          </m:r>
                        </m:sub>
                      </m:sSub>
                      <m:sSub>
                        <m:sSubPr>
                          <m:ctrlPr>
                            <a:rPr lang="en-US" sz="2400" i="1">
                              <a:latin typeface="Cambria Math" panose="02040503050406030204" pitchFamily="18" charset="0"/>
                            </a:rPr>
                          </m:ctrlPr>
                        </m:sSubPr>
                        <m:e>
                          <m:r>
                            <a:rPr lang="en-US" sz="2400" i="1">
                              <a:latin typeface="Cambria Math" panose="02040503050406030204" pitchFamily="18" charset="0"/>
                            </a:rPr>
                            <m:t>𝐶</m:t>
                          </m:r>
                        </m:e>
                        <m:sub>
                          <m:r>
                            <a:rPr lang="en-US" sz="2400" i="1">
                              <a:latin typeface="Cambria Math" panose="02040503050406030204" pitchFamily="18" charset="0"/>
                            </a:rPr>
                            <m:t>2</m:t>
                          </m:r>
                        </m:sub>
                      </m:sSub>
                    </m:oMath>
                  </m:oMathPara>
                </a14:m>
                <a:endParaRPr lang="en-US" sz="2400" dirty="0"/>
              </a:p>
            </p:txBody>
          </p:sp>
        </mc:Choice>
        <mc:Fallback xmlns="">
          <p:sp>
            <p:nvSpPr>
              <p:cNvPr id="9" name="TextBox 8"/>
              <p:cNvSpPr txBox="1">
                <a:spLocks noRot="1" noChangeAspect="1" noMove="1" noResize="1" noEditPoints="1" noAdjustHandles="1" noChangeArrowheads="1" noChangeShapeType="1" noTextEdit="1"/>
              </p:cNvSpPr>
              <p:nvPr/>
            </p:nvSpPr>
            <p:spPr>
              <a:xfrm>
                <a:off x="3733628" y="3820055"/>
                <a:ext cx="2353273" cy="369332"/>
              </a:xfrm>
              <a:prstGeom prst="rect">
                <a:avLst/>
              </a:prstGeom>
              <a:blipFill rotWithShape="0">
                <a:blip r:embed="rId5"/>
                <a:stretch>
                  <a:fillRect l="-2584" r="-258"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6464715" y="3581400"/>
                <a:ext cx="2603085" cy="846642"/>
              </a:xfrm>
              <a:prstGeom prst="rect">
                <a:avLst/>
              </a:prstGeom>
              <a:solidFill>
                <a:srgbClr val="D2ECB6"/>
              </a:solidFill>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𝑇</m:t>
                          </m:r>
                        </m:e>
                        <m:sub>
                          <m:r>
                            <a:rPr lang="en-US" sz="2400" b="0" i="1" smtClean="0">
                              <a:latin typeface="Cambria Math" panose="02040503050406030204" pitchFamily="18" charset="0"/>
                            </a:rPr>
                            <m:t>𝑑</m:t>
                          </m:r>
                        </m:sub>
                      </m:sSub>
                      <m:r>
                        <a:rPr lang="en-US" sz="2400" b="0" i="0" smtClean="0">
                          <a:latin typeface="Cambria Math" panose="02040503050406030204" pitchFamily="18" charset="0"/>
                        </a:rPr>
                        <m:t>=</m:t>
                      </m:r>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1</m:t>
                              </m:r>
                            </m:sub>
                          </m:sSub>
                          <m:sSub>
                            <m:sSubPr>
                              <m:ctrlPr>
                                <a:rPr lang="en-US" sz="2400" i="1">
                                  <a:latin typeface="Cambria Math" panose="02040503050406030204" pitchFamily="18" charset="0"/>
                                </a:rPr>
                              </m:ctrlPr>
                            </m:sSubPr>
                            <m:e>
                              <m:r>
                                <a:rPr lang="en-US" sz="2400" i="1">
                                  <a:latin typeface="Cambria Math" panose="02040503050406030204" pitchFamily="18" charset="0"/>
                                </a:rPr>
                                <m:t>𝐶</m:t>
                              </m:r>
                            </m:e>
                            <m:sub>
                              <m:r>
                                <a:rPr lang="en-US" sz="2400" i="1">
                                  <a:latin typeface="Cambria Math" panose="02040503050406030204" pitchFamily="18" charset="0"/>
                                </a:rPr>
                                <m:t>1</m:t>
                              </m:r>
                            </m:sub>
                          </m:sSub>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2</m:t>
                              </m:r>
                            </m:sub>
                          </m:sSub>
                          <m:sSub>
                            <m:sSubPr>
                              <m:ctrlPr>
                                <a:rPr lang="en-US" sz="2400" i="1">
                                  <a:latin typeface="Cambria Math" panose="02040503050406030204" pitchFamily="18" charset="0"/>
                                </a:rPr>
                              </m:ctrlPr>
                            </m:sSubPr>
                            <m:e>
                              <m:r>
                                <a:rPr lang="en-US" sz="2400" i="1">
                                  <a:latin typeface="Cambria Math" panose="02040503050406030204" pitchFamily="18" charset="0"/>
                                </a:rPr>
                                <m:t>𝐶</m:t>
                              </m:r>
                            </m:e>
                            <m:sub>
                              <m:r>
                                <a:rPr lang="en-US" sz="2400" i="1">
                                  <a:latin typeface="Cambria Math" panose="02040503050406030204" pitchFamily="18" charset="0"/>
                                </a:rPr>
                                <m:t>2</m:t>
                              </m:r>
                            </m:sub>
                          </m:sSub>
                        </m:num>
                        <m:den>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1</m:t>
                              </m:r>
                            </m:sub>
                          </m:sSub>
                          <m:sSub>
                            <m:sSubPr>
                              <m:ctrlPr>
                                <a:rPr lang="en-US" sz="2400" i="1">
                                  <a:latin typeface="Cambria Math" panose="02040503050406030204" pitchFamily="18" charset="0"/>
                                </a:rPr>
                              </m:ctrlPr>
                            </m:sSubPr>
                            <m:e>
                              <m:r>
                                <a:rPr lang="en-US" sz="2400" i="1">
                                  <a:latin typeface="Cambria Math" panose="02040503050406030204" pitchFamily="18" charset="0"/>
                                </a:rPr>
                                <m:t>𝐶</m:t>
                              </m:r>
                            </m:e>
                            <m:sub>
                              <m:r>
                                <a:rPr lang="en-US" sz="2400" i="1">
                                  <a:latin typeface="Cambria Math" panose="02040503050406030204" pitchFamily="18" charset="0"/>
                                </a:rPr>
                                <m:t>1</m:t>
                              </m:r>
                            </m:sub>
                          </m:sSub>
                          <m:sSub>
                            <m:sSubPr>
                              <m:ctrlPr>
                                <a:rPr lang="en-US" sz="2400" i="1">
                                  <a:latin typeface="Cambria Math" panose="02040503050406030204" pitchFamily="18" charset="0"/>
                                </a:rPr>
                              </m:ctrlPr>
                            </m:sSubPr>
                            <m:e>
                              <m:r>
                                <a:rPr lang="en-US" sz="2400" i="1">
                                  <a:latin typeface="Cambria Math" panose="02040503050406030204" pitchFamily="18" charset="0"/>
                                </a:rPr>
                                <m:t>+</m:t>
                              </m:r>
                              <m:r>
                                <a:rPr lang="en-US" sz="2400" i="1">
                                  <a:latin typeface="Cambria Math" panose="02040503050406030204" pitchFamily="18" charset="0"/>
                                </a:rPr>
                                <m:t>𝑅</m:t>
                              </m:r>
                            </m:e>
                            <m:sub>
                              <m:r>
                                <a:rPr lang="en-US" sz="2400" i="1">
                                  <a:latin typeface="Cambria Math" panose="02040503050406030204" pitchFamily="18" charset="0"/>
                                </a:rPr>
                                <m:t>2</m:t>
                              </m:r>
                            </m:sub>
                          </m:sSub>
                          <m:sSub>
                            <m:sSubPr>
                              <m:ctrlPr>
                                <a:rPr lang="en-US" sz="2400" i="1">
                                  <a:latin typeface="Cambria Math" panose="02040503050406030204" pitchFamily="18" charset="0"/>
                                </a:rPr>
                              </m:ctrlPr>
                            </m:sSubPr>
                            <m:e>
                              <m:r>
                                <a:rPr lang="en-US" sz="2400" i="1">
                                  <a:latin typeface="Cambria Math" panose="02040503050406030204" pitchFamily="18" charset="0"/>
                                </a:rPr>
                                <m:t>𝐶</m:t>
                              </m:r>
                            </m:e>
                            <m:sub>
                              <m:r>
                                <a:rPr lang="en-US" sz="2400" i="1">
                                  <a:latin typeface="Cambria Math" panose="02040503050406030204" pitchFamily="18" charset="0"/>
                                </a:rPr>
                                <m:t>2</m:t>
                              </m:r>
                            </m:sub>
                          </m:sSub>
                        </m:den>
                      </m:f>
                    </m:oMath>
                  </m:oMathPara>
                </a14:m>
                <a:endParaRPr lang="en-US" sz="2400" dirty="0"/>
              </a:p>
            </p:txBody>
          </p:sp>
        </mc:Choice>
        <mc:Fallback xmlns="">
          <p:sp>
            <p:nvSpPr>
              <p:cNvPr id="10" name="Rectangle 9"/>
              <p:cNvSpPr>
                <a:spLocks noRot="1" noChangeAspect="1" noMove="1" noResize="1" noEditPoints="1" noAdjustHandles="1" noChangeArrowheads="1" noChangeShapeType="1" noTextEdit="1"/>
              </p:cNvSpPr>
              <p:nvPr/>
            </p:nvSpPr>
            <p:spPr>
              <a:xfrm>
                <a:off x="6464715" y="3581400"/>
                <a:ext cx="2603085" cy="846642"/>
              </a:xfrm>
              <a:prstGeom prst="rect">
                <a:avLst/>
              </a:prstGeom>
              <a:blipFill rotWithShape="0">
                <a:blip r:embed="rId6"/>
                <a:stretch>
                  <a:fillRect/>
                </a:stretch>
              </a:blipFill>
            </p:spPr>
            <p:txBody>
              <a:bodyPr/>
              <a:lstStyle/>
              <a:p>
                <a:r>
                  <a:rPr lang="en-US">
                    <a:noFill/>
                  </a:rPr>
                  <a:t> </a:t>
                </a:r>
              </a:p>
            </p:txBody>
          </p:sp>
        </mc:Fallback>
      </mc:AlternateContent>
      <p:sp>
        <p:nvSpPr>
          <p:cNvPr id="11" name="TextBox 10"/>
          <p:cNvSpPr txBox="1"/>
          <p:nvPr/>
        </p:nvSpPr>
        <p:spPr>
          <a:xfrm>
            <a:off x="143301" y="4742968"/>
            <a:ext cx="4467633" cy="492443"/>
          </a:xfrm>
          <a:prstGeom prst="rect">
            <a:avLst/>
          </a:prstGeom>
          <a:noFill/>
        </p:spPr>
        <p:txBody>
          <a:bodyPr wrap="none" rtlCol="0">
            <a:spAutoFit/>
          </a:bodyPr>
          <a:lstStyle/>
          <a:p>
            <a:pPr marL="285750" indent="-285750">
              <a:buFont typeface="Arial" panose="020B0604020202020204" pitchFamily="34" charset="0"/>
              <a:buChar char="•"/>
            </a:pPr>
            <a:r>
              <a:rPr lang="en-US" sz="2600" dirty="0"/>
              <a:t>In terms of </a:t>
            </a:r>
            <a:r>
              <a:rPr lang="en-US" sz="2600" i="1" dirty="0" err="1">
                <a:solidFill>
                  <a:srgbClr val="FF0000"/>
                </a:solidFill>
              </a:rPr>
              <a:t>K</a:t>
            </a:r>
            <a:r>
              <a:rPr lang="en-US" sz="2600" i="1" baseline="-25000" dirty="0" err="1">
                <a:solidFill>
                  <a:srgbClr val="FF0000"/>
                </a:solidFill>
              </a:rPr>
              <a:t>p</a:t>
            </a:r>
            <a:r>
              <a:rPr lang="en-US" sz="2600" dirty="0"/>
              <a:t>, </a:t>
            </a:r>
            <a:r>
              <a:rPr lang="en-US" sz="2600" i="1" dirty="0">
                <a:solidFill>
                  <a:srgbClr val="FF0000"/>
                </a:solidFill>
              </a:rPr>
              <a:t>K</a:t>
            </a:r>
            <a:r>
              <a:rPr lang="en-US" sz="2600" baseline="-25000" dirty="0"/>
              <a:t>i</a:t>
            </a:r>
            <a:r>
              <a:rPr lang="en-US" sz="2600" dirty="0"/>
              <a:t>, </a:t>
            </a:r>
            <a:r>
              <a:rPr lang="en-US" sz="2600" i="1" dirty="0" err="1">
                <a:solidFill>
                  <a:srgbClr val="FF0000"/>
                </a:solidFill>
              </a:rPr>
              <a:t>K</a:t>
            </a:r>
            <a:r>
              <a:rPr lang="en-US" sz="2600" i="1" baseline="-25000" dirty="0" err="1">
                <a:solidFill>
                  <a:srgbClr val="FF0000"/>
                </a:solidFill>
              </a:rPr>
              <a:t>d</a:t>
            </a:r>
            <a:r>
              <a:rPr lang="en-US" sz="2600" dirty="0"/>
              <a:t> we have</a:t>
            </a:r>
          </a:p>
        </p:txBody>
      </p:sp>
      <mc:AlternateContent xmlns:mc="http://schemas.openxmlformats.org/markup-compatibility/2006" xmlns:a14="http://schemas.microsoft.com/office/drawing/2010/main">
        <mc:Choice Requires="a14">
          <p:sp>
            <p:nvSpPr>
              <p:cNvPr id="12" name="TextBox 11"/>
              <p:cNvSpPr txBox="1"/>
              <p:nvPr/>
            </p:nvSpPr>
            <p:spPr>
              <a:xfrm>
                <a:off x="389258" y="5545541"/>
                <a:ext cx="3039742" cy="779059"/>
              </a:xfrm>
              <a:prstGeom prst="rect">
                <a:avLst/>
              </a:prstGeom>
              <a:solidFill>
                <a:srgbClr val="D2ECB6"/>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𝐾</m:t>
                          </m:r>
                        </m:e>
                        <m:sub>
                          <m:r>
                            <a:rPr lang="en-US" sz="2400" b="0" i="1" smtClean="0">
                              <a:latin typeface="Cambria Math" panose="02040503050406030204" pitchFamily="18" charset="0"/>
                            </a:rPr>
                            <m:t>𝑝</m:t>
                          </m:r>
                        </m:sub>
                      </m:sSub>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4</m:t>
                              </m:r>
                            </m:sub>
                          </m:sSub>
                          <m:d>
                            <m:dPr>
                              <m:ctrlPr>
                                <a:rPr lang="en-US" sz="2400" b="0" i="1" smtClean="0">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1</m:t>
                                  </m:r>
                                </m:sub>
                              </m:sSub>
                              <m:sSub>
                                <m:sSubPr>
                                  <m:ctrlPr>
                                    <a:rPr lang="en-US" sz="2400" i="1">
                                      <a:latin typeface="Cambria Math" panose="02040503050406030204" pitchFamily="18" charset="0"/>
                                    </a:rPr>
                                  </m:ctrlPr>
                                </m:sSubPr>
                                <m:e>
                                  <m:r>
                                    <a:rPr lang="en-US" sz="2400" i="1">
                                      <a:latin typeface="Cambria Math" panose="02040503050406030204" pitchFamily="18" charset="0"/>
                                    </a:rPr>
                                    <m:t>𝐶</m:t>
                                  </m:r>
                                </m:e>
                                <m:sub>
                                  <m:r>
                                    <a:rPr lang="en-US" sz="2400" i="1">
                                      <a:latin typeface="Cambria Math" panose="02040503050406030204" pitchFamily="18" charset="0"/>
                                    </a:rPr>
                                    <m:t>1</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2</m:t>
                                  </m:r>
                                </m:sub>
                              </m:sSub>
                              <m:sSub>
                                <m:sSubPr>
                                  <m:ctrlPr>
                                    <a:rPr lang="en-US" sz="2400" i="1">
                                      <a:latin typeface="Cambria Math" panose="02040503050406030204" pitchFamily="18" charset="0"/>
                                    </a:rPr>
                                  </m:ctrlPr>
                                </m:sSubPr>
                                <m:e>
                                  <m:r>
                                    <a:rPr lang="en-US" sz="2400" i="1">
                                      <a:latin typeface="Cambria Math" panose="02040503050406030204" pitchFamily="18" charset="0"/>
                                    </a:rPr>
                                    <m:t>𝐶</m:t>
                                  </m:r>
                                </m:e>
                                <m:sub>
                                  <m:r>
                                    <a:rPr lang="en-US" sz="2400" i="1">
                                      <a:latin typeface="Cambria Math" panose="02040503050406030204" pitchFamily="18" charset="0"/>
                                    </a:rPr>
                                    <m:t>2</m:t>
                                  </m:r>
                                </m:sub>
                              </m:sSub>
                            </m:e>
                          </m:d>
                        </m:num>
                        <m:den>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3</m:t>
                              </m:r>
                            </m:sub>
                          </m:sSub>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1</m:t>
                              </m:r>
                            </m:sub>
                          </m:sSub>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𝐶</m:t>
                              </m:r>
                            </m:e>
                            <m:sub>
                              <m:r>
                                <a:rPr lang="en-US" sz="2400" b="0" i="1" smtClean="0">
                                  <a:latin typeface="Cambria Math" panose="02040503050406030204" pitchFamily="18" charset="0"/>
                                </a:rPr>
                                <m:t>2</m:t>
                              </m:r>
                            </m:sub>
                          </m:sSub>
                        </m:den>
                      </m:f>
                    </m:oMath>
                  </m:oMathPara>
                </a14:m>
                <a:endParaRPr lang="en-US" sz="2400" dirty="0"/>
              </a:p>
            </p:txBody>
          </p:sp>
        </mc:Choice>
        <mc:Fallback xmlns="">
          <p:sp>
            <p:nvSpPr>
              <p:cNvPr id="12" name="TextBox 11"/>
              <p:cNvSpPr txBox="1">
                <a:spLocks noRot="1" noChangeAspect="1" noMove="1" noResize="1" noEditPoints="1" noAdjustHandles="1" noChangeArrowheads="1" noChangeShapeType="1" noTextEdit="1"/>
              </p:cNvSpPr>
              <p:nvPr/>
            </p:nvSpPr>
            <p:spPr>
              <a:xfrm>
                <a:off x="389258" y="5545541"/>
                <a:ext cx="3039742" cy="779059"/>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4217679" y="5570868"/>
                <a:ext cx="1725921" cy="753732"/>
              </a:xfrm>
              <a:prstGeom prst="rect">
                <a:avLst/>
              </a:prstGeom>
              <a:solidFill>
                <a:srgbClr val="D2ECB6"/>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𝐾</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4</m:t>
                              </m:r>
                            </m:sub>
                          </m:sSub>
                        </m:num>
                        <m:den>
                          <m:sSub>
                            <m:sSubPr>
                              <m:ctrlPr>
                                <a:rPr lang="en-US" sz="2400" i="1">
                                  <a:latin typeface="Cambria Math" panose="02040503050406030204" pitchFamily="18" charset="0"/>
                                </a:rPr>
                              </m:ctrlPr>
                            </m:sSubPr>
                            <m:e>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b="0" i="1" smtClean="0">
                                      <a:latin typeface="Cambria Math" panose="02040503050406030204" pitchFamily="18" charset="0"/>
                                    </a:rPr>
                                    <m:t>3</m:t>
                                  </m:r>
                                </m:sub>
                              </m:sSub>
                              <m:r>
                                <a:rPr lang="en-US" sz="2400" i="1">
                                  <a:latin typeface="Cambria Math" panose="02040503050406030204" pitchFamily="18" charset="0"/>
                                </a:rPr>
                                <m:t>𝑅</m:t>
                              </m:r>
                            </m:e>
                            <m:sub>
                              <m:r>
                                <a:rPr lang="en-US" sz="2400" i="1">
                                  <a:latin typeface="Cambria Math" panose="02040503050406030204" pitchFamily="18" charset="0"/>
                                </a:rPr>
                                <m:t>1</m:t>
                              </m:r>
                            </m:sub>
                          </m:sSub>
                          <m:sSub>
                            <m:sSubPr>
                              <m:ctrlPr>
                                <a:rPr lang="en-US" sz="2400" i="1">
                                  <a:latin typeface="Cambria Math" panose="02040503050406030204" pitchFamily="18" charset="0"/>
                                </a:rPr>
                              </m:ctrlPr>
                            </m:sSubPr>
                            <m:e>
                              <m:r>
                                <a:rPr lang="en-US" sz="2400" i="1">
                                  <a:latin typeface="Cambria Math" panose="02040503050406030204" pitchFamily="18" charset="0"/>
                                </a:rPr>
                                <m:t>𝐶</m:t>
                              </m:r>
                            </m:e>
                            <m:sub>
                              <m:r>
                                <a:rPr lang="en-US" sz="2400" b="0" i="1" smtClean="0">
                                  <a:latin typeface="Cambria Math" panose="02040503050406030204" pitchFamily="18" charset="0"/>
                                </a:rPr>
                                <m:t>2</m:t>
                              </m:r>
                            </m:sub>
                          </m:sSub>
                        </m:den>
                      </m:f>
                    </m:oMath>
                  </m:oMathPara>
                </a14:m>
                <a:endParaRPr lang="en-US" sz="2400" dirty="0"/>
              </a:p>
            </p:txBody>
          </p:sp>
        </mc:Choice>
        <mc:Fallback xmlns="">
          <p:sp>
            <p:nvSpPr>
              <p:cNvPr id="13" name="TextBox 12"/>
              <p:cNvSpPr txBox="1">
                <a:spLocks noRot="1" noChangeAspect="1" noMove="1" noResize="1" noEditPoints="1" noAdjustHandles="1" noChangeArrowheads="1" noChangeShapeType="1" noTextEdit="1"/>
              </p:cNvSpPr>
              <p:nvPr/>
            </p:nvSpPr>
            <p:spPr>
              <a:xfrm>
                <a:off x="4217679" y="5570868"/>
                <a:ext cx="1725921" cy="753732"/>
              </a:xfrm>
              <a:prstGeom prst="rect">
                <a:avLst/>
              </a:prstGeom>
              <a:blipFill rotWithShape="0">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p:cNvSpPr/>
              <p:nvPr/>
            </p:nvSpPr>
            <p:spPr>
              <a:xfrm>
                <a:off x="6939666" y="5554158"/>
                <a:ext cx="1975734" cy="846642"/>
              </a:xfrm>
              <a:prstGeom prst="rect">
                <a:avLst/>
              </a:prstGeom>
              <a:solidFill>
                <a:srgbClr val="D2ECB6"/>
              </a:solidFill>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𝐾</m:t>
                          </m:r>
                        </m:e>
                        <m:sub>
                          <m:r>
                            <a:rPr lang="en-US" sz="2400" b="0" i="1" smtClean="0">
                              <a:latin typeface="Cambria Math" panose="02040503050406030204" pitchFamily="18" charset="0"/>
                            </a:rPr>
                            <m:t>𝑑</m:t>
                          </m:r>
                        </m:sub>
                      </m:sSub>
                      <m:r>
                        <a:rPr lang="en-US" sz="2400" b="0" i="0" smtClean="0">
                          <a:latin typeface="Cambria Math" panose="02040503050406030204" pitchFamily="18" charset="0"/>
                        </a:rPr>
                        <m:t>=</m:t>
                      </m:r>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b="0" i="1" smtClean="0">
                                  <a:latin typeface="Cambria Math" panose="02040503050406030204" pitchFamily="18" charset="0"/>
                                </a:rPr>
                                <m:t>4</m:t>
                              </m:r>
                            </m:sub>
                          </m:sSub>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2</m:t>
                              </m:r>
                            </m:sub>
                          </m:sSub>
                          <m:sSub>
                            <m:sSubPr>
                              <m:ctrlPr>
                                <a:rPr lang="en-US" sz="2400" i="1">
                                  <a:latin typeface="Cambria Math" panose="02040503050406030204" pitchFamily="18" charset="0"/>
                                </a:rPr>
                              </m:ctrlPr>
                            </m:sSubPr>
                            <m:e>
                              <m:r>
                                <a:rPr lang="en-US" sz="2400" i="1">
                                  <a:latin typeface="Cambria Math" panose="02040503050406030204" pitchFamily="18" charset="0"/>
                                </a:rPr>
                                <m:t>𝐶</m:t>
                              </m:r>
                            </m:e>
                            <m:sub>
                              <m:r>
                                <a:rPr lang="en-US" sz="2400" b="0" i="1" smtClean="0">
                                  <a:latin typeface="Cambria Math" panose="02040503050406030204" pitchFamily="18" charset="0"/>
                                </a:rPr>
                                <m:t>1</m:t>
                              </m:r>
                            </m:sub>
                          </m:sSub>
                        </m:num>
                        <m:den>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b="0" i="1" smtClean="0">
                                  <a:latin typeface="Cambria Math" panose="02040503050406030204" pitchFamily="18" charset="0"/>
                                </a:rPr>
                                <m:t>3</m:t>
                              </m:r>
                            </m:sub>
                          </m:sSub>
                        </m:den>
                      </m:f>
                    </m:oMath>
                  </m:oMathPara>
                </a14:m>
                <a:endParaRPr lang="en-US" sz="2400" dirty="0"/>
              </a:p>
            </p:txBody>
          </p:sp>
        </mc:Choice>
        <mc:Fallback xmlns="">
          <p:sp>
            <p:nvSpPr>
              <p:cNvPr id="14" name="Rectangle 13"/>
              <p:cNvSpPr>
                <a:spLocks noRot="1" noChangeAspect="1" noMove="1" noResize="1" noEditPoints="1" noAdjustHandles="1" noChangeArrowheads="1" noChangeShapeType="1" noTextEdit="1"/>
              </p:cNvSpPr>
              <p:nvPr/>
            </p:nvSpPr>
            <p:spPr>
              <a:xfrm>
                <a:off x="6939666" y="5554158"/>
                <a:ext cx="1975734" cy="846642"/>
              </a:xfrm>
              <a:prstGeom prst="rect">
                <a:avLst/>
              </a:prstGeom>
              <a:blipFill rotWithShape="0">
                <a:blip r:embed="rId9"/>
                <a:stretch>
                  <a:fillRect/>
                </a:stretch>
              </a:blipFill>
            </p:spPr>
            <p:txBody>
              <a:bodyPr/>
              <a:lstStyle/>
              <a:p>
                <a:r>
                  <a:rPr lang="en-US">
                    <a:noFill/>
                  </a:rPr>
                  <a:t> </a:t>
                </a:r>
              </a:p>
            </p:txBody>
          </p:sp>
        </mc:Fallback>
      </mc:AlternateContent>
      <p:sp>
        <p:nvSpPr>
          <p:cNvPr id="3" name="Slide Number Placeholder 2"/>
          <p:cNvSpPr>
            <a:spLocks noGrp="1"/>
          </p:cNvSpPr>
          <p:nvPr>
            <p:ph type="sldNum" sz="quarter" idx="12"/>
          </p:nvPr>
        </p:nvSpPr>
        <p:spPr/>
        <p:txBody>
          <a:bodyPr/>
          <a:lstStyle/>
          <a:p>
            <a:fld id="{7A0D5CAB-8BF0-4EA3-BAE4-9835C852A49B}" type="slidenum">
              <a:rPr lang="en-GB" smtClean="0"/>
              <a:pPr/>
              <a:t>45</a:t>
            </a:fld>
            <a:endParaRPr lang="en-GB" dirty="0"/>
          </a:p>
        </p:txBody>
      </p:sp>
    </p:spTree>
    <p:extLst>
      <p:ext uri="{BB962C8B-B14F-4D97-AF65-F5344CB8AC3E}">
        <p14:creationId xmlns:p14="http://schemas.microsoft.com/office/powerpoint/2010/main" val="276990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9" grpId="0" animBg="1"/>
      <p:bldP spid="10" grpId="0" animBg="1"/>
      <p:bldP spid="11" grpId="0"/>
      <p:bldP spid="12" grpId="0" animBg="1"/>
      <p:bldP spid="13" grpId="0" animBg="1"/>
      <p:bldP spid="14" grpId="0" animBg="1"/>
    </p:bldLst>
  </p:timing>
</p:sld>
</file>

<file path=ppt/theme/theme1.xml><?xml version="1.0" encoding="utf-8"?>
<a:theme xmlns:a="http://schemas.openxmlformats.org/drawingml/2006/main" name="lecture 11 Introduction to Compensatio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lecture 11 Introduction to Compensation</Template>
  <TotalTime>1039</TotalTime>
  <Words>2077</Words>
  <Application>Microsoft Office PowerPoint</Application>
  <PresentationFormat>On-screen Show (4:3)</PresentationFormat>
  <Paragraphs>421</Paragraphs>
  <Slides>45</Slides>
  <Notes>16</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45</vt:i4>
      </vt:variant>
    </vt:vector>
  </HeadingPairs>
  <TitlesOfParts>
    <vt:vector size="52" baseType="lpstr">
      <vt:lpstr>Arial</vt:lpstr>
      <vt:lpstr>Calibri</vt:lpstr>
      <vt:lpstr>Cambria Math</vt:lpstr>
      <vt:lpstr>Times New Roman</vt:lpstr>
      <vt:lpstr>Wingdings</vt:lpstr>
      <vt:lpstr>lecture 11 Introduction to Compensation</vt:lpstr>
      <vt:lpstr>Equation</vt:lpstr>
      <vt:lpstr>Modern Control Systems (MCS)</vt:lpstr>
      <vt:lpstr>Lecture Outline</vt:lpstr>
      <vt:lpstr>Introduction</vt:lpstr>
      <vt:lpstr>Introduction</vt:lpstr>
      <vt:lpstr>Introduction</vt:lpstr>
      <vt:lpstr>Four Modes of Controllers</vt:lpstr>
      <vt:lpstr>On-Off Control</vt:lpstr>
      <vt:lpstr>Proportional Control (P)</vt:lpstr>
      <vt:lpstr>Proportional Controllers (P)</vt:lpstr>
      <vt:lpstr>Proportional Plus Integral Controllers (PI)</vt:lpstr>
      <vt:lpstr>Proportional Plus Integral Controllers (PI)</vt:lpstr>
      <vt:lpstr>Proportional Plus Integral Control (PI)</vt:lpstr>
      <vt:lpstr>Proportional Plus Integral Control (PI)</vt:lpstr>
      <vt:lpstr>Proportional Plus derivative Control (PD)</vt:lpstr>
      <vt:lpstr>Proportional Plus derivative Control (PD)</vt:lpstr>
      <vt:lpstr>Proportional Plus derivative Control (PD)</vt:lpstr>
      <vt:lpstr>Proportional Plus derivative Control (PD)</vt:lpstr>
      <vt:lpstr>Proportional Plus Integral Plus Derivative Control (PID)</vt:lpstr>
      <vt:lpstr>Proportional Plus Integral Plus Derivative Control (PID)</vt:lpstr>
      <vt:lpstr>Proportional Plus Integral Plus Derivative Control (PID)</vt:lpstr>
      <vt:lpstr>The Characteristics of P, I, and D controllers </vt:lpstr>
      <vt:lpstr>PowerPoint Presentation</vt:lpstr>
      <vt:lpstr>PID Tuning Rules</vt:lpstr>
      <vt:lpstr>PID Tuning</vt:lpstr>
      <vt:lpstr>PID Tuning</vt:lpstr>
      <vt:lpstr>PID Tuning</vt:lpstr>
      <vt:lpstr>Zeigler-Nichol’s PID Tuning Methods</vt:lpstr>
      <vt:lpstr>Zeigler-Nichol’s First Method</vt:lpstr>
      <vt:lpstr>Zeigler-Nichol’s First Method</vt:lpstr>
      <vt:lpstr>Zeigler-Nichol’s Second Method</vt:lpstr>
      <vt:lpstr>Zeigler-Nichol’s Second Method</vt:lpstr>
      <vt:lpstr>Example-1</vt:lpstr>
      <vt:lpstr>Example-1</vt:lpstr>
      <vt:lpstr>Example-1</vt:lpstr>
      <vt:lpstr>Example-2</vt:lpstr>
      <vt:lpstr>Example-2</vt:lpstr>
      <vt:lpstr>Example-2</vt:lpstr>
      <vt:lpstr>Example-2</vt:lpstr>
      <vt:lpstr>Example-2</vt:lpstr>
      <vt:lpstr>Example-2</vt:lpstr>
      <vt:lpstr>Example-2</vt:lpstr>
      <vt:lpstr>Example-2</vt:lpstr>
      <vt:lpstr>Electronic PID Controller</vt:lpstr>
      <vt:lpstr>Electronic PID Controller</vt:lpstr>
      <vt:lpstr>Electronic PID Controller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Modern Control Systems (MCS)</dc:title>
  <dc:creator>MUET</dc:creator>
  <cp:lastModifiedBy>ayeshaz.rao@gmail.com</cp:lastModifiedBy>
  <cp:revision>317</cp:revision>
  <dcterms:created xsi:type="dcterms:W3CDTF">2013-08-29T17:00:39Z</dcterms:created>
  <dcterms:modified xsi:type="dcterms:W3CDTF">2025-11-07T09:33:19Z</dcterms:modified>
</cp:coreProperties>
</file>