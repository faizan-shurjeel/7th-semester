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83"/>
  </p:notesMasterIdLst>
  <p:handoutMasterIdLst>
    <p:handoutMasterId r:id="rId84"/>
  </p:handoutMasterIdLst>
  <p:sldIdLst>
    <p:sldId id="468" r:id="rId2"/>
    <p:sldId id="397" r:id="rId3"/>
    <p:sldId id="391" r:id="rId4"/>
    <p:sldId id="393" r:id="rId5"/>
    <p:sldId id="394" r:id="rId6"/>
    <p:sldId id="395" r:id="rId7"/>
    <p:sldId id="396" r:id="rId8"/>
    <p:sldId id="398" r:id="rId9"/>
    <p:sldId id="399" r:id="rId10"/>
    <p:sldId id="400" r:id="rId11"/>
    <p:sldId id="401" r:id="rId12"/>
    <p:sldId id="402" r:id="rId13"/>
    <p:sldId id="403" r:id="rId14"/>
    <p:sldId id="473" r:id="rId15"/>
    <p:sldId id="474" r:id="rId16"/>
    <p:sldId id="475" r:id="rId17"/>
    <p:sldId id="476" r:id="rId18"/>
    <p:sldId id="477" r:id="rId19"/>
    <p:sldId id="478" r:id="rId20"/>
    <p:sldId id="479" r:id="rId21"/>
    <p:sldId id="480" r:id="rId22"/>
    <p:sldId id="481" r:id="rId23"/>
    <p:sldId id="482" r:id="rId24"/>
    <p:sldId id="483" r:id="rId25"/>
    <p:sldId id="484" r:id="rId26"/>
    <p:sldId id="485" r:id="rId27"/>
    <p:sldId id="487" r:id="rId28"/>
    <p:sldId id="488" r:id="rId29"/>
    <p:sldId id="489" r:id="rId30"/>
    <p:sldId id="490" r:id="rId31"/>
    <p:sldId id="491" r:id="rId32"/>
    <p:sldId id="492" r:id="rId33"/>
    <p:sldId id="493" r:id="rId34"/>
    <p:sldId id="494" r:id="rId35"/>
    <p:sldId id="495" r:id="rId36"/>
    <p:sldId id="496" r:id="rId37"/>
    <p:sldId id="497" r:id="rId38"/>
    <p:sldId id="498" r:id="rId39"/>
    <p:sldId id="499" r:id="rId40"/>
    <p:sldId id="500" r:id="rId41"/>
    <p:sldId id="501" r:id="rId42"/>
    <p:sldId id="502" r:id="rId43"/>
    <p:sldId id="503" r:id="rId44"/>
    <p:sldId id="504" r:id="rId45"/>
    <p:sldId id="505" r:id="rId46"/>
    <p:sldId id="506" r:id="rId47"/>
    <p:sldId id="507" r:id="rId48"/>
    <p:sldId id="508" r:id="rId49"/>
    <p:sldId id="509" r:id="rId50"/>
    <p:sldId id="510" r:id="rId51"/>
    <p:sldId id="511" r:id="rId52"/>
    <p:sldId id="512" r:id="rId53"/>
    <p:sldId id="513" r:id="rId54"/>
    <p:sldId id="514" r:id="rId55"/>
    <p:sldId id="515" r:id="rId56"/>
    <p:sldId id="516" r:id="rId57"/>
    <p:sldId id="517" r:id="rId58"/>
    <p:sldId id="518" r:id="rId59"/>
    <p:sldId id="519" r:id="rId60"/>
    <p:sldId id="520" r:id="rId61"/>
    <p:sldId id="521" r:id="rId62"/>
    <p:sldId id="522" r:id="rId63"/>
    <p:sldId id="523" r:id="rId64"/>
    <p:sldId id="524" r:id="rId65"/>
    <p:sldId id="525" r:id="rId66"/>
    <p:sldId id="526" r:id="rId67"/>
    <p:sldId id="527" r:id="rId68"/>
    <p:sldId id="528" r:id="rId69"/>
    <p:sldId id="529" r:id="rId70"/>
    <p:sldId id="530" r:id="rId71"/>
    <p:sldId id="531" r:id="rId72"/>
    <p:sldId id="532" r:id="rId73"/>
    <p:sldId id="533" r:id="rId74"/>
    <p:sldId id="534" r:id="rId75"/>
    <p:sldId id="542" r:id="rId76"/>
    <p:sldId id="536" r:id="rId77"/>
    <p:sldId id="537" r:id="rId78"/>
    <p:sldId id="538" r:id="rId79"/>
    <p:sldId id="539" r:id="rId80"/>
    <p:sldId id="540" r:id="rId81"/>
    <p:sldId id="541" r:id="rId82"/>
  </p:sldIdLst>
  <p:sldSz cx="9144000" cy="6858000" type="screen4x3"/>
  <p:notesSz cx="7053263" cy="93091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1EC8B"/>
    <a:srgbClr val="996600"/>
    <a:srgbClr val="568424"/>
    <a:srgbClr val="6BA42C"/>
    <a:srgbClr val="00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1416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76" Type="http://schemas.openxmlformats.org/officeDocument/2006/relationships/slide" Target="slides/slide75.xml"/><Relationship Id="rId84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87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notesMaster" Target="notesMasters/notesMaster1.xml"/><Relationship Id="rId88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image" Target="../media/image2.wmf"/><Relationship Id="rId1" Type="http://schemas.openxmlformats.org/officeDocument/2006/relationships/image" Target="../media/image1.wmf"/><Relationship Id="rId5" Type="http://schemas.openxmlformats.org/officeDocument/2006/relationships/image" Target="../media/image5.wmf"/><Relationship Id="rId4" Type="http://schemas.openxmlformats.org/officeDocument/2006/relationships/image" Target="../media/image4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wmf"/></Relationships>
</file>

<file path=ppt/drawings/_rels/vmlDrawing6.vml.rels><?xml version="1.0" encoding="UTF-8" standalone="yes"?>
<Relationships xmlns="http://schemas.openxmlformats.org/package/2006/relationships"><Relationship Id="rId2" Type="http://schemas.openxmlformats.org/officeDocument/2006/relationships/image" Target="../media/image14.wmf"/><Relationship Id="rId1" Type="http://schemas.openxmlformats.org/officeDocument/2006/relationships/image" Target="../media/image13.wmf"/></Relationships>
</file>

<file path=ppt/drawings/_rels/vmlDrawing7.vml.rels><?xml version="1.0" encoding="UTF-8" standalone="yes"?>
<Relationships xmlns="http://schemas.openxmlformats.org/package/2006/relationships"><Relationship Id="rId2" Type="http://schemas.openxmlformats.org/officeDocument/2006/relationships/image" Target="../media/image16.wmf"/><Relationship Id="rId1" Type="http://schemas.openxmlformats.org/officeDocument/2006/relationships/image" Target="../media/image15.wmf"/></Relationships>
</file>

<file path=ppt/drawings/_rels/vmlDrawing8.vml.rels><?xml version="1.0" encoding="UTF-8" standalone="yes"?>
<Relationships xmlns="http://schemas.openxmlformats.org/package/2006/relationships"><Relationship Id="rId2" Type="http://schemas.openxmlformats.org/officeDocument/2006/relationships/image" Target="../media/image18.wmf"/><Relationship Id="rId1" Type="http://schemas.openxmlformats.org/officeDocument/2006/relationships/image" Target="../media/image17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56414" cy="465455"/>
          </a:xfrm>
          <a:prstGeom prst="rect">
            <a:avLst/>
          </a:prstGeom>
        </p:spPr>
        <p:txBody>
          <a:bodyPr vert="horz" lIns="93497" tIns="46749" rIns="93497" bIns="46749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95217" y="0"/>
            <a:ext cx="3056414" cy="465455"/>
          </a:xfrm>
          <a:prstGeom prst="rect">
            <a:avLst/>
          </a:prstGeom>
        </p:spPr>
        <p:txBody>
          <a:bodyPr vert="horz" lIns="93497" tIns="46749" rIns="93497" bIns="46749" rtlCol="0"/>
          <a:lstStyle>
            <a:lvl1pPr algn="r">
              <a:defRPr sz="1200"/>
            </a:lvl1pPr>
          </a:lstStyle>
          <a:p>
            <a:fld id="{0A275CD0-BF64-4EDA-A390-EA27F5FF7906}" type="datetimeFigureOut">
              <a:rPr lang="en-GB" smtClean="0"/>
              <a:pPr/>
              <a:t>01/12/2019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42029"/>
            <a:ext cx="3056414" cy="465455"/>
          </a:xfrm>
          <a:prstGeom prst="rect">
            <a:avLst/>
          </a:prstGeom>
        </p:spPr>
        <p:txBody>
          <a:bodyPr vert="horz" lIns="93497" tIns="46749" rIns="93497" bIns="46749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95217" y="8842029"/>
            <a:ext cx="3056414" cy="465455"/>
          </a:xfrm>
          <a:prstGeom prst="rect">
            <a:avLst/>
          </a:prstGeom>
        </p:spPr>
        <p:txBody>
          <a:bodyPr vert="horz" lIns="93497" tIns="46749" rIns="93497" bIns="46749" rtlCol="0" anchor="b"/>
          <a:lstStyle>
            <a:lvl1pPr algn="r">
              <a:defRPr sz="1200"/>
            </a:lvl1pPr>
          </a:lstStyle>
          <a:p>
            <a:fld id="{116C7654-C7C7-4BC9-B3D0-68A06137D36C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2683000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56414" cy="465455"/>
          </a:xfrm>
          <a:prstGeom prst="rect">
            <a:avLst/>
          </a:prstGeom>
        </p:spPr>
        <p:txBody>
          <a:bodyPr vert="horz" lIns="93497" tIns="46749" rIns="93497" bIns="4674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95217" y="0"/>
            <a:ext cx="3056414" cy="465455"/>
          </a:xfrm>
          <a:prstGeom prst="rect">
            <a:avLst/>
          </a:prstGeom>
        </p:spPr>
        <p:txBody>
          <a:bodyPr vert="horz" lIns="93497" tIns="46749" rIns="93497" bIns="46749" rtlCol="0"/>
          <a:lstStyle>
            <a:lvl1pPr algn="r">
              <a:defRPr sz="1200"/>
            </a:lvl1pPr>
          </a:lstStyle>
          <a:p>
            <a:fld id="{5826B1A4-3534-4875-B1CA-60596223E4A6}" type="datetimeFigureOut">
              <a:rPr lang="en-US" smtClean="0"/>
              <a:pPr/>
              <a:t>12/1/2019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698500"/>
            <a:ext cx="4654550" cy="34909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497" tIns="46749" rIns="93497" bIns="4674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5327" y="4421823"/>
            <a:ext cx="5642610" cy="4189095"/>
          </a:xfrm>
          <a:prstGeom prst="rect">
            <a:avLst/>
          </a:prstGeom>
        </p:spPr>
        <p:txBody>
          <a:bodyPr vert="horz" lIns="93497" tIns="46749" rIns="93497" bIns="46749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42029"/>
            <a:ext cx="3056414" cy="465455"/>
          </a:xfrm>
          <a:prstGeom prst="rect">
            <a:avLst/>
          </a:prstGeom>
        </p:spPr>
        <p:txBody>
          <a:bodyPr vert="horz" lIns="93497" tIns="46749" rIns="93497" bIns="4674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95217" y="8842029"/>
            <a:ext cx="3056414" cy="465455"/>
          </a:xfrm>
          <a:prstGeom prst="rect">
            <a:avLst/>
          </a:prstGeom>
        </p:spPr>
        <p:txBody>
          <a:bodyPr vert="horz" lIns="93497" tIns="46749" rIns="93497" bIns="46749" rtlCol="0" anchor="b"/>
          <a:lstStyle>
            <a:lvl1pPr algn="r">
              <a:defRPr sz="1200"/>
            </a:lvl1pPr>
          </a:lstStyle>
          <a:p>
            <a:fld id="{12E5BD45-B5A0-4654-B232-F8508C108E1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81794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E5BD45-B5A0-4654-B232-F8508C108E19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11028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4B2AA-1B5A-4DC9-8C33-192C3B350BED}" type="datetimeFigureOut">
              <a:rPr lang="en-GB" smtClean="0"/>
              <a:pPr/>
              <a:t>01/12/2019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D5CAB-8BF0-4EA3-BAE4-9835C852A49B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4B2AA-1B5A-4DC9-8C33-192C3B350BED}" type="datetimeFigureOut">
              <a:rPr lang="en-GB" smtClean="0"/>
              <a:pPr/>
              <a:t>01/12/2019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D5CAB-8BF0-4EA3-BAE4-9835C852A49B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4B2AA-1B5A-4DC9-8C33-192C3B350BED}" type="datetimeFigureOut">
              <a:rPr lang="en-GB" smtClean="0"/>
              <a:pPr/>
              <a:t>01/12/2019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D5CAB-8BF0-4EA3-BAE4-9835C852A49B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4B2AA-1B5A-4DC9-8C33-192C3B350BED}" type="datetimeFigureOut">
              <a:rPr lang="en-GB" smtClean="0"/>
              <a:pPr/>
              <a:t>01/12/2019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D5CAB-8BF0-4EA3-BAE4-9835C852A49B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4B2AA-1B5A-4DC9-8C33-192C3B350BED}" type="datetimeFigureOut">
              <a:rPr lang="en-GB" smtClean="0"/>
              <a:pPr/>
              <a:t>01/12/2019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D5CAB-8BF0-4EA3-BAE4-9835C852A49B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4B2AA-1B5A-4DC9-8C33-192C3B350BED}" type="datetimeFigureOut">
              <a:rPr lang="en-GB" smtClean="0"/>
              <a:pPr/>
              <a:t>01/12/2019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D5CAB-8BF0-4EA3-BAE4-9835C852A49B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4B2AA-1B5A-4DC9-8C33-192C3B350BED}" type="datetimeFigureOut">
              <a:rPr lang="en-GB" smtClean="0"/>
              <a:pPr/>
              <a:t>01/12/2019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D5CAB-8BF0-4EA3-BAE4-9835C852A49B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4B2AA-1B5A-4DC9-8C33-192C3B350BED}" type="datetimeFigureOut">
              <a:rPr lang="en-GB" smtClean="0"/>
              <a:pPr/>
              <a:t>01/12/2019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D5CAB-8BF0-4EA3-BAE4-9835C852A49B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4B2AA-1B5A-4DC9-8C33-192C3B350BED}" type="datetimeFigureOut">
              <a:rPr lang="en-GB" smtClean="0"/>
              <a:pPr/>
              <a:t>01/12/2019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D5CAB-8BF0-4EA3-BAE4-9835C852A49B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4B2AA-1B5A-4DC9-8C33-192C3B350BED}" type="datetimeFigureOut">
              <a:rPr lang="en-GB" smtClean="0"/>
              <a:pPr/>
              <a:t>01/12/2019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D5CAB-8BF0-4EA3-BAE4-9835C852A49B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4B2AA-1B5A-4DC9-8C33-192C3B350BED}" type="datetimeFigureOut">
              <a:rPr lang="en-GB" smtClean="0"/>
              <a:pPr/>
              <a:t>01/12/2019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D5CAB-8BF0-4EA3-BAE4-9835C852A49B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54B2AA-1B5A-4DC9-8C33-192C3B350BED}" type="datetimeFigureOut">
              <a:rPr lang="en-GB" smtClean="0"/>
              <a:pPr/>
              <a:t>01/12/2019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0D5CAB-8BF0-4EA3-BAE4-9835C852A49B}" type="slidenum">
              <a:rPr lang="en-GB" smtClean="0"/>
              <a:pPr/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.bin"/><Relationship Id="rId13" Type="http://schemas.openxmlformats.org/officeDocument/2006/relationships/image" Target="../media/image5.wmf"/><Relationship Id="rId3" Type="http://schemas.openxmlformats.org/officeDocument/2006/relationships/oleObject" Target="../embeddings/oleObject1.bin"/><Relationship Id="rId7" Type="http://schemas.openxmlformats.org/officeDocument/2006/relationships/image" Target="../media/image2.wmf"/><Relationship Id="rId12" Type="http://schemas.openxmlformats.org/officeDocument/2006/relationships/oleObject" Target="../embeddings/oleObject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2.bin"/><Relationship Id="rId11" Type="http://schemas.openxmlformats.org/officeDocument/2006/relationships/image" Target="../media/image4.wmf"/><Relationship Id="rId5" Type="http://schemas.openxmlformats.org/officeDocument/2006/relationships/image" Target="../media/image6.png"/><Relationship Id="rId10" Type="http://schemas.openxmlformats.org/officeDocument/2006/relationships/oleObject" Target="../embeddings/oleObject4.bin"/><Relationship Id="rId4" Type="http://schemas.openxmlformats.org/officeDocument/2006/relationships/image" Target="../media/image1.wmf"/><Relationship Id="rId9" Type="http://schemas.openxmlformats.org/officeDocument/2006/relationships/image" Target="../media/image3.w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8.emf"/><Relationship Id="rId4" Type="http://schemas.openxmlformats.org/officeDocument/2006/relationships/image" Target="../media/image7.wmf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7.w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4" Type="http://schemas.openxmlformats.org/officeDocument/2006/relationships/image" Target="../media/image9.wmf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5" Type="http://schemas.openxmlformats.org/officeDocument/2006/relationships/image" Target="../media/image11.wmf"/><Relationship Id="rId4" Type="http://schemas.openxmlformats.org/officeDocument/2006/relationships/oleObject" Target="../embeddings/oleObject9.bin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14.wmf"/><Relationship Id="rId5" Type="http://schemas.openxmlformats.org/officeDocument/2006/relationships/oleObject" Target="../embeddings/oleObject11.bin"/><Relationship Id="rId4" Type="http://schemas.openxmlformats.org/officeDocument/2006/relationships/image" Target="../media/image13.w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16.wmf"/><Relationship Id="rId5" Type="http://schemas.openxmlformats.org/officeDocument/2006/relationships/oleObject" Target="../embeddings/oleObject13.bin"/><Relationship Id="rId4" Type="http://schemas.openxmlformats.org/officeDocument/2006/relationships/image" Target="../media/image15.w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Relationship Id="rId6" Type="http://schemas.openxmlformats.org/officeDocument/2006/relationships/image" Target="../media/image18.wmf"/><Relationship Id="rId5" Type="http://schemas.openxmlformats.org/officeDocument/2006/relationships/oleObject" Target="../embeddings/oleObject15.bin"/><Relationship Id="rId4" Type="http://schemas.openxmlformats.org/officeDocument/2006/relationships/image" Target="../media/image17.wm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emf"/><Relationship Id="rId2" Type="http://schemas.openxmlformats.org/officeDocument/2006/relationships/image" Target="../media/image19.emf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emf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emf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emf"/><Relationship Id="rId2" Type="http://schemas.openxmlformats.org/officeDocument/2006/relationships/image" Target="../media/image24.emf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emf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emf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emf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emf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emf"/><Relationship Id="rId2" Type="http://schemas.openxmlformats.org/officeDocument/2006/relationships/image" Target="../media/image30.emf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emf"/><Relationship Id="rId2" Type="http://schemas.openxmlformats.org/officeDocument/2006/relationships/image" Target="../media/image32.emf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emf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emf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emf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emf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emf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emf"/><Relationship Id="rId2" Type="http://schemas.openxmlformats.org/officeDocument/2006/relationships/image" Target="../media/image74.emf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.emf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emf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emf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emf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emf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.emf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emf"/><Relationship Id="rId2" Type="http://schemas.openxmlformats.org/officeDocument/2006/relationships/image" Target="../media/image82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4.emf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5.emf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6.emf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7.emf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emf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1.emf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2.png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3.emf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Root Locus, Compensators, PID design, Bode Plot</a:t>
            </a:r>
          </a:p>
        </p:txBody>
      </p:sp>
    </p:spTree>
    <p:extLst>
      <p:ext uri="{BB962C8B-B14F-4D97-AF65-F5344CB8AC3E}">
        <p14:creationId xmlns:p14="http://schemas.microsoft.com/office/powerpoint/2010/main" val="17318281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  <a:p>
            <a:r>
              <a:rPr lang="en-US" dirty="0"/>
              <a:t>Angle and Magnitude Condition</a:t>
            </a:r>
          </a:p>
          <a:p>
            <a:r>
              <a:rPr lang="en-US" dirty="0"/>
              <a:t>Construction of Root Loci</a:t>
            </a:r>
          </a:p>
          <a:p>
            <a:r>
              <a:rPr lang="en-US" dirty="0"/>
              <a:t>Examples</a:t>
            </a:r>
          </a:p>
        </p:txBody>
      </p:sp>
    </p:spTree>
    <p:extLst>
      <p:ext uri="{BB962C8B-B14F-4D97-AF65-F5344CB8AC3E}">
        <p14:creationId xmlns:p14="http://schemas.microsoft.com/office/powerpoint/2010/main" val="13195584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6632"/>
            <a:ext cx="8229600" cy="922114"/>
          </a:xfrm>
        </p:spPr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-36512" y="1124744"/>
            <a:ext cx="9108504" cy="5616624"/>
          </a:xfrm>
        </p:spPr>
        <p:txBody>
          <a:bodyPr>
            <a:normAutofit/>
          </a:bodyPr>
          <a:lstStyle/>
          <a:p>
            <a:pPr algn="just"/>
            <a:r>
              <a:rPr lang="en-US" dirty="0"/>
              <a:t>Consider a unity feedback control system shown below.</a:t>
            </a:r>
          </a:p>
          <a:p>
            <a:pPr algn="just"/>
            <a:endParaRPr lang="en-US" dirty="0"/>
          </a:p>
          <a:p>
            <a:pPr algn="just"/>
            <a:endParaRPr lang="en-US" dirty="0"/>
          </a:p>
          <a:p>
            <a:pPr algn="just"/>
            <a:endParaRPr lang="en-US" dirty="0"/>
          </a:p>
          <a:p>
            <a:pPr algn="just"/>
            <a:r>
              <a:rPr lang="en-US" dirty="0"/>
              <a:t>The open loop transfer function </a:t>
            </a:r>
            <a:r>
              <a:rPr lang="en-US" i="1" dirty="0">
                <a:solidFill>
                  <a:srgbClr val="FF0000"/>
                </a:solidFill>
              </a:rPr>
              <a:t>G(s)</a:t>
            </a:r>
            <a:r>
              <a:rPr lang="en-US" dirty="0"/>
              <a:t> of the system is </a:t>
            </a:r>
          </a:p>
          <a:p>
            <a:pPr algn="just"/>
            <a:endParaRPr lang="en-US" sz="1400" dirty="0"/>
          </a:p>
          <a:p>
            <a:pPr algn="just"/>
            <a:r>
              <a:rPr lang="en-US" dirty="0"/>
              <a:t>And the closed transfer function is </a:t>
            </a:r>
          </a:p>
          <a:p>
            <a:pPr algn="just"/>
            <a:endParaRPr lang="en-US" dirty="0"/>
          </a:p>
        </p:txBody>
      </p:sp>
      <p:graphicFrame>
        <p:nvGraphicFramePr>
          <p:cNvPr id="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15522907"/>
              </p:ext>
            </p:extLst>
          </p:nvPr>
        </p:nvGraphicFramePr>
        <p:xfrm>
          <a:off x="3137321" y="5867400"/>
          <a:ext cx="3644479" cy="90515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262" name="Equation" r:id="rId3" imgW="1688760" imgH="419040" progId="Equation.3">
                  <p:embed/>
                </p:oleObj>
              </mc:Choice>
              <mc:Fallback>
                <p:oleObj name="Equation" r:id="rId3" imgW="1688760" imgH="4190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37321" y="5867400"/>
                        <a:ext cx="3644479" cy="90515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0" name="Group 9"/>
          <p:cNvGrpSpPr/>
          <p:nvPr/>
        </p:nvGrpSpPr>
        <p:grpSpPr>
          <a:xfrm>
            <a:off x="1905000" y="2057400"/>
            <a:ext cx="5829300" cy="1752600"/>
            <a:chOff x="1509128" y="2204864"/>
            <a:chExt cx="6225172" cy="1958235"/>
          </a:xfrm>
        </p:grpSpPr>
        <p:grpSp>
          <p:nvGrpSpPr>
            <p:cNvPr id="7" name="Group 6"/>
            <p:cNvGrpSpPr/>
            <p:nvPr/>
          </p:nvGrpSpPr>
          <p:grpSpPr>
            <a:xfrm>
              <a:off x="2150594" y="2204864"/>
              <a:ext cx="4928592" cy="1958235"/>
              <a:chOff x="2123728" y="2407327"/>
              <a:chExt cx="4928592" cy="1958235"/>
            </a:xfrm>
          </p:grpSpPr>
          <p:pic>
            <p:nvPicPr>
              <p:cNvPr id="4" name="Picture 2"/>
              <p:cNvPicPr>
                <a:picLocks noChangeAspect="1" noChangeArrowheads="1"/>
              </p:cNvPicPr>
              <p:nvPr/>
            </p:nvPicPr>
            <p:blipFill>
              <a:blip r:embed="rId5" cstate="print"/>
              <a:srcRect/>
              <a:stretch>
                <a:fillRect/>
              </a:stretch>
            </p:blipFill>
            <p:spPr bwMode="auto">
              <a:xfrm>
                <a:off x="2123728" y="2407327"/>
                <a:ext cx="4928592" cy="195823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graphicFrame>
            <p:nvGraphicFramePr>
              <p:cNvPr id="6" name="Object 5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4111681989"/>
                  </p:ext>
                </p:extLst>
              </p:nvPr>
            </p:nvGraphicFramePr>
            <p:xfrm>
              <a:off x="4442732" y="2541298"/>
              <a:ext cx="705147" cy="77318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98263" name="Equation" r:id="rId6" imgW="317160" imgH="393480" progId="Equation.3">
                      <p:embed/>
                    </p:oleObj>
                  </mc:Choice>
                  <mc:Fallback>
                    <p:oleObj name="Equation" r:id="rId6" imgW="317160" imgH="393480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7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442732" y="2541298"/>
                            <a:ext cx="705147" cy="773182"/>
                          </a:xfrm>
                          <a:prstGeom prst="rect">
                            <a:avLst/>
                          </a:prstGeom>
                          <a:solidFill>
                            <a:schemeClr val="bg1"/>
                          </a:solidFill>
                          <a:ln>
                            <a:noFill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aphicFrame>
          <p:nvGraphicFramePr>
            <p:cNvPr id="8" name="Object 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731011896"/>
                </p:ext>
              </p:extLst>
            </p:nvPr>
          </p:nvGraphicFramePr>
          <p:xfrm>
            <a:off x="1509128" y="2514923"/>
            <a:ext cx="641466" cy="41002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8264" name="Equation" r:id="rId8" imgW="317160" imgH="203040" progId="Equation.3">
                    <p:embed/>
                  </p:oleObj>
                </mc:Choice>
                <mc:Fallback>
                  <p:oleObj name="Equation" r:id="rId8" imgW="317160" imgH="20304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09128" y="2514923"/>
                          <a:ext cx="641466" cy="41002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" name="Object 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937002472"/>
                </p:ext>
              </p:extLst>
            </p:nvPr>
          </p:nvGraphicFramePr>
          <p:xfrm>
            <a:off x="7065963" y="2513781"/>
            <a:ext cx="668337" cy="4111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8265" name="Equation" r:id="rId10" imgW="330120" imgH="203040" progId="Equation.3">
                    <p:embed/>
                  </p:oleObj>
                </mc:Choice>
                <mc:Fallback>
                  <p:oleObj name="Equation" r:id="rId10" imgW="330120" imgH="20304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065963" y="2513781"/>
                          <a:ext cx="668337" cy="41116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1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88877169"/>
              </p:ext>
            </p:extLst>
          </p:nvPr>
        </p:nvGraphicFramePr>
        <p:xfrm>
          <a:off x="769761" y="4437112"/>
          <a:ext cx="1380833" cy="71469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266" name="Equation" r:id="rId12" imgW="761760" imgH="393480" progId="Equation.3">
                  <p:embed/>
                </p:oleObj>
              </mc:Choice>
              <mc:Fallback>
                <p:oleObj name="Equation" r:id="rId12" imgW="761760" imgH="393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9761" y="4437112"/>
                        <a:ext cx="1380833" cy="71469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1559817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6632"/>
            <a:ext cx="8229600" cy="922114"/>
          </a:xfrm>
        </p:spPr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-36512" y="1124744"/>
            <a:ext cx="9108504" cy="5616624"/>
          </a:xfrm>
        </p:spPr>
        <p:txBody>
          <a:bodyPr>
            <a:normAutofit/>
          </a:bodyPr>
          <a:lstStyle/>
          <a:p>
            <a:pPr algn="just"/>
            <a:r>
              <a:rPr lang="en-US" dirty="0"/>
              <a:t>Location of closed loop Pole for different values of K (remember K&gt;0). </a:t>
            </a:r>
          </a:p>
          <a:p>
            <a:pPr algn="just"/>
            <a:endParaRPr lang="en-US" dirty="0"/>
          </a:p>
        </p:txBody>
      </p:sp>
      <p:graphicFrame>
        <p:nvGraphicFramePr>
          <p:cNvPr id="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27142609"/>
              </p:ext>
            </p:extLst>
          </p:nvPr>
        </p:nvGraphicFramePr>
        <p:xfrm>
          <a:off x="3707904" y="1916832"/>
          <a:ext cx="2247900" cy="904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9675" name="Equation" r:id="rId3" imgW="1041120" imgH="419040" progId="Equation.3">
                  <p:embed/>
                </p:oleObj>
              </mc:Choice>
              <mc:Fallback>
                <p:oleObj name="Equation" r:id="rId3" imgW="1041120" imgH="4190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07904" y="1916832"/>
                        <a:ext cx="2247900" cy="90487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5227859"/>
              </p:ext>
            </p:extLst>
          </p:nvPr>
        </p:nvGraphicFramePr>
        <p:xfrm>
          <a:off x="539552" y="2780928"/>
          <a:ext cx="1944216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60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681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Pole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0033CC"/>
                          </a:solidFill>
                        </a:rPr>
                        <a:t>0.5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0033CC"/>
                          </a:solidFill>
                        </a:rPr>
                        <a:t>-1.5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568424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568424"/>
                          </a:solidFill>
                        </a:rPr>
                        <a:t>-2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C00000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C00000"/>
                          </a:solidFill>
                        </a:rPr>
                        <a:t>-3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00B0F0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00B0F0"/>
                          </a:solidFill>
                        </a:rPr>
                        <a:t>-4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-6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7030A0"/>
                          </a:solidFill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7030A0"/>
                          </a:solidFill>
                        </a:rPr>
                        <a:t>-11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996600"/>
                          </a:solidFill>
                        </a:rPr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996600"/>
                          </a:solidFill>
                        </a:rPr>
                        <a:t>-16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pic>
        <p:nvPicPr>
          <p:cNvPr id="18440" name="Picture 8"/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664" t="12668" r="8543" b="4000"/>
          <a:stretch/>
        </p:blipFill>
        <p:spPr bwMode="auto">
          <a:xfrm>
            <a:off x="2987824" y="2895864"/>
            <a:ext cx="5404885" cy="38457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6364775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84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544" y="116632"/>
            <a:ext cx="8229600" cy="1143000"/>
          </a:xfrm>
        </p:spPr>
        <p:txBody>
          <a:bodyPr/>
          <a:lstStyle/>
          <a:p>
            <a:r>
              <a:rPr lang="en-US" dirty="0"/>
              <a:t>What is Root Locus?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9512" y="1196752"/>
            <a:ext cx="8784976" cy="4525963"/>
          </a:xfrm>
        </p:spPr>
        <p:txBody>
          <a:bodyPr/>
          <a:lstStyle/>
          <a:p>
            <a:pPr algn="just"/>
            <a:r>
              <a:rPr lang="en-US" dirty="0"/>
              <a:t>The root locus is the path of the roots of the characteristic equation traced out in the s-plane as a system parameter varies from zero to infinity.</a:t>
            </a:r>
          </a:p>
        </p:txBody>
      </p:sp>
    </p:spTree>
    <p:extLst>
      <p:ext uri="{BB962C8B-B14F-4D97-AF65-F5344CB8AC3E}">
        <p14:creationId xmlns:p14="http://schemas.microsoft.com/office/powerpoint/2010/main" val="10947294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Sketch root locus?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One way is to compute the roots of the characteristic equation for all possible values of K. </a:t>
            </a:r>
          </a:p>
        </p:txBody>
      </p:sp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04216535"/>
              </p:ext>
            </p:extLst>
          </p:nvPr>
        </p:nvGraphicFramePr>
        <p:xfrm>
          <a:off x="1547664" y="4077072"/>
          <a:ext cx="2247900" cy="904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0550" name="Equation" r:id="rId3" imgW="1041120" imgH="419040" progId="Equation.3">
                  <p:embed/>
                </p:oleObj>
              </mc:Choice>
              <mc:Fallback>
                <p:oleObj name="Equation" r:id="rId3" imgW="1041120" imgH="4190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47664" y="4077072"/>
                        <a:ext cx="2247900" cy="90487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37268288"/>
              </p:ext>
            </p:extLst>
          </p:nvPr>
        </p:nvGraphicFramePr>
        <p:xfrm>
          <a:off x="5796136" y="2996952"/>
          <a:ext cx="1944216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60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681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Pole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-1.5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-2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-3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-4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-6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-11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-16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523492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Sketch root locus?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Computing the roots for all values of K might be tedious for higher order systems.</a:t>
            </a:r>
          </a:p>
        </p:txBody>
      </p:sp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40044462"/>
              </p:ext>
            </p:extLst>
          </p:nvPr>
        </p:nvGraphicFramePr>
        <p:xfrm>
          <a:off x="899592" y="4005064"/>
          <a:ext cx="4576763" cy="904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1574" name="Equation" r:id="rId3" imgW="2120760" imgH="419040" progId="Equation.3">
                  <p:embed/>
                </p:oleObj>
              </mc:Choice>
              <mc:Fallback>
                <p:oleObj name="Equation" r:id="rId3" imgW="2120760" imgH="4190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9592" y="4005064"/>
                        <a:ext cx="4576763" cy="90487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57283991"/>
              </p:ext>
            </p:extLst>
          </p:nvPr>
        </p:nvGraphicFramePr>
        <p:xfrm>
          <a:off x="6084168" y="2852936"/>
          <a:ext cx="1944216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60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681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Pole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915232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68362"/>
          </a:xfrm>
        </p:spPr>
        <p:txBody>
          <a:bodyPr/>
          <a:lstStyle/>
          <a:p>
            <a:r>
              <a:rPr lang="en-US" dirty="0"/>
              <a:t>Construction of Root Loci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14400"/>
            <a:ext cx="9067800" cy="5943600"/>
          </a:xfrm>
        </p:spPr>
        <p:txBody>
          <a:bodyPr>
            <a:normAutofit/>
          </a:bodyPr>
          <a:lstStyle/>
          <a:p>
            <a:pPr algn="just"/>
            <a:r>
              <a:rPr lang="en-US" sz="2800" dirty="0"/>
              <a:t>Finding the roots of the characteristic equation of degree higher than 3 is laborious and will need computer solution.</a:t>
            </a:r>
          </a:p>
          <a:p>
            <a:pPr algn="just"/>
            <a:endParaRPr lang="en-US" sz="2800" dirty="0"/>
          </a:p>
          <a:p>
            <a:pPr algn="just"/>
            <a:r>
              <a:rPr lang="en-US" sz="2800" dirty="0"/>
              <a:t>A simple method for finding the roots of the characteristic equation has been developed by W. R. Evans and used extensively in control engineering.</a:t>
            </a:r>
          </a:p>
          <a:p>
            <a:pPr algn="just"/>
            <a:endParaRPr lang="en-US" sz="2800" dirty="0"/>
          </a:p>
          <a:p>
            <a:pPr algn="just"/>
            <a:endParaRPr lang="en-US" sz="2800" dirty="0"/>
          </a:p>
          <a:p>
            <a:pPr algn="just"/>
            <a:endParaRPr lang="en-US" sz="2800" dirty="0"/>
          </a:p>
          <a:p>
            <a:pPr algn="just"/>
            <a:r>
              <a:rPr lang="en-US" sz="2800" dirty="0"/>
              <a:t>This method, called the </a:t>
            </a:r>
            <a:r>
              <a:rPr lang="en-US" sz="2800" i="1" dirty="0"/>
              <a:t>root-locus method, </a:t>
            </a:r>
            <a:r>
              <a:rPr lang="en-US" sz="2800" dirty="0"/>
              <a:t>is one in which the roots of the characteristic equation are plotted for all values of a system parameter.</a:t>
            </a:r>
          </a:p>
        </p:txBody>
      </p:sp>
      <p:pic>
        <p:nvPicPr>
          <p:cNvPr id="114691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43800" y="3333020"/>
            <a:ext cx="1506620" cy="20009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2488560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6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6632"/>
            <a:ext cx="8229600" cy="1012974"/>
          </a:xfrm>
        </p:spPr>
        <p:txBody>
          <a:bodyPr/>
          <a:lstStyle/>
          <a:p>
            <a:r>
              <a:rPr lang="en-US" dirty="0"/>
              <a:t>Construction of Root Loci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52736"/>
            <a:ext cx="8229600" cy="5400600"/>
          </a:xfrm>
        </p:spPr>
        <p:txBody>
          <a:bodyPr>
            <a:normAutofit/>
          </a:bodyPr>
          <a:lstStyle/>
          <a:p>
            <a:pPr algn="just"/>
            <a:r>
              <a:rPr lang="en-US" sz="2800" dirty="0"/>
              <a:t>The roots corresponding to a particular value of this parameter can then be located on the resulting graph. </a:t>
            </a:r>
          </a:p>
          <a:p>
            <a:pPr algn="just"/>
            <a:endParaRPr lang="en-US" sz="2800" dirty="0"/>
          </a:p>
          <a:p>
            <a:pPr algn="just"/>
            <a:r>
              <a:rPr lang="en-US" sz="2800" dirty="0"/>
              <a:t>By using the root-locus method the designer can predict the effects on the location of the closed-loop poles of varying the gain value or adding open-loop poles and/or open-loop zeros.</a:t>
            </a:r>
          </a:p>
        </p:txBody>
      </p:sp>
    </p:spTree>
    <p:extLst>
      <p:ext uri="{BB962C8B-B14F-4D97-AF65-F5344CB8AC3E}">
        <p14:creationId xmlns:p14="http://schemas.microsoft.com/office/powerpoint/2010/main" val="36399594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6632"/>
            <a:ext cx="8229600" cy="1012974"/>
          </a:xfrm>
        </p:spPr>
        <p:txBody>
          <a:bodyPr/>
          <a:lstStyle/>
          <a:p>
            <a:r>
              <a:rPr lang="en-US" dirty="0"/>
              <a:t>Angle &amp; Magnitude Conditions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52736"/>
            <a:ext cx="8229600" cy="5400600"/>
          </a:xfrm>
        </p:spPr>
        <p:txBody>
          <a:bodyPr>
            <a:normAutofit/>
          </a:bodyPr>
          <a:lstStyle/>
          <a:p>
            <a:pPr algn="just"/>
            <a:r>
              <a:rPr lang="en-US" sz="2800" dirty="0"/>
              <a:t>In constructing the root loci angle and magnitude conditions are important. </a:t>
            </a:r>
          </a:p>
          <a:p>
            <a:pPr algn="just"/>
            <a:endParaRPr lang="en-US" sz="1000" dirty="0"/>
          </a:p>
          <a:p>
            <a:pPr algn="just"/>
            <a:r>
              <a:rPr lang="en-US" sz="2800" dirty="0"/>
              <a:t>Consider the system shown in following figure.</a:t>
            </a:r>
          </a:p>
          <a:p>
            <a:pPr algn="just"/>
            <a:endParaRPr lang="en-US" sz="2800" dirty="0"/>
          </a:p>
          <a:p>
            <a:pPr algn="just"/>
            <a:endParaRPr lang="en-US" sz="2800" dirty="0"/>
          </a:p>
          <a:p>
            <a:pPr algn="just"/>
            <a:endParaRPr lang="en-US" sz="2800" dirty="0"/>
          </a:p>
          <a:p>
            <a:pPr algn="just"/>
            <a:endParaRPr lang="en-US" sz="2800" dirty="0"/>
          </a:p>
          <a:p>
            <a:pPr algn="just"/>
            <a:r>
              <a:rPr lang="en-US" sz="2800" dirty="0"/>
              <a:t>The closed loop transfer function is</a:t>
            </a:r>
          </a:p>
        </p:txBody>
      </p:sp>
      <p:pic>
        <p:nvPicPr>
          <p:cNvPr id="2150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17357" y="2852936"/>
            <a:ext cx="3530127" cy="18498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59205861"/>
              </p:ext>
            </p:extLst>
          </p:nvPr>
        </p:nvGraphicFramePr>
        <p:xfrm>
          <a:off x="2822539" y="5445224"/>
          <a:ext cx="2971801" cy="952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88" name="Equation" r:id="rId4" imgW="1307880" imgH="419040" progId="Equation.3">
                  <p:embed/>
                </p:oleObj>
              </mc:Choice>
              <mc:Fallback>
                <p:oleObj name="Equation" r:id="rId4" imgW="1307880" imgH="4190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22539" y="5445224"/>
                        <a:ext cx="2971801" cy="952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9818078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15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6632"/>
            <a:ext cx="8229600" cy="1012974"/>
          </a:xfrm>
        </p:spPr>
        <p:txBody>
          <a:bodyPr/>
          <a:lstStyle/>
          <a:p>
            <a:r>
              <a:rPr lang="en-US" dirty="0"/>
              <a:t>Construction of Root Loci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52736"/>
            <a:ext cx="8229600" cy="5400600"/>
          </a:xfrm>
        </p:spPr>
        <p:txBody>
          <a:bodyPr>
            <a:normAutofit/>
          </a:bodyPr>
          <a:lstStyle/>
          <a:p>
            <a:pPr algn="just"/>
            <a:r>
              <a:rPr lang="en-US" sz="2800" dirty="0"/>
              <a:t>The characteristic equation is obtained by setting the denominator polynomial equal to zero.  </a:t>
            </a:r>
          </a:p>
          <a:p>
            <a:pPr algn="just"/>
            <a:endParaRPr lang="en-US" sz="2800" dirty="0"/>
          </a:p>
          <a:p>
            <a:pPr algn="just"/>
            <a:r>
              <a:rPr lang="en-US" sz="2800" dirty="0"/>
              <a:t>Or</a:t>
            </a:r>
          </a:p>
          <a:p>
            <a:pPr algn="just"/>
            <a:endParaRPr lang="en-US" sz="2800" dirty="0"/>
          </a:p>
          <a:p>
            <a:pPr algn="just"/>
            <a:endParaRPr lang="en-US" sz="2800" dirty="0"/>
          </a:p>
          <a:p>
            <a:pPr algn="just"/>
            <a:r>
              <a:rPr lang="en-US" sz="2800" dirty="0"/>
              <a:t>Since </a:t>
            </a:r>
            <a:r>
              <a:rPr lang="en-US" sz="2800" i="1" dirty="0">
                <a:solidFill>
                  <a:srgbClr val="FF0000"/>
                </a:solidFill>
              </a:rPr>
              <a:t>G(s)H(s)</a:t>
            </a:r>
            <a:r>
              <a:rPr lang="en-US" sz="2800" dirty="0"/>
              <a:t> is a complex quantity it can be split into angle and magnitude part. </a:t>
            </a:r>
          </a:p>
        </p:txBody>
      </p:sp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8475447"/>
              </p:ext>
            </p:extLst>
          </p:nvPr>
        </p:nvGraphicFramePr>
        <p:xfrm>
          <a:off x="3347864" y="2276872"/>
          <a:ext cx="2394758" cy="4616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798" name="Equation" r:id="rId3" imgW="1054080" imgH="203040" progId="Equation.3">
                  <p:embed/>
                </p:oleObj>
              </mc:Choice>
              <mc:Fallback>
                <p:oleObj name="Equation" r:id="rId3" imgW="1054080" imgH="203040" progId="Equation.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347864" y="2276872"/>
                        <a:ext cx="2394758" cy="46164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09542354"/>
              </p:ext>
            </p:extLst>
          </p:nvPr>
        </p:nvGraphicFramePr>
        <p:xfrm>
          <a:off x="3332163" y="3141663"/>
          <a:ext cx="2135187" cy="461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799" name="Equation" r:id="rId5" imgW="939600" imgH="203040" progId="Equation.3">
                  <p:embed/>
                </p:oleObj>
              </mc:Choice>
              <mc:Fallback>
                <p:oleObj name="Equation" r:id="rId5" imgW="939600" imgH="2030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32163" y="3141663"/>
                        <a:ext cx="2135187" cy="4619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6630936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6632"/>
            <a:ext cx="8229600" cy="1012974"/>
          </a:xfrm>
        </p:spPr>
        <p:txBody>
          <a:bodyPr/>
          <a:lstStyle/>
          <a:p>
            <a:r>
              <a:rPr lang="en-US" dirty="0"/>
              <a:t>Angle &amp; Magnitude Conditions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52736"/>
            <a:ext cx="8229600" cy="5400600"/>
          </a:xfrm>
        </p:spPr>
        <p:txBody>
          <a:bodyPr>
            <a:normAutofit/>
          </a:bodyPr>
          <a:lstStyle/>
          <a:p>
            <a:pPr algn="just"/>
            <a:r>
              <a:rPr lang="en-US" sz="2800" dirty="0"/>
              <a:t>The angle of </a:t>
            </a:r>
            <a:r>
              <a:rPr lang="en-US" sz="2800" i="1" dirty="0">
                <a:solidFill>
                  <a:srgbClr val="FF0000"/>
                </a:solidFill>
              </a:rPr>
              <a:t>G(s)H(s)=-1</a:t>
            </a:r>
            <a:r>
              <a:rPr lang="en-US" sz="2800" dirty="0"/>
              <a:t> is</a:t>
            </a:r>
          </a:p>
          <a:p>
            <a:pPr algn="just"/>
            <a:endParaRPr lang="en-US" sz="2800" dirty="0"/>
          </a:p>
          <a:p>
            <a:pPr algn="just"/>
            <a:endParaRPr lang="en-US" sz="2800" dirty="0"/>
          </a:p>
          <a:p>
            <a:pPr algn="just"/>
            <a:endParaRPr lang="en-US" sz="2800" dirty="0"/>
          </a:p>
          <a:p>
            <a:pPr algn="just"/>
            <a:r>
              <a:rPr lang="en-US" sz="2800" dirty="0"/>
              <a:t>Where </a:t>
            </a:r>
            <a:r>
              <a:rPr lang="en-US" sz="2800" i="1" dirty="0"/>
              <a:t>k</a:t>
            </a:r>
            <a:r>
              <a:rPr lang="en-US" sz="2800" dirty="0"/>
              <a:t>=1,2,3…</a:t>
            </a:r>
          </a:p>
          <a:p>
            <a:pPr algn="just"/>
            <a:endParaRPr lang="en-US" sz="2800" dirty="0"/>
          </a:p>
          <a:p>
            <a:pPr algn="just"/>
            <a:r>
              <a:rPr lang="en-US" sz="2800" dirty="0"/>
              <a:t>The magnitude of </a:t>
            </a:r>
            <a:r>
              <a:rPr lang="en-US" sz="2800" i="1" dirty="0">
                <a:solidFill>
                  <a:srgbClr val="FF0000"/>
                </a:solidFill>
              </a:rPr>
              <a:t>G(s)H(s)=-1</a:t>
            </a:r>
            <a:r>
              <a:rPr lang="en-US" sz="2800" dirty="0"/>
              <a:t> is</a:t>
            </a:r>
          </a:p>
        </p:txBody>
      </p:sp>
      <p:graphicFrame>
        <p:nvGraphicFramePr>
          <p:cNvPr id="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49886773"/>
              </p:ext>
            </p:extLst>
          </p:nvPr>
        </p:nvGraphicFramePr>
        <p:xfrm>
          <a:off x="2555776" y="1844824"/>
          <a:ext cx="3952875" cy="1039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822" name="Equation" r:id="rId3" imgW="1739880" imgH="457200" progId="Equation.3">
                  <p:embed/>
                </p:oleObj>
              </mc:Choice>
              <mc:Fallback>
                <p:oleObj name="Equation" r:id="rId3" imgW="1739880" imgH="457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55776" y="1844824"/>
                        <a:ext cx="3952875" cy="10398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96104443"/>
              </p:ext>
            </p:extLst>
          </p:nvPr>
        </p:nvGraphicFramePr>
        <p:xfrm>
          <a:off x="3494088" y="4884738"/>
          <a:ext cx="2365375" cy="1155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823" name="Equation" r:id="rId5" imgW="1041120" imgH="507960" progId="Equation.3">
                  <p:embed/>
                </p:oleObj>
              </mc:Choice>
              <mc:Fallback>
                <p:oleObj name="Equation" r:id="rId5" imgW="1041120" imgH="5079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94088" y="4884738"/>
                        <a:ext cx="2365375" cy="1155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4822304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4624"/>
            <a:ext cx="8229600" cy="868958"/>
          </a:xfrm>
        </p:spPr>
        <p:txBody>
          <a:bodyPr/>
          <a:lstStyle/>
          <a:p>
            <a:r>
              <a:rPr lang="en-US" dirty="0"/>
              <a:t>Angle &amp; Magnitude Conditions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9512" y="1052736"/>
            <a:ext cx="8229600" cy="5616624"/>
          </a:xfrm>
        </p:spPr>
        <p:txBody>
          <a:bodyPr>
            <a:normAutofit/>
          </a:bodyPr>
          <a:lstStyle/>
          <a:p>
            <a:r>
              <a:rPr lang="en-US" dirty="0"/>
              <a:t>Angle Condition</a:t>
            </a:r>
          </a:p>
          <a:p>
            <a:endParaRPr lang="en-US" dirty="0"/>
          </a:p>
          <a:p>
            <a:r>
              <a:rPr lang="en-US" dirty="0"/>
              <a:t>Magnitude Condition</a:t>
            </a:r>
          </a:p>
          <a:p>
            <a:endParaRPr lang="en-US" dirty="0"/>
          </a:p>
          <a:p>
            <a:pPr algn="just"/>
            <a:endParaRPr lang="en-US" sz="1200" dirty="0"/>
          </a:p>
          <a:p>
            <a:pPr algn="just"/>
            <a:r>
              <a:rPr lang="en-US" sz="2800" dirty="0"/>
              <a:t>The values of </a:t>
            </a:r>
            <a:r>
              <a:rPr lang="en-US" sz="2800" dirty="0">
                <a:solidFill>
                  <a:srgbClr val="FF0000"/>
                </a:solidFill>
              </a:rPr>
              <a:t>s</a:t>
            </a:r>
            <a:r>
              <a:rPr lang="en-US" sz="2800" dirty="0"/>
              <a:t> that fulfill both the angle and magnitude conditions are the roots of the characteristic equation, or the closed-loop poles. </a:t>
            </a:r>
          </a:p>
          <a:p>
            <a:pPr algn="just"/>
            <a:endParaRPr lang="en-US" sz="2000" dirty="0"/>
          </a:p>
        </p:txBody>
      </p:sp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79387787"/>
              </p:ext>
            </p:extLst>
          </p:nvPr>
        </p:nvGraphicFramePr>
        <p:xfrm>
          <a:off x="1403648" y="1700808"/>
          <a:ext cx="6088063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846" name="Equation" r:id="rId3" imgW="2679480" imgH="228600" progId="Equation.3">
                  <p:embed/>
                </p:oleObj>
              </mc:Choice>
              <mc:Fallback>
                <p:oleObj name="Equation" r:id="rId3" imgW="267948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3648" y="1700808"/>
                        <a:ext cx="6088063" cy="52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18101188"/>
              </p:ext>
            </p:extLst>
          </p:nvPr>
        </p:nvGraphicFramePr>
        <p:xfrm>
          <a:off x="3275856" y="2924944"/>
          <a:ext cx="2019300" cy="577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847" name="Equation" r:id="rId5" imgW="888840" imgH="253800" progId="Equation.3">
                  <p:embed/>
                </p:oleObj>
              </mc:Choice>
              <mc:Fallback>
                <p:oleObj name="Equation" r:id="rId5" imgW="888840" imgH="253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5856" y="2924944"/>
                        <a:ext cx="2019300" cy="577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7432600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D87F489-4024-41F5-81DC-349710C433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2913" y="1028700"/>
            <a:ext cx="8538174" cy="480060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D68470CE-80E7-4268-9AC4-9F3A7ED69E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0622" y="5829300"/>
            <a:ext cx="8510465" cy="8298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660145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B143110-CD59-4ED1-85BC-E5DC14CB5A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52400"/>
            <a:ext cx="8017461" cy="24384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8249FED-9C59-4054-B308-4D5F004CE17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199" y="2590800"/>
            <a:ext cx="8017461" cy="4286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03516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1F368E9-901E-4F38-893E-CEFAE99843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76200"/>
            <a:ext cx="8749813" cy="640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761271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43DE1BC-946A-441E-B2AC-856898F529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52400"/>
            <a:ext cx="8869090" cy="21336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D0F3219-B410-4EF8-B1E0-5CB4F18AAF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2286000"/>
            <a:ext cx="8986599" cy="190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605132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52752F8-94E1-4E04-81F3-6D0700ADC6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560" y="533400"/>
            <a:ext cx="8762880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282300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4584D6B-1DAE-47E0-A437-36F5702CC9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52400"/>
            <a:ext cx="8459842" cy="579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650308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F820F05-9BBB-44F1-B6A0-448B6CE435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998" y="457200"/>
            <a:ext cx="8448003" cy="518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075788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752C613-B0B0-45B2-BF4B-C151A8ED32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418494"/>
            <a:ext cx="8305800" cy="60210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414089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9234C1D-FA29-433F-82A0-A3930E8250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152400"/>
            <a:ext cx="8382000" cy="199409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12C9502-524E-4A91-A316-228AA6166C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2146495"/>
            <a:ext cx="8382000" cy="4550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852947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B8E6F98-5580-4135-821C-DE81BBD57C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599" y="90054"/>
            <a:ext cx="8641889" cy="333894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7294B94-5060-4521-A76A-CF7AE2B441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0890" y="3401290"/>
            <a:ext cx="8641889" cy="32930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826710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638034C-0F0F-4F75-8D9F-661DB66CF1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1200" y="102378"/>
            <a:ext cx="5410200" cy="66532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230988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3D68673-332F-4C1F-AB0D-5BC915EDFF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609600"/>
            <a:ext cx="8392664" cy="419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037911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89A8E20-69EC-43F7-B006-3D968CD7F6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1200" y="0"/>
            <a:ext cx="4471190" cy="6759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737135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8EC844A-EFFD-4E1D-AF82-A6BD1E0050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1200" y="244353"/>
            <a:ext cx="5181600" cy="63692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690309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B43F04-763A-4E7D-AE5E-7948F609CB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Compensators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68D9CE-A9CD-44D7-AE3B-FA8F656457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Why do we need compensators?</a:t>
            </a:r>
          </a:p>
          <a:p>
            <a:r>
              <a:rPr lang="en-US" dirty="0"/>
              <a:t>What are the most common types of compensators in control systems?</a:t>
            </a:r>
          </a:p>
          <a:p>
            <a:r>
              <a:rPr lang="en-US" dirty="0"/>
              <a:t>What is the effect of the addition of a pole and a zero to a root locus?</a:t>
            </a:r>
          </a:p>
          <a:p>
            <a:r>
              <a:rPr lang="en-US" dirty="0"/>
              <a:t>How to design a compensator?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001061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43861EF-3E64-4DC6-8521-D0351D1B40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72" y="1066800"/>
            <a:ext cx="8943055" cy="502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461029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083F23E-CC93-4F6E-9694-3AC988FAD5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814387"/>
            <a:ext cx="8013386" cy="5229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896615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0B4B10B-E358-4BEF-8817-3ACD983B6E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430815"/>
            <a:ext cx="8077200" cy="5996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454435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A6175DB-5C18-42FF-A2AC-DB43DD61D7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8381" y="800100"/>
            <a:ext cx="8286751" cy="5219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001527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182E08B-5CD0-4FDF-9F4C-7AE2875C15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191" y="609600"/>
            <a:ext cx="8657617" cy="533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111961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EF60E75-C9DB-4505-ACDB-541A2B7164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435" y="381000"/>
            <a:ext cx="8257130" cy="579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083615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0C08B18-1919-4994-BBF3-27FE749664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462" y="381000"/>
            <a:ext cx="8684873" cy="571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050877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AD837E6-A46F-47E7-A210-0B2BAD6FF6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300" y="242614"/>
            <a:ext cx="8153400" cy="63727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568444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A3EF9DD-FD78-4914-9699-5283966ABE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293543"/>
            <a:ext cx="8229600" cy="60473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769139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03509ED-10E0-46ED-8B0C-D517ED9DE7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28700"/>
            <a:ext cx="7923667" cy="4800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808393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BA032E-E9DD-4602-BC42-BDAA5AAF5F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PID Controller Design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4E1E879-4557-4B17-8E3B-A05D5DE26C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19200"/>
            <a:ext cx="8180631" cy="4953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432057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B4D6A29-65E8-4BE0-8484-FBF7F63407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858" y="1066800"/>
            <a:ext cx="8490284" cy="441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362772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D96DF75-BE26-47FD-ACAB-48A1CEF567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2399"/>
            <a:ext cx="8534400" cy="66378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651463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ADE7568-AC22-4830-8BC2-533E50E18B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1963" y="45685"/>
            <a:ext cx="6060073" cy="6766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169994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F19F2C9-DCDE-403F-823F-FA0AB9F12E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944" y="381000"/>
            <a:ext cx="8664111" cy="28194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1DE89E1-1E74-47D3-AEE0-93D19ED23C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3429000"/>
            <a:ext cx="7772400" cy="31995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512296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EA6B327-87DE-4171-9B90-B3B116C563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34996"/>
            <a:ext cx="7162800" cy="65880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275696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0CBD754-1500-4CC3-AE7E-CD2C85E201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882" y="304800"/>
            <a:ext cx="8518236" cy="37338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A1F3CC6-0F8F-47F8-A590-45422668AA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4038600"/>
            <a:ext cx="6248400" cy="28074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396412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79F58CC-A559-4EC9-90B0-55D01B84DE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7694" y="381000"/>
            <a:ext cx="6568611" cy="213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283854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A89927D-E834-48F6-9878-CC8A5EB2A1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581416"/>
            <a:ext cx="6705600" cy="56951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976972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D88C3D7-2DCC-4A8D-998B-4550B2CCEC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061" y="1257300"/>
            <a:ext cx="8359878" cy="434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697022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BE710B0-35B8-4F2F-88A3-37F26ABAA4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457200"/>
            <a:ext cx="8329180" cy="5212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734175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20B5CFF-73EC-415B-B718-F38F61915E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" y="237928"/>
            <a:ext cx="7648575" cy="63821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927300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16E876F-C674-4F40-9F00-8FFC7B0A6B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369" y="685800"/>
            <a:ext cx="8577541" cy="518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863281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8201FB-4565-47B4-A357-172A4A68BA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Bode Plot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DC2EC3B-88BB-4448-AC67-8721A03B84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91853"/>
            <a:ext cx="8382000" cy="53915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2255504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E421C84-9BEA-4AC2-ACAE-659BE54A87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82" y="0"/>
            <a:ext cx="8686800" cy="68665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3919165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54FB594-FAE9-415F-B8E3-22261C0C68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0782"/>
            <a:ext cx="9025580" cy="4828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4458869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2556AD5-6795-44D0-B630-01316A1EA1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43000"/>
            <a:ext cx="9053158" cy="426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2978999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8AD4FD2-4656-442C-B4CD-59AC9CBA25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25" y="969818"/>
            <a:ext cx="9035949" cy="49183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7359447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4032CF1-CE86-4805-954E-5935637CAA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23" y="1143000"/>
            <a:ext cx="9019153" cy="5306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080242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5629736-F680-4734-8C41-545F1633F2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92" y="419100"/>
            <a:ext cx="9130808" cy="6019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7186274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90D835D-18F2-44C1-B013-AFEAA1FB9F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28600"/>
            <a:ext cx="9182898" cy="39762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8768427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41BFDBE-E398-4962-92CF-A4A72373A2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636" y="609601"/>
            <a:ext cx="8956964" cy="51893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4409236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1F559CD-9D04-4647-A972-A3B497F5FE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09" y="1447800"/>
            <a:ext cx="9140176" cy="441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6743988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4717FC3-4796-483B-B8A0-74622DB1B3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71600"/>
            <a:ext cx="9067766" cy="434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6741846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3E249F1-2803-411C-B845-1C99E180B3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534" y="228600"/>
            <a:ext cx="8772931" cy="35814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B370DB4-2053-4BDD-9177-2B5DF5A8EA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3981" y="3962400"/>
            <a:ext cx="7156036" cy="243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165039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081D08A-27A6-4786-9625-B9949DFBB7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600" y="159882"/>
            <a:ext cx="7523018" cy="65382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3423491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3E6A1B7-B9A2-4780-BE12-6B3B9EDFA1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212836"/>
            <a:ext cx="7615345" cy="6432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1835085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E199797-5DE8-4ACA-A36A-6C3B88E530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663" y="1143000"/>
            <a:ext cx="8984673" cy="3848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8212083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20809BB-DB1F-4F41-8A10-C5AEBAC282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1600200"/>
            <a:ext cx="7989499" cy="365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9415790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42E2452-ABD8-4A88-86C7-03BD4E53C2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700" y="20782"/>
            <a:ext cx="7848600" cy="69118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5594190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06D8E94-4BF2-4EA5-9057-2624A2F825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78666"/>
            <a:ext cx="8001000" cy="6500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5419506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EFF22B9-4F54-47ED-9292-D9348B5374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199" y="152400"/>
            <a:ext cx="8317381" cy="28956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F94E649-6CAE-44CD-BB2B-02D3C2F128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490" y="2970920"/>
            <a:ext cx="8585463" cy="167816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2F651FF-EE23-44E4-93B2-12F239B0D5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53335" y="4489116"/>
            <a:ext cx="6237330" cy="22164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453819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24E5EB4-7EBD-4C13-BB79-F0CAB9B9FD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347" y="1143000"/>
            <a:ext cx="8311306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417712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8E880BB-2504-4C44-A925-7A2D57BEC4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762000"/>
            <a:ext cx="8612422" cy="487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9743106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95535CE-8536-46FD-B94C-36CDDF90FC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672" y="1295400"/>
            <a:ext cx="8970656" cy="426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5941868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0C3EE5B-EFA8-4097-B892-1205D8F1F8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359" y="990600"/>
            <a:ext cx="8295281" cy="4495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0250193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FA3C4B1-B6E8-43CE-9C3A-6DF0305E33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6927"/>
            <a:ext cx="8382000" cy="6927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6966209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C216A1B-A604-4C22-9DB9-FD93E76F28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00891"/>
            <a:ext cx="9009434" cy="6456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258646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4245E23-D99D-43C2-8695-0CF941C5F8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42" y="547254"/>
            <a:ext cx="9102349" cy="57634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6637102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3A3D51A-97A0-4C09-92EF-73A4177CA9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" y="187817"/>
            <a:ext cx="8991600" cy="64823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3123409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374E396-B014-4B2A-8611-DC2D6E4117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855" y="0"/>
            <a:ext cx="698828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4353918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5A28A49-0E93-4AF1-986C-B6B68B3CE8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66800"/>
            <a:ext cx="9029323" cy="518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2213419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1CC5CF2-F7BC-4280-9225-AA77805843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3909"/>
            <a:ext cx="9144000" cy="66501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37214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Urban</Template>
  <TotalTime>5717</TotalTime>
  <Words>532</Words>
  <Application>Microsoft Office PowerPoint</Application>
  <PresentationFormat>On-screen Show (4:3)</PresentationFormat>
  <Paragraphs>121</Paragraphs>
  <Slides>81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81</vt:i4>
      </vt:variant>
    </vt:vector>
  </HeadingPairs>
  <TitlesOfParts>
    <vt:vector size="85" baseType="lpstr">
      <vt:lpstr>Arial</vt:lpstr>
      <vt:lpstr>Calibri</vt:lpstr>
      <vt:lpstr>Office Theme</vt:lpstr>
      <vt:lpstr>Equation</vt:lpstr>
      <vt:lpstr>PowerPoint Presentation</vt:lpstr>
      <vt:lpstr>Outline</vt:lpstr>
      <vt:lpstr>Introduction</vt:lpstr>
      <vt:lpstr>Introduction</vt:lpstr>
      <vt:lpstr>What is Root Locus?</vt:lpstr>
      <vt:lpstr>How to Sketch root locus? </vt:lpstr>
      <vt:lpstr>How to Sketch root locus? </vt:lpstr>
      <vt:lpstr>Construction of Root Loci</vt:lpstr>
      <vt:lpstr>Construction of Root Loci</vt:lpstr>
      <vt:lpstr>Angle &amp; Magnitude Conditions</vt:lpstr>
      <vt:lpstr>Construction of Root Loci</vt:lpstr>
      <vt:lpstr>Angle &amp; Magnitude Conditions</vt:lpstr>
      <vt:lpstr>Angle &amp; Magnitude Conditions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Compensators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PID Controller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Bode Plot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Imtiaz Hussain</dc:creator>
  <cp:lastModifiedBy>Imran Ghous</cp:lastModifiedBy>
  <cp:revision>943</cp:revision>
  <dcterms:created xsi:type="dcterms:W3CDTF">2012-07-01T09:15:58Z</dcterms:created>
  <dcterms:modified xsi:type="dcterms:W3CDTF">2019-12-01T18:28:36Z</dcterms:modified>
</cp:coreProperties>
</file>