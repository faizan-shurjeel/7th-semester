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5"/>
  </p:notesMasterIdLst>
  <p:handoutMasterIdLst>
    <p:handoutMasterId r:id="rId56"/>
  </p:handoutMasterIdLst>
  <p:sldIdLst>
    <p:sldId id="256" r:id="rId2"/>
    <p:sldId id="339" r:id="rId3"/>
    <p:sldId id="340" r:id="rId4"/>
    <p:sldId id="343" r:id="rId5"/>
    <p:sldId id="363" r:id="rId6"/>
    <p:sldId id="341" r:id="rId7"/>
    <p:sldId id="344" r:id="rId8"/>
    <p:sldId id="342" r:id="rId9"/>
    <p:sldId id="345" r:id="rId10"/>
    <p:sldId id="346" r:id="rId11"/>
    <p:sldId id="355" r:id="rId12"/>
    <p:sldId id="347" r:id="rId13"/>
    <p:sldId id="348" r:id="rId14"/>
    <p:sldId id="349" r:id="rId15"/>
    <p:sldId id="350" r:id="rId16"/>
    <p:sldId id="351" r:id="rId17"/>
    <p:sldId id="352" r:id="rId18"/>
    <p:sldId id="354" r:id="rId19"/>
    <p:sldId id="353" r:id="rId20"/>
    <p:sldId id="356" r:id="rId21"/>
    <p:sldId id="357" r:id="rId22"/>
    <p:sldId id="358" r:id="rId23"/>
    <p:sldId id="360" r:id="rId24"/>
    <p:sldId id="359" r:id="rId25"/>
    <p:sldId id="361" r:id="rId26"/>
    <p:sldId id="362" r:id="rId27"/>
    <p:sldId id="375" r:id="rId28"/>
    <p:sldId id="364" r:id="rId29"/>
    <p:sldId id="376" r:id="rId30"/>
    <p:sldId id="378" r:id="rId31"/>
    <p:sldId id="379" r:id="rId32"/>
    <p:sldId id="382" r:id="rId33"/>
    <p:sldId id="384" r:id="rId34"/>
    <p:sldId id="383" r:id="rId35"/>
    <p:sldId id="380" r:id="rId36"/>
    <p:sldId id="381" r:id="rId37"/>
    <p:sldId id="391" r:id="rId38"/>
    <p:sldId id="365" r:id="rId39"/>
    <p:sldId id="366" r:id="rId40"/>
    <p:sldId id="367" r:id="rId41"/>
    <p:sldId id="368" r:id="rId42"/>
    <p:sldId id="370" r:id="rId43"/>
    <p:sldId id="369" r:id="rId44"/>
    <p:sldId id="371" r:id="rId45"/>
    <p:sldId id="372" r:id="rId46"/>
    <p:sldId id="374" r:id="rId47"/>
    <p:sldId id="385" r:id="rId48"/>
    <p:sldId id="386" r:id="rId49"/>
    <p:sldId id="388" r:id="rId50"/>
    <p:sldId id="389" r:id="rId51"/>
    <p:sldId id="387" r:id="rId52"/>
    <p:sldId id="392" r:id="rId53"/>
    <p:sldId id="390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68" autoAdjust="0"/>
    <p:restoredTop sz="95027" autoAdjust="0"/>
  </p:normalViewPr>
  <p:slideViewPr>
    <p:cSldViewPr>
      <p:cViewPr varScale="1">
        <p:scale>
          <a:sx n="64" d="100"/>
          <a:sy n="64" d="100"/>
        </p:scale>
        <p:origin x="136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97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75CD0-BF64-4EDA-A390-EA27F5FF7906}" type="datetimeFigureOut">
              <a:rPr lang="en-GB" smtClean="0"/>
              <a:pPr/>
              <a:t>24/11/2025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C7654-C7C7-4BC9-B3D0-68A06137D36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830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6B1A4-3534-4875-B1CA-60596223E4A6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5BD45-B5A0-4654-B232-F8508C108E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179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E5BD45-B5A0-4654-B232-F8508C108E1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085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E5BD45-B5A0-4654-B232-F8508C108E19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E5BD45-B5A0-4654-B232-F8508C108E19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518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C1C23-6816-4F64-AA42-DA5A7CE6EC6F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447A-FBB8-4E63-A35A-DC77EBF62BD8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2E8B-215F-4457-84EA-F2572DE210F5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38A5-2281-4ACD-BB31-9CA2ED82934F}" type="datetime1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C06C4-BF13-4CE9-A935-474DE8A02BF8}" type="datetime1">
              <a:rPr lang="en-GB" smtClean="0"/>
              <a:t>24/11/2025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CAE6-C953-45E1-BCAA-FBA04522F9EA}" type="datetime1">
              <a:rPr lang="en-GB" smtClean="0"/>
              <a:t>24/11/2025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DCB1E-4B01-4E35-B77C-43799D8A72F5}" type="datetime1">
              <a:rPr lang="en-GB" smtClean="0"/>
              <a:t>24/11/2025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EDDB-9E51-4C6D-8352-7E5B6E15A129}" type="datetime1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F2630-948A-4DCA-A39E-AB953440285A}" type="datetime1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D2B1C-749D-4C85-A092-2684066BCF29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6A4CE-1DA5-4E33-8C8C-EC57A413527B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F1140-2A09-483B-9CE9-B0B9C9054F78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0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6.wmf"/><Relationship Id="rId7" Type="http://schemas.openxmlformats.org/officeDocument/2006/relationships/oleObject" Target="../embeddings/oleObject3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oleObject" Target="../embeddings/oleObject7.bin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2.wmf"/><Relationship Id="rId9" Type="http://schemas.openxmlformats.org/officeDocument/2006/relationships/image" Target="../media/image24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1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28.wmf"/><Relationship Id="rId7" Type="http://schemas.openxmlformats.org/officeDocument/2006/relationships/image" Target="../media/image30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31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4" Type="http://schemas.openxmlformats.org/officeDocument/2006/relationships/image" Target="../media/image34.wmf"/><Relationship Id="rId9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4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4" Type="http://schemas.openxmlformats.org/officeDocument/2006/relationships/image" Target="../media/image34.wmf"/><Relationship Id="rId9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4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7" Type="http://schemas.openxmlformats.org/officeDocument/2006/relationships/image" Target="../media/image41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23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7" Type="http://schemas.openxmlformats.org/officeDocument/2006/relationships/image" Target="../media/image43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25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2.wmf"/><Relationship Id="rId7" Type="http://schemas.openxmlformats.org/officeDocument/2006/relationships/image" Target="../media/image390.png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wmf"/><Relationship Id="rId4" Type="http://schemas.openxmlformats.org/officeDocument/2006/relationships/oleObject" Target="../embeddings/oleObject26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0.png"/><Relationship Id="rId4" Type="http://schemas.openxmlformats.org/officeDocument/2006/relationships/image" Target="../media/image44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6.jpe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39552" y="692696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Modern Control Systems (MCS)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3262618" y="2996952"/>
            <a:ext cx="27422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GB" sz="2400" dirty="0"/>
          </a:p>
          <a:p>
            <a:pPr algn="ctr"/>
            <a:r>
              <a:rPr lang="en-GB" sz="2400" dirty="0"/>
              <a:t>Lead Compensation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491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Lecture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990600" y="2286000"/>
            <a:ext cx="6858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/>
              <a:t>Introduction to Lead Compensation</a:t>
            </a:r>
          </a:p>
          <a:p>
            <a:pPr marL="236538" indent="-236538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/>
              <a:t> Electronic Lead Compensator</a:t>
            </a:r>
          </a:p>
          <a:p>
            <a:pPr marL="236538" indent="-236538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/>
              <a:t>Electrical Lead Compensator</a:t>
            </a:r>
          </a:p>
          <a:p>
            <a:pPr marL="236538" indent="-236538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/>
              <a:t>Mechanical Lead Compensator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1493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 Compensation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600" dirty="0"/>
              <a:t>Lead Compensation essentially yields an appreciable improvement in transient response and a small change in steady state accuracy. </a:t>
            </a:r>
          </a:p>
          <a:p>
            <a:pPr algn="just"/>
            <a:endParaRPr lang="en-US" sz="2600" dirty="0"/>
          </a:p>
          <a:p>
            <a:pPr algn="just"/>
            <a:r>
              <a:rPr lang="en-US" sz="2600" dirty="0"/>
              <a:t>There are many ways to realize lead compensators and lag compensators, such as electronic networks using operational amplifiers, electrical </a:t>
            </a:r>
            <a:r>
              <a:rPr lang="en-US" sz="2600" i="1" dirty="0"/>
              <a:t>RC </a:t>
            </a:r>
            <a:r>
              <a:rPr lang="en-US" sz="2600" dirty="0"/>
              <a:t>networks, and mechanical spring-dashpot systems.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912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 Compensation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600" dirty="0"/>
              <a:t>Generally Lead compensators are represented by following transfer function</a:t>
            </a:r>
          </a:p>
          <a:p>
            <a:pPr algn="just"/>
            <a:endParaRPr lang="en-US" sz="2600" dirty="0"/>
          </a:p>
          <a:p>
            <a:pPr algn="just"/>
            <a:endParaRPr lang="en-US" sz="2600" dirty="0"/>
          </a:p>
          <a:p>
            <a:pPr algn="just"/>
            <a:endParaRPr lang="en-US" sz="2600" dirty="0"/>
          </a:p>
          <a:p>
            <a:pPr algn="just"/>
            <a:r>
              <a:rPr lang="en-US" sz="2600" dirty="0"/>
              <a:t>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403648" y="2852935"/>
                <a:ext cx="6609968" cy="791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en-US" sz="3200" b="0" i="1" smtClean="0">
                            <a:latin typeface="Cambria Math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n-US" sz="32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sz="3200" b="0" i="1" smtClean="0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3200" b="0" i="1" smtClean="0">
                        <a:latin typeface="Cambria Math"/>
                        <a:ea typeface="Cambria Math"/>
                      </a:rPr>
                      <m:t>𝛼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/>
                            <a:ea typeface="Cambria Math"/>
                          </a:rPr>
                          <m:t>𝑇𝑠</m:t>
                        </m:r>
                        <m:r>
                          <a:rPr lang="en-US" sz="3200" b="0" i="1" smtClean="0">
                            <a:latin typeface="Cambria Math"/>
                            <a:ea typeface="Cambria Math"/>
                          </a:rPr>
                          <m:t>+1</m:t>
                        </m:r>
                      </m:num>
                      <m:den>
                        <m:r>
                          <a:rPr lang="en-US" sz="3200" b="0" i="1" smtClean="0">
                            <a:latin typeface="Cambria Math"/>
                            <a:ea typeface="Cambria Math"/>
                          </a:rPr>
                          <m:t>𝛼</m:t>
                        </m:r>
                        <m:r>
                          <a:rPr lang="en-US" sz="3200" b="0" i="1" smtClean="0">
                            <a:latin typeface="Cambria Math"/>
                            <a:ea typeface="Cambria Math"/>
                          </a:rPr>
                          <m:t>𝑇𝑠</m:t>
                        </m:r>
                        <m:r>
                          <a:rPr lang="en-US" sz="3200" b="0" i="1" smtClean="0">
                            <a:latin typeface="Cambria Math"/>
                            <a:ea typeface="Cambria Math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3200" dirty="0"/>
                  <a:t> ,      (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/>
                      </a:rPr>
                      <m:t>0</m:t>
                    </m:r>
                    <m:r>
                      <a:rPr lang="en-US" sz="3200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sz="3200" i="1" smtClean="0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&lt;1</m:t>
                    </m:r>
                  </m:oMath>
                </a14:m>
                <a:r>
                  <a:rPr lang="en-US" sz="3200" dirty="0"/>
                  <a:t>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2852935"/>
                <a:ext cx="6609968" cy="791692"/>
              </a:xfrm>
              <a:prstGeom prst="rect">
                <a:avLst/>
              </a:prstGeom>
              <a:blipFill rotWithShape="1">
                <a:blip r:embed="rId2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63688" y="4653136"/>
                <a:ext cx="6105912" cy="1182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en-US" sz="3200" b="0" i="1" smtClean="0">
                            <a:latin typeface="Cambria Math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n-US" sz="32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sz="3200" b="0" i="1" smtClean="0">
                            <a:latin typeface="Cambria Math"/>
                          </a:rPr>
                          <m:t>𝑐</m:t>
                        </m:r>
                      </m:sub>
                    </m:sSub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32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3200" b="0" i="1" smtClean="0">
                                <a:latin typeface="Cambria Math"/>
                                <a:ea typeface="Cambria Math"/>
                              </a:rPr>
                              <m:t>𝑇</m:t>
                            </m:r>
                          </m:den>
                        </m:f>
                      </m:num>
                      <m:den>
                        <m:r>
                          <a:rPr lang="en-US" sz="32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32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3200" i="1">
                                <a:latin typeface="Cambria Math"/>
                                <a:ea typeface="Cambria Math"/>
                              </a:rPr>
                              <m:t>𝛼</m:t>
                            </m:r>
                            <m:r>
                              <a:rPr lang="en-US" sz="3200" i="1">
                                <a:latin typeface="Cambria Math"/>
                                <a:ea typeface="Cambria Math"/>
                              </a:rPr>
                              <m:t>𝑇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sz="3200" dirty="0"/>
                  <a:t> ,      (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/>
                      </a:rPr>
                      <m:t>0</m:t>
                    </m:r>
                    <m:r>
                      <a:rPr lang="en-US" sz="3200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sz="3200" i="1" smtClean="0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&lt;1</m:t>
                    </m:r>
                  </m:oMath>
                </a14:m>
                <a:r>
                  <a:rPr lang="en-US" sz="3200" dirty="0"/>
                  <a:t>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4653136"/>
                <a:ext cx="6105912" cy="118256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71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1442"/>
            <a:ext cx="8229600" cy="792162"/>
          </a:xfrm>
        </p:spPr>
        <p:txBody>
          <a:bodyPr/>
          <a:lstStyle/>
          <a:p>
            <a:r>
              <a:rPr lang="en-US" dirty="0"/>
              <a:t>Lead Compensation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64025" y="1600200"/>
                <a:ext cx="6105912" cy="7903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en-US" sz="3200" b="0" i="1" smtClean="0">
                            <a:latin typeface="Cambria Math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n-US" sz="3200" b="0" i="1" smtClean="0">
                        <a:latin typeface="Cambria Math"/>
                      </a:rPr>
                      <m:t>=3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3200" b="0" i="1" smtClean="0">
                            <a:latin typeface="Cambria Math"/>
                            <a:ea typeface="Cambria Math"/>
                          </a:rPr>
                          <m:t>+1</m:t>
                        </m:r>
                      </m:num>
                      <m:den>
                        <m:r>
                          <a:rPr lang="en-US" sz="32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3200" b="0" i="1" smtClean="0">
                            <a:latin typeface="Cambria Math"/>
                            <a:ea typeface="Cambria Math"/>
                          </a:rPr>
                          <m:t>+10</m:t>
                        </m:r>
                      </m:den>
                    </m:f>
                  </m:oMath>
                </a14:m>
                <a:r>
                  <a:rPr lang="en-US" sz="3200" dirty="0"/>
                  <a:t> ,      (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=0.1</m:t>
                    </m:r>
                  </m:oMath>
                </a14:m>
                <a:r>
                  <a:rPr lang="en-US" sz="3200" dirty="0"/>
                  <a:t>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4025" y="1600200"/>
                <a:ext cx="6105912" cy="790345"/>
              </a:xfrm>
              <a:prstGeom prst="rect">
                <a:avLst/>
              </a:prstGeom>
              <a:blipFill rotWithShape="1">
                <a:blip r:embed="rId2"/>
                <a:stretch>
                  <a:fillRect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6" t="13684" r="7937" b="4405"/>
          <a:stretch/>
        </p:blipFill>
        <p:spPr bwMode="auto">
          <a:xfrm>
            <a:off x="133758" y="2859314"/>
            <a:ext cx="4213271" cy="317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1" t="6349" r="6799" b="4502"/>
          <a:stretch/>
        </p:blipFill>
        <p:spPr bwMode="auto">
          <a:xfrm>
            <a:off x="4516981" y="2667000"/>
            <a:ext cx="4365763" cy="3367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452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762"/>
            <a:ext cx="8229600" cy="868958"/>
          </a:xfrm>
        </p:spPr>
        <p:txBody>
          <a:bodyPr/>
          <a:lstStyle/>
          <a:p>
            <a:r>
              <a:rPr lang="en-US" dirty="0"/>
              <a:t>Electronic Lead Compensator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1124744"/>
            <a:ext cx="8928992" cy="4525963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Following figure shows an electronic lead compensator using operational amplifiers.</a:t>
            </a:r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988840"/>
            <a:ext cx="6375614" cy="3364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107179" y="5640101"/>
                <a:ext cx="5400600" cy="925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600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sz="26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600" i="1">
                              <a:latin typeface="Cambria Math"/>
                            </a:rPr>
                            <m:t>(</m:t>
                          </m:r>
                          <m:r>
                            <a:rPr lang="en-US" sz="2600" i="1">
                              <a:latin typeface="Cambria Math"/>
                            </a:rPr>
                            <m:t>𝑠</m:t>
                          </m:r>
                          <m:r>
                            <a:rPr lang="en-US" sz="2600" i="1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n-US" sz="2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sz="2600" b="0" i="1" smtClean="0"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600" b="0" i="1" smtClean="0">
                              <a:latin typeface="Cambria Math"/>
                              <a:ea typeface="Cambria Math"/>
                            </a:rPr>
                            <m:t>+1</m:t>
                          </m:r>
                        </m:num>
                        <m:den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600" i="1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600" i="1">
                              <a:latin typeface="Cambria Math"/>
                              <a:ea typeface="Cambria Math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179" y="5640101"/>
                <a:ext cx="5400600" cy="92551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495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762"/>
            <a:ext cx="8229600" cy="868958"/>
          </a:xfrm>
        </p:spPr>
        <p:txBody>
          <a:bodyPr/>
          <a:lstStyle/>
          <a:p>
            <a:r>
              <a:rPr lang="en-US" dirty="0"/>
              <a:t>Electronic Lead Compensator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496" y="1052736"/>
                <a:ext cx="8928992" cy="5688632"/>
              </a:xfrm>
            </p:spPr>
            <p:txBody>
              <a:bodyPr>
                <a:normAutofit/>
              </a:bodyPr>
              <a:lstStyle/>
              <a:p>
                <a:pPr algn="just"/>
                <a:endParaRPr lang="en-US" sz="2600" dirty="0"/>
              </a:p>
              <a:p>
                <a:pPr algn="just"/>
                <a:endParaRPr lang="en-US" sz="2600" dirty="0"/>
              </a:p>
              <a:p>
                <a:pPr algn="just"/>
                <a:r>
                  <a:rPr lang="en-US" sz="2600" dirty="0"/>
                  <a:t>This can be represented as</a:t>
                </a:r>
              </a:p>
              <a:p>
                <a:pPr algn="just"/>
                <a:endParaRPr lang="en-US" sz="2600" dirty="0"/>
              </a:p>
              <a:p>
                <a:pPr algn="just"/>
                <a:endParaRPr lang="en-US" sz="2600" dirty="0"/>
              </a:p>
              <a:p>
                <a:pPr algn="just"/>
                <a:r>
                  <a:rPr lang="en-US" sz="2600" dirty="0"/>
                  <a:t>Where,</a:t>
                </a:r>
              </a:p>
              <a:p>
                <a:pPr algn="just"/>
                <a:endParaRPr lang="en-US" sz="2600" dirty="0"/>
              </a:p>
              <a:p>
                <a:pPr algn="just"/>
                <a:endParaRPr lang="en-US" sz="2600" dirty="0"/>
              </a:p>
              <a:p>
                <a:pPr algn="just"/>
                <a:r>
                  <a:rPr lang="en-US" sz="2600" dirty="0"/>
                  <a:t>Then,</a:t>
                </a:r>
              </a:p>
              <a:p>
                <a:pPr algn="just"/>
                <a:endParaRPr lang="en-US" sz="2600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i="0" dirty="0" smtClean="0">
                        <a:latin typeface="Cambria Math"/>
                      </a:rPr>
                      <m:t>Notice</m:t>
                    </m:r>
                    <m:r>
                      <a:rPr lang="en-US" sz="2600" i="0" dirty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600" i="0" dirty="0" smtClean="0">
                        <a:latin typeface="Cambria Math"/>
                      </a:rPr>
                      <m:t>that</m:t>
                    </m:r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96" y="1052736"/>
                <a:ext cx="8928992" cy="5688632"/>
              </a:xfrm>
              <a:blipFill rotWithShape="1">
                <a:blip r:embed="rId2"/>
                <a:stretch>
                  <a:fillRect l="-10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763688" y="980728"/>
                <a:ext cx="5400600" cy="925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600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sz="26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600" i="1">
                              <a:latin typeface="Cambria Math"/>
                            </a:rPr>
                            <m:t>(</m:t>
                          </m:r>
                          <m:r>
                            <a:rPr lang="en-US" sz="2600" i="1">
                              <a:latin typeface="Cambria Math"/>
                            </a:rPr>
                            <m:t>𝑠</m:t>
                          </m:r>
                          <m:r>
                            <a:rPr lang="en-US" sz="2600" i="1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n-US" sz="2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sz="2600" b="0" i="1" smtClean="0"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600" b="0" i="1" smtClean="0">
                              <a:latin typeface="Cambria Math"/>
                              <a:ea typeface="Cambria Math"/>
                            </a:rPr>
                            <m:t>+1</m:t>
                          </m:r>
                        </m:num>
                        <m:den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600" i="1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600" i="1">
                              <a:latin typeface="Cambria Math"/>
                              <a:ea typeface="Cambria Math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980728"/>
                <a:ext cx="5400600" cy="92551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79712" y="2348880"/>
                <a:ext cx="5400600" cy="1559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600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sz="26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600" i="1">
                              <a:latin typeface="Cambria Math"/>
                            </a:rPr>
                            <m:t>(</m:t>
                          </m:r>
                          <m:r>
                            <a:rPr lang="en-US" sz="2600" i="1">
                              <a:latin typeface="Cambria Math"/>
                            </a:rPr>
                            <m:t>𝑠</m:t>
                          </m:r>
                          <m:r>
                            <a:rPr lang="en-US" sz="2600" i="1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n-US" sz="2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600" b="0" i="1" smtClean="0"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6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r>
                            <a:rPr lang="en-US" sz="2600" i="1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600" i="1">
                              <a:latin typeface="Cambria Math"/>
                              <a:ea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6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2348880"/>
                <a:ext cx="5400600" cy="155927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dirty="0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547664" y="4254365"/>
                <a:ext cx="136415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/>
                        </a:rPr>
                        <m:t>𝑇</m:t>
                      </m:r>
                      <m:r>
                        <a:rPr lang="en-US" sz="22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2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4254365"/>
                <a:ext cx="1364156" cy="43088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19872" y="4254365"/>
                <a:ext cx="153433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/>
                        </a:rPr>
                        <m:t>𝑎𝑇</m:t>
                      </m:r>
                      <m:r>
                        <a:rPr lang="en-US" sz="22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4254365"/>
                <a:ext cx="1534331" cy="43088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436096" y="4077072"/>
                <a:ext cx="1499770" cy="7854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en-US" sz="2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4077072"/>
                <a:ext cx="1499770" cy="78547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63688" y="4869160"/>
                <a:ext cx="6105912" cy="1045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𝑐</m:t>
                        </m:r>
                      </m:sub>
                    </m:sSub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𝑇</m:t>
                            </m:r>
                          </m:den>
                        </m:f>
                      </m:num>
                      <m:den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>
                                <a:latin typeface="Cambria Math"/>
                                <a:ea typeface="Cambria Math"/>
                              </a:rPr>
                              <m:t>𝛼</m:t>
                            </m:r>
                            <m:r>
                              <a:rPr lang="en-US" sz="2800" i="1">
                                <a:latin typeface="Cambria Math"/>
                                <a:ea typeface="Cambria Math"/>
                              </a:rPr>
                              <m:t>𝑇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sz="2800" dirty="0"/>
                  <a:t> ,      (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0</m:t>
                    </m:r>
                    <m:r>
                      <a:rPr lang="en-US" sz="2800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sz="2800" i="1" smtClean="0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&lt;1</m:t>
                    </m:r>
                  </m:oMath>
                </a14:m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4869160"/>
                <a:ext cx="6105912" cy="1045414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95936" y="6238473"/>
                <a:ext cx="177843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2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200" i="1" smtClean="0">
                          <a:latin typeface="Cambria Math"/>
                          <a:ea typeface="Cambria Math"/>
                        </a:rPr>
                        <m:t>&gt;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6238473"/>
                <a:ext cx="1778436" cy="430887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8460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4" grpId="0" animBg="1"/>
      <p:bldP spid="8" grpId="0" animBg="1"/>
      <p:bldP spid="9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Electronic Lead Compensator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600200"/>
            <a:ext cx="4896544" cy="4525963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Pole-zero Configuration of Lead Compensator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075" y="1269339"/>
            <a:ext cx="3971925" cy="505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27584" y="3289925"/>
                <a:ext cx="2880320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6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600" i="1" smtClean="0">
                          <a:latin typeface="Cambria Math"/>
                          <a:ea typeface="Cambria Math"/>
                        </a:rPr>
                        <m:t>&gt;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289925"/>
                <a:ext cx="2880320" cy="49244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341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Lead Compensation Techniques Based on the Root-Locus Approach.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The root-locus approach to design is very powerful when the specifications are given in terms of time-domain quantities, such as </a:t>
            </a:r>
          </a:p>
          <a:p>
            <a:pPr algn="just"/>
            <a:endParaRPr lang="en-US" sz="2800" dirty="0"/>
          </a:p>
          <a:p>
            <a:pPr lvl="1" algn="just"/>
            <a:r>
              <a:rPr lang="en-US" sz="2400" dirty="0"/>
              <a:t>damping ratio</a:t>
            </a:r>
          </a:p>
          <a:p>
            <a:pPr lvl="1" algn="just"/>
            <a:r>
              <a:rPr lang="en-US" sz="2400" dirty="0"/>
              <a:t>undamped natural frequency</a:t>
            </a:r>
          </a:p>
          <a:p>
            <a:pPr lvl="1" algn="just"/>
            <a:r>
              <a:rPr lang="en-US" sz="2400" dirty="0"/>
              <a:t>desired dominant closed-loop poles</a:t>
            </a:r>
          </a:p>
          <a:p>
            <a:pPr lvl="1" algn="just"/>
            <a:r>
              <a:rPr lang="en-US" sz="2400" dirty="0"/>
              <a:t>maximum overshoot</a:t>
            </a:r>
          </a:p>
          <a:p>
            <a:pPr lvl="1" algn="just"/>
            <a:r>
              <a:rPr lang="en-US" sz="2400" dirty="0"/>
              <a:t>rise time</a:t>
            </a:r>
          </a:p>
          <a:p>
            <a:pPr lvl="1" algn="just"/>
            <a:r>
              <a:rPr lang="en-US" sz="2400" dirty="0"/>
              <a:t>settling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9</a:t>
            </a:fld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Lead Compensation Techniques Based on the Root-Locus Approach.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procedures for designing a lead compensator by the root-locus method may be stated as follows: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lvl="1" algn="just"/>
            <a:r>
              <a:rPr lang="en-US" b="1" dirty="0"/>
              <a:t>Step-1: </a:t>
            </a:r>
            <a:r>
              <a:rPr lang="en-US" dirty="0"/>
              <a:t>Analyze the given system via root locus.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10</a:t>
            </a:fld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Step-2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>
            <a:normAutofit/>
          </a:bodyPr>
          <a:lstStyle/>
          <a:p>
            <a:pPr lvl="1" algn="just">
              <a:buFont typeface="Arial" pitchFamily="34" charset="0"/>
              <a:buChar char="•"/>
            </a:pPr>
            <a:r>
              <a:rPr lang="en-US" dirty="0"/>
              <a:t>From the performance specifications, determine the desired location for the dominant closed-loop poles.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11</a:t>
            </a:fld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From the root-locus plot of the uncompensated system (original system), ascertain whether or not the gain adjustment alone can yield the desired closed loop poles.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 If not, calculate the angle deficiency.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This angle must be contributed by the lead compensator if the new root locus is to pass through the desired locations for the dominant closed-loop poles.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12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84238"/>
          </a:xfrm>
        </p:spPr>
        <p:txBody>
          <a:bodyPr/>
          <a:lstStyle/>
          <a:p>
            <a:r>
              <a:rPr lang="en-US" b="1" dirty="0"/>
              <a:t>Step-4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10600" cy="54864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Assume the Lead Compensator to be: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Where </a:t>
            </a:r>
            <a:r>
              <a:rPr lang="el-GR" dirty="0">
                <a:solidFill>
                  <a:srgbClr val="FF0000"/>
                </a:solidFill>
              </a:rPr>
              <a:t>α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/>
              <a:t> are determined from the angle deficiency.</a:t>
            </a:r>
          </a:p>
          <a:p>
            <a:pPr algn="just"/>
            <a:r>
              <a:rPr lang="en-US" dirty="0" err="1">
                <a:solidFill>
                  <a:srgbClr val="FF0000"/>
                </a:solidFill>
              </a:rPr>
              <a:t>K</a:t>
            </a:r>
            <a:r>
              <a:rPr lang="en-US" baseline="-25000" dirty="0" err="1">
                <a:solidFill>
                  <a:srgbClr val="FF0000"/>
                </a:solidFill>
              </a:rPr>
              <a:t>c</a:t>
            </a:r>
            <a:r>
              <a:rPr lang="en-US" i="1" dirty="0"/>
              <a:t> </a:t>
            </a:r>
            <a:r>
              <a:rPr lang="en-US" dirty="0"/>
              <a:t>is determined from the requirement of the open-loop gain.</a:t>
            </a:r>
          </a:p>
        </p:txBody>
      </p:sp>
      <p:pic>
        <p:nvPicPr>
          <p:cNvPr id="1689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881081"/>
            <a:ext cx="7191375" cy="1547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13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84238"/>
          </a:xfrm>
        </p:spPr>
        <p:txBody>
          <a:bodyPr/>
          <a:lstStyle/>
          <a:p>
            <a:r>
              <a:rPr lang="en-US" b="1" dirty="0"/>
              <a:t>Step-5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219200"/>
            <a:ext cx="8915400" cy="54864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If static error constants are not specified, determine the location of the pole and zero of the lead compensator so that the lead compensator will contribute the necessary angle.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If no other requirements are imposed on the system, try to make the value of </a:t>
            </a:r>
            <a:r>
              <a:rPr lang="el-GR" dirty="0">
                <a:solidFill>
                  <a:srgbClr val="FF0000"/>
                </a:solidFill>
              </a:rPr>
              <a:t>α</a:t>
            </a:r>
            <a:r>
              <a:rPr lang="en-US" dirty="0"/>
              <a:t> as large as possible.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 larger value of </a:t>
            </a:r>
            <a:r>
              <a:rPr lang="el-GR" dirty="0">
                <a:solidFill>
                  <a:srgbClr val="FF0000"/>
                </a:solidFill>
              </a:rPr>
              <a:t>α</a:t>
            </a:r>
            <a:r>
              <a:rPr lang="en-US" dirty="0"/>
              <a:t> generally results in a larger value of </a:t>
            </a:r>
            <a:r>
              <a:rPr lang="en-US" dirty="0" err="1">
                <a:solidFill>
                  <a:srgbClr val="FF0000"/>
                </a:solidFill>
              </a:rPr>
              <a:t>K</a:t>
            </a:r>
            <a:r>
              <a:rPr lang="en-US" baseline="-25000" dirty="0" err="1">
                <a:solidFill>
                  <a:srgbClr val="FF0000"/>
                </a:solidFill>
              </a:rPr>
              <a:t>v</a:t>
            </a:r>
            <a:r>
              <a:rPr lang="en-US" dirty="0"/>
              <a:t>, which is desirable.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Larger value of </a:t>
            </a:r>
            <a:r>
              <a:rPr lang="el-GR" dirty="0">
                <a:solidFill>
                  <a:srgbClr val="FF0000"/>
                </a:solidFill>
              </a:rPr>
              <a:t>α</a:t>
            </a:r>
            <a:r>
              <a:rPr lang="en-US" dirty="0"/>
              <a:t> will produce a larger value of </a:t>
            </a:r>
            <a:r>
              <a:rPr lang="en-US" i="1" dirty="0" err="1">
                <a:solidFill>
                  <a:srgbClr val="FF0000"/>
                </a:solidFill>
              </a:rPr>
              <a:t>K</a:t>
            </a:r>
            <a:r>
              <a:rPr lang="en-US" baseline="-25000" dirty="0" err="1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 </a:t>
            </a:r>
            <a:r>
              <a:rPr lang="en-US" dirty="0"/>
              <a:t>and in most cases, the larger the </a:t>
            </a:r>
            <a:r>
              <a:rPr lang="en-US" i="1" dirty="0" err="1">
                <a:solidFill>
                  <a:srgbClr val="FF0000"/>
                </a:solidFill>
              </a:rPr>
              <a:t>K</a:t>
            </a:r>
            <a:r>
              <a:rPr lang="en-US" baseline="-25000" dirty="0" err="1">
                <a:solidFill>
                  <a:srgbClr val="FF0000"/>
                </a:solidFill>
              </a:rPr>
              <a:t>v</a:t>
            </a:r>
            <a:r>
              <a:rPr lang="en-US" dirty="0"/>
              <a:t> is, the better the system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14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84238"/>
          </a:xfrm>
        </p:spPr>
        <p:txBody>
          <a:bodyPr/>
          <a:lstStyle/>
          <a:p>
            <a:r>
              <a:rPr lang="en-US" b="1" dirty="0"/>
              <a:t>Step-6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219200"/>
            <a:ext cx="8686800" cy="490696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Determine the value of </a:t>
            </a:r>
            <a:r>
              <a:rPr lang="en-US" dirty="0" err="1">
                <a:solidFill>
                  <a:srgbClr val="FF0000"/>
                </a:solidFill>
              </a:rPr>
              <a:t>K</a:t>
            </a:r>
            <a:r>
              <a:rPr lang="en-US" baseline="-25000" dirty="0" err="1">
                <a:solidFill>
                  <a:srgbClr val="FF0000"/>
                </a:solidFill>
              </a:rPr>
              <a:t>c</a:t>
            </a:r>
            <a:r>
              <a:rPr lang="en-US" dirty="0"/>
              <a:t> of the lead compensator from the magnitude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15</a:t>
            </a:fld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Final Design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Once a compensator has been designed, check to see whether all performance specifications have been met.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If the compensated system does not meet the performance specifications, then repeat the design procedure by adjusting the compensator pole and zero until all such specifications are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16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Final Design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If the selected dominant closed-loop poles are not really dominant, or if the selected dominant closed-loop poles do not yield the desired result, it will be necessary to modify the location of the pair of such selected dominant closed-loop poles.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17</a:t>
            </a:fld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dirty="0"/>
              <a:t>Example-1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074730" cy="4525963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Consider the position control system shown in following figure. 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It is desired to design an Electronic lead compensator </a:t>
            </a:r>
            <a:r>
              <a:rPr lang="en-US" sz="2800" dirty="0" err="1">
                <a:solidFill>
                  <a:srgbClr val="FF0000"/>
                </a:solidFill>
              </a:rPr>
              <a:t>G</a:t>
            </a:r>
            <a:r>
              <a:rPr lang="en-US" sz="2800" baseline="-25000" dirty="0" err="1">
                <a:solidFill>
                  <a:srgbClr val="FF0000"/>
                </a:solidFill>
              </a:rPr>
              <a:t>c</a:t>
            </a:r>
            <a:r>
              <a:rPr lang="en-US" sz="2800" dirty="0">
                <a:solidFill>
                  <a:srgbClr val="FF0000"/>
                </a:solidFill>
              </a:rPr>
              <a:t>(s)</a:t>
            </a:r>
            <a:r>
              <a:rPr lang="en-US" sz="2800" dirty="0"/>
              <a:t> so that the dominant closed poles have the damping ratio </a:t>
            </a:r>
            <a:r>
              <a:rPr lang="en-US" sz="2800" dirty="0">
                <a:solidFill>
                  <a:srgbClr val="FF0000"/>
                </a:solidFill>
              </a:rPr>
              <a:t>0.5</a:t>
            </a:r>
            <a:r>
              <a:rPr lang="en-US" sz="2800" dirty="0"/>
              <a:t> and undamped natural frequency </a:t>
            </a:r>
            <a:r>
              <a:rPr lang="en-US" sz="2800" dirty="0">
                <a:solidFill>
                  <a:srgbClr val="FF0000"/>
                </a:solidFill>
              </a:rPr>
              <a:t>3 rad/sec</a:t>
            </a:r>
            <a:r>
              <a:rPr lang="en-US" sz="2800" dirty="0"/>
              <a:t>.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1905000"/>
            <a:ext cx="4981575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18</a:t>
            </a:fld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dirty="0"/>
              <a:t>Step-1 (Example-1)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70" y="1018290"/>
            <a:ext cx="9074730" cy="4525963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Draw the root Locus plot of the given system.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371600" y="1828800"/>
          <a:ext cx="2433638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44520" imgH="419040" progId="Equation.3">
                  <p:embed/>
                </p:oleObj>
              </mc:Choice>
              <mc:Fallback>
                <p:oleObj name="Equation" r:id="rId2" imgW="124452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828800"/>
                        <a:ext cx="2433638" cy="81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5000" y="1828800"/>
            <a:ext cx="3361851" cy="466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5534890" y="2507680"/>
            <a:ext cx="2057400" cy="838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76200" y="2819400"/>
            <a:ext cx="51816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closed loop</a:t>
            </a:r>
            <a:r>
              <a:rPr kumimoji="0" lang="en-US" sz="2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transfer function of the given system is: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2600" dirty="0"/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2600" dirty="0"/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6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600" dirty="0"/>
              <a:t>The closed loop poles are</a:t>
            </a:r>
            <a:endParaRPr kumimoji="0" lang="en-US" sz="26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2600" baseline="0" dirty="0"/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6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1447800" y="4038600"/>
          <a:ext cx="22352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3000" imgH="419040" progId="Equation.3">
                  <p:embed/>
                </p:oleObj>
              </mc:Choice>
              <mc:Fallback>
                <p:oleObj name="Equation" r:id="rId5" imgW="1143000" imgH="419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038600"/>
                        <a:ext cx="2235200" cy="81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" name="Object 7"/>
          <p:cNvGraphicFramePr>
            <a:graphicFrameLocks noChangeAspect="1"/>
          </p:cNvGraphicFramePr>
          <p:nvPr/>
        </p:nvGraphicFramePr>
        <p:xfrm>
          <a:off x="1295400" y="5791200"/>
          <a:ext cx="22860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68200" imgH="203040" progId="Equation.3">
                  <p:embed/>
                </p:oleObj>
              </mc:Choice>
              <mc:Fallback>
                <p:oleObj name="Equation" r:id="rId7" imgW="1168200" imgH="2030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791200"/>
                        <a:ext cx="2286000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19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dirty="0"/>
              <a:t>Step-1 (Example-1)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70" y="1018291"/>
            <a:ext cx="9074730" cy="810510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800" dirty="0"/>
              <a:t>Determine the characteristics of given system using root loci.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0" y="1828800"/>
            <a:ext cx="3361851" cy="466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76200" y="2971800"/>
            <a:ext cx="51816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234950" indent="-234950" algn="just">
              <a:buFont typeface="Arial" pitchFamily="34" charset="0"/>
              <a:buChar char="•"/>
            </a:pPr>
            <a:r>
              <a:rPr lang="en-US" sz="2600" dirty="0"/>
              <a:t>The damping ratio of the closed-loop poles is </a:t>
            </a:r>
            <a:r>
              <a:rPr lang="en-US" sz="2600" dirty="0">
                <a:solidFill>
                  <a:srgbClr val="FF0000"/>
                </a:solidFill>
              </a:rPr>
              <a:t>0.158</a:t>
            </a:r>
            <a:r>
              <a:rPr lang="en-US" sz="2600" dirty="0"/>
              <a:t>.</a:t>
            </a:r>
          </a:p>
          <a:p>
            <a:pPr marL="234950" indent="-234950" algn="just">
              <a:buFont typeface="Arial" pitchFamily="34" charset="0"/>
              <a:buChar char="•"/>
            </a:pPr>
            <a:endParaRPr lang="en-US" sz="2600" dirty="0"/>
          </a:p>
          <a:p>
            <a:pPr marL="234950" indent="-234950" algn="just">
              <a:buFont typeface="Arial" pitchFamily="34" charset="0"/>
              <a:buChar char="•"/>
            </a:pPr>
            <a:r>
              <a:rPr lang="en-US" sz="2600" dirty="0"/>
              <a:t>The undamped natural frequency of the closed-loop poles is </a:t>
            </a:r>
            <a:r>
              <a:rPr lang="en-US" sz="2600" dirty="0">
                <a:solidFill>
                  <a:srgbClr val="FF0000"/>
                </a:solidFill>
              </a:rPr>
              <a:t>3.1623 </a:t>
            </a:r>
            <a:r>
              <a:rPr lang="en-US" sz="2600" dirty="0" err="1">
                <a:solidFill>
                  <a:srgbClr val="FF0000"/>
                </a:solidFill>
              </a:rPr>
              <a:t>rad</a:t>
            </a:r>
            <a:r>
              <a:rPr lang="en-US" sz="2600" dirty="0">
                <a:solidFill>
                  <a:srgbClr val="FF0000"/>
                </a:solidFill>
              </a:rPr>
              <a:t>/sec</a:t>
            </a:r>
            <a:r>
              <a:rPr lang="en-US" sz="2600" dirty="0"/>
              <a:t>.</a:t>
            </a:r>
          </a:p>
          <a:p>
            <a:pPr marL="234950" indent="-234950" algn="just">
              <a:buFont typeface="Arial" pitchFamily="34" charset="0"/>
              <a:buChar char="•"/>
            </a:pPr>
            <a:endParaRPr kumimoji="0" lang="en-US" sz="26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34950" indent="-234950" algn="just">
              <a:buFont typeface="Arial" pitchFamily="34" charset="0"/>
              <a:buChar char="•"/>
            </a:pPr>
            <a:r>
              <a:rPr lang="en-US" sz="2800" dirty="0"/>
              <a:t>Because the damping ratio is small, this system will have a large overshoot in the step response and is not desirable.</a:t>
            </a:r>
            <a:endParaRPr kumimoji="0" lang="en-US" sz="26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1524000" y="1981200"/>
          <a:ext cx="22352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3000" imgH="419040" progId="Equation.3">
                  <p:embed/>
                </p:oleObj>
              </mc:Choice>
              <mc:Fallback>
                <p:oleObj name="Equation" r:id="rId3" imgW="1143000" imgH="419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981200"/>
                        <a:ext cx="2235200" cy="81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20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Step-2 (Example-1)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93837"/>
            <a:ext cx="8991600" cy="4525963"/>
          </a:xfrm>
        </p:spPr>
        <p:txBody>
          <a:bodyPr>
            <a:normAutofit/>
          </a:bodyPr>
          <a:lstStyle/>
          <a:p>
            <a:pPr lvl="1" algn="just">
              <a:buFont typeface="Arial" pitchFamily="34" charset="0"/>
              <a:buChar char="•"/>
            </a:pPr>
            <a:r>
              <a:rPr lang="en-US" dirty="0"/>
              <a:t>From the performance specifications, determine the desired location for the dominant closed-loop poles.</a:t>
            </a:r>
          </a:p>
          <a:p>
            <a:pPr lvl="1" algn="just">
              <a:buFont typeface="Arial" pitchFamily="34" charset="0"/>
              <a:buChar char="•"/>
            </a:pPr>
            <a:endParaRPr lang="en-US" dirty="0"/>
          </a:p>
          <a:p>
            <a:pPr lvl="1" algn="just">
              <a:buFont typeface="Arial" pitchFamily="34" charset="0"/>
              <a:buChar char="•"/>
            </a:pPr>
            <a:r>
              <a:rPr lang="en-US" dirty="0"/>
              <a:t>Desired performance Specifications are:</a:t>
            </a:r>
          </a:p>
          <a:p>
            <a:pPr lvl="2" algn="just">
              <a:buFont typeface="Wingdings" pitchFamily="2" charset="2"/>
              <a:buChar char="§"/>
            </a:pPr>
            <a:r>
              <a:rPr lang="en-US" dirty="0"/>
              <a:t>It is desired to have damping ratio </a:t>
            </a:r>
            <a:r>
              <a:rPr lang="en-US" dirty="0">
                <a:solidFill>
                  <a:srgbClr val="FF0000"/>
                </a:solidFill>
              </a:rPr>
              <a:t>0.5</a:t>
            </a:r>
            <a:r>
              <a:rPr lang="en-US" dirty="0"/>
              <a:t> and undamped natural frequency </a:t>
            </a:r>
            <a:r>
              <a:rPr lang="en-US" dirty="0">
                <a:solidFill>
                  <a:srgbClr val="FF0000"/>
                </a:solidFill>
              </a:rPr>
              <a:t>3 </a:t>
            </a:r>
            <a:r>
              <a:rPr lang="en-US" dirty="0" err="1">
                <a:solidFill>
                  <a:srgbClr val="FF0000"/>
                </a:solidFill>
              </a:rPr>
              <a:t>rad</a:t>
            </a:r>
            <a:r>
              <a:rPr lang="en-US" dirty="0">
                <a:solidFill>
                  <a:srgbClr val="FF0000"/>
                </a:solidFill>
              </a:rPr>
              <a:t>/sec</a:t>
            </a:r>
            <a:r>
              <a:rPr lang="en-US" dirty="0"/>
              <a:t>. </a:t>
            </a:r>
          </a:p>
          <a:p>
            <a:pPr lvl="2" algn="just"/>
            <a:endParaRPr lang="en-US" dirty="0"/>
          </a:p>
        </p:txBody>
      </p:sp>
      <p:graphicFrame>
        <p:nvGraphicFramePr>
          <p:cNvPr id="4098" name="Object 6"/>
          <p:cNvGraphicFramePr>
            <a:graphicFrameLocks noChangeAspect="1"/>
          </p:cNvGraphicFramePr>
          <p:nvPr/>
        </p:nvGraphicFramePr>
        <p:xfrm>
          <a:off x="2201863" y="4419600"/>
          <a:ext cx="4446587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73040" imgH="457200" progId="Equation.3">
                  <p:embed/>
                </p:oleObj>
              </mc:Choice>
              <mc:Fallback>
                <p:oleObj name="Equation" r:id="rId2" imgW="2273040" imgH="45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863" y="4419600"/>
                        <a:ext cx="4446587" cy="893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3289300" y="5715000"/>
          <a:ext cx="22606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55600" imgH="203040" progId="Equation.3">
                  <p:embed/>
                </p:oleObj>
              </mc:Choice>
              <mc:Fallback>
                <p:oleObj name="Equation" r:id="rId4" imgW="115560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5715000"/>
                        <a:ext cx="2260600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21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84238"/>
          </a:xfrm>
        </p:spPr>
        <p:txBody>
          <a:bodyPr>
            <a:normAutofit/>
          </a:bodyPr>
          <a:lstStyle/>
          <a:p>
            <a:r>
              <a:rPr lang="en-US" b="1" dirty="0"/>
              <a:t>Step-2 (Example-1)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067800" cy="4525963"/>
          </a:xfrm>
        </p:spPr>
        <p:txBody>
          <a:bodyPr>
            <a:normAutofit/>
          </a:bodyPr>
          <a:lstStyle/>
          <a:p>
            <a:pPr marL="346075" lvl="1" indent="-290513" algn="just">
              <a:buFont typeface="Arial" pitchFamily="34" charset="0"/>
              <a:buChar char="•"/>
            </a:pPr>
            <a:r>
              <a:rPr lang="en-US" sz="2700" dirty="0"/>
              <a:t>Alternatively desired location of closed loop poles can also be determined graphically</a:t>
            </a:r>
          </a:p>
          <a:p>
            <a:pPr marL="852488" lvl="2" indent="-3952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/>
              <a:t>Desired </a:t>
            </a:r>
            <a:r>
              <a:rPr lang="el-GR" dirty="0"/>
              <a:t>ω</a:t>
            </a:r>
            <a:r>
              <a:rPr lang="en-US" baseline="-25000" dirty="0"/>
              <a:t>n</a:t>
            </a:r>
            <a:r>
              <a:rPr lang="en-US" dirty="0"/>
              <a:t>= </a:t>
            </a:r>
            <a:r>
              <a:rPr lang="en-US" dirty="0">
                <a:solidFill>
                  <a:srgbClr val="FF0000"/>
                </a:solidFill>
              </a:rPr>
              <a:t>3 </a:t>
            </a:r>
            <a:r>
              <a:rPr lang="en-US" dirty="0" err="1">
                <a:solidFill>
                  <a:srgbClr val="FF0000"/>
                </a:solidFill>
              </a:rPr>
              <a:t>rad</a:t>
            </a:r>
            <a:r>
              <a:rPr lang="en-US" dirty="0">
                <a:solidFill>
                  <a:srgbClr val="FF0000"/>
                </a:solidFill>
              </a:rPr>
              <a:t>/sec</a:t>
            </a:r>
          </a:p>
          <a:p>
            <a:pPr marL="852488" lvl="2" indent="-3952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/>
              <a:t>Desired damping ratio= </a:t>
            </a:r>
            <a:r>
              <a:rPr lang="en-US" dirty="0">
                <a:solidFill>
                  <a:srgbClr val="FF0000"/>
                </a:solidFill>
              </a:rPr>
              <a:t>0.5</a:t>
            </a:r>
            <a:r>
              <a:rPr lang="en-US" dirty="0"/>
              <a:t> </a:t>
            </a:r>
          </a:p>
        </p:txBody>
      </p:sp>
      <p:graphicFrame>
        <p:nvGraphicFramePr>
          <p:cNvPr id="5124" name="Object 4"/>
          <p:cNvGraphicFramePr>
            <a:graphicFrameLocks noChangeAspect="1"/>
          </p:cNvGraphicFramePr>
          <p:nvPr/>
        </p:nvGraphicFramePr>
        <p:xfrm>
          <a:off x="1447800" y="3503612"/>
          <a:ext cx="142557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11000" imgH="228600" progId="Equation.3">
                  <p:embed/>
                </p:oleObj>
              </mc:Choice>
              <mc:Fallback>
                <p:oleObj name="Equation" r:id="rId3" imgW="71100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503612"/>
                        <a:ext cx="1425575" cy="45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5"/>
          <p:cNvGraphicFramePr>
            <a:graphicFrameLocks noChangeAspect="1"/>
          </p:cNvGraphicFramePr>
          <p:nvPr/>
        </p:nvGraphicFramePr>
        <p:xfrm>
          <a:off x="925513" y="4418012"/>
          <a:ext cx="252095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57120" imgH="228600" progId="Equation.3">
                  <p:embed/>
                </p:oleObj>
              </mc:Choice>
              <mc:Fallback>
                <p:oleObj name="Equation" r:id="rId5" imgW="125712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513" y="4418012"/>
                        <a:ext cx="2520950" cy="45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4613565" y="1905000"/>
            <a:ext cx="3548886" cy="4667250"/>
            <a:chOff x="4613565" y="1905000"/>
            <a:chExt cx="3548886" cy="4667250"/>
          </a:xfrm>
        </p:grpSpPr>
        <p:pic>
          <p:nvPicPr>
            <p:cNvPr id="6" name="Picture 4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800600" y="1905000"/>
              <a:ext cx="3361851" cy="4667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7" name="Rectangle 16"/>
            <p:cNvSpPr/>
            <p:nvPr/>
          </p:nvSpPr>
          <p:spPr>
            <a:xfrm>
              <a:off x="4613565" y="2576945"/>
              <a:ext cx="2057400" cy="838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Oval 6"/>
          <p:cNvSpPr/>
          <p:nvPr/>
        </p:nvSpPr>
        <p:spPr>
          <a:xfrm>
            <a:off x="5396345" y="2743200"/>
            <a:ext cx="3200400" cy="3276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rot="16200000" flipV="1">
            <a:off x="5198920" y="2621970"/>
            <a:ext cx="2362200" cy="121920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4648200" y="2438400"/>
            <a:ext cx="1650075" cy="738664"/>
            <a:chOff x="4648200" y="2438400"/>
            <a:chExt cx="1650075" cy="738664"/>
          </a:xfrm>
        </p:grpSpPr>
        <p:sp>
          <p:nvSpPr>
            <p:cNvPr id="15" name="Oval 14"/>
            <p:cNvSpPr/>
            <p:nvPr/>
          </p:nvSpPr>
          <p:spPr>
            <a:xfrm>
              <a:off x="6206835" y="2895600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648200" y="2438400"/>
              <a:ext cx="121920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Desired Closed Loop Pole</a:t>
              </a: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>
              <a:off x="5715000" y="2667000"/>
              <a:ext cx="38100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6211786" y="3870648"/>
            <a:ext cx="772583" cy="706920"/>
            <a:chOff x="6211786" y="3870648"/>
            <a:chExt cx="772583" cy="706920"/>
          </a:xfrm>
        </p:grpSpPr>
        <p:sp>
          <p:nvSpPr>
            <p:cNvPr id="22" name="Arc 21"/>
            <p:cNvSpPr/>
            <p:nvPr/>
          </p:nvSpPr>
          <p:spPr>
            <a:xfrm rot="14580006">
              <a:off x="6244618" y="3837816"/>
              <a:ext cx="706920" cy="772583"/>
            </a:xfrm>
            <a:prstGeom prst="arc">
              <a:avLst>
                <a:gd name="adj1" fmla="val 16200000"/>
                <a:gd name="adj2" fmla="val 2668744"/>
              </a:avLst>
            </a:prstGeom>
            <a:ln w="28575">
              <a:solidFill>
                <a:schemeClr val="accent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5126" name="Object 6"/>
            <p:cNvGraphicFramePr>
              <a:graphicFrameLocks noChangeAspect="1"/>
            </p:cNvGraphicFramePr>
            <p:nvPr/>
          </p:nvGraphicFramePr>
          <p:xfrm>
            <a:off x="6289965" y="4003975"/>
            <a:ext cx="371475" cy="260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53800" imgH="177480" progId="Equation.3">
                    <p:embed/>
                  </p:oleObj>
                </mc:Choice>
                <mc:Fallback>
                  <p:oleObj name="Equation" r:id="rId8" imgW="253800" imgH="17748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89965" y="4003975"/>
                          <a:ext cx="371475" cy="2603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22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7759"/>
            <a:ext cx="8229600" cy="782775"/>
          </a:xfrm>
        </p:spPr>
        <p:txBody>
          <a:bodyPr/>
          <a:lstStyle/>
          <a:p>
            <a:r>
              <a:rPr lang="en-US" b="1" dirty="0"/>
              <a:t>Step-3 (Exampl-1)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45" y="810490"/>
            <a:ext cx="8686800" cy="4800600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From the root-locus plot of the uncompensated system ascertain whether or not the gain adjustment alone can yield the desired closed loop poles.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2570020" y="2114550"/>
            <a:ext cx="3569666" cy="4667250"/>
            <a:chOff x="2570020" y="2114550"/>
            <a:chExt cx="3569666" cy="4667250"/>
          </a:xfrm>
        </p:grpSpPr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777835" y="2114550"/>
              <a:ext cx="3361851" cy="4667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Rectangle 5"/>
            <p:cNvSpPr/>
            <p:nvPr/>
          </p:nvSpPr>
          <p:spPr>
            <a:xfrm>
              <a:off x="2570020" y="2786495"/>
              <a:ext cx="2057400" cy="838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2625435" y="2647950"/>
              <a:ext cx="1650075" cy="738664"/>
              <a:chOff x="4648200" y="2438400"/>
              <a:chExt cx="1650075" cy="738664"/>
            </a:xfrm>
          </p:grpSpPr>
          <p:sp>
            <p:nvSpPr>
              <p:cNvPr id="10" name="Oval 9"/>
              <p:cNvSpPr/>
              <p:nvPr/>
            </p:nvSpPr>
            <p:spPr>
              <a:xfrm>
                <a:off x="6206835" y="2895600"/>
                <a:ext cx="91440" cy="9144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4648200" y="2438400"/>
                <a:ext cx="121920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Desired Closed Loop Pole</a:t>
                </a:r>
              </a:p>
            </p:txBody>
          </p:sp>
          <p:cxnSp>
            <p:nvCxnSpPr>
              <p:cNvPr id="12" name="Straight Arrow Connector 11"/>
              <p:cNvCxnSpPr/>
              <p:nvPr/>
            </p:nvCxnSpPr>
            <p:spPr>
              <a:xfrm>
                <a:off x="5715000" y="2667000"/>
                <a:ext cx="381000" cy="2286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23</a:t>
            </a:fld>
            <a:endParaRPr lang="en-GB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119"/>
            <a:ext cx="8229600" cy="70657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Step-3 (Exampl-1)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95" y="810480"/>
            <a:ext cx="8686800" cy="4800600"/>
          </a:xfrm>
        </p:spPr>
        <p:txBody>
          <a:bodyPr>
            <a:normAutofit/>
          </a:bodyPr>
          <a:lstStyle/>
          <a:p>
            <a:pPr algn="just"/>
            <a:r>
              <a:rPr lang="en-US" sz="2300" dirty="0"/>
              <a:t>If not, calculate the angle deficiency. </a:t>
            </a:r>
          </a:p>
          <a:p>
            <a:pPr algn="just"/>
            <a:r>
              <a:rPr lang="en-US" sz="2300" dirty="0"/>
              <a:t>To calculate the angle of deficiency apply Angle Condition at desired closed loop pole.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4800600" y="3124200"/>
            <a:ext cx="4191000" cy="3657600"/>
            <a:chOff x="2514600" y="2225040"/>
            <a:chExt cx="4191000" cy="3657600"/>
          </a:xfrm>
        </p:grpSpPr>
        <p:grpSp>
          <p:nvGrpSpPr>
            <p:cNvPr id="8" name="Group 7"/>
            <p:cNvGrpSpPr/>
            <p:nvPr/>
          </p:nvGrpSpPr>
          <p:grpSpPr>
            <a:xfrm>
              <a:off x="2514600" y="3139440"/>
              <a:ext cx="4191000" cy="2743200"/>
              <a:chOff x="2272145" y="2889454"/>
              <a:chExt cx="4191000" cy="2743200"/>
            </a:xfrm>
          </p:grpSpPr>
          <p:cxnSp>
            <p:nvCxnSpPr>
              <p:cNvPr id="5" name="Straight Connector 4"/>
              <p:cNvCxnSpPr/>
              <p:nvPr/>
            </p:nvCxnSpPr>
            <p:spPr>
              <a:xfrm rot="5400000">
                <a:off x="2971800" y="4260260"/>
                <a:ext cx="2743200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2272145" y="4890655"/>
                <a:ext cx="4191000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25"/>
            <p:cNvGrpSpPr/>
            <p:nvPr/>
          </p:nvGrpSpPr>
          <p:grpSpPr>
            <a:xfrm>
              <a:off x="4511108" y="5072155"/>
              <a:ext cx="144017" cy="145470"/>
              <a:chOff x="3203847" y="4809330"/>
              <a:chExt cx="144017" cy="145470"/>
            </a:xfrm>
          </p:grpSpPr>
          <p:cxnSp>
            <p:nvCxnSpPr>
              <p:cNvPr id="10" name="Straight Connector 9"/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25"/>
            <p:cNvGrpSpPr/>
            <p:nvPr/>
          </p:nvGrpSpPr>
          <p:grpSpPr>
            <a:xfrm>
              <a:off x="3631860" y="5072160"/>
              <a:ext cx="144017" cy="145470"/>
              <a:chOff x="3203847" y="4809330"/>
              <a:chExt cx="144017" cy="145470"/>
            </a:xfrm>
          </p:grpSpPr>
          <p:cxnSp>
            <p:nvCxnSpPr>
              <p:cNvPr id="13" name="Straight Connector 12"/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3479460" y="5203780"/>
              <a:ext cx="330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-1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3192075" y="3441470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7170" name="Object 2"/>
            <p:cNvGraphicFramePr>
              <a:graphicFrameLocks noChangeAspect="1"/>
            </p:cNvGraphicFramePr>
            <p:nvPr/>
          </p:nvGraphicFramePr>
          <p:xfrm>
            <a:off x="3548056" y="2529840"/>
            <a:ext cx="2260600" cy="396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55600" imgH="203040" progId="Equation.3">
                    <p:embed/>
                  </p:oleObj>
                </mc:Choice>
                <mc:Fallback>
                  <p:oleObj name="Equation" r:id="rId2" imgW="1155600" imgH="20304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8056" y="2529840"/>
                          <a:ext cx="2260600" cy="396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TextBox 20"/>
            <p:cNvSpPr txBox="1"/>
            <p:nvPr/>
          </p:nvSpPr>
          <p:spPr>
            <a:xfrm>
              <a:off x="3395656" y="2225040"/>
              <a:ext cx="2438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Desired Closed Loop Pole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627415" y="4296315"/>
              <a:ext cx="330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-1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632365" y="5203780"/>
              <a:ext cx="330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-2</a:t>
              </a:r>
            </a:p>
          </p:txBody>
        </p:sp>
        <p:cxnSp>
          <p:nvCxnSpPr>
            <p:cNvPr id="25" name="Straight Connector 24"/>
            <p:cNvCxnSpPr/>
            <p:nvPr/>
          </p:nvCxnSpPr>
          <p:spPr>
            <a:xfrm rot="5400000" flipH="1" flipV="1">
              <a:off x="2742406" y="5147566"/>
              <a:ext cx="152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0800000" flipH="1" flipV="1">
              <a:off x="4509656" y="4462560"/>
              <a:ext cx="152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4641265" y="3631285"/>
              <a:ext cx="330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-2</a:t>
              </a:r>
            </a:p>
          </p:txBody>
        </p:sp>
        <p:cxnSp>
          <p:nvCxnSpPr>
            <p:cNvPr id="28" name="Straight Connector 27"/>
            <p:cNvCxnSpPr/>
            <p:nvPr/>
          </p:nvCxnSpPr>
          <p:spPr>
            <a:xfrm rot="10800000" flipH="1" flipV="1">
              <a:off x="4523506" y="3797530"/>
              <a:ext cx="152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5542269" y="4393276"/>
            <a:ext cx="1927083" cy="1976914"/>
            <a:chOff x="2632814" y="4225636"/>
            <a:chExt cx="1927083" cy="1976914"/>
          </a:xfrm>
        </p:grpSpPr>
        <p:cxnSp>
          <p:nvCxnSpPr>
            <p:cNvPr id="33" name="Straight Connector 32"/>
            <p:cNvCxnSpPr/>
            <p:nvPr/>
          </p:nvCxnSpPr>
          <p:spPr>
            <a:xfrm rot="16200000" flipV="1">
              <a:off x="2483191" y="4407591"/>
              <a:ext cx="1601121" cy="130187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16200000" flipV="1">
              <a:off x="2023478" y="4841903"/>
              <a:ext cx="1683339" cy="45080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Arc 36"/>
            <p:cNvSpPr/>
            <p:nvPr/>
          </p:nvSpPr>
          <p:spPr>
            <a:xfrm rot="21419940">
              <a:off x="2968901" y="5650308"/>
              <a:ext cx="454086" cy="552242"/>
            </a:xfrm>
            <a:prstGeom prst="arc">
              <a:avLst>
                <a:gd name="adj1" fmla="val 14070656"/>
                <a:gd name="adj2" fmla="val 0"/>
              </a:avLst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038600" y="5417125"/>
              <a:ext cx="5212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120</a:t>
              </a:r>
              <a:r>
                <a:rPr lang="en-US" sz="1400" baseline="30000" dirty="0"/>
                <a:t>o</a:t>
              </a:r>
            </a:p>
          </p:txBody>
        </p:sp>
        <p:sp>
          <p:nvSpPr>
            <p:cNvPr id="39" name="Arc 38"/>
            <p:cNvSpPr/>
            <p:nvPr/>
          </p:nvSpPr>
          <p:spPr>
            <a:xfrm rot="21419940">
              <a:off x="3771259" y="5615673"/>
              <a:ext cx="454086" cy="552242"/>
            </a:xfrm>
            <a:prstGeom prst="arc">
              <a:avLst>
                <a:gd name="adj1" fmla="val 14070656"/>
                <a:gd name="adj2" fmla="val 0"/>
              </a:avLst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013360" y="5389410"/>
              <a:ext cx="6575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100.8</a:t>
              </a:r>
              <a:r>
                <a:rPr lang="en-US" sz="1400" baseline="30000" dirty="0"/>
                <a:t>o</a:t>
              </a:r>
            </a:p>
          </p:txBody>
        </p:sp>
      </p:grpSp>
      <p:graphicFrame>
        <p:nvGraphicFramePr>
          <p:cNvPr id="42" name="Object 2"/>
          <p:cNvGraphicFramePr>
            <a:graphicFrameLocks noChangeAspect="1"/>
          </p:cNvGraphicFramePr>
          <p:nvPr/>
        </p:nvGraphicFramePr>
        <p:xfrm>
          <a:off x="609600" y="3744912"/>
          <a:ext cx="3005138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6480" imgH="228600" progId="Equation.3">
                  <p:embed/>
                </p:oleObj>
              </mc:Choice>
              <mc:Fallback>
                <p:oleObj name="Equation" r:id="rId4" imgW="153648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744912"/>
                        <a:ext cx="3005138" cy="446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534988" y="4659313"/>
          <a:ext cx="1614487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25480" imgH="228600" progId="Equation.3">
                  <p:embed/>
                </p:oleObj>
              </mc:Choice>
              <mc:Fallback>
                <p:oleObj name="Equation" r:id="rId6" imgW="82548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88" y="4659313"/>
                        <a:ext cx="1614487" cy="446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24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119"/>
            <a:ext cx="8229600" cy="70657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Step-3 (Exampl-1)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95" y="1115280"/>
            <a:ext cx="8686800" cy="2008920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Alternatively angle of deficiency can be calculated as.</a:t>
            </a:r>
          </a:p>
        </p:txBody>
      </p:sp>
      <p:graphicFrame>
        <p:nvGraphicFramePr>
          <p:cNvPr id="35" name="Object 2"/>
          <p:cNvGraphicFramePr>
            <a:graphicFrameLocks noChangeAspect="1"/>
          </p:cNvGraphicFramePr>
          <p:nvPr/>
        </p:nvGraphicFramePr>
        <p:xfrm>
          <a:off x="1073725" y="3491345"/>
          <a:ext cx="22606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600" imgH="203040" progId="Equation.3">
                  <p:embed/>
                </p:oleObj>
              </mc:Choice>
              <mc:Fallback>
                <p:oleObj name="Equation" r:id="rId2" imgW="1155600" imgH="203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725" y="3491345"/>
                        <a:ext cx="2260600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0" y="3429000"/>
            <a:ext cx="8763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/>
              <a:t>Where                                          are desired closed loop poles</a:t>
            </a:r>
          </a:p>
        </p:txBody>
      </p:sp>
      <p:graphicFrame>
        <p:nvGraphicFramePr>
          <p:cNvPr id="8198" name="Object 6"/>
          <p:cNvGraphicFramePr>
            <a:graphicFrameLocks noChangeAspect="1"/>
          </p:cNvGraphicFramePr>
          <p:nvPr/>
        </p:nvGraphicFramePr>
        <p:xfrm>
          <a:off x="1676400" y="1905000"/>
          <a:ext cx="5427839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55520" imgH="495000" progId="Equation.3">
                  <p:embed/>
                </p:oleObj>
              </mc:Choice>
              <mc:Fallback>
                <p:oleObj name="Equation" r:id="rId4" imgW="1955520" imgH="4950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905000"/>
                        <a:ext cx="5427839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7"/>
          <p:cNvGraphicFramePr>
            <a:graphicFrameLocks noChangeAspect="1"/>
          </p:cNvGraphicFramePr>
          <p:nvPr/>
        </p:nvGraphicFramePr>
        <p:xfrm>
          <a:off x="457200" y="4267200"/>
          <a:ext cx="8239125" cy="715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13000" imgH="279360" progId="Equation.3">
                  <p:embed/>
                </p:oleObj>
              </mc:Choice>
              <mc:Fallback>
                <p:oleObj name="Equation" r:id="rId6" imgW="3213000" imgH="27936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267200"/>
                        <a:ext cx="8239125" cy="7158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8"/>
          <p:cNvGraphicFramePr>
            <a:graphicFrameLocks noChangeAspect="1"/>
          </p:cNvGraphicFramePr>
          <p:nvPr/>
        </p:nvGraphicFramePr>
        <p:xfrm>
          <a:off x="2362200" y="5334000"/>
          <a:ext cx="394017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36480" imgH="228600" progId="Equation.3">
                  <p:embed/>
                </p:oleObj>
              </mc:Choice>
              <mc:Fallback>
                <p:oleObj name="Equation" r:id="rId8" imgW="1536480" imgH="2286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334000"/>
                        <a:ext cx="3940175" cy="585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9"/>
          <p:cNvGraphicFramePr>
            <a:graphicFrameLocks noChangeAspect="1"/>
          </p:cNvGraphicFramePr>
          <p:nvPr/>
        </p:nvGraphicFramePr>
        <p:xfrm>
          <a:off x="3349625" y="6096000"/>
          <a:ext cx="2116138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25480" imgH="228600" progId="Equation.3">
                  <p:embed/>
                </p:oleObj>
              </mc:Choice>
              <mc:Fallback>
                <p:oleObj name="Equation" r:id="rId10" imgW="825480" imgH="2286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25" y="6096000"/>
                        <a:ext cx="2116138" cy="585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25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08038"/>
          </a:xfrm>
        </p:spPr>
        <p:txBody>
          <a:bodyPr/>
          <a:lstStyle/>
          <a:p>
            <a:r>
              <a:rPr lang="en-US" b="1" dirty="0"/>
              <a:t>Step-4 (Exampl-1)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001000" cy="5181600"/>
          </a:xfrm>
        </p:spPr>
        <p:txBody>
          <a:bodyPr>
            <a:normAutofit/>
          </a:bodyPr>
          <a:lstStyle/>
          <a:p>
            <a:pPr marL="290513" indent="-290513" algn="just"/>
            <a:r>
              <a:rPr lang="en-US" sz="2600" dirty="0"/>
              <a:t>This angle must be contributed by the lead compensator if the new root locus is to pass through the desired locations for the dominant closed-loop poles.</a:t>
            </a:r>
          </a:p>
          <a:p>
            <a:pPr marL="290513" indent="-290513" algn="just"/>
            <a:endParaRPr lang="en-US" sz="2600" dirty="0"/>
          </a:p>
          <a:p>
            <a:pPr marL="290513" indent="-290513" algn="just"/>
            <a:endParaRPr lang="en-US" sz="2600" dirty="0"/>
          </a:p>
          <a:p>
            <a:pPr marL="290513" indent="-290513" algn="just"/>
            <a:endParaRPr lang="en-US" sz="2600" dirty="0"/>
          </a:p>
          <a:p>
            <a:pPr marL="290513" indent="-290513" algn="just"/>
            <a:endParaRPr lang="en-US" sz="2600" dirty="0"/>
          </a:p>
          <a:p>
            <a:pPr marL="290513" indent="-290513" algn="just"/>
            <a:r>
              <a:rPr lang="en-US" sz="2600" dirty="0"/>
              <a:t>Note that the solution to such a problem is not unique. There are infinitely many solutions.</a:t>
            </a:r>
          </a:p>
          <a:p>
            <a:endParaRPr lang="en-US" dirty="0"/>
          </a:p>
        </p:txBody>
      </p:sp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819400"/>
            <a:ext cx="7191375" cy="1547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26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08038"/>
          </a:xfrm>
        </p:spPr>
        <p:txBody>
          <a:bodyPr/>
          <a:lstStyle/>
          <a:p>
            <a:r>
              <a:rPr lang="en-US" b="1" dirty="0"/>
              <a:t>Step-5 (Exampl-1)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4550065" cy="5181600"/>
          </a:xfrm>
        </p:spPr>
        <p:txBody>
          <a:bodyPr>
            <a:normAutofit/>
          </a:bodyPr>
          <a:lstStyle/>
          <a:p>
            <a:pPr marL="290513" indent="-290513" algn="just"/>
            <a:r>
              <a:rPr lang="en-US" sz="2600" b="1" dirty="0">
                <a:solidFill>
                  <a:srgbClr val="FF0000"/>
                </a:solidFill>
              </a:rPr>
              <a:t>Solution-1</a:t>
            </a:r>
          </a:p>
          <a:p>
            <a:pPr marL="290513" indent="-290513" algn="just"/>
            <a:endParaRPr lang="en-US" sz="2600" dirty="0"/>
          </a:p>
          <a:p>
            <a:pPr marL="463550" lvl="1" indent="-231775" algn="just"/>
            <a:r>
              <a:rPr lang="en-US" sz="2400" dirty="0"/>
              <a:t>If we choose the zero of the lead compensator at </a:t>
            </a:r>
            <a:r>
              <a:rPr lang="en-US" sz="2400" dirty="0">
                <a:solidFill>
                  <a:srgbClr val="FF0000"/>
                </a:solidFill>
              </a:rPr>
              <a:t>s = -1 </a:t>
            </a:r>
            <a:r>
              <a:rPr lang="en-US" sz="2400" dirty="0"/>
              <a:t>so that it will cancel the plant pole at </a:t>
            </a:r>
            <a:r>
              <a:rPr lang="en-US" sz="2400" dirty="0">
                <a:solidFill>
                  <a:srgbClr val="FF0000"/>
                </a:solidFill>
              </a:rPr>
              <a:t>s =-1</a:t>
            </a:r>
            <a:r>
              <a:rPr lang="en-US" sz="2400" dirty="0"/>
              <a:t>, then the compensator pole must be located at </a:t>
            </a:r>
            <a:r>
              <a:rPr lang="en-US" sz="2400" dirty="0">
                <a:solidFill>
                  <a:srgbClr val="FF0000"/>
                </a:solidFill>
              </a:rPr>
              <a:t>s =-3</a:t>
            </a:r>
            <a:r>
              <a:rPr lang="en-US" sz="2400" dirty="0"/>
              <a:t>.</a:t>
            </a:r>
            <a:endParaRPr lang="en-US" sz="2200" dirty="0"/>
          </a:p>
        </p:txBody>
      </p:sp>
      <p:grpSp>
        <p:nvGrpSpPr>
          <p:cNvPr id="28" name="Group 27"/>
          <p:cNvGrpSpPr/>
          <p:nvPr/>
        </p:nvGrpSpPr>
        <p:grpSpPr>
          <a:xfrm>
            <a:off x="4550065" y="1828800"/>
            <a:ext cx="4576763" cy="4381368"/>
            <a:chOff x="4550065" y="1828800"/>
            <a:chExt cx="4576763" cy="4381368"/>
          </a:xfrm>
        </p:grpSpPr>
        <p:pic>
          <p:nvPicPr>
            <p:cNvPr id="1331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0065" y="1828800"/>
              <a:ext cx="4576763" cy="4381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4" name="Group 23"/>
            <p:cNvGrpSpPr/>
            <p:nvPr/>
          </p:nvGrpSpPr>
          <p:grpSpPr>
            <a:xfrm>
              <a:off x="6435725" y="2895600"/>
              <a:ext cx="727075" cy="1600200"/>
              <a:chOff x="6435725" y="2895600"/>
              <a:chExt cx="727075" cy="1600200"/>
            </a:xfrm>
          </p:grpSpPr>
          <p:sp>
            <p:nvSpPr>
              <p:cNvPr id="35" name="Arc 34"/>
              <p:cNvSpPr/>
              <p:nvPr/>
            </p:nvSpPr>
            <p:spPr>
              <a:xfrm rot="10384191">
                <a:off x="6438006" y="3058118"/>
                <a:ext cx="640080" cy="457200"/>
              </a:xfrm>
              <a:prstGeom prst="arc">
                <a:avLst>
                  <a:gd name="adj1" fmla="val 13732502"/>
                  <a:gd name="adj2" fmla="val 20619066"/>
                </a:avLst>
              </a:prstGeom>
              <a:ln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/>
              <p:cNvCxnSpPr/>
              <p:nvPr/>
            </p:nvCxnSpPr>
            <p:spPr>
              <a:xfrm flipH="1" flipV="1">
                <a:off x="6838446" y="2895600"/>
                <a:ext cx="324354" cy="1600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44" name="Object 4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58183406"/>
                  </p:ext>
                </p:extLst>
              </p:nvPr>
            </p:nvGraphicFramePr>
            <p:xfrm>
              <a:off x="6435725" y="3614738"/>
              <a:ext cx="536575" cy="215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444240" imgH="177480" progId="Equation.3">
                      <p:embed/>
                    </p:oleObj>
                  </mc:Choice>
                  <mc:Fallback>
                    <p:oleObj name="Equation" r:id="rId3" imgW="44424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35725" y="3614738"/>
                            <a:ext cx="536575" cy="215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" name="Rectangle 3"/>
          <p:cNvSpPr/>
          <p:nvPr/>
        </p:nvSpPr>
        <p:spPr>
          <a:xfrm>
            <a:off x="7239000" y="304800"/>
            <a:ext cx="1167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Solution-1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10477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18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Step-5 (Example-1)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08037"/>
            <a:ext cx="8991600" cy="4906963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If static error constants are not specified, determine the location of the pole and zero of the lead compensator so that the lead compensator will contribute the necessary angle.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2514600" y="2407839"/>
            <a:ext cx="4576763" cy="4381368"/>
            <a:chOff x="4550065" y="1828800"/>
            <a:chExt cx="4576763" cy="4381368"/>
          </a:xfrm>
        </p:grpSpPr>
        <p:pic>
          <p:nvPicPr>
            <p:cNvPr id="35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0065" y="1828800"/>
              <a:ext cx="4576763" cy="4381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36" name="Group 35"/>
            <p:cNvGrpSpPr/>
            <p:nvPr/>
          </p:nvGrpSpPr>
          <p:grpSpPr>
            <a:xfrm>
              <a:off x="6435725" y="2895600"/>
              <a:ext cx="727075" cy="1600200"/>
              <a:chOff x="6435725" y="2895600"/>
              <a:chExt cx="727075" cy="1600200"/>
            </a:xfrm>
          </p:grpSpPr>
          <p:sp>
            <p:nvSpPr>
              <p:cNvPr id="37" name="Arc 36"/>
              <p:cNvSpPr/>
              <p:nvPr/>
            </p:nvSpPr>
            <p:spPr>
              <a:xfrm rot="10384191">
                <a:off x="6438006" y="3058118"/>
                <a:ext cx="640080" cy="457200"/>
              </a:xfrm>
              <a:prstGeom prst="arc">
                <a:avLst>
                  <a:gd name="adj1" fmla="val 13732502"/>
                  <a:gd name="adj2" fmla="val 20619066"/>
                </a:avLst>
              </a:prstGeom>
              <a:ln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8" name="Straight Connector 37"/>
              <p:cNvCxnSpPr/>
              <p:nvPr/>
            </p:nvCxnSpPr>
            <p:spPr>
              <a:xfrm flipH="1" flipV="1">
                <a:off x="6838446" y="2895600"/>
                <a:ext cx="324354" cy="1600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39" name="Object 3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32880971"/>
                  </p:ext>
                </p:extLst>
              </p:nvPr>
            </p:nvGraphicFramePr>
            <p:xfrm>
              <a:off x="6435725" y="3614738"/>
              <a:ext cx="536575" cy="215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444240" imgH="177480" progId="Equation.3">
                      <p:embed/>
                    </p:oleObj>
                  </mc:Choice>
                  <mc:Fallback>
                    <p:oleObj name="Equation" r:id="rId3" imgW="44424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35725" y="3614738"/>
                            <a:ext cx="536575" cy="215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0" name="Rectangle 39"/>
          <p:cNvSpPr/>
          <p:nvPr/>
        </p:nvSpPr>
        <p:spPr>
          <a:xfrm>
            <a:off x="7170622" y="152400"/>
            <a:ext cx="1167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Solution-1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697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18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Step-5 (Example-1)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08037"/>
            <a:ext cx="8991600" cy="4906963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The pole and zero of compensator are determined as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4724400" y="1905000"/>
            <a:ext cx="4419600" cy="4419600"/>
            <a:chOff x="4550065" y="1828800"/>
            <a:chExt cx="4576763" cy="4381368"/>
          </a:xfrm>
        </p:grpSpPr>
        <p:pic>
          <p:nvPicPr>
            <p:cNvPr id="35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0065" y="1828800"/>
              <a:ext cx="4576763" cy="4381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36" name="Group 35"/>
            <p:cNvGrpSpPr/>
            <p:nvPr/>
          </p:nvGrpSpPr>
          <p:grpSpPr>
            <a:xfrm>
              <a:off x="6435725" y="2895600"/>
              <a:ext cx="727075" cy="1600200"/>
              <a:chOff x="6435725" y="2895600"/>
              <a:chExt cx="727075" cy="1600200"/>
            </a:xfrm>
          </p:grpSpPr>
          <p:sp>
            <p:nvSpPr>
              <p:cNvPr id="37" name="Arc 36"/>
              <p:cNvSpPr/>
              <p:nvPr/>
            </p:nvSpPr>
            <p:spPr>
              <a:xfrm rot="10384191">
                <a:off x="6438006" y="3058118"/>
                <a:ext cx="640080" cy="457200"/>
              </a:xfrm>
              <a:prstGeom prst="arc">
                <a:avLst>
                  <a:gd name="adj1" fmla="val 13732502"/>
                  <a:gd name="adj2" fmla="val 20619066"/>
                </a:avLst>
              </a:prstGeom>
              <a:ln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8" name="Straight Connector 37"/>
              <p:cNvCxnSpPr/>
              <p:nvPr/>
            </p:nvCxnSpPr>
            <p:spPr>
              <a:xfrm flipH="1" flipV="1">
                <a:off x="6838446" y="2895600"/>
                <a:ext cx="324354" cy="1600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39" name="Object 3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12409433"/>
                  </p:ext>
                </p:extLst>
              </p:nvPr>
            </p:nvGraphicFramePr>
            <p:xfrm>
              <a:off x="6435725" y="3614738"/>
              <a:ext cx="536575" cy="215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444240" imgH="177480" progId="Equation.3">
                      <p:embed/>
                    </p:oleObj>
                  </mc:Choice>
                  <mc:Fallback>
                    <p:oleObj name="Equation" r:id="rId3" imgW="44424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35725" y="3614738"/>
                            <a:ext cx="536575" cy="215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381000" y="1524000"/>
                <a:ext cx="4191000" cy="1045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𝑐</m:t>
                        </m:r>
                      </m:sub>
                    </m:sSub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𝑇</m:t>
                            </m:r>
                          </m:den>
                        </m:f>
                      </m:num>
                      <m:den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>
                                <a:latin typeface="Cambria Math"/>
                                <a:ea typeface="Cambria Math"/>
                              </a:rPr>
                              <m:t>𝛼</m:t>
                            </m:r>
                            <m:r>
                              <a:rPr lang="en-US" sz="2800" i="1">
                                <a:latin typeface="Cambria Math"/>
                                <a:ea typeface="Cambria Math"/>
                              </a:rPr>
                              <m:t>𝑇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sz="28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𝑐</m:t>
                        </m:r>
                      </m:sub>
                    </m:sSub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+1</m:t>
                        </m:r>
                      </m:num>
                      <m:den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+3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524000"/>
                <a:ext cx="4191000" cy="104541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8600" y="4114800"/>
                <a:ext cx="3505199" cy="798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𝑇</m:t>
                          </m:r>
                        </m:den>
                      </m:f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  <a:ea typeface="Cambria Math"/>
                        </a:rPr>
                        <m:t>1</m:t>
                      </m: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 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i="0" smtClean="0">
                              <a:latin typeface="Cambria Math"/>
                              <a:ea typeface="Cambria Math"/>
                            </a:rPr>
                            <m:t>yields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  </m:t>
                          </m:r>
                        </m:e>
                      </m:groupCh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𝑇</m:t>
                      </m: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=1</m:t>
                      </m:r>
                    </m:oMath>
                  </m:oMathPara>
                </a14:m>
                <a:endParaRPr lang="en-US" sz="2400" b="0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4114800"/>
                <a:ext cx="3505199" cy="798808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-76200" y="5181600"/>
                <a:ext cx="4495800" cy="801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𝛼</m:t>
                          </m:r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𝑇</m:t>
                          </m:r>
                        </m:den>
                      </m:f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=3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groupChrPr>
                        <m:e>
                          <m:r>
                            <m:rPr>
                              <m:nor/>
                            </m:rPr>
                            <a:rPr lang="en-US" sz="2400" i="0" smtClean="0">
                              <a:latin typeface="Cambria Math"/>
                              <a:ea typeface="Cambria Math"/>
                            </a:rPr>
                            <m:t>yields</m:t>
                          </m:r>
                        </m:e>
                      </m:groupCh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  </m:t>
                      </m:r>
                      <m:r>
                        <a:rPr lang="en-US" sz="2400" i="1" smtClean="0">
                          <a:latin typeface="Cambria Math"/>
                          <a:ea typeface="Cambria Math"/>
                        </a:rPr>
                        <m:t>𝛼</m:t>
                      </m: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=0.333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200" y="5181600"/>
                <a:ext cx="4495800" cy="801245"/>
              </a:xfrm>
              <a:prstGeom prst="rect">
                <a:avLst/>
              </a:prstGeom>
              <a:blipFill rotWithShape="1">
                <a:blip r:embed="rId8"/>
                <a:stretch>
                  <a:fillRect b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/>
              <p:cNvSpPr txBox="1">
                <a:spLocks/>
              </p:cNvSpPr>
              <p:nvPr/>
            </p:nvSpPr>
            <p:spPr>
              <a:xfrm>
                <a:off x="26158" y="3027479"/>
                <a:ext cx="4343400" cy="93492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sz="2400" dirty="0"/>
                  <a:t>The Value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𝛼</m:t>
                    </m:r>
                  </m:oMath>
                </a14:m>
                <a:r>
                  <a:rPr lang="en-US" sz="2400" dirty="0"/>
                  <a:t> can be determined as</a:t>
                </a:r>
              </a:p>
            </p:txBody>
          </p:sp>
        </mc:Choice>
        <mc:Fallback xmlns="">
          <p:sp>
            <p:nvSpPr>
              <p:cNvPr id="1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8" y="3027479"/>
                <a:ext cx="4343400" cy="934921"/>
              </a:xfrm>
              <a:prstGeom prst="rect">
                <a:avLst/>
              </a:prstGeom>
              <a:blipFill rotWithShape="1">
                <a:blip r:embed="rId9"/>
                <a:stretch>
                  <a:fillRect l="-1823" t="-5229" r="-3787" b="-3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7315200" y="228600"/>
            <a:ext cx="1167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Solution-1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014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18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Step-6 (Example-1)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4948237" y="1905000"/>
            <a:ext cx="4195763" cy="4136186"/>
            <a:chOff x="4550065" y="1828800"/>
            <a:chExt cx="4576763" cy="4381368"/>
          </a:xfrm>
        </p:grpSpPr>
        <p:pic>
          <p:nvPicPr>
            <p:cNvPr id="35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0065" y="1828800"/>
              <a:ext cx="4576763" cy="4381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36" name="Group 35"/>
            <p:cNvGrpSpPr/>
            <p:nvPr/>
          </p:nvGrpSpPr>
          <p:grpSpPr>
            <a:xfrm>
              <a:off x="6435725" y="2895600"/>
              <a:ext cx="727075" cy="1600200"/>
              <a:chOff x="6435725" y="2895600"/>
              <a:chExt cx="727075" cy="1600200"/>
            </a:xfrm>
          </p:grpSpPr>
          <p:sp>
            <p:nvSpPr>
              <p:cNvPr id="37" name="Arc 36"/>
              <p:cNvSpPr/>
              <p:nvPr/>
            </p:nvSpPr>
            <p:spPr>
              <a:xfrm rot="10384191">
                <a:off x="6438006" y="3058118"/>
                <a:ext cx="640080" cy="457200"/>
              </a:xfrm>
              <a:prstGeom prst="arc">
                <a:avLst>
                  <a:gd name="adj1" fmla="val 13732502"/>
                  <a:gd name="adj2" fmla="val 20619066"/>
                </a:avLst>
              </a:prstGeom>
              <a:ln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8" name="Straight Connector 37"/>
              <p:cNvCxnSpPr/>
              <p:nvPr/>
            </p:nvCxnSpPr>
            <p:spPr>
              <a:xfrm flipH="1" flipV="1">
                <a:off x="6838446" y="2895600"/>
                <a:ext cx="324354" cy="1600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39" name="Object 3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73666029"/>
                  </p:ext>
                </p:extLst>
              </p:nvPr>
            </p:nvGraphicFramePr>
            <p:xfrm>
              <a:off x="6435725" y="3614738"/>
              <a:ext cx="536575" cy="215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444240" imgH="177480" progId="Equation.3">
                      <p:embed/>
                    </p:oleObj>
                  </mc:Choice>
                  <mc:Fallback>
                    <p:oleObj name="Equation" r:id="rId3" imgW="44424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35725" y="3614738"/>
                            <a:ext cx="536575" cy="215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4" name="Content Placeholder 2"/>
          <p:cNvSpPr txBox="1">
            <a:spLocks/>
          </p:cNvSpPr>
          <p:nvPr/>
        </p:nvSpPr>
        <p:spPr>
          <a:xfrm>
            <a:off x="30707" y="914400"/>
            <a:ext cx="4343400" cy="1306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/>
              <a:t>The Value of </a:t>
            </a:r>
            <a:r>
              <a:rPr lang="en-US" sz="2400" dirty="0" err="1">
                <a:solidFill>
                  <a:srgbClr val="FF0000"/>
                </a:solidFill>
              </a:rPr>
              <a:t>K</a:t>
            </a:r>
            <a:r>
              <a:rPr lang="en-US" sz="2400" baseline="-25000" dirty="0" err="1">
                <a:solidFill>
                  <a:srgbClr val="FF0000"/>
                </a:solidFill>
              </a:rPr>
              <a:t>c</a:t>
            </a:r>
            <a:r>
              <a:rPr lang="en-US" sz="2400" dirty="0"/>
              <a:t> can be determined using magnitude condition.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06907" y="5926287"/>
                <a:ext cx="4191000" cy="908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a:rPr lang="en-US" sz="2800" b="0" i="1" smtClean="0">
                          <a:latin typeface="Cambria Math"/>
                        </a:rPr>
                        <m:t>=0.9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+1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+3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07" y="5926287"/>
                <a:ext cx="4191000" cy="908967"/>
              </a:xfrm>
              <a:prstGeom prst="rect">
                <a:avLst/>
              </a:prstGeom>
              <a:blipFill rotWithShape="1">
                <a:blip r:embed="rId6"/>
                <a:stretch>
                  <a:fillRect b="-1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11540" y="2209800"/>
                <a:ext cx="5274860" cy="1005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𝑐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/>
                                      <a:ea typeface="Cambria Math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latin typeface="Cambria Math"/>
                                      <a:ea typeface="Cambria Math"/>
                                    </a:rPr>
                                    <m:t>𝑠</m:t>
                                  </m:r>
                                  <m:r>
                                    <a:rPr lang="en-US" sz="2400" i="1">
                                      <a:latin typeface="Cambria Math"/>
                                      <a:ea typeface="Cambria Math"/>
                                    </a:rPr>
                                    <m:t>+1)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+3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/>
                                      <a:ea typeface="Cambria Math"/>
                                    </a:rPr>
                                    <m:t>10</m:t>
                                  </m:r>
                                  <m:r>
                                    <a:rPr lang="en-US" sz="2400" i="1" smtClean="0">
                                      <a:latin typeface="Cambria Math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/>
                                      <a:ea typeface="Cambria Math"/>
                                    </a:rPr>
                                    <m:t>𝑠</m:t>
                                  </m:r>
                                  <m:r>
                                    <a:rPr lang="en-US" sz="2400" i="1">
                                      <a:latin typeface="Cambria Math"/>
                                      <a:ea typeface="Cambria Math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latin typeface="Cambria Math"/>
                                      <a:ea typeface="Cambria Math"/>
                                    </a:rPr>
                                    <m:t>𝑠</m:t>
                                  </m:r>
                                  <m:r>
                                    <a:rPr lang="en-US" sz="2400" i="1">
                                      <a:latin typeface="Cambria Math"/>
                                      <a:ea typeface="Cambria Math"/>
                                    </a:rPr>
                                    <m:t>+1)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=−1.5+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2.5981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40" y="2209800"/>
                <a:ext cx="5274860" cy="100598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04800" y="3337419"/>
                <a:ext cx="5274860" cy="1005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𝑐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10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+3)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=−1.5+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2.5981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337419"/>
                <a:ext cx="5274860" cy="1005981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52400" y="4572000"/>
                <a:ext cx="5274860" cy="1005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/>
                            </a:rPr>
                            <m:t>=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+3)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=−1.5+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2.5981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=0.9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4572000"/>
                <a:ext cx="5274860" cy="1005981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696200" y="152400"/>
            <a:ext cx="1167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Solution-1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1509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17" grpId="0"/>
      <p:bldP spid="1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Design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47800"/>
            <a:ext cx="8763000" cy="4525963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open loop transfer function of the designed system then becomes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The closed loop transfer function of compensated system becomes.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319337" y="2590800"/>
                <a:ext cx="4191000" cy="978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a:rPr lang="en-US" sz="2800" b="0" i="1" smtClean="0">
                          <a:latin typeface="Cambria Math"/>
                        </a:rPr>
                        <m:t>𝐺</m:t>
                      </m:r>
                      <m:r>
                        <a:rPr lang="en-US" sz="2800" b="0" i="1" smtClean="0">
                          <a:latin typeface="Cambria Math"/>
                        </a:rPr>
                        <m:t>(</m:t>
                      </m:r>
                      <m:r>
                        <a:rPr lang="en-US" sz="2800" b="0" i="1" smtClean="0">
                          <a:latin typeface="Cambria Math"/>
                        </a:rPr>
                        <m:t>𝑠</m:t>
                      </m:r>
                      <m:r>
                        <a:rPr lang="en-US" sz="2800" b="0" i="1" smtClean="0">
                          <a:latin typeface="Cambria Math"/>
                        </a:rPr>
                        <m:t>)=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/>
                              <a:ea typeface="Cambria Math"/>
                            </a:rPr>
                            <m:t>9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800" b="0" i="1" smtClean="0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+3)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9337" y="2590800"/>
                <a:ext cx="4191000" cy="97821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514600" y="5105400"/>
                <a:ext cx="4191000" cy="1015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/>
                            </a:rPr>
                            <m:t>𝐶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/>
                            </a:rPr>
                            <m:t>𝑅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/>
                              <a:ea typeface="Cambria Math"/>
                            </a:rPr>
                            <m:t>9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/>
                              <a:ea typeface="Cambria Math"/>
                            </a:rPr>
                            <m:t>+3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+9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5105400"/>
                <a:ext cx="4191000" cy="101540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7772400" y="381000"/>
            <a:ext cx="1167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Solution-1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0712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9029"/>
            <a:ext cx="8229600" cy="1143000"/>
          </a:xfrm>
        </p:spPr>
        <p:txBody>
          <a:bodyPr/>
          <a:lstStyle/>
          <a:p>
            <a:r>
              <a:rPr lang="en-US" dirty="0"/>
              <a:t>Final Design Check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91200" y="5715000"/>
                <a:ext cx="2819400" cy="7884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a:rPr lang="en-US" sz="2200" b="0" i="1" smtClean="0">
                          <a:latin typeface="Cambria Math"/>
                        </a:rPr>
                        <m:t>𝐺</m:t>
                      </m:r>
                      <m:r>
                        <a:rPr lang="en-US" sz="2200" b="0" i="1" smtClean="0">
                          <a:latin typeface="Cambria Math"/>
                        </a:rPr>
                        <m:t>(</m:t>
                      </m:r>
                      <m:r>
                        <a:rPr lang="en-US" sz="2200" b="0" i="1" smtClean="0">
                          <a:latin typeface="Cambria Math"/>
                        </a:rPr>
                        <m:t>𝑠</m:t>
                      </m:r>
                      <m:r>
                        <a:rPr lang="en-US" sz="2200" b="0" i="1" smtClean="0">
                          <a:latin typeface="Cambria Math"/>
                        </a:rPr>
                        <m:t>)=</m:t>
                      </m:r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/>
                              <a:ea typeface="Cambria Math"/>
                            </a:rPr>
                            <m:t>9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200" b="0" i="1" smtClean="0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sz="2200" i="1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200" i="1">
                              <a:latin typeface="Cambria Math"/>
                              <a:ea typeface="Cambria Math"/>
                            </a:rPr>
                            <m:t>+3)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5715000"/>
                <a:ext cx="2819400" cy="78848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7772400" y="381000"/>
            <a:ext cx="1167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Solution-1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38200" y="5715000"/>
                <a:ext cx="2819400" cy="7884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/>
                        </a:rPr>
                        <m:t>𝐺</m:t>
                      </m:r>
                      <m:r>
                        <a:rPr lang="en-US" sz="2200" b="0" i="1" smtClean="0">
                          <a:latin typeface="Cambria Math"/>
                        </a:rPr>
                        <m:t>(</m:t>
                      </m:r>
                      <m:r>
                        <a:rPr lang="en-US" sz="2200" b="0" i="1" smtClean="0">
                          <a:latin typeface="Cambria Math"/>
                        </a:rPr>
                        <m:t>𝑠</m:t>
                      </m:r>
                      <m:r>
                        <a:rPr lang="en-US" sz="2200" b="0" i="1" smtClean="0">
                          <a:latin typeface="Cambria Math"/>
                        </a:rPr>
                        <m:t>)=</m:t>
                      </m:r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200" b="0" i="1" smtClean="0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sz="2200" i="1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200" i="1">
                              <a:latin typeface="Cambria Math"/>
                              <a:ea typeface="Cambria Math"/>
                            </a:rPr>
                            <m:t>+1)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715000"/>
                <a:ext cx="2819400" cy="78848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461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1" t="12445" r="7670" b="5994"/>
          <a:stretch/>
        </p:blipFill>
        <p:spPr bwMode="auto">
          <a:xfrm>
            <a:off x="76200" y="1485879"/>
            <a:ext cx="4451284" cy="4000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2" name="Picture 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19" t="12115" r="7432" b="3887"/>
          <a:stretch/>
        </p:blipFill>
        <p:spPr bwMode="auto">
          <a:xfrm>
            <a:off x="4604772" y="1485879"/>
            <a:ext cx="4539228" cy="411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8594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Design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47800"/>
            <a:ext cx="8763000" cy="4525963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static velocity error constant for original system is  obtained as follows. 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The steady state error is then calculated 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667000" y="5121566"/>
                <a:ext cx="3333861" cy="9744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𝑒</m:t>
                      </m:r>
                      <m:r>
                        <a:rPr lang="en-US" sz="2800" b="0" i="1" baseline="-25000" smtClean="0">
                          <a:latin typeface="Cambria Math"/>
                        </a:rPr>
                        <m:t>𝑠𝑠</m:t>
                      </m:r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/>
                                </a:rPr>
                                <m:t>𝑣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/>
                            </a:rPr>
                            <m:t>10</m:t>
                          </m:r>
                        </m:den>
                      </m:f>
                      <m:r>
                        <a:rPr lang="en-US" sz="2800" b="0" i="1" smtClean="0">
                          <a:latin typeface="Cambria Math"/>
                        </a:rPr>
                        <m:t>=0.1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5121566"/>
                <a:ext cx="3333861" cy="97443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743200" y="2514600"/>
                <a:ext cx="2565318" cy="6536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sz="2800" b="0" i="1" smtClean="0">
                                  <a:latin typeface="Cambria Math"/>
                                  <a:ea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𝑠𝐺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2514600"/>
                <a:ext cx="2565318" cy="65364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743200" y="3200400"/>
                <a:ext cx="4329583" cy="1051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sz="2800" b="0" i="1" smtClean="0">
                                  <a:latin typeface="Cambria Math"/>
                                  <a:ea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10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+1)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/>
                        </a:rPr>
                        <m:t>=10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200400"/>
                <a:ext cx="4329583" cy="105118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772400" y="304800"/>
            <a:ext cx="1167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Solution-1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1627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9029"/>
            <a:ext cx="8229600" cy="1143000"/>
          </a:xfrm>
        </p:spPr>
        <p:txBody>
          <a:bodyPr/>
          <a:lstStyle/>
          <a:p>
            <a:r>
              <a:rPr lang="en-US" dirty="0"/>
              <a:t>Final Design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381000"/>
            <a:ext cx="1167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Solution-1</a:t>
            </a:r>
            <a:endParaRPr lang="en-US" dirty="0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63" t="11706" r="8322"/>
          <a:stretch/>
        </p:blipFill>
        <p:spPr bwMode="auto">
          <a:xfrm>
            <a:off x="1458690" y="1205253"/>
            <a:ext cx="6346371" cy="5464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1480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Design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47800"/>
            <a:ext cx="8763000" cy="4525963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static velocity error constant for the compensated system can be calculated as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The steady state error is then calculated 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667000" y="5121566"/>
                <a:ext cx="3532634" cy="9744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𝑒</m:t>
                      </m:r>
                      <m:r>
                        <a:rPr lang="en-US" sz="2800" b="0" i="1" baseline="-25000" smtClean="0">
                          <a:latin typeface="Cambria Math"/>
                        </a:rPr>
                        <m:t>𝑠𝑠</m:t>
                      </m:r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/>
                                </a:rPr>
                                <m:t>𝑣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US" sz="2800" b="0" i="1" smtClean="0">
                          <a:latin typeface="Cambria Math"/>
                        </a:rPr>
                        <m:t>=0.333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5121566"/>
                <a:ext cx="3532634" cy="974434"/>
              </a:xfrm>
              <a:prstGeom prst="rect">
                <a:avLst/>
              </a:prstGeom>
              <a:blipFill rotWithShape="1">
                <a:blip r:embed="rId2"/>
                <a:stretch>
                  <a:fillRect r="-4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743200" y="2514600"/>
                <a:ext cx="3404394" cy="6536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sz="2800" b="0" i="1" smtClean="0">
                                  <a:latin typeface="Cambria Math"/>
                                  <a:ea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𝑠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2514600"/>
                <a:ext cx="3404394" cy="653640"/>
              </a:xfrm>
              <a:prstGeom prst="rect">
                <a:avLst/>
              </a:prstGeom>
              <a:blipFill rotWithShape="1">
                <a:blip r:embed="rId3"/>
                <a:stretch>
                  <a:fillRect t="-8411" r="-4301" b="-5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743200" y="3200400"/>
                <a:ext cx="4130811" cy="1051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sz="2800" b="0" i="1" smtClean="0">
                                  <a:latin typeface="Cambria Math"/>
                                  <a:ea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+3)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/>
                        </a:rPr>
                        <m:t>=3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200400"/>
                <a:ext cx="4130811" cy="1051185"/>
              </a:xfrm>
              <a:prstGeom prst="rect">
                <a:avLst/>
              </a:prstGeom>
              <a:blipFill rotWithShape="1">
                <a:blip r:embed="rId4"/>
                <a:stretch>
                  <a:fillRect r="-3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772400" y="304800"/>
            <a:ext cx="1167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Solution-1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7452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08038"/>
          </a:xfrm>
        </p:spPr>
        <p:txBody>
          <a:bodyPr/>
          <a:lstStyle/>
          <a:p>
            <a:r>
              <a:rPr lang="en-US" b="1" dirty="0"/>
              <a:t>Step-5 (Exampl-1)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8991600" cy="5181600"/>
          </a:xfrm>
        </p:spPr>
        <p:txBody>
          <a:bodyPr>
            <a:normAutofit/>
          </a:bodyPr>
          <a:lstStyle/>
          <a:p>
            <a:pPr marL="290513" indent="-290513" algn="just"/>
            <a:r>
              <a:rPr lang="en-US" sz="2600" b="1" dirty="0">
                <a:solidFill>
                  <a:srgbClr val="FF0000"/>
                </a:solidFill>
              </a:rPr>
              <a:t>Solution-2</a:t>
            </a:r>
            <a:endParaRPr lang="en-US" sz="2600" dirty="0"/>
          </a:p>
        </p:txBody>
      </p:sp>
      <p:sp>
        <p:nvSpPr>
          <p:cNvPr id="10" name="Rectangle 9"/>
          <p:cNvSpPr/>
          <p:nvPr/>
        </p:nvSpPr>
        <p:spPr>
          <a:xfrm>
            <a:off x="7543800" y="152400"/>
            <a:ext cx="1167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Solution-2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2057400" y="1981200"/>
            <a:ext cx="5257800" cy="3581400"/>
            <a:chOff x="1397004" y="1905000"/>
            <a:chExt cx="5257800" cy="3581400"/>
          </a:xfrm>
        </p:grpSpPr>
        <p:grpSp>
          <p:nvGrpSpPr>
            <p:cNvPr id="44" name="Group 43"/>
            <p:cNvGrpSpPr/>
            <p:nvPr/>
          </p:nvGrpSpPr>
          <p:grpSpPr>
            <a:xfrm>
              <a:off x="1397004" y="1905000"/>
              <a:ext cx="5257800" cy="3581400"/>
              <a:chOff x="891684" y="2889454"/>
              <a:chExt cx="4191000" cy="2743200"/>
            </a:xfrm>
          </p:grpSpPr>
          <p:cxnSp>
            <p:nvCxnSpPr>
              <p:cNvPr id="45" name="Straight Connector 44"/>
              <p:cNvCxnSpPr/>
              <p:nvPr/>
            </p:nvCxnSpPr>
            <p:spPr>
              <a:xfrm rot="5400000">
                <a:off x="2971800" y="4260260"/>
                <a:ext cx="2743200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>
                <a:off x="891684" y="4890655"/>
                <a:ext cx="4191000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25"/>
            <p:cNvGrpSpPr/>
            <p:nvPr/>
          </p:nvGrpSpPr>
          <p:grpSpPr>
            <a:xfrm>
              <a:off x="5633567" y="4428267"/>
              <a:ext cx="180676" cy="189919"/>
              <a:chOff x="3203847" y="4809330"/>
              <a:chExt cx="144017" cy="145470"/>
            </a:xfrm>
          </p:grpSpPr>
          <p:cxnSp>
            <p:nvCxnSpPr>
              <p:cNvPr id="48" name="Straight Connector 47"/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25"/>
            <p:cNvGrpSpPr/>
            <p:nvPr/>
          </p:nvGrpSpPr>
          <p:grpSpPr>
            <a:xfrm>
              <a:off x="4530511" y="4428273"/>
              <a:ext cx="180676" cy="189919"/>
              <a:chOff x="3203847" y="4809330"/>
              <a:chExt cx="144017" cy="145470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53" name="TextBox 52"/>
            <p:cNvSpPr txBox="1"/>
            <p:nvPr/>
          </p:nvSpPr>
          <p:spPr>
            <a:xfrm>
              <a:off x="4339318" y="4600111"/>
              <a:ext cx="414677" cy="4018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-1</a:t>
              </a:r>
            </a:p>
          </p:txBody>
        </p:sp>
        <p:sp>
          <p:nvSpPr>
            <p:cNvPr id="54" name="Oval 53"/>
            <p:cNvSpPr/>
            <p:nvPr/>
          </p:nvSpPr>
          <p:spPr>
            <a:xfrm>
              <a:off x="3978781" y="2299317"/>
              <a:ext cx="114716" cy="11938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779480" y="3415365"/>
              <a:ext cx="414677" cy="4018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-1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276599" y="4600111"/>
              <a:ext cx="414677" cy="4018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-2</a:t>
              </a:r>
            </a:p>
          </p:txBody>
        </p:sp>
        <p:cxnSp>
          <p:nvCxnSpPr>
            <p:cNvPr id="57" name="Straight Connector 56"/>
            <p:cNvCxnSpPr/>
            <p:nvPr/>
          </p:nvCxnSpPr>
          <p:spPr>
            <a:xfrm rot="5400000" flipH="1" flipV="1">
              <a:off x="3410763" y="4526761"/>
              <a:ext cx="198967" cy="19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10800000" flipH="1" flipV="1">
              <a:off x="5631746" y="3632407"/>
              <a:ext cx="191193" cy="20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5796855" y="2547131"/>
              <a:ext cx="414677" cy="4018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-2</a:t>
              </a:r>
            </a:p>
          </p:txBody>
        </p:sp>
        <p:cxnSp>
          <p:nvCxnSpPr>
            <p:cNvPr id="60" name="Straight Connector 59"/>
            <p:cNvCxnSpPr/>
            <p:nvPr/>
          </p:nvCxnSpPr>
          <p:spPr>
            <a:xfrm rot="10800000" flipH="1" flipV="1">
              <a:off x="5649121" y="2764173"/>
              <a:ext cx="191193" cy="20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V="1">
              <a:off x="1676400" y="2391316"/>
              <a:ext cx="2346498" cy="211409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rot="16200000" flipV="1">
              <a:off x="3035070" y="3418370"/>
              <a:ext cx="2029460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Arc 62"/>
            <p:cNvSpPr/>
            <p:nvPr/>
          </p:nvSpPr>
          <p:spPr>
            <a:xfrm>
              <a:off x="3894685" y="4220717"/>
              <a:ext cx="458863" cy="596900"/>
            </a:xfrm>
            <a:prstGeom prst="arc">
              <a:avLst>
                <a:gd name="adj1" fmla="val 14970581"/>
                <a:gd name="adj2" fmla="val 0"/>
              </a:avLst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081515" y="3906370"/>
              <a:ext cx="539362" cy="4018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90</a:t>
              </a:r>
              <a:r>
                <a:rPr lang="en-US" sz="1400" baseline="30000" dirty="0"/>
                <a:t>o</a:t>
              </a:r>
            </a:p>
          </p:txBody>
        </p:sp>
        <p:sp>
          <p:nvSpPr>
            <p:cNvPr id="65" name="Oval 64"/>
            <p:cNvSpPr/>
            <p:nvPr/>
          </p:nvSpPr>
          <p:spPr>
            <a:xfrm>
              <a:off x="3995175" y="4434658"/>
              <a:ext cx="172073" cy="17907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6" name="Group 25"/>
            <p:cNvGrpSpPr/>
            <p:nvPr/>
          </p:nvGrpSpPr>
          <p:grpSpPr>
            <a:xfrm>
              <a:off x="2223850" y="4445135"/>
              <a:ext cx="180676" cy="189919"/>
              <a:chOff x="3203847" y="4809330"/>
              <a:chExt cx="144017" cy="145470"/>
            </a:xfrm>
          </p:grpSpPr>
          <p:cxnSp>
            <p:nvCxnSpPr>
              <p:cNvPr id="67" name="Straight Connector 66"/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69" name="TextBox 68"/>
            <p:cNvSpPr txBox="1"/>
            <p:nvPr/>
          </p:nvSpPr>
          <p:spPr>
            <a:xfrm>
              <a:off x="2133600" y="4032294"/>
              <a:ext cx="710300" cy="4018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49.2</a:t>
              </a:r>
              <a:r>
                <a:rPr lang="en-US" sz="1400" baseline="30000" dirty="0"/>
                <a:t>o</a:t>
              </a:r>
            </a:p>
          </p:txBody>
        </p:sp>
        <p:sp>
          <p:nvSpPr>
            <p:cNvPr id="70" name="Arc 69"/>
            <p:cNvSpPr/>
            <p:nvPr/>
          </p:nvSpPr>
          <p:spPr>
            <a:xfrm rot="3464148">
              <a:off x="1667480" y="4145228"/>
              <a:ext cx="477189" cy="401294"/>
            </a:xfrm>
            <a:prstGeom prst="arc">
              <a:avLst>
                <a:gd name="adj1" fmla="val 14970581"/>
                <a:gd name="adj2" fmla="val 0"/>
              </a:avLst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2338866" y="4598023"/>
              <a:ext cx="414677" cy="4018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-3</a:t>
              </a:r>
            </a:p>
          </p:txBody>
        </p:sp>
        <p:cxnSp>
          <p:nvCxnSpPr>
            <p:cNvPr id="72" name="Straight Connector 71"/>
            <p:cNvCxnSpPr/>
            <p:nvPr/>
          </p:nvCxnSpPr>
          <p:spPr>
            <a:xfrm rot="5400000" flipH="1" flipV="1">
              <a:off x="2473031" y="4524673"/>
              <a:ext cx="198967" cy="19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Arc 72"/>
            <p:cNvSpPr/>
            <p:nvPr/>
          </p:nvSpPr>
          <p:spPr>
            <a:xfrm rot="10384191">
              <a:off x="3451726" y="2439366"/>
              <a:ext cx="736161" cy="563497"/>
            </a:xfrm>
            <a:prstGeom prst="arc">
              <a:avLst>
                <a:gd name="adj1" fmla="val 13732502"/>
                <a:gd name="adj2" fmla="val 20619066"/>
              </a:avLst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74" name="Object 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5255626"/>
                </p:ext>
              </p:extLst>
            </p:nvPr>
          </p:nvGraphicFramePr>
          <p:xfrm>
            <a:off x="3290922" y="3125398"/>
            <a:ext cx="617120" cy="2660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44240" imgH="177480" progId="Equation.3">
                    <p:embed/>
                  </p:oleObj>
                </mc:Choice>
                <mc:Fallback>
                  <p:oleObj name="Equation" r:id="rId2" imgW="44424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0922" y="3125398"/>
                          <a:ext cx="617120" cy="2660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2938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08038"/>
          </a:xfrm>
        </p:spPr>
        <p:txBody>
          <a:bodyPr/>
          <a:lstStyle/>
          <a:p>
            <a:r>
              <a:rPr lang="en-US" b="1" dirty="0"/>
              <a:t>Step-5 (Exampl-1)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8991600" cy="5181600"/>
          </a:xfrm>
        </p:spPr>
        <p:txBody>
          <a:bodyPr>
            <a:normAutofit/>
          </a:bodyPr>
          <a:lstStyle/>
          <a:p>
            <a:pPr marL="290513" indent="-290513" algn="just"/>
            <a:r>
              <a:rPr lang="en-US" sz="2600" b="1" dirty="0">
                <a:solidFill>
                  <a:srgbClr val="FF0000"/>
                </a:solidFill>
              </a:rPr>
              <a:t>Solution-2</a:t>
            </a:r>
            <a:endParaRPr lang="en-US" sz="2600" dirty="0"/>
          </a:p>
        </p:txBody>
      </p:sp>
      <p:grpSp>
        <p:nvGrpSpPr>
          <p:cNvPr id="29" name="Group 28"/>
          <p:cNvGrpSpPr/>
          <p:nvPr/>
        </p:nvGrpSpPr>
        <p:grpSpPr>
          <a:xfrm>
            <a:off x="2209800" y="1676400"/>
            <a:ext cx="5257800" cy="3581400"/>
            <a:chOff x="2209800" y="1676400"/>
            <a:chExt cx="5257800" cy="3581400"/>
          </a:xfrm>
        </p:grpSpPr>
        <p:grpSp>
          <p:nvGrpSpPr>
            <p:cNvPr id="5" name="Group 4"/>
            <p:cNvGrpSpPr/>
            <p:nvPr/>
          </p:nvGrpSpPr>
          <p:grpSpPr>
            <a:xfrm>
              <a:off x="2209800" y="1676400"/>
              <a:ext cx="5257800" cy="3581400"/>
              <a:chOff x="891684" y="2889454"/>
              <a:chExt cx="4191000" cy="2743200"/>
            </a:xfrm>
          </p:grpSpPr>
          <p:cxnSp>
            <p:nvCxnSpPr>
              <p:cNvPr id="22" name="Straight Connector 21"/>
              <p:cNvCxnSpPr/>
              <p:nvPr/>
            </p:nvCxnSpPr>
            <p:spPr>
              <a:xfrm rot="5400000">
                <a:off x="2971800" y="4260260"/>
                <a:ext cx="2743200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891684" y="4890655"/>
                <a:ext cx="4191000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25"/>
            <p:cNvGrpSpPr/>
            <p:nvPr/>
          </p:nvGrpSpPr>
          <p:grpSpPr>
            <a:xfrm>
              <a:off x="6446363" y="4199667"/>
              <a:ext cx="180676" cy="189919"/>
              <a:chOff x="3203847" y="4809330"/>
              <a:chExt cx="144017" cy="145470"/>
            </a:xfrm>
          </p:grpSpPr>
          <p:cxnSp>
            <p:nvCxnSpPr>
              <p:cNvPr id="20" name="Straight Connector 19"/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25"/>
            <p:cNvGrpSpPr/>
            <p:nvPr/>
          </p:nvGrpSpPr>
          <p:grpSpPr>
            <a:xfrm>
              <a:off x="5343307" y="4199673"/>
              <a:ext cx="180676" cy="189919"/>
              <a:chOff x="3203847" y="4809330"/>
              <a:chExt cx="144017" cy="145470"/>
            </a:xfrm>
          </p:grpSpPr>
          <p:cxnSp>
            <p:nvCxnSpPr>
              <p:cNvPr id="18" name="Straight Connector 17"/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/>
            <p:cNvSpPr txBox="1"/>
            <p:nvPr/>
          </p:nvSpPr>
          <p:spPr>
            <a:xfrm>
              <a:off x="5152114" y="4371511"/>
              <a:ext cx="414677" cy="4018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-1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4791577" y="2070717"/>
              <a:ext cx="114716" cy="11938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592276" y="3186765"/>
              <a:ext cx="414677" cy="4018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089395" y="4371511"/>
              <a:ext cx="414677" cy="4018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-2</a:t>
              </a: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5400000" flipH="1" flipV="1">
              <a:off x="4223559" y="4298161"/>
              <a:ext cx="198967" cy="19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 flipH="1" flipV="1">
              <a:off x="6444542" y="3403807"/>
              <a:ext cx="191193" cy="20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6609651" y="2318531"/>
              <a:ext cx="414677" cy="4018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-2</a:t>
              </a: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 flipH="1" flipV="1">
              <a:off x="6461917" y="2535573"/>
              <a:ext cx="191193" cy="20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V="1">
              <a:off x="2489196" y="2162716"/>
              <a:ext cx="2346498" cy="211409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V="1">
              <a:off x="3847866" y="3189770"/>
              <a:ext cx="2029460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Arc 26"/>
            <p:cNvSpPr/>
            <p:nvPr/>
          </p:nvSpPr>
          <p:spPr>
            <a:xfrm>
              <a:off x="4707481" y="3992117"/>
              <a:ext cx="458863" cy="596900"/>
            </a:xfrm>
            <a:prstGeom prst="arc">
              <a:avLst>
                <a:gd name="adj1" fmla="val 14970581"/>
                <a:gd name="adj2" fmla="val 0"/>
              </a:avLst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894311" y="3677770"/>
              <a:ext cx="539362" cy="4018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90</a:t>
              </a:r>
              <a:r>
                <a:rPr lang="en-US" sz="1400" baseline="30000" dirty="0"/>
                <a:t>o</a:t>
              </a:r>
            </a:p>
          </p:txBody>
        </p:sp>
        <p:sp>
          <p:nvSpPr>
            <p:cNvPr id="32" name="Oval 31"/>
            <p:cNvSpPr/>
            <p:nvPr/>
          </p:nvSpPr>
          <p:spPr>
            <a:xfrm>
              <a:off x="4807971" y="4206058"/>
              <a:ext cx="172073" cy="17907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25"/>
            <p:cNvGrpSpPr/>
            <p:nvPr/>
          </p:nvGrpSpPr>
          <p:grpSpPr>
            <a:xfrm>
              <a:off x="3036646" y="4216535"/>
              <a:ext cx="180676" cy="189919"/>
              <a:chOff x="3203847" y="4809330"/>
              <a:chExt cx="144017" cy="145470"/>
            </a:xfrm>
          </p:grpSpPr>
          <p:cxnSp>
            <p:nvCxnSpPr>
              <p:cNvPr id="37" name="Straight Connector 36"/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39" name="TextBox 38"/>
            <p:cNvSpPr txBox="1"/>
            <p:nvPr/>
          </p:nvSpPr>
          <p:spPr>
            <a:xfrm>
              <a:off x="2946396" y="3803694"/>
              <a:ext cx="710300" cy="4018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49.2</a:t>
              </a:r>
              <a:r>
                <a:rPr lang="en-US" sz="1400" baseline="30000" dirty="0"/>
                <a:t>o</a:t>
              </a:r>
            </a:p>
          </p:txBody>
        </p:sp>
        <p:sp>
          <p:nvSpPr>
            <p:cNvPr id="40" name="Arc 39"/>
            <p:cNvSpPr/>
            <p:nvPr/>
          </p:nvSpPr>
          <p:spPr>
            <a:xfrm rot="3464148">
              <a:off x="2480276" y="3916628"/>
              <a:ext cx="477189" cy="401294"/>
            </a:xfrm>
            <a:prstGeom prst="arc">
              <a:avLst>
                <a:gd name="adj1" fmla="val 14970581"/>
                <a:gd name="adj2" fmla="val 0"/>
              </a:avLst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151662" y="4369423"/>
              <a:ext cx="414677" cy="4018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-3</a:t>
              </a:r>
            </a:p>
          </p:txBody>
        </p:sp>
        <p:cxnSp>
          <p:nvCxnSpPr>
            <p:cNvPr id="42" name="Straight Connector 41"/>
            <p:cNvCxnSpPr/>
            <p:nvPr/>
          </p:nvCxnSpPr>
          <p:spPr>
            <a:xfrm rot="5400000" flipH="1" flipV="1">
              <a:off x="3285827" y="4296073"/>
              <a:ext cx="198967" cy="19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Arc 33"/>
            <p:cNvSpPr/>
            <p:nvPr/>
          </p:nvSpPr>
          <p:spPr>
            <a:xfrm rot="10384191">
              <a:off x="4264522" y="2210766"/>
              <a:ext cx="736161" cy="563497"/>
            </a:xfrm>
            <a:prstGeom prst="arc">
              <a:avLst>
                <a:gd name="adj1" fmla="val 13732502"/>
                <a:gd name="adj2" fmla="val 20619066"/>
              </a:avLst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5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2455459"/>
                </p:ext>
              </p:extLst>
            </p:nvPr>
          </p:nvGraphicFramePr>
          <p:xfrm>
            <a:off x="4103718" y="2896798"/>
            <a:ext cx="617120" cy="2660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44240" imgH="177480" progId="Equation.3">
                    <p:embed/>
                  </p:oleObj>
                </mc:Choice>
                <mc:Fallback>
                  <p:oleObj name="Equation" r:id="rId2" imgW="44424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3718" y="2896798"/>
                          <a:ext cx="617120" cy="2660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Rectangle 9"/>
          <p:cNvSpPr/>
          <p:nvPr/>
        </p:nvSpPr>
        <p:spPr>
          <a:xfrm>
            <a:off x="7543800" y="152400"/>
            <a:ext cx="1167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Solution-2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015905" y="5410200"/>
                <a:ext cx="4191000" cy="908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a:rPr lang="en-US" sz="2800" b="0" i="1" smtClean="0">
                          <a:latin typeface="Cambria Math"/>
                        </a:rPr>
                        <m:t>=1.03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+1.5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+3.6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5905" y="5410200"/>
                <a:ext cx="4191000" cy="90896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0352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18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Step-5 (Example-1)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8991600" cy="4906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If no other requirements are imposed on the system, try to make the value of </a:t>
            </a:r>
            <a:r>
              <a:rPr lang="el-GR" sz="2400" dirty="0">
                <a:solidFill>
                  <a:srgbClr val="FF0000"/>
                </a:solidFill>
              </a:rPr>
              <a:t>α</a:t>
            </a:r>
            <a:r>
              <a:rPr lang="en-US" sz="2400" dirty="0"/>
              <a:t> as large as possible. A larger value of </a:t>
            </a:r>
            <a:r>
              <a:rPr lang="el-GR" sz="2400" dirty="0">
                <a:solidFill>
                  <a:srgbClr val="FF0000"/>
                </a:solidFill>
              </a:rPr>
              <a:t>α</a:t>
            </a:r>
            <a:r>
              <a:rPr lang="en-US" sz="2400" dirty="0"/>
              <a:t> generally results in a larger value of </a:t>
            </a:r>
            <a:r>
              <a:rPr lang="en-US" sz="2400" dirty="0" err="1">
                <a:solidFill>
                  <a:srgbClr val="FF0000"/>
                </a:solidFill>
              </a:rPr>
              <a:t>K</a:t>
            </a:r>
            <a:r>
              <a:rPr lang="en-US" sz="2400" baseline="-25000" dirty="0" err="1">
                <a:solidFill>
                  <a:srgbClr val="FF0000"/>
                </a:solidFill>
              </a:rPr>
              <a:t>v</a:t>
            </a:r>
            <a:r>
              <a:rPr lang="en-US" sz="2400" dirty="0"/>
              <a:t>, which is desirable.</a:t>
            </a:r>
          </a:p>
          <a:p>
            <a:endParaRPr lang="en-US" sz="1000" dirty="0"/>
          </a:p>
          <a:p>
            <a:r>
              <a:rPr lang="en-US" sz="2400" dirty="0"/>
              <a:t>Procedure to obtain a largest possible value for </a:t>
            </a:r>
            <a:r>
              <a:rPr lang="el-GR" sz="2400" dirty="0">
                <a:solidFill>
                  <a:srgbClr val="FF0000"/>
                </a:solidFill>
              </a:rPr>
              <a:t>α</a:t>
            </a:r>
            <a:r>
              <a:rPr lang="en-US" sz="2400" dirty="0"/>
              <a:t>.</a:t>
            </a:r>
          </a:p>
          <a:p>
            <a:pPr lvl="1" algn="just"/>
            <a:r>
              <a:rPr lang="en-US" sz="2000" dirty="0"/>
              <a:t>First, draw a horizontal line passing through point </a:t>
            </a:r>
            <a:r>
              <a:rPr lang="en-US" sz="2000" i="1" dirty="0">
                <a:solidFill>
                  <a:srgbClr val="FF0000"/>
                </a:solidFill>
              </a:rPr>
              <a:t>P</a:t>
            </a:r>
            <a:r>
              <a:rPr lang="en-US" sz="2000" dirty="0"/>
              <a:t>, the desired location for one of the dominant closed-loop poles. This is shown as line </a:t>
            </a:r>
            <a:r>
              <a:rPr lang="en-US" sz="2000" dirty="0">
                <a:solidFill>
                  <a:srgbClr val="FF0000"/>
                </a:solidFill>
              </a:rPr>
              <a:t>PA</a:t>
            </a:r>
            <a:r>
              <a:rPr lang="en-US" sz="2000" dirty="0"/>
              <a:t> in following figure.</a:t>
            </a:r>
          </a:p>
          <a:p>
            <a:pPr lvl="1" algn="just"/>
            <a:r>
              <a:rPr lang="en-US" sz="2000" dirty="0"/>
              <a:t>Draw also a line connecting point </a:t>
            </a:r>
            <a:r>
              <a:rPr lang="en-US" sz="2000" dirty="0">
                <a:solidFill>
                  <a:srgbClr val="FF0000"/>
                </a:solidFill>
              </a:rPr>
              <a:t>P</a:t>
            </a:r>
            <a:r>
              <a:rPr lang="en-US" sz="2000" dirty="0"/>
              <a:t> and the origin </a:t>
            </a:r>
            <a:r>
              <a:rPr lang="en-US" sz="2000" dirty="0">
                <a:solidFill>
                  <a:srgbClr val="FF0000"/>
                </a:solidFill>
              </a:rPr>
              <a:t>O</a:t>
            </a:r>
            <a:r>
              <a:rPr lang="en-US" sz="2000" dirty="0"/>
              <a:t>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450055" y="4114800"/>
            <a:ext cx="4191000" cy="2743200"/>
            <a:chOff x="1053650" y="2889454"/>
            <a:chExt cx="4191000" cy="2743200"/>
          </a:xfrm>
        </p:grpSpPr>
        <p:cxnSp>
          <p:nvCxnSpPr>
            <p:cNvPr id="32" name="Straight Connector 31"/>
            <p:cNvCxnSpPr/>
            <p:nvPr/>
          </p:nvCxnSpPr>
          <p:spPr>
            <a:xfrm rot="5400000">
              <a:off x="2971800" y="4260260"/>
              <a:ext cx="27432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053650" y="4890655"/>
              <a:ext cx="41910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/>
          <p:cNvGrpSpPr/>
          <p:nvPr/>
        </p:nvGrpSpPr>
        <p:grpSpPr>
          <a:xfrm>
            <a:off x="3038847" y="4416830"/>
            <a:ext cx="3086908" cy="2070087"/>
            <a:chOff x="3038847" y="4416830"/>
            <a:chExt cx="3086908" cy="2070087"/>
          </a:xfrm>
        </p:grpSpPr>
        <p:grpSp>
          <p:nvGrpSpPr>
            <p:cNvPr id="6" name="Group 25"/>
            <p:cNvGrpSpPr/>
            <p:nvPr/>
          </p:nvGrpSpPr>
          <p:grpSpPr>
            <a:xfrm>
              <a:off x="5665058" y="6047515"/>
              <a:ext cx="144017" cy="145470"/>
              <a:chOff x="3203847" y="4809330"/>
              <a:chExt cx="144017" cy="145470"/>
            </a:xfrm>
          </p:grpSpPr>
          <p:cxnSp>
            <p:nvCxnSpPr>
              <p:cNvPr id="30" name="Straight Connector 29"/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25"/>
            <p:cNvGrpSpPr/>
            <p:nvPr/>
          </p:nvGrpSpPr>
          <p:grpSpPr>
            <a:xfrm>
              <a:off x="4785810" y="6047520"/>
              <a:ext cx="144017" cy="145470"/>
              <a:chOff x="3203847" y="4809330"/>
              <a:chExt cx="144017" cy="145470"/>
            </a:xfrm>
          </p:grpSpPr>
          <p:cxnSp>
            <p:nvCxnSpPr>
              <p:cNvPr id="28" name="Straight Connector 27"/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/>
            <p:cNvSpPr txBox="1"/>
            <p:nvPr/>
          </p:nvSpPr>
          <p:spPr>
            <a:xfrm>
              <a:off x="4633410" y="6179140"/>
              <a:ext cx="330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-1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4346025" y="4416830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81365" y="5271675"/>
              <a:ext cx="330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786315" y="6179140"/>
              <a:ext cx="330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-2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 rot="5400000" flipH="1" flipV="1">
              <a:off x="3896356" y="6122926"/>
              <a:ext cx="152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10800000" flipH="1" flipV="1">
              <a:off x="5663606" y="5437920"/>
              <a:ext cx="152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5795215" y="4606645"/>
              <a:ext cx="330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-2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 flipH="1" flipV="1">
              <a:off x="5677456" y="4772890"/>
              <a:ext cx="152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3038847" y="6177541"/>
              <a:ext cx="330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-3</a:t>
              </a:r>
            </a:p>
          </p:txBody>
        </p:sp>
        <p:cxnSp>
          <p:nvCxnSpPr>
            <p:cNvPr id="25" name="Straight Connector 24"/>
            <p:cNvCxnSpPr/>
            <p:nvPr/>
          </p:nvCxnSpPr>
          <p:spPr>
            <a:xfrm rot="5400000" flipH="1" flipV="1">
              <a:off x="3148888" y="6121327"/>
              <a:ext cx="152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4406259" y="4479242"/>
            <a:ext cx="1649366" cy="1906077"/>
            <a:chOff x="4406259" y="3662183"/>
            <a:chExt cx="1649366" cy="1906077"/>
          </a:xfrm>
        </p:grpSpPr>
        <p:cxnSp>
          <p:nvCxnSpPr>
            <p:cNvPr id="17" name="Straight Connector 16"/>
            <p:cNvCxnSpPr/>
            <p:nvPr/>
          </p:nvCxnSpPr>
          <p:spPr>
            <a:xfrm flipH="1" flipV="1">
              <a:off x="4406259" y="3662183"/>
              <a:ext cx="1345314" cy="1669272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5752337" y="5260483"/>
              <a:ext cx="3032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O</a:t>
              </a:r>
              <a:endParaRPr lang="en-US" sz="1400" baseline="30000" dirty="0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2457268" y="4298868"/>
            <a:ext cx="1916612" cy="307777"/>
            <a:chOff x="2457268" y="3481809"/>
            <a:chExt cx="1916612" cy="307777"/>
          </a:xfrm>
        </p:grpSpPr>
        <p:cxnSp>
          <p:nvCxnSpPr>
            <p:cNvPr id="37" name="Straight Connector 36"/>
            <p:cNvCxnSpPr/>
            <p:nvPr/>
          </p:nvCxnSpPr>
          <p:spPr>
            <a:xfrm flipV="1">
              <a:off x="2819400" y="3657600"/>
              <a:ext cx="1554480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2457268" y="3481809"/>
              <a:ext cx="2888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A</a:t>
              </a:r>
              <a:endParaRPr lang="en-US" sz="1400" baseline="30000" dirty="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267915" y="4109053"/>
            <a:ext cx="277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</a:t>
            </a:r>
            <a:endParaRPr lang="en-US" sz="1400" baseline="30000" dirty="0"/>
          </a:p>
        </p:txBody>
      </p:sp>
      <p:sp>
        <p:nvSpPr>
          <p:cNvPr id="4" name="Rectangle 3"/>
          <p:cNvSpPr/>
          <p:nvPr/>
        </p:nvSpPr>
        <p:spPr>
          <a:xfrm>
            <a:off x="7568397" y="179988"/>
            <a:ext cx="12795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Solution-3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8955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1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18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Step-5 (Example-1)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8991600" cy="4906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Bisect the angle between the lines </a:t>
            </a:r>
            <a:r>
              <a:rPr lang="en-US" sz="2400" dirty="0">
                <a:solidFill>
                  <a:srgbClr val="FF0000"/>
                </a:solidFill>
              </a:rPr>
              <a:t>PA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FF0000"/>
                </a:solidFill>
              </a:rPr>
              <a:t>PO</a:t>
            </a:r>
            <a:r>
              <a:rPr lang="en-US" sz="2400" dirty="0"/>
              <a:t>, as shown in following figure.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450055" y="2031537"/>
            <a:ext cx="4191000" cy="2743200"/>
            <a:chOff x="1053650" y="2889454"/>
            <a:chExt cx="4191000" cy="2743200"/>
          </a:xfrm>
        </p:grpSpPr>
        <p:cxnSp>
          <p:nvCxnSpPr>
            <p:cNvPr id="32" name="Straight Connector 31"/>
            <p:cNvCxnSpPr/>
            <p:nvPr/>
          </p:nvCxnSpPr>
          <p:spPr>
            <a:xfrm rot="5400000">
              <a:off x="2971800" y="4260260"/>
              <a:ext cx="27432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053650" y="4890655"/>
              <a:ext cx="41910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5"/>
          <p:cNvGrpSpPr/>
          <p:nvPr/>
        </p:nvGrpSpPr>
        <p:grpSpPr>
          <a:xfrm>
            <a:off x="5665058" y="3964252"/>
            <a:ext cx="144017" cy="145470"/>
            <a:chOff x="3203847" y="4809330"/>
            <a:chExt cx="144017" cy="145470"/>
          </a:xfrm>
        </p:grpSpPr>
        <p:cxnSp>
          <p:nvCxnSpPr>
            <p:cNvPr id="30" name="Straight Connector 29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" name="Group 25"/>
          <p:cNvGrpSpPr/>
          <p:nvPr/>
        </p:nvGrpSpPr>
        <p:grpSpPr>
          <a:xfrm>
            <a:off x="4785810" y="3964257"/>
            <a:ext cx="144017" cy="145470"/>
            <a:chOff x="3203847" y="4809330"/>
            <a:chExt cx="144017" cy="145470"/>
          </a:xfrm>
        </p:grpSpPr>
        <p:cxnSp>
          <p:nvCxnSpPr>
            <p:cNvPr id="28" name="Straight Connector 27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633410" y="4095877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-1</a:t>
            </a:r>
          </a:p>
        </p:txBody>
      </p:sp>
      <p:sp>
        <p:nvSpPr>
          <p:cNvPr id="9" name="Oval 8"/>
          <p:cNvSpPr/>
          <p:nvPr/>
        </p:nvSpPr>
        <p:spPr>
          <a:xfrm>
            <a:off x="4346025" y="2333567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781365" y="3188412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6315" y="4095877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-2</a:t>
            </a:r>
          </a:p>
        </p:txBody>
      </p:sp>
      <p:cxnSp>
        <p:nvCxnSpPr>
          <p:cNvPr id="12" name="Straight Connector 11"/>
          <p:cNvCxnSpPr/>
          <p:nvPr/>
        </p:nvCxnSpPr>
        <p:spPr>
          <a:xfrm rot="5400000" flipH="1" flipV="1">
            <a:off x="3896356" y="4039663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10800000" flipH="1" flipV="1">
            <a:off x="5663606" y="3354657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95215" y="2523382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-2</a:t>
            </a:r>
          </a:p>
        </p:txBody>
      </p:sp>
      <p:cxnSp>
        <p:nvCxnSpPr>
          <p:cNvPr id="15" name="Straight Connector 14"/>
          <p:cNvCxnSpPr/>
          <p:nvPr/>
        </p:nvCxnSpPr>
        <p:spPr>
          <a:xfrm rot="10800000" flipH="1" flipV="1">
            <a:off x="5677456" y="2689627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38847" y="4094278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-3</a:t>
            </a:r>
          </a:p>
        </p:txBody>
      </p:sp>
      <p:cxnSp>
        <p:nvCxnSpPr>
          <p:cNvPr id="25" name="Straight Connector 24"/>
          <p:cNvCxnSpPr/>
          <p:nvPr/>
        </p:nvCxnSpPr>
        <p:spPr>
          <a:xfrm rot="5400000" flipH="1" flipV="1">
            <a:off x="3148888" y="4038064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/>
          <p:cNvGrpSpPr/>
          <p:nvPr/>
        </p:nvGrpSpPr>
        <p:grpSpPr>
          <a:xfrm>
            <a:off x="4267915" y="2025790"/>
            <a:ext cx="1787710" cy="2276266"/>
            <a:chOff x="4267915" y="3291994"/>
            <a:chExt cx="1787710" cy="2276266"/>
          </a:xfrm>
        </p:grpSpPr>
        <p:cxnSp>
          <p:nvCxnSpPr>
            <p:cNvPr id="17" name="Straight Connector 16"/>
            <p:cNvCxnSpPr/>
            <p:nvPr/>
          </p:nvCxnSpPr>
          <p:spPr>
            <a:xfrm flipH="1" flipV="1">
              <a:off x="4406259" y="3662183"/>
              <a:ext cx="1345314" cy="1669272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Group 39"/>
            <p:cNvGrpSpPr/>
            <p:nvPr/>
          </p:nvGrpSpPr>
          <p:grpSpPr>
            <a:xfrm>
              <a:off x="4267915" y="3291994"/>
              <a:ext cx="1787710" cy="2276266"/>
              <a:chOff x="4267915" y="3291994"/>
              <a:chExt cx="1787710" cy="2276266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5752337" y="5260483"/>
                <a:ext cx="3032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/>
                  <a:t>O</a:t>
                </a:r>
                <a:endParaRPr lang="en-US" sz="1400" baseline="30000" dirty="0"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4267915" y="3291994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/>
                  <a:t>P</a:t>
                </a:r>
                <a:endParaRPr lang="en-US" sz="1400" baseline="30000" dirty="0"/>
              </a:p>
            </p:txBody>
          </p:sp>
        </p:grpSp>
      </p:grpSp>
      <p:grpSp>
        <p:nvGrpSpPr>
          <p:cNvPr id="42" name="Group 41"/>
          <p:cNvGrpSpPr/>
          <p:nvPr/>
        </p:nvGrpSpPr>
        <p:grpSpPr>
          <a:xfrm>
            <a:off x="2457268" y="2215605"/>
            <a:ext cx="1916612" cy="307777"/>
            <a:chOff x="2457268" y="3481809"/>
            <a:chExt cx="1916612" cy="307777"/>
          </a:xfrm>
        </p:grpSpPr>
        <p:cxnSp>
          <p:nvCxnSpPr>
            <p:cNvPr id="37" name="Straight Connector 36"/>
            <p:cNvCxnSpPr/>
            <p:nvPr/>
          </p:nvCxnSpPr>
          <p:spPr>
            <a:xfrm flipV="1">
              <a:off x="2819400" y="3657600"/>
              <a:ext cx="1554480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2457268" y="3481809"/>
              <a:ext cx="2888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A</a:t>
              </a:r>
              <a:endParaRPr lang="en-US" sz="1400" baseline="300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925934" y="1908153"/>
            <a:ext cx="900844" cy="816570"/>
            <a:chOff x="4047792" y="3247404"/>
            <a:chExt cx="686658" cy="705792"/>
          </a:xfrm>
        </p:grpSpPr>
        <p:sp>
          <p:nvSpPr>
            <p:cNvPr id="18" name="Arc 17"/>
            <p:cNvSpPr/>
            <p:nvPr/>
          </p:nvSpPr>
          <p:spPr>
            <a:xfrm rot="11143516">
              <a:off x="4047792" y="3247404"/>
              <a:ext cx="686658" cy="705792"/>
            </a:xfrm>
            <a:prstGeom prst="arc">
              <a:avLst>
                <a:gd name="adj1" fmla="val 13732502"/>
                <a:gd name="adj2" fmla="val 20619066"/>
              </a:avLst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4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1890261"/>
                </p:ext>
              </p:extLst>
            </p:nvPr>
          </p:nvGraphicFramePr>
          <p:xfrm>
            <a:off x="4191685" y="3700988"/>
            <a:ext cx="170414" cy="2217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6720" imgH="164880" progId="Equation.3">
                    <p:embed/>
                  </p:oleObj>
                </mc:Choice>
                <mc:Fallback>
                  <p:oleObj name="Equation" r:id="rId2" imgW="126720" imgH="16488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1685" y="3700988"/>
                          <a:ext cx="170414" cy="2217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35" name="Straight Connector 34"/>
          <p:cNvCxnSpPr/>
          <p:nvPr/>
        </p:nvCxnSpPr>
        <p:spPr>
          <a:xfrm flipH="1">
            <a:off x="3609519" y="2400837"/>
            <a:ext cx="762776" cy="16288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3539234" y="2100508"/>
            <a:ext cx="1354147" cy="1352139"/>
            <a:chOff x="3539234" y="3366712"/>
            <a:chExt cx="1354147" cy="1352139"/>
          </a:xfrm>
        </p:grpSpPr>
        <p:sp>
          <p:nvSpPr>
            <p:cNvPr id="44" name="Arc 43"/>
            <p:cNvSpPr/>
            <p:nvPr/>
          </p:nvSpPr>
          <p:spPr>
            <a:xfrm rot="12076707">
              <a:off x="3653884" y="3366712"/>
              <a:ext cx="848692" cy="651296"/>
            </a:xfrm>
            <a:prstGeom prst="arc">
              <a:avLst>
                <a:gd name="adj1" fmla="val 13732502"/>
                <a:gd name="adj2" fmla="val 20619066"/>
              </a:avLst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46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6749484"/>
                </p:ext>
              </p:extLst>
            </p:nvPr>
          </p:nvGraphicFramePr>
          <p:xfrm>
            <a:off x="3539234" y="3911684"/>
            <a:ext cx="183950" cy="476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2280" imgH="393480" progId="Equation.3">
                    <p:embed/>
                  </p:oleObj>
                </mc:Choice>
                <mc:Fallback>
                  <p:oleObj name="Equation" r:id="rId4" imgW="15228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9234" y="3911684"/>
                          <a:ext cx="183950" cy="476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" name="Arc 46"/>
            <p:cNvSpPr/>
            <p:nvPr/>
          </p:nvSpPr>
          <p:spPr>
            <a:xfrm rot="11858379" flipH="1">
              <a:off x="4044689" y="3559854"/>
              <a:ext cx="848692" cy="651296"/>
            </a:xfrm>
            <a:prstGeom prst="arc">
              <a:avLst>
                <a:gd name="adj1" fmla="val 13732502"/>
                <a:gd name="adj2" fmla="val 20619066"/>
              </a:avLst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48" name="Object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8724361"/>
                </p:ext>
              </p:extLst>
            </p:nvPr>
          </p:nvGraphicFramePr>
          <p:xfrm>
            <a:off x="4387330" y="4242611"/>
            <a:ext cx="183950" cy="476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80" imgH="393480" progId="Equation.3">
                    <p:embed/>
                  </p:oleObj>
                </mc:Choice>
                <mc:Fallback>
                  <p:oleObj name="Equation" r:id="rId6" imgW="15228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7330" y="4242611"/>
                          <a:ext cx="183950" cy="476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" name="Rectangle 42"/>
          <p:cNvSpPr/>
          <p:nvPr/>
        </p:nvSpPr>
        <p:spPr>
          <a:xfrm>
            <a:off x="7568397" y="179988"/>
            <a:ext cx="12795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Solution-3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770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18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Step-5 (Example-1)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112837"/>
                <a:ext cx="8991600" cy="1935163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US" sz="2400" dirty="0"/>
                  <a:t>Draw two lines </a:t>
                </a:r>
                <a:r>
                  <a:rPr lang="en-US" sz="2400" dirty="0">
                    <a:solidFill>
                      <a:srgbClr val="FF0000"/>
                    </a:solidFill>
                  </a:rPr>
                  <a:t>PC</a:t>
                </a:r>
                <a:r>
                  <a:rPr lang="en-US" sz="2400" dirty="0"/>
                  <a:t> and </a:t>
                </a:r>
                <a:r>
                  <a:rPr lang="en-US" sz="2400" dirty="0">
                    <a:solidFill>
                      <a:srgbClr val="FF0000"/>
                    </a:solidFill>
                  </a:rPr>
                  <a:t>PD</a:t>
                </a:r>
                <a:r>
                  <a:rPr lang="en-US" sz="2400" dirty="0"/>
                  <a:t> that make angles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±</m:t>
                    </m:r>
                    <m:f>
                      <m:f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with the the bisector </a:t>
                </a:r>
                <a:r>
                  <a:rPr lang="en-US" sz="2400" dirty="0">
                    <a:solidFill>
                      <a:srgbClr val="FF0000"/>
                    </a:solidFill>
                  </a:rPr>
                  <a:t>PB</a:t>
                </a:r>
                <a:r>
                  <a:rPr lang="en-US" sz="2400" dirty="0"/>
                  <a:t>. </a:t>
                </a:r>
              </a:p>
              <a:p>
                <a:pPr algn="just"/>
                <a:endParaRPr lang="en-US" sz="1200" dirty="0"/>
              </a:p>
              <a:p>
                <a:pPr algn="just"/>
                <a:r>
                  <a:rPr lang="en-US" sz="2400" dirty="0"/>
                  <a:t>The intersections of </a:t>
                </a:r>
                <a:r>
                  <a:rPr lang="en-US" sz="2400" dirty="0">
                    <a:solidFill>
                      <a:srgbClr val="FF0000"/>
                    </a:solidFill>
                  </a:rPr>
                  <a:t>PC</a:t>
                </a:r>
                <a:r>
                  <a:rPr lang="en-US" sz="2400" dirty="0"/>
                  <a:t> and </a:t>
                </a:r>
                <a:r>
                  <a:rPr lang="en-US" sz="2400" dirty="0">
                    <a:solidFill>
                      <a:srgbClr val="FF0000"/>
                    </a:solidFill>
                  </a:rPr>
                  <a:t>PD</a:t>
                </a:r>
                <a:r>
                  <a:rPr lang="en-US" sz="2400" dirty="0"/>
                  <a:t> with the negative real axis give the necessary locations for the pole and zero of the lead network.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12837"/>
                <a:ext cx="8991600" cy="1935163"/>
              </a:xfrm>
              <a:blipFill rotWithShape="1">
                <a:blip r:embed="rId3"/>
                <a:stretch>
                  <a:fillRect l="-881" r="-1763" b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2450055" y="3352930"/>
            <a:ext cx="4191000" cy="2743200"/>
            <a:chOff x="1053650" y="2889454"/>
            <a:chExt cx="4191000" cy="2743200"/>
          </a:xfrm>
        </p:grpSpPr>
        <p:cxnSp>
          <p:nvCxnSpPr>
            <p:cNvPr id="32" name="Straight Connector 31"/>
            <p:cNvCxnSpPr/>
            <p:nvPr/>
          </p:nvCxnSpPr>
          <p:spPr>
            <a:xfrm rot="5400000">
              <a:off x="2971800" y="4260260"/>
              <a:ext cx="27432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053650" y="4890655"/>
              <a:ext cx="41910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5"/>
          <p:cNvGrpSpPr/>
          <p:nvPr/>
        </p:nvGrpSpPr>
        <p:grpSpPr>
          <a:xfrm>
            <a:off x="5665058" y="5285645"/>
            <a:ext cx="144017" cy="145470"/>
            <a:chOff x="3203847" y="4809330"/>
            <a:chExt cx="144017" cy="145470"/>
          </a:xfrm>
        </p:grpSpPr>
        <p:cxnSp>
          <p:nvCxnSpPr>
            <p:cNvPr id="30" name="Straight Connector 29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" name="Group 25"/>
          <p:cNvGrpSpPr/>
          <p:nvPr/>
        </p:nvGrpSpPr>
        <p:grpSpPr>
          <a:xfrm>
            <a:off x="4785810" y="5285650"/>
            <a:ext cx="144017" cy="145470"/>
            <a:chOff x="3203847" y="4809330"/>
            <a:chExt cx="144017" cy="145470"/>
          </a:xfrm>
        </p:grpSpPr>
        <p:cxnSp>
          <p:nvCxnSpPr>
            <p:cNvPr id="28" name="Straight Connector 27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633410" y="5417270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-1</a:t>
            </a:r>
          </a:p>
        </p:txBody>
      </p:sp>
      <p:sp>
        <p:nvSpPr>
          <p:cNvPr id="9" name="Oval 8"/>
          <p:cNvSpPr/>
          <p:nvPr/>
        </p:nvSpPr>
        <p:spPr>
          <a:xfrm>
            <a:off x="4346025" y="3654960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781365" y="4509805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6315" y="5417270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-2</a:t>
            </a:r>
          </a:p>
        </p:txBody>
      </p:sp>
      <p:cxnSp>
        <p:nvCxnSpPr>
          <p:cNvPr id="12" name="Straight Connector 11"/>
          <p:cNvCxnSpPr/>
          <p:nvPr/>
        </p:nvCxnSpPr>
        <p:spPr>
          <a:xfrm rot="5400000" flipH="1" flipV="1">
            <a:off x="3896356" y="5361056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10800000" flipH="1" flipV="1">
            <a:off x="5663606" y="4676050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95215" y="3844775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-2</a:t>
            </a:r>
          </a:p>
        </p:txBody>
      </p:sp>
      <p:cxnSp>
        <p:nvCxnSpPr>
          <p:cNvPr id="15" name="Straight Connector 14"/>
          <p:cNvCxnSpPr/>
          <p:nvPr/>
        </p:nvCxnSpPr>
        <p:spPr>
          <a:xfrm rot="10800000" flipH="1" flipV="1">
            <a:off x="5677456" y="4011020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182061" y="5853016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</a:t>
            </a:r>
            <a:endParaRPr lang="en-US" sz="1400" baseline="30000" dirty="0"/>
          </a:p>
        </p:txBody>
      </p:sp>
      <p:grpSp>
        <p:nvGrpSpPr>
          <p:cNvPr id="18" name="Group 17"/>
          <p:cNvGrpSpPr/>
          <p:nvPr/>
        </p:nvGrpSpPr>
        <p:grpSpPr>
          <a:xfrm>
            <a:off x="2589726" y="5280110"/>
            <a:ext cx="1668884" cy="157940"/>
            <a:chOff x="2589726" y="5280110"/>
            <a:chExt cx="1668884" cy="157940"/>
          </a:xfrm>
        </p:grpSpPr>
        <p:sp>
          <p:nvSpPr>
            <p:cNvPr id="20" name="Oval 19"/>
            <p:cNvSpPr/>
            <p:nvPr/>
          </p:nvSpPr>
          <p:spPr>
            <a:xfrm>
              <a:off x="4121450" y="5280110"/>
              <a:ext cx="137160" cy="13716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5"/>
            <p:cNvGrpSpPr/>
            <p:nvPr/>
          </p:nvGrpSpPr>
          <p:grpSpPr>
            <a:xfrm>
              <a:off x="2589726" y="5292580"/>
              <a:ext cx="144017" cy="145470"/>
              <a:chOff x="2898743" y="4809330"/>
              <a:chExt cx="144017" cy="145470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 flipH="1">
                <a:off x="2898743" y="4809330"/>
                <a:ext cx="144000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2898760" y="4810800"/>
                <a:ext cx="144000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TextBox 23"/>
          <p:cNvSpPr txBox="1"/>
          <p:nvPr/>
        </p:nvSpPr>
        <p:spPr>
          <a:xfrm>
            <a:off x="3038847" y="5415671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-3</a:t>
            </a:r>
          </a:p>
        </p:txBody>
      </p:sp>
      <p:cxnSp>
        <p:nvCxnSpPr>
          <p:cNvPr id="25" name="Straight Connector 24"/>
          <p:cNvCxnSpPr/>
          <p:nvPr/>
        </p:nvCxnSpPr>
        <p:spPr>
          <a:xfrm rot="5400000" flipH="1" flipV="1">
            <a:off x="3148888" y="5359457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/>
          <p:cNvGrpSpPr/>
          <p:nvPr/>
        </p:nvGrpSpPr>
        <p:grpSpPr>
          <a:xfrm>
            <a:off x="4267915" y="3347183"/>
            <a:ext cx="1787710" cy="2276266"/>
            <a:chOff x="4267915" y="3291994"/>
            <a:chExt cx="1787710" cy="2276266"/>
          </a:xfrm>
        </p:grpSpPr>
        <p:cxnSp>
          <p:nvCxnSpPr>
            <p:cNvPr id="17" name="Straight Connector 16"/>
            <p:cNvCxnSpPr/>
            <p:nvPr/>
          </p:nvCxnSpPr>
          <p:spPr>
            <a:xfrm flipH="1" flipV="1">
              <a:off x="4406259" y="3662183"/>
              <a:ext cx="1345314" cy="1669272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Group 39"/>
            <p:cNvGrpSpPr/>
            <p:nvPr/>
          </p:nvGrpSpPr>
          <p:grpSpPr>
            <a:xfrm>
              <a:off x="4267915" y="3291994"/>
              <a:ext cx="1787710" cy="2276266"/>
              <a:chOff x="4267915" y="3291994"/>
              <a:chExt cx="1787710" cy="2276266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5752337" y="5260483"/>
                <a:ext cx="3032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/>
                  <a:t>O</a:t>
                </a:r>
                <a:endParaRPr lang="en-US" sz="1400" baseline="30000" dirty="0"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4267915" y="3291994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/>
                  <a:t>P</a:t>
                </a:r>
                <a:endParaRPr lang="en-US" sz="1400" baseline="30000" dirty="0"/>
              </a:p>
            </p:txBody>
          </p:sp>
        </p:grpSp>
      </p:grpSp>
      <p:grpSp>
        <p:nvGrpSpPr>
          <p:cNvPr id="42" name="Group 41"/>
          <p:cNvGrpSpPr/>
          <p:nvPr/>
        </p:nvGrpSpPr>
        <p:grpSpPr>
          <a:xfrm>
            <a:off x="2457268" y="3536998"/>
            <a:ext cx="1916612" cy="307777"/>
            <a:chOff x="2457268" y="3481809"/>
            <a:chExt cx="1916612" cy="307777"/>
          </a:xfrm>
        </p:grpSpPr>
        <p:cxnSp>
          <p:nvCxnSpPr>
            <p:cNvPr id="37" name="Straight Connector 36"/>
            <p:cNvCxnSpPr/>
            <p:nvPr/>
          </p:nvCxnSpPr>
          <p:spPr>
            <a:xfrm flipV="1">
              <a:off x="2819400" y="3657600"/>
              <a:ext cx="1554480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2457268" y="3481809"/>
              <a:ext cx="2888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A</a:t>
              </a:r>
              <a:endParaRPr lang="en-US" sz="1400" baseline="30000" dirty="0"/>
            </a:p>
          </p:txBody>
        </p:sp>
      </p:grpSp>
      <p:cxnSp>
        <p:nvCxnSpPr>
          <p:cNvPr id="35" name="Straight Connector 34"/>
          <p:cNvCxnSpPr>
            <a:endCxn id="19" idx="0"/>
          </p:cNvCxnSpPr>
          <p:nvPr/>
        </p:nvCxnSpPr>
        <p:spPr>
          <a:xfrm flipH="1">
            <a:off x="3323286" y="3718495"/>
            <a:ext cx="1050645" cy="21345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/>
        </p:nvGrpSpPr>
        <p:grpSpPr>
          <a:xfrm>
            <a:off x="2279370" y="3697462"/>
            <a:ext cx="2098339" cy="2208006"/>
            <a:chOff x="2279370" y="3697462"/>
            <a:chExt cx="2098339" cy="2208006"/>
          </a:xfrm>
        </p:grpSpPr>
        <p:cxnSp>
          <p:nvCxnSpPr>
            <p:cNvPr id="50" name="Straight Connector 49"/>
            <p:cNvCxnSpPr/>
            <p:nvPr/>
          </p:nvCxnSpPr>
          <p:spPr>
            <a:xfrm flipH="1">
              <a:off x="2457268" y="3697462"/>
              <a:ext cx="1920441" cy="1872097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2279370" y="5597691"/>
              <a:ext cx="2824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</a:t>
              </a:r>
              <a:endParaRPr lang="en-US" sz="1400" baseline="300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018122" y="3746400"/>
            <a:ext cx="373623" cy="2578200"/>
            <a:chOff x="4018122" y="3746400"/>
            <a:chExt cx="373623" cy="2578200"/>
          </a:xfrm>
        </p:grpSpPr>
        <p:cxnSp>
          <p:nvCxnSpPr>
            <p:cNvPr id="51" name="Straight Connector 50"/>
            <p:cNvCxnSpPr>
              <a:stCxn id="9" idx="4"/>
            </p:cNvCxnSpPr>
            <p:nvPr/>
          </p:nvCxnSpPr>
          <p:spPr>
            <a:xfrm flipH="1">
              <a:off x="4116856" y="3746400"/>
              <a:ext cx="274889" cy="2260504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4018122" y="6016823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</a:t>
              </a:r>
              <a:endParaRPr lang="en-US" sz="1400" baseline="30000" dirty="0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3676990" y="4114800"/>
            <a:ext cx="692168" cy="851674"/>
            <a:chOff x="3657600" y="4221198"/>
            <a:chExt cx="692168" cy="851674"/>
          </a:xfrm>
        </p:grpSpPr>
        <p:sp>
          <p:nvSpPr>
            <p:cNvPr id="44" name="Arc 43"/>
            <p:cNvSpPr/>
            <p:nvPr/>
          </p:nvSpPr>
          <p:spPr>
            <a:xfrm rot="12076707">
              <a:off x="3802580" y="4221198"/>
              <a:ext cx="365760" cy="274320"/>
            </a:xfrm>
            <a:prstGeom prst="arc">
              <a:avLst>
                <a:gd name="adj1" fmla="val 13732502"/>
                <a:gd name="adj2" fmla="val 20619066"/>
              </a:avLst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48" name="Object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2444683"/>
                </p:ext>
              </p:extLst>
            </p:nvPr>
          </p:nvGraphicFramePr>
          <p:xfrm>
            <a:off x="3657600" y="4429708"/>
            <a:ext cx="260350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15640" imgH="393480" progId="Equation.3">
                    <p:embed/>
                  </p:oleObj>
                </mc:Choice>
                <mc:Fallback>
                  <p:oleObj name="Equation" r:id="rId4" imgW="21564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7600" y="4429708"/>
                          <a:ext cx="260350" cy="476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" name="Arc 55"/>
            <p:cNvSpPr/>
            <p:nvPr/>
          </p:nvSpPr>
          <p:spPr>
            <a:xfrm rot="13017222" flipH="1">
              <a:off x="3984008" y="4315542"/>
              <a:ext cx="365760" cy="274320"/>
            </a:xfrm>
            <a:prstGeom prst="arc">
              <a:avLst>
                <a:gd name="adj1" fmla="val 13732502"/>
                <a:gd name="adj2" fmla="val 20619066"/>
              </a:avLst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57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6504864"/>
                </p:ext>
              </p:extLst>
            </p:nvPr>
          </p:nvGraphicFramePr>
          <p:xfrm>
            <a:off x="3989161" y="4596622"/>
            <a:ext cx="260350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15640" imgH="393480" progId="Equation.3">
                    <p:embed/>
                  </p:oleObj>
                </mc:Choice>
                <mc:Fallback>
                  <p:oleObj name="Equation" r:id="rId6" imgW="215640" imgH="39348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9161" y="4596622"/>
                          <a:ext cx="260350" cy="476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" name="Rectangle 48"/>
          <p:cNvSpPr/>
          <p:nvPr/>
        </p:nvSpPr>
        <p:spPr>
          <a:xfrm>
            <a:off x="7568397" y="179988"/>
            <a:ext cx="12795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Solution-3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978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18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Step-5 (Example-1)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1"/>
            <a:ext cx="8991600" cy="6019800"/>
          </a:xfrm>
        </p:spPr>
        <p:txBody>
          <a:bodyPr>
            <a:normAutofit/>
          </a:bodyPr>
          <a:lstStyle/>
          <a:p>
            <a:r>
              <a:rPr lang="en-US" sz="2400" dirty="0"/>
              <a:t>The lead compensator has zero at </a:t>
            </a:r>
            <a:r>
              <a:rPr lang="en-US" sz="2400" dirty="0">
                <a:solidFill>
                  <a:srgbClr val="FF0000"/>
                </a:solidFill>
              </a:rPr>
              <a:t>s=–1.9432</a:t>
            </a:r>
            <a:r>
              <a:rPr lang="en-US" sz="2400" dirty="0"/>
              <a:t> and pole at </a:t>
            </a:r>
            <a:r>
              <a:rPr lang="en-US" sz="2400" dirty="0">
                <a:solidFill>
                  <a:srgbClr val="FF0000"/>
                </a:solidFill>
              </a:rPr>
              <a:t>s=–4.6458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Thus, </a:t>
            </a:r>
            <a:r>
              <a:rPr lang="en-US" sz="2400" dirty="0" err="1">
                <a:solidFill>
                  <a:srgbClr val="FF0000"/>
                </a:solidFill>
              </a:rPr>
              <a:t>G</a:t>
            </a:r>
            <a:r>
              <a:rPr lang="en-US" sz="2400" baseline="-25000" dirty="0" err="1">
                <a:solidFill>
                  <a:srgbClr val="FF0000"/>
                </a:solidFill>
              </a:rPr>
              <a:t>c</a:t>
            </a:r>
            <a:r>
              <a:rPr lang="en-US" sz="2400" dirty="0">
                <a:solidFill>
                  <a:srgbClr val="FF0000"/>
                </a:solidFill>
              </a:rPr>
              <a:t>(s)</a:t>
            </a:r>
            <a:r>
              <a:rPr lang="en-US" sz="2400" dirty="0"/>
              <a:t> can be given as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457200" y="1524000"/>
            <a:ext cx="4361685" cy="2977417"/>
            <a:chOff x="2279370" y="2971800"/>
            <a:chExt cx="4361685" cy="2977417"/>
          </a:xfrm>
        </p:grpSpPr>
        <p:grpSp>
          <p:nvGrpSpPr>
            <p:cNvPr id="49" name="Group 48"/>
            <p:cNvGrpSpPr/>
            <p:nvPr/>
          </p:nvGrpSpPr>
          <p:grpSpPr>
            <a:xfrm>
              <a:off x="2450055" y="2977547"/>
              <a:ext cx="4191000" cy="2743200"/>
              <a:chOff x="1053650" y="2889454"/>
              <a:chExt cx="4191000" cy="2743200"/>
            </a:xfrm>
          </p:grpSpPr>
          <p:cxnSp>
            <p:nvCxnSpPr>
              <p:cNvPr id="52" name="Straight Connector 51"/>
              <p:cNvCxnSpPr/>
              <p:nvPr/>
            </p:nvCxnSpPr>
            <p:spPr>
              <a:xfrm rot="5400000">
                <a:off x="2971800" y="4260260"/>
                <a:ext cx="2743200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>
                <a:off x="1053650" y="4890655"/>
                <a:ext cx="4191000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25"/>
            <p:cNvGrpSpPr/>
            <p:nvPr/>
          </p:nvGrpSpPr>
          <p:grpSpPr>
            <a:xfrm>
              <a:off x="5665058" y="4910262"/>
              <a:ext cx="144017" cy="145470"/>
              <a:chOff x="3203847" y="4809330"/>
              <a:chExt cx="144017" cy="145470"/>
            </a:xfrm>
          </p:grpSpPr>
          <p:cxnSp>
            <p:nvCxnSpPr>
              <p:cNvPr id="59" name="Straight Connector 58"/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25"/>
            <p:cNvGrpSpPr/>
            <p:nvPr/>
          </p:nvGrpSpPr>
          <p:grpSpPr>
            <a:xfrm>
              <a:off x="4785810" y="4910267"/>
              <a:ext cx="144017" cy="145470"/>
              <a:chOff x="3203847" y="4809330"/>
              <a:chExt cx="144017" cy="145470"/>
            </a:xfrm>
          </p:grpSpPr>
          <p:cxnSp>
            <p:nvCxnSpPr>
              <p:cNvPr id="62" name="Straight Connector 61"/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63"/>
            <p:cNvSpPr txBox="1"/>
            <p:nvPr/>
          </p:nvSpPr>
          <p:spPr>
            <a:xfrm>
              <a:off x="4633410" y="5041887"/>
              <a:ext cx="330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-1</a:t>
              </a:r>
            </a:p>
          </p:txBody>
        </p:sp>
        <p:sp>
          <p:nvSpPr>
            <p:cNvPr id="65" name="Oval 64"/>
            <p:cNvSpPr/>
            <p:nvPr/>
          </p:nvSpPr>
          <p:spPr>
            <a:xfrm>
              <a:off x="4346025" y="3279577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781365" y="4134422"/>
              <a:ext cx="330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-1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786315" y="5041887"/>
              <a:ext cx="330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-2</a:t>
              </a:r>
            </a:p>
          </p:txBody>
        </p:sp>
        <p:cxnSp>
          <p:nvCxnSpPr>
            <p:cNvPr id="68" name="Straight Connector 67"/>
            <p:cNvCxnSpPr/>
            <p:nvPr/>
          </p:nvCxnSpPr>
          <p:spPr>
            <a:xfrm rot="5400000" flipH="1" flipV="1">
              <a:off x="3896356" y="4985673"/>
              <a:ext cx="152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10800000" flipH="1" flipV="1">
              <a:off x="5663606" y="4300667"/>
              <a:ext cx="152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/>
            <p:cNvSpPr txBox="1"/>
            <p:nvPr/>
          </p:nvSpPr>
          <p:spPr>
            <a:xfrm>
              <a:off x="5795215" y="3469392"/>
              <a:ext cx="330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-2</a:t>
              </a:r>
            </a:p>
          </p:txBody>
        </p:sp>
        <p:cxnSp>
          <p:nvCxnSpPr>
            <p:cNvPr id="71" name="Straight Connector 70"/>
            <p:cNvCxnSpPr/>
            <p:nvPr/>
          </p:nvCxnSpPr>
          <p:spPr>
            <a:xfrm rot="10800000" flipH="1" flipV="1">
              <a:off x="5677456" y="3635637"/>
              <a:ext cx="152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>
              <a:off x="3182061" y="5477633"/>
              <a:ext cx="2824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B</a:t>
              </a:r>
              <a:endParaRPr lang="en-US" sz="1400" baseline="30000" dirty="0"/>
            </a:p>
          </p:txBody>
        </p:sp>
        <p:grpSp>
          <p:nvGrpSpPr>
            <p:cNvPr id="73" name="Group 72"/>
            <p:cNvGrpSpPr/>
            <p:nvPr/>
          </p:nvGrpSpPr>
          <p:grpSpPr>
            <a:xfrm>
              <a:off x="2589726" y="4904727"/>
              <a:ext cx="1668884" cy="157940"/>
              <a:chOff x="2589726" y="5280110"/>
              <a:chExt cx="1668884" cy="157940"/>
            </a:xfrm>
          </p:grpSpPr>
          <p:sp>
            <p:nvSpPr>
              <p:cNvPr id="74" name="Oval 73"/>
              <p:cNvSpPr/>
              <p:nvPr/>
            </p:nvSpPr>
            <p:spPr>
              <a:xfrm>
                <a:off x="4121450" y="5280110"/>
                <a:ext cx="137160" cy="13716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5" name="Group 25"/>
              <p:cNvGrpSpPr/>
              <p:nvPr/>
            </p:nvGrpSpPr>
            <p:grpSpPr>
              <a:xfrm>
                <a:off x="2589726" y="5292580"/>
                <a:ext cx="144017" cy="145470"/>
                <a:chOff x="2898743" y="4809330"/>
                <a:chExt cx="144017" cy="145470"/>
              </a:xfrm>
            </p:grpSpPr>
            <p:cxnSp>
              <p:nvCxnSpPr>
                <p:cNvPr id="76" name="Straight Connector 75"/>
                <p:cNvCxnSpPr/>
                <p:nvPr/>
              </p:nvCxnSpPr>
              <p:spPr>
                <a:xfrm flipH="1">
                  <a:off x="2898743" y="4809330"/>
                  <a:ext cx="144000" cy="144000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/>
                <p:cNvCxnSpPr/>
                <p:nvPr/>
              </p:nvCxnSpPr>
              <p:spPr>
                <a:xfrm>
                  <a:off x="2898760" y="4810800"/>
                  <a:ext cx="144000" cy="144000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8" name="TextBox 77"/>
            <p:cNvSpPr txBox="1"/>
            <p:nvPr/>
          </p:nvSpPr>
          <p:spPr>
            <a:xfrm>
              <a:off x="3038847" y="5040288"/>
              <a:ext cx="330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-3</a:t>
              </a:r>
            </a:p>
          </p:txBody>
        </p:sp>
        <p:cxnSp>
          <p:nvCxnSpPr>
            <p:cNvPr id="79" name="Straight Connector 78"/>
            <p:cNvCxnSpPr/>
            <p:nvPr/>
          </p:nvCxnSpPr>
          <p:spPr>
            <a:xfrm rot="5400000" flipH="1" flipV="1">
              <a:off x="3148888" y="4984074"/>
              <a:ext cx="152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Group 79"/>
            <p:cNvGrpSpPr/>
            <p:nvPr/>
          </p:nvGrpSpPr>
          <p:grpSpPr>
            <a:xfrm>
              <a:off x="4267915" y="2971800"/>
              <a:ext cx="1787710" cy="2276266"/>
              <a:chOff x="4267915" y="3291994"/>
              <a:chExt cx="1787710" cy="2276266"/>
            </a:xfrm>
          </p:grpSpPr>
          <p:cxnSp>
            <p:nvCxnSpPr>
              <p:cNvPr id="81" name="Straight Connector 80"/>
              <p:cNvCxnSpPr/>
              <p:nvPr/>
            </p:nvCxnSpPr>
            <p:spPr>
              <a:xfrm flipH="1" flipV="1">
                <a:off x="4406259" y="3662183"/>
                <a:ext cx="1345314" cy="1669272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2" name="Group 81"/>
              <p:cNvGrpSpPr/>
              <p:nvPr/>
            </p:nvGrpSpPr>
            <p:grpSpPr>
              <a:xfrm>
                <a:off x="4267915" y="3291994"/>
                <a:ext cx="1787710" cy="2276266"/>
                <a:chOff x="4267915" y="3291994"/>
                <a:chExt cx="1787710" cy="2276266"/>
              </a:xfrm>
            </p:grpSpPr>
            <p:sp>
              <p:nvSpPr>
                <p:cNvPr id="83" name="TextBox 82"/>
                <p:cNvSpPr txBox="1"/>
                <p:nvPr/>
              </p:nvSpPr>
              <p:spPr>
                <a:xfrm>
                  <a:off x="5752337" y="5260483"/>
                  <a:ext cx="3032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/>
                    <a:t>O</a:t>
                  </a:r>
                  <a:endParaRPr lang="en-US" sz="1400" baseline="30000" dirty="0"/>
                </a:p>
              </p:txBody>
            </p:sp>
            <p:sp>
              <p:nvSpPr>
                <p:cNvPr id="84" name="TextBox 83"/>
                <p:cNvSpPr txBox="1"/>
                <p:nvPr/>
              </p:nvSpPr>
              <p:spPr>
                <a:xfrm>
                  <a:off x="4267915" y="3291994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/>
                    <a:t>P</a:t>
                  </a:r>
                  <a:endParaRPr lang="en-US" sz="1400" baseline="30000" dirty="0"/>
                </a:p>
              </p:txBody>
            </p:sp>
          </p:grpSp>
        </p:grpSp>
        <p:grpSp>
          <p:nvGrpSpPr>
            <p:cNvPr id="85" name="Group 84"/>
            <p:cNvGrpSpPr/>
            <p:nvPr/>
          </p:nvGrpSpPr>
          <p:grpSpPr>
            <a:xfrm>
              <a:off x="2457268" y="3161615"/>
              <a:ext cx="1916612" cy="307777"/>
              <a:chOff x="2457268" y="3481809"/>
              <a:chExt cx="1916612" cy="307777"/>
            </a:xfrm>
          </p:grpSpPr>
          <p:cxnSp>
            <p:nvCxnSpPr>
              <p:cNvPr id="86" name="Straight Connector 85"/>
              <p:cNvCxnSpPr/>
              <p:nvPr/>
            </p:nvCxnSpPr>
            <p:spPr>
              <a:xfrm flipV="1">
                <a:off x="2819400" y="3657600"/>
                <a:ext cx="1554480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TextBox 86"/>
              <p:cNvSpPr txBox="1"/>
              <p:nvPr/>
            </p:nvSpPr>
            <p:spPr>
              <a:xfrm>
                <a:off x="2457268" y="3481809"/>
                <a:ext cx="2888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/>
                  <a:t>A</a:t>
                </a:r>
                <a:endParaRPr lang="en-US" sz="1400" baseline="30000" dirty="0"/>
              </a:p>
            </p:txBody>
          </p:sp>
        </p:grpSp>
        <p:cxnSp>
          <p:nvCxnSpPr>
            <p:cNvPr id="88" name="Straight Connector 87"/>
            <p:cNvCxnSpPr>
              <a:endCxn id="72" idx="0"/>
            </p:cNvCxnSpPr>
            <p:nvPr/>
          </p:nvCxnSpPr>
          <p:spPr>
            <a:xfrm flipH="1">
              <a:off x="3323286" y="3343112"/>
              <a:ext cx="1050645" cy="21345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" name="Group 88"/>
            <p:cNvGrpSpPr/>
            <p:nvPr/>
          </p:nvGrpSpPr>
          <p:grpSpPr>
            <a:xfrm>
              <a:off x="2279370" y="3322079"/>
              <a:ext cx="2098339" cy="2208006"/>
              <a:chOff x="2279370" y="3697462"/>
              <a:chExt cx="2098339" cy="2208006"/>
            </a:xfrm>
          </p:grpSpPr>
          <p:cxnSp>
            <p:nvCxnSpPr>
              <p:cNvPr id="90" name="Straight Connector 89"/>
              <p:cNvCxnSpPr/>
              <p:nvPr/>
            </p:nvCxnSpPr>
            <p:spPr>
              <a:xfrm flipH="1">
                <a:off x="2457268" y="3697462"/>
                <a:ext cx="1920441" cy="1872097"/>
              </a:xfrm>
              <a:prstGeom prst="line">
                <a:avLst/>
              </a:prstGeom>
              <a:ln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TextBox 90"/>
              <p:cNvSpPr txBox="1"/>
              <p:nvPr/>
            </p:nvSpPr>
            <p:spPr>
              <a:xfrm>
                <a:off x="2279370" y="5597691"/>
                <a:ext cx="28245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C</a:t>
                </a:r>
                <a:endParaRPr lang="en-US" sz="1400" baseline="30000" dirty="0"/>
              </a:p>
            </p:txBody>
          </p:sp>
        </p:grpSp>
        <p:grpSp>
          <p:nvGrpSpPr>
            <p:cNvPr id="92" name="Group 91"/>
            <p:cNvGrpSpPr/>
            <p:nvPr/>
          </p:nvGrpSpPr>
          <p:grpSpPr>
            <a:xfrm>
              <a:off x="4018122" y="3330488"/>
              <a:ext cx="373623" cy="2618729"/>
              <a:chOff x="4018122" y="3705871"/>
              <a:chExt cx="373623" cy="2618729"/>
            </a:xfrm>
          </p:grpSpPr>
          <p:cxnSp>
            <p:nvCxnSpPr>
              <p:cNvPr id="93" name="Straight Connector 92"/>
              <p:cNvCxnSpPr/>
              <p:nvPr/>
            </p:nvCxnSpPr>
            <p:spPr>
              <a:xfrm flipH="1">
                <a:off x="4116856" y="3705871"/>
                <a:ext cx="274889" cy="2260504"/>
              </a:xfrm>
              <a:prstGeom prst="line">
                <a:avLst/>
              </a:prstGeom>
              <a:ln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TextBox 93"/>
              <p:cNvSpPr txBox="1"/>
              <p:nvPr/>
            </p:nvSpPr>
            <p:spPr>
              <a:xfrm>
                <a:off x="4018122" y="6016823"/>
                <a:ext cx="2952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D</a:t>
                </a:r>
                <a:endParaRPr lang="en-US" sz="1400" baseline="30000" dirty="0"/>
              </a:p>
            </p:txBody>
          </p:sp>
        </p:grpSp>
        <p:grpSp>
          <p:nvGrpSpPr>
            <p:cNvPr id="95" name="Group 94"/>
            <p:cNvGrpSpPr/>
            <p:nvPr/>
          </p:nvGrpSpPr>
          <p:grpSpPr>
            <a:xfrm>
              <a:off x="3676990" y="3739417"/>
              <a:ext cx="692168" cy="851674"/>
              <a:chOff x="3657600" y="4221198"/>
              <a:chExt cx="692168" cy="851674"/>
            </a:xfrm>
          </p:grpSpPr>
          <p:sp>
            <p:nvSpPr>
              <p:cNvPr id="96" name="Arc 95"/>
              <p:cNvSpPr/>
              <p:nvPr/>
            </p:nvSpPr>
            <p:spPr>
              <a:xfrm rot="12076707">
                <a:off x="3802580" y="4221198"/>
                <a:ext cx="365760" cy="274320"/>
              </a:xfrm>
              <a:prstGeom prst="arc">
                <a:avLst>
                  <a:gd name="adj1" fmla="val 13732502"/>
                  <a:gd name="adj2" fmla="val 20619066"/>
                </a:avLst>
              </a:prstGeom>
              <a:ln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aphicFrame>
            <p:nvGraphicFramePr>
              <p:cNvPr id="97" name="Object 9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39282362"/>
                  </p:ext>
                </p:extLst>
              </p:nvPr>
            </p:nvGraphicFramePr>
            <p:xfrm>
              <a:off x="3657600" y="4429708"/>
              <a:ext cx="260350" cy="476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215640" imgH="393480" progId="Equation.3">
                      <p:embed/>
                    </p:oleObj>
                  </mc:Choice>
                  <mc:Fallback>
                    <p:oleObj name="Equation" r:id="rId2" imgW="215640" imgH="393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57600" y="4429708"/>
                            <a:ext cx="260350" cy="476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8" name="Arc 97"/>
              <p:cNvSpPr/>
              <p:nvPr/>
            </p:nvSpPr>
            <p:spPr>
              <a:xfrm rot="13017222" flipH="1">
                <a:off x="3984008" y="4315542"/>
                <a:ext cx="365760" cy="274320"/>
              </a:xfrm>
              <a:prstGeom prst="arc">
                <a:avLst>
                  <a:gd name="adj1" fmla="val 13732502"/>
                  <a:gd name="adj2" fmla="val 20619066"/>
                </a:avLst>
              </a:prstGeom>
              <a:ln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aphicFrame>
            <p:nvGraphicFramePr>
              <p:cNvPr id="99" name="Object 9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62860262"/>
                  </p:ext>
                </p:extLst>
              </p:nvPr>
            </p:nvGraphicFramePr>
            <p:xfrm>
              <a:off x="3989161" y="4596622"/>
              <a:ext cx="260350" cy="476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15640" imgH="393480" progId="Equation.3">
                      <p:embed/>
                    </p:oleObj>
                  </mc:Choice>
                  <mc:Fallback>
                    <p:oleObj name="Equation" r:id="rId4" imgW="215640" imgH="393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9161" y="4596622"/>
                            <a:ext cx="260350" cy="476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1308524" y="4953000"/>
                <a:ext cx="6105912" cy="1045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𝑐</m:t>
                        </m:r>
                      </m:sub>
                    </m:sSub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𝑇</m:t>
                            </m:r>
                          </m:den>
                        </m:f>
                      </m:num>
                      <m:den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>
                                <a:latin typeface="Cambria Math"/>
                                <a:ea typeface="Cambria Math"/>
                              </a:rPr>
                              <m:t>𝛼</m:t>
                            </m:r>
                            <m:r>
                              <a:rPr lang="en-US" sz="2800" i="1">
                                <a:latin typeface="Cambria Math"/>
                                <a:ea typeface="Cambria Math"/>
                              </a:rPr>
                              <m:t>𝑇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sz="28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𝑐</m:t>
                        </m:r>
                      </m:sub>
                    </m:sSub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+1.9432</m:t>
                        </m:r>
                      </m:num>
                      <m:den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+4.6458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8524" y="4953000"/>
                <a:ext cx="6105912" cy="104541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322" name="Picture 3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447800"/>
            <a:ext cx="3868058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4" name="Rectangle 53"/>
          <p:cNvSpPr/>
          <p:nvPr/>
        </p:nvSpPr>
        <p:spPr>
          <a:xfrm>
            <a:off x="7568397" y="179988"/>
            <a:ext cx="12795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Solution-3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1482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18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Step-5 (Example-1)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838201"/>
                <a:ext cx="8991600" cy="6019800"/>
              </a:xfrm>
            </p:spPr>
            <p:txBody>
              <a:bodyPr>
                <a:normAutofit/>
              </a:bodyPr>
              <a:lstStyle/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For this compensator value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𝛼</m:t>
                    </m:r>
                  </m:oMath>
                </a14:m>
                <a:r>
                  <a:rPr lang="en-US" sz="2400" dirty="0"/>
                  <a:t> is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Also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38201"/>
                <a:ext cx="8991600" cy="6019800"/>
              </a:xfrm>
              <a:blipFill rotWithShape="1">
                <a:blip r:embed="rId2"/>
                <a:stretch>
                  <a:fillRect l="-881" t="-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1308524" y="1066800"/>
                <a:ext cx="6105912" cy="1045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𝑐</m:t>
                        </m:r>
                      </m:sub>
                    </m:sSub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𝑇</m:t>
                            </m:r>
                          </m:den>
                        </m:f>
                      </m:num>
                      <m:den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>
                                <a:latin typeface="Cambria Math"/>
                                <a:ea typeface="Cambria Math"/>
                              </a:rPr>
                              <m:t>𝛼</m:t>
                            </m:r>
                            <m:r>
                              <a:rPr lang="en-US" sz="2800" i="1">
                                <a:latin typeface="Cambria Math"/>
                                <a:ea typeface="Cambria Math"/>
                              </a:rPr>
                              <m:t>𝑇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sz="28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𝑐</m:t>
                        </m:r>
                      </m:sub>
                    </m:sSub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+1.9432</m:t>
                        </m:r>
                      </m:num>
                      <m:den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+4.6458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8524" y="1066800"/>
                <a:ext cx="6105912" cy="104541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1460924" y="3048000"/>
                <a:ext cx="6105912" cy="916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𝑇</m:t>
                          </m:r>
                        </m:den>
                      </m:f>
                      <m:r>
                        <a:rPr lang="en-US" sz="28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  <a:ea typeface="Cambria Math"/>
                        </a:rPr>
                        <m:t>1.9432</m:t>
                      </m:r>
                      <m:r>
                        <a:rPr lang="en-US" sz="2800" b="0" i="1" smtClean="0">
                          <a:latin typeface="Cambria Math"/>
                          <a:ea typeface="Cambria Math"/>
                        </a:rPr>
                        <m:t> 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800" b="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i="0" smtClean="0">
                              <a:latin typeface="Cambria Math"/>
                              <a:ea typeface="Cambria Math"/>
                            </a:rPr>
                            <m:t>yields</m:t>
                          </m:r>
                          <m:r>
                            <a:rPr lang="en-US" sz="2800" b="0" i="1" smtClean="0">
                              <a:latin typeface="Cambria Math"/>
                              <a:ea typeface="Cambria Math"/>
                            </a:rPr>
                            <m:t>  </m:t>
                          </m:r>
                        </m:e>
                      </m:groupChr>
                      <m:r>
                        <a:rPr lang="en-US" sz="28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2800" b="0" i="1" smtClean="0">
                          <a:latin typeface="Cambria Math"/>
                          <a:ea typeface="Cambria Math"/>
                        </a:rPr>
                        <m:t>𝑇</m:t>
                      </m:r>
                      <m:r>
                        <a:rPr lang="en-US" sz="2800" b="0" i="1" smtClean="0">
                          <a:latin typeface="Cambria Math"/>
                          <a:ea typeface="Cambria Math"/>
                        </a:rPr>
                        <m:t>=0.514</m:t>
                      </m:r>
                    </m:oMath>
                  </m:oMathPara>
                </a14:m>
                <a:endParaRPr lang="en-US" sz="2800" b="0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924" y="3048000"/>
                <a:ext cx="6105912" cy="916533"/>
              </a:xfrm>
              <a:prstGeom prst="rect">
                <a:avLst/>
              </a:prstGeom>
              <a:blipFill rotWithShape="1">
                <a:blip r:embed="rId4"/>
                <a:stretch>
                  <a:fillRect b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1676400" y="4495800"/>
                <a:ext cx="6105912" cy="919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𝑇</m:t>
                          </m:r>
                        </m:den>
                      </m:f>
                      <m:r>
                        <a:rPr lang="en-US" sz="28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  <a:ea typeface="Cambria Math"/>
                        </a:rPr>
                        <m:t>4.6458</m:t>
                      </m:r>
                      <m:r>
                        <a:rPr lang="en-US" sz="2800" b="0" i="1" smtClean="0">
                          <a:latin typeface="Cambria Math"/>
                          <a:ea typeface="Cambria Math"/>
                        </a:rPr>
                        <m:t>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groupChrPr>
                        <m:e>
                          <m:r>
                            <m:rPr>
                              <m:nor/>
                            </m:rPr>
                            <a:rPr lang="en-US" sz="2800" i="0" smtClean="0">
                              <a:latin typeface="Cambria Math"/>
                              <a:ea typeface="Cambria Math"/>
                            </a:rPr>
                            <m:t>yields</m:t>
                          </m:r>
                        </m:e>
                      </m:groupChr>
                      <m:r>
                        <a:rPr lang="en-US" sz="2800" b="0" i="1" smtClean="0">
                          <a:latin typeface="Cambria Math"/>
                          <a:ea typeface="Cambria Math"/>
                        </a:rPr>
                        <m:t>  </m:t>
                      </m:r>
                      <m:r>
                        <a:rPr lang="en-US" sz="2800" i="1" smtClean="0">
                          <a:latin typeface="Cambria Math"/>
                          <a:ea typeface="Cambria Math"/>
                        </a:rPr>
                        <m:t>𝛼</m:t>
                      </m:r>
                      <m:r>
                        <a:rPr lang="en-US" sz="2800" b="0" i="1" smtClean="0">
                          <a:latin typeface="Cambria Math"/>
                          <a:ea typeface="Cambria Math"/>
                        </a:rPr>
                        <m:t>=0.418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4495800"/>
                <a:ext cx="6105912" cy="919354"/>
              </a:xfrm>
              <a:prstGeom prst="rect">
                <a:avLst/>
              </a:prstGeom>
              <a:blipFill rotWithShape="1">
                <a:blip r:embed="rId5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568397" y="179988"/>
            <a:ext cx="12795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Solution-3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4840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5568"/>
            <a:ext cx="8229600" cy="7318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Step-6 (Example-1)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4906963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Determine the value of </a:t>
            </a:r>
            <a:r>
              <a:rPr lang="en-US" sz="2800" dirty="0" err="1">
                <a:solidFill>
                  <a:srgbClr val="FF0000"/>
                </a:solidFill>
              </a:rPr>
              <a:t>K</a:t>
            </a:r>
            <a:r>
              <a:rPr lang="en-US" sz="2800" baseline="-25000" dirty="0" err="1">
                <a:solidFill>
                  <a:srgbClr val="FF0000"/>
                </a:solidFill>
              </a:rPr>
              <a:t>c</a:t>
            </a:r>
            <a:r>
              <a:rPr lang="en-US" sz="2800" dirty="0"/>
              <a:t> of the lead compensator from the magnitude condition.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524000" y="4038600"/>
                <a:ext cx="6324600" cy="989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  <a:ea typeface="Cambria Math"/>
                        </a:rPr>
                        <m:t>𝐺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  <a:ea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  <a:ea typeface="Cambria Math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</m:e>
                      </m:d>
                      <m:r>
                        <a:rPr lang="en-US" sz="2800" b="0" i="1" smtClean="0">
                          <a:latin typeface="Cambria Math"/>
                          <a:ea typeface="Cambria Math"/>
                        </a:rPr>
                        <m:t>𝐻</m:t>
                      </m:r>
                      <m:r>
                        <a:rPr lang="en-US" sz="2800" b="0" i="1" smtClean="0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sz="2800" b="0" i="1" smtClean="0">
                          <a:latin typeface="Cambria Math"/>
                          <a:ea typeface="Cambria Math"/>
                        </a:rPr>
                        <m:t>𝑠</m:t>
                      </m:r>
                      <m:r>
                        <a:rPr lang="en-US" sz="2800" b="0" i="0" smtClean="0">
                          <a:latin typeface="Cambria Math"/>
                          <a:ea typeface="Cambria Math"/>
                        </a:rPr>
                        <m:t>)=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+1.9432)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800" b="0" i="1" smtClean="0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800" b="0" i="1" smtClean="0">
                              <a:latin typeface="Cambria Math"/>
                              <a:ea typeface="Cambria Math"/>
                            </a:rPr>
                            <m:t>+1)(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+4.6458)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4038600"/>
                <a:ext cx="6324600" cy="989438"/>
              </a:xfrm>
              <a:prstGeom prst="rect">
                <a:avLst/>
              </a:prstGeom>
              <a:blipFill rotWithShape="1">
                <a:blip r:embed="rId2"/>
                <a:stretch>
                  <a:fillRect r="-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052" y="2057400"/>
            <a:ext cx="6562725" cy="169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24000" y="5394998"/>
                <a:ext cx="6324600" cy="1158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latin typeface="Cambria Math"/>
                                      <a:ea typeface="Cambria Math"/>
                                    </a:rPr>
                                    <m:t>10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latin typeface="Cambria Math"/>
                                      <a:ea typeface="Cambria Math"/>
                                    </a:rPr>
                                    <m:t>(</m:t>
                                  </m:r>
                                  <m:r>
                                    <a:rPr lang="en-US" sz="2800" i="1">
                                      <a:latin typeface="Cambria Math"/>
                                      <a:ea typeface="Cambria Math"/>
                                    </a:rPr>
                                    <m:t>𝑠</m:t>
                                  </m:r>
                                  <m:r>
                                    <a:rPr lang="en-US" sz="2800" i="1">
                                      <a:latin typeface="Cambria Math"/>
                                      <a:ea typeface="Cambria Math"/>
                                    </a:rPr>
                                    <m:t>+1.9432)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latin typeface="Cambria Math"/>
                                      <a:ea typeface="Cambria Math"/>
                                    </a:rPr>
                                    <m:t>𝑠</m:t>
                                  </m:r>
                                  <m:r>
                                    <a:rPr lang="en-US" sz="2800" i="1">
                                      <a:latin typeface="Cambria Math"/>
                                      <a:ea typeface="Cambria Math"/>
                                    </a:rPr>
                                    <m:t>(</m:t>
                                  </m:r>
                                  <m:r>
                                    <a:rPr lang="en-US" sz="2800" i="1">
                                      <a:latin typeface="Cambria Math"/>
                                      <a:ea typeface="Cambria Math"/>
                                    </a:rPr>
                                    <m:t>𝑠</m:t>
                                  </m:r>
                                  <m:r>
                                    <a:rPr lang="en-US" sz="2800" i="1">
                                      <a:latin typeface="Cambria Math"/>
                                      <a:ea typeface="Cambria Math"/>
                                    </a:rPr>
                                    <m:t>+1)(</m:t>
                                  </m:r>
                                  <m:r>
                                    <a:rPr lang="en-US" sz="2800" i="1">
                                      <a:latin typeface="Cambria Math"/>
                                      <a:ea typeface="Cambria Math"/>
                                    </a:rPr>
                                    <m:t>𝑠</m:t>
                                  </m:r>
                                  <m:r>
                                    <a:rPr lang="en-US" sz="2800" i="1">
                                      <a:latin typeface="Cambria Math"/>
                                      <a:ea typeface="Cambria Math"/>
                                    </a:rPr>
                                    <m:t>+4.6458)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800" b="0" i="1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800" b="0" i="1" smtClean="0">
                              <a:latin typeface="Cambria Math"/>
                              <a:ea typeface="Cambria Math"/>
                            </a:rPr>
                            <m:t>=−1.5+</m:t>
                          </m:r>
                          <m:r>
                            <a:rPr lang="en-US" sz="2800" b="0" i="1" smtClean="0">
                              <a:latin typeface="Cambria Math"/>
                              <a:ea typeface="Cambria Math"/>
                            </a:rPr>
                            <m:t>𝑗</m:t>
                          </m:r>
                          <m:r>
                            <a:rPr lang="en-US" sz="2800" b="0" i="1" smtClean="0">
                              <a:latin typeface="Cambria Math"/>
                              <a:ea typeface="Cambria Math"/>
                            </a:rPr>
                            <m:t>2.5981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  <a:ea typeface="Cambria Math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5394998"/>
                <a:ext cx="6324600" cy="1158202"/>
              </a:xfrm>
              <a:prstGeom prst="rect">
                <a:avLst/>
              </a:prstGeom>
              <a:blipFill rotWithShape="1">
                <a:blip r:embed="rId4"/>
                <a:stretch>
                  <a:fillRect r="-2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568397" y="179988"/>
            <a:ext cx="12795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Solution-3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656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5568"/>
            <a:ext cx="8229600" cy="7318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Step-6 (Example-1)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4906963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</a:t>
            </a:r>
            <a:r>
              <a:rPr lang="en-US" sz="2800" dirty="0" err="1">
                <a:solidFill>
                  <a:srgbClr val="FF0000"/>
                </a:solidFill>
              </a:rPr>
              <a:t>K</a:t>
            </a:r>
            <a:r>
              <a:rPr lang="en-US" sz="2800" baseline="-25000" dirty="0" err="1">
                <a:solidFill>
                  <a:srgbClr val="FF0000"/>
                </a:solidFill>
              </a:rPr>
              <a:t>c</a:t>
            </a:r>
            <a:r>
              <a:rPr lang="en-US" sz="2800" dirty="0"/>
              <a:t> is calculated as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Hence, the lead compensator </a:t>
            </a:r>
            <a:r>
              <a:rPr lang="en-US" sz="2800" dirty="0" err="1"/>
              <a:t>G</a:t>
            </a:r>
            <a:r>
              <a:rPr lang="en-US" sz="2800" baseline="-25000" dirty="0" err="1"/>
              <a:t>c</a:t>
            </a:r>
            <a:r>
              <a:rPr lang="en-US" sz="2800" dirty="0"/>
              <a:t>(s) just designed is given 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24000" y="1752600"/>
                <a:ext cx="63246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  <a:ea typeface="Cambria Math"/>
                        </a:rPr>
                        <m:t>=1.2287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752600"/>
                <a:ext cx="6324600" cy="523220"/>
              </a:xfrm>
              <a:prstGeom prst="rect">
                <a:avLst/>
              </a:prstGeom>
              <a:blipFill rotWithShape="1">
                <a:blip r:embed="rId2"/>
                <a:stretch>
                  <a:fillRect t="-10588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633344" y="3429000"/>
                <a:ext cx="6105912" cy="908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a:rPr lang="en-US" sz="2800" b="0" i="1" smtClean="0">
                          <a:latin typeface="Cambria Math"/>
                        </a:rPr>
                        <m:t>=1.2287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+1.9432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+4.6458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344" y="3429000"/>
                <a:ext cx="6105912" cy="908967"/>
              </a:xfrm>
              <a:prstGeom prst="rect">
                <a:avLst/>
              </a:prstGeom>
              <a:blipFill rotWithShape="1">
                <a:blip r:embed="rId3"/>
                <a:stretch>
                  <a:fillRect b="-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7568397" y="179988"/>
            <a:ext cx="12795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Solution-3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899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60438"/>
          </a:xfrm>
        </p:spPr>
        <p:txBody>
          <a:bodyPr/>
          <a:lstStyle/>
          <a:p>
            <a:r>
              <a:rPr lang="en-US" dirty="0"/>
              <a:t>Final Design Check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67861" y="1219200"/>
            <a:ext cx="3569666" cy="5486400"/>
            <a:chOff x="567861" y="1219200"/>
            <a:chExt cx="3569666" cy="5486400"/>
          </a:xfrm>
        </p:grpSpPr>
        <p:grpSp>
          <p:nvGrpSpPr>
            <p:cNvPr id="5" name="Group 4"/>
            <p:cNvGrpSpPr/>
            <p:nvPr/>
          </p:nvGrpSpPr>
          <p:grpSpPr>
            <a:xfrm>
              <a:off x="567861" y="1219200"/>
              <a:ext cx="3569666" cy="4667250"/>
              <a:chOff x="2570020" y="2114550"/>
              <a:chExt cx="3569666" cy="4667250"/>
            </a:xfrm>
          </p:grpSpPr>
          <p:pic>
            <p:nvPicPr>
              <p:cNvPr id="6" name="Picture 5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2777835" y="2114550"/>
                <a:ext cx="3361851" cy="4667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7" name="Rectangle 6"/>
              <p:cNvSpPr/>
              <p:nvPr/>
            </p:nvSpPr>
            <p:spPr>
              <a:xfrm>
                <a:off x="2570020" y="2786495"/>
                <a:ext cx="2057400" cy="838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" name="Group 7"/>
              <p:cNvGrpSpPr/>
              <p:nvPr/>
            </p:nvGrpSpPr>
            <p:grpSpPr>
              <a:xfrm>
                <a:off x="2625435" y="2647950"/>
                <a:ext cx="1650075" cy="738664"/>
                <a:chOff x="4648200" y="2438400"/>
                <a:chExt cx="1650075" cy="738664"/>
              </a:xfrm>
            </p:grpSpPr>
            <p:sp>
              <p:nvSpPr>
                <p:cNvPr id="9" name="Oval 8"/>
                <p:cNvSpPr/>
                <p:nvPr/>
              </p:nvSpPr>
              <p:spPr>
                <a:xfrm>
                  <a:off x="6206835" y="2895600"/>
                  <a:ext cx="91440" cy="9144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4648200" y="2438400"/>
                  <a:ext cx="1219200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/>
                    <a:t>Desired Closed Loop Pole</a:t>
                  </a:r>
                </a:p>
              </p:txBody>
            </p:sp>
            <p:cxnSp>
              <p:nvCxnSpPr>
                <p:cNvPr id="11" name="Straight Arrow Connector 10"/>
                <p:cNvCxnSpPr/>
                <p:nvPr/>
              </p:nvCxnSpPr>
              <p:spPr>
                <a:xfrm>
                  <a:off x="5715000" y="2667000"/>
                  <a:ext cx="381000" cy="22860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6" name="TextBox 15"/>
            <p:cNvSpPr txBox="1"/>
            <p:nvPr/>
          </p:nvSpPr>
          <p:spPr>
            <a:xfrm>
              <a:off x="1709345" y="5997714"/>
              <a:ext cx="202445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B050"/>
                  </a:solidFill>
                </a:rPr>
                <a:t>Uncompensated System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495800" y="1447800"/>
            <a:ext cx="4422986" cy="5181600"/>
            <a:chOff x="4495800" y="1447800"/>
            <a:chExt cx="4422986" cy="5181600"/>
          </a:xfrm>
        </p:grpSpPr>
        <p:grpSp>
          <p:nvGrpSpPr>
            <p:cNvPr id="4" name="Group 3"/>
            <p:cNvGrpSpPr/>
            <p:nvPr/>
          </p:nvGrpSpPr>
          <p:grpSpPr>
            <a:xfrm>
              <a:off x="4495800" y="1447800"/>
              <a:ext cx="4422986" cy="4267200"/>
              <a:chOff x="4495800" y="1447800"/>
              <a:chExt cx="4422986" cy="4267200"/>
            </a:xfrm>
          </p:grpSpPr>
          <p:pic>
            <p:nvPicPr>
              <p:cNvPr id="14338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95800" y="1447800"/>
                <a:ext cx="4422986" cy="426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2" name="Oval 11"/>
              <p:cNvSpPr/>
              <p:nvPr/>
            </p:nvSpPr>
            <p:spPr>
              <a:xfrm>
                <a:off x="6884832" y="2197995"/>
                <a:ext cx="91440" cy="9144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5207358" y="1712615"/>
                <a:ext cx="121920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Desired Closed Loop Pole</a:t>
                </a:r>
              </a:p>
            </p:txBody>
          </p:sp>
          <p:cxnSp>
            <p:nvCxnSpPr>
              <p:cNvPr id="14" name="Straight Arrow Connector 13"/>
              <p:cNvCxnSpPr/>
              <p:nvPr/>
            </p:nvCxnSpPr>
            <p:spPr>
              <a:xfrm>
                <a:off x="6324600" y="1981200"/>
                <a:ext cx="381000" cy="2286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/>
            <p:cNvSpPr txBox="1"/>
            <p:nvPr/>
          </p:nvSpPr>
          <p:spPr>
            <a:xfrm>
              <a:off x="6647129" y="5921514"/>
              <a:ext cx="196347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B050"/>
                  </a:solidFill>
                </a:rPr>
                <a:t>Compensated System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7568397" y="179988"/>
            <a:ext cx="12795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Solution-3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2830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Final Design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763000" cy="4876800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It is worthwhile to check the static velocity error constant </a:t>
            </a:r>
            <a:r>
              <a:rPr lang="en-US" sz="2800" dirty="0" err="1">
                <a:solidFill>
                  <a:srgbClr val="FF0000"/>
                </a:solidFill>
              </a:rPr>
              <a:t>K</a:t>
            </a:r>
            <a:r>
              <a:rPr lang="en-US" sz="2800" baseline="-25000" dirty="0" err="1">
                <a:solidFill>
                  <a:srgbClr val="FF0000"/>
                </a:solidFill>
              </a:rPr>
              <a:t>v</a:t>
            </a:r>
            <a:r>
              <a:rPr lang="en-US" sz="2800" dirty="0"/>
              <a:t> for the system just designed.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Steady state error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663588" y="5632713"/>
                <a:ext cx="3790846" cy="7559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𝑒</m:t>
                    </m:r>
                    <m:r>
                      <a:rPr lang="en-US" sz="2800" b="0" i="1" baseline="-25000" smtClean="0">
                        <a:latin typeface="Cambria Math"/>
                      </a:rPr>
                      <m:t>𝑠𝑠</m:t>
                    </m:r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/>
                              </a:rPr>
                              <m:t>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/>
                              </a:rPr>
                              <m:t>𝑣</m:t>
                            </m:r>
                          </m:sub>
                        </m:sSub>
                      </m:den>
                    </m:f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/>
                          </a:rPr>
                          <m:t>5.139</m:t>
                        </m:r>
                      </m:den>
                    </m:f>
                    <m:r>
                      <a:rPr lang="en-US" sz="2800" b="0" i="1" smtClean="0">
                        <a:latin typeface="Cambria Math"/>
                      </a:rPr>
                      <m:t>=0.1</m:t>
                    </m:r>
                  </m:oMath>
                </a14:m>
                <a:r>
                  <a:rPr lang="en-US" sz="2800" dirty="0"/>
                  <a:t>94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588" y="5632713"/>
                <a:ext cx="3790846" cy="755913"/>
              </a:xfrm>
              <a:prstGeom prst="rect">
                <a:avLst/>
              </a:prstGeom>
              <a:blipFill rotWithShape="1">
                <a:blip r:embed="rId2"/>
                <a:stretch>
                  <a:fillRect r="-4019" b="-4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14600" y="2241960"/>
                <a:ext cx="3404394" cy="6536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sz="2800" b="0" i="1" smtClean="0">
                                  <a:latin typeface="Cambria Math"/>
                                  <a:ea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𝑠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2241960"/>
                <a:ext cx="3404394" cy="653640"/>
              </a:xfrm>
              <a:prstGeom prst="rect">
                <a:avLst/>
              </a:prstGeom>
              <a:blipFill rotWithShape="1">
                <a:blip r:embed="rId3"/>
                <a:stretch>
                  <a:fillRect t="-8411" r="-4301" b="-6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066800" y="3520815"/>
                <a:ext cx="7655429" cy="1051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sz="2800" b="0" i="1" smtClean="0">
                                  <a:latin typeface="Cambria Math"/>
                                  <a:ea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1.2287</m:t>
                              </m:r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+1.9432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+4.6458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10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+1)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/>
                        </a:rPr>
                        <m:t>=5.139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520815"/>
                <a:ext cx="7655429" cy="1051185"/>
              </a:xfrm>
              <a:prstGeom prst="rect">
                <a:avLst/>
              </a:prstGeom>
              <a:blipFill rotWithShape="1">
                <a:blip r:embed="rId4"/>
                <a:stretch>
                  <a:fillRect r="-1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7568397" y="179988"/>
            <a:ext cx="12795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Solution-3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78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Final Design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7568397" y="179988"/>
            <a:ext cx="12795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Solution-3</a:t>
            </a: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9" t="6770" r="7958"/>
          <a:stretch/>
        </p:blipFill>
        <p:spPr bwMode="auto">
          <a:xfrm>
            <a:off x="1066800" y="996037"/>
            <a:ext cx="6684155" cy="5673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5923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Final Design Check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9" t="3820" r="6060" b="3820"/>
          <a:stretch/>
        </p:blipFill>
        <p:spPr bwMode="auto">
          <a:xfrm>
            <a:off x="954640" y="930882"/>
            <a:ext cx="7220858" cy="5912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7696199" y="179988"/>
            <a:ext cx="12795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Solution-1</a:t>
            </a:r>
          </a:p>
        </p:txBody>
      </p:sp>
      <p:sp>
        <p:nvSpPr>
          <p:cNvPr id="7" name="Rectangle 6"/>
          <p:cNvSpPr/>
          <p:nvPr/>
        </p:nvSpPr>
        <p:spPr>
          <a:xfrm>
            <a:off x="7696200" y="609600"/>
            <a:ext cx="12795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Solution-3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2040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Mechanical Lead Compensator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7310437" cy="4525963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Figure shows the mechanical lead compensator.</a:t>
            </a:r>
          </a:p>
          <a:p>
            <a:pPr algn="just"/>
            <a:r>
              <a:rPr lang="en-US" sz="2600" dirty="0"/>
              <a:t>Equations are obtained as</a:t>
            </a:r>
          </a:p>
          <a:p>
            <a:pPr algn="just"/>
            <a:endParaRPr lang="en-US" sz="2600" dirty="0"/>
          </a:p>
          <a:p>
            <a:pPr algn="just"/>
            <a:endParaRPr lang="en-US" sz="2600" dirty="0"/>
          </a:p>
          <a:p>
            <a:pPr algn="just"/>
            <a:endParaRPr lang="en-US" sz="2600" dirty="0"/>
          </a:p>
          <a:p>
            <a:pPr algn="just"/>
            <a:r>
              <a:rPr lang="en-US" sz="2600" dirty="0"/>
              <a:t>Taking Laplace transform of these equations assuming zero initial conditions and eliminating  Y(s), we obtain</a:t>
            </a:r>
          </a:p>
          <a:p>
            <a:pPr algn="just"/>
            <a:endParaRPr lang="en-US" sz="2600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8126" y="1524000"/>
            <a:ext cx="1909674" cy="4694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755255"/>
            <a:ext cx="3676650" cy="1099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406" y="5181600"/>
            <a:ext cx="4114800" cy="1517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0083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60438"/>
          </a:xfrm>
        </p:spPr>
        <p:txBody>
          <a:bodyPr/>
          <a:lstStyle/>
          <a:p>
            <a:r>
              <a:rPr lang="en-US" dirty="0"/>
              <a:t>Mechanical Lead Compensator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93837"/>
            <a:ext cx="8763000" cy="4525963"/>
          </a:xfrm>
        </p:spPr>
        <p:txBody>
          <a:bodyPr>
            <a:normAutofit/>
          </a:bodyPr>
          <a:lstStyle/>
          <a:p>
            <a:pPr algn="just"/>
            <a:endParaRPr lang="en-US" sz="2600" dirty="0"/>
          </a:p>
          <a:p>
            <a:pPr algn="just"/>
            <a:endParaRPr lang="en-US" sz="2600" dirty="0"/>
          </a:p>
          <a:p>
            <a:pPr algn="just"/>
            <a:r>
              <a:rPr lang="en-US" sz="2600" dirty="0"/>
              <a:t>By defining</a:t>
            </a:r>
          </a:p>
          <a:p>
            <a:pPr algn="just"/>
            <a:endParaRPr lang="en-US" sz="2600" dirty="0"/>
          </a:p>
          <a:p>
            <a:pPr algn="just"/>
            <a:endParaRPr lang="en-US" sz="2600" dirty="0"/>
          </a:p>
          <a:p>
            <a:pPr algn="just"/>
            <a:r>
              <a:rPr lang="en-US" sz="2600" dirty="0"/>
              <a:t>We obtain</a:t>
            </a:r>
          </a:p>
          <a:p>
            <a:pPr algn="just"/>
            <a:endParaRPr lang="en-US" sz="2600" dirty="0"/>
          </a:p>
        </p:txBody>
      </p:sp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838200"/>
            <a:ext cx="4114800" cy="1517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956330"/>
            <a:ext cx="4057650" cy="873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573690"/>
            <a:ext cx="3952875" cy="147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51933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Exampl-2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186" y="1295400"/>
            <a:ext cx="8685213" cy="5105400"/>
          </a:xfrm>
        </p:spPr>
        <p:txBody>
          <a:bodyPr>
            <a:normAutofit fontScale="92500"/>
          </a:bodyPr>
          <a:lstStyle/>
          <a:p>
            <a:r>
              <a:rPr lang="en-US" sz="2800" dirty="0"/>
              <a:t>Design a mechanical lead compensator for following system.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algn="just"/>
            <a:r>
              <a:rPr lang="en-US" sz="2800" dirty="0"/>
              <a:t>The damping ratio of closed loop poles is </a:t>
            </a:r>
            <a:r>
              <a:rPr lang="en-US" sz="2800" dirty="0">
                <a:solidFill>
                  <a:srgbClr val="FF0000"/>
                </a:solidFill>
              </a:rPr>
              <a:t>0.5</a:t>
            </a:r>
            <a:r>
              <a:rPr lang="en-US" sz="2800" dirty="0"/>
              <a:t> and natural undamped frequency </a:t>
            </a:r>
            <a:r>
              <a:rPr lang="en-US" sz="2800" dirty="0">
                <a:solidFill>
                  <a:srgbClr val="FF0000"/>
                </a:solidFill>
              </a:rPr>
              <a:t>2 rad/sec</a:t>
            </a:r>
            <a:r>
              <a:rPr lang="en-US" sz="2800" dirty="0"/>
              <a:t>. It is desired to modify the closed loop poles so that natural undamped frequency becomes </a:t>
            </a:r>
            <a:r>
              <a:rPr lang="en-US" sz="2800" dirty="0">
                <a:solidFill>
                  <a:srgbClr val="FF0000"/>
                </a:solidFill>
              </a:rPr>
              <a:t>4 rad/sec </a:t>
            </a:r>
            <a:r>
              <a:rPr lang="en-US" sz="2800" dirty="0"/>
              <a:t>without changing the damping ratio.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868714" y="1905000"/>
            <a:ext cx="4981575" cy="1857375"/>
            <a:chOff x="1854200" y="2286000"/>
            <a:chExt cx="4981575" cy="1857375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54200" y="2286000"/>
              <a:ext cx="4981575" cy="1857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aphicFrame>
          <p:nvGraphicFramePr>
            <p:cNvPr id="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7903167"/>
                </p:ext>
              </p:extLst>
            </p:nvPr>
          </p:nvGraphicFramePr>
          <p:xfrm>
            <a:off x="4038600" y="2591480"/>
            <a:ext cx="828386" cy="666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520560" imgH="419040" progId="Equation.3">
                    <p:embed/>
                  </p:oleObj>
                </mc:Choice>
                <mc:Fallback>
                  <p:oleObj name="Equation" r:id="rId3" imgW="520560" imgH="41904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038600" y="2591480"/>
                          <a:ext cx="828386" cy="66675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2384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08038"/>
          </a:xfrm>
        </p:spPr>
        <p:txBody>
          <a:bodyPr/>
          <a:lstStyle/>
          <a:p>
            <a:r>
              <a:rPr lang="en-US" dirty="0"/>
              <a:t>Electrical Lead Compensator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05429" y="3886200"/>
                <a:ext cx="5656002" cy="1152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/>
                                </a:rPr>
                                <m:t>𝑉</m:t>
                              </m:r>
                              <m:r>
                                <a:rPr lang="en-US" sz="2400" b="0" i="1" baseline="-25000" smtClean="0">
                                  <a:latin typeface="Cambria Math"/>
                                </a:rPr>
                                <m:t>𝑜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/>
                                </a:rPr>
                                <m:t>𝑉</m:t>
                              </m:r>
                              <m:r>
                                <a:rPr lang="en-US" sz="2400" b="0" i="1" baseline="-25000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)</m:t>
                              </m:r>
                            </m:den>
                          </m:f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/>
                            </a:rPr>
                            <m:t>𝐶</m:t>
                          </m:r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+1</m:t>
                          </m:r>
                        </m:num>
                        <m:den>
                          <m:f>
                            <m:f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 smtClean="0">
                              <a:latin typeface="Cambria Math"/>
                            </a:rPr>
                            <m:t>𝐶</m:t>
                          </m:r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429" y="3886200"/>
                <a:ext cx="5656002" cy="11521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1599953" y="914400"/>
            <a:ext cx="5973364" cy="2295526"/>
            <a:chOff x="1599953" y="1066800"/>
            <a:chExt cx="5973364" cy="2295526"/>
          </a:xfrm>
        </p:grpSpPr>
        <p:pic>
          <p:nvPicPr>
            <p:cNvPr id="21506" name="Picture 2" descr="http://s3.amazonaws.com/answer-board-image/c6321afa2f5a0980edd8903d0d001c54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4029" y="1066800"/>
              <a:ext cx="5427402" cy="22955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6672942" y="2464713"/>
                  <a:ext cx="900375" cy="43088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i="1">
                            <a:latin typeface="Cambria Math"/>
                          </a:rPr>
                          <m:t>𝑉</m:t>
                        </m:r>
                        <m:r>
                          <a:rPr lang="en-US" sz="2200" i="1" baseline="-25000">
                            <a:latin typeface="Cambria Math"/>
                          </a:rPr>
                          <m:t>𝑜</m:t>
                        </m:r>
                        <m:r>
                          <a:rPr lang="en-US" sz="2200" i="1">
                            <a:latin typeface="Cambria Math"/>
                          </a:rPr>
                          <m:t>(</m:t>
                        </m:r>
                        <m:r>
                          <a:rPr lang="en-US" sz="2200" i="1">
                            <a:latin typeface="Cambria Math"/>
                          </a:rPr>
                          <m:t>𝑠</m:t>
                        </m:r>
                        <m:r>
                          <a:rPr lang="en-US" sz="2200" i="1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2942" y="2464713"/>
                  <a:ext cx="900375" cy="430887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r="-680" b="-154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1599953" y="2476514"/>
                  <a:ext cx="893514" cy="43088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i="1" smtClean="0">
                            <a:latin typeface="Cambria Math"/>
                          </a:rPr>
                          <m:t>𝑉</m:t>
                        </m:r>
                        <m:r>
                          <a:rPr lang="en-US" sz="2200" b="0" i="1" baseline="-25000" smtClean="0">
                            <a:latin typeface="Cambria Math"/>
                          </a:rPr>
                          <m:t>𝑖</m:t>
                        </m:r>
                        <m:r>
                          <a:rPr lang="en-US" sz="2200" i="1">
                            <a:latin typeface="Cambria Math"/>
                          </a:rPr>
                          <m:t>(</m:t>
                        </m:r>
                        <m:r>
                          <a:rPr lang="en-US" sz="2200" i="1">
                            <a:latin typeface="Cambria Math"/>
                          </a:rPr>
                          <m:t>𝑠</m:t>
                        </m:r>
                        <m:r>
                          <a:rPr lang="en-US" sz="2200" i="1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9953" y="2476514"/>
                  <a:ext cx="893514" cy="430887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154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219200" y="6004083"/>
                <a:ext cx="117513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</a:rPr>
                      <m:t>𝑇</m:t>
                    </m:r>
                    <m:r>
                      <a:rPr lang="en-US" sz="22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sz="22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/>
                  <a:t>C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6004083"/>
                <a:ext cx="1175130" cy="430887"/>
              </a:xfrm>
              <a:prstGeom prst="rect">
                <a:avLst/>
              </a:prstGeom>
              <a:blipFill rotWithShape="1">
                <a:blip r:embed="rId6"/>
                <a:stretch>
                  <a:fillRect t="-8451" r="-5699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911935" y="5845835"/>
                <a:ext cx="1735795" cy="747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𝑎𝑇</m:t>
                      </m:r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𝐶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935" y="5845835"/>
                <a:ext cx="1735795" cy="74738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876027" y="6156111"/>
                <a:ext cx="91275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sz="2200" b="0" i="1" smtClean="0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200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sz="2200" dirty="0"/>
                  <a:t>1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027" y="6156111"/>
                <a:ext cx="912750" cy="430887"/>
              </a:xfrm>
              <a:prstGeom prst="rect">
                <a:avLst/>
              </a:prstGeom>
              <a:blipFill rotWithShape="1">
                <a:blip r:embed="rId8"/>
                <a:stretch>
                  <a:fillRect l="-667" t="-8451" r="-7333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876800" y="5957078"/>
                <a:ext cx="1584152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𝑎</m:t>
                      </m:r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5957078"/>
                <a:ext cx="1584152" cy="718851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621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1" grpId="0" animBg="1"/>
      <p:bldP spid="12" grpId="0" animBg="1"/>
      <p:bldP spid="1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8038"/>
          </a:xfrm>
        </p:spPr>
        <p:txBody>
          <a:bodyPr/>
          <a:lstStyle/>
          <a:p>
            <a:r>
              <a:rPr lang="en-US" dirty="0"/>
              <a:t>Example-3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763000" cy="5562600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Consider the model of space vehicle control system depicted in following figure. 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Design an Electrical lead compensator such that the damping ratio and  natural undamped frequency of dominant closed loop poles are </a:t>
            </a:r>
            <a:r>
              <a:rPr lang="en-US" sz="2800" dirty="0">
                <a:solidFill>
                  <a:srgbClr val="FF0000"/>
                </a:solidFill>
              </a:rPr>
              <a:t>0.5</a:t>
            </a:r>
            <a:r>
              <a:rPr lang="en-US" sz="2800" dirty="0"/>
              <a:t> and </a:t>
            </a:r>
            <a:r>
              <a:rPr lang="en-US" sz="2800" dirty="0">
                <a:solidFill>
                  <a:srgbClr val="FF0000"/>
                </a:solidFill>
              </a:rPr>
              <a:t>2 rad/sec</a:t>
            </a:r>
            <a:r>
              <a:rPr lang="en-US" sz="2800" dirty="0"/>
              <a:t>. 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051712"/>
            <a:ext cx="6510187" cy="282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751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4227</TotalTime>
  <Words>1938</Words>
  <Application>Microsoft Office PowerPoint</Application>
  <PresentationFormat>On-screen Show (4:3)</PresentationFormat>
  <Paragraphs>438</Paragraphs>
  <Slides>53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Arial</vt:lpstr>
      <vt:lpstr>Calibri</vt:lpstr>
      <vt:lpstr>Cambria Math</vt:lpstr>
      <vt:lpstr>Wingdings</vt:lpstr>
      <vt:lpstr>Office Theme</vt:lpstr>
      <vt:lpstr>Equation</vt:lpstr>
      <vt:lpstr>Modern Control Systems (MCS)</vt:lpstr>
      <vt:lpstr>Lecture Outline</vt:lpstr>
      <vt:lpstr>Lead Compensation</vt:lpstr>
      <vt:lpstr>Lead Compensation</vt:lpstr>
      <vt:lpstr>Lead Compensation</vt:lpstr>
      <vt:lpstr>Electronic Lead Compensator</vt:lpstr>
      <vt:lpstr>Electronic Lead Compensator</vt:lpstr>
      <vt:lpstr>Electronic Lead Compensator</vt:lpstr>
      <vt:lpstr>Lead Compensation Techniques Based on the Root-Locus Approach.</vt:lpstr>
      <vt:lpstr>Lead Compensation Techniques Based on the Root-Locus Approach.</vt:lpstr>
      <vt:lpstr>Step-2</vt:lpstr>
      <vt:lpstr>Step-3</vt:lpstr>
      <vt:lpstr>Step-4</vt:lpstr>
      <vt:lpstr>Step-5</vt:lpstr>
      <vt:lpstr>Step-6</vt:lpstr>
      <vt:lpstr>Final Design check</vt:lpstr>
      <vt:lpstr>Final Design check</vt:lpstr>
      <vt:lpstr>Example-1</vt:lpstr>
      <vt:lpstr>Step-1 (Example-1)</vt:lpstr>
      <vt:lpstr>Step-1 (Example-1)</vt:lpstr>
      <vt:lpstr>Step-2 (Example-1)</vt:lpstr>
      <vt:lpstr>Step-2 (Example-1)</vt:lpstr>
      <vt:lpstr>Step-3 (Exampl-1)</vt:lpstr>
      <vt:lpstr>Step-3 (Exampl-1)</vt:lpstr>
      <vt:lpstr>Step-3 (Exampl-1)</vt:lpstr>
      <vt:lpstr>Step-4 (Exampl-1)</vt:lpstr>
      <vt:lpstr>Step-5 (Exampl-1)</vt:lpstr>
      <vt:lpstr>Step-5 (Example-1)</vt:lpstr>
      <vt:lpstr>Step-5 (Example-1)</vt:lpstr>
      <vt:lpstr>Step-6 (Example-1)</vt:lpstr>
      <vt:lpstr>Final Design Check</vt:lpstr>
      <vt:lpstr>Final Design Check</vt:lpstr>
      <vt:lpstr>Final Design Check</vt:lpstr>
      <vt:lpstr>Final Design Check</vt:lpstr>
      <vt:lpstr>Final Design Check</vt:lpstr>
      <vt:lpstr>Step-5 (Exampl-1)</vt:lpstr>
      <vt:lpstr>Step-5 (Exampl-1)</vt:lpstr>
      <vt:lpstr>Step-5 (Example-1)</vt:lpstr>
      <vt:lpstr>Step-5 (Example-1)</vt:lpstr>
      <vt:lpstr>Step-5 (Example-1)</vt:lpstr>
      <vt:lpstr>Step-5 (Example-1)</vt:lpstr>
      <vt:lpstr>Step-5 (Example-1)</vt:lpstr>
      <vt:lpstr>Step-6 (Example-1)</vt:lpstr>
      <vt:lpstr>Step-6 (Example-1)</vt:lpstr>
      <vt:lpstr>Final Design Check</vt:lpstr>
      <vt:lpstr>Final Design Check</vt:lpstr>
      <vt:lpstr>Final Design Check</vt:lpstr>
      <vt:lpstr>Final Design Check</vt:lpstr>
      <vt:lpstr>Mechanical Lead Compensator</vt:lpstr>
      <vt:lpstr>Mechanical Lead Compensator</vt:lpstr>
      <vt:lpstr>Exampl-2</vt:lpstr>
      <vt:lpstr>Electrical Lead Compensator</vt:lpstr>
      <vt:lpstr>Example-3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Imtiaz Hussain</dc:creator>
  <cp:lastModifiedBy>ayeshaz.rao@gmail.com</cp:lastModifiedBy>
  <cp:revision>780</cp:revision>
  <dcterms:created xsi:type="dcterms:W3CDTF">2012-07-01T09:15:58Z</dcterms:created>
  <dcterms:modified xsi:type="dcterms:W3CDTF">2025-11-24T04:36:59Z</dcterms:modified>
</cp:coreProperties>
</file>