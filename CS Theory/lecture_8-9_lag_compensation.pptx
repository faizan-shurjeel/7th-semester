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0"/>
  </p:notesMasterIdLst>
  <p:handoutMasterIdLst>
    <p:handoutMasterId r:id="rId41"/>
  </p:handoutMasterIdLst>
  <p:sldIdLst>
    <p:sldId id="339" r:id="rId2"/>
    <p:sldId id="373" r:id="rId3"/>
    <p:sldId id="374" r:id="rId4"/>
    <p:sldId id="376" r:id="rId5"/>
    <p:sldId id="377" r:id="rId6"/>
    <p:sldId id="378" r:id="rId7"/>
    <p:sldId id="379" r:id="rId8"/>
    <p:sldId id="380" r:id="rId9"/>
    <p:sldId id="381" r:id="rId10"/>
    <p:sldId id="382" r:id="rId11"/>
    <p:sldId id="348" r:id="rId12"/>
    <p:sldId id="375" r:id="rId13"/>
    <p:sldId id="383" r:id="rId14"/>
    <p:sldId id="384" r:id="rId15"/>
    <p:sldId id="385" r:id="rId16"/>
    <p:sldId id="386" r:id="rId17"/>
    <p:sldId id="388" r:id="rId18"/>
    <p:sldId id="389" r:id="rId19"/>
    <p:sldId id="390" r:id="rId20"/>
    <p:sldId id="391" r:id="rId21"/>
    <p:sldId id="393" r:id="rId22"/>
    <p:sldId id="394" r:id="rId23"/>
    <p:sldId id="395" r:id="rId24"/>
    <p:sldId id="387" r:id="rId25"/>
    <p:sldId id="396" r:id="rId26"/>
    <p:sldId id="397" r:id="rId27"/>
    <p:sldId id="398" r:id="rId28"/>
    <p:sldId id="399" r:id="rId29"/>
    <p:sldId id="400" r:id="rId30"/>
    <p:sldId id="401" r:id="rId31"/>
    <p:sldId id="402" r:id="rId32"/>
    <p:sldId id="403" r:id="rId33"/>
    <p:sldId id="404" r:id="rId34"/>
    <p:sldId id="405" r:id="rId35"/>
    <p:sldId id="406" r:id="rId36"/>
    <p:sldId id="408" r:id="rId37"/>
    <p:sldId id="410" r:id="rId38"/>
    <p:sldId id="40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A275CD0-BF64-4EDA-A390-EA27F5FF7906}" type="datetimeFigureOut">
              <a:rPr lang="en-GB" smtClean="0"/>
              <a:pPr/>
              <a:t>24/11/2025</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6C7654-C7C7-4BC9-B3D0-68A06137D36C}" type="slidenum">
              <a:rPr lang="en-GB" smtClean="0"/>
              <a:pPr/>
              <a:t>‹#›</a:t>
            </a:fld>
            <a:endParaRPr lang="en-GB" dirty="0"/>
          </a:p>
        </p:txBody>
      </p:sp>
    </p:spTree>
    <p:extLst>
      <p:ext uri="{BB962C8B-B14F-4D97-AF65-F5344CB8AC3E}">
        <p14:creationId xmlns:p14="http://schemas.microsoft.com/office/powerpoint/2010/main" val="3726830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26B1A4-3534-4875-B1CA-60596223E4A6}" type="datetimeFigureOut">
              <a:rPr lang="en-US" smtClean="0"/>
              <a:pPr/>
              <a:t>11/24/2025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E5BD45-B5A0-4654-B232-F8508C108E19}" type="slidenum">
              <a:rPr lang="en-US" smtClean="0"/>
              <a:pPr/>
              <a:t>‹#›</a:t>
            </a:fld>
            <a:endParaRPr lang="en-US" dirty="0"/>
          </a:p>
        </p:txBody>
      </p:sp>
    </p:spTree>
    <p:extLst>
      <p:ext uri="{BB962C8B-B14F-4D97-AF65-F5344CB8AC3E}">
        <p14:creationId xmlns:p14="http://schemas.microsoft.com/office/powerpoint/2010/main" val="1478179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a:t>
            </a:fld>
            <a:endParaRPr lang="en-US" dirty="0"/>
          </a:p>
        </p:txBody>
      </p:sp>
    </p:spTree>
    <p:extLst>
      <p:ext uri="{BB962C8B-B14F-4D97-AF65-F5344CB8AC3E}">
        <p14:creationId xmlns:p14="http://schemas.microsoft.com/office/powerpoint/2010/main" val="1603085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6</a:t>
            </a:fld>
            <a:endParaRPr lang="en-US"/>
          </a:p>
        </p:txBody>
      </p:sp>
    </p:spTree>
    <p:extLst>
      <p:ext uri="{BB962C8B-B14F-4D97-AF65-F5344CB8AC3E}">
        <p14:creationId xmlns:p14="http://schemas.microsoft.com/office/powerpoint/2010/main" val="3722078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7</a:t>
            </a:fld>
            <a:endParaRPr lang="en-US"/>
          </a:p>
        </p:txBody>
      </p:sp>
    </p:spTree>
    <p:extLst>
      <p:ext uri="{BB962C8B-B14F-4D97-AF65-F5344CB8AC3E}">
        <p14:creationId xmlns:p14="http://schemas.microsoft.com/office/powerpoint/2010/main" val="3722078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8</a:t>
            </a:fld>
            <a:endParaRPr lang="en-US"/>
          </a:p>
        </p:txBody>
      </p:sp>
    </p:spTree>
    <p:extLst>
      <p:ext uri="{BB962C8B-B14F-4D97-AF65-F5344CB8AC3E}">
        <p14:creationId xmlns:p14="http://schemas.microsoft.com/office/powerpoint/2010/main" val="3722078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9</a:t>
            </a:fld>
            <a:endParaRPr lang="en-US"/>
          </a:p>
        </p:txBody>
      </p:sp>
    </p:spTree>
    <p:extLst>
      <p:ext uri="{BB962C8B-B14F-4D97-AF65-F5344CB8AC3E}">
        <p14:creationId xmlns:p14="http://schemas.microsoft.com/office/powerpoint/2010/main" val="3722078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10</a:t>
            </a:fld>
            <a:endParaRPr lang="en-US"/>
          </a:p>
        </p:txBody>
      </p:sp>
    </p:spTree>
    <p:extLst>
      <p:ext uri="{BB962C8B-B14F-4D97-AF65-F5344CB8AC3E}">
        <p14:creationId xmlns:p14="http://schemas.microsoft.com/office/powerpoint/2010/main" val="3722078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38</a:t>
            </a:fld>
            <a:endParaRPr lang="en-US" dirty="0"/>
          </a:p>
        </p:txBody>
      </p:sp>
    </p:spTree>
    <p:extLst>
      <p:ext uri="{BB962C8B-B14F-4D97-AF65-F5344CB8AC3E}">
        <p14:creationId xmlns:p14="http://schemas.microsoft.com/office/powerpoint/2010/main" val="4038389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F56010-C3B1-432D-91B5-488370687EE7}" type="datetime1">
              <a:rPr lang="en-GB" smtClean="0"/>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7AF4C8-D85A-48A3-AAD7-6A40AE0F4750}" type="datetime1">
              <a:rPr lang="en-GB" smtClean="0"/>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F7C395-CCD4-48D0-AA5F-89248BD809A4}" type="datetime1">
              <a:rPr lang="en-GB" smtClean="0"/>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C2B859-CFD5-4CC9-8393-74B62CDF5E89}" type="datetime1">
              <a:rPr lang="en-GB" smtClean="0"/>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7BA689-2B1F-4CEF-A081-823E30BEC88E}" type="datetime1">
              <a:rPr lang="en-GB" smtClean="0"/>
              <a:t>24/11/2025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96F999-7935-401C-8FA2-5A44510AA3B7}" type="datetime1">
              <a:rPr lang="en-GB" smtClean="0"/>
              <a:t>24/11/2025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1A3A35-DECE-4139-AB85-3199A3EBA94C}" type="datetime1">
              <a:rPr lang="en-GB" smtClean="0"/>
              <a:t>24/11/2025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52F85B-1C7D-46F4-A9DA-E13648E505E6}" type="datetime1">
              <a:rPr lang="en-GB" smtClean="0"/>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9BC9FA-240B-424B-B600-2E9F60D6DF59}" type="datetime1">
              <a:rPr lang="en-GB" smtClean="0"/>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D70394-08A4-4A9B-8DA0-5B78E1EF50C8}" type="datetime1">
              <a:rPr lang="en-GB" smtClean="0"/>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9D687B7-64B2-46C4-900B-32642B126DFF}" type="datetime1">
              <a:rPr lang="en-GB" smtClean="0"/>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56608-FFFC-4BA2-8DD5-A7F595B7D984}" type="datetime1">
              <a:rPr lang="en-GB" smtClean="0"/>
              <a:t>24/11/2025</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0D5CAB-8BF0-4EA3-BAE4-9835C852A49B}"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pPr algn="ctr"/>
            <a:r>
              <a:rPr lang="en-US" dirty="0"/>
              <a:t>Lecture Outline</a:t>
            </a:r>
          </a:p>
        </p:txBody>
      </p:sp>
      <p:sp>
        <p:nvSpPr>
          <p:cNvPr id="3" name="Rectangle 2"/>
          <p:cNvSpPr/>
          <p:nvPr/>
        </p:nvSpPr>
        <p:spPr>
          <a:xfrm>
            <a:off x="381000" y="1066800"/>
            <a:ext cx="7696200" cy="5262979"/>
          </a:xfrm>
          <a:prstGeom prst="rect">
            <a:avLst/>
          </a:prstGeom>
        </p:spPr>
        <p:txBody>
          <a:bodyPr wrap="square">
            <a:spAutoFit/>
          </a:bodyPr>
          <a:lstStyle/>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Introduction to lag compensation</a:t>
            </a:r>
          </a:p>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Electronic Lag Compensator</a:t>
            </a:r>
          </a:p>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Mechanical Lag Compensator</a:t>
            </a:r>
          </a:p>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Electrical Lag Compensator</a:t>
            </a:r>
          </a:p>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Design Procedure of Lag Compensator</a:t>
            </a:r>
          </a:p>
          <a:p>
            <a:pPr marL="573088" indent="-573088" algn="just">
              <a:lnSpc>
                <a:spcPct val="20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Examples</a:t>
            </a:r>
          </a:p>
        </p:txBody>
      </p:sp>
      <p:sp>
        <p:nvSpPr>
          <p:cNvPr id="4" name="Slide Number Placeholder 3"/>
          <p:cNvSpPr>
            <a:spLocks noGrp="1"/>
          </p:cNvSpPr>
          <p:nvPr>
            <p:ph type="sldNum" sz="quarter" idx="12"/>
          </p:nvPr>
        </p:nvSpPr>
        <p:spPr/>
        <p:txBody>
          <a:bodyPr/>
          <a:lstStyle/>
          <a:p>
            <a:fld id="{7A0D5CAB-8BF0-4EA3-BAE4-9835C852A49B}" type="slidenum">
              <a:rPr lang="en-GB" smtClean="0"/>
              <a:pPr/>
              <a:t>1</a:t>
            </a:fld>
            <a:endParaRPr lang="en-GB" dirty="0"/>
          </a:p>
        </p:txBody>
      </p:sp>
    </p:spTree>
    <p:extLst>
      <p:ext uri="{BB962C8B-B14F-4D97-AF65-F5344CB8AC3E}">
        <p14:creationId xmlns:p14="http://schemas.microsoft.com/office/powerpoint/2010/main" val="3501493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1036638"/>
          </a:xfrm>
        </p:spPr>
        <p:txBody>
          <a:bodyPr/>
          <a:lstStyle/>
          <a:p>
            <a:r>
              <a:rPr lang="en-US" dirty="0"/>
              <a:t>Lag Compensation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228600" y="1143000"/>
                <a:ext cx="8763000" cy="5334000"/>
              </a:xfrm>
            </p:spPr>
            <p:txBody>
              <a:bodyPr>
                <a:normAutofit/>
              </a:bodyPr>
              <a:lstStyle/>
              <a:p>
                <a:pPr algn="just"/>
                <a:r>
                  <a:rPr lang="en-US" sz="2600" dirty="0"/>
                  <a:t>Lag compensation is used to improve the steady state error of the system. </a:t>
                </a:r>
              </a:p>
              <a:p>
                <a:pPr algn="just"/>
                <a:endParaRPr lang="en-US" sz="1000" dirty="0"/>
              </a:p>
              <a:p>
                <a:pPr algn="just"/>
                <a:r>
                  <a:rPr lang="en-US" sz="2600" dirty="0"/>
                  <a:t>Generally Lag compensators are represented by following transfer function</a:t>
                </a:r>
              </a:p>
              <a:p>
                <a:pPr algn="just"/>
                <a:endParaRPr lang="en-US" sz="2600" dirty="0"/>
              </a:p>
              <a:p>
                <a:pPr algn="just"/>
                <a:endParaRPr lang="en-US" sz="2600" dirty="0"/>
              </a:p>
              <a:p>
                <a:pPr algn="just"/>
                <a:r>
                  <a:rPr lang="en-US" sz="2600" dirty="0"/>
                  <a:t>Or</a:t>
                </a:r>
              </a:p>
              <a:p>
                <a:pPr algn="just"/>
                <a:endParaRPr lang="en-US" sz="2600" dirty="0"/>
              </a:p>
              <a:p>
                <a:pPr algn="just"/>
                <a:endParaRPr lang="en-US" sz="2600" dirty="0"/>
              </a:p>
              <a:p>
                <a:pPr algn="just"/>
                <a:r>
                  <a:rPr lang="en-US" sz="2600" dirty="0"/>
                  <a:t>Where </a:t>
                </a:r>
                <a14:m>
                  <m:oMath xmlns:m="http://schemas.openxmlformats.org/officeDocument/2006/math">
                    <m:acc>
                      <m:accPr>
                        <m:chr m:val="̂"/>
                        <m:ctrlPr>
                          <a:rPr lang="en-US" sz="2600" i="1" smtClean="0">
                            <a:latin typeface="Cambria Math" panose="02040503050406030204" pitchFamily="18" charset="0"/>
                          </a:rPr>
                        </m:ctrlPr>
                      </m:accPr>
                      <m:e>
                        <m:r>
                          <a:rPr lang="en-US" sz="2600" b="0" i="1" smtClean="0">
                            <a:latin typeface="Cambria Math"/>
                          </a:rPr>
                          <m:t>𝐾</m:t>
                        </m:r>
                      </m:e>
                    </m:acc>
                    <m:r>
                      <a:rPr lang="en-US" sz="2600" i="1" baseline="-25000">
                        <a:latin typeface="Cambria Math"/>
                      </a:rPr>
                      <m:t>𝑐</m:t>
                    </m:r>
                  </m:oMath>
                </a14:m>
                <a:r>
                  <a:rPr lang="en-US" sz="2600" dirty="0"/>
                  <a:t>is gain of lag compensator.</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228600" y="1143000"/>
                <a:ext cx="8763000" cy="5334000"/>
              </a:xfrm>
              <a:blipFill rotWithShape="1">
                <a:blip r:embed="rId2"/>
                <a:stretch>
                  <a:fillRect l="-1113" t="-914" r="-21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752600" y="4191000"/>
                <a:ext cx="6105912" cy="1231171"/>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r>
                      <a:rPr lang="en-US" sz="3200" b="0" i="1" smtClean="0">
                        <a:latin typeface="Cambria Math"/>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i="1">
                                <a:latin typeface="Cambria Math"/>
                              </a:rPr>
                              <m:t>𝐾</m:t>
                            </m:r>
                          </m:e>
                        </m:acc>
                      </m:e>
                      <m:sub>
                        <m:r>
                          <a:rPr lang="en-US" sz="3200" b="0" i="1" smtClean="0">
                            <a:latin typeface="Cambria Math"/>
                          </a:rPr>
                          <m:t>𝑐</m:t>
                        </m:r>
                      </m:sub>
                    </m:sSub>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𝑠</m:t>
                        </m:r>
                        <m:r>
                          <a:rPr lang="en-US" sz="3200" b="0" i="1" smtClean="0">
                            <a:latin typeface="Cambria Math"/>
                            <a:ea typeface="Cambria Math"/>
                          </a:rPr>
                          <m:t>+</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1</m:t>
                            </m:r>
                          </m:num>
                          <m:den>
                            <m:r>
                              <a:rPr lang="en-US" sz="3200" b="0" i="1" smtClean="0">
                                <a:latin typeface="Cambria Math"/>
                                <a:ea typeface="Cambria Math"/>
                              </a:rPr>
                              <m:t>𝑇</m:t>
                            </m:r>
                          </m:den>
                        </m:f>
                      </m:num>
                      <m:den>
                        <m:r>
                          <a:rPr lang="en-US" sz="3200" b="0" i="1" smtClean="0">
                            <a:latin typeface="Cambria Math"/>
                            <a:ea typeface="Cambria Math"/>
                          </a:rPr>
                          <m:t>𝑠</m:t>
                        </m:r>
                        <m:r>
                          <a:rPr lang="en-US" sz="3200" b="0" i="1" smtClean="0">
                            <a:latin typeface="Cambria Math"/>
                            <a:ea typeface="Cambria Math"/>
                          </a:rPr>
                          <m:t>+</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1</m:t>
                            </m:r>
                          </m:num>
                          <m:den>
                            <m:r>
                              <a:rPr lang="en-US" sz="3200" i="1" smtClean="0">
                                <a:latin typeface="Cambria Math"/>
                                <a:ea typeface="Cambria Math"/>
                              </a:rPr>
                              <m:t>𝛽</m:t>
                            </m:r>
                            <m:r>
                              <a:rPr lang="en-US" sz="3200" i="1">
                                <a:latin typeface="Cambria Math"/>
                                <a:ea typeface="Cambria Math"/>
                              </a:rPr>
                              <m:t>𝑇</m:t>
                            </m:r>
                          </m:den>
                        </m:f>
                      </m:den>
                    </m:f>
                  </m:oMath>
                </a14:m>
                <a:r>
                  <a:rPr lang="en-US" sz="3200" dirty="0"/>
                  <a:t> ,         (</a:t>
                </a:r>
                <a14:m>
                  <m:oMath xmlns:m="http://schemas.openxmlformats.org/officeDocument/2006/math">
                    <m:r>
                      <m:rPr>
                        <m:sty m:val="p"/>
                      </m:rPr>
                      <a:rPr lang="el-GR" sz="3200" i="1">
                        <a:latin typeface="Cambria Math"/>
                        <a:ea typeface="Cambria Math"/>
                      </a:rPr>
                      <m:t>β</m:t>
                    </m:r>
                    <m:r>
                      <a:rPr lang="en-US" sz="3200" i="1">
                        <a:latin typeface="Cambria Math"/>
                        <a:ea typeface="Cambria Math"/>
                      </a:rPr>
                      <m:t>&gt;1</m:t>
                    </m:r>
                  </m:oMath>
                </a14:m>
                <a:r>
                  <a:rPr lang="en-US" sz="32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1752600" y="4191000"/>
                <a:ext cx="6105912" cy="123117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763688" y="3124200"/>
                <a:ext cx="6609968" cy="851708"/>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r>
                      <a:rPr lang="en-US" sz="3200" b="0" i="1" smtClean="0">
                        <a:latin typeface="Cambria Math"/>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i="1">
                                <a:latin typeface="Cambria Math"/>
                              </a:rPr>
                              <m:t>𝐾</m:t>
                            </m:r>
                          </m:e>
                        </m:acc>
                      </m:e>
                      <m:sub>
                        <m:r>
                          <a:rPr lang="en-US" sz="3200" b="0" i="1" smtClean="0">
                            <a:latin typeface="Cambria Math"/>
                          </a:rPr>
                          <m:t>𝑐</m:t>
                        </m:r>
                      </m:sub>
                    </m:sSub>
                    <m:r>
                      <a:rPr lang="en-US" sz="3200" b="0" i="1" smtClean="0">
                        <a:latin typeface="Cambria Math"/>
                        <a:ea typeface="Cambria Math"/>
                      </a:rPr>
                      <m:t>𝛽</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𝑇𝑠</m:t>
                        </m:r>
                        <m:r>
                          <a:rPr lang="en-US" sz="3200" b="0" i="1" smtClean="0">
                            <a:latin typeface="Cambria Math"/>
                            <a:ea typeface="Cambria Math"/>
                          </a:rPr>
                          <m:t>+1</m:t>
                        </m:r>
                      </m:num>
                      <m:den>
                        <m:r>
                          <a:rPr lang="en-US" sz="3200" b="0" i="1" smtClean="0">
                            <a:latin typeface="Cambria Math"/>
                            <a:ea typeface="Cambria Math"/>
                          </a:rPr>
                          <m:t>𝛽</m:t>
                        </m:r>
                        <m:r>
                          <a:rPr lang="en-US" sz="3200" b="0" i="1" smtClean="0">
                            <a:latin typeface="Cambria Math"/>
                            <a:ea typeface="Cambria Math"/>
                          </a:rPr>
                          <m:t>𝑇𝑠</m:t>
                        </m:r>
                        <m:r>
                          <a:rPr lang="en-US" sz="3200" b="0" i="1" smtClean="0">
                            <a:latin typeface="Cambria Math"/>
                            <a:ea typeface="Cambria Math"/>
                          </a:rPr>
                          <m:t>+1</m:t>
                        </m:r>
                      </m:den>
                    </m:f>
                  </m:oMath>
                </a14:m>
                <a:r>
                  <a:rPr lang="en-US" sz="3200" dirty="0"/>
                  <a:t> ,      (</a:t>
                </a:r>
                <a14:m>
                  <m:oMath xmlns:m="http://schemas.openxmlformats.org/officeDocument/2006/math">
                    <m:r>
                      <m:rPr>
                        <m:sty m:val="p"/>
                      </m:rPr>
                      <a:rPr lang="el-GR" sz="3200" b="0" i="1" smtClean="0">
                        <a:latin typeface="Cambria Math"/>
                        <a:ea typeface="Cambria Math"/>
                      </a:rPr>
                      <m:t>β</m:t>
                    </m:r>
                    <m:r>
                      <a:rPr lang="en-US" sz="3200" b="0" i="1" smtClean="0">
                        <a:latin typeface="Cambria Math"/>
                        <a:ea typeface="Cambria Math"/>
                      </a:rPr>
                      <m:t>&gt;1</m:t>
                    </m:r>
                  </m:oMath>
                </a14:m>
                <a:r>
                  <a:rPr lang="en-US" sz="3200"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1763688" y="3124200"/>
                <a:ext cx="6609968" cy="851708"/>
              </a:xfrm>
              <a:prstGeom prst="rect">
                <a:avLst/>
              </a:prstGeom>
              <a:blipFill rotWithShape="1">
                <a:blip r:embed="rId4"/>
                <a:stretch>
                  <a:fillRect b="-4317"/>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2</a:t>
            </a:fld>
            <a:endParaRPr lang="en-GB" dirty="0"/>
          </a:p>
        </p:txBody>
      </p:sp>
    </p:spTree>
    <p:extLst>
      <p:ext uri="{BB962C8B-B14F-4D97-AF65-F5344CB8AC3E}">
        <p14:creationId xmlns:p14="http://schemas.microsoft.com/office/powerpoint/2010/main" val="404257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10" fill="hold"/>
                                        <p:tgtEl>
                                          <p:spTgt spid="7"/>
                                        </p:tgtEl>
                                        <p:attrNameLst>
                                          <p:attrName>ppt_x</p:attrName>
                                        </p:attrNameLst>
                                      </p:cBhvr>
                                      <p:tavLst>
                                        <p:tav tm="0">
                                          <p:val>
                                            <p:strVal val="#ppt_x"/>
                                          </p:val>
                                        </p:tav>
                                        <p:tav tm="100000">
                                          <p:val>
                                            <p:strVal val="#ppt_x"/>
                                          </p:val>
                                        </p:tav>
                                      </p:tavLst>
                                    </p:anim>
                                    <p:anim calcmode="lin" valueType="num">
                                      <p:cBhvr additive="base">
                                        <p:cTn id="10" dur="1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1442"/>
            <a:ext cx="8229600" cy="792162"/>
          </a:xfrm>
        </p:spPr>
        <p:txBody>
          <a:bodyPr/>
          <a:lstStyle/>
          <a:p>
            <a:r>
              <a:rPr lang="en-US" dirty="0"/>
              <a:t>Lag Compensation</a:t>
            </a:r>
          </a:p>
        </p:txBody>
      </p:sp>
      <mc:AlternateContent xmlns:mc="http://schemas.openxmlformats.org/markup-compatibility/2006" xmlns:a14="http://schemas.microsoft.com/office/drawing/2010/main">
        <mc:Choice Requires="a14">
          <p:sp>
            <p:nvSpPr>
              <p:cNvPr id="6" name="TextBox 5"/>
              <p:cNvSpPr txBox="1"/>
              <p:nvPr/>
            </p:nvSpPr>
            <p:spPr>
              <a:xfrm>
                <a:off x="1464025" y="1600200"/>
                <a:ext cx="6105912" cy="790345"/>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r>
                      <a:rPr lang="en-US" sz="3200" b="0" i="1" smtClean="0">
                        <a:latin typeface="Cambria Math"/>
                      </a:rPr>
                      <m:t>=3</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𝑠</m:t>
                        </m:r>
                        <m:r>
                          <a:rPr lang="en-US" sz="3200" b="0" i="1" smtClean="0">
                            <a:latin typeface="Cambria Math"/>
                            <a:ea typeface="Cambria Math"/>
                          </a:rPr>
                          <m:t>+10</m:t>
                        </m:r>
                      </m:num>
                      <m:den>
                        <m:r>
                          <a:rPr lang="en-US" sz="3200" b="0" i="1" smtClean="0">
                            <a:latin typeface="Cambria Math"/>
                            <a:ea typeface="Cambria Math"/>
                          </a:rPr>
                          <m:t>𝑠</m:t>
                        </m:r>
                        <m:r>
                          <a:rPr lang="en-US" sz="3200" b="0" i="1" smtClean="0">
                            <a:latin typeface="Cambria Math"/>
                            <a:ea typeface="Cambria Math"/>
                          </a:rPr>
                          <m:t>+1</m:t>
                        </m:r>
                      </m:den>
                    </m:f>
                  </m:oMath>
                </a14:m>
                <a:r>
                  <a:rPr lang="en-US" sz="3200" dirty="0"/>
                  <a:t> ,      (</a:t>
                </a:r>
                <a14:m>
                  <m:oMath xmlns:m="http://schemas.openxmlformats.org/officeDocument/2006/math">
                    <m:r>
                      <a:rPr lang="en-US" sz="3200" i="1" smtClean="0">
                        <a:latin typeface="Cambria Math"/>
                        <a:ea typeface="Cambria Math"/>
                      </a:rPr>
                      <m:t>𝛽</m:t>
                    </m:r>
                    <m:r>
                      <a:rPr lang="en-US" sz="3200" b="0" i="1" smtClean="0">
                        <a:latin typeface="Cambria Math"/>
                        <a:ea typeface="Cambria Math"/>
                      </a:rPr>
                      <m:t>=10</m:t>
                    </m:r>
                  </m:oMath>
                </a14:m>
                <a:r>
                  <a:rPr lang="en-US" sz="32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1464025" y="1600200"/>
                <a:ext cx="6105912" cy="790345"/>
              </a:xfrm>
              <a:prstGeom prst="rect">
                <a:avLst/>
              </a:prstGeom>
              <a:blipFill rotWithShape="1">
                <a:blip r:embed="rId2"/>
                <a:stretch>
                  <a:fillRect b="-12403"/>
                </a:stretch>
              </a:blipFill>
            </p:spPr>
            <p:txBody>
              <a:bodyPr/>
              <a:lstStyle/>
              <a:p>
                <a:r>
                  <a:rPr lang="en-US">
                    <a:noFill/>
                  </a:rPr>
                  <a:t> </a:t>
                </a:r>
              </a:p>
            </p:txBody>
          </p:sp>
        </mc:Fallback>
      </mc:AlternateContent>
      <p:pic>
        <p:nvPicPr>
          <p:cNvPr id="2" name="Picture 1"/>
          <p:cNvPicPr>
            <a:picLocks noChangeAspect="1"/>
          </p:cNvPicPr>
          <p:nvPr/>
        </p:nvPicPr>
        <p:blipFill rotWithShape="1">
          <a:blip r:embed="rId3"/>
          <a:srcRect l="3418" t="6814" r="6003" b="3716"/>
          <a:stretch/>
        </p:blipFill>
        <p:spPr>
          <a:xfrm>
            <a:off x="4572001" y="2592241"/>
            <a:ext cx="4495800" cy="3906040"/>
          </a:xfrm>
          <a:prstGeom prst="rect">
            <a:avLst/>
          </a:prstGeom>
        </p:spPr>
      </p:pic>
      <p:pic>
        <p:nvPicPr>
          <p:cNvPr id="4" name="Picture 3"/>
          <p:cNvPicPr>
            <a:picLocks noChangeAspect="1"/>
          </p:cNvPicPr>
          <p:nvPr/>
        </p:nvPicPr>
        <p:blipFill rotWithShape="1">
          <a:blip r:embed="rId4"/>
          <a:srcRect l="9267" t="6100" r="6990" b="4430"/>
          <a:stretch/>
        </p:blipFill>
        <p:spPr>
          <a:xfrm>
            <a:off x="117764" y="2566984"/>
            <a:ext cx="4378035" cy="3931297"/>
          </a:xfrm>
          <a:prstGeom prst="rect">
            <a:avLst/>
          </a:prstGeom>
        </p:spPr>
      </p:pic>
      <p:sp>
        <p:nvSpPr>
          <p:cNvPr id="5" name="Slide Number Placeholder 4"/>
          <p:cNvSpPr>
            <a:spLocks noGrp="1"/>
          </p:cNvSpPr>
          <p:nvPr>
            <p:ph type="sldNum" sz="quarter" idx="12"/>
          </p:nvPr>
        </p:nvSpPr>
        <p:spPr/>
        <p:txBody>
          <a:bodyPr/>
          <a:lstStyle/>
          <a:p>
            <a:fld id="{7A0D5CAB-8BF0-4EA3-BAE4-9835C852A49B}" type="slidenum">
              <a:rPr lang="en-GB" smtClean="0"/>
              <a:pPr/>
              <a:t>3</a:t>
            </a:fld>
            <a:endParaRPr lang="en-GB" dirty="0"/>
          </a:p>
        </p:txBody>
      </p:sp>
    </p:spTree>
    <p:extLst>
      <p:ext uri="{BB962C8B-B14F-4D97-AF65-F5344CB8AC3E}">
        <p14:creationId xmlns:p14="http://schemas.microsoft.com/office/powerpoint/2010/main" val="378721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1036638"/>
          </a:xfrm>
        </p:spPr>
        <p:txBody>
          <a:bodyPr/>
          <a:lstStyle/>
          <a:p>
            <a:r>
              <a:rPr lang="en-US" dirty="0"/>
              <a:t>Lag Compensation</a:t>
            </a:r>
          </a:p>
        </p:txBody>
      </p:sp>
      <p:sp>
        <p:nvSpPr>
          <p:cNvPr id="4" name="Content Placeholder 3"/>
          <p:cNvSpPr>
            <a:spLocks noGrp="1"/>
          </p:cNvSpPr>
          <p:nvPr>
            <p:ph idx="1"/>
          </p:nvPr>
        </p:nvSpPr>
        <p:spPr>
          <a:xfrm>
            <a:off x="76200" y="1143000"/>
            <a:ext cx="8915400" cy="5334000"/>
          </a:xfrm>
        </p:spPr>
        <p:txBody>
          <a:bodyPr>
            <a:normAutofit/>
          </a:bodyPr>
          <a:lstStyle/>
          <a:p>
            <a:pPr algn="just"/>
            <a:r>
              <a:rPr lang="en-US" sz="2400" dirty="0"/>
              <a:t>Consider the problem of finding a suitable compensation network for the case where the system exhibits satisfactory transient-response characteristics but unsatisfactory steady-state characteristics.</a:t>
            </a:r>
          </a:p>
          <a:p>
            <a:pPr algn="just"/>
            <a:endParaRPr lang="en-US" sz="2400" dirty="0"/>
          </a:p>
          <a:p>
            <a:pPr algn="just"/>
            <a:r>
              <a:rPr lang="en-US" sz="2400" dirty="0"/>
              <a:t>Compensation in this case essentially consists of increasing the open loop gain without appreciably changing the transient-response characteristics.</a:t>
            </a:r>
          </a:p>
          <a:p>
            <a:pPr algn="just"/>
            <a:endParaRPr lang="en-US" sz="2400" dirty="0"/>
          </a:p>
          <a:p>
            <a:pPr algn="just"/>
            <a:r>
              <a:rPr lang="en-US" sz="2400" dirty="0"/>
              <a:t>This means that the root locus in the neighborhood of the dominant closed-loop poles should not be changed appreciably, but the open-loop gain should be increased as much as needed.</a:t>
            </a:r>
          </a:p>
        </p:txBody>
      </p:sp>
      <p:sp>
        <p:nvSpPr>
          <p:cNvPr id="2" name="Slide Number Placeholder 1"/>
          <p:cNvSpPr>
            <a:spLocks noGrp="1"/>
          </p:cNvSpPr>
          <p:nvPr>
            <p:ph type="sldNum" sz="quarter" idx="12"/>
          </p:nvPr>
        </p:nvSpPr>
        <p:spPr/>
        <p:txBody>
          <a:bodyPr/>
          <a:lstStyle/>
          <a:p>
            <a:fld id="{7A0D5CAB-8BF0-4EA3-BAE4-9835C852A49B}" type="slidenum">
              <a:rPr lang="en-GB" smtClean="0"/>
              <a:pPr/>
              <a:t>4</a:t>
            </a:fld>
            <a:endParaRPr lang="en-GB" dirty="0"/>
          </a:p>
        </p:txBody>
      </p:sp>
    </p:spTree>
    <p:extLst>
      <p:ext uri="{BB962C8B-B14F-4D97-AF65-F5344CB8AC3E}">
        <p14:creationId xmlns:p14="http://schemas.microsoft.com/office/powerpoint/2010/main" val="175861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1036638"/>
          </a:xfrm>
        </p:spPr>
        <p:txBody>
          <a:bodyPr/>
          <a:lstStyle/>
          <a:p>
            <a:r>
              <a:rPr lang="en-US" dirty="0"/>
              <a:t>Lag Compensation</a:t>
            </a:r>
          </a:p>
        </p:txBody>
      </p:sp>
      <p:sp>
        <p:nvSpPr>
          <p:cNvPr id="4" name="Content Placeholder 3"/>
          <p:cNvSpPr>
            <a:spLocks noGrp="1"/>
          </p:cNvSpPr>
          <p:nvPr>
            <p:ph idx="1"/>
          </p:nvPr>
        </p:nvSpPr>
        <p:spPr>
          <a:xfrm>
            <a:off x="76200" y="1143000"/>
            <a:ext cx="8915400" cy="5334000"/>
          </a:xfrm>
        </p:spPr>
        <p:txBody>
          <a:bodyPr>
            <a:normAutofit/>
          </a:bodyPr>
          <a:lstStyle/>
          <a:p>
            <a:pPr algn="just"/>
            <a:r>
              <a:rPr lang="en-US" sz="2400" dirty="0"/>
              <a:t>To avoid an appreciable change in the root loci, the angle contribution of the lag network should be limited to a small amount, say less than 5°.</a:t>
            </a:r>
          </a:p>
          <a:p>
            <a:pPr algn="just"/>
            <a:endParaRPr lang="en-US" sz="2400" dirty="0"/>
          </a:p>
          <a:p>
            <a:pPr algn="just"/>
            <a:r>
              <a:rPr lang="en-US" sz="2400" dirty="0"/>
              <a:t>To assure this, we place the pole and zero of the lag network relatively close together and near the origin of the s plane.</a:t>
            </a:r>
          </a:p>
          <a:p>
            <a:pPr algn="just"/>
            <a:endParaRPr lang="en-US" sz="2400" dirty="0"/>
          </a:p>
          <a:p>
            <a:pPr algn="just"/>
            <a:r>
              <a:rPr lang="en-US" sz="2400" dirty="0"/>
              <a:t>Then the closed-loop poles of the compensated system will be shifted only slightly from their original locations. Hence, the transient-response characteristics will be changed only slightly.</a:t>
            </a:r>
          </a:p>
        </p:txBody>
      </p:sp>
      <p:sp>
        <p:nvSpPr>
          <p:cNvPr id="2" name="Slide Number Placeholder 1"/>
          <p:cNvSpPr>
            <a:spLocks noGrp="1"/>
          </p:cNvSpPr>
          <p:nvPr>
            <p:ph type="sldNum" sz="quarter" idx="12"/>
          </p:nvPr>
        </p:nvSpPr>
        <p:spPr/>
        <p:txBody>
          <a:bodyPr/>
          <a:lstStyle/>
          <a:p>
            <a:fld id="{7A0D5CAB-8BF0-4EA3-BAE4-9835C852A49B}" type="slidenum">
              <a:rPr lang="en-GB" smtClean="0"/>
              <a:pPr/>
              <a:t>5</a:t>
            </a:fld>
            <a:endParaRPr lang="en-GB" dirty="0"/>
          </a:p>
        </p:txBody>
      </p:sp>
    </p:spTree>
    <p:extLst>
      <p:ext uri="{BB962C8B-B14F-4D97-AF65-F5344CB8AC3E}">
        <p14:creationId xmlns:p14="http://schemas.microsoft.com/office/powerpoint/2010/main" val="358955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1176"/>
            <a:ext cx="8229600" cy="884238"/>
          </a:xfrm>
        </p:spPr>
        <p:txBody>
          <a:bodyPr/>
          <a:lstStyle/>
          <a:p>
            <a:r>
              <a:rPr lang="en-US" dirty="0"/>
              <a:t>Lag Compensation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76200" y="914400"/>
                <a:ext cx="8915400" cy="5562600"/>
              </a:xfrm>
            </p:spPr>
            <p:txBody>
              <a:bodyPr>
                <a:normAutofit/>
              </a:bodyPr>
              <a:lstStyle/>
              <a:p>
                <a:pPr algn="just"/>
                <a:r>
                  <a:rPr lang="en-US" sz="2400" dirty="0"/>
                  <a:t>Consider a lag compensator </a:t>
                </a:r>
                <a:r>
                  <a:rPr lang="en-US" sz="2400" dirty="0" err="1">
                    <a:solidFill>
                      <a:srgbClr val="FF0000"/>
                    </a:solidFill>
                  </a:rPr>
                  <a:t>G</a:t>
                </a:r>
                <a:r>
                  <a:rPr lang="en-US" sz="2400" baseline="-25000" dirty="0" err="1">
                    <a:solidFill>
                      <a:srgbClr val="FF0000"/>
                    </a:solidFill>
                  </a:rPr>
                  <a:t>c</a:t>
                </a:r>
                <a:r>
                  <a:rPr lang="en-US" sz="2400" dirty="0">
                    <a:solidFill>
                      <a:srgbClr val="FF0000"/>
                    </a:solidFill>
                  </a:rPr>
                  <a:t>(s)</a:t>
                </a:r>
                <a:r>
                  <a:rPr lang="en-US" sz="2400" dirty="0"/>
                  <a:t>, where</a:t>
                </a:r>
              </a:p>
              <a:p>
                <a:pPr algn="just"/>
                <a:endParaRPr lang="en-US" sz="2400" dirty="0"/>
              </a:p>
              <a:p>
                <a:pPr algn="just"/>
                <a:endParaRPr lang="en-US" sz="2800" dirty="0"/>
              </a:p>
              <a:p>
                <a:pPr algn="just"/>
                <a:endParaRPr lang="en-US" sz="2800" dirty="0"/>
              </a:p>
              <a:p>
                <a:pPr algn="just"/>
                <a:r>
                  <a:rPr lang="en-US" sz="2400" dirty="0"/>
                  <a:t>If we place the zero and pole of the lag compensator very close to each other, then at </a:t>
                </a:r>
                <a:r>
                  <a:rPr lang="en-US" sz="2400" dirty="0">
                    <a:solidFill>
                      <a:srgbClr val="FF0000"/>
                    </a:solidFill>
                  </a:rPr>
                  <a:t>s=s</a:t>
                </a:r>
                <a:r>
                  <a:rPr lang="en-US" sz="2400" baseline="-25000" dirty="0">
                    <a:solidFill>
                      <a:srgbClr val="FF0000"/>
                    </a:solidFill>
                  </a:rPr>
                  <a:t>1</a:t>
                </a:r>
                <a:r>
                  <a:rPr lang="en-US" sz="2400" dirty="0"/>
                  <a:t> (where </a:t>
                </a:r>
                <a:r>
                  <a:rPr lang="en-US" sz="2400" dirty="0">
                    <a:solidFill>
                      <a:srgbClr val="FF0000"/>
                    </a:solidFill>
                  </a:rPr>
                  <a:t>s</a:t>
                </a:r>
                <a:r>
                  <a:rPr lang="en-US" sz="2400" baseline="-25000" dirty="0">
                    <a:solidFill>
                      <a:srgbClr val="FF0000"/>
                    </a:solidFill>
                  </a:rPr>
                  <a:t>1 </a:t>
                </a:r>
                <a:r>
                  <a:rPr lang="en-US" sz="2400" dirty="0"/>
                  <a:t>is one of the dominant closed loop poles) then the magnitudes </a:t>
                </a:r>
                <a14:m>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𝑠</m:t>
                            </m:r>
                          </m:e>
                          <m:sub>
                            <m:r>
                              <a:rPr lang="en-US" sz="2400" i="1">
                                <a:latin typeface="Cambria Math"/>
                              </a:rPr>
                              <m:t>1</m:t>
                            </m:r>
                          </m:sub>
                        </m:sSub>
                        <m:r>
                          <a:rPr lang="en-US" sz="2400" i="1">
                            <a:latin typeface="Cambria Math"/>
                          </a:rPr>
                          <m:t>+</m:t>
                        </m:r>
                        <m:f>
                          <m:fPr>
                            <m:ctrlPr>
                              <a:rPr lang="en-US" sz="2400" i="1">
                                <a:latin typeface="Cambria Math" panose="02040503050406030204" pitchFamily="18" charset="0"/>
                              </a:rPr>
                            </m:ctrlPr>
                          </m:fPr>
                          <m:num>
                            <m:r>
                              <a:rPr lang="en-US" sz="2400" i="1">
                                <a:latin typeface="Cambria Math"/>
                              </a:rPr>
                              <m:t>1</m:t>
                            </m:r>
                          </m:num>
                          <m:den>
                            <m:r>
                              <a:rPr lang="en-US" sz="2400" i="1">
                                <a:latin typeface="Cambria Math"/>
                              </a:rPr>
                              <m:t>𝑇</m:t>
                            </m:r>
                          </m:den>
                        </m:f>
                      </m:e>
                    </m:d>
                  </m:oMath>
                </a14:m>
                <a:r>
                  <a:rPr lang="en-US" sz="2400" dirty="0"/>
                  <a:t> and </a:t>
                </a:r>
                <a14:m>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𝑠</m:t>
                            </m:r>
                          </m:e>
                          <m:sub>
                            <m:r>
                              <a:rPr lang="en-US" sz="2400" i="1">
                                <a:latin typeface="Cambria Math"/>
                              </a:rPr>
                              <m:t>1</m:t>
                            </m:r>
                          </m:sub>
                        </m:sSub>
                        <m:r>
                          <a:rPr lang="en-US" sz="2400" i="1">
                            <a:latin typeface="Cambria Math"/>
                          </a:rPr>
                          <m:t>+</m:t>
                        </m:r>
                        <m:f>
                          <m:fPr>
                            <m:ctrlPr>
                              <a:rPr lang="en-US" sz="2400" i="1">
                                <a:latin typeface="Cambria Math" panose="02040503050406030204" pitchFamily="18" charset="0"/>
                              </a:rPr>
                            </m:ctrlPr>
                          </m:fPr>
                          <m:num>
                            <m:r>
                              <a:rPr lang="en-US" sz="2400" i="1">
                                <a:latin typeface="Cambria Math"/>
                              </a:rPr>
                              <m:t>1</m:t>
                            </m:r>
                          </m:num>
                          <m:den>
                            <m:r>
                              <a:rPr lang="en-US" sz="2400" i="1" smtClean="0">
                                <a:latin typeface="Cambria Math"/>
                                <a:ea typeface="Cambria Math"/>
                              </a:rPr>
                              <m:t>𝛽</m:t>
                            </m:r>
                            <m:r>
                              <a:rPr lang="en-US" sz="2400" i="1">
                                <a:latin typeface="Cambria Math"/>
                              </a:rPr>
                              <m:t>𝑇</m:t>
                            </m:r>
                          </m:den>
                        </m:f>
                      </m:e>
                    </m:d>
                  </m:oMath>
                </a14:m>
                <a:r>
                  <a:rPr lang="en-US" sz="2400" dirty="0"/>
                  <a:t> are almost equal, or </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76200" y="914400"/>
                <a:ext cx="8915400" cy="5562600"/>
              </a:xfrm>
              <a:blipFill rotWithShape="1">
                <a:blip r:embed="rId3"/>
                <a:stretch>
                  <a:fillRect l="-958" t="-876" r="-18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600" y="1579010"/>
                <a:ext cx="4953000" cy="1087990"/>
              </a:xfrm>
              <a:prstGeom prst="rect">
                <a:avLst/>
              </a:prstGeom>
              <a:noFill/>
            </p:spPr>
            <p:txBody>
              <a:bodyPr wrap="square" rtlCol="0">
                <a:spAutoFit/>
              </a:bodyPr>
              <a:lstStyle/>
              <a:p>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a:rPr>
                          <m:t>𝐺</m:t>
                        </m:r>
                      </m:e>
                      <m:sub>
                        <m:r>
                          <a:rPr lang="en-US" sz="2800" b="0" i="1" smtClean="0">
                            <a:latin typeface="Cambria Math"/>
                          </a:rPr>
                          <m:t>𝑐</m:t>
                        </m:r>
                      </m:sub>
                    </m:sSub>
                    <m:d>
                      <m:dPr>
                        <m:ctrlPr>
                          <a:rPr lang="en-US" sz="2800" b="0" i="1" smtClean="0">
                            <a:latin typeface="Cambria Math" panose="02040503050406030204" pitchFamily="18" charset="0"/>
                          </a:rPr>
                        </m:ctrlPr>
                      </m:dPr>
                      <m:e>
                        <m:r>
                          <a:rPr lang="en-US" sz="2800" b="0" i="1" smtClean="0">
                            <a:latin typeface="Cambria Math"/>
                          </a:rPr>
                          <m:t>𝑠</m:t>
                        </m:r>
                      </m:e>
                    </m:d>
                    <m:r>
                      <a:rPr lang="en-US" sz="2800" b="0" i="1" smtClean="0">
                        <a:latin typeface="Cambria Math"/>
                      </a:rPr>
                      <m:t>=</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i="1">
                                <a:latin typeface="Cambria Math"/>
                              </a:rPr>
                              <m:t>𝐾</m:t>
                            </m:r>
                          </m:e>
                        </m:acc>
                      </m:e>
                      <m:sub>
                        <m:r>
                          <a:rPr lang="en-US" sz="2800" b="0" i="1" smtClean="0">
                            <a:latin typeface="Cambria Math"/>
                          </a:rPr>
                          <m:t>𝑐</m:t>
                        </m:r>
                      </m:sub>
                    </m:sSub>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𝑠</m:t>
                        </m:r>
                        <m:r>
                          <a:rPr lang="en-US" sz="2800" b="0" i="1" smtClean="0">
                            <a:latin typeface="Cambria Math"/>
                            <a:ea typeface="Cambria Math"/>
                          </a:rPr>
                          <m:t>+</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1</m:t>
                            </m:r>
                          </m:num>
                          <m:den>
                            <m:r>
                              <a:rPr lang="en-US" sz="2800" b="0" i="1" smtClean="0">
                                <a:latin typeface="Cambria Math"/>
                                <a:ea typeface="Cambria Math"/>
                              </a:rPr>
                              <m:t>𝑇</m:t>
                            </m:r>
                          </m:den>
                        </m:f>
                      </m:num>
                      <m:den>
                        <m:r>
                          <a:rPr lang="en-US" sz="2800" b="0" i="1" smtClean="0">
                            <a:latin typeface="Cambria Math"/>
                            <a:ea typeface="Cambria Math"/>
                          </a:rPr>
                          <m:t>𝑠</m:t>
                        </m:r>
                        <m:r>
                          <a:rPr lang="en-US" sz="2800" b="0" i="1" smtClean="0">
                            <a:latin typeface="Cambria Math"/>
                            <a:ea typeface="Cambria Math"/>
                          </a:rPr>
                          <m:t>+</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1</m:t>
                            </m:r>
                          </m:num>
                          <m:den>
                            <m:r>
                              <a:rPr lang="en-US" sz="2800" i="1" smtClean="0">
                                <a:latin typeface="Cambria Math"/>
                                <a:ea typeface="Cambria Math"/>
                              </a:rPr>
                              <m:t>𝛽</m:t>
                            </m:r>
                            <m:r>
                              <a:rPr lang="en-US" sz="2800" i="1">
                                <a:latin typeface="Cambria Math"/>
                                <a:ea typeface="Cambria Math"/>
                              </a:rPr>
                              <m:t>𝑇</m:t>
                            </m:r>
                          </m:den>
                        </m:f>
                      </m:den>
                    </m:f>
                  </m:oMath>
                </a14:m>
                <a:r>
                  <a:rPr lang="en-US" sz="2800" dirty="0"/>
                  <a:t> ,         (</a:t>
                </a:r>
                <a14:m>
                  <m:oMath xmlns:m="http://schemas.openxmlformats.org/officeDocument/2006/math">
                    <m:r>
                      <m:rPr>
                        <m:sty m:val="p"/>
                      </m:rPr>
                      <a:rPr lang="el-GR" sz="2800" i="1">
                        <a:latin typeface="Cambria Math"/>
                        <a:ea typeface="Cambria Math"/>
                      </a:rPr>
                      <m:t>β</m:t>
                    </m:r>
                    <m:r>
                      <a:rPr lang="en-US" sz="2800" i="1">
                        <a:latin typeface="Cambria Math"/>
                        <a:ea typeface="Cambria Math"/>
                      </a:rPr>
                      <m:t>&gt;1</m:t>
                    </m:r>
                  </m:oMath>
                </a14:m>
                <a:r>
                  <a:rPr lang="en-US" sz="28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752600" y="1579010"/>
                <a:ext cx="4953000" cy="1087990"/>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514600" y="4680983"/>
                <a:ext cx="4267200" cy="15674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600" b="0" i="1" smtClean="0">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a:rPr>
                                <m:t>𝐺</m:t>
                              </m:r>
                            </m:e>
                            <m:sub>
                              <m:r>
                                <a:rPr lang="en-US" sz="2600" i="1">
                                  <a:latin typeface="Cambria Math"/>
                                </a:rPr>
                                <m:t>𝑐</m:t>
                              </m:r>
                            </m:sub>
                          </m:sSub>
                          <m:r>
                            <a:rPr lang="en-US" sz="2600" i="1">
                              <a:latin typeface="Cambria Math"/>
                            </a:rPr>
                            <m:t>(</m:t>
                          </m:r>
                          <m:sSub>
                            <m:sSubPr>
                              <m:ctrlPr>
                                <a:rPr lang="en-US" sz="2600" i="1" smtClean="0">
                                  <a:latin typeface="Cambria Math" panose="02040503050406030204" pitchFamily="18" charset="0"/>
                                </a:rPr>
                              </m:ctrlPr>
                            </m:sSubPr>
                            <m:e>
                              <m:r>
                                <a:rPr lang="en-US" sz="2600" b="0" i="1" smtClean="0">
                                  <a:latin typeface="Cambria Math"/>
                                </a:rPr>
                                <m:t>𝑠</m:t>
                              </m:r>
                            </m:e>
                            <m:sub>
                              <m:r>
                                <a:rPr lang="en-US" sz="2600" b="0" i="1" smtClean="0">
                                  <a:latin typeface="Cambria Math"/>
                                </a:rPr>
                                <m:t>1</m:t>
                              </m:r>
                            </m:sub>
                          </m:sSub>
                          <m:r>
                            <a:rPr lang="en-US" sz="2600" i="1">
                              <a:latin typeface="Cambria Math"/>
                            </a:rPr>
                            <m:t>)</m:t>
                          </m:r>
                        </m:e>
                      </m:d>
                      <m:r>
                        <a:rPr lang="en-US" sz="2600" b="0" i="1" smtClean="0">
                          <a:latin typeface="Cambria Math"/>
                        </a:rPr>
                        <m:t>=</m:t>
                      </m:r>
                      <m:d>
                        <m:dPr>
                          <m:begChr m:val="|"/>
                          <m:endChr m:val="|"/>
                          <m:ctrlPr>
                            <a:rPr lang="en-US" sz="2600" b="0" i="1" smtClean="0">
                              <a:latin typeface="Cambria Math" panose="02040503050406030204" pitchFamily="18" charset="0"/>
                            </a:rPr>
                          </m:ctrlPr>
                        </m:dPr>
                        <m:e>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f>
                            <m:fPr>
                              <m:ctrlPr>
                                <a:rPr lang="en-US" sz="2600" i="1">
                                  <a:latin typeface="Cambria Math" panose="02040503050406030204" pitchFamily="18" charset="0"/>
                                  <a:ea typeface="Cambria Math"/>
                                </a:rPr>
                              </m:ctrlPr>
                            </m:fPr>
                            <m:num>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𝑇</m:t>
                                  </m:r>
                                </m:den>
                              </m:f>
                            </m:num>
                            <m:den>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𝛽</m:t>
                                  </m:r>
                                  <m:r>
                                    <a:rPr lang="en-US" sz="2600" i="1">
                                      <a:latin typeface="Cambria Math"/>
                                      <a:ea typeface="Cambria Math"/>
                                    </a:rPr>
                                    <m:t>𝑇</m:t>
                                  </m:r>
                                </m:den>
                              </m:f>
                            </m:den>
                          </m:f>
                        </m:e>
                      </m:d>
                      <m:r>
                        <a:rPr lang="en-US" sz="2600" b="0" i="1" smtClean="0">
                          <a:latin typeface="Cambria Math"/>
                          <a:ea typeface="Cambria Math"/>
                        </a:rPr>
                        <m:t>≅</m:t>
                      </m:r>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2514600" y="4680983"/>
                <a:ext cx="4267200" cy="1567417"/>
              </a:xfrm>
              <a:prstGeom prst="rect">
                <a:avLst/>
              </a:prstGeom>
              <a:blipFill rotWithShape="1">
                <a:blip r:embed="rId5"/>
                <a:stretch>
                  <a:fillRect r="-2000"/>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6</a:t>
            </a:fld>
            <a:endParaRPr lang="en-GB" dirty="0"/>
          </a:p>
        </p:txBody>
      </p:sp>
    </p:spTree>
    <p:extLst>
      <p:ext uri="{BB962C8B-B14F-4D97-AF65-F5344CB8AC3E}">
        <p14:creationId xmlns:p14="http://schemas.microsoft.com/office/powerpoint/2010/main" val="308823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ppt_x"/>
                                          </p:val>
                                        </p:tav>
                                        <p:tav tm="100000">
                                          <p:val>
                                            <p:strVal val="#ppt_x"/>
                                          </p:val>
                                        </p:tav>
                                      </p:tavLst>
                                    </p:anim>
                                    <p:anim calcmode="lin" valueType="num">
                                      <p:cBhvr additive="base">
                                        <p:cTn id="1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1176"/>
            <a:ext cx="8229600" cy="884238"/>
          </a:xfrm>
        </p:spPr>
        <p:txBody>
          <a:bodyPr/>
          <a:lstStyle/>
          <a:p>
            <a:r>
              <a:rPr lang="en-US" dirty="0"/>
              <a:t>Lag Compensation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76200" y="914400"/>
                <a:ext cx="8915400" cy="5562600"/>
              </a:xfrm>
            </p:spPr>
            <p:txBody>
              <a:bodyPr>
                <a:normAutofit/>
              </a:bodyPr>
              <a:lstStyle/>
              <a:p>
                <a:pPr algn="just"/>
                <a:r>
                  <a:rPr lang="en-US" sz="2400" dirty="0"/>
                  <a:t>To make the angle contribution of the lag portion of the compensator small, we require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This implies that if gain </a:t>
                </a:r>
                <a14:m>
                  <m:oMath xmlns:m="http://schemas.openxmlformats.org/officeDocument/2006/math">
                    <m:sSub>
                      <m:sSubPr>
                        <m:ctrlPr>
                          <a:rPr lang="en-US" sz="2400" i="1" smtClean="0">
                            <a:solidFill>
                              <a:srgbClr val="FF0000"/>
                            </a:solidFill>
                            <a:latin typeface="Cambria Math" panose="02040503050406030204" pitchFamily="18" charset="0"/>
                          </a:rPr>
                        </m:ctrlPr>
                      </m:sSubPr>
                      <m:e>
                        <m:acc>
                          <m:accPr>
                            <m:chr m:val="̂"/>
                            <m:ctrlPr>
                              <a:rPr lang="en-US" sz="2400" i="1">
                                <a:solidFill>
                                  <a:srgbClr val="FF0000"/>
                                </a:solidFill>
                                <a:latin typeface="Cambria Math" panose="02040503050406030204" pitchFamily="18" charset="0"/>
                              </a:rPr>
                            </m:ctrlPr>
                          </m:accPr>
                          <m:e>
                            <m:r>
                              <a:rPr lang="en-US" sz="2400" i="1">
                                <a:solidFill>
                                  <a:srgbClr val="FF0000"/>
                                </a:solidFill>
                                <a:latin typeface="Cambria Math"/>
                              </a:rPr>
                              <m:t>𝐾</m:t>
                            </m:r>
                          </m:e>
                        </m:acc>
                      </m:e>
                      <m:sub>
                        <m:r>
                          <a:rPr lang="en-US" sz="2400" i="1">
                            <a:solidFill>
                              <a:srgbClr val="FF0000"/>
                            </a:solidFill>
                            <a:latin typeface="Cambria Math"/>
                          </a:rPr>
                          <m:t>𝑐</m:t>
                        </m:r>
                      </m:sub>
                    </m:sSub>
                  </m:oMath>
                </a14:m>
                <a:r>
                  <a:rPr lang="en-US" sz="2400" dirty="0"/>
                  <a:t> of the lag compensator is set equal to </a:t>
                </a:r>
                <a:r>
                  <a:rPr lang="en-US" sz="2400" dirty="0">
                    <a:solidFill>
                      <a:srgbClr val="FF0000"/>
                    </a:solidFill>
                  </a:rPr>
                  <a:t>1</a:t>
                </a:r>
                <a:r>
                  <a:rPr lang="en-US" sz="2400" dirty="0"/>
                  <a:t>, the alteration in the transient-response characteristics will be very small, despite the fact that the overall gain of the open-loop transfer function is increased by a factor of </a:t>
                </a:r>
                <a14:m>
                  <m:oMath xmlns:m="http://schemas.openxmlformats.org/officeDocument/2006/math">
                    <m:r>
                      <a:rPr lang="en-US" sz="2400" i="1" dirty="0" smtClean="0">
                        <a:solidFill>
                          <a:srgbClr val="FF0000"/>
                        </a:solidFill>
                        <a:latin typeface="Cambria Math"/>
                        <a:ea typeface="Cambria Math"/>
                      </a:rPr>
                      <m:t>𝛽</m:t>
                    </m:r>
                  </m:oMath>
                </a14:m>
                <a:r>
                  <a:rPr lang="en-US" sz="2400" dirty="0"/>
                  <a:t>, where </a:t>
                </a:r>
                <a14:m>
                  <m:oMath xmlns:m="http://schemas.openxmlformats.org/officeDocument/2006/math">
                    <m:r>
                      <a:rPr lang="en-US" sz="2400" i="1" dirty="0" smtClean="0">
                        <a:solidFill>
                          <a:srgbClr val="FF0000"/>
                        </a:solidFill>
                        <a:latin typeface="Cambria Math"/>
                        <a:ea typeface="Cambria Math"/>
                      </a:rPr>
                      <m:t>𝛽</m:t>
                    </m:r>
                  </m:oMath>
                </a14:m>
                <a:r>
                  <a:rPr lang="en-US" sz="2400" dirty="0">
                    <a:solidFill>
                      <a:srgbClr val="FF0000"/>
                    </a:solidFill>
                  </a:rPr>
                  <a:t>&gt;1</a:t>
                </a:r>
                <a:r>
                  <a:rPr lang="en-US" sz="2400" dirty="0"/>
                  <a: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76200" y="914400"/>
                <a:ext cx="8915400" cy="5562600"/>
              </a:xfrm>
              <a:blipFill rotWithShape="1">
                <a:blip r:embed="rId3"/>
                <a:stretch>
                  <a:fillRect l="-958" t="-876" r="-18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438400" y="1981200"/>
                <a:ext cx="4267200" cy="15869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600" b="0" i="1" smtClean="0">
                              <a:latin typeface="Cambria Math" panose="02040503050406030204" pitchFamily="18" charset="0"/>
                            </a:rPr>
                          </m:ctrlPr>
                        </m:sSupPr>
                        <m:e>
                          <m:r>
                            <a:rPr lang="en-US" sz="2600" b="0" i="1" smtClean="0">
                              <a:latin typeface="Cambria Math"/>
                            </a:rPr>
                            <m:t>−5</m:t>
                          </m:r>
                        </m:e>
                        <m:sup>
                          <m:r>
                            <a:rPr lang="en-US" sz="2600" b="0" i="1" smtClean="0">
                              <a:latin typeface="Cambria Math"/>
                              <a:ea typeface="Cambria Math"/>
                            </a:rPr>
                            <m:t>°</m:t>
                          </m:r>
                        </m:sup>
                      </m:sSup>
                      <m:r>
                        <a:rPr lang="en-US" sz="2600" b="0" i="1" smtClean="0">
                          <a:solidFill>
                            <a:srgbClr val="FF0000"/>
                          </a:solidFill>
                          <a:latin typeface="Cambria Math"/>
                        </a:rPr>
                        <m:t>&lt;</m:t>
                      </m:r>
                      <m:r>
                        <a:rPr lang="en-US" sz="2600" b="0" i="1" smtClean="0">
                          <a:latin typeface="Cambria Math"/>
                        </a:rPr>
                        <m:t>𝑎𝑛𝑔𝑙𝑒</m:t>
                      </m:r>
                      <m:d>
                        <m:dPr>
                          <m:ctrlPr>
                            <a:rPr lang="en-US" sz="2600" b="0" i="1" smtClean="0">
                              <a:latin typeface="Cambria Math" panose="02040503050406030204" pitchFamily="18" charset="0"/>
                            </a:rPr>
                          </m:ctrlPr>
                        </m:dPr>
                        <m:e>
                          <m:f>
                            <m:fPr>
                              <m:ctrlPr>
                                <a:rPr lang="en-US" sz="2600" i="1">
                                  <a:latin typeface="Cambria Math" panose="02040503050406030204" pitchFamily="18" charset="0"/>
                                  <a:ea typeface="Cambria Math"/>
                                </a:rPr>
                              </m:ctrlPr>
                            </m:fPr>
                            <m:num>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𝑇</m:t>
                                  </m:r>
                                </m:den>
                              </m:f>
                            </m:num>
                            <m:den>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𝛽</m:t>
                                  </m:r>
                                  <m:r>
                                    <a:rPr lang="en-US" sz="2600" i="1">
                                      <a:latin typeface="Cambria Math"/>
                                      <a:ea typeface="Cambria Math"/>
                                    </a:rPr>
                                    <m:t>𝑇</m:t>
                                  </m:r>
                                </m:den>
                              </m:f>
                            </m:den>
                          </m:f>
                        </m:e>
                      </m:d>
                      <m:r>
                        <a:rPr lang="en-US" sz="2600" b="0" i="1" smtClean="0">
                          <a:solidFill>
                            <a:srgbClr val="FF0000"/>
                          </a:solidFill>
                          <a:latin typeface="Cambria Math"/>
                          <a:ea typeface="Cambria Math"/>
                        </a:rPr>
                        <m:t>&lt;</m:t>
                      </m:r>
                      <m:sSup>
                        <m:sSupPr>
                          <m:ctrlPr>
                            <a:rPr lang="en-US" sz="2600" i="1">
                              <a:latin typeface="Cambria Math" panose="02040503050406030204" pitchFamily="18" charset="0"/>
                            </a:rPr>
                          </m:ctrlPr>
                        </m:sSupPr>
                        <m:e>
                          <m:r>
                            <a:rPr lang="en-US" sz="2600" b="0" i="1" smtClean="0">
                              <a:latin typeface="Cambria Math"/>
                            </a:rPr>
                            <m:t>0</m:t>
                          </m:r>
                        </m:e>
                        <m:sup>
                          <m:r>
                            <a:rPr lang="en-US" sz="2600" i="1">
                              <a:latin typeface="Cambria Math"/>
                              <a:ea typeface="Cambria Math"/>
                            </a:rPr>
                            <m:t>°</m:t>
                          </m:r>
                        </m:sup>
                      </m:sSup>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2438400" y="1981200"/>
                <a:ext cx="4267200" cy="1586909"/>
              </a:xfrm>
              <a:prstGeom prst="rect">
                <a:avLst/>
              </a:prstGeom>
              <a:blipFill rotWithShape="0">
                <a:blip r:embed="rId4"/>
                <a:stretch>
                  <a:fillRect/>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7</a:t>
            </a:fld>
            <a:endParaRPr lang="en-GB" dirty="0"/>
          </a:p>
        </p:txBody>
      </p:sp>
    </p:spTree>
    <p:extLst>
      <p:ext uri="{BB962C8B-B14F-4D97-AF65-F5344CB8AC3E}">
        <p14:creationId xmlns:p14="http://schemas.microsoft.com/office/powerpoint/2010/main" val="1024899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1176"/>
            <a:ext cx="8229600" cy="884238"/>
          </a:xfrm>
        </p:spPr>
        <p:txBody>
          <a:bodyPr/>
          <a:lstStyle/>
          <a:p>
            <a:r>
              <a:rPr lang="en-US" dirty="0"/>
              <a:t>Lag Compensation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76200" y="914400"/>
                <a:ext cx="8915400" cy="5562600"/>
              </a:xfrm>
            </p:spPr>
            <p:txBody>
              <a:bodyPr>
                <a:normAutofit/>
              </a:bodyPr>
              <a:lstStyle/>
              <a:p>
                <a:pPr algn="just"/>
                <a:r>
                  <a:rPr lang="en-US" sz="2400" dirty="0"/>
                  <a:t>If the pole and zero are placed very close to the origin, then the value of </a:t>
                </a:r>
                <a14:m>
                  <m:oMath xmlns:m="http://schemas.openxmlformats.org/officeDocument/2006/math">
                    <m:r>
                      <a:rPr lang="en-US" sz="2400" i="1" smtClean="0">
                        <a:solidFill>
                          <a:srgbClr val="FF0000"/>
                        </a:solidFill>
                        <a:latin typeface="Cambria Math"/>
                        <a:ea typeface="Cambria Math"/>
                      </a:rPr>
                      <m:t>𝛽</m:t>
                    </m:r>
                    <m:r>
                      <a:rPr lang="en-US" sz="2400" b="0" i="1" smtClean="0">
                        <a:latin typeface="Cambria Math"/>
                        <a:ea typeface="Cambria Math"/>
                      </a:rPr>
                      <m:t> </m:t>
                    </m:r>
                  </m:oMath>
                </a14:m>
                <a:r>
                  <a:rPr lang="en-US" sz="2400" dirty="0"/>
                  <a:t>can be made large.</a:t>
                </a:r>
              </a:p>
              <a:p>
                <a:pPr algn="just"/>
                <a:endParaRPr lang="en-US" sz="2400" dirty="0"/>
              </a:p>
              <a:p>
                <a:r>
                  <a:rPr lang="en-US" sz="2400" dirty="0"/>
                  <a:t>A large value of </a:t>
                </a:r>
                <a14:m>
                  <m:oMath xmlns:m="http://schemas.openxmlformats.org/officeDocument/2006/math">
                    <m:r>
                      <a:rPr lang="en-US" sz="2400" i="1">
                        <a:solidFill>
                          <a:srgbClr val="FF0000"/>
                        </a:solidFill>
                        <a:latin typeface="Cambria Math"/>
                        <a:ea typeface="Cambria Math"/>
                      </a:rPr>
                      <m:t>𝛽</m:t>
                    </m:r>
                  </m:oMath>
                </a14:m>
                <a:r>
                  <a:rPr lang="en-US" sz="2400" dirty="0"/>
                  <a:t> may be used, provided physical realization of the lag compensator is possible.</a:t>
                </a:r>
              </a:p>
              <a:p>
                <a:endParaRPr lang="en-US" sz="2400" dirty="0"/>
              </a:p>
              <a:p>
                <a:pPr algn="just"/>
                <a:r>
                  <a:rPr lang="en-US" sz="2400" dirty="0"/>
                  <a:t>It is noted that the value of </a:t>
                </a:r>
                <a:r>
                  <a:rPr lang="en-US" sz="2400" dirty="0">
                    <a:solidFill>
                      <a:srgbClr val="FF0000"/>
                    </a:solidFill>
                  </a:rPr>
                  <a:t>T</a:t>
                </a:r>
                <a:r>
                  <a:rPr lang="en-US" sz="2400" dirty="0"/>
                  <a:t> must be large, but its exact value is not critical. </a:t>
                </a:r>
              </a:p>
              <a:p>
                <a:pPr algn="just"/>
                <a:endParaRPr lang="en-US" sz="2400" dirty="0"/>
              </a:p>
              <a:p>
                <a:pPr algn="just"/>
                <a:r>
                  <a:rPr lang="en-US" sz="2400" dirty="0"/>
                  <a:t>However, it should not be too large in order to avoid difficulties in realizing the phase-lag compensator by physical components.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76200" y="914400"/>
                <a:ext cx="8915400" cy="5562600"/>
              </a:xfrm>
              <a:blipFill rotWithShape="1">
                <a:blip r:embed="rId3"/>
                <a:stretch>
                  <a:fillRect l="-958" t="-876" r="-1847"/>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8</a:t>
            </a:fld>
            <a:endParaRPr lang="en-GB" dirty="0"/>
          </a:p>
        </p:txBody>
      </p:sp>
    </p:spTree>
    <p:extLst>
      <p:ext uri="{BB962C8B-B14F-4D97-AF65-F5344CB8AC3E}">
        <p14:creationId xmlns:p14="http://schemas.microsoft.com/office/powerpoint/2010/main" val="284370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7528"/>
            <a:ext cx="8229600" cy="706814"/>
          </a:xfrm>
        </p:spPr>
        <p:txBody>
          <a:bodyPr>
            <a:normAutofit fontScale="90000"/>
          </a:bodyPr>
          <a:lstStyle/>
          <a:p>
            <a:r>
              <a:rPr lang="en-US" dirty="0"/>
              <a:t>Lag Compensation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5688" y="709680"/>
                <a:ext cx="9073488" cy="5562600"/>
              </a:xfrm>
            </p:spPr>
            <p:txBody>
              <a:bodyPr>
                <a:normAutofit/>
              </a:bodyPr>
              <a:lstStyle/>
              <a:p>
                <a:pPr algn="just"/>
                <a:r>
                  <a:rPr lang="en-US" sz="2400" dirty="0"/>
                  <a:t>An increase in the gain means an increase in the static error constants. </a:t>
                </a:r>
              </a:p>
              <a:p>
                <a:pPr algn="just"/>
                <a:endParaRPr lang="en-US" sz="1000" dirty="0"/>
              </a:p>
              <a:p>
                <a:pPr algn="just"/>
                <a:r>
                  <a:rPr lang="en-US" sz="2400" dirty="0"/>
                  <a:t>If the open loop transfer function of the uncompensated system is </a:t>
                </a:r>
                <a:r>
                  <a:rPr lang="en-US" sz="2400" dirty="0">
                    <a:solidFill>
                      <a:srgbClr val="FF0000"/>
                    </a:solidFill>
                  </a:rPr>
                  <a:t>G(s)</a:t>
                </a:r>
                <a:r>
                  <a:rPr lang="en-US" sz="2400" dirty="0"/>
                  <a:t>, then the static velocity error constant </a:t>
                </a:r>
                <a:r>
                  <a:rPr lang="en-US" sz="2400" i="1" dirty="0" err="1">
                    <a:solidFill>
                      <a:srgbClr val="FF0000"/>
                    </a:solidFill>
                  </a:rPr>
                  <a:t>K</a:t>
                </a:r>
                <a:r>
                  <a:rPr lang="en-US" sz="2400" baseline="-25000" dirty="0" err="1">
                    <a:solidFill>
                      <a:srgbClr val="FF0000"/>
                    </a:solidFill>
                  </a:rPr>
                  <a:t>v</a:t>
                </a:r>
                <a:r>
                  <a:rPr lang="en-US" sz="2400" dirty="0"/>
                  <a:t> of the uncompensated system is</a:t>
                </a:r>
              </a:p>
              <a:p>
                <a:pPr algn="just"/>
                <a:endParaRPr lang="en-US" sz="2400" dirty="0"/>
              </a:p>
              <a:p>
                <a:pPr algn="just"/>
                <a:r>
                  <a:rPr lang="en-US" sz="2400" dirty="0"/>
                  <a:t>Then for the compensated system with the open-loop transfer function </a:t>
                </a:r>
                <a:r>
                  <a:rPr lang="en-US" sz="2400" dirty="0" err="1">
                    <a:solidFill>
                      <a:srgbClr val="FF0000"/>
                    </a:solidFill>
                  </a:rPr>
                  <a:t>G</a:t>
                </a:r>
                <a:r>
                  <a:rPr lang="en-US" sz="2400" baseline="-25000" dirty="0" err="1">
                    <a:solidFill>
                      <a:srgbClr val="FF0000"/>
                    </a:solidFill>
                  </a:rPr>
                  <a:t>c</a:t>
                </a:r>
                <a:r>
                  <a:rPr lang="en-US" sz="2400" dirty="0">
                    <a:solidFill>
                      <a:srgbClr val="FF0000"/>
                    </a:solidFill>
                  </a:rPr>
                  <a:t>(s)G(s)</a:t>
                </a:r>
                <a:r>
                  <a:rPr lang="en-US" sz="2400" dirty="0"/>
                  <a:t> the static velocity error constant </a:t>
                </a:r>
                <a14:m>
                  <m:oMath xmlns:m="http://schemas.openxmlformats.org/officeDocument/2006/math">
                    <m:sSub>
                      <m:sSubPr>
                        <m:ctrlPr>
                          <a:rPr lang="en-US" sz="2400" i="1">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i="1">
                                <a:latin typeface="Cambria Math"/>
                              </a:rPr>
                              <m:t>𝐾</m:t>
                            </m:r>
                          </m:e>
                        </m:acc>
                      </m:e>
                      <m:sub>
                        <m:r>
                          <a:rPr lang="en-US" sz="2400" i="1">
                            <a:latin typeface="Cambria Math"/>
                          </a:rPr>
                          <m:t>𝑣</m:t>
                        </m:r>
                      </m:sub>
                    </m:sSub>
                  </m:oMath>
                </a14:m>
                <a:r>
                  <a:rPr lang="en-US" sz="2400" dirty="0"/>
                  <a:t> becomes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5688" y="709680"/>
                <a:ext cx="9073488" cy="5562600"/>
              </a:xfrm>
              <a:blipFill rotWithShape="1">
                <a:blip r:embed="rId3"/>
                <a:stretch>
                  <a:fillRect l="-873" t="-876" r="-1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378282" y="2667000"/>
                <a:ext cx="2565318" cy="6536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𝐾</m:t>
                          </m:r>
                        </m:e>
                        <m:sub>
                          <m:r>
                            <a:rPr lang="en-US" sz="2800" b="0" i="1" smtClean="0">
                              <a:latin typeface="Cambria Math"/>
                            </a:rPr>
                            <m:t>𝑣</m:t>
                          </m:r>
                        </m:sub>
                      </m:sSub>
                      <m:r>
                        <a:rPr lang="en-US" sz="2800" b="0" i="1" smtClean="0">
                          <a:latin typeface="Cambria Math"/>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a:rPr>
                                <m:t>lim</m:t>
                              </m:r>
                            </m:e>
                            <m:lim>
                              <m:r>
                                <a:rPr lang="en-US" sz="2800" b="0" i="1" smtClean="0">
                                  <a:latin typeface="Cambria Math"/>
                                </a:rPr>
                                <m:t>𝑠</m:t>
                              </m:r>
                              <m:r>
                                <a:rPr lang="en-US" sz="2800" b="0" i="1" smtClean="0">
                                  <a:latin typeface="Cambria Math"/>
                                  <a:ea typeface="Cambria Math"/>
                                </a:rPr>
                                <m:t>→0</m:t>
                              </m:r>
                            </m:lim>
                          </m:limLow>
                        </m:fName>
                        <m:e>
                          <m:r>
                            <a:rPr lang="en-US" sz="2800" b="0" i="1" smtClean="0">
                              <a:latin typeface="Cambria Math"/>
                            </a:rPr>
                            <m:t>𝑠𝐺</m:t>
                          </m:r>
                          <m:r>
                            <a:rPr lang="en-US" sz="2800" b="0" i="1" smtClean="0">
                              <a:latin typeface="Cambria Math"/>
                            </a:rPr>
                            <m:t>(</m:t>
                          </m:r>
                          <m:r>
                            <a:rPr lang="en-US" sz="2800" b="0" i="1" smtClean="0">
                              <a:latin typeface="Cambria Math"/>
                            </a:rPr>
                            <m:t>𝑠</m:t>
                          </m:r>
                          <m:r>
                            <a:rPr lang="en-US" sz="2800" b="0" i="1" smtClean="0">
                              <a:latin typeface="Cambria Math"/>
                            </a:rPr>
                            <m:t>)</m:t>
                          </m:r>
                        </m:e>
                      </m:func>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3378282" y="2667000"/>
                <a:ext cx="2565318" cy="653640"/>
              </a:xfrm>
              <a:prstGeom prst="rect">
                <a:avLst/>
              </a:prstGeom>
              <a:blipFill rotWithShape="1">
                <a:blip r:embed="rId4"/>
                <a:stretch>
                  <a:fillRect t="-8411" r="-5938" b="-5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33600" y="4343400"/>
                <a:ext cx="5597623" cy="675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𝑣</m:t>
                          </m:r>
                        </m:sub>
                      </m:sSub>
                      <m:r>
                        <a:rPr lang="en-US" sz="2800" b="0" i="1" smtClean="0">
                          <a:latin typeface="Cambria Math"/>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a:rPr>
                                <m:t>lim</m:t>
                              </m:r>
                            </m:e>
                            <m:lim>
                              <m:r>
                                <a:rPr lang="en-US" sz="2800" b="0" i="1" smtClean="0">
                                  <a:latin typeface="Cambria Math"/>
                                </a:rPr>
                                <m:t>𝑠</m:t>
                              </m:r>
                              <m:r>
                                <a:rPr lang="en-US" sz="2800" b="0" i="1" smtClean="0">
                                  <a:latin typeface="Cambria Math"/>
                                  <a:ea typeface="Cambria Math"/>
                                </a:rPr>
                                <m:t>→0</m:t>
                              </m:r>
                            </m:lim>
                          </m:limLow>
                        </m:fName>
                        <m:e>
                          <m:r>
                            <a:rPr lang="en-US" sz="2800" b="0" i="1" smtClean="0">
                              <a:latin typeface="Cambria Math"/>
                            </a:rPr>
                            <m:t>𝑠</m:t>
                          </m:r>
                          <m:sSub>
                            <m:sSubPr>
                              <m:ctrlPr>
                                <a:rPr lang="en-US" sz="2800" b="0" i="1" smtClean="0">
                                  <a:latin typeface="Cambria Math" panose="02040503050406030204" pitchFamily="18" charset="0"/>
                                </a:rPr>
                              </m:ctrlPr>
                            </m:sSubPr>
                            <m:e>
                              <m:r>
                                <a:rPr lang="en-US" sz="2800" b="0" i="1" smtClean="0">
                                  <a:latin typeface="Cambria Math"/>
                                </a:rPr>
                                <m:t>𝐺</m:t>
                              </m:r>
                            </m:e>
                            <m:sub>
                              <m:r>
                                <a:rPr lang="en-US" sz="2800" b="0" i="1" smtClean="0">
                                  <a:latin typeface="Cambria Math"/>
                                </a:rPr>
                                <m:t>𝑐</m:t>
                              </m:r>
                            </m:sub>
                          </m:sSub>
                          <m:d>
                            <m:dPr>
                              <m:ctrlPr>
                                <a:rPr lang="en-US" sz="2800" b="0" i="1" smtClean="0">
                                  <a:latin typeface="Cambria Math" panose="02040503050406030204" pitchFamily="18" charset="0"/>
                                </a:rPr>
                              </m:ctrlPr>
                            </m:dPr>
                            <m:e>
                              <m:r>
                                <a:rPr lang="en-US" sz="2800" b="0" i="1" smtClean="0">
                                  <a:latin typeface="Cambria Math"/>
                                </a:rPr>
                                <m:t>𝑠</m:t>
                              </m:r>
                            </m:e>
                          </m:d>
                          <m:r>
                            <a:rPr lang="en-US" sz="2800" b="0" i="1" smtClean="0">
                              <a:latin typeface="Cambria Math"/>
                            </a:rPr>
                            <m:t>𝐺</m:t>
                          </m:r>
                          <m:r>
                            <a:rPr lang="en-US" sz="2800" b="0" i="1" smtClean="0">
                              <a:latin typeface="Cambria Math"/>
                            </a:rPr>
                            <m:t>(</m:t>
                          </m:r>
                          <m:r>
                            <a:rPr lang="en-US" sz="2800" b="0" i="1" smtClean="0">
                              <a:latin typeface="Cambria Math"/>
                            </a:rPr>
                            <m:t>𝑠</m:t>
                          </m:r>
                          <m:r>
                            <a:rPr lang="en-US" sz="2800" b="0" i="1" smtClean="0">
                              <a:latin typeface="Cambria Math"/>
                            </a:rPr>
                            <m:t>)</m:t>
                          </m:r>
                        </m:e>
                      </m:func>
                      <m:r>
                        <a:rPr lang="en-US" sz="2800" b="0" i="1" smtClean="0">
                          <a:latin typeface="Cambria Math"/>
                        </a:rPr>
                        <m:t>=</m:t>
                      </m:r>
                      <m:sSub>
                        <m:sSubPr>
                          <m:ctrlPr>
                            <a:rPr lang="en-US" sz="2800" i="1">
                              <a:latin typeface="Cambria Math" panose="02040503050406030204" pitchFamily="18" charset="0"/>
                            </a:rPr>
                          </m:ctrlPr>
                        </m:sSubPr>
                        <m:e>
                          <m:r>
                            <a:rPr lang="en-US" sz="2800" i="1">
                              <a:latin typeface="Cambria Math"/>
                            </a:rPr>
                            <m:t>𝐾</m:t>
                          </m:r>
                        </m:e>
                        <m:sub>
                          <m:r>
                            <a:rPr lang="en-US" sz="2800" i="1">
                              <a:latin typeface="Cambria Math"/>
                            </a:rPr>
                            <m:t>𝑣</m:t>
                          </m:r>
                        </m:sub>
                      </m:sSub>
                      <m:limLow>
                        <m:limLowPr>
                          <m:ctrlPr>
                            <a:rPr lang="en-US" sz="2800" i="1">
                              <a:latin typeface="Cambria Math" panose="02040503050406030204" pitchFamily="18" charset="0"/>
                            </a:rPr>
                          </m:ctrlPr>
                        </m:limLowPr>
                        <m:e>
                          <m:r>
                            <m:rPr>
                              <m:sty m:val="p"/>
                            </m:rPr>
                            <a:rPr lang="en-US" sz="2800">
                              <a:latin typeface="Cambria Math"/>
                            </a:rPr>
                            <m:t>lim</m:t>
                          </m:r>
                        </m:e>
                        <m:lim>
                          <m:r>
                            <a:rPr lang="en-US" sz="2800" i="1">
                              <a:latin typeface="Cambria Math"/>
                            </a:rPr>
                            <m:t>𝑠</m:t>
                          </m:r>
                          <m:r>
                            <a:rPr lang="en-US" sz="2800" i="1">
                              <a:latin typeface="Cambria Math"/>
                              <a:ea typeface="Cambria Math"/>
                            </a:rPr>
                            <m:t>→0</m:t>
                          </m:r>
                        </m:lim>
                      </m:limLow>
                      <m:sSub>
                        <m:sSubPr>
                          <m:ctrlPr>
                            <a:rPr lang="en-US" sz="2800" i="1">
                              <a:latin typeface="Cambria Math" panose="02040503050406030204" pitchFamily="18" charset="0"/>
                            </a:rPr>
                          </m:ctrlPr>
                        </m:sSubPr>
                        <m:e>
                          <m:r>
                            <a:rPr lang="en-US" sz="2800" i="1">
                              <a:latin typeface="Cambria Math"/>
                            </a:rPr>
                            <m:t>𝐺</m:t>
                          </m:r>
                        </m:e>
                        <m:sub>
                          <m:r>
                            <a:rPr lang="en-US" sz="2800" i="1">
                              <a:latin typeface="Cambria Math"/>
                            </a:rPr>
                            <m:t>𝑐</m:t>
                          </m:r>
                        </m:sub>
                      </m:sSub>
                      <m:d>
                        <m:dPr>
                          <m:ctrlPr>
                            <a:rPr lang="en-US" sz="2800" i="1">
                              <a:latin typeface="Cambria Math" panose="02040503050406030204" pitchFamily="18" charset="0"/>
                            </a:rPr>
                          </m:ctrlPr>
                        </m:dPr>
                        <m:e>
                          <m:r>
                            <a:rPr lang="en-US" sz="2800" i="1">
                              <a:latin typeface="Cambria Math"/>
                            </a:rPr>
                            <m:t>𝑠</m:t>
                          </m:r>
                        </m:e>
                      </m:d>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133600" y="4343400"/>
                <a:ext cx="5597623" cy="675121"/>
              </a:xfrm>
              <a:prstGeom prst="rect">
                <a:avLst/>
              </a:prstGeom>
              <a:blipFill rotWithShape="1">
                <a:blip r:embed="rId5"/>
                <a:stretch>
                  <a:fillRect t="-4545" r="-2397" b="-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127237" y="5181600"/>
                <a:ext cx="4619470" cy="14957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limLow>
                        <m:limLowPr>
                          <m:ctrlPr>
                            <a:rPr lang="en-US" sz="2600" i="1">
                              <a:latin typeface="Cambria Math" panose="02040503050406030204" pitchFamily="18" charset="0"/>
                            </a:rPr>
                          </m:ctrlPr>
                        </m:limLowPr>
                        <m:e>
                          <m:r>
                            <m:rPr>
                              <m:sty m:val="p"/>
                            </m:rPr>
                            <a:rPr lang="en-US" sz="2600">
                              <a:latin typeface="Cambria Math"/>
                            </a:rPr>
                            <m:t>lim</m:t>
                          </m:r>
                        </m:e>
                        <m:lim>
                          <m:r>
                            <a:rPr lang="en-US" sz="2600" i="1">
                              <a:latin typeface="Cambria Math"/>
                            </a:rPr>
                            <m:t>𝑠</m:t>
                          </m:r>
                          <m:r>
                            <a:rPr lang="en-US" sz="2600" i="1">
                              <a:latin typeface="Cambria Math"/>
                              <a:ea typeface="Cambria Math"/>
                            </a:rPr>
                            <m:t>→0</m:t>
                          </m:r>
                        </m:lim>
                      </m:limLow>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f>
                        <m:fPr>
                          <m:ctrlPr>
                            <a:rPr lang="en-US" sz="2600" i="1">
                              <a:latin typeface="Cambria Math" panose="02040503050406030204" pitchFamily="18" charset="0"/>
                              <a:ea typeface="Cambria Math"/>
                            </a:rPr>
                          </m:ctrlPr>
                        </m:fPr>
                        <m:num>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𝑇</m:t>
                              </m:r>
                            </m:den>
                          </m:f>
                        </m:num>
                        <m:den>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𝛽</m:t>
                              </m:r>
                              <m:r>
                                <a:rPr lang="en-US" sz="2600" i="1">
                                  <a:latin typeface="Cambria Math"/>
                                  <a:ea typeface="Cambria Math"/>
                                </a:rPr>
                                <m:t>𝑇</m:t>
                              </m:r>
                            </m:den>
                          </m:f>
                        </m:den>
                      </m:f>
                      <m:r>
                        <a:rPr lang="en-US" sz="2600" b="0" i="1" smtClean="0">
                          <a:latin typeface="Cambria Math"/>
                          <a:ea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r>
                        <a:rPr lang="en-US" sz="2600" i="1" smtClean="0">
                          <a:latin typeface="Cambria Math"/>
                          <a:ea typeface="Cambria Math"/>
                        </a:rPr>
                        <m:t>𝛽</m:t>
                      </m:r>
                    </m:oMath>
                  </m:oMathPara>
                </a14:m>
                <a:endParaRPr lang="en-US" sz="2600" dirty="0"/>
              </a:p>
            </p:txBody>
          </p:sp>
        </mc:Choice>
        <mc:Fallback xmlns="">
          <p:sp>
            <p:nvSpPr>
              <p:cNvPr id="7" name="TextBox 6"/>
              <p:cNvSpPr txBox="1">
                <a:spLocks noRot="1" noChangeAspect="1" noMove="1" noResize="1" noEditPoints="1" noAdjustHandles="1" noChangeArrowheads="1" noChangeShapeType="1" noTextEdit="1"/>
              </p:cNvSpPr>
              <p:nvPr/>
            </p:nvSpPr>
            <p:spPr>
              <a:xfrm>
                <a:off x="2127237" y="5181600"/>
                <a:ext cx="4619470" cy="1495794"/>
              </a:xfrm>
              <a:prstGeom prst="rect">
                <a:avLst/>
              </a:prstGeom>
              <a:blipFill rotWithShape="1">
                <a:blip r:embed="rId6"/>
                <a:stretch>
                  <a:fillRect r="-2639"/>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9</a:t>
            </a:fld>
            <a:endParaRPr lang="en-GB" dirty="0"/>
          </a:p>
        </p:txBody>
      </p:sp>
    </p:spTree>
    <p:extLst>
      <p:ext uri="{BB962C8B-B14F-4D97-AF65-F5344CB8AC3E}">
        <p14:creationId xmlns:p14="http://schemas.microsoft.com/office/powerpoint/2010/main" val="360564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46712"/>
            <a:ext cx="8229600" cy="953072"/>
          </a:xfrm>
        </p:spPr>
        <p:txBody>
          <a:bodyPr>
            <a:normAutofit/>
          </a:bodyPr>
          <a:lstStyle/>
          <a:p>
            <a:r>
              <a:rPr lang="en-US" dirty="0"/>
              <a:t>Lag Compensation</a:t>
            </a:r>
          </a:p>
        </p:txBody>
      </p:sp>
      <p:sp>
        <p:nvSpPr>
          <p:cNvPr id="4" name="Content Placeholder 3"/>
          <p:cNvSpPr>
            <a:spLocks noGrp="1"/>
          </p:cNvSpPr>
          <p:nvPr>
            <p:ph idx="1"/>
          </p:nvPr>
        </p:nvSpPr>
        <p:spPr>
          <a:xfrm>
            <a:off x="-5688" y="1219200"/>
            <a:ext cx="9073488" cy="5053080"/>
          </a:xfrm>
        </p:spPr>
        <p:txBody>
          <a:bodyPr>
            <a:normAutofit/>
          </a:bodyPr>
          <a:lstStyle/>
          <a:p>
            <a:pPr algn="just"/>
            <a:r>
              <a:rPr lang="en-US" sz="2800" dirty="0"/>
              <a:t>The main negative effect of the lag compensation is that the compensator zero that will be generated near the origin creates a closed-loop pole near the origin.</a:t>
            </a:r>
          </a:p>
          <a:p>
            <a:pPr algn="just"/>
            <a:endParaRPr lang="en-US" sz="2800" dirty="0"/>
          </a:p>
          <a:p>
            <a:pPr algn="just"/>
            <a:r>
              <a:rPr lang="en-US" sz="2800" dirty="0"/>
              <a:t>This closed loop pole and compensator zero will generate a long tail of small amplitude in the step response, thus increasing the settling time.</a:t>
            </a:r>
          </a:p>
        </p:txBody>
      </p:sp>
      <p:sp>
        <p:nvSpPr>
          <p:cNvPr id="2" name="Slide Number Placeholder 1"/>
          <p:cNvSpPr>
            <a:spLocks noGrp="1"/>
          </p:cNvSpPr>
          <p:nvPr>
            <p:ph type="sldNum" sz="quarter" idx="12"/>
          </p:nvPr>
        </p:nvSpPr>
        <p:spPr/>
        <p:txBody>
          <a:bodyPr/>
          <a:lstStyle/>
          <a:p>
            <a:fld id="{7A0D5CAB-8BF0-4EA3-BAE4-9835C852A49B}" type="slidenum">
              <a:rPr lang="en-GB" smtClean="0"/>
              <a:pPr/>
              <a:t>10</a:t>
            </a:fld>
            <a:endParaRPr lang="en-GB" dirty="0"/>
          </a:p>
        </p:txBody>
      </p:sp>
    </p:spTree>
    <p:extLst>
      <p:ext uri="{BB962C8B-B14F-4D97-AF65-F5344CB8AC3E}">
        <p14:creationId xmlns:p14="http://schemas.microsoft.com/office/powerpoint/2010/main" val="283523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762000"/>
          </a:xfrm>
        </p:spPr>
        <p:txBody>
          <a:bodyPr/>
          <a:lstStyle/>
          <a:p>
            <a:r>
              <a:rPr lang="en-US" dirty="0"/>
              <a:t>Electronic Lag Compensator</a:t>
            </a:r>
          </a:p>
        </p:txBody>
      </p:sp>
      <p:sp>
        <p:nvSpPr>
          <p:cNvPr id="416771" name="Rectangle 3"/>
          <p:cNvSpPr>
            <a:spLocks noGrp="1" noChangeArrowheads="1"/>
          </p:cNvSpPr>
          <p:nvPr>
            <p:ph idx="1"/>
          </p:nvPr>
        </p:nvSpPr>
        <p:spPr>
          <a:xfrm>
            <a:off x="152400" y="990600"/>
            <a:ext cx="8839200" cy="5486400"/>
          </a:xfrm>
        </p:spPr>
        <p:txBody>
          <a:bodyPr>
            <a:normAutofit/>
          </a:bodyPr>
          <a:lstStyle/>
          <a:p>
            <a:pPr algn="just"/>
            <a:r>
              <a:rPr lang="en-US" sz="2400" dirty="0"/>
              <a:t>The configuration of the electronic lag compensator using operational amplifiers is the same as that for the lead compensator shown in following figure.</a:t>
            </a:r>
            <a:endParaRPr lang="en-US" altLang="zh-CN" sz="2400" dirty="0">
              <a:ea typeface="宋体" pitchFamily="2" charset="-122"/>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3481" y="2057400"/>
            <a:ext cx="5400991" cy="2849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 name="TextBox 5"/>
              <p:cNvSpPr txBox="1"/>
              <p:nvPr/>
            </p:nvSpPr>
            <p:spPr>
              <a:xfrm>
                <a:off x="152400" y="2972986"/>
                <a:ext cx="3438209" cy="144661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𝐸</m:t>
                              </m:r>
                            </m:e>
                            <m:sub>
                              <m:r>
                                <a:rPr lang="en-US" sz="2400" b="0" i="1" smtClean="0">
                                  <a:latin typeface="Cambria Math"/>
                                </a:rPr>
                                <m:t>𝑜</m:t>
                              </m:r>
                            </m:sub>
                          </m:sSub>
                          <m:r>
                            <a:rPr lang="en-US" sz="2400" b="0" i="1" smtClean="0">
                              <a:latin typeface="Cambria Math"/>
                            </a:rPr>
                            <m:t>(</m:t>
                          </m:r>
                          <m:r>
                            <a:rPr lang="en-US" sz="2400" b="0" i="1" smtClean="0">
                              <a:latin typeface="Cambria Math"/>
                            </a:rPr>
                            <m:t>𝑠</m:t>
                          </m:r>
                          <m:r>
                            <a:rPr lang="en-US" sz="2400" b="0" i="1" smtClean="0">
                              <a:latin typeface="Cambria Math"/>
                            </a:rPr>
                            <m:t>)</m:t>
                          </m:r>
                        </m:num>
                        <m:den>
                          <m:sSub>
                            <m:sSubPr>
                              <m:ctrlPr>
                                <a:rPr lang="en-US" sz="2400" i="1">
                                  <a:latin typeface="Cambria Math" panose="02040503050406030204" pitchFamily="18" charset="0"/>
                                </a:rPr>
                              </m:ctrlPr>
                            </m:sSubPr>
                            <m:e>
                              <m:r>
                                <a:rPr lang="en-US" sz="2400" i="1">
                                  <a:latin typeface="Cambria Math"/>
                                </a:rPr>
                                <m:t>𝐸</m:t>
                              </m:r>
                            </m:e>
                            <m:sub>
                              <m:r>
                                <a:rPr lang="en-US" sz="2400" b="0" i="1" smtClean="0">
                                  <a:latin typeface="Cambria Math"/>
                                </a:rPr>
                                <m:t>𝑖</m:t>
                              </m:r>
                            </m:sub>
                          </m:sSub>
                          <m:r>
                            <a:rPr lang="en-US" sz="2400" i="1">
                              <a:latin typeface="Cambria Math"/>
                            </a:rPr>
                            <m:t>(</m:t>
                          </m:r>
                          <m:r>
                            <a:rPr lang="en-US" sz="2400" i="1">
                              <a:latin typeface="Cambria Math"/>
                            </a:rPr>
                            <m:t>𝑠</m:t>
                          </m:r>
                          <m:r>
                            <a:rPr lang="en-US" sz="2400" i="1">
                              <a:latin typeface="Cambria Math"/>
                            </a:rPr>
                            <m:t>)</m:t>
                          </m:r>
                        </m:den>
                      </m:f>
                      <m:r>
                        <a:rPr lang="en-US" sz="2400" b="0" i="1" smtClean="0">
                          <a:latin typeface="Cambria Math"/>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4</m:t>
                              </m:r>
                            </m:sub>
                          </m:sSub>
                          <m:sSub>
                            <m:sSubPr>
                              <m:ctrlPr>
                                <a:rPr lang="en-US" sz="2400" i="1">
                                  <a:latin typeface="Cambria Math" panose="02040503050406030204" pitchFamily="18" charset="0"/>
                                </a:rPr>
                              </m:ctrlPr>
                            </m:sSubPr>
                            <m:e>
                              <m:r>
                                <a:rPr lang="en-US" sz="2400" i="1">
                                  <a:latin typeface="Cambria Math"/>
                                </a:rPr>
                                <m:t>𝐶</m:t>
                              </m:r>
                            </m:e>
                            <m:sub>
                              <m:r>
                                <a:rPr lang="en-US" sz="2400" i="1">
                                  <a:latin typeface="Cambria Math"/>
                                </a:rPr>
                                <m:t>1</m:t>
                              </m:r>
                            </m:sub>
                          </m:sSub>
                        </m:num>
                        <m:den>
                          <m:sSub>
                            <m:sSubPr>
                              <m:ctrlPr>
                                <a:rPr lang="en-US" sz="2400" i="1">
                                  <a:latin typeface="Cambria Math" panose="02040503050406030204" pitchFamily="18" charset="0"/>
                                </a:rPr>
                              </m:ctrlPr>
                            </m:sSubPr>
                            <m:e>
                              <m:r>
                                <a:rPr lang="en-US" sz="2400" i="1">
                                  <a:latin typeface="Cambria Math"/>
                                </a:rPr>
                                <m:t>𝑅</m:t>
                              </m:r>
                            </m:e>
                            <m:sub>
                              <m:r>
                                <a:rPr lang="en-US" sz="2400" b="0" i="1" smtClean="0">
                                  <a:latin typeface="Cambria Math"/>
                                </a:rPr>
                                <m:t>3</m:t>
                              </m:r>
                            </m:sub>
                          </m:sSub>
                          <m:sSub>
                            <m:sSubPr>
                              <m:ctrlPr>
                                <a:rPr lang="en-US" sz="2400" i="1">
                                  <a:latin typeface="Cambria Math" panose="02040503050406030204" pitchFamily="18" charset="0"/>
                                </a:rPr>
                              </m:ctrlPr>
                            </m:sSubPr>
                            <m:e>
                              <m:r>
                                <a:rPr lang="en-US" sz="2400" i="1">
                                  <a:latin typeface="Cambria Math"/>
                                </a:rPr>
                                <m:t>𝐶</m:t>
                              </m:r>
                            </m:e>
                            <m:sub>
                              <m:r>
                                <a:rPr lang="en-US" sz="2400" i="1">
                                  <a:latin typeface="Cambria Math"/>
                                </a:rPr>
                                <m:t>2</m:t>
                              </m:r>
                            </m:sub>
                          </m:sSub>
                        </m:den>
                      </m:f>
                      <m:r>
                        <a:rPr lang="en-US" sz="2400" b="0" i="1" smtClean="0">
                          <a:latin typeface="Cambria Math"/>
                        </a:rPr>
                        <m:t> </m:t>
                      </m:r>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𝑠</m:t>
                          </m:r>
                          <m:r>
                            <a:rPr lang="en-US" sz="2400" b="0" i="1" smtClean="0">
                              <a:latin typeface="Cambria Math"/>
                              <a:ea typeface="Cambria Math"/>
                            </a:rPr>
                            <m:t>+</m:t>
                          </m:r>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1</m:t>
                              </m:r>
                            </m:num>
                            <m:den>
                              <m:sSub>
                                <m:sSubPr>
                                  <m:ctrlPr>
                                    <a:rPr lang="en-US" sz="2400" i="1">
                                      <a:latin typeface="Cambria Math" panose="02040503050406030204" pitchFamily="18" charset="0"/>
                                    </a:rPr>
                                  </m:ctrlPr>
                                </m:sSubPr>
                                <m:e>
                                  <m:r>
                                    <a:rPr lang="en-US" sz="2400" i="1">
                                      <a:latin typeface="Cambria Math"/>
                                    </a:rPr>
                                    <m:t>𝑅</m:t>
                                  </m:r>
                                </m:e>
                                <m:sub>
                                  <m:r>
                                    <a:rPr lang="en-US" sz="2400" b="0" i="1" smtClean="0">
                                      <a:latin typeface="Cambria Math"/>
                                    </a:rPr>
                                    <m:t>1</m:t>
                                  </m:r>
                                </m:sub>
                              </m:sSub>
                              <m:sSub>
                                <m:sSubPr>
                                  <m:ctrlPr>
                                    <a:rPr lang="en-US" sz="2400" i="1">
                                      <a:latin typeface="Cambria Math" panose="02040503050406030204" pitchFamily="18" charset="0"/>
                                    </a:rPr>
                                  </m:ctrlPr>
                                </m:sSubPr>
                                <m:e>
                                  <m:r>
                                    <a:rPr lang="en-US" sz="2400" i="1">
                                      <a:latin typeface="Cambria Math"/>
                                    </a:rPr>
                                    <m:t>𝐶</m:t>
                                  </m:r>
                                </m:e>
                                <m:sub>
                                  <m:r>
                                    <a:rPr lang="en-US" sz="2400" i="1">
                                      <a:latin typeface="Cambria Math"/>
                                    </a:rPr>
                                    <m:t>1</m:t>
                                  </m:r>
                                </m:sub>
                              </m:sSub>
                            </m:den>
                          </m:f>
                        </m:num>
                        <m:den>
                          <m:r>
                            <a:rPr lang="en-US" sz="2400" i="1">
                              <a:latin typeface="Cambria Math"/>
                              <a:ea typeface="Cambria Math"/>
                            </a:rPr>
                            <m:t>𝑠</m:t>
                          </m:r>
                          <m:r>
                            <a:rPr lang="en-US" sz="2400" i="1">
                              <a:latin typeface="Cambria Math"/>
                              <a:ea typeface="Cambria Math"/>
                            </a:rPr>
                            <m:t>+</m:t>
                          </m:r>
                          <m:f>
                            <m:fPr>
                              <m:ctrlPr>
                                <a:rPr lang="en-US" sz="2400" i="1" smtClean="0">
                                  <a:latin typeface="Cambria Math" panose="02040503050406030204" pitchFamily="18" charset="0"/>
                                  <a:ea typeface="Cambria Math"/>
                                </a:rPr>
                              </m:ctrlPr>
                            </m:fPr>
                            <m:num>
                              <m:r>
                                <a:rPr lang="en-US" sz="2400" b="0" i="1" smtClean="0">
                                  <a:latin typeface="Cambria Math"/>
                                  <a:ea typeface="Cambria Math"/>
                                </a:rPr>
                                <m:t>1</m:t>
                              </m:r>
                            </m:num>
                            <m:den>
                              <m:sSub>
                                <m:sSubPr>
                                  <m:ctrlPr>
                                    <a:rPr lang="en-US" sz="2400" i="1">
                                      <a:latin typeface="Cambria Math" panose="02040503050406030204" pitchFamily="18" charset="0"/>
                                    </a:rPr>
                                  </m:ctrlPr>
                                </m:sSubPr>
                                <m:e>
                                  <m:r>
                                    <a:rPr lang="en-US" sz="2400" i="1">
                                      <a:latin typeface="Cambria Math"/>
                                    </a:rPr>
                                    <m:t>𝑅</m:t>
                                  </m:r>
                                </m:e>
                                <m:sub>
                                  <m:r>
                                    <a:rPr lang="en-US" sz="2400" b="0" i="1" smtClean="0">
                                      <a:latin typeface="Cambria Math"/>
                                    </a:rPr>
                                    <m:t>2</m:t>
                                  </m:r>
                                </m:sub>
                              </m:sSub>
                              <m:sSub>
                                <m:sSubPr>
                                  <m:ctrlPr>
                                    <a:rPr lang="en-US" sz="2400" i="1">
                                      <a:latin typeface="Cambria Math" panose="02040503050406030204" pitchFamily="18" charset="0"/>
                                    </a:rPr>
                                  </m:ctrlPr>
                                </m:sSubPr>
                                <m:e>
                                  <m:r>
                                    <a:rPr lang="en-US" sz="2400" i="1">
                                      <a:latin typeface="Cambria Math"/>
                                    </a:rPr>
                                    <m:t>𝐶</m:t>
                                  </m:r>
                                </m:e>
                                <m:sub>
                                  <m:r>
                                    <a:rPr lang="en-US" sz="2400" b="0" i="1" smtClean="0">
                                      <a:latin typeface="Cambria Math"/>
                                    </a:rPr>
                                    <m:t>2</m:t>
                                  </m:r>
                                </m:sub>
                              </m:sSub>
                            </m:den>
                          </m:f>
                        </m:den>
                      </m:f>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52400" y="2972986"/>
                <a:ext cx="3438209" cy="1446614"/>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6200" y="5657153"/>
                <a:ext cx="1364156"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a:rPr>
                        <m:t>𝑇</m:t>
                      </m:r>
                      <m:r>
                        <a:rPr lang="en-US" sz="2200" b="0" i="1" smtClean="0">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b="0" i="1" smtClean="0">
                              <a:latin typeface="Cambria Math"/>
                            </a:rPr>
                            <m:t>1</m:t>
                          </m:r>
                        </m:sub>
                      </m:sSub>
                      <m:sSub>
                        <m:sSubPr>
                          <m:ctrlPr>
                            <a:rPr lang="en-US" sz="2200" i="1">
                              <a:latin typeface="Cambria Math" panose="02040503050406030204" pitchFamily="18" charset="0"/>
                            </a:rPr>
                          </m:ctrlPr>
                        </m:sSubPr>
                        <m:e>
                          <m:r>
                            <a:rPr lang="en-US" sz="2200" i="1">
                              <a:latin typeface="Cambria Math"/>
                            </a:rPr>
                            <m:t>𝐶</m:t>
                          </m:r>
                        </m:e>
                        <m:sub>
                          <m:r>
                            <a:rPr lang="en-US" sz="2200" i="1">
                              <a:latin typeface="Cambria Math"/>
                            </a:rPr>
                            <m:t>1</m:t>
                          </m:r>
                        </m:sub>
                      </m:sSub>
                    </m:oMath>
                  </m:oMathPara>
                </a14:m>
                <a:endParaRPr lang="en-US"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76200" y="5657153"/>
                <a:ext cx="1364156" cy="430887"/>
              </a:xfrm>
              <a:prstGeom prst="rect">
                <a:avLst/>
              </a:prstGeom>
              <a:blipFill rotWithShape="1">
                <a:blip r:embed="rId4"/>
                <a:stretch>
                  <a:fillRect t="-8451" r="-7623" b="-267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981200" y="5692409"/>
                <a:ext cx="1534331"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a:ea typeface="Cambria Math"/>
                        </a:rPr>
                        <m:t>𝛽</m:t>
                      </m:r>
                      <m:r>
                        <a:rPr lang="en-US" sz="2200" b="0" i="1" smtClean="0">
                          <a:latin typeface="Cambria Math"/>
                        </a:rPr>
                        <m:t>𝑇</m:t>
                      </m:r>
                      <m:r>
                        <a:rPr lang="en-US" sz="2200" b="0" i="1" smtClean="0">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b="0" i="1" smtClean="0">
                              <a:latin typeface="Cambria Math"/>
                            </a:rPr>
                            <m:t>2</m:t>
                          </m:r>
                        </m:sub>
                      </m:sSub>
                      <m:sSub>
                        <m:sSubPr>
                          <m:ctrlPr>
                            <a:rPr lang="en-US" sz="2200" i="1">
                              <a:latin typeface="Cambria Math" panose="02040503050406030204" pitchFamily="18" charset="0"/>
                            </a:rPr>
                          </m:ctrlPr>
                        </m:sSubPr>
                        <m:e>
                          <m:r>
                            <a:rPr lang="en-US" sz="2200" i="1">
                              <a:latin typeface="Cambria Math"/>
                            </a:rPr>
                            <m:t>𝐶</m:t>
                          </m:r>
                        </m:e>
                        <m:sub>
                          <m:r>
                            <a:rPr lang="en-US" sz="2200" b="0" i="1" smtClean="0">
                              <a:latin typeface="Cambria Math"/>
                            </a:rPr>
                            <m:t>2</m:t>
                          </m:r>
                        </m:sub>
                      </m:sSub>
                    </m:oMath>
                  </m:oMathPara>
                </a14:m>
                <a:endParaRPr lang="en-US"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1981200" y="5692409"/>
                <a:ext cx="1534331" cy="430887"/>
              </a:xfrm>
              <a:prstGeom prst="rect">
                <a:avLst/>
              </a:prstGeom>
              <a:blipFill rotWithShape="1">
                <a:blip r:embed="rId5"/>
                <a:stretch>
                  <a:fillRect l="-397" t="-8571" r="-6746"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19600" y="5468617"/>
                <a:ext cx="1499770" cy="7854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a:rPr>
                            <m:t>𝐾</m:t>
                          </m:r>
                        </m:e>
                        <m:sub>
                          <m:r>
                            <a:rPr lang="en-US" sz="2200" b="0" i="1" smtClean="0">
                              <a:latin typeface="Cambria Math"/>
                            </a:rPr>
                            <m:t>𝑐</m:t>
                          </m:r>
                        </m:sub>
                      </m:sSub>
                      <m:r>
                        <a:rPr lang="en-US" sz="2200" b="0" i="1" smtClean="0">
                          <a:latin typeface="Cambria Math"/>
                        </a:rPr>
                        <m:t>=</m:t>
                      </m:r>
                      <m:f>
                        <m:fPr>
                          <m:ctrlPr>
                            <a:rPr lang="en-US" sz="2200" b="0" i="1" smtClean="0">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𝑅</m:t>
                              </m:r>
                            </m:e>
                            <m:sub>
                              <m:r>
                                <a:rPr lang="en-US" sz="2200" b="0" i="1" smtClean="0">
                                  <a:latin typeface="Cambria Math"/>
                                </a:rPr>
                                <m:t>4</m:t>
                              </m:r>
                            </m:sub>
                          </m:sSub>
                          <m:sSub>
                            <m:sSubPr>
                              <m:ctrlPr>
                                <a:rPr lang="en-US" sz="2200" i="1">
                                  <a:latin typeface="Cambria Math" panose="02040503050406030204" pitchFamily="18" charset="0"/>
                                </a:rPr>
                              </m:ctrlPr>
                            </m:sSubPr>
                            <m:e>
                              <m:r>
                                <a:rPr lang="en-US" sz="2200" i="1">
                                  <a:latin typeface="Cambria Math"/>
                                </a:rPr>
                                <m:t>𝐶</m:t>
                              </m:r>
                            </m:e>
                            <m:sub>
                              <m:r>
                                <a:rPr lang="en-US" sz="2200" i="1">
                                  <a:latin typeface="Cambria Math"/>
                                </a:rPr>
                                <m:t>1</m:t>
                              </m:r>
                            </m:sub>
                          </m:sSub>
                        </m:num>
                        <m:den>
                          <m:sSub>
                            <m:sSubPr>
                              <m:ctrlPr>
                                <a:rPr lang="en-US" sz="2200" i="1">
                                  <a:latin typeface="Cambria Math" panose="02040503050406030204" pitchFamily="18" charset="0"/>
                                </a:rPr>
                              </m:ctrlPr>
                            </m:sSubPr>
                            <m:e>
                              <m:r>
                                <a:rPr lang="en-US" sz="2200" i="1">
                                  <a:latin typeface="Cambria Math"/>
                                </a:rPr>
                                <m:t>𝑅</m:t>
                              </m:r>
                            </m:e>
                            <m:sub>
                              <m:r>
                                <a:rPr lang="en-US" sz="2200" b="0" i="1" smtClean="0">
                                  <a:latin typeface="Cambria Math"/>
                                </a:rPr>
                                <m:t>3</m:t>
                              </m:r>
                            </m:sub>
                          </m:sSub>
                          <m:sSub>
                            <m:sSubPr>
                              <m:ctrlPr>
                                <a:rPr lang="en-US" sz="2200" i="1">
                                  <a:latin typeface="Cambria Math" panose="02040503050406030204" pitchFamily="18" charset="0"/>
                                </a:rPr>
                              </m:ctrlPr>
                            </m:sSubPr>
                            <m:e>
                              <m:r>
                                <a:rPr lang="en-US" sz="2200" i="1">
                                  <a:latin typeface="Cambria Math"/>
                                </a:rPr>
                                <m:t>𝐶</m:t>
                              </m:r>
                            </m:e>
                            <m:sub>
                              <m:r>
                                <a:rPr lang="en-US" sz="2200" b="0" i="1" smtClean="0">
                                  <a:latin typeface="Cambria Math"/>
                                </a:rPr>
                                <m:t>2</m:t>
                              </m:r>
                            </m:sub>
                          </m:sSub>
                        </m:den>
                      </m:f>
                    </m:oMath>
                  </m:oMathPara>
                </a14:m>
                <a:endParaRPr lang="en-US"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4419600" y="5468617"/>
                <a:ext cx="1499770" cy="785471"/>
              </a:xfrm>
              <a:prstGeom prst="rect">
                <a:avLst/>
              </a:prstGeom>
              <a:blipFill rotWithShape="1">
                <a:blip r:embed="rId6"/>
                <a:stretch>
                  <a:fillRect r="-65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934200" y="5632260"/>
                <a:ext cx="1778436"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sSub>
                        <m:sSubPr>
                          <m:ctrlPr>
                            <a:rPr lang="en-US" sz="2200" i="1">
                              <a:latin typeface="Cambria Math" panose="02040503050406030204" pitchFamily="18" charset="0"/>
                            </a:rPr>
                          </m:ctrlPr>
                        </m:sSubPr>
                        <m:e>
                          <m:r>
                            <a:rPr lang="en-US" sz="2200" i="1">
                              <a:latin typeface="Cambria Math"/>
                            </a:rPr>
                            <m:t>𝐶</m:t>
                          </m:r>
                        </m:e>
                        <m:sub>
                          <m:r>
                            <a:rPr lang="en-US" sz="2200" i="1">
                              <a:latin typeface="Cambria Math"/>
                            </a:rPr>
                            <m:t>2</m:t>
                          </m:r>
                        </m:sub>
                      </m:sSub>
                      <m:r>
                        <a:rPr lang="en-US" sz="2200" i="1" smtClean="0">
                          <a:latin typeface="Cambria Math"/>
                          <a:ea typeface="Cambria Math"/>
                        </a:rPr>
                        <m:t>&gt;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sSub>
                        <m:sSubPr>
                          <m:ctrlPr>
                            <a:rPr lang="en-US" sz="2200" i="1">
                              <a:latin typeface="Cambria Math" panose="02040503050406030204" pitchFamily="18" charset="0"/>
                            </a:rPr>
                          </m:ctrlPr>
                        </m:sSubPr>
                        <m:e>
                          <m:r>
                            <a:rPr lang="en-US" sz="2200" i="1">
                              <a:latin typeface="Cambria Math"/>
                            </a:rPr>
                            <m:t>𝐶</m:t>
                          </m:r>
                        </m:e>
                        <m:sub>
                          <m:r>
                            <a:rPr lang="en-US" sz="2200" i="1">
                              <a:latin typeface="Cambria Math"/>
                            </a:rPr>
                            <m:t>1</m:t>
                          </m:r>
                        </m:sub>
                      </m:sSub>
                    </m:oMath>
                  </m:oMathPara>
                </a14:m>
                <a:endParaRPr lang="en-US"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6934200" y="5632260"/>
                <a:ext cx="1778436" cy="430887"/>
              </a:xfrm>
              <a:prstGeom prst="rect">
                <a:avLst/>
              </a:prstGeom>
              <a:blipFill rotWithShape="1">
                <a:blip r:embed="rId7"/>
                <a:stretch>
                  <a:fillRect t="-8451" r="-6186" b="-26761"/>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11</a:t>
            </a:fld>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blinds(horizontal)">
                                      <p:cBhvr>
                                        <p:cTn id="7" dur="500"/>
                                        <p:tgtEl>
                                          <p:spTgt spid="416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 Lag Compensator</a:t>
            </a:r>
          </a:p>
        </p:txBody>
      </p:sp>
      <p:sp>
        <p:nvSpPr>
          <p:cNvPr id="3" name="Content Placeholder 2"/>
          <p:cNvSpPr>
            <a:spLocks noGrp="1"/>
          </p:cNvSpPr>
          <p:nvPr>
            <p:ph idx="1"/>
          </p:nvPr>
        </p:nvSpPr>
        <p:spPr>
          <a:xfrm>
            <a:off x="39264" y="1600200"/>
            <a:ext cx="4896544" cy="4525963"/>
          </a:xfrm>
        </p:spPr>
        <p:txBody>
          <a:bodyPr>
            <a:normAutofit/>
          </a:bodyPr>
          <a:lstStyle/>
          <a:p>
            <a:pPr algn="just"/>
            <a:r>
              <a:rPr lang="en-US" sz="2800" dirty="0"/>
              <a:t>Pole-zero Configuration of Lag Compensator</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298" y="1448686"/>
            <a:ext cx="3867150" cy="4776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7" name="TextBox 6"/>
              <p:cNvSpPr txBox="1"/>
              <p:nvPr/>
            </p:nvSpPr>
            <p:spPr>
              <a:xfrm>
                <a:off x="1135039" y="3691691"/>
                <a:ext cx="222105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sSub>
                        <m:sSubPr>
                          <m:ctrlPr>
                            <a:rPr lang="en-US" sz="2800" i="1">
                              <a:latin typeface="Cambria Math" panose="02040503050406030204" pitchFamily="18" charset="0"/>
                            </a:rPr>
                          </m:ctrlPr>
                        </m:sSubPr>
                        <m:e>
                          <m:r>
                            <a:rPr lang="en-US" sz="2800" i="1">
                              <a:latin typeface="Cambria Math"/>
                            </a:rPr>
                            <m:t>𝐶</m:t>
                          </m:r>
                        </m:e>
                        <m:sub>
                          <m:r>
                            <a:rPr lang="en-US" sz="2800" i="1">
                              <a:latin typeface="Cambria Math"/>
                            </a:rPr>
                            <m:t>2</m:t>
                          </m:r>
                        </m:sub>
                      </m:sSub>
                      <m:r>
                        <a:rPr lang="en-US" sz="2800" i="1" smtClean="0">
                          <a:latin typeface="Cambria Math"/>
                          <a:ea typeface="Cambria Math"/>
                        </a:rPr>
                        <m:t>&gt;</m:t>
                      </m:r>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1</m:t>
                          </m:r>
                        </m:sub>
                      </m:sSub>
                      <m:sSub>
                        <m:sSubPr>
                          <m:ctrlPr>
                            <a:rPr lang="en-US" sz="2800" i="1">
                              <a:latin typeface="Cambria Math" panose="02040503050406030204" pitchFamily="18" charset="0"/>
                            </a:rPr>
                          </m:ctrlPr>
                        </m:sSubPr>
                        <m:e>
                          <m:r>
                            <a:rPr lang="en-US" sz="2800" i="1">
                              <a:latin typeface="Cambria Math"/>
                            </a:rPr>
                            <m:t>𝐶</m:t>
                          </m:r>
                        </m:e>
                        <m:sub>
                          <m:r>
                            <a:rPr lang="en-US" sz="2800" i="1">
                              <a:latin typeface="Cambria Math"/>
                            </a:rPr>
                            <m:t>1</m:t>
                          </m:r>
                        </m:sub>
                      </m:sSub>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1135039" y="3691691"/>
                <a:ext cx="2221057" cy="523220"/>
              </a:xfrm>
              <a:prstGeom prst="rect">
                <a:avLst/>
              </a:prstGeom>
              <a:blipFill rotWithShape="1">
                <a:blip r:embed="rId3"/>
                <a:stretch>
                  <a:fillRect t="-10588" r="-6849" b="-3411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12</a:t>
            </a:fld>
            <a:endParaRPr lang="en-GB" dirty="0"/>
          </a:p>
        </p:txBody>
      </p:sp>
    </p:spTree>
    <p:extLst>
      <p:ext uri="{BB962C8B-B14F-4D97-AF65-F5344CB8AC3E}">
        <p14:creationId xmlns:p14="http://schemas.microsoft.com/office/powerpoint/2010/main" val="349940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20762"/>
          </a:xfrm>
        </p:spPr>
        <p:txBody>
          <a:bodyPr/>
          <a:lstStyle/>
          <a:p>
            <a:r>
              <a:rPr lang="en-US" dirty="0"/>
              <a:t>Electrical Lag Compensator</a:t>
            </a:r>
          </a:p>
        </p:txBody>
      </p:sp>
      <p:sp>
        <p:nvSpPr>
          <p:cNvPr id="3" name="Content Placeholder 2"/>
          <p:cNvSpPr>
            <a:spLocks noGrp="1"/>
          </p:cNvSpPr>
          <p:nvPr>
            <p:ph idx="1"/>
          </p:nvPr>
        </p:nvSpPr>
        <p:spPr>
          <a:xfrm>
            <a:off x="152400" y="1371600"/>
            <a:ext cx="8952336" cy="4525963"/>
          </a:xfrm>
        </p:spPr>
        <p:txBody>
          <a:bodyPr>
            <a:normAutofit/>
          </a:bodyPr>
          <a:lstStyle/>
          <a:p>
            <a:pPr algn="just"/>
            <a:r>
              <a:rPr lang="en-US" sz="2800" dirty="0"/>
              <a:t>Following figure lag compensator realized by electrical network. </a:t>
            </a:r>
          </a:p>
        </p:txBody>
      </p:sp>
      <p:grpSp>
        <p:nvGrpSpPr>
          <p:cNvPr id="4" name="Group 3"/>
          <p:cNvGrpSpPr/>
          <p:nvPr/>
        </p:nvGrpSpPr>
        <p:grpSpPr>
          <a:xfrm>
            <a:off x="2438400" y="2057400"/>
            <a:ext cx="4414838" cy="2817408"/>
            <a:chOff x="2438400" y="2209800"/>
            <a:chExt cx="4414838" cy="2817408"/>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209800"/>
              <a:ext cx="4414838" cy="2817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8" name="TextBox 7"/>
                <p:cNvSpPr txBox="1"/>
                <p:nvPr/>
              </p:nvSpPr>
              <p:spPr>
                <a:xfrm>
                  <a:off x="5056496" y="3234062"/>
                  <a:ext cx="586506"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𝑅</m:t>
                            </m:r>
                          </m:e>
                          <m:sub>
                            <m:r>
                              <a:rPr lang="en-US" sz="2400" i="1">
                                <a:latin typeface="Cambria Math"/>
                              </a:rPr>
                              <m:t>2</m:t>
                            </m:r>
                          </m:sub>
                        </m:sSub>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5056496" y="3234062"/>
                  <a:ext cx="586506" cy="461665"/>
                </a:xfrm>
                <a:prstGeom prst="rect">
                  <a:avLst/>
                </a:prstGeom>
                <a:blipFill rotWithShape="1">
                  <a:blip r:embed="rId3"/>
                  <a:stretch>
                    <a:fillRect t="-10667" r="-20619"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610968" y="2293505"/>
                  <a:ext cx="579389"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𝑅</m:t>
                            </m:r>
                          </m:e>
                          <m:sub>
                            <m:r>
                              <a:rPr lang="en-US" sz="2400" b="0" i="1" smtClean="0">
                                <a:latin typeface="Cambria Math"/>
                              </a:rPr>
                              <m:t>1</m:t>
                            </m:r>
                          </m:sub>
                        </m:sSub>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3610968" y="2293505"/>
                  <a:ext cx="579389" cy="461665"/>
                </a:xfrm>
                <a:prstGeom prst="rect">
                  <a:avLst/>
                </a:prstGeom>
                <a:blipFill rotWithShape="1">
                  <a:blip r:embed="rId4"/>
                  <a:stretch>
                    <a:fillRect t="-10526" r="-22105"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154304" y="3987503"/>
                  <a:ext cx="451470"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𝐶</m:t>
                        </m:r>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5154304" y="3987503"/>
                  <a:ext cx="451470" cy="461665"/>
                </a:xfrm>
                <a:prstGeom prst="rect">
                  <a:avLst/>
                </a:prstGeom>
                <a:blipFill rotWithShape="1">
                  <a:blip r:embed="rId5"/>
                  <a:stretch>
                    <a:fillRect t="-10526" r="-27027" b="-2894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p:cNvSpPr txBox="1"/>
              <p:nvPr/>
            </p:nvSpPr>
            <p:spPr>
              <a:xfrm>
                <a:off x="2667000" y="5387074"/>
                <a:ext cx="4617086"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 </m:t>
                      </m:r>
                      <m:f>
                        <m:fPr>
                          <m:ctrlPr>
                            <a:rPr lang="en-US" sz="2800" b="0" i="1" smtClean="0">
                              <a:latin typeface="Cambria Math" panose="02040503050406030204" pitchFamily="18" charset="0"/>
                              <a:ea typeface="Cambria Math"/>
                            </a:rPr>
                          </m:ctrlPr>
                        </m:fPr>
                        <m:num>
                          <m:sSub>
                            <m:sSubPr>
                              <m:ctrlPr>
                                <a:rPr lang="en-US" sz="2800" i="1">
                                  <a:latin typeface="Cambria Math" panose="02040503050406030204" pitchFamily="18" charset="0"/>
                                </a:rPr>
                              </m:ctrlPr>
                            </m:sSubPr>
                            <m:e>
                              <m:r>
                                <a:rPr lang="en-US" sz="2800" i="1">
                                  <a:latin typeface="Cambria Math"/>
                                </a:rPr>
                                <m:t>𝑅</m:t>
                              </m:r>
                            </m:e>
                            <m:sub>
                              <m:r>
                                <a:rPr lang="en-US" sz="2800" b="0" i="1" smtClean="0">
                                  <a:latin typeface="Cambria Math"/>
                                </a:rPr>
                                <m:t>2</m:t>
                              </m:r>
                            </m:sub>
                          </m:sSub>
                          <m:r>
                            <a:rPr lang="en-US" sz="2800" b="0" i="1" smtClean="0">
                              <a:latin typeface="Cambria Math"/>
                            </a:rPr>
                            <m:t>𝐶</m:t>
                          </m:r>
                          <m:r>
                            <a:rPr lang="en-US" sz="2800" b="0" i="1" smtClean="0">
                              <a:latin typeface="Cambria Math"/>
                              <a:ea typeface="Cambria Math"/>
                            </a:rPr>
                            <m:t>𝑠</m:t>
                          </m:r>
                          <m:r>
                            <a:rPr lang="en-US" sz="2800" b="0" i="1" smtClean="0">
                              <a:latin typeface="Cambria Math"/>
                              <a:ea typeface="Cambria Math"/>
                            </a:rPr>
                            <m:t>+1</m:t>
                          </m:r>
                        </m:num>
                        <m:den>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e>
                          </m:d>
                          <m:r>
                            <a:rPr lang="en-US" sz="2800" b="0" i="1" smtClean="0">
                              <a:latin typeface="Cambria Math"/>
                            </a:rPr>
                            <m:t>𝐶</m:t>
                          </m:r>
                          <m:r>
                            <a:rPr lang="en-US" sz="2800" i="1">
                              <a:latin typeface="Cambria Math"/>
                              <a:ea typeface="Cambria Math"/>
                            </a:rPr>
                            <m:t>𝑠</m:t>
                          </m:r>
                          <m:r>
                            <a:rPr lang="en-US" sz="2800" i="1">
                              <a:latin typeface="Cambria Math"/>
                              <a:ea typeface="Cambria Math"/>
                            </a:rPr>
                            <m:t>+1</m:t>
                          </m:r>
                        </m:den>
                      </m:f>
                    </m:oMath>
                  </m:oMathPara>
                </a14:m>
                <a:endParaRPr 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667000" y="5387074"/>
                <a:ext cx="4617086" cy="989438"/>
              </a:xfrm>
              <a:prstGeom prst="rect">
                <a:avLst/>
              </a:prstGeom>
              <a:blipFill rotWithShape="1">
                <a:blip r:embed="rId6"/>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A0D5CAB-8BF0-4EA3-BAE4-9835C852A49B}" type="slidenum">
              <a:rPr lang="en-GB" smtClean="0"/>
              <a:pPr/>
              <a:t>13</a:t>
            </a:fld>
            <a:endParaRPr lang="en-GB" dirty="0"/>
          </a:p>
        </p:txBody>
      </p:sp>
    </p:spTree>
    <p:extLst>
      <p:ext uri="{BB962C8B-B14F-4D97-AF65-F5344CB8AC3E}">
        <p14:creationId xmlns:p14="http://schemas.microsoft.com/office/powerpoint/2010/main" val="299641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Electrical Lag Compensator</a:t>
            </a:r>
          </a:p>
        </p:txBody>
      </p:sp>
      <p:sp>
        <p:nvSpPr>
          <p:cNvPr id="6" name="Content Placeholder 5"/>
          <p:cNvSpPr>
            <a:spLocks noGrp="1"/>
          </p:cNvSpPr>
          <p:nvPr>
            <p:ph idx="1"/>
          </p:nvPr>
        </p:nvSpPr>
        <p:spPr>
          <a:xfrm>
            <a:off x="228600" y="1874837"/>
            <a:ext cx="8229600" cy="4525963"/>
          </a:xfrm>
        </p:spPr>
        <p:txBody>
          <a:bodyPr/>
          <a:lstStyle/>
          <a:p>
            <a:endParaRPr lang="en-US" dirty="0"/>
          </a:p>
          <a:p>
            <a:endParaRPr lang="en-US" dirty="0"/>
          </a:p>
          <a:p>
            <a:endParaRPr lang="en-US" dirty="0"/>
          </a:p>
          <a:p>
            <a:endParaRPr lang="en-US" dirty="0"/>
          </a:p>
          <a:p>
            <a:r>
              <a:rPr lang="en-US" sz="3000" dirty="0"/>
              <a:t>Then the transfer function becomes</a:t>
            </a:r>
          </a:p>
        </p:txBody>
      </p:sp>
      <mc:AlternateContent xmlns:mc="http://schemas.openxmlformats.org/markup-compatibility/2006" xmlns:a14="http://schemas.microsoft.com/office/drawing/2010/main">
        <mc:Choice Requires="a14">
          <p:sp>
            <p:nvSpPr>
              <p:cNvPr id="11" name="TextBox 10"/>
              <p:cNvSpPr txBox="1"/>
              <p:nvPr/>
            </p:nvSpPr>
            <p:spPr>
              <a:xfrm>
                <a:off x="2514600" y="1447800"/>
                <a:ext cx="4617086"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 </m:t>
                      </m:r>
                      <m:f>
                        <m:fPr>
                          <m:ctrlPr>
                            <a:rPr lang="en-US" sz="2800" b="0" i="1" smtClean="0">
                              <a:latin typeface="Cambria Math" panose="02040503050406030204" pitchFamily="18" charset="0"/>
                              <a:ea typeface="Cambria Math"/>
                            </a:rPr>
                          </m:ctrlPr>
                        </m:fPr>
                        <m:num>
                          <m:sSub>
                            <m:sSubPr>
                              <m:ctrlPr>
                                <a:rPr lang="en-US" sz="2800" i="1">
                                  <a:latin typeface="Cambria Math" panose="02040503050406030204" pitchFamily="18" charset="0"/>
                                </a:rPr>
                              </m:ctrlPr>
                            </m:sSubPr>
                            <m:e>
                              <m:r>
                                <a:rPr lang="en-US" sz="2800" i="1">
                                  <a:latin typeface="Cambria Math"/>
                                </a:rPr>
                                <m:t>𝑅</m:t>
                              </m:r>
                            </m:e>
                            <m:sub>
                              <m:r>
                                <a:rPr lang="en-US" sz="2800" b="0" i="1" smtClean="0">
                                  <a:latin typeface="Cambria Math"/>
                                </a:rPr>
                                <m:t>2</m:t>
                              </m:r>
                            </m:sub>
                          </m:sSub>
                          <m:r>
                            <a:rPr lang="en-US" sz="2800" b="0" i="1" smtClean="0">
                              <a:latin typeface="Cambria Math"/>
                            </a:rPr>
                            <m:t>𝐶</m:t>
                          </m:r>
                          <m:r>
                            <a:rPr lang="en-US" sz="2800" b="0" i="1" smtClean="0">
                              <a:latin typeface="Cambria Math"/>
                              <a:ea typeface="Cambria Math"/>
                            </a:rPr>
                            <m:t>𝑠</m:t>
                          </m:r>
                          <m:r>
                            <a:rPr lang="en-US" sz="2800" b="0" i="1" smtClean="0">
                              <a:latin typeface="Cambria Math"/>
                              <a:ea typeface="Cambria Math"/>
                            </a:rPr>
                            <m:t>+1</m:t>
                          </m:r>
                        </m:num>
                        <m:den>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e>
                          </m:d>
                          <m:r>
                            <a:rPr lang="en-US" sz="2800" b="0" i="1" smtClean="0">
                              <a:latin typeface="Cambria Math"/>
                            </a:rPr>
                            <m:t>𝐶</m:t>
                          </m:r>
                          <m:r>
                            <a:rPr lang="en-US" sz="2800" i="1">
                              <a:latin typeface="Cambria Math"/>
                              <a:ea typeface="Cambria Math"/>
                            </a:rPr>
                            <m:t>𝑠</m:t>
                          </m:r>
                          <m:r>
                            <a:rPr lang="en-US" sz="2800" i="1">
                              <a:latin typeface="Cambria Math"/>
                              <a:ea typeface="Cambria Math"/>
                            </a:rPr>
                            <m:t>+1</m:t>
                          </m:r>
                        </m:den>
                      </m:f>
                    </m:oMath>
                  </m:oMathPara>
                </a14:m>
                <a:endParaRPr 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514600" y="1447800"/>
                <a:ext cx="4617086" cy="989438"/>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726820" y="3200400"/>
                <a:ext cx="157556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𝑇</m:t>
                      </m:r>
                      <m:r>
                        <a:rPr lang="en-US" sz="2800" b="0" i="1" smtClean="0">
                          <a:latin typeface="Cambria Math"/>
                        </a:rPr>
                        <m:t>=</m:t>
                      </m:r>
                      <m:sSub>
                        <m:sSubPr>
                          <m:ctrlPr>
                            <a:rPr lang="en-US" sz="2800" i="1">
                              <a:latin typeface="Cambria Math" panose="02040503050406030204" pitchFamily="18" charset="0"/>
                            </a:rPr>
                          </m:ctrlPr>
                        </m:sSubPr>
                        <m:e>
                          <m:r>
                            <a:rPr lang="en-US" sz="2800" i="1">
                              <a:latin typeface="Cambria Math"/>
                            </a:rPr>
                            <m:t>𝑅</m:t>
                          </m:r>
                        </m:e>
                        <m:sub>
                          <m:r>
                            <a:rPr lang="en-US" sz="2800" b="0" i="1" smtClean="0">
                              <a:latin typeface="Cambria Math"/>
                            </a:rPr>
                            <m:t>2</m:t>
                          </m:r>
                        </m:sub>
                      </m:sSub>
                      <m:r>
                        <a:rPr lang="en-US" sz="2800" b="0" i="1" smtClean="0">
                          <a:latin typeface="Cambria Math"/>
                        </a:rPr>
                        <m:t>𝐶</m:t>
                      </m:r>
                    </m:oMath>
                  </m:oMathPara>
                </a14:m>
                <a:endParaRPr lang="en-US" sz="2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726820" y="3200400"/>
                <a:ext cx="1575560" cy="523220"/>
              </a:xfrm>
              <a:prstGeom prst="rect">
                <a:avLst/>
              </a:prstGeom>
              <a:blipFill rotWithShape="1">
                <a:blip r:embed="rId3"/>
                <a:stretch>
                  <a:fillRect t="-10465" r="-10039"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305477" y="3048000"/>
                <a:ext cx="2829621" cy="9694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ea typeface="Cambria Math"/>
                        </a:rPr>
                        <m:t>𝛽</m:t>
                      </m:r>
                      <m:r>
                        <a:rPr lang="en-US" sz="2800" b="0" i="1" smtClean="0">
                          <a:latin typeface="Cambria Math"/>
                        </a:rPr>
                        <m:t>=</m:t>
                      </m:r>
                      <m:f>
                        <m:fPr>
                          <m:ctrlPr>
                            <a:rPr lang="en-US" sz="2800" b="0" i="1" smtClean="0">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a:rPr>
                                <m:t>𝑅</m:t>
                              </m:r>
                            </m:e>
                            <m:sub>
                              <m:r>
                                <a:rPr lang="en-US" sz="2800" b="0" i="1" smtClean="0">
                                  <a:latin typeface="Cambria Math"/>
                                </a:rPr>
                                <m:t>1</m:t>
                              </m:r>
                            </m:sub>
                          </m:sSub>
                          <m:r>
                            <a:rPr lang="en-US" sz="2800" b="0" i="1" smtClean="0">
                              <a:latin typeface="Cambria Math"/>
                            </a:rPr>
                            <m:t>+</m:t>
                          </m:r>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num>
                        <m:den>
                          <m:sSub>
                            <m:sSubPr>
                              <m:ctrlPr>
                                <a:rPr lang="en-US" sz="2800" i="1">
                                  <a:latin typeface="Cambria Math" panose="02040503050406030204" pitchFamily="18" charset="0"/>
                                </a:rPr>
                              </m:ctrlPr>
                            </m:sSubPr>
                            <m:e>
                              <m:r>
                                <a:rPr lang="en-US" sz="2800" i="1">
                                  <a:latin typeface="Cambria Math"/>
                                </a:rPr>
                                <m:t>𝑅</m:t>
                              </m:r>
                            </m:e>
                            <m:sub>
                              <m:r>
                                <a:rPr lang="en-US" sz="2800" i="1">
                                  <a:latin typeface="Cambria Math"/>
                                </a:rPr>
                                <m:t>2</m:t>
                              </m:r>
                            </m:sub>
                          </m:sSub>
                        </m:den>
                      </m:f>
                      <m:r>
                        <a:rPr lang="en-US" sz="2800" i="1" smtClean="0">
                          <a:latin typeface="Cambria Math"/>
                        </a:rPr>
                        <m:t>&gt;</m:t>
                      </m:r>
                      <m:r>
                        <a:rPr lang="en-US" sz="2800" b="0" i="1" smtClean="0">
                          <a:latin typeface="Cambria Math"/>
                        </a:rPr>
                        <m:t>1</m:t>
                      </m:r>
                    </m:oMath>
                  </m:oMathPara>
                </a14:m>
                <a:endParaRPr lang="en-US" sz="28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305477" y="3048000"/>
                <a:ext cx="2829621" cy="969433"/>
              </a:xfrm>
              <a:prstGeom prst="rect">
                <a:avLst/>
              </a:prstGeom>
              <a:blipFill rotWithShape="1">
                <a:blip r:embed="rId4"/>
                <a:stretch>
                  <a:fillRect r="-53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540758" y="5006454"/>
                <a:ext cx="4617086" cy="989438"/>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 </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𝑇𝑠</m:t>
                          </m:r>
                          <m:r>
                            <a:rPr lang="en-US" sz="2800" b="0" i="1" smtClean="0">
                              <a:latin typeface="Cambria Math"/>
                              <a:ea typeface="Cambria Math"/>
                            </a:rPr>
                            <m:t>+1</m:t>
                          </m:r>
                        </m:num>
                        <m:den>
                          <m:r>
                            <a:rPr lang="en-US" sz="2800" i="1" smtClean="0">
                              <a:latin typeface="Cambria Math"/>
                              <a:ea typeface="Cambria Math"/>
                            </a:rPr>
                            <m:t>𝛽</m:t>
                          </m:r>
                          <m:r>
                            <a:rPr lang="en-US" sz="2800" b="0" i="1" smtClean="0">
                              <a:latin typeface="Cambria Math"/>
                              <a:ea typeface="Cambria Math"/>
                            </a:rPr>
                            <m:t>𝑇</m:t>
                          </m:r>
                          <m:r>
                            <a:rPr lang="en-US" sz="2800" i="1">
                              <a:latin typeface="Cambria Math"/>
                              <a:ea typeface="Cambria Math"/>
                            </a:rPr>
                            <m:t>𝑠</m:t>
                          </m:r>
                          <m:r>
                            <a:rPr lang="en-US" sz="2800" i="1">
                              <a:latin typeface="Cambria Math"/>
                              <a:ea typeface="Cambria Math"/>
                            </a:rPr>
                            <m:t>+1</m:t>
                          </m:r>
                        </m:den>
                      </m:f>
                    </m:oMath>
                  </m:oMathPara>
                </a14:m>
                <a:endParaRPr lang="en-US" sz="28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540758" y="5006454"/>
                <a:ext cx="4617086" cy="989438"/>
              </a:xfrm>
              <a:prstGeom prst="rect">
                <a:avLst/>
              </a:prstGeom>
              <a:blipFill rotWithShape="1">
                <a:blip r:embed="rId5"/>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7A0D5CAB-8BF0-4EA3-BAE4-9835C852A49B}" type="slidenum">
              <a:rPr lang="en-GB" smtClean="0"/>
              <a:pPr/>
              <a:t>14</a:t>
            </a:fld>
            <a:endParaRPr lang="en-GB" dirty="0"/>
          </a:p>
        </p:txBody>
      </p:sp>
    </p:spTree>
    <p:extLst>
      <p:ext uri="{BB962C8B-B14F-4D97-AF65-F5344CB8AC3E}">
        <p14:creationId xmlns:p14="http://schemas.microsoft.com/office/powerpoint/2010/main" val="274075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r>
              <a:rPr lang="en-US" dirty="0"/>
              <a:t>Electrical Lag Compensator</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228600" y="1874837"/>
                <a:ext cx="8763000" cy="4525963"/>
              </a:xfrm>
            </p:spPr>
            <p:txBody>
              <a:bodyPr/>
              <a:lstStyle/>
              <a:p>
                <a:endParaRPr lang="en-US" dirty="0"/>
              </a:p>
              <a:p>
                <a:pPr algn="just"/>
                <a:r>
                  <a:rPr lang="en-US" sz="2800" dirty="0"/>
                  <a:t>If an RC circuit is used as a lag compensator, then it is usually necessary to add an amplifier with an adjustable gain </a:t>
                </a:r>
                <a14:m>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a:rPr>
                              <m:t>𝐾</m:t>
                            </m:r>
                          </m:e>
                        </m:acc>
                      </m:e>
                      <m:sub>
                        <m:r>
                          <a:rPr lang="en-US" sz="2800" b="0" i="1" smtClean="0">
                            <a:latin typeface="Cambria Math"/>
                          </a:rPr>
                          <m:t>𝑐</m:t>
                        </m:r>
                      </m:sub>
                    </m:sSub>
                    <m:r>
                      <a:rPr lang="en-US" sz="2800" i="1" smtClean="0">
                        <a:latin typeface="Cambria Math"/>
                        <a:ea typeface="Cambria Math"/>
                      </a:rPr>
                      <m:t>𝛽</m:t>
                    </m:r>
                  </m:oMath>
                </a14:m>
                <a:r>
                  <a:rPr lang="en-US" sz="2800" dirty="0"/>
                  <a:t> so that the transfer function of compensator is</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228600" y="1874837"/>
                <a:ext cx="8763000" cy="4525963"/>
              </a:xfrm>
              <a:blipFill rotWithShape="0">
                <a:blip r:embed="rId2"/>
                <a:stretch>
                  <a:fillRect l="-1253" r="-13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540758" y="1143000"/>
                <a:ext cx="4617086" cy="989438"/>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 </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𝑇𝑠</m:t>
                          </m:r>
                          <m:r>
                            <a:rPr lang="en-US" sz="2800" b="0" i="1" smtClean="0">
                              <a:latin typeface="Cambria Math"/>
                              <a:ea typeface="Cambria Math"/>
                            </a:rPr>
                            <m:t>+1</m:t>
                          </m:r>
                        </m:num>
                        <m:den>
                          <m:r>
                            <a:rPr lang="en-US" sz="2800" i="1" smtClean="0">
                              <a:latin typeface="Cambria Math"/>
                              <a:ea typeface="Cambria Math"/>
                            </a:rPr>
                            <m:t>𝛽</m:t>
                          </m:r>
                          <m:r>
                            <a:rPr lang="en-US" sz="2800" b="0" i="1" smtClean="0">
                              <a:latin typeface="Cambria Math"/>
                              <a:ea typeface="Cambria Math"/>
                            </a:rPr>
                            <m:t>𝑇</m:t>
                          </m:r>
                          <m:r>
                            <a:rPr lang="en-US" sz="2800" i="1">
                              <a:latin typeface="Cambria Math"/>
                              <a:ea typeface="Cambria Math"/>
                            </a:rPr>
                            <m:t>𝑠</m:t>
                          </m:r>
                          <m:r>
                            <a:rPr lang="en-US" sz="2800" i="1">
                              <a:latin typeface="Cambria Math"/>
                              <a:ea typeface="Cambria Math"/>
                            </a:rPr>
                            <m:t>+1</m:t>
                          </m:r>
                        </m:den>
                      </m:f>
                    </m:oMath>
                  </m:oMathPara>
                </a14:m>
                <a:endParaRPr lang="en-US" sz="28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540758" y="1143000"/>
                <a:ext cx="4617086" cy="989438"/>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540758" y="4060208"/>
                <a:ext cx="4617086" cy="989438"/>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r>
                        <a:rPr lang="en-US" sz="2800" i="1">
                          <a:latin typeface="Cambria Math"/>
                          <a:ea typeface="Cambria Math"/>
                        </a:rPr>
                        <m:t>𝛽</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𝑇𝑠</m:t>
                          </m:r>
                          <m:r>
                            <a:rPr lang="en-US" sz="2800" b="0" i="1" smtClean="0">
                              <a:latin typeface="Cambria Math"/>
                              <a:ea typeface="Cambria Math"/>
                            </a:rPr>
                            <m:t>+1</m:t>
                          </m:r>
                        </m:num>
                        <m:den>
                          <m:r>
                            <a:rPr lang="en-US" sz="2800" i="1" smtClean="0">
                              <a:latin typeface="Cambria Math"/>
                              <a:ea typeface="Cambria Math"/>
                            </a:rPr>
                            <m:t>𝛽</m:t>
                          </m:r>
                          <m:r>
                            <a:rPr lang="en-US" sz="2800" b="0" i="1" smtClean="0">
                              <a:latin typeface="Cambria Math"/>
                              <a:ea typeface="Cambria Math"/>
                            </a:rPr>
                            <m:t>𝑇</m:t>
                          </m:r>
                          <m:r>
                            <a:rPr lang="en-US" sz="2800" i="1">
                              <a:latin typeface="Cambria Math"/>
                              <a:ea typeface="Cambria Math"/>
                            </a:rPr>
                            <m:t>𝑠</m:t>
                          </m:r>
                          <m:r>
                            <a:rPr lang="en-US" sz="2800" i="1">
                              <a:latin typeface="Cambria Math"/>
                              <a:ea typeface="Cambria Math"/>
                            </a:rPr>
                            <m:t>+1</m:t>
                          </m:r>
                        </m:den>
                      </m:f>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540758" y="4060208"/>
                <a:ext cx="4617086" cy="989438"/>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20198" y="5207752"/>
                <a:ext cx="4617086" cy="1640898"/>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a:rPr>
                                <m:t>𝐸</m:t>
                              </m:r>
                            </m:e>
                            <m:sub>
                              <m:r>
                                <a:rPr lang="en-US" sz="2800" b="0" i="1" smtClean="0">
                                  <a:latin typeface="Cambria Math"/>
                                </a:rPr>
                                <m:t>2</m:t>
                              </m:r>
                            </m:sub>
                          </m:sSub>
                          <m:r>
                            <a:rPr lang="en-US" sz="2800" b="0" i="1" smtClean="0">
                              <a:latin typeface="Cambria Math"/>
                            </a:rPr>
                            <m:t>(</m:t>
                          </m:r>
                          <m:r>
                            <a:rPr lang="en-US" sz="2800" b="0" i="1" smtClean="0">
                              <a:latin typeface="Cambria Math"/>
                            </a:rPr>
                            <m:t>𝑠</m:t>
                          </m:r>
                          <m:r>
                            <a:rPr lang="en-US" sz="2800" b="0" i="1" smtClean="0">
                              <a:latin typeface="Cambria Math"/>
                            </a:rPr>
                            <m:t>)</m:t>
                          </m:r>
                        </m:num>
                        <m:den>
                          <m:sSub>
                            <m:sSubPr>
                              <m:ctrlPr>
                                <a:rPr lang="en-US" sz="2800" i="1">
                                  <a:latin typeface="Cambria Math" panose="02040503050406030204" pitchFamily="18" charset="0"/>
                                </a:rPr>
                              </m:ctrlPr>
                            </m:sSubPr>
                            <m:e>
                              <m:r>
                                <a:rPr lang="en-US" sz="2800" i="1">
                                  <a:latin typeface="Cambria Math"/>
                                </a:rPr>
                                <m:t>𝐸</m:t>
                              </m:r>
                            </m:e>
                            <m:sub>
                              <m:r>
                                <a:rPr lang="en-US" sz="2800" b="0" i="1" smtClean="0">
                                  <a:latin typeface="Cambria Math"/>
                                </a:rPr>
                                <m:t>1</m:t>
                              </m:r>
                            </m:sub>
                          </m:sSub>
                          <m:r>
                            <a:rPr lang="en-US" sz="2800" i="1">
                              <a:latin typeface="Cambria Math"/>
                            </a:rPr>
                            <m:t>(</m:t>
                          </m:r>
                          <m:r>
                            <a:rPr lang="en-US" sz="2800" i="1">
                              <a:latin typeface="Cambria Math"/>
                            </a:rPr>
                            <m:t>𝑠</m:t>
                          </m:r>
                          <m:r>
                            <a:rPr lang="en-US" sz="2800" i="1">
                              <a:latin typeface="Cambria Math"/>
                            </a:rPr>
                            <m:t>)</m:t>
                          </m:r>
                        </m:den>
                      </m:f>
                      <m:r>
                        <a:rPr lang="en-US" sz="2800" b="0" i="1" smtClean="0">
                          <a:latin typeface="Cambria Math"/>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𝑠</m:t>
                          </m:r>
                          <m:r>
                            <a:rPr lang="en-US" sz="2800" b="0" i="1" smtClean="0">
                              <a:latin typeface="Cambria Math"/>
                              <a:ea typeface="Cambria Math"/>
                            </a:rPr>
                            <m:t>+</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1</m:t>
                              </m:r>
                            </m:num>
                            <m:den>
                              <m:r>
                                <a:rPr lang="en-US" sz="2800" b="0" i="1" smtClean="0">
                                  <a:latin typeface="Cambria Math"/>
                                  <a:ea typeface="Cambria Math"/>
                                </a:rPr>
                                <m:t>𝑇</m:t>
                              </m:r>
                            </m:den>
                          </m:f>
                        </m:num>
                        <m:den>
                          <m:r>
                            <a:rPr lang="en-US" sz="2800" i="1">
                              <a:latin typeface="Cambria Math"/>
                              <a:ea typeface="Cambria Math"/>
                            </a:rPr>
                            <m:t>𝑠</m:t>
                          </m:r>
                          <m:r>
                            <a:rPr lang="en-US" sz="2800" i="1">
                              <a:latin typeface="Cambria Math"/>
                              <a:ea typeface="Cambria Math"/>
                            </a:rPr>
                            <m:t>+</m:t>
                          </m:r>
                          <m:f>
                            <m:fPr>
                              <m:ctrlPr>
                                <a:rPr lang="en-US" sz="2800" i="1" smtClean="0">
                                  <a:latin typeface="Cambria Math" panose="02040503050406030204" pitchFamily="18" charset="0"/>
                                  <a:ea typeface="Cambria Math"/>
                                </a:rPr>
                              </m:ctrlPr>
                            </m:fPr>
                            <m:num>
                              <m:r>
                                <a:rPr lang="en-US" sz="2800" b="0" i="1" smtClean="0">
                                  <a:latin typeface="Cambria Math"/>
                                  <a:ea typeface="Cambria Math"/>
                                </a:rPr>
                                <m:t>1</m:t>
                              </m:r>
                            </m:num>
                            <m:den>
                              <m:r>
                                <a:rPr lang="en-US" sz="2800" i="1" smtClean="0">
                                  <a:latin typeface="Cambria Math"/>
                                  <a:ea typeface="Cambria Math"/>
                                </a:rPr>
                                <m:t>𝛽</m:t>
                              </m:r>
                              <m:r>
                                <a:rPr lang="en-US" sz="2800" b="0" i="1" smtClean="0">
                                  <a:latin typeface="Cambria Math"/>
                                  <a:ea typeface="Cambria Math"/>
                                </a:rPr>
                                <m:t>𝑇</m:t>
                              </m:r>
                            </m:den>
                          </m:f>
                        </m:den>
                      </m:f>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420198" y="5207752"/>
                <a:ext cx="4617086" cy="1640898"/>
              </a:xfrm>
              <a:prstGeom prst="rect">
                <a:avLst/>
              </a:prstGeom>
              <a:blipFill rotWithShape="1">
                <a:blip r:embed="rId5"/>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7A0D5CAB-8BF0-4EA3-BAE4-9835C852A49B}" type="slidenum">
              <a:rPr lang="en-GB" smtClean="0"/>
              <a:pPr/>
              <a:t>15</a:t>
            </a:fld>
            <a:endParaRPr lang="en-GB" dirty="0"/>
          </a:p>
        </p:txBody>
      </p:sp>
    </p:spTree>
    <p:extLst>
      <p:ext uri="{BB962C8B-B14F-4D97-AF65-F5344CB8AC3E}">
        <p14:creationId xmlns:p14="http://schemas.microsoft.com/office/powerpoint/2010/main" val="231783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763000" cy="1020762"/>
          </a:xfrm>
        </p:spPr>
        <p:txBody>
          <a:bodyPr>
            <a:noAutofit/>
          </a:bodyPr>
          <a:lstStyle/>
          <a:p>
            <a:r>
              <a:rPr lang="en-US" sz="3800" dirty="0"/>
              <a:t>Mechanical Lag Compensator (Home Work)</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143000"/>
            <a:ext cx="2581275"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A0D5CAB-8BF0-4EA3-BAE4-9835C852A49B}" type="slidenum">
              <a:rPr lang="en-GB" smtClean="0"/>
              <a:pPr/>
              <a:t>16</a:t>
            </a:fld>
            <a:endParaRPr lang="en-GB" dirty="0"/>
          </a:p>
        </p:txBody>
      </p:sp>
    </p:spTree>
    <p:extLst>
      <p:ext uri="{BB962C8B-B14F-4D97-AF65-F5344CB8AC3E}">
        <p14:creationId xmlns:p14="http://schemas.microsoft.com/office/powerpoint/2010/main" val="3137459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a:t>
            </a:r>
          </a:p>
        </p:txBody>
      </p:sp>
      <p:sp>
        <p:nvSpPr>
          <p:cNvPr id="3" name="Content Placeholder 2"/>
          <p:cNvSpPr>
            <a:spLocks noGrp="1"/>
          </p:cNvSpPr>
          <p:nvPr>
            <p:ph idx="1"/>
          </p:nvPr>
        </p:nvSpPr>
        <p:spPr>
          <a:xfrm>
            <a:off x="76200" y="1417637"/>
            <a:ext cx="8763000" cy="4525963"/>
          </a:xfrm>
        </p:spPr>
        <p:txBody>
          <a:bodyPr>
            <a:normAutofit/>
          </a:bodyPr>
          <a:lstStyle/>
          <a:p>
            <a:pPr algn="just"/>
            <a:r>
              <a:rPr lang="en-US" sz="2600" dirty="0"/>
              <a:t>The procedure for designing lag compensators by the root-locus method may be stated as follows.</a:t>
            </a:r>
          </a:p>
          <a:p>
            <a:pPr algn="just"/>
            <a:endParaRPr lang="en-US" sz="2600" dirty="0"/>
          </a:p>
          <a:p>
            <a:pPr algn="just"/>
            <a:r>
              <a:rPr lang="en-US" sz="2600" dirty="0"/>
              <a:t>We will assume that the uncompensated system meets the transient-response specifications by simple gain adjustment.</a:t>
            </a:r>
          </a:p>
          <a:p>
            <a:pPr algn="just"/>
            <a:endParaRPr lang="en-US" sz="2600" dirty="0"/>
          </a:p>
          <a:p>
            <a:pPr algn="just"/>
            <a:r>
              <a:rPr lang="en-US" sz="2600" dirty="0"/>
              <a:t> If this is not the case then we need to design a lag-lead compensator which we will discuss in next few classes.  </a:t>
            </a:r>
          </a:p>
        </p:txBody>
      </p:sp>
      <p:sp>
        <p:nvSpPr>
          <p:cNvPr id="4" name="Slide Number Placeholder 3"/>
          <p:cNvSpPr>
            <a:spLocks noGrp="1"/>
          </p:cNvSpPr>
          <p:nvPr>
            <p:ph type="sldNum" sz="quarter" idx="12"/>
          </p:nvPr>
        </p:nvSpPr>
        <p:spPr/>
        <p:txBody>
          <a:bodyPr/>
          <a:lstStyle/>
          <a:p>
            <a:fld id="{7A0D5CAB-8BF0-4EA3-BAE4-9835C852A49B}" type="slidenum">
              <a:rPr lang="en-GB" smtClean="0"/>
              <a:pPr/>
              <a:t>17</a:t>
            </a:fld>
            <a:endParaRPr lang="en-GB" dirty="0"/>
          </a:p>
        </p:txBody>
      </p:sp>
    </p:spTree>
    <p:extLst>
      <p:ext uri="{BB962C8B-B14F-4D97-AF65-F5344CB8AC3E}">
        <p14:creationId xmlns:p14="http://schemas.microsoft.com/office/powerpoint/2010/main" val="3526258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p:sp>
        <p:nvSpPr>
          <p:cNvPr id="3" name="Content Placeholder 2"/>
          <p:cNvSpPr>
            <a:spLocks noGrp="1"/>
          </p:cNvSpPr>
          <p:nvPr>
            <p:ph idx="1"/>
          </p:nvPr>
        </p:nvSpPr>
        <p:spPr>
          <a:xfrm>
            <a:off x="76200" y="1417637"/>
            <a:ext cx="8763000" cy="4525963"/>
          </a:xfrm>
        </p:spPr>
        <p:txBody>
          <a:bodyPr>
            <a:normAutofit/>
          </a:bodyPr>
          <a:lstStyle/>
          <a:p>
            <a:pPr algn="just"/>
            <a:r>
              <a:rPr lang="en-US" sz="2800" b="1" dirty="0">
                <a:solidFill>
                  <a:srgbClr val="FF0000"/>
                </a:solidFill>
              </a:rPr>
              <a:t>Step-1</a:t>
            </a:r>
          </a:p>
          <a:p>
            <a:pPr lvl="1" algn="just"/>
            <a:endParaRPr lang="en-US" sz="2400" dirty="0"/>
          </a:p>
          <a:p>
            <a:pPr lvl="1" algn="just"/>
            <a:r>
              <a:rPr lang="en-US" sz="2400" dirty="0"/>
              <a:t>Draw the root-locus plot for the uncompensated system whose open-loop transfer function is </a:t>
            </a:r>
            <a:r>
              <a:rPr lang="en-US" sz="2400" dirty="0">
                <a:solidFill>
                  <a:srgbClr val="FF0000"/>
                </a:solidFill>
              </a:rPr>
              <a:t>G(s)</a:t>
            </a:r>
            <a:r>
              <a:rPr lang="en-US" sz="2400" dirty="0"/>
              <a:t>. </a:t>
            </a:r>
          </a:p>
          <a:p>
            <a:pPr lvl="1" algn="just"/>
            <a:endParaRPr lang="en-US" sz="2400" dirty="0"/>
          </a:p>
          <a:p>
            <a:pPr lvl="1" algn="just"/>
            <a:r>
              <a:rPr lang="en-US" sz="2400" dirty="0"/>
              <a:t>Based on the transient-response specifications, locate the dominant closed-loop poles on the root locus.</a:t>
            </a:r>
          </a:p>
        </p:txBody>
      </p:sp>
      <p:sp>
        <p:nvSpPr>
          <p:cNvPr id="4" name="Slide Number Placeholder 3"/>
          <p:cNvSpPr>
            <a:spLocks noGrp="1"/>
          </p:cNvSpPr>
          <p:nvPr>
            <p:ph type="sldNum" sz="quarter" idx="12"/>
          </p:nvPr>
        </p:nvSpPr>
        <p:spPr/>
        <p:txBody>
          <a:bodyPr/>
          <a:lstStyle/>
          <a:p>
            <a:fld id="{7A0D5CAB-8BF0-4EA3-BAE4-9835C852A49B}" type="slidenum">
              <a:rPr lang="en-GB" smtClean="0"/>
              <a:pPr/>
              <a:t>18</a:t>
            </a:fld>
            <a:endParaRPr lang="en-GB" dirty="0"/>
          </a:p>
        </p:txBody>
      </p:sp>
    </p:spTree>
    <p:extLst>
      <p:ext uri="{BB962C8B-B14F-4D97-AF65-F5344CB8AC3E}">
        <p14:creationId xmlns:p14="http://schemas.microsoft.com/office/powerpoint/2010/main" val="2150913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p:sp>
        <p:nvSpPr>
          <p:cNvPr id="3" name="Content Placeholder 2"/>
          <p:cNvSpPr>
            <a:spLocks noGrp="1"/>
          </p:cNvSpPr>
          <p:nvPr>
            <p:ph idx="1"/>
          </p:nvPr>
        </p:nvSpPr>
        <p:spPr>
          <a:xfrm>
            <a:off x="76200" y="1417637"/>
            <a:ext cx="8763000" cy="4525963"/>
          </a:xfrm>
        </p:spPr>
        <p:txBody>
          <a:bodyPr>
            <a:normAutofit/>
          </a:bodyPr>
          <a:lstStyle/>
          <a:p>
            <a:pPr algn="just"/>
            <a:r>
              <a:rPr lang="en-US" sz="2800" b="1" dirty="0">
                <a:solidFill>
                  <a:srgbClr val="FF0000"/>
                </a:solidFill>
              </a:rPr>
              <a:t>Step-2</a:t>
            </a:r>
          </a:p>
          <a:p>
            <a:pPr lvl="1" algn="just"/>
            <a:endParaRPr lang="en-US" sz="2400" dirty="0"/>
          </a:p>
          <a:p>
            <a:pPr lvl="1" algn="just"/>
            <a:r>
              <a:rPr lang="en-US" sz="2400" dirty="0"/>
              <a:t>Assume the transfer function of the lag compensator to be given by following equation</a:t>
            </a:r>
          </a:p>
          <a:p>
            <a:pPr lvl="1" algn="just"/>
            <a:endParaRPr lang="en-US" sz="2400" dirty="0"/>
          </a:p>
          <a:p>
            <a:pPr lvl="1" algn="just"/>
            <a:endParaRPr lang="en-US" sz="2400" dirty="0"/>
          </a:p>
          <a:p>
            <a:pPr lvl="1" algn="just"/>
            <a:endParaRPr lang="en-US" sz="2400" dirty="0"/>
          </a:p>
          <a:p>
            <a:pPr lvl="1" algn="just"/>
            <a:endParaRPr lang="en-US" sz="2400" dirty="0"/>
          </a:p>
          <a:p>
            <a:pPr lvl="1" algn="just"/>
            <a:r>
              <a:rPr lang="en-US" sz="2400" dirty="0"/>
              <a:t>Then the open-loop transfer function of the compensated system becomes </a:t>
            </a:r>
            <a:r>
              <a:rPr lang="en-US" sz="2400" dirty="0" err="1">
                <a:solidFill>
                  <a:srgbClr val="FF0000"/>
                </a:solidFill>
              </a:rPr>
              <a:t>G</a:t>
            </a:r>
            <a:r>
              <a:rPr lang="en-US" sz="2400" baseline="-25000" dirty="0" err="1">
                <a:solidFill>
                  <a:srgbClr val="FF0000"/>
                </a:solidFill>
              </a:rPr>
              <a:t>c</a:t>
            </a:r>
            <a:r>
              <a:rPr lang="en-US" sz="2400" dirty="0">
                <a:solidFill>
                  <a:srgbClr val="FF0000"/>
                </a:solidFill>
              </a:rPr>
              <a:t>(s)G(s)</a:t>
            </a:r>
            <a:r>
              <a:rPr lang="en-US" sz="2400" dirty="0"/>
              <a:t>.</a:t>
            </a:r>
          </a:p>
        </p:txBody>
      </p:sp>
      <mc:AlternateContent xmlns:mc="http://schemas.openxmlformats.org/markup-compatibility/2006" xmlns:a14="http://schemas.microsoft.com/office/drawing/2010/main">
        <mc:Choice Requires="a14">
          <p:sp>
            <p:nvSpPr>
              <p:cNvPr id="5" name="TextBox 4"/>
              <p:cNvSpPr txBox="1"/>
              <p:nvPr/>
            </p:nvSpPr>
            <p:spPr>
              <a:xfrm>
                <a:off x="2209800" y="3352800"/>
                <a:ext cx="4876800" cy="1231171"/>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r>
                      <a:rPr lang="en-US" sz="3200" b="0" i="1" smtClean="0">
                        <a:latin typeface="Cambria Math"/>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i="1">
                                <a:latin typeface="Cambria Math"/>
                              </a:rPr>
                              <m:t>𝐾</m:t>
                            </m:r>
                          </m:e>
                        </m:acc>
                      </m:e>
                      <m:sub>
                        <m:r>
                          <a:rPr lang="en-US" sz="3200" b="0" i="1" smtClean="0">
                            <a:latin typeface="Cambria Math"/>
                          </a:rPr>
                          <m:t>𝑐</m:t>
                        </m:r>
                      </m:sub>
                    </m:sSub>
                    <m:r>
                      <a:rPr lang="en-US" sz="3200" b="0" i="1" smtClean="0">
                        <a:latin typeface="Cambria Math"/>
                        <a:ea typeface="Cambria Math"/>
                      </a:rPr>
                      <m:t>𝛽</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𝑇𝑠</m:t>
                        </m:r>
                        <m:r>
                          <a:rPr lang="en-US" sz="3200" b="0" i="1" smtClean="0">
                            <a:latin typeface="Cambria Math"/>
                            <a:ea typeface="Cambria Math"/>
                          </a:rPr>
                          <m:t>+1</m:t>
                        </m:r>
                      </m:num>
                      <m:den>
                        <m:r>
                          <a:rPr lang="en-US" sz="3200" b="0" i="1" smtClean="0">
                            <a:latin typeface="Cambria Math"/>
                            <a:ea typeface="Cambria Math"/>
                          </a:rPr>
                          <m:t>𝛽</m:t>
                        </m:r>
                        <m:r>
                          <a:rPr lang="en-US" sz="3200" b="0" i="1" smtClean="0">
                            <a:latin typeface="Cambria Math"/>
                            <a:ea typeface="Cambria Math"/>
                          </a:rPr>
                          <m:t>𝑇𝑠</m:t>
                        </m:r>
                        <m:r>
                          <a:rPr lang="en-US" sz="3200" b="0" i="1" smtClean="0">
                            <a:latin typeface="Cambria Math"/>
                            <a:ea typeface="Cambria Math"/>
                          </a:rPr>
                          <m:t>+1</m:t>
                        </m:r>
                      </m:den>
                    </m:f>
                  </m:oMath>
                </a14:m>
                <a:r>
                  <a:rPr lang="en-US" sz="3200" dirty="0"/>
                  <a:t>=</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a:rPr>
                              <m:t>𝐾</m:t>
                            </m:r>
                          </m:e>
                        </m:acc>
                      </m:e>
                      <m:sub>
                        <m:r>
                          <a:rPr lang="en-US" sz="3200" i="1">
                            <a:latin typeface="Cambria Math"/>
                          </a:rPr>
                          <m:t>𝑐</m:t>
                        </m:r>
                      </m:sub>
                    </m:sSub>
                    <m:f>
                      <m:fPr>
                        <m:ctrlPr>
                          <a:rPr lang="en-US" sz="3200" i="1">
                            <a:latin typeface="Cambria Math" panose="02040503050406030204" pitchFamily="18" charset="0"/>
                            <a:ea typeface="Cambria Math"/>
                          </a:rPr>
                        </m:ctrlPr>
                      </m:fPr>
                      <m:num>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𝑇</m:t>
                            </m:r>
                          </m:den>
                        </m:f>
                      </m:num>
                      <m:den>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𝛽</m:t>
                            </m:r>
                            <m:r>
                              <a:rPr lang="en-US" sz="3200" i="1">
                                <a:latin typeface="Cambria Math"/>
                                <a:ea typeface="Cambria Math"/>
                              </a:rPr>
                              <m:t>𝑇</m:t>
                            </m:r>
                          </m:den>
                        </m:f>
                      </m:den>
                    </m:f>
                  </m:oMath>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209800" y="3352800"/>
                <a:ext cx="4876800" cy="1231171"/>
              </a:xfrm>
              <a:prstGeom prst="rect">
                <a:avLst/>
              </a:prstGeom>
              <a:blipFill rotWithShape="1">
                <a:blip r:embed="rId2"/>
                <a:stretch>
                  <a:fillRect r="-21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19</a:t>
            </a:fld>
            <a:endParaRPr lang="en-GB" dirty="0"/>
          </a:p>
        </p:txBody>
      </p:sp>
    </p:spTree>
    <p:extLst>
      <p:ext uri="{BB962C8B-B14F-4D97-AF65-F5344CB8AC3E}">
        <p14:creationId xmlns:p14="http://schemas.microsoft.com/office/powerpoint/2010/main" val="75971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 fill="hold"/>
                                        <p:tgtEl>
                                          <p:spTgt spid="5"/>
                                        </p:tgtEl>
                                        <p:attrNameLst>
                                          <p:attrName>ppt_x</p:attrName>
                                        </p:attrNameLst>
                                      </p:cBhvr>
                                      <p:tavLst>
                                        <p:tav tm="0">
                                          <p:val>
                                            <p:strVal val="#ppt_x"/>
                                          </p:val>
                                        </p:tav>
                                        <p:tav tm="100000">
                                          <p:val>
                                            <p:strVal val="#ppt_x"/>
                                          </p:val>
                                        </p:tav>
                                      </p:tavLst>
                                    </p:anim>
                                    <p:anim calcmode="lin" valueType="num">
                                      <p:cBhvr additive="base">
                                        <p:cTn id="8" dur="1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p:sp>
        <p:nvSpPr>
          <p:cNvPr id="3" name="Content Placeholder 2"/>
          <p:cNvSpPr>
            <a:spLocks noGrp="1"/>
          </p:cNvSpPr>
          <p:nvPr>
            <p:ph idx="1"/>
          </p:nvPr>
        </p:nvSpPr>
        <p:spPr>
          <a:xfrm>
            <a:off x="76200" y="1417637"/>
            <a:ext cx="8763000" cy="4525963"/>
          </a:xfrm>
        </p:spPr>
        <p:txBody>
          <a:bodyPr>
            <a:normAutofit/>
          </a:bodyPr>
          <a:lstStyle/>
          <a:p>
            <a:pPr algn="just"/>
            <a:r>
              <a:rPr lang="en-US" sz="2800" b="1" dirty="0">
                <a:solidFill>
                  <a:srgbClr val="FF0000"/>
                </a:solidFill>
              </a:rPr>
              <a:t>Step-3</a:t>
            </a:r>
          </a:p>
          <a:p>
            <a:pPr lvl="1" algn="just"/>
            <a:endParaRPr lang="en-US" sz="2400" dirty="0"/>
          </a:p>
          <a:p>
            <a:pPr lvl="1" algn="just"/>
            <a:r>
              <a:rPr lang="en-US" sz="2400" dirty="0"/>
              <a:t>Evaluate the particular static error constant specified in the problem.</a:t>
            </a:r>
          </a:p>
          <a:p>
            <a:pPr lvl="1" algn="just"/>
            <a:endParaRPr lang="en-US" sz="2400" dirty="0"/>
          </a:p>
          <a:p>
            <a:pPr lvl="1" algn="just"/>
            <a:r>
              <a:rPr lang="en-US" sz="2400" dirty="0"/>
              <a:t>Determine the amount of increase in the static error constant necessary to satisfy the specifications.</a:t>
            </a:r>
          </a:p>
        </p:txBody>
      </p:sp>
      <p:sp>
        <p:nvSpPr>
          <p:cNvPr id="4" name="Slide Number Placeholder 3"/>
          <p:cNvSpPr>
            <a:spLocks noGrp="1"/>
          </p:cNvSpPr>
          <p:nvPr>
            <p:ph type="sldNum" sz="quarter" idx="12"/>
          </p:nvPr>
        </p:nvSpPr>
        <p:spPr/>
        <p:txBody>
          <a:bodyPr/>
          <a:lstStyle/>
          <a:p>
            <a:fld id="{7A0D5CAB-8BF0-4EA3-BAE4-9835C852A49B}" type="slidenum">
              <a:rPr lang="en-GB" smtClean="0"/>
              <a:pPr/>
              <a:t>20</a:t>
            </a:fld>
            <a:endParaRPr lang="en-GB" dirty="0"/>
          </a:p>
        </p:txBody>
      </p:sp>
    </p:spTree>
    <p:extLst>
      <p:ext uri="{BB962C8B-B14F-4D97-AF65-F5344CB8AC3E}">
        <p14:creationId xmlns:p14="http://schemas.microsoft.com/office/powerpoint/2010/main" val="159998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p:sp>
        <p:nvSpPr>
          <p:cNvPr id="3" name="Content Placeholder 2"/>
          <p:cNvSpPr>
            <a:spLocks noGrp="1"/>
          </p:cNvSpPr>
          <p:nvPr>
            <p:ph idx="1"/>
          </p:nvPr>
        </p:nvSpPr>
        <p:spPr>
          <a:xfrm>
            <a:off x="76200" y="1417637"/>
            <a:ext cx="8763000" cy="4830763"/>
          </a:xfrm>
        </p:spPr>
        <p:txBody>
          <a:bodyPr>
            <a:normAutofit fontScale="92500"/>
          </a:bodyPr>
          <a:lstStyle/>
          <a:p>
            <a:pPr algn="just"/>
            <a:r>
              <a:rPr lang="en-US" sz="2800" b="1" dirty="0">
                <a:solidFill>
                  <a:srgbClr val="FF0000"/>
                </a:solidFill>
              </a:rPr>
              <a:t>Step-4</a:t>
            </a:r>
          </a:p>
          <a:p>
            <a:pPr lvl="1" algn="just"/>
            <a:endParaRPr lang="en-US" sz="2400" dirty="0"/>
          </a:p>
          <a:p>
            <a:pPr lvl="1" algn="just"/>
            <a:r>
              <a:rPr lang="en-US" dirty="0"/>
              <a:t>Determine the pole and zero of the lag compensator that produce the necessary increase in the particular static error constant without appreciably altering the original root loci. </a:t>
            </a:r>
          </a:p>
          <a:p>
            <a:pPr lvl="1" algn="just"/>
            <a:endParaRPr lang="en-US" dirty="0"/>
          </a:p>
          <a:p>
            <a:pPr lvl="1" algn="just"/>
            <a:r>
              <a:rPr lang="en-US" dirty="0"/>
              <a:t>The ratio of the value of gain required in the specifications and the gain found in the uncompensated system is the required ratio between the distance of the zero from the origin and that of the pole from the origin.</a:t>
            </a:r>
            <a:endParaRPr lang="en-US" sz="6800"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21</a:t>
            </a:fld>
            <a:endParaRPr lang="en-GB" dirty="0"/>
          </a:p>
        </p:txBody>
      </p:sp>
    </p:spTree>
    <p:extLst>
      <p:ext uri="{BB962C8B-B14F-4D97-AF65-F5344CB8AC3E}">
        <p14:creationId xmlns:p14="http://schemas.microsoft.com/office/powerpoint/2010/main" val="1127416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p:sp>
        <p:nvSpPr>
          <p:cNvPr id="3" name="Content Placeholder 2"/>
          <p:cNvSpPr>
            <a:spLocks noGrp="1"/>
          </p:cNvSpPr>
          <p:nvPr>
            <p:ph idx="1"/>
          </p:nvPr>
        </p:nvSpPr>
        <p:spPr>
          <a:xfrm>
            <a:off x="76200" y="1417637"/>
            <a:ext cx="8991600" cy="5287963"/>
          </a:xfrm>
        </p:spPr>
        <p:txBody>
          <a:bodyPr>
            <a:normAutofit fontScale="85000" lnSpcReduction="20000"/>
          </a:bodyPr>
          <a:lstStyle/>
          <a:p>
            <a:pPr algn="just"/>
            <a:r>
              <a:rPr lang="en-US" sz="2800" b="1" dirty="0">
                <a:solidFill>
                  <a:srgbClr val="FF0000"/>
                </a:solidFill>
              </a:rPr>
              <a:t>Step-5</a:t>
            </a:r>
          </a:p>
          <a:p>
            <a:pPr lvl="1" algn="just"/>
            <a:endParaRPr lang="en-US" sz="2400" dirty="0"/>
          </a:p>
          <a:p>
            <a:pPr lvl="1" algn="just"/>
            <a:r>
              <a:rPr lang="en-US" dirty="0"/>
              <a:t>Draw a new root-locus plot for the compensated system. </a:t>
            </a:r>
          </a:p>
          <a:p>
            <a:pPr lvl="1" algn="just"/>
            <a:endParaRPr lang="en-US" dirty="0"/>
          </a:p>
          <a:p>
            <a:pPr lvl="1" algn="just"/>
            <a:r>
              <a:rPr lang="en-US" dirty="0"/>
              <a:t>Locate the desired dominant closed-loop poles on the root locus. </a:t>
            </a:r>
          </a:p>
          <a:p>
            <a:pPr lvl="1" algn="just"/>
            <a:endParaRPr lang="en-US" dirty="0"/>
          </a:p>
          <a:p>
            <a:pPr lvl="1" algn="just"/>
            <a:r>
              <a:rPr lang="en-US" dirty="0"/>
              <a:t>(If the angle contribution of the lag network is very small—that is, a few degrees—then the original and new root loci are almost identical. </a:t>
            </a:r>
          </a:p>
          <a:p>
            <a:pPr lvl="1" algn="just"/>
            <a:endParaRPr lang="en-US" dirty="0"/>
          </a:p>
          <a:p>
            <a:pPr lvl="1" algn="just"/>
            <a:r>
              <a:rPr lang="en-US" dirty="0"/>
              <a:t>Otherwise, there will be a slight discrepancy between them. </a:t>
            </a:r>
          </a:p>
          <a:p>
            <a:pPr lvl="1" algn="just"/>
            <a:endParaRPr lang="en-US" dirty="0"/>
          </a:p>
          <a:p>
            <a:pPr lvl="1" algn="just"/>
            <a:r>
              <a:rPr lang="en-US" dirty="0"/>
              <a:t>Then locate, on the new root locus, the desired dominant closed-loop poles based on the transient-response specifications.</a:t>
            </a:r>
            <a:endParaRPr lang="en-US" sz="9200"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22</a:t>
            </a:fld>
            <a:endParaRPr lang="en-GB" dirty="0"/>
          </a:p>
        </p:txBody>
      </p:sp>
    </p:spTree>
    <p:extLst>
      <p:ext uri="{BB962C8B-B14F-4D97-AF65-F5344CB8AC3E}">
        <p14:creationId xmlns:p14="http://schemas.microsoft.com/office/powerpoint/2010/main" val="1814799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dirty="0"/>
              <a:t>Design Procedure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1417637"/>
                <a:ext cx="8991600" cy="5287963"/>
              </a:xfrm>
            </p:spPr>
            <p:txBody>
              <a:bodyPr>
                <a:normAutofit/>
              </a:bodyPr>
              <a:lstStyle/>
              <a:p>
                <a:pPr algn="just"/>
                <a:r>
                  <a:rPr lang="en-US" sz="2800" b="1" dirty="0">
                    <a:solidFill>
                      <a:srgbClr val="FF0000"/>
                    </a:solidFill>
                  </a:rPr>
                  <a:t>Step-6</a:t>
                </a:r>
              </a:p>
              <a:p>
                <a:pPr lvl="1" algn="just"/>
                <a:endParaRPr lang="en-US" sz="2400" dirty="0"/>
              </a:p>
              <a:p>
                <a:pPr lvl="1" algn="just"/>
                <a:r>
                  <a:rPr lang="en-US" sz="2400" dirty="0"/>
                  <a:t>Adjust gain of the compensator from the magnitude condition so that the dominant closed-loop poles lie at the desired location. </a:t>
                </a:r>
              </a:p>
              <a:p>
                <a:pPr lvl="1" algn="just"/>
                <a:endParaRPr lang="en-US" sz="2400" dirty="0"/>
              </a:p>
              <a:p>
                <a:pPr lvl="1" algn="just"/>
                <a14:m>
                  <m:oMath xmlns:m="http://schemas.openxmlformats.org/officeDocument/2006/math">
                    <m:sSub>
                      <m:sSubPr>
                        <m:ctrlPr>
                          <a:rPr lang="en-US" sz="2400" i="1" smtClean="0">
                            <a:solidFill>
                              <a:srgbClr val="FF0000"/>
                            </a:solidFill>
                            <a:latin typeface="Cambria Math" panose="02040503050406030204" pitchFamily="18" charset="0"/>
                          </a:rPr>
                        </m:ctrlPr>
                      </m:sSubPr>
                      <m:e>
                        <m:acc>
                          <m:accPr>
                            <m:chr m:val="̂"/>
                            <m:ctrlPr>
                              <a:rPr lang="en-US" sz="2400" i="1">
                                <a:solidFill>
                                  <a:srgbClr val="FF0000"/>
                                </a:solidFill>
                                <a:latin typeface="Cambria Math" panose="02040503050406030204" pitchFamily="18" charset="0"/>
                              </a:rPr>
                            </m:ctrlPr>
                          </m:accPr>
                          <m:e>
                            <m:r>
                              <a:rPr lang="en-US" sz="2400" i="1">
                                <a:solidFill>
                                  <a:srgbClr val="FF0000"/>
                                </a:solidFill>
                                <a:latin typeface="Cambria Math"/>
                              </a:rPr>
                              <m:t>𝐾</m:t>
                            </m:r>
                          </m:e>
                        </m:acc>
                      </m:e>
                      <m:sub>
                        <m:r>
                          <a:rPr lang="en-US" sz="2400" i="1">
                            <a:solidFill>
                              <a:srgbClr val="FF0000"/>
                            </a:solidFill>
                            <a:latin typeface="Cambria Math"/>
                          </a:rPr>
                          <m:t>𝑐</m:t>
                        </m:r>
                      </m:sub>
                    </m:sSub>
                  </m:oMath>
                </a14:m>
                <a:r>
                  <a:rPr lang="en-US" sz="2400" dirty="0"/>
                  <a:t> will be approximately </a:t>
                </a:r>
                <a:r>
                  <a:rPr lang="en-US" sz="2400" dirty="0">
                    <a:solidFill>
                      <a:srgbClr val="FF0000"/>
                    </a:solidFill>
                  </a:rPr>
                  <a:t>1</a:t>
                </a:r>
                <a:r>
                  <a:rPr lang="en-US" sz="24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1417637"/>
                <a:ext cx="8991600" cy="5287963"/>
              </a:xfrm>
              <a:blipFill rotWithShape="1">
                <a:blip r:embed="rId2"/>
                <a:stretch>
                  <a:fillRect l="-1220" t="-1038" r="-183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23</a:t>
            </a:fld>
            <a:endParaRPr lang="en-GB" dirty="0"/>
          </a:p>
        </p:txBody>
      </p:sp>
    </p:spTree>
    <p:extLst>
      <p:ext uri="{BB962C8B-B14F-4D97-AF65-F5344CB8AC3E}">
        <p14:creationId xmlns:p14="http://schemas.microsoft.com/office/powerpoint/2010/main" val="948186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2"/>
            <a:ext cx="8229600" cy="808038"/>
          </a:xfrm>
        </p:spPr>
        <p:txBody>
          <a:bodyPr/>
          <a:lstStyle/>
          <a:p>
            <a:r>
              <a:rPr lang="en-US" dirty="0"/>
              <a:t>Example-1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62000"/>
                <a:ext cx="8839200" cy="5791200"/>
              </a:xfrm>
            </p:spPr>
            <p:txBody>
              <a:bodyPr>
                <a:normAutofit/>
              </a:bodyPr>
              <a:lstStyle/>
              <a:p>
                <a:pPr algn="just"/>
                <a:r>
                  <a:rPr lang="en-US" sz="2600" dirty="0"/>
                  <a:t>Consider the system shown in following figure. </a:t>
                </a:r>
              </a:p>
              <a:p>
                <a:pPr algn="just"/>
                <a:endParaRPr lang="en-US" sz="2600" dirty="0"/>
              </a:p>
              <a:p>
                <a:pPr algn="just"/>
                <a:endParaRPr lang="en-US" sz="2600" dirty="0"/>
              </a:p>
              <a:p>
                <a:pPr algn="just"/>
                <a:endParaRPr lang="en-US" sz="2600" dirty="0"/>
              </a:p>
              <a:p>
                <a:pPr algn="just"/>
                <a:endParaRPr lang="en-US" sz="2800" dirty="0"/>
              </a:p>
              <a:p>
                <a:pPr algn="just"/>
                <a:r>
                  <a:rPr lang="en-US" sz="2600" dirty="0"/>
                  <a:t>The damping ratio of the dominant closed-loop poles is </a:t>
                </a:r>
                <a14:m>
                  <m:oMath xmlns:m="http://schemas.openxmlformats.org/officeDocument/2006/math">
                    <m:r>
                      <a:rPr lang="en-US" sz="2600" b="0" i="1" smtClean="0">
                        <a:solidFill>
                          <a:srgbClr val="FF0000"/>
                        </a:solidFill>
                        <a:latin typeface="Cambria Math"/>
                      </a:rPr>
                      <m:t>0.491</m:t>
                    </m:r>
                  </m:oMath>
                </a14:m>
                <a:r>
                  <a:rPr lang="en-US" sz="2600" dirty="0"/>
                  <a:t>. The undamped natural frequency of the dominant closed-loop poles is </a:t>
                </a:r>
                <a:r>
                  <a:rPr lang="en-US" sz="2600" dirty="0">
                    <a:solidFill>
                      <a:srgbClr val="FF0000"/>
                    </a:solidFill>
                  </a:rPr>
                  <a:t>0.673 rad/sec</a:t>
                </a:r>
                <a:r>
                  <a:rPr lang="en-US" sz="2600" dirty="0"/>
                  <a:t>. The static velocity error constant is </a:t>
                </a:r>
                <a:r>
                  <a:rPr lang="en-US" sz="2600" dirty="0">
                    <a:solidFill>
                      <a:srgbClr val="FF0000"/>
                    </a:solidFill>
                  </a:rPr>
                  <a:t>0.53 sec</a:t>
                </a:r>
                <a:r>
                  <a:rPr lang="en-US" sz="2600" baseline="30000" dirty="0">
                    <a:solidFill>
                      <a:srgbClr val="FF0000"/>
                    </a:solidFill>
                  </a:rPr>
                  <a:t>–1</a:t>
                </a:r>
                <a:r>
                  <a:rPr lang="en-US" sz="2600" dirty="0"/>
                  <a:t>.</a:t>
                </a:r>
              </a:p>
              <a:p>
                <a:pPr algn="just"/>
                <a:endParaRPr lang="en-US" sz="800" dirty="0"/>
              </a:p>
              <a:p>
                <a:pPr algn="just"/>
                <a:r>
                  <a:rPr lang="en-US" sz="2600" dirty="0"/>
                  <a:t>It is desired to increase the static velocity error constant </a:t>
                </a:r>
                <a:r>
                  <a:rPr lang="en-US" sz="2600" i="1" dirty="0" err="1">
                    <a:solidFill>
                      <a:srgbClr val="FF0000"/>
                    </a:solidFill>
                  </a:rPr>
                  <a:t>K</a:t>
                </a:r>
                <a:r>
                  <a:rPr lang="en-US" sz="2600" baseline="-25000" dirty="0" err="1">
                    <a:solidFill>
                      <a:srgbClr val="FF0000"/>
                    </a:solidFill>
                  </a:rPr>
                  <a:t>v</a:t>
                </a:r>
                <a:r>
                  <a:rPr lang="en-US" sz="2600" dirty="0"/>
                  <a:t> to about </a:t>
                </a:r>
                <a:r>
                  <a:rPr lang="en-US" sz="2600" dirty="0">
                    <a:solidFill>
                      <a:srgbClr val="FF0000"/>
                    </a:solidFill>
                  </a:rPr>
                  <a:t>5 sec</a:t>
                </a:r>
                <a:r>
                  <a:rPr lang="en-US" sz="2600" baseline="30000" dirty="0">
                    <a:solidFill>
                      <a:srgbClr val="FF0000"/>
                    </a:solidFill>
                  </a:rPr>
                  <a:t>–1</a:t>
                </a:r>
                <a:r>
                  <a:rPr lang="en-US" sz="2600" dirty="0">
                    <a:solidFill>
                      <a:srgbClr val="FF0000"/>
                    </a:solidFill>
                  </a:rPr>
                  <a:t> </a:t>
                </a:r>
                <a:r>
                  <a:rPr lang="en-US" sz="2600" dirty="0"/>
                  <a:t>without appreciably changing the location of the dominant closed-loop poles.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62000"/>
                <a:ext cx="8839200" cy="5791200"/>
              </a:xfrm>
              <a:blipFill rotWithShape="1">
                <a:blip r:embed="rId2"/>
                <a:stretch>
                  <a:fillRect l="-1034" t="-842" r="-2138"/>
                </a:stretch>
              </a:blipFill>
            </p:spPr>
            <p:txBody>
              <a:bodyPr/>
              <a:lstStyle/>
              <a:p>
                <a:r>
                  <a:rPr 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371600"/>
            <a:ext cx="5581508" cy="1685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7A0D5CAB-8BF0-4EA3-BAE4-9835C852A49B}" type="slidenum">
              <a:rPr lang="en-GB" smtClean="0"/>
              <a:pPr/>
              <a:t>24</a:t>
            </a:fld>
            <a:endParaRPr lang="en-GB" dirty="0"/>
          </a:p>
        </p:txBody>
      </p:sp>
    </p:spTree>
    <p:extLst>
      <p:ext uri="{BB962C8B-B14F-4D97-AF65-F5344CB8AC3E}">
        <p14:creationId xmlns:p14="http://schemas.microsoft.com/office/powerpoint/2010/main" val="706910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4238"/>
          </a:xfrm>
        </p:spPr>
        <p:txBody>
          <a:bodyPr/>
          <a:lstStyle/>
          <a:p>
            <a:r>
              <a:rPr lang="en-US" dirty="0"/>
              <a:t>Example-1 (Step-1)</a:t>
            </a:r>
          </a:p>
        </p:txBody>
      </p:sp>
      <p:sp>
        <p:nvSpPr>
          <p:cNvPr id="3" name="Content Placeholder 2"/>
          <p:cNvSpPr>
            <a:spLocks noGrp="1"/>
          </p:cNvSpPr>
          <p:nvPr>
            <p:ph idx="1"/>
          </p:nvPr>
        </p:nvSpPr>
        <p:spPr>
          <a:xfrm>
            <a:off x="76200" y="1143000"/>
            <a:ext cx="8839200" cy="4525963"/>
          </a:xfrm>
        </p:spPr>
        <p:txBody>
          <a:bodyPr>
            <a:normAutofit/>
          </a:bodyPr>
          <a:lstStyle/>
          <a:p>
            <a:pPr algn="just"/>
            <a:r>
              <a:rPr lang="en-US" sz="2800" dirty="0"/>
              <a:t>The dominant closed-loop poles of given system are</a:t>
            </a:r>
            <a:endParaRPr lang="en-US" sz="2600" dirty="0"/>
          </a:p>
        </p:txBody>
      </p:sp>
      <p:sp>
        <p:nvSpPr>
          <p:cNvPr id="4" name="Rectangle 3"/>
          <p:cNvSpPr/>
          <p:nvPr/>
        </p:nvSpPr>
        <p:spPr>
          <a:xfrm>
            <a:off x="457200" y="2895600"/>
            <a:ext cx="2765501" cy="461665"/>
          </a:xfrm>
          <a:prstGeom prst="rect">
            <a:avLst/>
          </a:prstGeom>
        </p:spPr>
        <p:txBody>
          <a:bodyPr wrap="none">
            <a:spAutoFit/>
          </a:bodyPr>
          <a:lstStyle/>
          <a:p>
            <a:r>
              <a:rPr lang="en-US" sz="2400" dirty="0"/>
              <a:t>s = -0.3307 ± j0.5864</a:t>
            </a:r>
          </a:p>
        </p:txBody>
      </p:sp>
      <p:grpSp>
        <p:nvGrpSpPr>
          <p:cNvPr id="6" name="Group 5"/>
          <p:cNvGrpSpPr/>
          <p:nvPr/>
        </p:nvGrpSpPr>
        <p:grpSpPr>
          <a:xfrm>
            <a:off x="4114800" y="1758288"/>
            <a:ext cx="4894643" cy="4920516"/>
            <a:chOff x="4114800" y="1758288"/>
            <a:chExt cx="4894643" cy="4920516"/>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0696" y="1758288"/>
              <a:ext cx="4638747" cy="4920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114800" y="4876800"/>
              <a:ext cx="6858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Slide Number Placeholder 6"/>
          <p:cNvSpPr>
            <a:spLocks noGrp="1"/>
          </p:cNvSpPr>
          <p:nvPr>
            <p:ph type="sldNum" sz="quarter" idx="12"/>
          </p:nvPr>
        </p:nvSpPr>
        <p:spPr/>
        <p:txBody>
          <a:bodyPr/>
          <a:lstStyle/>
          <a:p>
            <a:fld id="{7A0D5CAB-8BF0-4EA3-BAE4-9835C852A49B}" type="slidenum">
              <a:rPr lang="en-GB" smtClean="0"/>
              <a:pPr/>
              <a:t>25</a:t>
            </a:fld>
            <a:endParaRPr lang="en-GB" dirty="0"/>
          </a:p>
        </p:txBody>
      </p:sp>
    </p:spTree>
    <p:extLst>
      <p:ext uri="{BB962C8B-B14F-4D97-AF65-F5344CB8AC3E}">
        <p14:creationId xmlns:p14="http://schemas.microsoft.com/office/powerpoint/2010/main" val="398140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4238"/>
          </a:xfrm>
        </p:spPr>
        <p:txBody>
          <a:bodyPr/>
          <a:lstStyle/>
          <a:p>
            <a:r>
              <a:rPr lang="en-US" dirty="0"/>
              <a:t>Example-1 (Step-2)</a:t>
            </a:r>
          </a:p>
        </p:txBody>
      </p:sp>
      <p:sp>
        <p:nvSpPr>
          <p:cNvPr id="3" name="Content Placeholder 2"/>
          <p:cNvSpPr>
            <a:spLocks noGrp="1"/>
          </p:cNvSpPr>
          <p:nvPr>
            <p:ph idx="1"/>
          </p:nvPr>
        </p:nvSpPr>
        <p:spPr>
          <a:xfrm>
            <a:off x="76200" y="1143000"/>
            <a:ext cx="8839200" cy="4525963"/>
          </a:xfrm>
        </p:spPr>
        <p:txBody>
          <a:bodyPr>
            <a:normAutofit/>
          </a:bodyPr>
          <a:lstStyle/>
          <a:p>
            <a:pPr algn="just"/>
            <a:r>
              <a:rPr lang="en-US" sz="2800" dirty="0"/>
              <a:t>According to given conditions we need to add following compensator to fulfill the requirement. </a:t>
            </a:r>
            <a:endParaRPr lang="en-US" sz="2600" dirty="0"/>
          </a:p>
        </p:txBody>
      </p:sp>
      <mc:AlternateContent xmlns:mc="http://schemas.openxmlformats.org/markup-compatibility/2006" xmlns:a14="http://schemas.microsoft.com/office/drawing/2010/main">
        <mc:Choice Requires="a14">
          <p:sp>
            <p:nvSpPr>
              <p:cNvPr id="8" name="TextBox 7"/>
              <p:cNvSpPr txBox="1"/>
              <p:nvPr/>
            </p:nvSpPr>
            <p:spPr>
              <a:xfrm>
                <a:off x="2362200" y="2790395"/>
                <a:ext cx="4876800" cy="1231171"/>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r>
                      <a:rPr lang="en-US" sz="3200" b="0" i="1" smtClean="0">
                        <a:latin typeface="Cambria Math"/>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i="1">
                                <a:latin typeface="Cambria Math"/>
                              </a:rPr>
                              <m:t>𝐾</m:t>
                            </m:r>
                          </m:e>
                        </m:acc>
                      </m:e>
                      <m:sub>
                        <m:r>
                          <a:rPr lang="en-US" sz="3200" b="0" i="1" smtClean="0">
                            <a:latin typeface="Cambria Math"/>
                          </a:rPr>
                          <m:t>𝑐</m:t>
                        </m:r>
                      </m:sub>
                    </m:sSub>
                    <m:r>
                      <a:rPr lang="en-US" sz="3200" b="0" i="1" smtClean="0">
                        <a:latin typeface="Cambria Math"/>
                        <a:ea typeface="Cambria Math"/>
                      </a:rPr>
                      <m:t>𝛽</m:t>
                    </m:r>
                    <m:f>
                      <m:fPr>
                        <m:ctrlPr>
                          <a:rPr lang="en-US" sz="3200" b="0" i="1" smtClean="0">
                            <a:latin typeface="Cambria Math" panose="02040503050406030204" pitchFamily="18" charset="0"/>
                            <a:ea typeface="Cambria Math"/>
                          </a:rPr>
                        </m:ctrlPr>
                      </m:fPr>
                      <m:num>
                        <m:r>
                          <a:rPr lang="en-US" sz="3200" b="0" i="1" smtClean="0">
                            <a:latin typeface="Cambria Math"/>
                            <a:ea typeface="Cambria Math"/>
                          </a:rPr>
                          <m:t>𝑇𝑠</m:t>
                        </m:r>
                        <m:r>
                          <a:rPr lang="en-US" sz="3200" b="0" i="1" smtClean="0">
                            <a:latin typeface="Cambria Math"/>
                            <a:ea typeface="Cambria Math"/>
                          </a:rPr>
                          <m:t>+1</m:t>
                        </m:r>
                      </m:num>
                      <m:den>
                        <m:r>
                          <a:rPr lang="en-US" sz="3200" b="0" i="1" smtClean="0">
                            <a:latin typeface="Cambria Math"/>
                            <a:ea typeface="Cambria Math"/>
                          </a:rPr>
                          <m:t>𝛽</m:t>
                        </m:r>
                        <m:r>
                          <a:rPr lang="en-US" sz="3200" b="0" i="1" smtClean="0">
                            <a:latin typeface="Cambria Math"/>
                            <a:ea typeface="Cambria Math"/>
                          </a:rPr>
                          <m:t>𝑇𝑠</m:t>
                        </m:r>
                        <m:r>
                          <a:rPr lang="en-US" sz="3200" b="0" i="1" smtClean="0">
                            <a:latin typeface="Cambria Math"/>
                            <a:ea typeface="Cambria Math"/>
                          </a:rPr>
                          <m:t>+1</m:t>
                        </m:r>
                      </m:den>
                    </m:f>
                  </m:oMath>
                </a14:m>
                <a:r>
                  <a:rPr lang="en-US" sz="3200" dirty="0"/>
                  <a:t>=</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a:rPr>
                              <m:t>𝐾</m:t>
                            </m:r>
                          </m:e>
                        </m:acc>
                      </m:e>
                      <m:sub>
                        <m:r>
                          <a:rPr lang="en-US" sz="3200" i="1">
                            <a:latin typeface="Cambria Math"/>
                          </a:rPr>
                          <m:t>𝑐</m:t>
                        </m:r>
                      </m:sub>
                    </m:sSub>
                    <m:f>
                      <m:fPr>
                        <m:ctrlPr>
                          <a:rPr lang="en-US" sz="3200" i="1">
                            <a:latin typeface="Cambria Math" panose="02040503050406030204" pitchFamily="18" charset="0"/>
                            <a:ea typeface="Cambria Math"/>
                          </a:rPr>
                        </m:ctrlPr>
                      </m:fPr>
                      <m:num>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𝑇</m:t>
                            </m:r>
                          </m:den>
                        </m:f>
                      </m:num>
                      <m:den>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𝛽</m:t>
                            </m:r>
                            <m:r>
                              <a:rPr lang="en-US" sz="3200" i="1">
                                <a:latin typeface="Cambria Math"/>
                                <a:ea typeface="Cambria Math"/>
                              </a:rPr>
                              <m:t>𝑇</m:t>
                            </m:r>
                          </m:den>
                        </m:f>
                      </m:den>
                    </m:f>
                  </m:oMath>
                </a14:m>
                <a:endParaRPr lang="en-US"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2362200" y="2790395"/>
                <a:ext cx="4876800" cy="1231171"/>
              </a:xfrm>
              <a:prstGeom prst="rect">
                <a:avLst/>
              </a:prstGeom>
              <a:blipFill rotWithShape="0">
                <a:blip r:embed="rId2"/>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26</a:t>
            </a:fld>
            <a:endParaRPr lang="en-GB" dirty="0"/>
          </a:p>
        </p:txBody>
      </p:sp>
    </p:spTree>
    <p:extLst>
      <p:ext uri="{BB962C8B-B14F-4D97-AF65-F5344CB8AC3E}">
        <p14:creationId xmlns:p14="http://schemas.microsoft.com/office/powerpoint/2010/main" val="285147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 fill="hold"/>
                                        <p:tgtEl>
                                          <p:spTgt spid="8"/>
                                        </p:tgtEl>
                                        <p:attrNameLst>
                                          <p:attrName>ppt_x</p:attrName>
                                        </p:attrNameLst>
                                      </p:cBhvr>
                                      <p:tavLst>
                                        <p:tav tm="0">
                                          <p:val>
                                            <p:strVal val="#ppt_x"/>
                                          </p:val>
                                        </p:tav>
                                        <p:tav tm="100000">
                                          <p:val>
                                            <p:strVal val="#ppt_x"/>
                                          </p:val>
                                        </p:tav>
                                      </p:tavLst>
                                    </p:anim>
                                    <p:anim calcmode="lin" valueType="num">
                                      <p:cBhvr additive="base">
                                        <p:cTn id="8" dur="1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838200"/>
                <a:ext cx="8839200" cy="4525963"/>
              </a:xfrm>
            </p:spPr>
            <p:txBody>
              <a:bodyPr>
                <a:normAutofit/>
              </a:bodyPr>
              <a:lstStyle/>
              <a:p>
                <a:pPr algn="just"/>
                <a:r>
                  <a:rPr lang="en-US" sz="2600" dirty="0"/>
                  <a:t>The static velocity error constant of the plant </a:t>
                </a:r>
                <a:r>
                  <a:rPr lang="en-US" sz="2600" dirty="0">
                    <a:solidFill>
                      <a:srgbClr val="FF0000"/>
                    </a:solidFill>
                  </a:rPr>
                  <a:t>(</a:t>
                </a:r>
                <a14:m>
                  <m:oMath xmlns:m="http://schemas.openxmlformats.org/officeDocument/2006/math">
                    <m:sSub>
                      <m:sSubPr>
                        <m:ctrlPr>
                          <a:rPr lang="en-US" sz="2600" i="1">
                            <a:solidFill>
                              <a:srgbClr val="FF0000"/>
                            </a:solidFill>
                            <a:latin typeface="Cambria Math" panose="02040503050406030204" pitchFamily="18" charset="0"/>
                          </a:rPr>
                        </m:ctrlPr>
                      </m:sSubPr>
                      <m:e>
                        <m:r>
                          <a:rPr lang="en-US" sz="2600" i="1">
                            <a:solidFill>
                              <a:srgbClr val="FF0000"/>
                            </a:solidFill>
                            <a:latin typeface="Cambria Math"/>
                          </a:rPr>
                          <m:t>𝐾</m:t>
                        </m:r>
                      </m:e>
                      <m:sub>
                        <m:r>
                          <a:rPr lang="en-US" sz="2600" i="1">
                            <a:solidFill>
                              <a:srgbClr val="FF0000"/>
                            </a:solidFill>
                            <a:latin typeface="Cambria Math"/>
                          </a:rPr>
                          <m:t>𝑣</m:t>
                        </m:r>
                      </m:sub>
                    </m:sSub>
                  </m:oMath>
                </a14:m>
                <a:r>
                  <a:rPr lang="en-US" sz="2600" dirty="0">
                    <a:solidFill>
                      <a:srgbClr val="FF0000"/>
                    </a:solidFill>
                  </a:rPr>
                  <a:t>) </a:t>
                </a:r>
                <a:r>
                  <a:rPr lang="en-US" sz="2600" dirty="0"/>
                  <a:t>is</a:t>
                </a:r>
              </a:p>
              <a:p>
                <a:pPr algn="just"/>
                <a:endParaRPr lang="en-US" sz="2600" dirty="0"/>
              </a:p>
              <a:p>
                <a:pPr algn="just"/>
                <a:endParaRPr lang="en-US" sz="2600" dirty="0"/>
              </a:p>
              <a:p>
                <a:pPr algn="just"/>
                <a:endParaRPr lang="en-US" sz="2000" dirty="0"/>
              </a:p>
              <a:p>
                <a:pPr algn="just"/>
                <a:r>
                  <a:rPr lang="en-US" sz="2600" dirty="0"/>
                  <a:t>The desired static velocity error constant </a:t>
                </a:r>
                <a:r>
                  <a:rPr lang="en-US" sz="2600" dirty="0">
                    <a:solidFill>
                      <a:srgbClr val="FF0000"/>
                    </a:solidFill>
                  </a:rPr>
                  <a:t>(</a:t>
                </a:r>
                <a14:m>
                  <m:oMath xmlns:m="http://schemas.openxmlformats.org/officeDocument/2006/math">
                    <m:sSub>
                      <m:sSubPr>
                        <m:ctrlPr>
                          <a:rPr lang="en-US" sz="2600" i="1">
                            <a:solidFill>
                              <a:srgbClr val="FF0000"/>
                            </a:solidFill>
                            <a:latin typeface="Cambria Math" panose="02040503050406030204" pitchFamily="18" charset="0"/>
                          </a:rPr>
                        </m:ctrlPr>
                      </m:sSubPr>
                      <m:e>
                        <m:acc>
                          <m:accPr>
                            <m:chr m:val="̂"/>
                            <m:ctrlPr>
                              <a:rPr lang="en-US" sz="2600" i="1">
                                <a:solidFill>
                                  <a:srgbClr val="FF0000"/>
                                </a:solidFill>
                                <a:latin typeface="Cambria Math" panose="02040503050406030204" pitchFamily="18" charset="0"/>
                              </a:rPr>
                            </m:ctrlPr>
                          </m:accPr>
                          <m:e>
                            <m:r>
                              <a:rPr lang="en-US" sz="2600" i="1">
                                <a:solidFill>
                                  <a:srgbClr val="FF0000"/>
                                </a:solidFill>
                                <a:latin typeface="Cambria Math"/>
                              </a:rPr>
                              <m:t>𝐾</m:t>
                            </m:r>
                          </m:e>
                        </m:acc>
                      </m:e>
                      <m:sub>
                        <m:r>
                          <a:rPr lang="en-US" sz="2600" i="1">
                            <a:solidFill>
                              <a:srgbClr val="FF0000"/>
                            </a:solidFill>
                            <a:latin typeface="Cambria Math"/>
                          </a:rPr>
                          <m:t>𝑣</m:t>
                        </m:r>
                      </m:sub>
                    </m:sSub>
                  </m:oMath>
                </a14:m>
                <a:r>
                  <a:rPr lang="en-US" sz="2600" dirty="0">
                    <a:solidFill>
                      <a:srgbClr val="FF0000"/>
                    </a:solidFill>
                  </a:rPr>
                  <a:t>) </a:t>
                </a:r>
                <a:r>
                  <a:rPr lang="en-US" sz="2600" dirty="0"/>
                  <a:t>of the compensated system is </a:t>
                </a:r>
                <a14:m>
                  <m:oMath xmlns:m="http://schemas.openxmlformats.org/officeDocument/2006/math">
                    <m:r>
                      <a:rPr lang="en-US" sz="2600" i="1" smtClean="0">
                        <a:solidFill>
                          <a:srgbClr val="FF0000"/>
                        </a:solidFill>
                        <a:latin typeface="Cambria Math"/>
                      </a:rPr>
                      <m:t>5</m:t>
                    </m:r>
                    <m:sSup>
                      <m:sSupPr>
                        <m:ctrlPr>
                          <a:rPr lang="en-US" sz="2600" i="1">
                            <a:solidFill>
                              <a:srgbClr val="FF0000"/>
                            </a:solidFill>
                            <a:latin typeface="Cambria Math" panose="02040503050406030204" pitchFamily="18" charset="0"/>
                          </a:rPr>
                        </m:ctrlPr>
                      </m:sSupPr>
                      <m:e>
                        <m:r>
                          <a:rPr lang="en-US" sz="2600" i="1">
                            <a:solidFill>
                              <a:srgbClr val="FF0000"/>
                            </a:solidFill>
                            <a:latin typeface="Cambria Math"/>
                          </a:rPr>
                          <m:t>𝑠</m:t>
                        </m:r>
                      </m:e>
                      <m:sup>
                        <m:r>
                          <a:rPr lang="en-US" sz="2600" i="1">
                            <a:solidFill>
                              <a:srgbClr val="FF0000"/>
                            </a:solidFill>
                            <a:latin typeface="Cambria Math"/>
                          </a:rPr>
                          <m:t>−1</m:t>
                        </m:r>
                      </m:sup>
                    </m:sSup>
                  </m:oMath>
                </a14:m>
                <a:r>
                  <a:rPr lang="en-US" sz="26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838200"/>
                <a:ext cx="8839200" cy="4525963"/>
              </a:xfrm>
              <a:blipFill rotWithShape="1">
                <a:blip r:embed="rId2"/>
                <a:stretch>
                  <a:fillRect l="-1034" t="-1078" r="-2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981200" y="3896879"/>
                <a:ext cx="5597623" cy="675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𝑣</m:t>
                          </m:r>
                        </m:sub>
                      </m:sSub>
                      <m:r>
                        <a:rPr lang="en-US" sz="2800" b="0" i="1" smtClean="0">
                          <a:latin typeface="Cambria Math"/>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a:rPr>
                                <m:t>lim</m:t>
                              </m:r>
                            </m:e>
                            <m:lim>
                              <m:r>
                                <a:rPr lang="en-US" sz="2800" b="0" i="1" smtClean="0">
                                  <a:latin typeface="Cambria Math"/>
                                </a:rPr>
                                <m:t>𝑠</m:t>
                              </m:r>
                              <m:r>
                                <a:rPr lang="en-US" sz="2800" b="0" i="1" smtClean="0">
                                  <a:latin typeface="Cambria Math"/>
                                  <a:ea typeface="Cambria Math"/>
                                </a:rPr>
                                <m:t>→0</m:t>
                              </m:r>
                            </m:lim>
                          </m:limLow>
                        </m:fName>
                        <m:e>
                          <m:r>
                            <a:rPr lang="en-US" sz="2800" b="0" i="1" smtClean="0">
                              <a:latin typeface="Cambria Math"/>
                            </a:rPr>
                            <m:t>𝑠</m:t>
                          </m:r>
                          <m:sSub>
                            <m:sSubPr>
                              <m:ctrlPr>
                                <a:rPr lang="en-US" sz="2800" b="0" i="1" smtClean="0">
                                  <a:latin typeface="Cambria Math" panose="02040503050406030204" pitchFamily="18" charset="0"/>
                                </a:rPr>
                              </m:ctrlPr>
                            </m:sSubPr>
                            <m:e>
                              <m:r>
                                <a:rPr lang="en-US" sz="2800" b="0" i="1" smtClean="0">
                                  <a:latin typeface="Cambria Math"/>
                                </a:rPr>
                                <m:t>𝐺</m:t>
                              </m:r>
                            </m:e>
                            <m:sub>
                              <m:r>
                                <a:rPr lang="en-US" sz="2800" b="0" i="1" smtClean="0">
                                  <a:latin typeface="Cambria Math"/>
                                </a:rPr>
                                <m:t>𝑐</m:t>
                              </m:r>
                            </m:sub>
                          </m:sSub>
                          <m:d>
                            <m:dPr>
                              <m:ctrlPr>
                                <a:rPr lang="en-US" sz="2800" b="0" i="1" smtClean="0">
                                  <a:latin typeface="Cambria Math" panose="02040503050406030204" pitchFamily="18" charset="0"/>
                                </a:rPr>
                              </m:ctrlPr>
                            </m:dPr>
                            <m:e>
                              <m:r>
                                <a:rPr lang="en-US" sz="2800" b="0" i="1" smtClean="0">
                                  <a:latin typeface="Cambria Math"/>
                                </a:rPr>
                                <m:t>𝑠</m:t>
                              </m:r>
                            </m:e>
                          </m:d>
                          <m:r>
                            <a:rPr lang="en-US" sz="2800" b="0" i="1" smtClean="0">
                              <a:latin typeface="Cambria Math"/>
                            </a:rPr>
                            <m:t>𝐺</m:t>
                          </m:r>
                          <m:r>
                            <a:rPr lang="en-US" sz="2800" b="0" i="1" smtClean="0">
                              <a:latin typeface="Cambria Math"/>
                            </a:rPr>
                            <m:t>(</m:t>
                          </m:r>
                          <m:r>
                            <a:rPr lang="en-US" sz="2800" b="0" i="1" smtClean="0">
                              <a:latin typeface="Cambria Math"/>
                            </a:rPr>
                            <m:t>𝑠</m:t>
                          </m:r>
                          <m:r>
                            <a:rPr lang="en-US" sz="2800" b="0" i="1" smtClean="0">
                              <a:latin typeface="Cambria Math"/>
                            </a:rPr>
                            <m:t>)</m:t>
                          </m:r>
                        </m:e>
                      </m:func>
                      <m:r>
                        <a:rPr lang="en-US" sz="2800" b="0" i="1" smtClean="0">
                          <a:latin typeface="Cambria Math"/>
                        </a:rPr>
                        <m:t>=</m:t>
                      </m:r>
                      <m:sSub>
                        <m:sSubPr>
                          <m:ctrlPr>
                            <a:rPr lang="en-US" sz="2800" i="1">
                              <a:latin typeface="Cambria Math" panose="02040503050406030204" pitchFamily="18" charset="0"/>
                            </a:rPr>
                          </m:ctrlPr>
                        </m:sSubPr>
                        <m:e>
                          <m:r>
                            <a:rPr lang="en-US" sz="2800" i="1">
                              <a:latin typeface="Cambria Math"/>
                            </a:rPr>
                            <m:t>𝐾</m:t>
                          </m:r>
                        </m:e>
                        <m:sub>
                          <m:r>
                            <a:rPr lang="en-US" sz="2800" i="1">
                              <a:latin typeface="Cambria Math"/>
                            </a:rPr>
                            <m:t>𝑣</m:t>
                          </m:r>
                        </m:sub>
                      </m:sSub>
                      <m:limLow>
                        <m:limLowPr>
                          <m:ctrlPr>
                            <a:rPr lang="en-US" sz="2800" i="1">
                              <a:latin typeface="Cambria Math" panose="02040503050406030204" pitchFamily="18" charset="0"/>
                            </a:rPr>
                          </m:ctrlPr>
                        </m:limLowPr>
                        <m:e>
                          <m:r>
                            <m:rPr>
                              <m:sty m:val="p"/>
                            </m:rPr>
                            <a:rPr lang="en-US" sz="2800">
                              <a:latin typeface="Cambria Math"/>
                            </a:rPr>
                            <m:t>lim</m:t>
                          </m:r>
                        </m:e>
                        <m:lim>
                          <m:r>
                            <a:rPr lang="en-US" sz="2800" i="1">
                              <a:latin typeface="Cambria Math"/>
                            </a:rPr>
                            <m:t>𝑠</m:t>
                          </m:r>
                          <m:r>
                            <a:rPr lang="en-US" sz="2800" i="1">
                              <a:latin typeface="Cambria Math"/>
                              <a:ea typeface="Cambria Math"/>
                            </a:rPr>
                            <m:t>→0</m:t>
                          </m:r>
                        </m:lim>
                      </m:limLow>
                      <m:sSub>
                        <m:sSubPr>
                          <m:ctrlPr>
                            <a:rPr lang="en-US" sz="2800" i="1">
                              <a:latin typeface="Cambria Math" panose="02040503050406030204" pitchFamily="18" charset="0"/>
                            </a:rPr>
                          </m:ctrlPr>
                        </m:sSubPr>
                        <m:e>
                          <m:r>
                            <a:rPr lang="en-US" sz="2800" i="1">
                              <a:latin typeface="Cambria Math"/>
                            </a:rPr>
                            <m:t>𝐺</m:t>
                          </m:r>
                        </m:e>
                        <m:sub>
                          <m:r>
                            <a:rPr lang="en-US" sz="2800" i="1">
                              <a:latin typeface="Cambria Math"/>
                            </a:rPr>
                            <m:t>𝑐</m:t>
                          </m:r>
                        </m:sub>
                      </m:sSub>
                      <m:d>
                        <m:dPr>
                          <m:ctrlPr>
                            <a:rPr lang="en-US" sz="2800" i="1">
                              <a:latin typeface="Cambria Math" panose="02040503050406030204" pitchFamily="18" charset="0"/>
                            </a:rPr>
                          </m:ctrlPr>
                        </m:dPr>
                        <m:e>
                          <m:r>
                            <a:rPr lang="en-US" sz="2800" i="1">
                              <a:latin typeface="Cambria Math"/>
                            </a:rPr>
                            <m:t>𝑠</m:t>
                          </m:r>
                        </m:e>
                      </m:d>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981200" y="3896879"/>
                <a:ext cx="5597623" cy="675121"/>
              </a:xfrm>
              <a:prstGeom prst="rect">
                <a:avLst/>
              </a:prstGeom>
              <a:blipFill rotWithShape="1">
                <a:blip r:embed="rId3"/>
                <a:stretch>
                  <a:fillRect t="-4505" r="-2397" b="-63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390930" y="4981206"/>
                <a:ext cx="4619470" cy="14957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limLow>
                        <m:limLowPr>
                          <m:ctrlPr>
                            <a:rPr lang="en-US" sz="2600" i="1">
                              <a:latin typeface="Cambria Math" panose="02040503050406030204" pitchFamily="18" charset="0"/>
                            </a:rPr>
                          </m:ctrlPr>
                        </m:limLowPr>
                        <m:e>
                          <m:r>
                            <m:rPr>
                              <m:sty m:val="p"/>
                            </m:rPr>
                            <a:rPr lang="en-US" sz="2600">
                              <a:latin typeface="Cambria Math"/>
                            </a:rPr>
                            <m:t>lim</m:t>
                          </m:r>
                        </m:e>
                        <m:lim>
                          <m:r>
                            <a:rPr lang="en-US" sz="2600" i="1">
                              <a:latin typeface="Cambria Math"/>
                            </a:rPr>
                            <m:t>𝑠</m:t>
                          </m:r>
                          <m:r>
                            <a:rPr lang="en-US" sz="2600" i="1">
                              <a:latin typeface="Cambria Math"/>
                              <a:ea typeface="Cambria Math"/>
                            </a:rPr>
                            <m:t>→0</m:t>
                          </m:r>
                        </m:lim>
                      </m:limLow>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f>
                        <m:fPr>
                          <m:ctrlPr>
                            <a:rPr lang="en-US" sz="2600" i="1">
                              <a:latin typeface="Cambria Math" panose="02040503050406030204" pitchFamily="18" charset="0"/>
                              <a:ea typeface="Cambria Math"/>
                            </a:rPr>
                          </m:ctrlPr>
                        </m:fPr>
                        <m:num>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𝑇</m:t>
                              </m:r>
                            </m:den>
                          </m:f>
                        </m:num>
                        <m:den>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𝛽</m:t>
                              </m:r>
                              <m:r>
                                <a:rPr lang="en-US" sz="2600" i="1">
                                  <a:latin typeface="Cambria Math"/>
                                  <a:ea typeface="Cambria Math"/>
                                </a:rPr>
                                <m:t>𝑇</m:t>
                              </m:r>
                            </m:den>
                          </m:f>
                        </m:den>
                      </m:f>
                      <m:r>
                        <a:rPr lang="en-US" sz="2600" b="0" i="1" smtClean="0">
                          <a:latin typeface="Cambria Math"/>
                          <a:ea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r>
                        <a:rPr lang="en-US" sz="2600" i="1" smtClean="0">
                          <a:latin typeface="Cambria Math"/>
                          <a:ea typeface="Cambria Math"/>
                        </a:rPr>
                        <m:t>𝛽</m:t>
                      </m:r>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2390930" y="4981206"/>
                <a:ext cx="4619470" cy="1495794"/>
              </a:xfrm>
              <a:prstGeom prst="rect">
                <a:avLst/>
              </a:prstGeom>
              <a:blipFill rotWithShape="1">
                <a:blip r:embed="rId4"/>
                <a:stretch>
                  <a:fillRect r="-27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50649" y="1551901"/>
                <a:ext cx="8083751" cy="962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𝐾</m:t>
                          </m:r>
                        </m:e>
                        <m:sub>
                          <m:r>
                            <a:rPr lang="en-US" sz="2800" b="0" i="1" smtClean="0">
                              <a:latin typeface="Cambria Math"/>
                            </a:rPr>
                            <m:t>𝑣</m:t>
                          </m:r>
                        </m:sub>
                      </m:sSub>
                      <m:r>
                        <a:rPr lang="en-US" sz="2800" b="0" i="1" smtClean="0">
                          <a:latin typeface="Cambria Math"/>
                        </a:rPr>
                        <m:t>=</m:t>
                      </m:r>
                      <m:limLow>
                        <m:limLowPr>
                          <m:ctrlPr>
                            <a:rPr lang="en-US" sz="2800" i="1">
                              <a:latin typeface="Cambria Math" panose="02040503050406030204" pitchFamily="18" charset="0"/>
                            </a:rPr>
                          </m:ctrlPr>
                        </m:limLowPr>
                        <m:e>
                          <m:r>
                            <m:rPr>
                              <m:sty m:val="p"/>
                            </m:rPr>
                            <a:rPr lang="en-US" sz="2800">
                              <a:latin typeface="Cambria Math"/>
                            </a:rPr>
                            <m:t>lim</m:t>
                          </m:r>
                        </m:e>
                        <m:lim>
                          <m:r>
                            <a:rPr lang="en-US" sz="2800" i="1">
                              <a:latin typeface="Cambria Math"/>
                            </a:rPr>
                            <m:t>𝑠</m:t>
                          </m:r>
                          <m:r>
                            <a:rPr lang="en-US" sz="2800" i="1">
                              <a:latin typeface="Cambria Math"/>
                              <a:ea typeface="Cambria Math"/>
                            </a:rPr>
                            <m:t>→0</m:t>
                          </m:r>
                        </m:lim>
                      </m:limLow>
                      <m:r>
                        <a:rPr lang="en-US" sz="2800" b="0" i="1" smtClean="0">
                          <a:latin typeface="Cambria Math"/>
                          <a:ea typeface="Cambria Math"/>
                        </a:rPr>
                        <m:t>𝑠𝐺</m:t>
                      </m:r>
                      <m:r>
                        <a:rPr lang="en-US" sz="2800" b="0" i="1" smtClean="0">
                          <a:latin typeface="Cambria Math"/>
                          <a:ea typeface="Cambria Math"/>
                        </a:rPr>
                        <m:t>(</m:t>
                      </m:r>
                      <m:r>
                        <a:rPr lang="en-US" sz="2800" b="0" i="1" smtClean="0">
                          <a:latin typeface="Cambria Math"/>
                          <a:ea typeface="Cambria Math"/>
                        </a:rPr>
                        <m:t>𝑠</m:t>
                      </m:r>
                      <m:r>
                        <a:rPr lang="en-US" sz="2800" b="0" i="1" smtClean="0">
                          <a:latin typeface="Cambria Math"/>
                          <a:ea typeface="Cambria Math"/>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a:rPr>
                                <m:t>lim</m:t>
                              </m:r>
                            </m:e>
                            <m:lim>
                              <m:r>
                                <a:rPr lang="en-US" sz="2800" b="0" i="1" smtClean="0">
                                  <a:latin typeface="Cambria Math"/>
                                </a:rPr>
                                <m:t>𝑠</m:t>
                              </m:r>
                              <m:r>
                                <a:rPr lang="en-US" sz="2800" b="0" i="1" smtClean="0">
                                  <a:latin typeface="Cambria Math"/>
                                  <a:ea typeface="Cambria Math"/>
                                </a:rPr>
                                <m:t>→0</m:t>
                              </m:r>
                            </m:lim>
                          </m:limLow>
                        </m:fName>
                        <m:e>
                          <m:r>
                            <a:rPr lang="en-US" sz="2800" b="0" i="1" smtClean="0">
                              <a:latin typeface="Cambria Math"/>
                            </a:rPr>
                            <m:t>𝑠</m:t>
                          </m:r>
                          <m:d>
                            <m:dPr>
                              <m:begChr m:val="["/>
                              <m:endChr m:val="]"/>
                              <m:ctrlPr>
                                <a:rPr lang="en-US" sz="2800" b="0" i="1" smtClean="0">
                                  <a:latin typeface="Cambria Math" panose="02040503050406030204" pitchFamily="18" charset="0"/>
                                  <a:ea typeface="Cambria Math"/>
                                </a:rPr>
                              </m:ctrlPr>
                            </m:dPr>
                            <m:e>
                              <m:f>
                                <m:fPr>
                                  <m:ctrlPr>
                                    <a:rPr lang="en-US" sz="2800" i="1">
                                      <a:latin typeface="Cambria Math" panose="02040503050406030204" pitchFamily="18" charset="0"/>
                                      <a:ea typeface="Cambria Math"/>
                                    </a:rPr>
                                  </m:ctrlPr>
                                </m:fPr>
                                <m:num>
                                  <m:r>
                                    <a:rPr lang="en-US" sz="2800" b="0" i="1" smtClean="0">
                                      <a:latin typeface="Cambria Math"/>
                                      <a:ea typeface="Cambria Math"/>
                                    </a:rPr>
                                    <m:t>1.06</m:t>
                                  </m:r>
                                </m:num>
                                <m:den>
                                  <m:r>
                                    <a:rPr lang="en-US" sz="2800" b="0" i="1" smtClean="0">
                                      <a:latin typeface="Cambria Math"/>
                                      <a:ea typeface="Cambria Math"/>
                                    </a:rPr>
                                    <m:t>𝑠</m:t>
                                  </m:r>
                                  <m:d>
                                    <m:dPr>
                                      <m:ctrlPr>
                                        <a:rPr lang="en-US" sz="2800" b="0" i="1" smtClean="0">
                                          <a:latin typeface="Cambria Math" panose="02040503050406030204" pitchFamily="18" charset="0"/>
                                          <a:ea typeface="Cambria Math"/>
                                        </a:rPr>
                                      </m:ctrlPr>
                                    </m:dPr>
                                    <m:e>
                                      <m:r>
                                        <a:rPr lang="en-US" sz="2800" i="1">
                                          <a:latin typeface="Cambria Math"/>
                                          <a:ea typeface="Cambria Math"/>
                                        </a:rPr>
                                        <m:t>𝑠</m:t>
                                      </m:r>
                                      <m:r>
                                        <a:rPr lang="en-US" sz="2800" i="1">
                                          <a:latin typeface="Cambria Math"/>
                                          <a:ea typeface="Cambria Math"/>
                                        </a:rPr>
                                        <m:t>+1</m:t>
                                      </m:r>
                                    </m:e>
                                  </m:d>
                                  <m:d>
                                    <m:dPr>
                                      <m:ctrlPr>
                                        <a:rPr lang="en-US" sz="2800" b="0" i="1" smtClean="0">
                                          <a:latin typeface="Cambria Math" panose="02040503050406030204" pitchFamily="18" charset="0"/>
                                          <a:ea typeface="Cambria Math"/>
                                        </a:rPr>
                                      </m:ctrlPr>
                                    </m:dPr>
                                    <m:e>
                                      <m:r>
                                        <a:rPr lang="en-US" sz="2800" b="0" i="1" smtClean="0">
                                          <a:latin typeface="Cambria Math"/>
                                          <a:ea typeface="Cambria Math"/>
                                        </a:rPr>
                                        <m:t>𝑠</m:t>
                                      </m:r>
                                      <m:r>
                                        <a:rPr lang="en-US" sz="2800" b="0" i="1" smtClean="0">
                                          <a:latin typeface="Cambria Math"/>
                                          <a:ea typeface="Cambria Math"/>
                                        </a:rPr>
                                        <m:t>+2</m:t>
                                      </m:r>
                                    </m:e>
                                  </m:d>
                                </m:den>
                              </m:f>
                            </m:e>
                          </m:d>
                          <m:r>
                            <a:rPr lang="en-US" sz="2800" b="0" i="1" smtClean="0">
                              <a:latin typeface="Cambria Math"/>
                            </a:rPr>
                            <m:t>=0.53</m:t>
                          </m:r>
                          <m:sSup>
                            <m:sSupPr>
                              <m:ctrlPr>
                                <a:rPr lang="en-US" sz="2800" b="0" i="1" smtClean="0">
                                  <a:latin typeface="Cambria Math" panose="02040503050406030204" pitchFamily="18" charset="0"/>
                                </a:rPr>
                              </m:ctrlPr>
                            </m:sSupPr>
                            <m:e>
                              <m:r>
                                <a:rPr lang="en-US" sz="2800" b="0" i="1" smtClean="0">
                                  <a:latin typeface="Cambria Math"/>
                                </a:rPr>
                                <m:t>𝑠</m:t>
                              </m:r>
                            </m:e>
                            <m:sup>
                              <m:r>
                                <a:rPr lang="en-US" sz="2800" b="0" i="1" smtClean="0">
                                  <a:latin typeface="Cambria Math"/>
                                </a:rPr>
                                <m:t>−1</m:t>
                              </m:r>
                            </m:sup>
                          </m:sSup>
                        </m:e>
                      </m:func>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450649" y="1551901"/>
                <a:ext cx="8083751" cy="962699"/>
              </a:xfrm>
              <a:prstGeom prst="rect">
                <a:avLst/>
              </a:prstGeom>
              <a:blipFill rotWithShape="1">
                <a:blip r:embed="rId5"/>
                <a:stretch>
                  <a:fillRect r="-150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27</a:t>
            </a:fld>
            <a:endParaRPr lang="en-GB" dirty="0"/>
          </a:p>
        </p:txBody>
      </p:sp>
    </p:spTree>
    <p:extLst>
      <p:ext uri="{BB962C8B-B14F-4D97-AF65-F5344CB8AC3E}">
        <p14:creationId xmlns:p14="http://schemas.microsoft.com/office/powerpoint/2010/main" val="88408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36638"/>
          </a:xfrm>
        </p:spPr>
        <p:txBody>
          <a:bodyPr>
            <a:normAutofit/>
          </a:bodyPr>
          <a:lstStyle/>
          <a:p>
            <a:r>
              <a:rPr lang="en-US" dirty="0"/>
              <a:t>Example-1 (Step-3)</a:t>
            </a:r>
          </a:p>
        </p:txBody>
      </p:sp>
      <mc:AlternateContent xmlns:mc="http://schemas.openxmlformats.org/markup-compatibility/2006" xmlns:a14="http://schemas.microsoft.com/office/drawing/2010/main">
        <mc:Choice Requires="a14">
          <p:sp>
            <p:nvSpPr>
              <p:cNvPr id="6" name="TextBox 5"/>
              <p:cNvSpPr txBox="1"/>
              <p:nvPr/>
            </p:nvSpPr>
            <p:spPr>
              <a:xfrm>
                <a:off x="2057400" y="1717357"/>
                <a:ext cx="4619470" cy="14957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limLow>
                        <m:limLowPr>
                          <m:ctrlPr>
                            <a:rPr lang="en-US" sz="2600" i="1">
                              <a:latin typeface="Cambria Math" panose="02040503050406030204" pitchFamily="18" charset="0"/>
                            </a:rPr>
                          </m:ctrlPr>
                        </m:limLowPr>
                        <m:e>
                          <m:r>
                            <m:rPr>
                              <m:sty m:val="p"/>
                            </m:rPr>
                            <a:rPr lang="en-US" sz="2600">
                              <a:latin typeface="Cambria Math"/>
                            </a:rPr>
                            <m:t>lim</m:t>
                          </m:r>
                        </m:e>
                        <m:lim>
                          <m:r>
                            <a:rPr lang="en-US" sz="2600" i="1">
                              <a:latin typeface="Cambria Math"/>
                            </a:rPr>
                            <m:t>𝑠</m:t>
                          </m:r>
                          <m:r>
                            <a:rPr lang="en-US" sz="2600" i="1">
                              <a:latin typeface="Cambria Math"/>
                              <a:ea typeface="Cambria Math"/>
                            </a:rPr>
                            <m:t>→0</m:t>
                          </m:r>
                        </m:lim>
                      </m:limLow>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f>
                        <m:fPr>
                          <m:ctrlPr>
                            <a:rPr lang="en-US" sz="2600" i="1">
                              <a:latin typeface="Cambria Math" panose="02040503050406030204" pitchFamily="18" charset="0"/>
                              <a:ea typeface="Cambria Math"/>
                            </a:rPr>
                          </m:ctrlPr>
                        </m:fPr>
                        <m:num>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𝑇</m:t>
                              </m:r>
                            </m:den>
                          </m:f>
                        </m:num>
                        <m:den>
                          <m:r>
                            <a:rPr lang="en-US" sz="2600" i="1">
                              <a:latin typeface="Cambria Math"/>
                              <a:ea typeface="Cambria Math"/>
                            </a:rPr>
                            <m:t>𝑠</m:t>
                          </m:r>
                          <m:r>
                            <a:rPr lang="en-US" sz="2600" i="1">
                              <a:latin typeface="Cambria Math"/>
                              <a:ea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m:t>
                              </m:r>
                            </m:num>
                            <m:den>
                              <m:r>
                                <a:rPr lang="en-US" sz="2600" i="1">
                                  <a:latin typeface="Cambria Math"/>
                                  <a:ea typeface="Cambria Math"/>
                                </a:rPr>
                                <m:t>𝛽</m:t>
                              </m:r>
                              <m:r>
                                <a:rPr lang="en-US" sz="2600" i="1">
                                  <a:latin typeface="Cambria Math"/>
                                  <a:ea typeface="Cambria Math"/>
                                </a:rPr>
                                <m:t>𝑇</m:t>
                              </m:r>
                            </m:den>
                          </m:f>
                        </m:den>
                      </m:f>
                      <m:r>
                        <a:rPr lang="en-US" sz="2600" b="0" i="1" smtClean="0">
                          <a:latin typeface="Cambria Math"/>
                          <a:ea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r>
                        <a:rPr lang="en-US" sz="2600" i="1" smtClean="0">
                          <a:latin typeface="Cambria Math"/>
                          <a:ea typeface="Cambria Math"/>
                        </a:rPr>
                        <m:t>𝛽</m:t>
                      </m:r>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2057400" y="1717357"/>
                <a:ext cx="4619470" cy="1495794"/>
              </a:xfrm>
              <a:prstGeom prst="rect">
                <a:avLst/>
              </a:prstGeom>
              <a:blipFill rotWithShape="1">
                <a:blip r:embed="rId2"/>
                <a:stretch>
                  <a:fillRect r="-2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807515" y="3500078"/>
                <a:ext cx="1983685" cy="50327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sSub>
                        <m:sSubPr>
                          <m:ctrlPr>
                            <a:rPr lang="en-US" sz="2600" i="1">
                              <a:latin typeface="Cambria Math" panose="02040503050406030204" pitchFamily="18" charset="0"/>
                            </a:rPr>
                          </m:ctrlPr>
                        </m:sSubPr>
                        <m:e>
                          <m:r>
                            <a:rPr lang="en-US" sz="2600" i="1">
                              <a:latin typeface="Cambria Math"/>
                            </a:rPr>
                            <m:t>𝐾</m:t>
                          </m:r>
                        </m:e>
                        <m:sub>
                          <m:r>
                            <a:rPr lang="en-US" sz="2600" i="1">
                              <a:latin typeface="Cambria Math"/>
                            </a:rPr>
                            <m:t>𝑣</m:t>
                          </m:r>
                        </m:sub>
                      </m:sSub>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𝑐</m:t>
                          </m:r>
                        </m:sub>
                      </m:sSub>
                      <m:r>
                        <a:rPr lang="en-US" sz="2600" i="1" smtClean="0">
                          <a:latin typeface="Cambria Math"/>
                          <a:ea typeface="Cambria Math"/>
                        </a:rPr>
                        <m:t>𝛽</m:t>
                      </m:r>
                    </m:oMath>
                  </m:oMathPara>
                </a14:m>
                <a:endParaRPr lang="en-US" sz="2600" dirty="0"/>
              </a:p>
            </p:txBody>
          </p:sp>
        </mc:Choice>
        <mc:Fallback xmlns="">
          <p:sp>
            <p:nvSpPr>
              <p:cNvPr id="9" name="TextBox 8"/>
              <p:cNvSpPr txBox="1">
                <a:spLocks noRot="1" noChangeAspect="1" noMove="1" noResize="1" noEditPoints="1" noAdjustHandles="1" noChangeArrowheads="1" noChangeShapeType="1" noTextEdit="1"/>
              </p:cNvSpPr>
              <p:nvPr/>
            </p:nvSpPr>
            <p:spPr>
              <a:xfrm>
                <a:off x="3807515" y="3500078"/>
                <a:ext cx="1983685" cy="503279"/>
              </a:xfrm>
              <a:prstGeom prst="rect">
                <a:avLst/>
              </a:prstGeom>
              <a:blipFill rotWithShape="1">
                <a:blip r:embed="rId3"/>
                <a:stretch>
                  <a:fillRect t="-7229" r="-7077" b="-301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807515" y="4653914"/>
                <a:ext cx="1712007"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a:rPr>
                        <m:t>5=0.53</m:t>
                      </m:r>
                      <m:r>
                        <a:rPr lang="en-US" sz="2600" i="1" smtClean="0">
                          <a:latin typeface="Cambria Math"/>
                          <a:ea typeface="Cambria Math"/>
                        </a:rPr>
                        <m:t>𝛽</m:t>
                      </m:r>
                    </m:oMath>
                  </m:oMathPara>
                </a14:m>
                <a:endParaRPr lang="en-US" sz="2600" dirty="0"/>
              </a:p>
            </p:txBody>
          </p:sp>
        </mc:Choice>
        <mc:Fallback xmlns="">
          <p:sp>
            <p:nvSpPr>
              <p:cNvPr id="10" name="TextBox 9"/>
              <p:cNvSpPr txBox="1">
                <a:spLocks noRot="1" noChangeAspect="1" noMove="1" noResize="1" noEditPoints="1" noAdjustHandles="1" noChangeArrowheads="1" noChangeShapeType="1" noTextEdit="1"/>
              </p:cNvSpPr>
              <p:nvPr/>
            </p:nvSpPr>
            <p:spPr>
              <a:xfrm>
                <a:off x="3807515" y="4653914"/>
                <a:ext cx="1712007" cy="492443"/>
              </a:xfrm>
              <a:prstGeom prst="rect">
                <a:avLst/>
              </a:prstGeom>
              <a:blipFill rotWithShape="1">
                <a:blip r:embed="rId4"/>
                <a:stretch>
                  <a:fillRect t="-9877" r="-8214" b="-308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959915" y="5679757"/>
                <a:ext cx="1274387"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600" i="1" smtClean="0">
                          <a:latin typeface="Cambria Math"/>
                          <a:ea typeface="Cambria Math"/>
                        </a:rPr>
                        <m:t>𝛽</m:t>
                      </m:r>
                      <m:r>
                        <a:rPr lang="en-US" sz="2600" b="0" i="1" smtClean="0">
                          <a:latin typeface="Cambria Math"/>
                          <a:ea typeface="Cambria Math"/>
                        </a:rPr>
                        <m:t>=10</m:t>
                      </m:r>
                    </m:oMath>
                  </m:oMathPara>
                </a14:m>
                <a:endParaRPr lang="en-US" sz="2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959915" y="5679757"/>
                <a:ext cx="1274387" cy="492443"/>
              </a:xfrm>
              <a:prstGeom prst="rect">
                <a:avLst/>
              </a:prstGeom>
              <a:blipFill rotWithShape="1">
                <a:blip r:embed="rId5"/>
                <a:stretch>
                  <a:fillRect t="-9877" r="-11005" b="-30864"/>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7A0D5CAB-8BF0-4EA3-BAE4-9835C852A49B}" type="slidenum">
              <a:rPr lang="en-GB" smtClean="0"/>
              <a:pPr/>
              <a:t>28</a:t>
            </a:fld>
            <a:endParaRPr lang="en-GB" dirty="0"/>
          </a:p>
        </p:txBody>
      </p:sp>
    </p:spTree>
    <p:extLst>
      <p:ext uri="{BB962C8B-B14F-4D97-AF65-F5344CB8AC3E}">
        <p14:creationId xmlns:p14="http://schemas.microsoft.com/office/powerpoint/2010/main" val="634590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838200"/>
                <a:ext cx="8839200" cy="4525963"/>
              </a:xfrm>
            </p:spPr>
            <p:txBody>
              <a:bodyPr>
                <a:normAutofit/>
              </a:bodyPr>
              <a:lstStyle/>
              <a:p>
                <a:pPr algn="just"/>
                <a:r>
                  <a:rPr lang="en-US" sz="2600" dirty="0"/>
                  <a:t>Place the pole and zero of the lag compensator </a:t>
                </a:r>
              </a:p>
              <a:p>
                <a:pPr algn="just"/>
                <a:endParaRPr lang="en-US" sz="2600" dirty="0"/>
              </a:p>
              <a:p>
                <a:pPr algn="just"/>
                <a:endParaRPr lang="en-US" sz="2600" dirty="0"/>
              </a:p>
              <a:p>
                <a:pPr algn="just"/>
                <a:endParaRPr lang="en-US" sz="2600" dirty="0"/>
              </a:p>
              <a:p>
                <a:pPr algn="just"/>
                <a:r>
                  <a:rPr lang="en-US" sz="2600" dirty="0"/>
                  <a:t>Since </a:t>
                </a:r>
                <a14:m>
                  <m:oMath xmlns:m="http://schemas.openxmlformats.org/officeDocument/2006/math">
                    <m:r>
                      <a:rPr lang="en-US" sz="2600" i="1" smtClean="0">
                        <a:solidFill>
                          <a:srgbClr val="FF0000"/>
                        </a:solidFill>
                        <a:latin typeface="Cambria Math"/>
                        <a:ea typeface="Cambria Math"/>
                      </a:rPr>
                      <m:t>𝛽</m:t>
                    </m:r>
                    <m:r>
                      <a:rPr lang="en-US" sz="2600" b="0" i="1" smtClean="0">
                        <a:solidFill>
                          <a:srgbClr val="FF0000"/>
                        </a:solidFill>
                        <a:latin typeface="Cambria Math"/>
                        <a:ea typeface="Cambria Math"/>
                      </a:rPr>
                      <m:t>=10</m:t>
                    </m:r>
                  </m:oMath>
                </a14:m>
                <a:r>
                  <a:rPr lang="en-US" sz="2600" dirty="0"/>
                  <a:t>, therefore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838200"/>
                <a:ext cx="8839200" cy="4525963"/>
              </a:xfrm>
              <a:blipFill rotWithShape="1">
                <a:blip r:embed="rId2"/>
                <a:stretch>
                  <a:fillRect l="-1034" t="-10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819400" y="1676400"/>
                <a:ext cx="2743200" cy="1231171"/>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oMath>
                </a14:m>
                <a:r>
                  <a:rPr lang="en-US" sz="3200" dirty="0"/>
                  <a:t>=</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a:rPr>
                              <m:t>𝐾</m:t>
                            </m:r>
                          </m:e>
                        </m:acc>
                      </m:e>
                      <m:sub>
                        <m:r>
                          <a:rPr lang="en-US" sz="3200" i="1">
                            <a:latin typeface="Cambria Math"/>
                          </a:rPr>
                          <m:t>𝑐</m:t>
                        </m:r>
                      </m:sub>
                    </m:sSub>
                    <m:f>
                      <m:fPr>
                        <m:ctrlPr>
                          <a:rPr lang="en-US" sz="3200" i="1">
                            <a:latin typeface="Cambria Math" panose="02040503050406030204" pitchFamily="18" charset="0"/>
                            <a:ea typeface="Cambria Math"/>
                          </a:rPr>
                        </m:ctrlPr>
                      </m:fPr>
                      <m:num>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𝑇</m:t>
                            </m:r>
                          </m:den>
                        </m:f>
                      </m:num>
                      <m:den>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𝛽</m:t>
                            </m:r>
                            <m:r>
                              <a:rPr lang="en-US" sz="3200" i="1">
                                <a:latin typeface="Cambria Math"/>
                                <a:ea typeface="Cambria Math"/>
                              </a:rPr>
                              <m:t>𝑇</m:t>
                            </m:r>
                          </m:den>
                        </m:f>
                      </m:den>
                    </m:f>
                  </m:oMath>
                </a14:m>
                <a:endParaRPr lang="en-US"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2819400" y="1676400"/>
                <a:ext cx="2743200" cy="1231171"/>
              </a:xfrm>
              <a:prstGeom prst="rect">
                <a:avLst/>
              </a:prstGeom>
              <a:blipFill rotWithShape="1">
                <a:blip r:embed="rId3"/>
                <a:stretch>
                  <a:fillRect r="-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895600" y="3429000"/>
                <a:ext cx="2743200" cy="1181157"/>
              </a:xfrm>
              <a:prstGeom prst="rect">
                <a:avLst/>
              </a:prstGeom>
              <a:noFill/>
            </p:spPr>
            <p:txBody>
              <a:bodyPr wrap="square" rtlCol="0">
                <a:spAutoFit/>
              </a:bodyPr>
              <a:lstStyle/>
              <a:p>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a:rPr>
                          <m:t>𝐺</m:t>
                        </m:r>
                      </m:e>
                      <m:sub>
                        <m:r>
                          <a:rPr lang="en-US" sz="3200" b="0" i="1" smtClean="0">
                            <a:latin typeface="Cambria Math"/>
                          </a:rPr>
                          <m:t>𝑐</m:t>
                        </m:r>
                      </m:sub>
                    </m:sSub>
                    <m:d>
                      <m:dPr>
                        <m:ctrlPr>
                          <a:rPr lang="en-US" sz="3200" b="0" i="1" smtClean="0">
                            <a:latin typeface="Cambria Math" panose="02040503050406030204" pitchFamily="18" charset="0"/>
                          </a:rPr>
                        </m:ctrlPr>
                      </m:dPr>
                      <m:e>
                        <m:r>
                          <a:rPr lang="en-US" sz="3200" b="0" i="1" smtClean="0">
                            <a:latin typeface="Cambria Math"/>
                          </a:rPr>
                          <m:t>𝑠</m:t>
                        </m:r>
                      </m:e>
                    </m:d>
                  </m:oMath>
                </a14:m>
                <a:r>
                  <a:rPr lang="en-US" sz="3200" dirty="0"/>
                  <a:t>=</a:t>
                </a:r>
                <a14:m>
                  <m:oMath xmlns:m="http://schemas.openxmlformats.org/officeDocument/2006/math">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a:rPr>
                              <m:t>𝐾</m:t>
                            </m:r>
                          </m:e>
                        </m:acc>
                      </m:e>
                      <m:sub>
                        <m:r>
                          <a:rPr lang="en-US" sz="3200" i="1">
                            <a:latin typeface="Cambria Math"/>
                          </a:rPr>
                          <m:t>𝑐</m:t>
                        </m:r>
                      </m:sub>
                    </m:sSub>
                    <m:f>
                      <m:fPr>
                        <m:ctrlPr>
                          <a:rPr lang="en-US" sz="3200" i="1">
                            <a:latin typeface="Cambria Math" panose="02040503050406030204" pitchFamily="18" charset="0"/>
                            <a:ea typeface="Cambria Math"/>
                          </a:rPr>
                        </m:ctrlPr>
                      </m:fPr>
                      <m:num>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1</m:t>
                            </m:r>
                          </m:num>
                          <m:den>
                            <m:r>
                              <a:rPr lang="en-US" sz="3200" i="1">
                                <a:latin typeface="Cambria Math"/>
                                <a:ea typeface="Cambria Math"/>
                              </a:rPr>
                              <m:t>𝑇</m:t>
                            </m:r>
                          </m:den>
                        </m:f>
                      </m:num>
                      <m:den>
                        <m:r>
                          <a:rPr lang="en-US" sz="3200" i="1">
                            <a:latin typeface="Cambria Math"/>
                            <a:ea typeface="Cambria Math"/>
                          </a:rPr>
                          <m:t>𝑠</m:t>
                        </m:r>
                        <m:r>
                          <a:rPr lang="en-US" sz="3200" i="1">
                            <a:latin typeface="Cambria Math"/>
                            <a:ea typeface="Cambria Math"/>
                          </a:rPr>
                          <m:t>+</m:t>
                        </m:r>
                        <m:f>
                          <m:fPr>
                            <m:ctrlPr>
                              <a:rPr lang="en-US" sz="3200" i="1">
                                <a:latin typeface="Cambria Math" panose="02040503050406030204" pitchFamily="18" charset="0"/>
                                <a:ea typeface="Cambria Math"/>
                              </a:rPr>
                            </m:ctrlPr>
                          </m:fPr>
                          <m:num>
                            <m:r>
                              <a:rPr lang="en-US" sz="3200" b="0" i="1" smtClean="0">
                                <a:latin typeface="Cambria Math"/>
                                <a:ea typeface="Cambria Math"/>
                              </a:rPr>
                              <m:t>0.</m:t>
                            </m:r>
                            <m:r>
                              <a:rPr lang="en-US" sz="3200" i="1">
                                <a:latin typeface="Cambria Math"/>
                                <a:ea typeface="Cambria Math"/>
                              </a:rPr>
                              <m:t>1</m:t>
                            </m:r>
                          </m:num>
                          <m:den>
                            <m:r>
                              <a:rPr lang="en-US" sz="3200" i="1">
                                <a:latin typeface="Cambria Math"/>
                                <a:ea typeface="Cambria Math"/>
                              </a:rPr>
                              <m:t>𝑇</m:t>
                            </m:r>
                          </m:den>
                        </m:f>
                      </m:den>
                    </m:f>
                  </m:oMath>
                </a14:m>
                <a:endParaRPr lang="en-US"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2895600" y="3429000"/>
                <a:ext cx="2743200" cy="1181157"/>
              </a:xfrm>
              <a:prstGeom prst="rect">
                <a:avLst/>
              </a:prstGeom>
              <a:blipFill rotWithShape="1">
                <a:blip r:embed="rId4"/>
                <a:stretch>
                  <a:fillRect r="-8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29</a:t>
            </a:fld>
            <a:endParaRPr lang="en-GB" dirty="0"/>
          </a:p>
        </p:txBody>
      </p:sp>
    </p:spTree>
    <p:extLst>
      <p:ext uri="{BB962C8B-B14F-4D97-AF65-F5344CB8AC3E}">
        <p14:creationId xmlns:p14="http://schemas.microsoft.com/office/powerpoint/2010/main" val="294175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(Step-4)</a:t>
            </a:r>
          </a:p>
        </p:txBody>
      </p:sp>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Place the zero and pole of the lag compensator at </a:t>
            </a:r>
            <a:r>
              <a:rPr lang="en-US" sz="2600" dirty="0">
                <a:solidFill>
                  <a:srgbClr val="FF0000"/>
                </a:solidFill>
              </a:rPr>
              <a:t>s=–0.05</a:t>
            </a:r>
            <a:r>
              <a:rPr lang="en-US" sz="2600" dirty="0"/>
              <a:t> and </a:t>
            </a:r>
            <a:r>
              <a:rPr lang="en-US" sz="2600" dirty="0">
                <a:solidFill>
                  <a:srgbClr val="FF0000"/>
                </a:solidFill>
              </a:rPr>
              <a:t>s=–0.005</a:t>
            </a:r>
            <a:r>
              <a:rPr lang="en-US" sz="2600" dirty="0"/>
              <a:t>, respectively. </a:t>
            </a:r>
          </a:p>
          <a:p>
            <a:pPr algn="just"/>
            <a:endParaRPr lang="en-US" sz="1200" dirty="0"/>
          </a:p>
          <a:p>
            <a:pPr algn="just"/>
            <a:r>
              <a:rPr lang="en-US" sz="2600" dirty="0"/>
              <a:t>The transfer function of the lag compensator becomes</a:t>
            </a:r>
          </a:p>
          <a:p>
            <a:pPr algn="just"/>
            <a:endParaRPr lang="en-US" dirty="0"/>
          </a:p>
          <a:p>
            <a:pPr algn="just"/>
            <a:endParaRPr lang="en-US" sz="2600" dirty="0"/>
          </a:p>
          <a:p>
            <a:pPr algn="just"/>
            <a:r>
              <a:rPr lang="en-US" sz="2600" dirty="0"/>
              <a:t>Open loop transfer function is given as</a:t>
            </a:r>
          </a:p>
        </p:txBody>
      </p:sp>
      <mc:AlternateContent xmlns:mc="http://schemas.openxmlformats.org/markup-compatibility/2006" xmlns:a14="http://schemas.microsoft.com/office/drawing/2010/main">
        <mc:Choice Requires="a14">
          <p:sp>
            <p:nvSpPr>
              <p:cNvPr id="9" name="TextBox 8"/>
              <p:cNvSpPr txBox="1"/>
              <p:nvPr/>
            </p:nvSpPr>
            <p:spPr>
              <a:xfrm>
                <a:off x="2604448" y="2639704"/>
                <a:ext cx="3810000" cy="842923"/>
              </a:xfrm>
              <a:prstGeom prst="rect">
                <a:avLst/>
              </a:prstGeom>
              <a:noFill/>
            </p:spPr>
            <p:txBody>
              <a:bodyPr wrap="square" rtlCol="0">
                <a:spAutoFit/>
              </a:bodyPr>
              <a:lstStyle/>
              <a:p>
                <a14:m>
                  <m:oMath xmlns:m="http://schemas.openxmlformats.org/officeDocument/2006/math">
                    <m:sSub>
                      <m:sSubPr>
                        <m:ctrlPr>
                          <a:rPr lang="en-US" sz="3400" i="1" smtClean="0">
                            <a:latin typeface="Cambria Math" panose="02040503050406030204" pitchFamily="18" charset="0"/>
                          </a:rPr>
                        </m:ctrlPr>
                      </m:sSubPr>
                      <m:e>
                        <m:r>
                          <a:rPr lang="en-US" sz="3400" b="0" i="1" smtClean="0">
                            <a:latin typeface="Cambria Math"/>
                          </a:rPr>
                          <m:t>𝐺</m:t>
                        </m:r>
                      </m:e>
                      <m:sub>
                        <m:r>
                          <a:rPr lang="en-US" sz="3400" b="0" i="1" smtClean="0">
                            <a:latin typeface="Cambria Math"/>
                          </a:rPr>
                          <m:t>𝑐</m:t>
                        </m:r>
                      </m:sub>
                    </m:sSub>
                    <m:d>
                      <m:dPr>
                        <m:ctrlPr>
                          <a:rPr lang="en-US" sz="3400" b="0" i="1" smtClean="0">
                            <a:latin typeface="Cambria Math" panose="02040503050406030204" pitchFamily="18" charset="0"/>
                          </a:rPr>
                        </m:ctrlPr>
                      </m:dPr>
                      <m:e>
                        <m:r>
                          <a:rPr lang="en-US" sz="3400" b="0" i="1" smtClean="0">
                            <a:latin typeface="Cambria Math"/>
                          </a:rPr>
                          <m:t>𝑠</m:t>
                        </m:r>
                      </m:e>
                    </m:d>
                  </m:oMath>
                </a14:m>
                <a:r>
                  <a:rPr lang="en-US" sz="3400" dirty="0"/>
                  <a:t>=</a:t>
                </a:r>
                <a14:m>
                  <m:oMath xmlns:m="http://schemas.openxmlformats.org/officeDocument/2006/math">
                    <m:sSub>
                      <m:sSubPr>
                        <m:ctrlPr>
                          <a:rPr lang="en-US" sz="3400" i="1">
                            <a:latin typeface="Cambria Math" panose="02040503050406030204" pitchFamily="18" charset="0"/>
                          </a:rPr>
                        </m:ctrlPr>
                      </m:sSubPr>
                      <m:e>
                        <m:acc>
                          <m:accPr>
                            <m:chr m:val="̂"/>
                            <m:ctrlPr>
                              <a:rPr lang="en-US" sz="3400" i="1">
                                <a:latin typeface="Cambria Math" panose="02040503050406030204" pitchFamily="18" charset="0"/>
                              </a:rPr>
                            </m:ctrlPr>
                          </m:accPr>
                          <m:e>
                            <m:r>
                              <a:rPr lang="en-US" sz="3400" i="1">
                                <a:latin typeface="Cambria Math"/>
                              </a:rPr>
                              <m:t>𝐾</m:t>
                            </m:r>
                          </m:e>
                        </m:acc>
                      </m:e>
                      <m:sub>
                        <m:r>
                          <a:rPr lang="en-US" sz="3400" i="1">
                            <a:latin typeface="Cambria Math"/>
                          </a:rPr>
                          <m:t>𝑐</m:t>
                        </m:r>
                      </m:sub>
                    </m:sSub>
                    <m:f>
                      <m:fPr>
                        <m:ctrlPr>
                          <a:rPr lang="en-US" sz="3400" i="1">
                            <a:latin typeface="Cambria Math" panose="02040503050406030204" pitchFamily="18" charset="0"/>
                            <a:ea typeface="Cambria Math"/>
                          </a:rPr>
                        </m:ctrlPr>
                      </m:fPr>
                      <m:num>
                        <m:r>
                          <a:rPr lang="en-US" sz="3400" i="1">
                            <a:latin typeface="Cambria Math"/>
                            <a:ea typeface="Cambria Math"/>
                          </a:rPr>
                          <m:t>𝑠</m:t>
                        </m:r>
                        <m:r>
                          <a:rPr lang="en-US" sz="3400" i="1">
                            <a:latin typeface="Cambria Math"/>
                            <a:ea typeface="Cambria Math"/>
                          </a:rPr>
                          <m:t>+0.05</m:t>
                        </m:r>
                      </m:num>
                      <m:den>
                        <m:r>
                          <a:rPr lang="en-US" sz="3400" i="1">
                            <a:latin typeface="Cambria Math"/>
                            <a:ea typeface="Cambria Math"/>
                          </a:rPr>
                          <m:t>𝑠</m:t>
                        </m:r>
                        <m:r>
                          <a:rPr lang="en-US" sz="3400" i="1">
                            <a:latin typeface="Cambria Math"/>
                            <a:ea typeface="Cambria Math"/>
                          </a:rPr>
                          <m:t>+0.005</m:t>
                        </m:r>
                      </m:den>
                    </m:f>
                  </m:oMath>
                </a14:m>
                <a:endParaRPr lang="en-US" sz="3400" dirty="0"/>
              </a:p>
            </p:txBody>
          </p:sp>
        </mc:Choice>
        <mc:Fallback xmlns="">
          <p:sp>
            <p:nvSpPr>
              <p:cNvPr id="9" name="TextBox 8"/>
              <p:cNvSpPr txBox="1">
                <a:spLocks noRot="1" noChangeAspect="1" noMove="1" noResize="1" noEditPoints="1" noAdjustHandles="1" noChangeArrowheads="1" noChangeShapeType="1" noTextEdit="1"/>
              </p:cNvSpPr>
              <p:nvPr/>
            </p:nvSpPr>
            <p:spPr>
              <a:xfrm>
                <a:off x="2604448" y="2639704"/>
                <a:ext cx="3810000" cy="842923"/>
              </a:xfrm>
              <a:prstGeom prst="rect">
                <a:avLst/>
              </a:prstGeom>
              <a:blipFill rotWithShape="1">
                <a:blip r:embed="rId2"/>
                <a:stretch>
                  <a:fillRect b="-12319"/>
                </a:stretch>
              </a:blipFill>
            </p:spPr>
            <p:txBody>
              <a:bodyPr/>
              <a:lstStyle/>
              <a:p>
                <a:r>
                  <a:rPr lang="en-US">
                    <a:noFill/>
                  </a:rPr>
                  <a:t> </a:t>
                </a:r>
              </a:p>
            </p:txBody>
          </p:sp>
        </mc:Fallback>
      </mc:AlternateContent>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mc:AlternateContent xmlns:mc="http://schemas.openxmlformats.org/markup-compatibility/2006" xmlns:a14="http://schemas.microsoft.com/office/drawing/2010/main">
        <mc:Choice Requires="a14">
          <p:sp>
            <p:nvSpPr>
              <p:cNvPr id="10" name="TextBox 9"/>
              <p:cNvSpPr txBox="1"/>
              <p:nvPr/>
            </p:nvSpPr>
            <p:spPr>
              <a:xfrm>
                <a:off x="943968" y="4269472"/>
                <a:ext cx="7467600" cy="813813"/>
              </a:xfrm>
              <a:prstGeom prst="rect">
                <a:avLst/>
              </a:prstGeom>
              <a:noFill/>
            </p:spPr>
            <p:txBody>
              <a:bodyPr wrap="square" rtlCol="0">
                <a:spAutoFit/>
              </a:bodyPr>
              <a:lstStyle/>
              <a:p>
                <a:pPr algn="ctr"/>
                <a14:m>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a:rPr>
                          <m:t>𝐺</m:t>
                        </m:r>
                      </m:e>
                      <m:sub>
                        <m:r>
                          <a:rPr lang="en-US" sz="3000" b="0" i="1" smtClean="0">
                            <a:latin typeface="Cambria Math"/>
                          </a:rPr>
                          <m:t>𝑐</m:t>
                        </m:r>
                      </m:sub>
                    </m:sSub>
                    <m:d>
                      <m:dPr>
                        <m:ctrlPr>
                          <a:rPr lang="en-US" sz="3000" b="0" i="1" smtClean="0">
                            <a:latin typeface="Cambria Math" panose="02040503050406030204" pitchFamily="18" charset="0"/>
                          </a:rPr>
                        </m:ctrlPr>
                      </m:dPr>
                      <m:e>
                        <m:r>
                          <a:rPr lang="en-US" sz="3000" b="0" i="1" smtClean="0">
                            <a:latin typeface="Cambria Math"/>
                          </a:rPr>
                          <m:t>𝑠</m:t>
                        </m:r>
                      </m:e>
                    </m:d>
                    <m:r>
                      <a:rPr lang="en-US" sz="3000" b="0" i="1" smtClean="0">
                        <a:latin typeface="Cambria Math"/>
                      </a:rPr>
                      <m:t>𝐺</m:t>
                    </m:r>
                    <m:r>
                      <a:rPr lang="en-US" sz="3000" b="0" i="1" smtClean="0">
                        <a:latin typeface="Cambria Math"/>
                      </a:rPr>
                      <m:t>(</m:t>
                    </m:r>
                    <m:r>
                      <a:rPr lang="en-US" sz="3000" b="0" i="1" smtClean="0">
                        <a:latin typeface="Cambria Math"/>
                      </a:rPr>
                      <m:t>𝑠</m:t>
                    </m:r>
                    <m:r>
                      <a:rPr lang="en-US" sz="3000" b="0" i="1" smtClean="0">
                        <a:latin typeface="Cambria Math"/>
                      </a:rPr>
                      <m:t>)</m:t>
                    </m:r>
                  </m:oMath>
                </a14:m>
                <a:r>
                  <a:rPr lang="en-US" sz="3000" dirty="0"/>
                  <a:t>=</a:t>
                </a:r>
                <a14:m>
                  <m:oMath xmlns:m="http://schemas.openxmlformats.org/officeDocument/2006/math">
                    <m:sSub>
                      <m:sSubPr>
                        <m:ctrlPr>
                          <a:rPr lang="en-US" sz="3000" i="1">
                            <a:latin typeface="Cambria Math" panose="02040503050406030204" pitchFamily="18" charset="0"/>
                          </a:rPr>
                        </m:ctrlPr>
                      </m:sSubPr>
                      <m:e>
                        <m:acc>
                          <m:accPr>
                            <m:chr m:val="̂"/>
                            <m:ctrlPr>
                              <a:rPr lang="en-US" sz="3000" i="1">
                                <a:latin typeface="Cambria Math" panose="02040503050406030204" pitchFamily="18" charset="0"/>
                              </a:rPr>
                            </m:ctrlPr>
                          </m:accPr>
                          <m:e>
                            <m:r>
                              <a:rPr lang="en-US" sz="3000" i="1">
                                <a:latin typeface="Cambria Math"/>
                              </a:rPr>
                              <m:t>𝐾</m:t>
                            </m:r>
                          </m:e>
                        </m:acc>
                      </m:e>
                      <m:sub>
                        <m:r>
                          <a:rPr lang="en-US" sz="3000" i="1">
                            <a:latin typeface="Cambria Math"/>
                          </a:rPr>
                          <m:t>𝑐</m:t>
                        </m:r>
                      </m:sub>
                    </m:sSub>
                    <m:f>
                      <m:fPr>
                        <m:ctrlPr>
                          <a:rPr lang="en-US" sz="3000" i="1">
                            <a:latin typeface="Cambria Math" panose="02040503050406030204" pitchFamily="18" charset="0"/>
                            <a:ea typeface="Cambria Math"/>
                          </a:rPr>
                        </m:ctrlPr>
                      </m:fPr>
                      <m:num>
                        <m:r>
                          <a:rPr lang="en-US" sz="3000" i="1">
                            <a:latin typeface="Cambria Math"/>
                            <a:ea typeface="Cambria Math"/>
                          </a:rPr>
                          <m:t>𝑠</m:t>
                        </m:r>
                        <m:r>
                          <a:rPr lang="en-US" sz="3000" i="1">
                            <a:latin typeface="Cambria Math"/>
                            <a:ea typeface="Cambria Math"/>
                          </a:rPr>
                          <m:t>+0.05</m:t>
                        </m:r>
                      </m:num>
                      <m:den>
                        <m:r>
                          <a:rPr lang="en-US" sz="3000" i="1">
                            <a:latin typeface="Cambria Math"/>
                            <a:ea typeface="Cambria Math"/>
                          </a:rPr>
                          <m:t>𝑠</m:t>
                        </m:r>
                        <m:r>
                          <a:rPr lang="en-US" sz="3000" i="1">
                            <a:latin typeface="Cambria Math"/>
                            <a:ea typeface="Cambria Math"/>
                          </a:rPr>
                          <m:t>+0.005</m:t>
                        </m:r>
                      </m:den>
                    </m:f>
                    <m:f>
                      <m:fPr>
                        <m:ctrlPr>
                          <a:rPr lang="en-US" sz="3000" i="1" smtClean="0">
                            <a:latin typeface="Cambria Math" panose="02040503050406030204" pitchFamily="18" charset="0"/>
                            <a:ea typeface="Cambria Math"/>
                          </a:rPr>
                        </m:ctrlPr>
                      </m:fPr>
                      <m:num>
                        <m:r>
                          <a:rPr lang="en-US" sz="3000" b="0" i="1" smtClean="0">
                            <a:latin typeface="Cambria Math"/>
                            <a:ea typeface="Cambria Math"/>
                          </a:rPr>
                          <m:t>1.06</m:t>
                        </m:r>
                      </m:num>
                      <m:den>
                        <m:r>
                          <a:rPr lang="en-US" sz="3000" b="0" i="1" smtClean="0">
                            <a:latin typeface="Cambria Math"/>
                            <a:ea typeface="Cambria Math"/>
                          </a:rPr>
                          <m:t>𝑠</m:t>
                        </m:r>
                        <m:r>
                          <a:rPr lang="en-US" sz="3000" b="0" i="1" smtClean="0">
                            <a:latin typeface="Cambria Math"/>
                            <a:ea typeface="Cambria Math"/>
                          </a:rPr>
                          <m:t>(</m:t>
                        </m:r>
                        <m:r>
                          <a:rPr lang="en-US" sz="3000" b="0" i="1" smtClean="0">
                            <a:latin typeface="Cambria Math"/>
                            <a:ea typeface="Cambria Math"/>
                          </a:rPr>
                          <m:t>𝑠</m:t>
                        </m:r>
                        <m:r>
                          <a:rPr lang="en-US" sz="3000" b="0" i="1" smtClean="0">
                            <a:latin typeface="Cambria Math"/>
                            <a:ea typeface="Cambria Math"/>
                          </a:rPr>
                          <m:t>+1)(</m:t>
                        </m:r>
                        <m:r>
                          <a:rPr lang="en-US" sz="3000" b="0" i="1" smtClean="0">
                            <a:latin typeface="Cambria Math"/>
                            <a:ea typeface="Cambria Math"/>
                          </a:rPr>
                          <m:t>𝑠</m:t>
                        </m:r>
                        <m:r>
                          <a:rPr lang="en-US" sz="3000" b="0" i="1" smtClean="0">
                            <a:latin typeface="Cambria Math"/>
                            <a:ea typeface="Cambria Math"/>
                          </a:rPr>
                          <m:t>+2)</m:t>
                        </m:r>
                      </m:den>
                    </m:f>
                  </m:oMath>
                </a14:m>
                <a:endParaRPr lang="en-US" sz="3000" dirty="0"/>
              </a:p>
            </p:txBody>
          </p:sp>
        </mc:Choice>
        <mc:Fallback xmlns="">
          <p:sp>
            <p:nvSpPr>
              <p:cNvPr id="10" name="TextBox 9"/>
              <p:cNvSpPr txBox="1">
                <a:spLocks noRot="1" noChangeAspect="1" noMove="1" noResize="1" noEditPoints="1" noAdjustHandles="1" noChangeArrowheads="1" noChangeShapeType="1" noTextEdit="1"/>
              </p:cNvSpPr>
              <p:nvPr/>
            </p:nvSpPr>
            <p:spPr>
              <a:xfrm>
                <a:off x="943968" y="4269472"/>
                <a:ext cx="7467600" cy="813813"/>
              </a:xfrm>
              <a:prstGeom prst="rect">
                <a:avLst/>
              </a:prstGeom>
              <a:blipFill rotWithShape="1">
                <a:blip r:embed="rId3"/>
                <a:stretch>
                  <a:fillRect b="-37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4800" y="5129787"/>
                <a:ext cx="8382000" cy="827791"/>
              </a:xfrm>
              <a:prstGeom prst="rect">
                <a:avLst/>
              </a:prstGeom>
              <a:noFill/>
            </p:spPr>
            <p:txBody>
              <a:bodyPr wrap="square" rtlCol="0">
                <a:spAutoFit/>
              </a:bodyPr>
              <a:lstStyle/>
              <a:p>
                <a:pPr algn="ctr"/>
                <a14:m>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a:rPr>
                          <m:t>𝐺</m:t>
                        </m:r>
                      </m:e>
                      <m:sub>
                        <m:r>
                          <a:rPr lang="en-US" sz="3000" b="0" i="1" smtClean="0">
                            <a:latin typeface="Cambria Math"/>
                          </a:rPr>
                          <m:t>𝑐</m:t>
                        </m:r>
                      </m:sub>
                    </m:sSub>
                    <m:d>
                      <m:dPr>
                        <m:ctrlPr>
                          <a:rPr lang="en-US" sz="3000" b="0" i="1" smtClean="0">
                            <a:latin typeface="Cambria Math" panose="02040503050406030204" pitchFamily="18" charset="0"/>
                          </a:rPr>
                        </m:ctrlPr>
                      </m:dPr>
                      <m:e>
                        <m:r>
                          <a:rPr lang="en-US" sz="3000" b="0" i="1" smtClean="0">
                            <a:latin typeface="Cambria Math"/>
                          </a:rPr>
                          <m:t>𝑠</m:t>
                        </m:r>
                      </m:e>
                    </m:d>
                    <m:r>
                      <a:rPr lang="en-US" sz="3000" b="0" i="1" smtClean="0">
                        <a:latin typeface="Cambria Math"/>
                      </a:rPr>
                      <m:t>𝐺</m:t>
                    </m:r>
                    <m:r>
                      <a:rPr lang="en-US" sz="3000" b="0" i="1" smtClean="0">
                        <a:latin typeface="Cambria Math"/>
                      </a:rPr>
                      <m:t>(</m:t>
                    </m:r>
                    <m:r>
                      <a:rPr lang="en-US" sz="3000" b="0" i="1" smtClean="0">
                        <a:latin typeface="Cambria Math"/>
                      </a:rPr>
                      <m:t>𝑠</m:t>
                    </m:r>
                    <m:r>
                      <a:rPr lang="en-US" sz="3000" b="0" i="1" smtClean="0">
                        <a:latin typeface="Cambria Math"/>
                      </a:rPr>
                      <m:t>)</m:t>
                    </m:r>
                  </m:oMath>
                </a14:m>
                <a:r>
                  <a:rPr lang="en-US" sz="3000" dirty="0"/>
                  <a:t>=</a:t>
                </a:r>
                <a14:m>
                  <m:oMath xmlns:m="http://schemas.openxmlformats.org/officeDocument/2006/math">
                    <m:f>
                      <m:fPr>
                        <m:ctrlPr>
                          <a:rPr lang="en-US" sz="3000" i="1">
                            <a:latin typeface="Cambria Math" panose="02040503050406030204" pitchFamily="18" charset="0"/>
                            <a:ea typeface="Cambria Math"/>
                          </a:rPr>
                        </m:ctrlPr>
                      </m:fPr>
                      <m:num>
                        <m:r>
                          <a:rPr lang="en-US" sz="3000" b="0" i="1" smtClean="0">
                            <a:latin typeface="Cambria Math"/>
                            <a:ea typeface="Cambria Math"/>
                          </a:rPr>
                          <m:t>𝐾</m:t>
                        </m:r>
                        <m:r>
                          <a:rPr lang="en-US" sz="3000" b="0" i="1" smtClean="0">
                            <a:latin typeface="Cambria Math"/>
                            <a:ea typeface="Cambria Math"/>
                          </a:rPr>
                          <m:t>(</m:t>
                        </m:r>
                        <m:r>
                          <a:rPr lang="en-US" sz="3000" i="1">
                            <a:latin typeface="Cambria Math"/>
                            <a:ea typeface="Cambria Math"/>
                          </a:rPr>
                          <m:t>𝑠</m:t>
                        </m:r>
                        <m:r>
                          <a:rPr lang="en-US" sz="3000" i="1">
                            <a:latin typeface="Cambria Math"/>
                            <a:ea typeface="Cambria Math"/>
                          </a:rPr>
                          <m:t>+0.05)</m:t>
                        </m:r>
                      </m:num>
                      <m:den>
                        <m:r>
                          <a:rPr lang="en-US" sz="3000" b="0" i="1" smtClean="0">
                            <a:latin typeface="Cambria Math"/>
                            <a:ea typeface="Cambria Math"/>
                          </a:rPr>
                          <m:t>𝑠</m:t>
                        </m:r>
                        <m:r>
                          <a:rPr lang="en-US" sz="3000" b="0" i="1" smtClean="0">
                            <a:latin typeface="Cambria Math"/>
                            <a:ea typeface="Cambria Math"/>
                          </a:rPr>
                          <m:t>(</m:t>
                        </m:r>
                        <m:r>
                          <a:rPr lang="en-US" sz="3000" i="1">
                            <a:latin typeface="Cambria Math"/>
                            <a:ea typeface="Cambria Math"/>
                          </a:rPr>
                          <m:t>𝑠</m:t>
                        </m:r>
                        <m:r>
                          <a:rPr lang="en-US" sz="3000" i="1">
                            <a:latin typeface="Cambria Math"/>
                            <a:ea typeface="Cambria Math"/>
                          </a:rPr>
                          <m:t>+0.005)(</m:t>
                        </m:r>
                        <m:r>
                          <a:rPr lang="en-US" sz="3000" b="0" i="1" smtClean="0">
                            <a:latin typeface="Cambria Math"/>
                            <a:ea typeface="Cambria Math"/>
                          </a:rPr>
                          <m:t>𝑠</m:t>
                        </m:r>
                        <m:r>
                          <a:rPr lang="en-US" sz="3000" b="0" i="1" smtClean="0">
                            <a:latin typeface="Cambria Math"/>
                            <a:ea typeface="Cambria Math"/>
                          </a:rPr>
                          <m:t>+1)(</m:t>
                        </m:r>
                        <m:r>
                          <a:rPr lang="en-US" sz="3000" b="0" i="1" smtClean="0">
                            <a:latin typeface="Cambria Math"/>
                            <a:ea typeface="Cambria Math"/>
                          </a:rPr>
                          <m:t>𝑠</m:t>
                        </m:r>
                        <m:r>
                          <a:rPr lang="en-US" sz="3000" b="0" i="1" smtClean="0">
                            <a:latin typeface="Cambria Math"/>
                            <a:ea typeface="Cambria Math"/>
                          </a:rPr>
                          <m:t>+2)</m:t>
                        </m:r>
                      </m:den>
                    </m:f>
                  </m:oMath>
                </a14:m>
                <a:endParaRPr lang="en-US" sz="3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04800" y="5129787"/>
                <a:ext cx="8382000" cy="827791"/>
              </a:xfrm>
              <a:prstGeom prst="rect">
                <a:avLst/>
              </a:prstGeom>
              <a:blipFill rotWithShape="1">
                <a:blip r:embed="rId4"/>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505200" y="6172200"/>
                <a:ext cx="3119315" cy="534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a:rPr>
                        <m:t>𝑤h𝑒𝑟𝑒</m:t>
                      </m:r>
                      <m:r>
                        <a:rPr lang="en-US" sz="2800" i="1" dirty="0">
                          <a:latin typeface="Cambria Math"/>
                        </a:rPr>
                        <m:t> </m:t>
                      </m:r>
                      <m:r>
                        <a:rPr lang="en-US" sz="2800" i="1" dirty="0">
                          <a:latin typeface="Cambria Math"/>
                        </a:rPr>
                        <m:t>𝐾</m:t>
                      </m:r>
                      <m:r>
                        <a:rPr lang="en-US" sz="2800" i="1" dirty="0">
                          <a:latin typeface="Cambria Math"/>
                        </a:rPr>
                        <m:t>=1.06</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3505200" y="6172200"/>
                <a:ext cx="3119315" cy="534762"/>
              </a:xfrm>
              <a:prstGeom prst="rect">
                <a:avLst/>
              </a:prstGeom>
              <a:blipFill rotWithShape="1">
                <a:blip r:embed="rId5"/>
                <a:stretch>
                  <a:fillRect t="-8046" r="-4492" b="-3218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7A0D5CAB-8BF0-4EA3-BAE4-9835C852A49B}" type="slidenum">
              <a:rPr lang="en-GB" smtClean="0"/>
              <a:pPr/>
              <a:t>30</a:t>
            </a:fld>
            <a:endParaRPr lang="en-GB" dirty="0"/>
          </a:p>
        </p:txBody>
      </p:sp>
    </p:spTree>
    <p:extLst>
      <p:ext uri="{BB962C8B-B14F-4D97-AF65-F5344CB8AC3E}">
        <p14:creationId xmlns:p14="http://schemas.microsoft.com/office/powerpoint/2010/main" val="414434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childTnLst>
                                </p:cTn>
                              </p:par>
                              <p:par>
                                <p:cTn id="14" presetID="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 fill="hold"/>
                                        <p:tgtEl>
                                          <p:spTgt spid="10"/>
                                        </p:tgtEl>
                                        <p:attrNameLst>
                                          <p:attrName>ppt_x</p:attrName>
                                        </p:attrNameLst>
                                      </p:cBhvr>
                                      <p:tavLst>
                                        <p:tav tm="0">
                                          <p:val>
                                            <p:strVal val="#ppt_x"/>
                                          </p:val>
                                        </p:tav>
                                        <p:tav tm="100000">
                                          <p:val>
                                            <p:strVal val="#ppt_x"/>
                                          </p:val>
                                        </p:tav>
                                      </p:tavLst>
                                    </p:anim>
                                    <p:anim calcmode="lin" valueType="num">
                                      <p:cBhvr additive="base">
                                        <p:cTn id="17" dur="1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10" fill="hold"/>
                                        <p:tgtEl>
                                          <p:spTgt spid="11"/>
                                        </p:tgtEl>
                                        <p:attrNameLst>
                                          <p:attrName>ppt_x</p:attrName>
                                        </p:attrNameLst>
                                      </p:cBhvr>
                                      <p:tavLst>
                                        <p:tav tm="0">
                                          <p:val>
                                            <p:strVal val="#ppt_x"/>
                                          </p:val>
                                        </p:tav>
                                        <p:tav tm="100000">
                                          <p:val>
                                            <p:strVal val="#ppt_x"/>
                                          </p:val>
                                        </p:tav>
                                      </p:tavLst>
                                    </p:anim>
                                    <p:anim calcmode="lin" valueType="num">
                                      <p:cBhvr additive="base">
                                        <p:cTn id="23" dur="1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(Step-5)</a:t>
            </a:r>
          </a:p>
        </p:txBody>
      </p:sp>
      <p:sp>
        <p:nvSpPr>
          <p:cNvPr id="3" name="Content Placeholder 2"/>
          <p:cNvSpPr>
            <a:spLocks noGrp="1"/>
          </p:cNvSpPr>
          <p:nvPr>
            <p:ph idx="1"/>
          </p:nvPr>
        </p:nvSpPr>
        <p:spPr>
          <a:xfrm>
            <a:off x="152400" y="990601"/>
            <a:ext cx="8839200" cy="685800"/>
          </a:xfrm>
        </p:spPr>
        <p:txBody>
          <a:bodyPr>
            <a:normAutofit/>
          </a:bodyPr>
          <a:lstStyle/>
          <a:p>
            <a:pPr algn="just"/>
            <a:r>
              <a:rPr lang="en-US" sz="2600" dirty="0"/>
              <a:t>Root locus of uncompensated and compensated systems.</a:t>
            </a:r>
          </a:p>
        </p:txBody>
      </p:sp>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869"/>
          <a:stretch/>
        </p:blipFill>
        <p:spPr bwMode="auto">
          <a:xfrm>
            <a:off x="3643048" y="1600200"/>
            <a:ext cx="5424752"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 name="TextBox 5"/>
              <p:cNvSpPr txBox="1"/>
              <p:nvPr/>
            </p:nvSpPr>
            <p:spPr>
              <a:xfrm>
                <a:off x="641467" y="3200400"/>
                <a:ext cx="2863733"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a:rPr>
                        <m:t>𝑠</m:t>
                      </m:r>
                      <m:r>
                        <a:rPr lang="en-US" sz="2600" b="0" i="1" smtClean="0">
                          <a:latin typeface="Cambria Math"/>
                        </a:rPr>
                        <m:t>=−0.31±</m:t>
                      </m:r>
                      <m:r>
                        <a:rPr lang="en-US" sz="2600" b="0" i="1" smtClean="0">
                          <a:latin typeface="Cambria Math"/>
                          <a:ea typeface="Cambria Math"/>
                        </a:rPr>
                        <m:t>𝑗</m:t>
                      </m:r>
                      <m:r>
                        <a:rPr lang="en-US" sz="2600" b="0" i="1" smtClean="0">
                          <a:latin typeface="Cambria Math"/>
                          <a:ea typeface="Cambria Math"/>
                        </a:rPr>
                        <m:t>0.55</m:t>
                      </m:r>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641467" y="3200400"/>
                <a:ext cx="2863733" cy="492443"/>
              </a:xfrm>
              <a:prstGeom prst="rect">
                <a:avLst/>
              </a:prstGeom>
              <a:blipFill rotWithShape="1">
                <a:blip r:embed="rId3"/>
                <a:stretch>
                  <a:fillRect t="-9877" r="-4681" b="-30864"/>
                </a:stretch>
              </a:blipFill>
            </p:spPr>
            <p:txBody>
              <a:bodyPr/>
              <a:lstStyle/>
              <a:p>
                <a:r>
                  <a:rPr lang="en-US">
                    <a:noFill/>
                  </a:rPr>
                  <a:t> </a:t>
                </a:r>
              </a:p>
            </p:txBody>
          </p:sp>
        </mc:Fallback>
      </mc:AlternateContent>
      <p:sp>
        <p:nvSpPr>
          <p:cNvPr id="12" name="Content Placeholder 2"/>
          <p:cNvSpPr txBox="1">
            <a:spLocks/>
          </p:cNvSpPr>
          <p:nvPr/>
        </p:nvSpPr>
        <p:spPr>
          <a:xfrm>
            <a:off x="110319" y="2362200"/>
            <a:ext cx="3532729" cy="6858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600" dirty="0"/>
              <a:t>New Closed Loop poles are </a:t>
            </a:r>
          </a:p>
        </p:txBody>
      </p:sp>
      <p:sp>
        <p:nvSpPr>
          <p:cNvPr id="5" name="Slide Number Placeholder 4"/>
          <p:cNvSpPr>
            <a:spLocks noGrp="1"/>
          </p:cNvSpPr>
          <p:nvPr>
            <p:ph type="sldNum" sz="quarter" idx="12"/>
          </p:nvPr>
        </p:nvSpPr>
        <p:spPr/>
        <p:txBody>
          <a:bodyPr/>
          <a:lstStyle/>
          <a:p>
            <a:fld id="{7A0D5CAB-8BF0-4EA3-BAE4-9835C852A49B}" type="slidenum">
              <a:rPr lang="en-GB" smtClean="0"/>
              <a:pPr/>
              <a:t>31</a:t>
            </a:fld>
            <a:endParaRPr lang="en-GB" dirty="0"/>
          </a:p>
        </p:txBody>
      </p:sp>
    </p:spTree>
    <p:extLst>
      <p:ext uri="{BB962C8B-B14F-4D97-AF65-F5344CB8AC3E}">
        <p14:creationId xmlns:p14="http://schemas.microsoft.com/office/powerpoint/2010/main" val="3594103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(Step-5)</a:t>
            </a:r>
          </a:p>
        </p:txBody>
      </p:sp>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Root locus of uncompensated and compensated systems.</a:t>
            </a:r>
          </a:p>
        </p:txBody>
      </p:sp>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8" y="1571625"/>
            <a:ext cx="5457825"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7A0D5CAB-8BF0-4EA3-BAE4-9835C852A49B}" type="slidenum">
              <a:rPr lang="en-GB" smtClean="0"/>
              <a:pPr/>
              <a:t>32</a:t>
            </a:fld>
            <a:endParaRPr lang="en-GB" dirty="0"/>
          </a:p>
        </p:txBody>
      </p:sp>
    </p:spTree>
    <p:extLst>
      <p:ext uri="{BB962C8B-B14F-4D97-AF65-F5344CB8AC3E}">
        <p14:creationId xmlns:p14="http://schemas.microsoft.com/office/powerpoint/2010/main" val="3115638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(Step-6)</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The open-loop gain </a:t>
                </a:r>
                <a:r>
                  <a:rPr lang="en-US" sz="2600" dirty="0">
                    <a:solidFill>
                      <a:srgbClr val="FF0000"/>
                    </a:solidFill>
                  </a:rPr>
                  <a:t>K</a:t>
                </a:r>
                <a:r>
                  <a:rPr lang="en-US" sz="2600" dirty="0"/>
                  <a:t> is determined from the magnitude condition.</a:t>
                </a:r>
              </a:p>
              <a:p>
                <a:pPr algn="just"/>
                <a:endParaRPr lang="en-US" sz="2600" dirty="0"/>
              </a:p>
              <a:p>
                <a:pPr algn="just"/>
                <a:endParaRPr lang="en-US" sz="2600" dirty="0"/>
              </a:p>
              <a:p>
                <a:pPr algn="just"/>
                <a:endParaRPr lang="en-US" sz="2600" dirty="0"/>
              </a:p>
              <a:p>
                <a:pPr algn="just"/>
                <a:endParaRPr lang="en-US" sz="2600" dirty="0"/>
              </a:p>
              <a:p>
                <a:pPr algn="just"/>
                <a:r>
                  <a:rPr lang="en-US" sz="2600" dirty="0"/>
                  <a:t>Then the compensator gain </a:t>
                </a:r>
                <a14:m>
                  <m:oMath xmlns:m="http://schemas.openxmlformats.org/officeDocument/2006/math">
                    <m:sSub>
                      <m:sSubPr>
                        <m:ctrlPr>
                          <a:rPr lang="en-US" sz="2800" i="1" smtClean="0">
                            <a:solidFill>
                              <a:srgbClr val="FF0000"/>
                            </a:solidFill>
                            <a:latin typeface="Cambria Math" panose="02040503050406030204" pitchFamily="18" charset="0"/>
                          </a:rPr>
                        </m:ctrlPr>
                      </m:sSubPr>
                      <m:e>
                        <m:acc>
                          <m:accPr>
                            <m:chr m:val="̂"/>
                            <m:ctrlPr>
                              <a:rPr lang="en-US" sz="2800" i="1">
                                <a:solidFill>
                                  <a:srgbClr val="FF0000"/>
                                </a:solidFill>
                                <a:latin typeface="Cambria Math" panose="02040503050406030204" pitchFamily="18" charset="0"/>
                              </a:rPr>
                            </m:ctrlPr>
                          </m:accPr>
                          <m:e>
                            <m:r>
                              <a:rPr lang="en-US" sz="2800" i="1">
                                <a:solidFill>
                                  <a:srgbClr val="FF0000"/>
                                </a:solidFill>
                                <a:latin typeface="Cambria Math"/>
                              </a:rPr>
                              <m:t>𝐾</m:t>
                            </m:r>
                          </m:e>
                        </m:acc>
                      </m:e>
                      <m:sub>
                        <m:r>
                          <a:rPr lang="en-US" sz="2800" i="1">
                            <a:solidFill>
                              <a:srgbClr val="FF0000"/>
                            </a:solidFill>
                            <a:latin typeface="Cambria Math"/>
                          </a:rPr>
                          <m:t>𝑐</m:t>
                        </m:r>
                      </m:sub>
                    </m:sSub>
                  </m:oMath>
                </a14:m>
                <a:r>
                  <a:rPr lang="en-US" sz="2600" dirty="0"/>
                  <a:t>is determined 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90600"/>
                <a:ext cx="8839200" cy="3992563"/>
              </a:xfrm>
              <a:blipFill rotWithShape="1">
                <a:blip r:embed="rId2"/>
                <a:stretch>
                  <a:fillRect l="-1034" t="-1223" r="-2138"/>
                </a:stretch>
              </a:blipFill>
            </p:spPr>
            <p:txBody>
              <a:bodyPr/>
              <a:lstStyle/>
              <a:p>
                <a:r>
                  <a:rPr lang="en-US">
                    <a:noFill/>
                  </a:rPr>
                  <a:t> </a:t>
                </a:r>
              </a:p>
            </p:txBody>
          </p:sp>
        </mc:Fallback>
      </mc:AlternateContent>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mc:AlternateContent xmlns:mc="http://schemas.openxmlformats.org/markup-compatibility/2006" xmlns:a14="http://schemas.microsoft.com/office/drawing/2010/main">
        <mc:Choice Requires="a14">
          <p:sp>
            <p:nvSpPr>
              <p:cNvPr id="6" name="TextBox 5"/>
              <p:cNvSpPr txBox="1"/>
              <p:nvPr/>
            </p:nvSpPr>
            <p:spPr>
              <a:xfrm>
                <a:off x="1752600" y="1981200"/>
                <a:ext cx="6248400" cy="1005981"/>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ea typeface="Cambria Math"/>
                            </a:rPr>
                          </m:ctrlPr>
                        </m:sSubPr>
                        <m:e>
                          <m:d>
                            <m:dPr>
                              <m:begChr m:val="|"/>
                              <m:endChr m:val="|"/>
                              <m:ctrlPr>
                                <a:rPr lang="en-US" sz="2400" i="1">
                                  <a:latin typeface="Cambria Math" panose="02040503050406030204" pitchFamily="18" charset="0"/>
                                  <a:ea typeface="Cambria Math"/>
                                </a:rPr>
                              </m:ctrlPr>
                            </m:dPr>
                            <m:e>
                              <m:f>
                                <m:fPr>
                                  <m:ctrlPr>
                                    <a:rPr lang="en-US" sz="2400" i="1" smtClean="0">
                                      <a:latin typeface="Cambria Math" panose="02040503050406030204" pitchFamily="18" charset="0"/>
                                    </a:rPr>
                                  </m:ctrlPr>
                                </m:fPr>
                                <m:num>
                                  <m:r>
                                    <a:rPr lang="en-US" sz="2400" b="0" i="1" smtClean="0">
                                      <a:latin typeface="Cambria Math"/>
                                    </a:rPr>
                                    <m:t>𝐾</m:t>
                                  </m:r>
                                  <m:r>
                                    <a:rPr lang="en-US" sz="2400" i="1">
                                      <a:latin typeface="Cambria Math"/>
                                      <a:ea typeface="Cambria Math"/>
                                    </a:rPr>
                                    <m:t>(</m:t>
                                  </m:r>
                                  <m:r>
                                    <a:rPr lang="en-US" sz="2400" i="1">
                                      <a:latin typeface="Cambria Math"/>
                                      <a:ea typeface="Cambria Math"/>
                                    </a:rPr>
                                    <m:t>𝑠</m:t>
                                  </m:r>
                                  <m:r>
                                    <a:rPr lang="en-US" sz="2400" i="1">
                                      <a:latin typeface="Cambria Math"/>
                                      <a:ea typeface="Cambria Math"/>
                                    </a:rPr>
                                    <m:t>+0.05)</m:t>
                                  </m:r>
                                </m:num>
                                <m:den>
                                  <m:r>
                                    <a:rPr lang="en-US" sz="2400" b="0" i="1" smtClean="0">
                                      <a:latin typeface="Cambria Math"/>
                                      <a:ea typeface="Cambria Math"/>
                                    </a:rPr>
                                    <m:t>𝑠</m:t>
                                  </m:r>
                                  <m:r>
                                    <a:rPr lang="en-US" sz="2400" b="0" i="1" smtClean="0">
                                      <a:latin typeface="Cambria Math"/>
                                      <a:ea typeface="Cambria Math"/>
                                    </a:rPr>
                                    <m:t>(</m:t>
                                  </m:r>
                                  <m:r>
                                    <a:rPr lang="en-US" sz="2400" b="0" i="1" smtClean="0">
                                      <a:latin typeface="Cambria Math"/>
                                      <a:ea typeface="Cambria Math"/>
                                    </a:rPr>
                                    <m:t>𝑠</m:t>
                                  </m:r>
                                  <m:r>
                                    <a:rPr lang="en-US" sz="2400" b="0" i="1" smtClean="0">
                                      <a:latin typeface="Cambria Math"/>
                                      <a:ea typeface="Cambria Math"/>
                                    </a:rPr>
                                    <m:t>+0.005)(</m:t>
                                  </m:r>
                                  <m:r>
                                    <a:rPr lang="en-US" sz="2400" b="0" i="1" smtClean="0">
                                      <a:latin typeface="Cambria Math"/>
                                      <a:ea typeface="Cambria Math"/>
                                    </a:rPr>
                                    <m:t>𝑠</m:t>
                                  </m:r>
                                  <m:r>
                                    <a:rPr lang="en-US" sz="2400" b="0" i="1" smtClean="0">
                                      <a:latin typeface="Cambria Math"/>
                                      <a:ea typeface="Cambria Math"/>
                                    </a:rPr>
                                    <m:t>+1)(</m:t>
                                  </m:r>
                                  <m:r>
                                    <a:rPr lang="en-US" sz="2400" b="0" i="1" smtClean="0">
                                      <a:latin typeface="Cambria Math"/>
                                    </a:rPr>
                                    <m:t>𝑠</m:t>
                                  </m:r>
                                  <m:r>
                                    <a:rPr lang="en-US" sz="2400" b="0" i="1" smtClean="0">
                                      <a:latin typeface="Cambria Math"/>
                                    </a:rPr>
                                    <m:t>+2)</m:t>
                                  </m:r>
                                </m:den>
                              </m:f>
                            </m:e>
                          </m:d>
                        </m:e>
                        <m:sub>
                          <m:r>
                            <a:rPr lang="en-US" sz="2400" b="0" i="1" smtClean="0">
                              <a:latin typeface="Cambria Math"/>
                              <a:ea typeface="Cambria Math"/>
                            </a:rPr>
                            <m:t>𝑠</m:t>
                          </m:r>
                          <m:r>
                            <a:rPr lang="en-US" sz="2400" b="0" i="1" smtClean="0">
                              <a:latin typeface="Cambria Math"/>
                              <a:ea typeface="Cambria Math"/>
                            </a:rPr>
                            <m:t>=−0.31+</m:t>
                          </m:r>
                          <m:r>
                            <a:rPr lang="en-US" sz="2400" b="0" i="1" smtClean="0">
                              <a:latin typeface="Cambria Math"/>
                              <a:ea typeface="Cambria Math"/>
                            </a:rPr>
                            <m:t>𝑗</m:t>
                          </m:r>
                          <m:r>
                            <a:rPr lang="en-US" sz="2400" b="0" i="1" smtClean="0">
                              <a:latin typeface="Cambria Math"/>
                              <a:ea typeface="Cambria Math"/>
                            </a:rPr>
                            <m:t>0.55</m:t>
                          </m:r>
                        </m:sub>
                      </m:sSub>
                      <m:r>
                        <a:rPr lang="en-US" sz="2400" b="0" i="1" smtClean="0">
                          <a:latin typeface="Cambria Math"/>
                          <a:ea typeface="Cambria Math"/>
                        </a:rPr>
                        <m:t>=1</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752600" y="1981200"/>
                <a:ext cx="6248400" cy="100598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048000" y="3352800"/>
                <a:ext cx="2438400" cy="461665"/>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US" sz="2400" i="1" smtClean="0">
                          <a:latin typeface="Cambria Math"/>
                          <a:ea typeface="Cambria Math"/>
                        </a:rPr>
                        <m:t>𝐾</m:t>
                      </m:r>
                      <m:r>
                        <a:rPr lang="en-US" sz="2400" b="0" i="1" smtClean="0">
                          <a:latin typeface="Cambria Math"/>
                          <a:ea typeface="Cambria Math"/>
                        </a:rPr>
                        <m:t>=1.0235</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048000" y="3352800"/>
                <a:ext cx="2438400" cy="461665"/>
              </a:xfrm>
              <a:prstGeom prst="rect">
                <a:avLst/>
              </a:prstGeom>
              <a:blipFill rotWithShape="1">
                <a:blip r:embed="rId4"/>
                <a:stretch>
                  <a:fillRect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417768" y="4558352"/>
                <a:ext cx="2042226" cy="534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a:rPr>
                        <m:t>𝐾</m:t>
                      </m:r>
                      <m:r>
                        <a:rPr lang="en-US" sz="2800" i="1" dirty="0">
                          <a:latin typeface="Cambria Math"/>
                        </a:rPr>
                        <m:t>=1.06</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oMath>
                  </m:oMathPara>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417768" y="4558352"/>
                <a:ext cx="2042226" cy="534762"/>
              </a:xfrm>
              <a:prstGeom prst="rect">
                <a:avLst/>
              </a:prstGeom>
              <a:blipFill rotWithShape="1">
                <a:blip r:embed="rId5"/>
                <a:stretch>
                  <a:fillRect t="-8046" r="-7164"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971800" y="5334000"/>
                <a:ext cx="3316101"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r>
                        <a:rPr lang="en-US" sz="2800" b="0" i="1" smtClean="0">
                          <a:latin typeface="Cambria Math"/>
                        </a:rPr>
                        <m:t>=</m:t>
                      </m:r>
                      <m:f>
                        <m:fPr>
                          <m:ctrlPr>
                            <a:rPr lang="en-US" sz="2800" b="0" i="1" smtClean="0">
                              <a:latin typeface="Cambria Math" panose="02040503050406030204" pitchFamily="18" charset="0"/>
                            </a:rPr>
                          </m:ctrlPr>
                        </m:fPr>
                        <m:num>
                          <m:r>
                            <a:rPr lang="en-US" sz="2800" b="0" i="1" smtClean="0">
                              <a:latin typeface="Cambria Math"/>
                            </a:rPr>
                            <m:t>𝐾</m:t>
                          </m:r>
                        </m:num>
                        <m:den>
                          <m:r>
                            <a:rPr lang="en-US" sz="2800" b="0" i="1" smtClean="0">
                              <a:latin typeface="Cambria Math"/>
                            </a:rPr>
                            <m:t>1.06</m:t>
                          </m:r>
                        </m:den>
                      </m:f>
                      <m:r>
                        <a:rPr lang="en-US" sz="2800" b="0" i="1" smtClean="0">
                          <a:latin typeface="Cambria Math"/>
                        </a:rPr>
                        <m:t>=0.9656</m:t>
                      </m:r>
                    </m:oMath>
                  </m:oMathPara>
                </a14:m>
                <a:endParaRPr lang="en-US" sz="2800" dirty="0"/>
              </a:p>
            </p:txBody>
          </p:sp>
        </mc:Choice>
        <mc:Fallback xmlns="">
          <p:sp>
            <p:nvSpPr>
              <p:cNvPr id="9" name="Rectangle 8"/>
              <p:cNvSpPr>
                <a:spLocks noRot="1" noChangeAspect="1" noMove="1" noResize="1" noEditPoints="1" noAdjustHandles="1" noChangeArrowheads="1" noChangeShapeType="1" noTextEdit="1"/>
              </p:cNvSpPr>
              <p:nvPr/>
            </p:nvSpPr>
            <p:spPr>
              <a:xfrm>
                <a:off x="2971800" y="5334000"/>
                <a:ext cx="3316101" cy="898964"/>
              </a:xfrm>
              <a:prstGeom prst="rect">
                <a:avLst/>
              </a:prstGeom>
              <a:blipFill rotWithShape="1">
                <a:blip r:embed="rId6"/>
                <a:stretch>
                  <a:fillRect r="-4420" b="-272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A0D5CAB-8BF0-4EA3-BAE4-9835C852A49B}" type="slidenum">
              <a:rPr lang="en-GB" smtClean="0"/>
              <a:pPr/>
              <a:t>33</a:t>
            </a:fld>
            <a:endParaRPr lang="en-GB" dirty="0"/>
          </a:p>
        </p:txBody>
      </p:sp>
    </p:spTree>
    <p:extLst>
      <p:ext uri="{BB962C8B-B14F-4D97-AF65-F5344CB8AC3E}">
        <p14:creationId xmlns:p14="http://schemas.microsoft.com/office/powerpoint/2010/main" val="50314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(Step-6)</a:t>
            </a:r>
          </a:p>
        </p:txBody>
      </p:sp>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Then the compensator transfer function is given as</a:t>
            </a:r>
          </a:p>
        </p:txBody>
      </p:sp>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mc:AlternateContent xmlns:mc="http://schemas.openxmlformats.org/markup-compatibility/2006" xmlns:a14="http://schemas.microsoft.com/office/drawing/2010/main">
        <mc:Choice Requires="a14">
          <p:sp>
            <p:nvSpPr>
              <p:cNvPr id="10" name="TextBox 9"/>
              <p:cNvSpPr txBox="1"/>
              <p:nvPr/>
            </p:nvSpPr>
            <p:spPr>
              <a:xfrm>
                <a:off x="2514600" y="1752600"/>
                <a:ext cx="4191000" cy="9089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a:rPr>
                            <m:t>𝐺</m:t>
                          </m:r>
                        </m:e>
                        <m:sub>
                          <m:r>
                            <a:rPr lang="en-US" sz="2800" b="0" i="1" smtClean="0">
                              <a:latin typeface="Cambria Math"/>
                            </a:rPr>
                            <m:t>𝑐</m:t>
                          </m:r>
                        </m:sub>
                      </m:sSub>
                      <m:d>
                        <m:dPr>
                          <m:ctrlPr>
                            <a:rPr lang="en-US" sz="2800" b="0" i="1" smtClean="0">
                              <a:latin typeface="Cambria Math" panose="02040503050406030204" pitchFamily="18" charset="0"/>
                            </a:rPr>
                          </m:ctrlPr>
                        </m:dPr>
                        <m:e>
                          <m:r>
                            <a:rPr lang="en-US" sz="2800" b="0" i="1" smtClean="0">
                              <a:latin typeface="Cambria Math"/>
                            </a:rPr>
                            <m:t>𝑠</m:t>
                          </m:r>
                        </m:e>
                      </m:d>
                      <m:r>
                        <a:rPr lang="en-US" sz="2800" b="0" i="1" smtClean="0">
                          <a:latin typeface="Cambria Math"/>
                        </a:rPr>
                        <m:t>=0.9656</m:t>
                      </m:r>
                      <m:f>
                        <m:fPr>
                          <m:ctrlPr>
                            <a:rPr lang="en-US" sz="2800" i="1" smtClean="0">
                              <a:latin typeface="Cambria Math" panose="02040503050406030204" pitchFamily="18" charset="0"/>
                              <a:ea typeface="Cambria Math"/>
                            </a:rPr>
                          </m:ctrlPr>
                        </m:fPr>
                        <m:num>
                          <m:r>
                            <a:rPr lang="en-US" sz="2800" i="1">
                              <a:latin typeface="Cambria Math"/>
                              <a:ea typeface="Cambria Math"/>
                            </a:rPr>
                            <m:t>𝑠</m:t>
                          </m:r>
                          <m:r>
                            <a:rPr lang="en-US" sz="2800" i="1">
                              <a:latin typeface="Cambria Math"/>
                              <a:ea typeface="Cambria Math"/>
                            </a:rPr>
                            <m:t>+0.05</m:t>
                          </m:r>
                        </m:num>
                        <m:den>
                          <m:r>
                            <a:rPr lang="en-US" sz="2800" i="1">
                              <a:latin typeface="Cambria Math"/>
                              <a:ea typeface="Cambria Math"/>
                            </a:rPr>
                            <m:t>𝑠</m:t>
                          </m:r>
                          <m:r>
                            <a:rPr lang="en-US" sz="2800" i="1">
                              <a:latin typeface="Cambria Math"/>
                              <a:ea typeface="Cambria Math"/>
                            </a:rPr>
                            <m:t>+0.005</m:t>
                          </m:r>
                        </m:den>
                      </m:f>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2514600" y="1752600"/>
                <a:ext cx="4191000" cy="908967"/>
              </a:xfrm>
              <a:prstGeom prst="rect">
                <a:avLst/>
              </a:prstGeom>
              <a:blipFill rotWithShape="1">
                <a:blip r:embed="rId2"/>
                <a:stretch>
                  <a:fillRect r="-3057" b="-134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A0D5CAB-8BF0-4EA3-BAE4-9835C852A49B}" type="slidenum">
              <a:rPr lang="en-GB" smtClean="0"/>
              <a:pPr/>
              <a:t>34</a:t>
            </a:fld>
            <a:endParaRPr lang="en-GB" dirty="0"/>
          </a:p>
        </p:txBody>
      </p:sp>
    </p:spTree>
    <p:extLst>
      <p:ext uri="{BB962C8B-B14F-4D97-AF65-F5344CB8AC3E}">
        <p14:creationId xmlns:p14="http://schemas.microsoft.com/office/powerpoint/2010/main" val="347148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772400" cy="685800"/>
          </a:xfrm>
        </p:spPr>
        <p:txBody>
          <a:bodyPr>
            <a:normAutofit/>
          </a:bodyPr>
          <a:lstStyle/>
          <a:p>
            <a:r>
              <a:rPr lang="en-US" sz="3600" dirty="0"/>
              <a:t>Example-1 (Final Design Check)</a:t>
            </a:r>
          </a:p>
        </p:txBody>
      </p:sp>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The compensated system has following open loop transfer function.</a:t>
            </a:r>
          </a:p>
          <a:p>
            <a:pPr algn="just"/>
            <a:endParaRPr lang="en-US" sz="2600" dirty="0"/>
          </a:p>
          <a:p>
            <a:pPr algn="just"/>
            <a:endParaRPr lang="en-US" sz="2600" dirty="0"/>
          </a:p>
          <a:p>
            <a:pPr algn="just"/>
            <a:r>
              <a:rPr lang="en-US" sz="2600" dirty="0"/>
              <a:t>Static velocity error constant is calculated as</a:t>
            </a:r>
          </a:p>
        </p:txBody>
      </p:sp>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Solution-1</a:t>
            </a:r>
          </a:p>
        </p:txBody>
      </p:sp>
      <mc:AlternateContent xmlns:mc="http://schemas.openxmlformats.org/markup-compatibility/2006" xmlns:a14="http://schemas.microsoft.com/office/drawing/2010/main">
        <mc:Choice Requires="a14">
          <p:sp>
            <p:nvSpPr>
              <p:cNvPr id="7" name="TextBox 6"/>
              <p:cNvSpPr txBox="1"/>
              <p:nvPr/>
            </p:nvSpPr>
            <p:spPr>
              <a:xfrm>
                <a:off x="1828800" y="1828800"/>
                <a:ext cx="5486400" cy="827791"/>
              </a:xfrm>
              <a:prstGeom prst="rect">
                <a:avLst/>
              </a:prstGeom>
              <a:noFill/>
            </p:spPr>
            <p:txBody>
              <a:bodyPr wrap="square" rtlCol="0">
                <a:spAutoFit/>
              </a:bodyPr>
              <a:lstStyle/>
              <a:p>
                <a:pPr algn="ctr"/>
                <a14:m>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a:rPr>
                          <m:t>𝐺</m:t>
                        </m:r>
                      </m:e>
                      <m:sub>
                        <m:r>
                          <a:rPr lang="en-US" sz="3000" b="0" i="1" smtClean="0">
                            <a:latin typeface="Cambria Math"/>
                          </a:rPr>
                          <m:t>𝑐</m:t>
                        </m:r>
                      </m:sub>
                    </m:sSub>
                    <m:d>
                      <m:dPr>
                        <m:ctrlPr>
                          <a:rPr lang="en-US" sz="3000" b="0" i="1" smtClean="0">
                            <a:latin typeface="Cambria Math" panose="02040503050406030204" pitchFamily="18" charset="0"/>
                          </a:rPr>
                        </m:ctrlPr>
                      </m:dPr>
                      <m:e>
                        <m:r>
                          <a:rPr lang="en-US" sz="3000" b="0" i="1" smtClean="0">
                            <a:latin typeface="Cambria Math"/>
                          </a:rPr>
                          <m:t>𝑠</m:t>
                        </m:r>
                      </m:e>
                    </m:d>
                    <m:r>
                      <a:rPr lang="en-US" sz="3000" b="0" i="1" smtClean="0">
                        <a:latin typeface="Cambria Math"/>
                      </a:rPr>
                      <m:t>𝐺</m:t>
                    </m:r>
                    <m:r>
                      <a:rPr lang="en-US" sz="3000" b="0" i="1" smtClean="0">
                        <a:latin typeface="Cambria Math"/>
                      </a:rPr>
                      <m:t>(</m:t>
                    </m:r>
                    <m:r>
                      <a:rPr lang="en-US" sz="3000" b="0" i="1" smtClean="0">
                        <a:latin typeface="Cambria Math"/>
                      </a:rPr>
                      <m:t>𝑠</m:t>
                    </m:r>
                    <m:r>
                      <a:rPr lang="en-US" sz="3000" b="0" i="1" smtClean="0">
                        <a:latin typeface="Cambria Math"/>
                      </a:rPr>
                      <m:t>)</m:t>
                    </m:r>
                  </m:oMath>
                </a14:m>
                <a:r>
                  <a:rPr lang="en-US" sz="3000" dirty="0"/>
                  <a:t>=</a:t>
                </a:r>
                <a14:m>
                  <m:oMath xmlns:m="http://schemas.openxmlformats.org/officeDocument/2006/math">
                    <m:f>
                      <m:fPr>
                        <m:ctrlPr>
                          <a:rPr lang="en-US" sz="3000" i="1">
                            <a:latin typeface="Cambria Math" panose="02040503050406030204" pitchFamily="18" charset="0"/>
                            <a:ea typeface="Cambria Math"/>
                          </a:rPr>
                        </m:ctrlPr>
                      </m:fPr>
                      <m:num>
                        <m:r>
                          <a:rPr lang="en-US" sz="3000" b="0" i="1" smtClean="0">
                            <a:latin typeface="Cambria Math"/>
                            <a:ea typeface="Cambria Math"/>
                          </a:rPr>
                          <m:t>1.0235(</m:t>
                        </m:r>
                        <m:r>
                          <a:rPr lang="en-US" sz="3000" i="1">
                            <a:latin typeface="Cambria Math"/>
                            <a:ea typeface="Cambria Math"/>
                          </a:rPr>
                          <m:t>𝑠</m:t>
                        </m:r>
                        <m:r>
                          <a:rPr lang="en-US" sz="3000" i="1">
                            <a:latin typeface="Cambria Math"/>
                            <a:ea typeface="Cambria Math"/>
                          </a:rPr>
                          <m:t>+0.05)</m:t>
                        </m:r>
                      </m:num>
                      <m:den>
                        <m:r>
                          <a:rPr lang="en-US" sz="3000" b="0" i="1" smtClean="0">
                            <a:latin typeface="Cambria Math"/>
                            <a:ea typeface="Cambria Math"/>
                          </a:rPr>
                          <m:t>𝑠</m:t>
                        </m:r>
                        <m:r>
                          <a:rPr lang="en-US" sz="3000" b="0" i="1" smtClean="0">
                            <a:latin typeface="Cambria Math"/>
                            <a:ea typeface="Cambria Math"/>
                          </a:rPr>
                          <m:t>(</m:t>
                        </m:r>
                        <m:r>
                          <a:rPr lang="en-US" sz="3000" i="1">
                            <a:latin typeface="Cambria Math"/>
                            <a:ea typeface="Cambria Math"/>
                          </a:rPr>
                          <m:t>𝑠</m:t>
                        </m:r>
                        <m:r>
                          <a:rPr lang="en-US" sz="3000" i="1">
                            <a:latin typeface="Cambria Math"/>
                            <a:ea typeface="Cambria Math"/>
                          </a:rPr>
                          <m:t>+0.005)(</m:t>
                        </m:r>
                        <m:r>
                          <a:rPr lang="en-US" sz="3000" b="0" i="1" smtClean="0">
                            <a:latin typeface="Cambria Math"/>
                            <a:ea typeface="Cambria Math"/>
                          </a:rPr>
                          <m:t>𝑠</m:t>
                        </m:r>
                        <m:r>
                          <a:rPr lang="en-US" sz="3000" b="0" i="1" smtClean="0">
                            <a:latin typeface="Cambria Math"/>
                            <a:ea typeface="Cambria Math"/>
                          </a:rPr>
                          <m:t>+1)(</m:t>
                        </m:r>
                        <m:r>
                          <a:rPr lang="en-US" sz="3000" b="0" i="1" smtClean="0">
                            <a:latin typeface="Cambria Math"/>
                            <a:ea typeface="Cambria Math"/>
                          </a:rPr>
                          <m:t>𝑠</m:t>
                        </m:r>
                        <m:r>
                          <a:rPr lang="en-US" sz="3000" b="0" i="1" smtClean="0">
                            <a:latin typeface="Cambria Math"/>
                            <a:ea typeface="Cambria Math"/>
                          </a:rPr>
                          <m:t>+2)</m:t>
                        </m:r>
                      </m:den>
                    </m:f>
                  </m:oMath>
                </a14:m>
                <a:endParaRPr lang="en-US" sz="3000" dirty="0"/>
              </a:p>
            </p:txBody>
          </p:sp>
        </mc:Choice>
        <mc:Fallback xmlns="">
          <p:sp>
            <p:nvSpPr>
              <p:cNvPr id="7" name="TextBox 6"/>
              <p:cNvSpPr txBox="1">
                <a:spLocks noRot="1" noChangeAspect="1" noMove="1" noResize="1" noEditPoints="1" noAdjustHandles="1" noChangeArrowheads="1" noChangeShapeType="1" noTextEdit="1"/>
              </p:cNvSpPr>
              <p:nvPr/>
            </p:nvSpPr>
            <p:spPr>
              <a:xfrm>
                <a:off x="1828800" y="1828800"/>
                <a:ext cx="5486400" cy="827791"/>
              </a:xfrm>
              <a:prstGeom prst="rect">
                <a:avLst/>
              </a:prstGeom>
              <a:blipFill rotWithShape="1">
                <a:blip r:embed="rId2"/>
                <a:stretch>
                  <a:fillRect b="-36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743200" y="3396239"/>
                <a:ext cx="3404394" cy="675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𝑣</m:t>
                          </m:r>
                        </m:sub>
                      </m:sSub>
                      <m:r>
                        <a:rPr lang="en-US" sz="2800" b="0" i="1" smtClean="0">
                          <a:latin typeface="Cambria Math"/>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a:rPr>
                                <m:t>lim</m:t>
                              </m:r>
                            </m:e>
                            <m:lim>
                              <m:r>
                                <a:rPr lang="en-US" sz="2800" b="0" i="1" smtClean="0">
                                  <a:latin typeface="Cambria Math"/>
                                </a:rPr>
                                <m:t>𝑠</m:t>
                              </m:r>
                              <m:r>
                                <a:rPr lang="en-US" sz="2800" b="0" i="1" smtClean="0">
                                  <a:latin typeface="Cambria Math"/>
                                  <a:ea typeface="Cambria Math"/>
                                </a:rPr>
                                <m:t>→0</m:t>
                              </m:r>
                            </m:lim>
                          </m:limLow>
                        </m:fName>
                        <m:e>
                          <m:r>
                            <a:rPr lang="en-US" sz="2800" b="0" i="1" smtClean="0">
                              <a:latin typeface="Cambria Math"/>
                            </a:rPr>
                            <m:t>𝑠</m:t>
                          </m:r>
                          <m:sSub>
                            <m:sSubPr>
                              <m:ctrlPr>
                                <a:rPr lang="en-US" sz="2800" b="0" i="1" smtClean="0">
                                  <a:latin typeface="Cambria Math" panose="02040503050406030204" pitchFamily="18" charset="0"/>
                                </a:rPr>
                              </m:ctrlPr>
                            </m:sSubPr>
                            <m:e>
                              <m:r>
                                <a:rPr lang="en-US" sz="2800" b="0" i="1" smtClean="0">
                                  <a:latin typeface="Cambria Math"/>
                                </a:rPr>
                                <m:t>𝐺</m:t>
                              </m:r>
                            </m:e>
                            <m:sub>
                              <m:r>
                                <a:rPr lang="en-US" sz="2800" b="0" i="1" smtClean="0">
                                  <a:latin typeface="Cambria Math"/>
                                </a:rPr>
                                <m:t>𝑐</m:t>
                              </m:r>
                            </m:sub>
                          </m:sSub>
                          <m:d>
                            <m:dPr>
                              <m:ctrlPr>
                                <a:rPr lang="en-US" sz="2800" b="0" i="1" smtClean="0">
                                  <a:latin typeface="Cambria Math" panose="02040503050406030204" pitchFamily="18" charset="0"/>
                                </a:rPr>
                              </m:ctrlPr>
                            </m:dPr>
                            <m:e>
                              <m:r>
                                <a:rPr lang="en-US" sz="2800" b="0" i="1" smtClean="0">
                                  <a:latin typeface="Cambria Math"/>
                                </a:rPr>
                                <m:t>𝑠</m:t>
                              </m:r>
                            </m:e>
                          </m:d>
                          <m:r>
                            <a:rPr lang="en-US" sz="2800" b="0" i="1" smtClean="0">
                              <a:latin typeface="Cambria Math"/>
                            </a:rPr>
                            <m:t>𝐺</m:t>
                          </m:r>
                          <m:r>
                            <a:rPr lang="en-US" sz="2800" b="0" i="1" smtClean="0">
                              <a:latin typeface="Cambria Math"/>
                            </a:rPr>
                            <m:t>(</m:t>
                          </m:r>
                          <m:r>
                            <a:rPr lang="en-US" sz="2800" b="0" i="1" smtClean="0">
                              <a:latin typeface="Cambria Math"/>
                            </a:rPr>
                            <m:t>𝑠</m:t>
                          </m:r>
                          <m:r>
                            <a:rPr lang="en-US" sz="2800" b="0" i="1" smtClean="0">
                              <a:latin typeface="Cambria Math"/>
                            </a:rPr>
                            <m:t>)</m:t>
                          </m:r>
                        </m:e>
                      </m:func>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743200" y="3396239"/>
                <a:ext cx="3404394" cy="675121"/>
              </a:xfrm>
              <a:prstGeom prst="rect">
                <a:avLst/>
              </a:prstGeom>
              <a:blipFill rotWithShape="1">
                <a:blip r:embed="rId3"/>
                <a:stretch>
                  <a:fillRect t="-4505" r="-4301" b="-63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910687" y="4102942"/>
                <a:ext cx="5812680" cy="9255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func>
                        <m:funcPr>
                          <m:ctrlPr>
                            <a:rPr lang="en-US" sz="2600" b="0" i="1" smtClean="0">
                              <a:latin typeface="Cambria Math" panose="02040503050406030204" pitchFamily="18" charset="0"/>
                            </a:rPr>
                          </m:ctrlPr>
                        </m:funcPr>
                        <m:fName>
                          <m:limLow>
                            <m:limLowPr>
                              <m:ctrlPr>
                                <a:rPr lang="en-US" sz="2600" b="0" i="1" smtClean="0">
                                  <a:latin typeface="Cambria Math" panose="02040503050406030204" pitchFamily="18" charset="0"/>
                                </a:rPr>
                              </m:ctrlPr>
                            </m:limLowPr>
                            <m:e>
                              <m:r>
                                <m:rPr>
                                  <m:sty m:val="p"/>
                                </m:rPr>
                                <a:rPr lang="en-US" sz="2600" b="0" i="0" smtClean="0">
                                  <a:latin typeface="Cambria Math"/>
                                </a:rPr>
                                <m:t>lim</m:t>
                              </m:r>
                            </m:e>
                            <m:lim>
                              <m:r>
                                <a:rPr lang="en-US" sz="2600" b="0" i="1" smtClean="0">
                                  <a:latin typeface="Cambria Math"/>
                                </a:rPr>
                                <m:t>𝑠</m:t>
                              </m:r>
                              <m:r>
                                <a:rPr lang="en-US" sz="2600" b="0" i="1" smtClean="0">
                                  <a:latin typeface="Cambria Math"/>
                                  <a:ea typeface="Cambria Math"/>
                                </a:rPr>
                                <m:t>→0</m:t>
                              </m:r>
                            </m:lim>
                          </m:limLow>
                        </m:fName>
                        <m:e>
                          <m:r>
                            <a:rPr lang="en-US" sz="2600" b="0" i="1" smtClean="0">
                              <a:latin typeface="Cambria Math"/>
                            </a:rPr>
                            <m:t>𝑠</m:t>
                          </m:r>
                          <m:r>
                            <a:rPr lang="en-US" sz="2600" b="0" i="1" smtClean="0">
                              <a:latin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1.0235</m:t>
                              </m:r>
                              <m:d>
                                <m:dPr>
                                  <m:ctrlPr>
                                    <a:rPr lang="en-US" sz="2600" i="1">
                                      <a:latin typeface="Cambria Math" panose="02040503050406030204" pitchFamily="18" charset="0"/>
                                      <a:ea typeface="Cambria Math"/>
                                    </a:rPr>
                                  </m:ctrlPr>
                                </m:dPr>
                                <m:e>
                                  <m:r>
                                    <a:rPr lang="en-US" sz="2600" i="1">
                                      <a:latin typeface="Cambria Math"/>
                                      <a:ea typeface="Cambria Math"/>
                                    </a:rPr>
                                    <m:t>𝑠</m:t>
                                  </m:r>
                                  <m:r>
                                    <a:rPr lang="en-US" sz="2600" i="1">
                                      <a:latin typeface="Cambria Math"/>
                                      <a:ea typeface="Cambria Math"/>
                                    </a:rPr>
                                    <m:t>+0.05</m:t>
                                  </m:r>
                                </m:e>
                              </m:d>
                            </m:num>
                            <m:den>
                              <m:r>
                                <a:rPr lang="en-US" sz="2600" i="1">
                                  <a:latin typeface="Cambria Math"/>
                                  <a:ea typeface="Cambria Math"/>
                                </a:rPr>
                                <m:t>𝑠</m:t>
                              </m:r>
                              <m:d>
                                <m:dPr>
                                  <m:ctrlPr>
                                    <a:rPr lang="en-US" sz="2600" i="1">
                                      <a:latin typeface="Cambria Math" panose="02040503050406030204" pitchFamily="18" charset="0"/>
                                      <a:ea typeface="Cambria Math"/>
                                    </a:rPr>
                                  </m:ctrlPr>
                                </m:dPr>
                                <m:e>
                                  <m:r>
                                    <a:rPr lang="en-US" sz="2600" i="1">
                                      <a:latin typeface="Cambria Math"/>
                                      <a:ea typeface="Cambria Math"/>
                                    </a:rPr>
                                    <m:t>𝑠</m:t>
                                  </m:r>
                                  <m:r>
                                    <a:rPr lang="en-US" sz="2600" i="1">
                                      <a:latin typeface="Cambria Math"/>
                                      <a:ea typeface="Cambria Math"/>
                                    </a:rPr>
                                    <m:t>+0.005</m:t>
                                  </m:r>
                                </m:e>
                              </m:d>
                              <m:d>
                                <m:dPr>
                                  <m:ctrlPr>
                                    <a:rPr lang="en-US" sz="2600" i="1">
                                      <a:latin typeface="Cambria Math" panose="02040503050406030204" pitchFamily="18" charset="0"/>
                                      <a:ea typeface="Cambria Math"/>
                                    </a:rPr>
                                  </m:ctrlPr>
                                </m:dPr>
                                <m:e>
                                  <m:r>
                                    <a:rPr lang="en-US" sz="2600" i="1">
                                      <a:latin typeface="Cambria Math"/>
                                      <a:ea typeface="Cambria Math"/>
                                    </a:rPr>
                                    <m:t>𝑠</m:t>
                                  </m:r>
                                  <m:r>
                                    <a:rPr lang="en-US" sz="2600" i="1">
                                      <a:latin typeface="Cambria Math"/>
                                      <a:ea typeface="Cambria Math"/>
                                    </a:rPr>
                                    <m:t>+1</m:t>
                                  </m:r>
                                </m:e>
                              </m:d>
                              <m:d>
                                <m:dPr>
                                  <m:ctrlPr>
                                    <a:rPr lang="en-US" sz="2600" i="1">
                                      <a:latin typeface="Cambria Math" panose="02040503050406030204" pitchFamily="18" charset="0"/>
                                      <a:ea typeface="Cambria Math"/>
                                    </a:rPr>
                                  </m:ctrlPr>
                                </m:dPr>
                                <m:e>
                                  <m:r>
                                    <a:rPr lang="en-US" sz="2600" i="1">
                                      <a:latin typeface="Cambria Math"/>
                                      <a:ea typeface="Cambria Math"/>
                                    </a:rPr>
                                    <m:t>𝑠</m:t>
                                  </m:r>
                                  <m:r>
                                    <a:rPr lang="en-US" sz="2600" i="1">
                                      <a:latin typeface="Cambria Math"/>
                                      <a:ea typeface="Cambria Math"/>
                                    </a:rPr>
                                    <m:t>+2</m:t>
                                  </m:r>
                                </m:e>
                              </m:d>
                            </m:den>
                          </m:f>
                          <m:r>
                            <a:rPr lang="en-US" sz="2600" b="0" i="1" smtClean="0">
                              <a:latin typeface="Cambria Math"/>
                              <a:ea typeface="Cambria Math"/>
                            </a:rPr>
                            <m:t>]</m:t>
                          </m:r>
                        </m:e>
                      </m:func>
                    </m:oMath>
                  </m:oMathPara>
                </a14:m>
                <a:endParaRPr lang="en-US" sz="2600" dirty="0"/>
              </a:p>
            </p:txBody>
          </p:sp>
        </mc:Choice>
        <mc:Fallback xmlns="">
          <p:sp>
            <p:nvSpPr>
              <p:cNvPr id="9" name="TextBox 8"/>
              <p:cNvSpPr txBox="1">
                <a:spLocks noRot="1" noChangeAspect="1" noMove="1" noResize="1" noEditPoints="1" noAdjustHandles="1" noChangeArrowheads="1" noChangeShapeType="1" noTextEdit="1"/>
              </p:cNvSpPr>
              <p:nvPr/>
            </p:nvSpPr>
            <p:spPr>
              <a:xfrm>
                <a:off x="1910687" y="4102942"/>
                <a:ext cx="5812680" cy="925510"/>
              </a:xfrm>
              <a:prstGeom prst="rect">
                <a:avLst/>
              </a:prstGeom>
              <a:blipFill rotWithShape="1">
                <a:blip r:embed="rId4"/>
                <a:stretch>
                  <a:fillRect r="-2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914144" y="5334000"/>
                <a:ext cx="4755533" cy="9255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i="1">
                                  <a:latin typeface="Cambria Math"/>
                                </a:rPr>
                                <m:t>𝐾</m:t>
                              </m:r>
                            </m:e>
                          </m:acc>
                        </m:e>
                        <m:sub>
                          <m:r>
                            <a:rPr lang="en-US" sz="2600" i="1">
                              <a:latin typeface="Cambria Math"/>
                            </a:rPr>
                            <m:t>𝑣</m:t>
                          </m:r>
                        </m:sub>
                      </m:sSub>
                      <m:r>
                        <a:rPr lang="en-US" sz="2600" b="0" i="1" smtClean="0">
                          <a:latin typeface="Cambria Math"/>
                        </a:rPr>
                        <m:t>=</m:t>
                      </m:r>
                      <m:f>
                        <m:fPr>
                          <m:ctrlPr>
                            <a:rPr lang="en-US" sz="2600" i="1">
                              <a:latin typeface="Cambria Math" panose="02040503050406030204" pitchFamily="18" charset="0"/>
                              <a:ea typeface="Cambria Math"/>
                            </a:rPr>
                          </m:ctrlPr>
                        </m:fPr>
                        <m:num>
                          <m:r>
                            <a:rPr lang="en-US" sz="2600" i="1">
                              <a:latin typeface="Cambria Math"/>
                              <a:ea typeface="Cambria Math"/>
                            </a:rPr>
                            <m:t>1.0235</m:t>
                          </m:r>
                          <m:d>
                            <m:dPr>
                              <m:ctrlPr>
                                <a:rPr lang="en-US" sz="2600" i="1">
                                  <a:latin typeface="Cambria Math" panose="02040503050406030204" pitchFamily="18" charset="0"/>
                                  <a:ea typeface="Cambria Math"/>
                                </a:rPr>
                              </m:ctrlPr>
                            </m:dPr>
                            <m:e>
                              <m:r>
                                <a:rPr lang="en-US" sz="2600" i="1">
                                  <a:latin typeface="Cambria Math"/>
                                  <a:ea typeface="Cambria Math"/>
                                </a:rPr>
                                <m:t>0.05</m:t>
                              </m:r>
                            </m:e>
                          </m:d>
                        </m:num>
                        <m:den>
                          <m:d>
                            <m:dPr>
                              <m:ctrlPr>
                                <a:rPr lang="en-US" sz="2600" i="1">
                                  <a:latin typeface="Cambria Math" panose="02040503050406030204" pitchFamily="18" charset="0"/>
                                  <a:ea typeface="Cambria Math"/>
                                </a:rPr>
                              </m:ctrlPr>
                            </m:dPr>
                            <m:e>
                              <m:r>
                                <a:rPr lang="en-US" sz="2600" i="1">
                                  <a:latin typeface="Cambria Math"/>
                                  <a:ea typeface="Cambria Math"/>
                                </a:rPr>
                                <m:t>0.005</m:t>
                              </m:r>
                            </m:e>
                          </m:d>
                          <m:d>
                            <m:dPr>
                              <m:ctrlPr>
                                <a:rPr lang="en-US" sz="2600" i="1">
                                  <a:latin typeface="Cambria Math" panose="02040503050406030204" pitchFamily="18" charset="0"/>
                                  <a:ea typeface="Cambria Math"/>
                                </a:rPr>
                              </m:ctrlPr>
                            </m:dPr>
                            <m:e>
                              <m:r>
                                <a:rPr lang="en-US" sz="2600" i="1">
                                  <a:latin typeface="Cambria Math"/>
                                  <a:ea typeface="Cambria Math"/>
                                </a:rPr>
                                <m:t>1</m:t>
                              </m:r>
                            </m:e>
                          </m:d>
                          <m:d>
                            <m:dPr>
                              <m:ctrlPr>
                                <a:rPr lang="en-US" sz="2600" i="1">
                                  <a:latin typeface="Cambria Math" panose="02040503050406030204" pitchFamily="18" charset="0"/>
                                  <a:ea typeface="Cambria Math"/>
                                </a:rPr>
                              </m:ctrlPr>
                            </m:dPr>
                            <m:e>
                              <m:r>
                                <a:rPr lang="en-US" sz="2600" i="1">
                                  <a:latin typeface="Cambria Math"/>
                                  <a:ea typeface="Cambria Math"/>
                                </a:rPr>
                                <m:t>2</m:t>
                              </m:r>
                            </m:e>
                          </m:d>
                        </m:den>
                      </m:f>
                      <m:r>
                        <a:rPr lang="en-US" sz="2600" b="0" i="1" smtClean="0">
                          <a:latin typeface="Cambria Math"/>
                          <a:ea typeface="Cambria Math"/>
                        </a:rPr>
                        <m:t>=5.12</m:t>
                      </m:r>
                      <m:sSup>
                        <m:sSupPr>
                          <m:ctrlPr>
                            <a:rPr lang="en-US" sz="2600" b="0" i="1" smtClean="0">
                              <a:latin typeface="Cambria Math" panose="02040503050406030204" pitchFamily="18" charset="0"/>
                              <a:ea typeface="Cambria Math"/>
                            </a:rPr>
                          </m:ctrlPr>
                        </m:sSupPr>
                        <m:e>
                          <m:r>
                            <a:rPr lang="en-US" sz="2600" b="0" i="1" smtClean="0">
                              <a:latin typeface="Cambria Math"/>
                              <a:ea typeface="Cambria Math"/>
                            </a:rPr>
                            <m:t>𝑠</m:t>
                          </m:r>
                        </m:e>
                        <m:sup>
                          <m:r>
                            <a:rPr lang="en-US" sz="2600" b="0" i="1" smtClean="0">
                              <a:latin typeface="Cambria Math"/>
                              <a:ea typeface="Cambria Math"/>
                            </a:rPr>
                            <m:t>−1</m:t>
                          </m:r>
                        </m:sup>
                      </m:sSup>
                    </m:oMath>
                  </m:oMathPara>
                </a14:m>
                <a:endParaRPr lang="en-US" sz="2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914144" y="5334000"/>
                <a:ext cx="4755533" cy="925510"/>
              </a:xfrm>
              <a:prstGeom prst="rect">
                <a:avLst/>
              </a:prstGeom>
              <a:blipFill rotWithShape="1">
                <a:blip r:embed="rId5"/>
                <a:stretch>
                  <a:fillRect r="-128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A0D5CAB-8BF0-4EA3-BAE4-9835C852A49B}" type="slidenum">
              <a:rPr lang="en-GB" smtClean="0"/>
              <a:pPr/>
              <a:t>35</a:t>
            </a:fld>
            <a:endParaRPr lang="en-GB" dirty="0"/>
          </a:p>
        </p:txBody>
      </p:sp>
    </p:spTree>
    <p:extLst>
      <p:ext uri="{BB962C8B-B14F-4D97-AF65-F5344CB8AC3E}">
        <p14:creationId xmlns:p14="http://schemas.microsoft.com/office/powerpoint/2010/main" val="190997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 fill="hold"/>
                                        <p:tgtEl>
                                          <p:spTgt spid="7"/>
                                        </p:tgtEl>
                                        <p:attrNameLst>
                                          <p:attrName>ppt_x</p:attrName>
                                        </p:attrNameLst>
                                      </p:cBhvr>
                                      <p:tavLst>
                                        <p:tav tm="0">
                                          <p:val>
                                            <p:strVal val="#ppt_x"/>
                                          </p:val>
                                        </p:tav>
                                        <p:tav tm="100000">
                                          <p:val>
                                            <p:strVal val="#ppt_x"/>
                                          </p:val>
                                        </p:tav>
                                      </p:tavLst>
                                    </p:anim>
                                    <p:anim calcmode="lin" valueType="num">
                                      <p:cBhvr additive="base">
                                        <p:cTn id="8" dur="1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(Step-4)</a:t>
            </a:r>
          </a:p>
        </p:txBody>
      </p:sp>
      <p:sp>
        <p:nvSpPr>
          <p:cNvPr id="3" name="Content Placeholder 2"/>
          <p:cNvSpPr>
            <a:spLocks noGrp="1"/>
          </p:cNvSpPr>
          <p:nvPr>
            <p:ph idx="1"/>
          </p:nvPr>
        </p:nvSpPr>
        <p:spPr>
          <a:xfrm>
            <a:off x="152400" y="990600"/>
            <a:ext cx="8839200" cy="3992563"/>
          </a:xfrm>
        </p:spPr>
        <p:txBody>
          <a:bodyPr>
            <a:normAutofit/>
          </a:bodyPr>
          <a:lstStyle/>
          <a:p>
            <a:pPr algn="just"/>
            <a:r>
              <a:rPr lang="en-US" sz="2600" dirty="0"/>
              <a:t>Place the zero and pole of the lag compensator at </a:t>
            </a:r>
            <a:r>
              <a:rPr lang="en-US" sz="2600" dirty="0">
                <a:solidFill>
                  <a:srgbClr val="FF0000"/>
                </a:solidFill>
              </a:rPr>
              <a:t>s=–0.01</a:t>
            </a:r>
            <a:r>
              <a:rPr lang="en-US" sz="2600" dirty="0"/>
              <a:t> and </a:t>
            </a:r>
            <a:r>
              <a:rPr lang="en-US" sz="2600" dirty="0">
                <a:solidFill>
                  <a:srgbClr val="FF0000"/>
                </a:solidFill>
              </a:rPr>
              <a:t>s=–0.001</a:t>
            </a:r>
            <a:r>
              <a:rPr lang="en-US" sz="2600" dirty="0"/>
              <a:t>, respectively. </a:t>
            </a:r>
          </a:p>
          <a:p>
            <a:pPr algn="just"/>
            <a:endParaRPr lang="en-US" sz="1200" dirty="0"/>
          </a:p>
          <a:p>
            <a:pPr algn="just"/>
            <a:r>
              <a:rPr lang="en-US" sz="2600" dirty="0"/>
              <a:t>The transfer function of the lag compensator becomes</a:t>
            </a:r>
          </a:p>
          <a:p>
            <a:pPr algn="just"/>
            <a:endParaRPr lang="en-US" dirty="0"/>
          </a:p>
          <a:p>
            <a:pPr algn="just"/>
            <a:endParaRPr lang="en-US" sz="2600" dirty="0"/>
          </a:p>
          <a:p>
            <a:pPr algn="just"/>
            <a:r>
              <a:rPr lang="en-US" sz="2600" dirty="0"/>
              <a:t>Open loop transfer function is given as</a:t>
            </a:r>
          </a:p>
        </p:txBody>
      </p:sp>
      <mc:AlternateContent xmlns:mc="http://schemas.openxmlformats.org/markup-compatibility/2006" xmlns:a14="http://schemas.microsoft.com/office/drawing/2010/main">
        <mc:Choice Requires="a14">
          <p:sp>
            <p:nvSpPr>
              <p:cNvPr id="9" name="TextBox 8"/>
              <p:cNvSpPr txBox="1"/>
              <p:nvPr/>
            </p:nvSpPr>
            <p:spPr>
              <a:xfrm>
                <a:off x="2604448" y="2639704"/>
                <a:ext cx="3810000" cy="842923"/>
              </a:xfrm>
              <a:prstGeom prst="rect">
                <a:avLst/>
              </a:prstGeom>
              <a:noFill/>
            </p:spPr>
            <p:txBody>
              <a:bodyPr wrap="square" rtlCol="0">
                <a:spAutoFit/>
              </a:bodyPr>
              <a:lstStyle/>
              <a:p>
                <a14:m>
                  <m:oMath xmlns:m="http://schemas.openxmlformats.org/officeDocument/2006/math">
                    <m:sSub>
                      <m:sSubPr>
                        <m:ctrlPr>
                          <a:rPr lang="en-US" sz="3400" i="1" smtClean="0">
                            <a:latin typeface="Cambria Math" panose="02040503050406030204" pitchFamily="18" charset="0"/>
                          </a:rPr>
                        </m:ctrlPr>
                      </m:sSubPr>
                      <m:e>
                        <m:r>
                          <a:rPr lang="en-US" sz="3400" b="0" i="1" smtClean="0">
                            <a:latin typeface="Cambria Math"/>
                          </a:rPr>
                          <m:t>𝐺</m:t>
                        </m:r>
                      </m:e>
                      <m:sub>
                        <m:r>
                          <a:rPr lang="en-US" sz="3400" b="0" i="1" smtClean="0">
                            <a:latin typeface="Cambria Math"/>
                          </a:rPr>
                          <m:t>𝑐</m:t>
                        </m:r>
                      </m:sub>
                    </m:sSub>
                    <m:d>
                      <m:dPr>
                        <m:ctrlPr>
                          <a:rPr lang="en-US" sz="3400" b="0" i="1" smtClean="0">
                            <a:latin typeface="Cambria Math" panose="02040503050406030204" pitchFamily="18" charset="0"/>
                          </a:rPr>
                        </m:ctrlPr>
                      </m:dPr>
                      <m:e>
                        <m:r>
                          <a:rPr lang="en-US" sz="3400" b="0" i="1" smtClean="0">
                            <a:latin typeface="Cambria Math"/>
                          </a:rPr>
                          <m:t>𝑠</m:t>
                        </m:r>
                      </m:e>
                    </m:d>
                  </m:oMath>
                </a14:m>
                <a:r>
                  <a:rPr lang="en-US" sz="3400" dirty="0"/>
                  <a:t>=</a:t>
                </a:r>
                <a14:m>
                  <m:oMath xmlns:m="http://schemas.openxmlformats.org/officeDocument/2006/math">
                    <m:sSub>
                      <m:sSubPr>
                        <m:ctrlPr>
                          <a:rPr lang="en-US" sz="3400" i="1">
                            <a:latin typeface="Cambria Math" panose="02040503050406030204" pitchFamily="18" charset="0"/>
                          </a:rPr>
                        </m:ctrlPr>
                      </m:sSubPr>
                      <m:e>
                        <m:acc>
                          <m:accPr>
                            <m:chr m:val="̂"/>
                            <m:ctrlPr>
                              <a:rPr lang="en-US" sz="3400" i="1">
                                <a:latin typeface="Cambria Math" panose="02040503050406030204" pitchFamily="18" charset="0"/>
                              </a:rPr>
                            </m:ctrlPr>
                          </m:accPr>
                          <m:e>
                            <m:r>
                              <a:rPr lang="en-US" sz="3400" i="1">
                                <a:latin typeface="Cambria Math"/>
                              </a:rPr>
                              <m:t>𝐾</m:t>
                            </m:r>
                          </m:e>
                        </m:acc>
                      </m:e>
                      <m:sub>
                        <m:r>
                          <a:rPr lang="en-US" sz="3400" i="1">
                            <a:latin typeface="Cambria Math"/>
                          </a:rPr>
                          <m:t>𝑐</m:t>
                        </m:r>
                      </m:sub>
                    </m:sSub>
                    <m:f>
                      <m:fPr>
                        <m:ctrlPr>
                          <a:rPr lang="en-US" sz="3400" i="1">
                            <a:latin typeface="Cambria Math" panose="02040503050406030204" pitchFamily="18" charset="0"/>
                            <a:ea typeface="Cambria Math"/>
                          </a:rPr>
                        </m:ctrlPr>
                      </m:fPr>
                      <m:num>
                        <m:r>
                          <a:rPr lang="en-US" sz="3400" i="1">
                            <a:latin typeface="Cambria Math"/>
                            <a:ea typeface="Cambria Math"/>
                          </a:rPr>
                          <m:t>𝑠</m:t>
                        </m:r>
                        <m:r>
                          <a:rPr lang="en-US" sz="3400" i="1">
                            <a:latin typeface="Cambria Math"/>
                            <a:ea typeface="Cambria Math"/>
                          </a:rPr>
                          <m:t>+0.01</m:t>
                        </m:r>
                      </m:num>
                      <m:den>
                        <m:r>
                          <a:rPr lang="en-US" sz="3400" i="1">
                            <a:latin typeface="Cambria Math"/>
                            <a:ea typeface="Cambria Math"/>
                          </a:rPr>
                          <m:t>𝑠</m:t>
                        </m:r>
                        <m:r>
                          <a:rPr lang="en-US" sz="3400" i="1">
                            <a:latin typeface="Cambria Math"/>
                            <a:ea typeface="Cambria Math"/>
                          </a:rPr>
                          <m:t>+0.001</m:t>
                        </m:r>
                      </m:den>
                    </m:f>
                  </m:oMath>
                </a14:m>
                <a:endParaRPr lang="en-US" sz="3400" dirty="0"/>
              </a:p>
            </p:txBody>
          </p:sp>
        </mc:Choice>
        <mc:Fallback xmlns="">
          <p:sp>
            <p:nvSpPr>
              <p:cNvPr id="9" name="TextBox 8"/>
              <p:cNvSpPr txBox="1">
                <a:spLocks noRot="1" noChangeAspect="1" noMove="1" noResize="1" noEditPoints="1" noAdjustHandles="1" noChangeArrowheads="1" noChangeShapeType="1" noTextEdit="1"/>
              </p:cNvSpPr>
              <p:nvPr/>
            </p:nvSpPr>
            <p:spPr>
              <a:xfrm>
                <a:off x="2604448" y="2639704"/>
                <a:ext cx="3810000" cy="842923"/>
              </a:xfrm>
              <a:prstGeom prst="rect">
                <a:avLst/>
              </a:prstGeom>
              <a:blipFill rotWithShape="0">
                <a:blip r:embed="rId2"/>
                <a:stretch>
                  <a:fillRect b="-12319"/>
                </a:stretch>
              </a:blipFill>
            </p:spPr>
            <p:txBody>
              <a:bodyPr/>
              <a:lstStyle/>
              <a:p>
                <a:r>
                  <a:rPr lang="en-US">
                    <a:noFill/>
                  </a:rPr>
                  <a:t> </a:t>
                </a:r>
              </a:p>
            </p:txBody>
          </p:sp>
        </mc:Fallback>
      </mc:AlternateContent>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Solution-2</a:t>
            </a:r>
          </a:p>
        </p:txBody>
      </p:sp>
      <mc:AlternateContent xmlns:mc="http://schemas.openxmlformats.org/markup-compatibility/2006" xmlns:a14="http://schemas.microsoft.com/office/drawing/2010/main">
        <mc:Choice Requires="a14">
          <p:sp>
            <p:nvSpPr>
              <p:cNvPr id="10" name="TextBox 9"/>
              <p:cNvSpPr txBox="1"/>
              <p:nvPr/>
            </p:nvSpPr>
            <p:spPr>
              <a:xfrm>
                <a:off x="943968" y="4269472"/>
                <a:ext cx="7467600" cy="813813"/>
              </a:xfrm>
              <a:prstGeom prst="rect">
                <a:avLst/>
              </a:prstGeom>
              <a:noFill/>
            </p:spPr>
            <p:txBody>
              <a:bodyPr wrap="square" rtlCol="0">
                <a:spAutoFit/>
              </a:bodyPr>
              <a:lstStyle/>
              <a:p>
                <a:pPr algn="ctr"/>
                <a14:m>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a:rPr>
                          <m:t>𝐺</m:t>
                        </m:r>
                      </m:e>
                      <m:sub>
                        <m:r>
                          <a:rPr lang="en-US" sz="3000" b="0" i="1" smtClean="0">
                            <a:latin typeface="Cambria Math"/>
                          </a:rPr>
                          <m:t>𝑐</m:t>
                        </m:r>
                      </m:sub>
                    </m:sSub>
                    <m:d>
                      <m:dPr>
                        <m:ctrlPr>
                          <a:rPr lang="en-US" sz="3000" b="0" i="1" smtClean="0">
                            <a:latin typeface="Cambria Math" panose="02040503050406030204" pitchFamily="18" charset="0"/>
                          </a:rPr>
                        </m:ctrlPr>
                      </m:dPr>
                      <m:e>
                        <m:r>
                          <a:rPr lang="en-US" sz="3000" b="0" i="1" smtClean="0">
                            <a:latin typeface="Cambria Math"/>
                          </a:rPr>
                          <m:t>𝑠</m:t>
                        </m:r>
                      </m:e>
                    </m:d>
                    <m:r>
                      <a:rPr lang="en-US" sz="3000" b="0" i="1" smtClean="0">
                        <a:latin typeface="Cambria Math"/>
                      </a:rPr>
                      <m:t>𝐺</m:t>
                    </m:r>
                    <m:r>
                      <a:rPr lang="en-US" sz="3000" b="0" i="1" smtClean="0">
                        <a:latin typeface="Cambria Math"/>
                      </a:rPr>
                      <m:t>(</m:t>
                    </m:r>
                    <m:r>
                      <a:rPr lang="en-US" sz="3000" b="0" i="1" smtClean="0">
                        <a:latin typeface="Cambria Math"/>
                      </a:rPr>
                      <m:t>𝑠</m:t>
                    </m:r>
                    <m:r>
                      <a:rPr lang="en-US" sz="3000" b="0" i="1" smtClean="0">
                        <a:latin typeface="Cambria Math"/>
                      </a:rPr>
                      <m:t>)</m:t>
                    </m:r>
                  </m:oMath>
                </a14:m>
                <a:r>
                  <a:rPr lang="en-US" sz="3000" dirty="0"/>
                  <a:t>=</a:t>
                </a:r>
                <a14:m>
                  <m:oMath xmlns:m="http://schemas.openxmlformats.org/officeDocument/2006/math">
                    <m:sSub>
                      <m:sSubPr>
                        <m:ctrlPr>
                          <a:rPr lang="en-US" sz="3000" i="1">
                            <a:latin typeface="Cambria Math" panose="02040503050406030204" pitchFamily="18" charset="0"/>
                          </a:rPr>
                        </m:ctrlPr>
                      </m:sSubPr>
                      <m:e>
                        <m:acc>
                          <m:accPr>
                            <m:chr m:val="̂"/>
                            <m:ctrlPr>
                              <a:rPr lang="en-US" sz="3000" i="1">
                                <a:latin typeface="Cambria Math" panose="02040503050406030204" pitchFamily="18" charset="0"/>
                              </a:rPr>
                            </m:ctrlPr>
                          </m:accPr>
                          <m:e>
                            <m:r>
                              <a:rPr lang="en-US" sz="3000" i="1">
                                <a:latin typeface="Cambria Math"/>
                              </a:rPr>
                              <m:t>𝐾</m:t>
                            </m:r>
                          </m:e>
                        </m:acc>
                      </m:e>
                      <m:sub>
                        <m:r>
                          <a:rPr lang="en-US" sz="3000" i="1">
                            <a:latin typeface="Cambria Math"/>
                          </a:rPr>
                          <m:t>𝑐</m:t>
                        </m:r>
                      </m:sub>
                    </m:sSub>
                    <m:f>
                      <m:fPr>
                        <m:ctrlPr>
                          <a:rPr lang="en-US" sz="3000" i="1">
                            <a:latin typeface="Cambria Math" panose="02040503050406030204" pitchFamily="18" charset="0"/>
                            <a:ea typeface="Cambria Math"/>
                          </a:rPr>
                        </m:ctrlPr>
                      </m:fPr>
                      <m:num>
                        <m:r>
                          <a:rPr lang="en-US" sz="3000" i="1">
                            <a:latin typeface="Cambria Math"/>
                            <a:ea typeface="Cambria Math"/>
                          </a:rPr>
                          <m:t>𝑠</m:t>
                        </m:r>
                        <m:r>
                          <a:rPr lang="en-US" sz="3000" i="1">
                            <a:latin typeface="Cambria Math"/>
                            <a:ea typeface="Cambria Math"/>
                          </a:rPr>
                          <m:t>+0.01</m:t>
                        </m:r>
                      </m:num>
                      <m:den>
                        <m:r>
                          <a:rPr lang="en-US" sz="3000" i="1">
                            <a:latin typeface="Cambria Math"/>
                            <a:ea typeface="Cambria Math"/>
                          </a:rPr>
                          <m:t>𝑠</m:t>
                        </m:r>
                        <m:r>
                          <a:rPr lang="en-US" sz="3000" i="1">
                            <a:latin typeface="Cambria Math"/>
                            <a:ea typeface="Cambria Math"/>
                          </a:rPr>
                          <m:t>+0.001</m:t>
                        </m:r>
                      </m:den>
                    </m:f>
                    <m:f>
                      <m:fPr>
                        <m:ctrlPr>
                          <a:rPr lang="en-US" sz="3000" i="1" smtClean="0">
                            <a:latin typeface="Cambria Math" panose="02040503050406030204" pitchFamily="18" charset="0"/>
                            <a:ea typeface="Cambria Math"/>
                          </a:rPr>
                        </m:ctrlPr>
                      </m:fPr>
                      <m:num>
                        <m:r>
                          <a:rPr lang="en-US" sz="3000" b="0" i="1" smtClean="0">
                            <a:latin typeface="Cambria Math"/>
                            <a:ea typeface="Cambria Math"/>
                          </a:rPr>
                          <m:t>1.06</m:t>
                        </m:r>
                      </m:num>
                      <m:den>
                        <m:r>
                          <a:rPr lang="en-US" sz="3000" b="0" i="1" smtClean="0">
                            <a:latin typeface="Cambria Math"/>
                            <a:ea typeface="Cambria Math"/>
                          </a:rPr>
                          <m:t>𝑠</m:t>
                        </m:r>
                        <m:r>
                          <a:rPr lang="en-US" sz="3000" b="0" i="1" smtClean="0">
                            <a:latin typeface="Cambria Math"/>
                            <a:ea typeface="Cambria Math"/>
                          </a:rPr>
                          <m:t>(</m:t>
                        </m:r>
                        <m:r>
                          <a:rPr lang="en-US" sz="3000" b="0" i="1" smtClean="0">
                            <a:latin typeface="Cambria Math"/>
                            <a:ea typeface="Cambria Math"/>
                          </a:rPr>
                          <m:t>𝑠</m:t>
                        </m:r>
                        <m:r>
                          <a:rPr lang="en-US" sz="3000" b="0" i="1" smtClean="0">
                            <a:latin typeface="Cambria Math"/>
                            <a:ea typeface="Cambria Math"/>
                          </a:rPr>
                          <m:t>+1)(</m:t>
                        </m:r>
                        <m:r>
                          <a:rPr lang="en-US" sz="3000" b="0" i="1" smtClean="0">
                            <a:latin typeface="Cambria Math"/>
                            <a:ea typeface="Cambria Math"/>
                          </a:rPr>
                          <m:t>𝑠</m:t>
                        </m:r>
                        <m:r>
                          <a:rPr lang="en-US" sz="3000" b="0" i="1" smtClean="0">
                            <a:latin typeface="Cambria Math"/>
                            <a:ea typeface="Cambria Math"/>
                          </a:rPr>
                          <m:t>+2)</m:t>
                        </m:r>
                      </m:den>
                    </m:f>
                  </m:oMath>
                </a14:m>
                <a:endParaRPr lang="en-US" sz="3000" dirty="0"/>
              </a:p>
            </p:txBody>
          </p:sp>
        </mc:Choice>
        <mc:Fallback xmlns="">
          <p:sp>
            <p:nvSpPr>
              <p:cNvPr id="10" name="TextBox 9"/>
              <p:cNvSpPr txBox="1">
                <a:spLocks noRot="1" noChangeAspect="1" noMove="1" noResize="1" noEditPoints="1" noAdjustHandles="1" noChangeArrowheads="1" noChangeShapeType="1" noTextEdit="1"/>
              </p:cNvSpPr>
              <p:nvPr/>
            </p:nvSpPr>
            <p:spPr>
              <a:xfrm>
                <a:off x="943968" y="4269472"/>
                <a:ext cx="7467600" cy="813813"/>
              </a:xfrm>
              <a:prstGeom prst="rect">
                <a:avLst/>
              </a:prstGeom>
              <a:blipFill rotWithShape="0">
                <a:blip r:embed="rId3"/>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4800" y="5129787"/>
                <a:ext cx="8382000" cy="827791"/>
              </a:xfrm>
              <a:prstGeom prst="rect">
                <a:avLst/>
              </a:prstGeom>
              <a:noFill/>
            </p:spPr>
            <p:txBody>
              <a:bodyPr wrap="square" rtlCol="0">
                <a:spAutoFit/>
              </a:bodyPr>
              <a:lstStyle/>
              <a:p>
                <a:pPr algn="ctr"/>
                <a14:m>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a:rPr>
                          <m:t>𝐺</m:t>
                        </m:r>
                      </m:e>
                      <m:sub>
                        <m:r>
                          <a:rPr lang="en-US" sz="3000" b="0" i="1" smtClean="0">
                            <a:latin typeface="Cambria Math"/>
                          </a:rPr>
                          <m:t>𝑐</m:t>
                        </m:r>
                      </m:sub>
                    </m:sSub>
                    <m:d>
                      <m:dPr>
                        <m:ctrlPr>
                          <a:rPr lang="en-US" sz="3000" b="0" i="1" smtClean="0">
                            <a:latin typeface="Cambria Math" panose="02040503050406030204" pitchFamily="18" charset="0"/>
                          </a:rPr>
                        </m:ctrlPr>
                      </m:dPr>
                      <m:e>
                        <m:r>
                          <a:rPr lang="en-US" sz="3000" b="0" i="1" smtClean="0">
                            <a:latin typeface="Cambria Math"/>
                          </a:rPr>
                          <m:t>𝑠</m:t>
                        </m:r>
                      </m:e>
                    </m:d>
                    <m:r>
                      <a:rPr lang="en-US" sz="3000" b="0" i="1" smtClean="0">
                        <a:latin typeface="Cambria Math"/>
                      </a:rPr>
                      <m:t>𝐺</m:t>
                    </m:r>
                    <m:r>
                      <a:rPr lang="en-US" sz="3000" b="0" i="1" smtClean="0">
                        <a:latin typeface="Cambria Math"/>
                      </a:rPr>
                      <m:t>(</m:t>
                    </m:r>
                    <m:r>
                      <a:rPr lang="en-US" sz="3000" b="0" i="1" smtClean="0">
                        <a:latin typeface="Cambria Math"/>
                      </a:rPr>
                      <m:t>𝑠</m:t>
                    </m:r>
                    <m:r>
                      <a:rPr lang="en-US" sz="3000" b="0" i="1" smtClean="0">
                        <a:latin typeface="Cambria Math"/>
                      </a:rPr>
                      <m:t>)</m:t>
                    </m:r>
                  </m:oMath>
                </a14:m>
                <a:r>
                  <a:rPr lang="en-US" sz="3000" dirty="0"/>
                  <a:t>=</a:t>
                </a:r>
                <a14:m>
                  <m:oMath xmlns:m="http://schemas.openxmlformats.org/officeDocument/2006/math">
                    <m:f>
                      <m:fPr>
                        <m:ctrlPr>
                          <a:rPr lang="en-US" sz="3000" i="1">
                            <a:latin typeface="Cambria Math" panose="02040503050406030204" pitchFamily="18" charset="0"/>
                            <a:ea typeface="Cambria Math"/>
                          </a:rPr>
                        </m:ctrlPr>
                      </m:fPr>
                      <m:num>
                        <m:r>
                          <a:rPr lang="en-US" sz="3000" b="0" i="1" smtClean="0">
                            <a:latin typeface="Cambria Math"/>
                            <a:ea typeface="Cambria Math"/>
                          </a:rPr>
                          <m:t>𝐾</m:t>
                        </m:r>
                        <m:r>
                          <a:rPr lang="en-US" sz="3000" b="0" i="1" smtClean="0">
                            <a:latin typeface="Cambria Math"/>
                            <a:ea typeface="Cambria Math"/>
                          </a:rPr>
                          <m:t>(</m:t>
                        </m:r>
                        <m:r>
                          <a:rPr lang="en-US" sz="3000" i="1">
                            <a:latin typeface="Cambria Math"/>
                            <a:ea typeface="Cambria Math"/>
                          </a:rPr>
                          <m:t>𝑠</m:t>
                        </m:r>
                        <m:r>
                          <a:rPr lang="en-US" sz="3000" i="1">
                            <a:latin typeface="Cambria Math"/>
                            <a:ea typeface="Cambria Math"/>
                          </a:rPr>
                          <m:t>+0.01)</m:t>
                        </m:r>
                      </m:num>
                      <m:den>
                        <m:r>
                          <a:rPr lang="en-US" sz="3000" b="0" i="1" smtClean="0">
                            <a:latin typeface="Cambria Math"/>
                            <a:ea typeface="Cambria Math"/>
                          </a:rPr>
                          <m:t>𝑠</m:t>
                        </m:r>
                        <m:r>
                          <a:rPr lang="en-US" sz="3000" b="0" i="1" smtClean="0">
                            <a:latin typeface="Cambria Math"/>
                            <a:ea typeface="Cambria Math"/>
                          </a:rPr>
                          <m:t>(</m:t>
                        </m:r>
                        <m:r>
                          <a:rPr lang="en-US" sz="3000" i="1">
                            <a:latin typeface="Cambria Math"/>
                            <a:ea typeface="Cambria Math"/>
                          </a:rPr>
                          <m:t>𝑠</m:t>
                        </m:r>
                        <m:r>
                          <a:rPr lang="en-US" sz="3000" i="1">
                            <a:latin typeface="Cambria Math"/>
                            <a:ea typeface="Cambria Math"/>
                          </a:rPr>
                          <m:t>+0.001)(</m:t>
                        </m:r>
                        <m:r>
                          <a:rPr lang="en-US" sz="3000" b="0" i="1" smtClean="0">
                            <a:latin typeface="Cambria Math"/>
                            <a:ea typeface="Cambria Math"/>
                          </a:rPr>
                          <m:t>𝑠</m:t>
                        </m:r>
                        <m:r>
                          <a:rPr lang="en-US" sz="3000" b="0" i="1" smtClean="0">
                            <a:latin typeface="Cambria Math"/>
                            <a:ea typeface="Cambria Math"/>
                          </a:rPr>
                          <m:t>+1)(</m:t>
                        </m:r>
                        <m:r>
                          <a:rPr lang="en-US" sz="3000" b="0" i="1" smtClean="0">
                            <a:latin typeface="Cambria Math"/>
                            <a:ea typeface="Cambria Math"/>
                          </a:rPr>
                          <m:t>𝑠</m:t>
                        </m:r>
                        <m:r>
                          <a:rPr lang="en-US" sz="3000" b="0" i="1" smtClean="0">
                            <a:latin typeface="Cambria Math"/>
                            <a:ea typeface="Cambria Math"/>
                          </a:rPr>
                          <m:t>+2)</m:t>
                        </m:r>
                      </m:den>
                    </m:f>
                  </m:oMath>
                </a14:m>
                <a:endParaRPr lang="en-US" sz="3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04800" y="5129787"/>
                <a:ext cx="8382000" cy="827791"/>
              </a:xfrm>
              <a:prstGeom prst="rect">
                <a:avLst/>
              </a:prstGeom>
              <a:blipFill rotWithShape="0">
                <a:blip r:embed="rId4"/>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505200" y="6172200"/>
                <a:ext cx="3119315" cy="534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a:rPr>
                        <m:t>𝑤h𝑒𝑟𝑒</m:t>
                      </m:r>
                      <m:r>
                        <a:rPr lang="en-US" sz="2800" i="1" dirty="0">
                          <a:latin typeface="Cambria Math"/>
                        </a:rPr>
                        <m:t> </m:t>
                      </m:r>
                      <m:r>
                        <a:rPr lang="en-US" sz="2800" i="1" dirty="0">
                          <a:latin typeface="Cambria Math"/>
                        </a:rPr>
                        <m:t>𝐾</m:t>
                      </m:r>
                      <m:r>
                        <a:rPr lang="en-US" sz="2800" i="1" dirty="0">
                          <a:latin typeface="Cambria Math"/>
                        </a:rPr>
                        <m:t>=1.06</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a:rPr>
                                <m:t>𝐾</m:t>
                              </m:r>
                            </m:e>
                          </m:acc>
                        </m:e>
                        <m:sub>
                          <m:r>
                            <a:rPr lang="en-US" sz="2800" i="1">
                              <a:latin typeface="Cambria Math"/>
                            </a:rPr>
                            <m:t>𝑐</m:t>
                          </m:r>
                        </m:sub>
                      </m:sSub>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3505200" y="6172200"/>
                <a:ext cx="3119315" cy="534762"/>
              </a:xfrm>
              <a:prstGeom prst="rect">
                <a:avLst/>
              </a:prstGeom>
              <a:blipFill rotWithShape="0">
                <a:blip r:embed="rId5"/>
                <a:stretch>
                  <a:fillRect/>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7A0D5CAB-8BF0-4EA3-BAE4-9835C852A49B}" type="slidenum">
              <a:rPr lang="en-GB" smtClean="0"/>
              <a:pPr/>
              <a:t>36</a:t>
            </a:fld>
            <a:endParaRPr lang="en-GB" dirty="0"/>
          </a:p>
        </p:txBody>
      </p:sp>
    </p:spTree>
    <p:extLst>
      <p:ext uri="{BB962C8B-B14F-4D97-AF65-F5344CB8AC3E}">
        <p14:creationId xmlns:p14="http://schemas.microsoft.com/office/powerpoint/2010/main" val="389270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 calcmode="lin" valueType="num">
                                      <p:cBhvr additive="base">
                                        <p:cTn id="9" dur="10" fill="hold"/>
                                        <p:tgtEl>
                                          <p:spTgt spid="9"/>
                                        </p:tgtEl>
                                        <p:attrNameLst>
                                          <p:attrName>ppt_x</p:attrName>
                                        </p:attrNameLst>
                                      </p:cBhvr>
                                      <p:tavLst>
                                        <p:tav tm="0">
                                          <p:val>
                                            <p:strVal val="#ppt_x"/>
                                          </p:val>
                                        </p:tav>
                                        <p:tav tm="100000">
                                          <p:val>
                                            <p:strVal val="#ppt_x"/>
                                          </p:val>
                                        </p:tav>
                                      </p:tavLst>
                                    </p:anim>
                                    <p:anim calcmode="lin" valueType="num">
                                      <p:cBhvr additive="base">
                                        <p:cTn id="10" dur="1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10" fill="hold"/>
                                        <p:tgtEl>
                                          <p:spTgt spid="10"/>
                                        </p:tgtEl>
                                        <p:attrNameLst>
                                          <p:attrName>ppt_x</p:attrName>
                                        </p:attrNameLst>
                                      </p:cBhvr>
                                      <p:tavLst>
                                        <p:tav tm="0">
                                          <p:val>
                                            <p:strVal val="#ppt_x"/>
                                          </p:val>
                                        </p:tav>
                                        <p:tav tm="100000">
                                          <p:val>
                                            <p:strVal val="#ppt_x"/>
                                          </p:val>
                                        </p:tav>
                                      </p:tavLst>
                                    </p:anim>
                                    <p:anim calcmode="lin" valueType="num">
                                      <p:cBhvr additive="base">
                                        <p:cTn id="18" dur="1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10" fill="hold"/>
                                        <p:tgtEl>
                                          <p:spTgt spid="11"/>
                                        </p:tgtEl>
                                        <p:attrNameLst>
                                          <p:attrName>ppt_x</p:attrName>
                                        </p:attrNameLst>
                                      </p:cBhvr>
                                      <p:tavLst>
                                        <p:tav tm="0">
                                          <p:val>
                                            <p:strVal val="#ppt_x"/>
                                          </p:val>
                                        </p:tav>
                                        <p:tav tm="100000">
                                          <p:val>
                                            <p:strVal val="#ppt_x"/>
                                          </p:val>
                                        </p:tav>
                                      </p:tavLst>
                                    </p:anim>
                                    <p:anim calcmode="lin" valueType="num">
                                      <p:cBhvr additive="base">
                                        <p:cTn id="24" dur="1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dirty="0"/>
              <a:t>Example-1 (Step-5)</a:t>
            </a:r>
          </a:p>
        </p:txBody>
      </p:sp>
      <p:sp>
        <p:nvSpPr>
          <p:cNvPr id="3" name="Content Placeholder 2"/>
          <p:cNvSpPr>
            <a:spLocks noGrp="1"/>
          </p:cNvSpPr>
          <p:nvPr>
            <p:ph idx="1"/>
          </p:nvPr>
        </p:nvSpPr>
        <p:spPr>
          <a:xfrm>
            <a:off x="152400" y="990601"/>
            <a:ext cx="8839200" cy="685800"/>
          </a:xfrm>
        </p:spPr>
        <p:txBody>
          <a:bodyPr>
            <a:normAutofit/>
          </a:bodyPr>
          <a:lstStyle/>
          <a:p>
            <a:pPr algn="just"/>
            <a:r>
              <a:rPr lang="en-US" sz="2600" dirty="0"/>
              <a:t>Root locus of uncompensated and compensated systems.</a:t>
            </a:r>
          </a:p>
        </p:txBody>
      </p:sp>
      <p:sp>
        <p:nvSpPr>
          <p:cNvPr id="4" name="TextBox 3"/>
          <p:cNvSpPr txBox="1"/>
          <p:nvPr/>
        </p:nvSpPr>
        <p:spPr>
          <a:xfrm>
            <a:off x="7467600" y="302820"/>
            <a:ext cx="1167307" cy="369332"/>
          </a:xfrm>
          <a:prstGeom prst="rect">
            <a:avLst/>
          </a:prstGeom>
          <a:noFill/>
        </p:spPr>
        <p:txBody>
          <a:bodyPr wrap="none" rtlCol="0">
            <a:spAutoFit/>
          </a:bodyPr>
          <a:lstStyle/>
          <a:p>
            <a:r>
              <a:rPr lang="en-US" b="1" dirty="0">
                <a:solidFill>
                  <a:srgbClr val="FF0000"/>
                </a:solidFill>
              </a:rPr>
              <a:t>Solution-2</a:t>
            </a:r>
          </a:p>
        </p:txBody>
      </p:sp>
      <mc:AlternateContent xmlns:mc="http://schemas.openxmlformats.org/markup-compatibility/2006" xmlns:a14="http://schemas.microsoft.com/office/drawing/2010/main">
        <mc:Choice Requires="a14">
          <p:sp>
            <p:nvSpPr>
              <p:cNvPr id="6" name="TextBox 5"/>
              <p:cNvSpPr txBox="1"/>
              <p:nvPr/>
            </p:nvSpPr>
            <p:spPr>
              <a:xfrm>
                <a:off x="641467" y="3200400"/>
                <a:ext cx="2863733"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a:rPr>
                        <m:t>𝑠</m:t>
                      </m:r>
                      <m:r>
                        <a:rPr lang="en-US" sz="2600" b="0" i="1" smtClean="0">
                          <a:latin typeface="Cambria Math"/>
                        </a:rPr>
                        <m:t>=−0.33±</m:t>
                      </m:r>
                      <m:r>
                        <a:rPr lang="en-US" sz="2600" b="0" i="1" smtClean="0">
                          <a:latin typeface="Cambria Math"/>
                          <a:ea typeface="Cambria Math"/>
                        </a:rPr>
                        <m:t>𝑗</m:t>
                      </m:r>
                      <m:r>
                        <a:rPr lang="en-US" sz="2600" b="0" i="1" smtClean="0">
                          <a:latin typeface="Cambria Math"/>
                          <a:ea typeface="Cambria Math"/>
                        </a:rPr>
                        <m:t>0.55</m:t>
                      </m:r>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641467" y="3200400"/>
                <a:ext cx="2863733" cy="492443"/>
              </a:xfrm>
              <a:prstGeom prst="rect">
                <a:avLst/>
              </a:prstGeom>
              <a:blipFill rotWithShape="0">
                <a:blip r:embed="rId2"/>
                <a:stretch>
                  <a:fillRect/>
                </a:stretch>
              </a:blipFill>
            </p:spPr>
            <p:txBody>
              <a:bodyPr/>
              <a:lstStyle/>
              <a:p>
                <a:r>
                  <a:rPr lang="en-US">
                    <a:noFill/>
                  </a:rPr>
                  <a:t> </a:t>
                </a:r>
              </a:p>
            </p:txBody>
          </p:sp>
        </mc:Fallback>
      </mc:AlternateContent>
      <p:sp>
        <p:nvSpPr>
          <p:cNvPr id="12" name="Content Placeholder 2"/>
          <p:cNvSpPr txBox="1">
            <a:spLocks/>
          </p:cNvSpPr>
          <p:nvPr/>
        </p:nvSpPr>
        <p:spPr>
          <a:xfrm>
            <a:off x="110319" y="2362200"/>
            <a:ext cx="3532729" cy="6858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600" dirty="0"/>
              <a:t>New Closed Loop poles are </a:t>
            </a:r>
          </a:p>
        </p:txBody>
      </p:sp>
      <p:pic>
        <p:nvPicPr>
          <p:cNvPr id="8" name="Picture 7"/>
          <p:cNvPicPr>
            <a:picLocks noChangeAspect="1"/>
          </p:cNvPicPr>
          <p:nvPr/>
        </p:nvPicPr>
        <p:blipFill rotWithShape="1">
          <a:blip r:embed="rId3"/>
          <a:srcRect l="11130" t="7244" r="6836" b="5320"/>
          <a:stretch/>
        </p:blipFill>
        <p:spPr>
          <a:xfrm>
            <a:off x="3886200" y="1905002"/>
            <a:ext cx="4953000" cy="4437064"/>
          </a:xfrm>
          <a:prstGeom prst="rect">
            <a:avLst/>
          </a:prstGeom>
        </p:spPr>
      </p:pic>
      <p:sp>
        <p:nvSpPr>
          <p:cNvPr id="5" name="Slide Number Placeholder 4"/>
          <p:cNvSpPr>
            <a:spLocks noGrp="1"/>
          </p:cNvSpPr>
          <p:nvPr>
            <p:ph type="sldNum" sz="quarter" idx="12"/>
          </p:nvPr>
        </p:nvSpPr>
        <p:spPr/>
        <p:txBody>
          <a:bodyPr/>
          <a:lstStyle/>
          <a:p>
            <a:fld id="{7A0D5CAB-8BF0-4EA3-BAE4-9835C852A49B}" type="slidenum">
              <a:rPr lang="en-GB" smtClean="0"/>
              <a:pPr/>
              <a:t>37</a:t>
            </a:fld>
            <a:endParaRPr lang="en-GB" dirty="0"/>
          </a:p>
        </p:txBody>
      </p:sp>
    </p:spTree>
    <p:extLst>
      <p:ext uri="{BB962C8B-B14F-4D97-AF65-F5344CB8AC3E}">
        <p14:creationId xmlns:p14="http://schemas.microsoft.com/office/powerpoint/2010/main" val="3786897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5676" y="1447800"/>
                <a:ext cx="8229600" cy="4525963"/>
              </a:xfrm>
            </p:spPr>
            <p:txBody>
              <a:bodyPr>
                <a:normAutofit/>
              </a:bodyPr>
              <a:lstStyle/>
              <a:p>
                <a:pPr algn="just"/>
                <a:r>
                  <a:rPr lang="en-US" sz="2800" dirty="0"/>
                  <a:t>Design a lag compensator for following unity feedback system such that the static velocity error constant is </a:t>
                </a:r>
                <a:r>
                  <a:rPr lang="en-US" sz="2800" dirty="0">
                    <a:solidFill>
                      <a:srgbClr val="FF0000"/>
                    </a:solidFill>
                  </a:rPr>
                  <a:t>50 sec</a:t>
                </a:r>
                <a:r>
                  <a:rPr lang="en-US" sz="2800" baseline="30000" dirty="0">
                    <a:solidFill>
                      <a:srgbClr val="FF0000"/>
                    </a:solidFill>
                  </a:rPr>
                  <a:t>-1</a:t>
                </a:r>
                <a:r>
                  <a:rPr lang="en-US" sz="2800" dirty="0"/>
                  <a:t> without appreciably changing the closed loop poles, which are at</a:t>
                </a:r>
                <a14:m>
                  <m:oMath xmlns:m="http://schemas.openxmlformats.org/officeDocument/2006/math">
                    <m:r>
                      <a:rPr lang="en-US" sz="2800" b="0" i="0" smtClean="0">
                        <a:latin typeface="Cambria Math"/>
                      </a:rPr>
                      <m:t> </m:t>
                    </m:r>
                    <m:r>
                      <a:rPr lang="en-US" sz="2800" b="0" i="1" smtClean="0">
                        <a:solidFill>
                          <a:srgbClr val="FF0000"/>
                        </a:solidFill>
                        <a:latin typeface="Cambria Math"/>
                      </a:rPr>
                      <m:t>𝑠</m:t>
                    </m:r>
                    <m:r>
                      <a:rPr lang="en-US" sz="2800" b="0" i="1" smtClean="0">
                        <a:solidFill>
                          <a:srgbClr val="FF0000"/>
                        </a:solidFill>
                        <a:latin typeface="Cambria Math"/>
                      </a:rPr>
                      <m:t>=−2±</m:t>
                    </m:r>
                    <m:r>
                      <a:rPr lang="en-US" sz="2800" b="0" i="1" smtClean="0">
                        <a:solidFill>
                          <a:srgbClr val="FF0000"/>
                        </a:solidFill>
                        <a:latin typeface="Cambria Math"/>
                        <a:ea typeface="Cambria Math"/>
                      </a:rPr>
                      <m:t>𝑗</m:t>
                    </m:r>
                    <m:rad>
                      <m:radPr>
                        <m:degHide m:val="on"/>
                        <m:ctrlPr>
                          <a:rPr lang="en-US" sz="2800" i="1">
                            <a:solidFill>
                              <a:srgbClr val="FF0000"/>
                            </a:solidFill>
                            <a:latin typeface="Cambria Math" panose="02040503050406030204" pitchFamily="18" charset="0"/>
                          </a:rPr>
                        </m:ctrlPr>
                      </m:radPr>
                      <m:deg/>
                      <m:e>
                        <m:r>
                          <a:rPr lang="en-US" sz="2800" b="0" i="1" smtClean="0">
                            <a:solidFill>
                              <a:srgbClr val="FF0000"/>
                            </a:solidFill>
                            <a:latin typeface="Cambria Math"/>
                          </a:rPr>
                          <m:t>6</m:t>
                        </m:r>
                      </m:e>
                    </m:rad>
                  </m:oMath>
                </a14:m>
                <a:r>
                  <a:rPr lang="en-US" sz="2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5676" y="1447800"/>
                <a:ext cx="8229600" cy="4525963"/>
              </a:xfrm>
              <a:blipFill rotWithShape="1">
                <a:blip r:embed="rId3"/>
                <a:stretch>
                  <a:fillRect l="-1333" t="-1213" r="-2519"/>
                </a:stretch>
              </a:blipFill>
            </p:spPr>
            <p:txBody>
              <a:bodyPr/>
              <a:lstStyle/>
              <a:p>
                <a:r>
                  <a:rPr lang="en-US">
                    <a:noFill/>
                  </a:rPr>
                  <a:t> </a:t>
                </a:r>
              </a:p>
            </p:txBody>
          </p:sp>
        </mc:Fallback>
      </mc:AlternateContent>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886200"/>
            <a:ext cx="6734952"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7A0D5CAB-8BF0-4EA3-BAE4-9835C852A49B}" type="slidenum">
              <a:rPr lang="en-GB" smtClean="0"/>
              <a:pPr/>
              <a:t>38</a:t>
            </a:fld>
            <a:endParaRPr lang="en-GB" dirty="0"/>
          </a:p>
        </p:txBody>
      </p:sp>
    </p:spTree>
    <p:extLst>
      <p:ext uri="{BB962C8B-B14F-4D97-AF65-F5344CB8AC3E}">
        <p14:creationId xmlns:p14="http://schemas.microsoft.com/office/powerpoint/2010/main" val="1378661818"/>
      </p:ext>
    </p:extLst>
  </p:cSld>
  <p:clrMapOvr>
    <a:masterClrMapping/>
  </p:clrMapOvr>
</p:sld>
</file>

<file path=ppt/theme/theme1.xml><?xml version="1.0" encoding="utf-8"?>
<a:theme xmlns:a="http://schemas.openxmlformats.org/drawingml/2006/main" name="lecture 11 Introduction to Compens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11 Introduction to Compensation</Template>
  <TotalTime>389</TotalTime>
  <Words>1763</Words>
  <Application>Microsoft Office PowerPoint</Application>
  <PresentationFormat>On-screen Show (4:3)</PresentationFormat>
  <Paragraphs>303</Paragraphs>
  <Slides>38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宋体</vt:lpstr>
      <vt:lpstr>Arial</vt:lpstr>
      <vt:lpstr>Calibri</vt:lpstr>
      <vt:lpstr>Cambria Math</vt:lpstr>
      <vt:lpstr>Wingdings</vt:lpstr>
      <vt:lpstr>lecture 11 Introduction to Compensation</vt:lpstr>
      <vt:lpstr>Lecture Outline</vt:lpstr>
      <vt:lpstr>Lag Compensation</vt:lpstr>
      <vt:lpstr>Lag Compensation</vt:lpstr>
      <vt:lpstr>Lag Compensation</vt:lpstr>
      <vt:lpstr>Lag Compensation</vt:lpstr>
      <vt:lpstr>Lag Compensation</vt:lpstr>
      <vt:lpstr>Lag Compensation</vt:lpstr>
      <vt:lpstr>Lag Compensation</vt:lpstr>
      <vt:lpstr>Lag Compensation</vt:lpstr>
      <vt:lpstr>Lag Compensation</vt:lpstr>
      <vt:lpstr>Electronic Lag Compensator</vt:lpstr>
      <vt:lpstr>Electronic Lag Compensator</vt:lpstr>
      <vt:lpstr>Electrical Lag Compensator</vt:lpstr>
      <vt:lpstr>Electrical Lag Compensator</vt:lpstr>
      <vt:lpstr>Electrical Lag Compensator</vt:lpstr>
      <vt:lpstr>Mechanical Lag Compensator (Home Work)</vt:lpstr>
      <vt:lpstr>Design Procedure</vt:lpstr>
      <vt:lpstr>Design Procedure </vt:lpstr>
      <vt:lpstr>Design Procedure </vt:lpstr>
      <vt:lpstr>Design Procedure </vt:lpstr>
      <vt:lpstr>Design Procedure </vt:lpstr>
      <vt:lpstr>Design Procedure </vt:lpstr>
      <vt:lpstr>Design Procedure </vt:lpstr>
      <vt:lpstr>Example-1</vt:lpstr>
      <vt:lpstr>Example-1 (Step-1)</vt:lpstr>
      <vt:lpstr>Example-1 (Step-2)</vt:lpstr>
      <vt:lpstr>Example-1 (Step-3)</vt:lpstr>
      <vt:lpstr>Example-1 (Step-3)</vt:lpstr>
      <vt:lpstr>Example-1 (Step-4)</vt:lpstr>
      <vt:lpstr>Example-1 (Step-4)</vt:lpstr>
      <vt:lpstr>Example-1 (Step-5)</vt:lpstr>
      <vt:lpstr>Example-1 (Step-5)</vt:lpstr>
      <vt:lpstr>Example-1 (Step-6)</vt:lpstr>
      <vt:lpstr>Example-1 (Step-6)</vt:lpstr>
      <vt:lpstr>Example-1 (Final Design Check)</vt:lpstr>
      <vt:lpstr>Example-1 (Step-4)</vt:lpstr>
      <vt:lpstr>Example-1 (Step-5)</vt:lpstr>
      <vt:lpstr>Example-2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Control Systems (MCS)</dc:title>
  <dc:creator>MUET</dc:creator>
  <cp:lastModifiedBy>ayeshaz.rao@gmail.com</cp:lastModifiedBy>
  <cp:revision>115</cp:revision>
  <dcterms:created xsi:type="dcterms:W3CDTF">2013-08-29T17:00:39Z</dcterms:created>
  <dcterms:modified xsi:type="dcterms:W3CDTF">2025-11-24T04:56:12Z</dcterms:modified>
</cp:coreProperties>
</file>