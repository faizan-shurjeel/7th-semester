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9"/>
  </p:notesMasterIdLst>
  <p:handoutMasterIdLst>
    <p:handoutMasterId r:id="rId80"/>
  </p:handoutMasterIdLst>
  <p:sldIdLst>
    <p:sldId id="326" r:id="rId2"/>
    <p:sldId id="327" r:id="rId3"/>
    <p:sldId id="328" r:id="rId4"/>
    <p:sldId id="329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3" r:id="rId17"/>
    <p:sldId id="344" r:id="rId18"/>
    <p:sldId id="345" r:id="rId19"/>
    <p:sldId id="341" r:id="rId20"/>
    <p:sldId id="346" r:id="rId21"/>
    <p:sldId id="347" r:id="rId22"/>
    <p:sldId id="342" r:id="rId23"/>
    <p:sldId id="348" r:id="rId24"/>
    <p:sldId id="349" r:id="rId25"/>
    <p:sldId id="350" r:id="rId26"/>
    <p:sldId id="354" r:id="rId27"/>
    <p:sldId id="351" r:id="rId28"/>
    <p:sldId id="352" r:id="rId29"/>
    <p:sldId id="353" r:id="rId30"/>
    <p:sldId id="355" r:id="rId31"/>
    <p:sldId id="357" r:id="rId32"/>
    <p:sldId id="358" r:id="rId33"/>
    <p:sldId id="359" r:id="rId34"/>
    <p:sldId id="356" r:id="rId35"/>
    <p:sldId id="361" r:id="rId36"/>
    <p:sldId id="360" r:id="rId37"/>
    <p:sldId id="362" r:id="rId38"/>
    <p:sldId id="364" r:id="rId39"/>
    <p:sldId id="367" r:id="rId40"/>
    <p:sldId id="368" r:id="rId41"/>
    <p:sldId id="369" r:id="rId42"/>
    <p:sldId id="370" r:id="rId43"/>
    <p:sldId id="371" r:id="rId44"/>
    <p:sldId id="372" r:id="rId45"/>
    <p:sldId id="373" r:id="rId46"/>
    <p:sldId id="375" r:id="rId47"/>
    <p:sldId id="365" r:id="rId48"/>
    <p:sldId id="366" r:id="rId49"/>
    <p:sldId id="363" r:id="rId50"/>
    <p:sldId id="374" r:id="rId51"/>
    <p:sldId id="380" r:id="rId52"/>
    <p:sldId id="381" r:id="rId53"/>
    <p:sldId id="382" r:id="rId54"/>
    <p:sldId id="383" r:id="rId55"/>
    <p:sldId id="384" r:id="rId56"/>
    <p:sldId id="385" r:id="rId57"/>
    <p:sldId id="386" r:id="rId58"/>
    <p:sldId id="387" r:id="rId59"/>
    <p:sldId id="388" r:id="rId60"/>
    <p:sldId id="389" r:id="rId61"/>
    <p:sldId id="390" r:id="rId62"/>
    <p:sldId id="391" r:id="rId63"/>
    <p:sldId id="392" r:id="rId64"/>
    <p:sldId id="393" r:id="rId65"/>
    <p:sldId id="395" r:id="rId66"/>
    <p:sldId id="396" r:id="rId67"/>
    <p:sldId id="397" r:id="rId68"/>
    <p:sldId id="398" r:id="rId69"/>
    <p:sldId id="399" r:id="rId70"/>
    <p:sldId id="400" r:id="rId71"/>
    <p:sldId id="401" r:id="rId72"/>
    <p:sldId id="402" r:id="rId73"/>
    <p:sldId id="403" r:id="rId74"/>
    <p:sldId id="404" r:id="rId75"/>
    <p:sldId id="405" r:id="rId76"/>
    <p:sldId id="406" r:id="rId77"/>
    <p:sldId id="407" r:id="rId7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0788"/>
    <a:srgbClr val="FEF1E6"/>
    <a:srgbClr val="FEF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9322" autoAdjust="0"/>
  </p:normalViewPr>
  <p:slideViewPr>
    <p:cSldViewPr>
      <p:cViewPr varScale="1">
        <p:scale>
          <a:sx n="69" d="100"/>
          <a:sy n="69" d="100"/>
        </p:scale>
        <p:origin x="141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75CD0-BF64-4EDA-A390-EA27F5FF7906}" type="datetimeFigureOut">
              <a:rPr lang="en-GB" smtClean="0"/>
              <a:pPr/>
              <a:t>09/12/2025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C7654-C7C7-4BC9-B3D0-68A06137D36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830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F38015-AD98-4867-8B7A-4101F60AD33A}" type="datetimeFigureOut">
              <a:rPr lang="en-GB" smtClean="0"/>
              <a:pPr/>
              <a:t>09/12/2025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B5A4E-08A9-457D-89E6-C51BF6DBFCF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599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DDD6A-27BC-4B8A-A547-32CFB4A30F3B}" type="datetime1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1080-FCDA-45D0-86F4-78F1C2D3238B}" type="datetime1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3682-A5FB-409A-84C0-2847F603D98A}" type="datetime1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67C16-F7EB-43EB-B9CD-8741EBCFD5CF}" type="datetime1">
              <a:rPr lang="en-GB" smtClean="0"/>
              <a:t>09/12/2025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A2D75-B015-4B26-8689-DEC522ED5696}" type="datetime1">
              <a:rPr lang="en-GB" smtClean="0"/>
              <a:t>09/12/2025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C2160-B551-4747-B913-0DFF01E0D09E}" type="datetime1">
              <a:rPr lang="en-GB" smtClean="0"/>
              <a:t>09/12/2025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8503A-FAB8-459D-932E-FB593C4F2BDE}" type="datetime1">
              <a:rPr lang="en-GB" smtClean="0"/>
              <a:t>09/12/2025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939A9-3D05-447C-977E-F80468753945}" type="datetime1">
              <a:rPr lang="en-GB" smtClean="0"/>
              <a:t>09/12/2025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36869-9417-4DA6-99E8-9123BC3092F2}" type="datetime1">
              <a:rPr lang="en-GB" smtClean="0"/>
              <a:t>09/12/2025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61C3F-AC7C-490D-8E46-27F2EB6B2F70}" type="datetime1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EC298-20EA-4FD8-AC70-D9883BCEACED}" type="datetime1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692BD-8A3E-4783-867A-ABC9CA73E7E9}" type="datetime1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w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5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7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7" Type="http://schemas.openxmlformats.org/officeDocument/2006/relationships/image" Target="../media/image26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8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34.wmf"/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12" Type="http://schemas.openxmlformats.org/officeDocument/2006/relationships/oleObject" Target="../embeddings/oleObject27.bin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33.wmf"/><Relationship Id="rId5" Type="http://schemas.openxmlformats.org/officeDocument/2006/relationships/image" Target="../media/image30.wmf"/><Relationship Id="rId15" Type="http://schemas.openxmlformats.org/officeDocument/2006/relationships/image" Target="../media/image35.w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32.wmf"/><Relationship Id="rId14" Type="http://schemas.openxmlformats.org/officeDocument/2006/relationships/oleObject" Target="../embeddings/oleObject28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image" Target="../media/image36.wmf"/><Relationship Id="rId7" Type="http://schemas.openxmlformats.org/officeDocument/2006/relationships/image" Target="../media/image38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9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image" Target="../media/image40.wmf"/><Relationship Id="rId7" Type="http://schemas.openxmlformats.org/officeDocument/2006/relationships/image" Target="../media/image42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0" Type="http://schemas.openxmlformats.org/officeDocument/2006/relationships/oleObject" Target="../embeddings/oleObject38.bin"/><Relationship Id="rId4" Type="http://schemas.openxmlformats.org/officeDocument/2006/relationships/oleObject" Target="../embeddings/oleObject35.bin"/><Relationship Id="rId9" Type="http://schemas.openxmlformats.org/officeDocument/2006/relationships/image" Target="../media/image43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image" Target="../media/image45.wmf"/><Relationship Id="rId7" Type="http://schemas.openxmlformats.org/officeDocument/2006/relationships/image" Target="../media/image46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7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wmf"/><Relationship Id="rId4" Type="http://schemas.openxmlformats.org/officeDocument/2006/relationships/oleObject" Target="../embeddings/oleObject45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3" Type="http://schemas.openxmlformats.org/officeDocument/2006/relationships/image" Target="../media/image51.wmf"/><Relationship Id="rId7" Type="http://schemas.openxmlformats.org/officeDocument/2006/relationships/image" Target="../media/image53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55.wmf"/><Relationship Id="rId5" Type="http://schemas.openxmlformats.org/officeDocument/2006/relationships/image" Target="../media/image52.wmf"/><Relationship Id="rId10" Type="http://schemas.openxmlformats.org/officeDocument/2006/relationships/oleObject" Target="../embeddings/oleObject50.bin"/><Relationship Id="rId4" Type="http://schemas.openxmlformats.org/officeDocument/2006/relationships/oleObject" Target="../embeddings/oleObject47.bin"/><Relationship Id="rId9" Type="http://schemas.openxmlformats.org/officeDocument/2006/relationships/image" Target="../media/image54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3" Type="http://schemas.openxmlformats.org/officeDocument/2006/relationships/image" Target="../media/image58.wmf"/><Relationship Id="rId7" Type="http://schemas.openxmlformats.org/officeDocument/2006/relationships/image" Target="../media/image60.w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5.bin"/><Relationship Id="rId5" Type="http://schemas.openxmlformats.org/officeDocument/2006/relationships/image" Target="../media/image59.wmf"/><Relationship Id="rId4" Type="http://schemas.openxmlformats.org/officeDocument/2006/relationships/oleObject" Target="../embeddings/oleObject54.bin"/><Relationship Id="rId9" Type="http://schemas.openxmlformats.org/officeDocument/2006/relationships/image" Target="../media/image61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wmf"/><Relationship Id="rId4" Type="http://schemas.openxmlformats.org/officeDocument/2006/relationships/oleObject" Target="../embeddings/oleObject58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5.wmf"/><Relationship Id="rId7" Type="http://schemas.openxmlformats.org/officeDocument/2006/relationships/image" Target="../media/image66.w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1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60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oleObject" Target="../embeddings/oleObject6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oleObject" Target="../embeddings/oleObject65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7" Type="http://schemas.openxmlformats.org/officeDocument/2006/relationships/image" Target="../media/image89.wmf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9.bin"/><Relationship Id="rId5" Type="http://schemas.openxmlformats.org/officeDocument/2006/relationships/image" Target="../media/image88.wmf"/><Relationship Id="rId4" Type="http://schemas.openxmlformats.org/officeDocument/2006/relationships/oleObject" Target="../embeddings/oleObject68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wmf"/><Relationship Id="rId4" Type="http://schemas.openxmlformats.org/officeDocument/2006/relationships/oleObject" Target="../embeddings/oleObject71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3" Type="http://schemas.openxmlformats.org/officeDocument/2006/relationships/image" Target="../media/image93.wmf"/><Relationship Id="rId7" Type="http://schemas.openxmlformats.org/officeDocument/2006/relationships/image" Target="../media/image95.wmf"/><Relationship Id="rId2" Type="http://schemas.openxmlformats.org/officeDocument/2006/relationships/oleObject" Target="../embeddings/oleObject7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5.bin"/><Relationship Id="rId5" Type="http://schemas.openxmlformats.org/officeDocument/2006/relationships/image" Target="../media/image94.wmf"/><Relationship Id="rId4" Type="http://schemas.openxmlformats.org/officeDocument/2006/relationships/oleObject" Target="../embeddings/oleObject74.bin"/><Relationship Id="rId9" Type="http://schemas.openxmlformats.org/officeDocument/2006/relationships/image" Target="../media/image96.wmf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oleObject" Target="../embeddings/oleObject7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wmf"/><Relationship Id="rId4" Type="http://schemas.openxmlformats.org/officeDocument/2006/relationships/oleObject" Target="../embeddings/oleObject78.bin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13" Type="http://schemas.openxmlformats.org/officeDocument/2006/relationships/image" Target="../media/image104.wmf"/><Relationship Id="rId3" Type="http://schemas.openxmlformats.org/officeDocument/2006/relationships/image" Target="../media/image99.wmf"/><Relationship Id="rId7" Type="http://schemas.openxmlformats.org/officeDocument/2006/relationships/image" Target="../media/image101.wmf"/><Relationship Id="rId12" Type="http://schemas.openxmlformats.org/officeDocument/2006/relationships/oleObject" Target="../embeddings/oleObject84.bin"/><Relationship Id="rId2" Type="http://schemas.openxmlformats.org/officeDocument/2006/relationships/oleObject" Target="../embeddings/oleObject7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1.bin"/><Relationship Id="rId11" Type="http://schemas.openxmlformats.org/officeDocument/2006/relationships/image" Target="../media/image103.wmf"/><Relationship Id="rId5" Type="http://schemas.openxmlformats.org/officeDocument/2006/relationships/image" Target="../media/image100.wmf"/><Relationship Id="rId10" Type="http://schemas.openxmlformats.org/officeDocument/2006/relationships/oleObject" Target="../embeddings/oleObject83.bin"/><Relationship Id="rId4" Type="http://schemas.openxmlformats.org/officeDocument/2006/relationships/oleObject" Target="../embeddings/oleObject80.bin"/><Relationship Id="rId9" Type="http://schemas.openxmlformats.org/officeDocument/2006/relationships/image" Target="../media/image102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7" Type="http://schemas.openxmlformats.org/officeDocument/2006/relationships/image" Target="../media/image106.wmf"/><Relationship Id="rId2" Type="http://schemas.openxmlformats.org/officeDocument/2006/relationships/oleObject" Target="../embeddings/oleObject8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7.bin"/><Relationship Id="rId5" Type="http://schemas.openxmlformats.org/officeDocument/2006/relationships/image" Target="../media/image105.wmf"/><Relationship Id="rId4" Type="http://schemas.openxmlformats.org/officeDocument/2006/relationships/oleObject" Target="../embeddings/oleObject86.bin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oleObject" Target="../embeddings/oleObject8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9.wmf"/><Relationship Id="rId4" Type="http://schemas.openxmlformats.org/officeDocument/2006/relationships/oleObject" Target="../embeddings/oleObject89.bin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oleObject" Target="../embeddings/oleObject90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wmf"/><Relationship Id="rId4" Type="http://schemas.openxmlformats.org/officeDocument/2006/relationships/oleObject" Target="../embeddings/oleObject91.bin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wmf"/><Relationship Id="rId2" Type="http://schemas.openxmlformats.org/officeDocument/2006/relationships/oleObject" Target="../embeddings/oleObject9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gi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3" Type="http://schemas.openxmlformats.org/officeDocument/2006/relationships/image" Target="../media/image120.wmf"/><Relationship Id="rId7" Type="http://schemas.openxmlformats.org/officeDocument/2006/relationships/image" Target="../media/image122.wmf"/><Relationship Id="rId2" Type="http://schemas.openxmlformats.org/officeDocument/2006/relationships/oleObject" Target="../embeddings/oleObject9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5.bin"/><Relationship Id="rId5" Type="http://schemas.openxmlformats.org/officeDocument/2006/relationships/image" Target="../media/image121.wmf"/><Relationship Id="rId4" Type="http://schemas.openxmlformats.org/officeDocument/2006/relationships/oleObject" Target="../embeddings/oleObject94.bin"/><Relationship Id="rId9" Type="http://schemas.openxmlformats.org/officeDocument/2006/relationships/image" Target="../media/image123.w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wmf"/><Relationship Id="rId7" Type="http://schemas.openxmlformats.org/officeDocument/2006/relationships/image" Target="../media/image125.wmf"/><Relationship Id="rId2" Type="http://schemas.openxmlformats.org/officeDocument/2006/relationships/oleObject" Target="../embeddings/oleObject9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9.bin"/><Relationship Id="rId5" Type="http://schemas.openxmlformats.org/officeDocument/2006/relationships/image" Target="../media/image124.wmf"/><Relationship Id="rId4" Type="http://schemas.openxmlformats.org/officeDocument/2006/relationships/oleObject" Target="../embeddings/oleObject98.bin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wmf"/><Relationship Id="rId7" Type="http://schemas.openxmlformats.org/officeDocument/2006/relationships/image" Target="../media/image98.wmf"/><Relationship Id="rId2" Type="http://schemas.openxmlformats.org/officeDocument/2006/relationships/oleObject" Target="../embeddings/oleObject10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2.bin"/><Relationship Id="rId5" Type="http://schemas.openxmlformats.org/officeDocument/2006/relationships/image" Target="../media/image127.wmf"/><Relationship Id="rId4" Type="http://schemas.openxmlformats.org/officeDocument/2006/relationships/oleObject" Target="../embeddings/oleObject101.bin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3.bin"/><Relationship Id="rId2" Type="http://schemas.openxmlformats.org/officeDocument/2006/relationships/image" Target="../media/image12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wmf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127.wmf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emf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762"/>
            <a:ext cx="8229600" cy="796950"/>
          </a:xfrm>
        </p:spPr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24745"/>
            <a:ext cx="8733656" cy="3168352"/>
          </a:xfrm>
        </p:spPr>
        <p:txBody>
          <a:bodyPr>
            <a:normAutofit/>
          </a:bodyPr>
          <a:lstStyle/>
          <a:p>
            <a:pPr algn="just"/>
            <a:r>
              <a:rPr lang="en-GB" sz="3000" dirty="0"/>
              <a:t>Frequency response is the steady-state response of a system to a sinusoidal input. </a:t>
            </a:r>
          </a:p>
          <a:p>
            <a:pPr algn="just"/>
            <a:endParaRPr lang="en-GB" sz="1000" dirty="0"/>
          </a:p>
          <a:p>
            <a:pPr algn="just"/>
            <a:r>
              <a:rPr lang="en-GB" sz="3000" dirty="0"/>
              <a:t>In frequency-response methods, the frequency of the input signal is varied over a certain range and the resulting response is studied.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7944" y="4738792"/>
            <a:ext cx="1440160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System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3059832" y="5179548"/>
            <a:ext cx="100811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5508104" y="5170840"/>
            <a:ext cx="100811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410" name="Picture 2" descr="http://www.fse-automation.com/product_images/uploaded_images/product-200271716631.jpg"/>
          <p:cNvPicPr>
            <a:picLocks noChangeAspect="1" noChangeArrowheads="1"/>
          </p:cNvPicPr>
          <p:nvPr/>
        </p:nvPicPr>
        <p:blipFill>
          <a:blip r:embed="rId2" cstate="print"/>
          <a:srcRect l="8491" t="4990" r="6460" b="10179"/>
          <a:stretch>
            <a:fillRect/>
          </a:stretch>
        </p:blipFill>
        <p:spPr bwMode="auto">
          <a:xfrm>
            <a:off x="251520" y="4437112"/>
            <a:ext cx="2192008" cy="1656184"/>
          </a:xfrm>
          <a:prstGeom prst="rect">
            <a:avLst/>
          </a:prstGeom>
          <a:noFill/>
        </p:spPr>
      </p:pic>
      <p:pic>
        <p:nvPicPr>
          <p:cNvPr id="17412" name="Picture 4" descr="http://www.gwinstek.com/webmanage/IMG/uploadfiles/image/GDS1000A_F.jpg"/>
          <p:cNvPicPr>
            <a:picLocks noChangeAspect="1" noChangeArrowheads="1"/>
          </p:cNvPicPr>
          <p:nvPr/>
        </p:nvPicPr>
        <p:blipFill>
          <a:blip r:embed="rId3" cstate="print"/>
          <a:srcRect l="3012" r="2113" b="7114"/>
          <a:stretch>
            <a:fillRect/>
          </a:stretch>
        </p:blipFill>
        <p:spPr bwMode="auto">
          <a:xfrm>
            <a:off x="6749734" y="4437112"/>
            <a:ext cx="2394266" cy="1368152"/>
          </a:xfrm>
          <a:prstGeom prst="rect">
            <a:avLst/>
          </a:prstGeom>
          <a:noFill/>
        </p:spPr>
      </p:pic>
      <p:sp>
        <p:nvSpPr>
          <p:cNvPr id="10" name="Freeform 9"/>
          <p:cNvSpPr/>
          <p:nvPr/>
        </p:nvSpPr>
        <p:spPr>
          <a:xfrm>
            <a:off x="1692322" y="5172501"/>
            <a:ext cx="1392072" cy="825690"/>
          </a:xfrm>
          <a:custGeom>
            <a:avLst/>
            <a:gdLst>
              <a:gd name="connsiteX0" fmla="*/ 0 w 1392072"/>
              <a:gd name="connsiteY0" fmla="*/ 122830 h 825690"/>
              <a:gd name="connsiteX1" fmla="*/ 682388 w 1392072"/>
              <a:gd name="connsiteY1" fmla="*/ 805218 h 825690"/>
              <a:gd name="connsiteX2" fmla="*/ 1392072 w 1392072"/>
              <a:gd name="connsiteY2" fmla="*/ 0 h 825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2072" h="825690">
                <a:moveTo>
                  <a:pt x="0" y="122830"/>
                </a:moveTo>
                <a:cubicBezTo>
                  <a:pt x="225188" y="474260"/>
                  <a:pt x="450376" y="825690"/>
                  <a:pt x="682388" y="805218"/>
                </a:cubicBezTo>
                <a:cubicBezTo>
                  <a:pt x="914400" y="784746"/>
                  <a:pt x="1153236" y="392373"/>
                  <a:pt x="1392072" y="0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 10"/>
          <p:cNvSpPr/>
          <p:nvPr/>
        </p:nvSpPr>
        <p:spPr>
          <a:xfrm>
            <a:off x="6416723" y="5158854"/>
            <a:ext cx="1826525" cy="1405720"/>
          </a:xfrm>
          <a:custGeom>
            <a:avLst/>
            <a:gdLst>
              <a:gd name="connsiteX0" fmla="*/ 65964 w 1826525"/>
              <a:gd name="connsiteY0" fmla="*/ 0 h 1405720"/>
              <a:gd name="connsiteX1" fmla="*/ 175146 w 1826525"/>
              <a:gd name="connsiteY1" fmla="*/ 982639 h 1405720"/>
              <a:gd name="connsiteX2" fmla="*/ 1116841 w 1826525"/>
              <a:gd name="connsiteY2" fmla="*/ 1323833 h 1405720"/>
              <a:gd name="connsiteX3" fmla="*/ 1826525 w 1826525"/>
              <a:gd name="connsiteY3" fmla="*/ 491319 h 1405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6525" h="1405720">
                <a:moveTo>
                  <a:pt x="65964" y="0"/>
                </a:moveTo>
                <a:cubicBezTo>
                  <a:pt x="32982" y="381000"/>
                  <a:pt x="0" y="762000"/>
                  <a:pt x="175146" y="982639"/>
                </a:cubicBezTo>
                <a:cubicBezTo>
                  <a:pt x="350292" y="1203278"/>
                  <a:pt x="841611" y="1405720"/>
                  <a:pt x="1116841" y="1323833"/>
                </a:cubicBezTo>
                <a:cubicBezTo>
                  <a:pt x="1392071" y="1241946"/>
                  <a:pt x="1609298" y="866632"/>
                  <a:pt x="1826525" y="491319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Concept of Frequency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GB" sz="3000" dirty="0"/>
              <a:t>In the steady state, sinusoidal inputs to a linear system generate sinusoidal responses of the same frequency. </a:t>
            </a:r>
          </a:p>
          <a:p>
            <a:pPr algn="just"/>
            <a:endParaRPr lang="en-GB" sz="3000" dirty="0"/>
          </a:p>
          <a:p>
            <a:pPr algn="just"/>
            <a:r>
              <a:rPr lang="en-GB" sz="3000" dirty="0"/>
              <a:t>Even though these responses are of the same frequency as the input, they differ in amplitude and phase angle from the input. </a:t>
            </a:r>
          </a:p>
          <a:p>
            <a:pPr algn="just"/>
            <a:endParaRPr lang="en-GB" sz="3000" dirty="0"/>
          </a:p>
          <a:p>
            <a:pPr algn="just"/>
            <a:r>
              <a:rPr lang="en-GB" sz="3000" dirty="0"/>
              <a:t>These differences are functions of frequency.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</a:t>
            </a:fld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Concept of Frequency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2800" dirty="0"/>
              <a:t>Sinusoids can be represented as complex numbers called </a:t>
            </a:r>
            <a:r>
              <a:rPr lang="en-GB" sz="2800" dirty="0" err="1"/>
              <a:t>phasors</a:t>
            </a:r>
            <a:r>
              <a:rPr lang="en-GB" sz="2800" dirty="0"/>
              <a:t>. </a:t>
            </a:r>
          </a:p>
          <a:p>
            <a:pPr algn="just"/>
            <a:endParaRPr lang="en-GB" sz="1000" dirty="0"/>
          </a:p>
          <a:p>
            <a:pPr algn="just"/>
            <a:r>
              <a:rPr lang="en-GB" sz="2800" dirty="0"/>
              <a:t>The magnitude of the complex number is the amplitude of the sinusoid, and the angle of the complex number is the phase angle of the sinusoid. </a:t>
            </a:r>
          </a:p>
          <a:p>
            <a:pPr algn="just"/>
            <a:endParaRPr lang="en-GB" sz="1000" dirty="0"/>
          </a:p>
          <a:p>
            <a:pPr algn="just"/>
            <a:r>
              <a:rPr lang="en-GB" sz="2800" dirty="0"/>
              <a:t>Thus                                 can be represented as</a:t>
            </a:r>
          </a:p>
          <a:p>
            <a:pPr algn="just">
              <a:buNone/>
            </a:pPr>
            <a:r>
              <a:rPr lang="en-GB" sz="2800" dirty="0"/>
              <a:t>	 where the frequency, </a:t>
            </a:r>
            <a:r>
              <a:rPr lang="el-GR" sz="2800" dirty="0"/>
              <a:t>ω</a:t>
            </a:r>
            <a:r>
              <a:rPr lang="en-GB" sz="2800" dirty="0"/>
              <a:t>, is implicit.</a:t>
            </a:r>
            <a:endParaRPr lang="en-GB" sz="30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619672" y="4279448"/>
          <a:ext cx="2593496" cy="548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203040" progId="Equation.3">
                  <p:embed/>
                </p:oleObj>
              </mc:Choice>
              <mc:Fallback>
                <p:oleObj name="Equation" r:id="rId2" imgW="81252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4279448"/>
                        <a:ext cx="2593496" cy="5487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7452320" y="4293096"/>
          <a:ext cx="1275388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080" imgH="190440" progId="Equation.3">
                  <p:embed/>
                </p:oleObj>
              </mc:Choice>
              <mc:Fallback>
                <p:oleObj name="Equation" r:id="rId4" imgW="406080" imgH="1904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2320" y="4293096"/>
                        <a:ext cx="1275388" cy="5040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</a:t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Concept of Frequency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2800" dirty="0"/>
              <a:t>A system causes both the amplitude and phase angle of the input to be changed.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Therefore, the system itself can be represented by a complex number.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Thus, the product of the input phasor and the system function yields the phasor representation of the output.</a:t>
            </a:r>
            <a:endParaRPr lang="en-GB" sz="1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</a:t>
            </a:fld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40966"/>
          </a:xfrm>
        </p:spPr>
        <p:txBody>
          <a:bodyPr>
            <a:normAutofit fontScale="90000"/>
          </a:bodyPr>
          <a:lstStyle/>
          <a:p>
            <a:r>
              <a:rPr lang="en-GB" dirty="0"/>
              <a:t>The Concept of Frequency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052736"/>
            <a:ext cx="8784976" cy="4525963"/>
          </a:xfrm>
        </p:spPr>
        <p:txBody>
          <a:bodyPr>
            <a:normAutofit/>
          </a:bodyPr>
          <a:lstStyle/>
          <a:p>
            <a:pPr algn="just"/>
            <a:r>
              <a:rPr lang="en-GB" sz="2400" dirty="0"/>
              <a:t>Consider the mechanical system.</a:t>
            </a:r>
          </a:p>
          <a:p>
            <a:pPr algn="just"/>
            <a:endParaRPr lang="en-GB" sz="2400" dirty="0"/>
          </a:p>
          <a:p>
            <a:pPr algn="just"/>
            <a:endParaRPr lang="en-GB" sz="2400" dirty="0"/>
          </a:p>
          <a:p>
            <a:pPr algn="just"/>
            <a:endParaRPr lang="en-GB" sz="2400" dirty="0"/>
          </a:p>
          <a:p>
            <a:pPr algn="just"/>
            <a:endParaRPr lang="en-GB" sz="2400" dirty="0"/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If the input force, </a:t>
            </a:r>
            <a:r>
              <a:rPr lang="en-GB" sz="2400" dirty="0">
                <a:solidFill>
                  <a:srgbClr val="FF0000"/>
                </a:solidFill>
              </a:rPr>
              <a:t>f(t)</a:t>
            </a:r>
            <a:r>
              <a:rPr lang="en-GB" sz="2400" dirty="0"/>
              <a:t>, is sinusoidal, the steady-state output response, </a:t>
            </a:r>
            <a:r>
              <a:rPr lang="en-GB" sz="2400" dirty="0">
                <a:solidFill>
                  <a:srgbClr val="FF0000"/>
                </a:solidFill>
              </a:rPr>
              <a:t>x(t)</a:t>
            </a:r>
            <a:r>
              <a:rPr lang="en-GB" sz="2400" dirty="0"/>
              <a:t>, of the system is also sinusoidal and at the same frequency as the input.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00420" y="1700808"/>
            <a:ext cx="5207884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5250" y="5085184"/>
            <a:ext cx="6259158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</a:t>
            </a:fld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2088"/>
          </a:xfrm>
        </p:spPr>
        <p:txBody>
          <a:bodyPr>
            <a:normAutofit/>
          </a:bodyPr>
          <a:lstStyle/>
          <a:p>
            <a:r>
              <a:rPr lang="en-GB" sz="3600" dirty="0"/>
              <a:t>The Concept of Frequency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052736"/>
            <a:ext cx="8784976" cy="5805264"/>
          </a:xfrm>
        </p:spPr>
        <p:txBody>
          <a:bodyPr>
            <a:normAutofit/>
          </a:bodyPr>
          <a:lstStyle/>
          <a:p>
            <a:pPr algn="just"/>
            <a:endParaRPr lang="en-GB" sz="2200" dirty="0"/>
          </a:p>
          <a:p>
            <a:pPr algn="just"/>
            <a:endParaRPr lang="en-GB" sz="2200" dirty="0"/>
          </a:p>
          <a:p>
            <a:pPr algn="just"/>
            <a:endParaRPr lang="en-GB" sz="2200" dirty="0"/>
          </a:p>
          <a:p>
            <a:pPr algn="just"/>
            <a:endParaRPr lang="en-GB" sz="2200" dirty="0"/>
          </a:p>
          <a:p>
            <a:pPr algn="just"/>
            <a:endParaRPr lang="en-GB" sz="2200" dirty="0"/>
          </a:p>
          <a:p>
            <a:pPr algn="just"/>
            <a:endParaRPr lang="en-GB" sz="2200" dirty="0"/>
          </a:p>
          <a:p>
            <a:pPr algn="just"/>
            <a:endParaRPr lang="en-GB" sz="2200" dirty="0"/>
          </a:p>
          <a:p>
            <a:r>
              <a:rPr lang="en-GB" sz="2400" dirty="0"/>
              <a:t>Assume that the system is represented by the complex number</a:t>
            </a:r>
          </a:p>
          <a:p>
            <a:endParaRPr lang="en-GB" sz="4000" dirty="0"/>
          </a:p>
          <a:p>
            <a:pPr algn="just"/>
            <a:r>
              <a:rPr lang="en-GB" sz="2400" dirty="0"/>
              <a:t>The output is found by multiplying the complex number representation of the input by the complex number representation of the system. </a:t>
            </a:r>
            <a:endParaRPr lang="en-GB" sz="2200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436" y="836712"/>
            <a:ext cx="2989260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90554" y="908720"/>
            <a:ext cx="2831598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2" name="Group 11"/>
          <p:cNvGrpSpPr/>
          <p:nvPr/>
        </p:nvGrpSpPr>
        <p:grpSpPr>
          <a:xfrm>
            <a:off x="2992824" y="1858472"/>
            <a:ext cx="3262656" cy="936104"/>
            <a:chOff x="3145560" y="4738792"/>
            <a:chExt cx="3262656" cy="936104"/>
          </a:xfrm>
        </p:grpSpPr>
        <p:sp>
          <p:nvSpPr>
            <p:cNvPr id="8" name="Rectangle 7"/>
            <p:cNvSpPr/>
            <p:nvPr/>
          </p:nvSpPr>
          <p:spPr>
            <a:xfrm>
              <a:off x="3779912" y="4738792"/>
              <a:ext cx="1944216" cy="93610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 dirty="0"/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V="1">
              <a:off x="3145560" y="5229200"/>
              <a:ext cx="6480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V="1">
              <a:off x="5724216" y="5198136"/>
              <a:ext cx="6840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22532" name="Object 4"/>
            <p:cNvGraphicFramePr>
              <a:graphicFrameLocks noChangeAspect="1"/>
            </p:cNvGraphicFramePr>
            <p:nvPr/>
          </p:nvGraphicFramePr>
          <p:xfrm>
            <a:off x="3779912" y="5013176"/>
            <a:ext cx="1925985" cy="4649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711000" imgH="203040" progId="Equation.3">
                    <p:embed/>
                  </p:oleObj>
                </mc:Choice>
                <mc:Fallback>
                  <p:oleObj name="Equation" r:id="rId4" imgW="711000" imgH="20304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9912" y="5013176"/>
                          <a:ext cx="1925985" cy="46498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3203848" y="4437112"/>
          <a:ext cx="1925985" cy="464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11000" imgH="203040" progId="Equation.3">
                  <p:embed/>
                </p:oleObj>
              </mc:Choice>
              <mc:Fallback>
                <p:oleObj name="Equation" r:id="rId6" imgW="711000" imgH="203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4437112"/>
                        <a:ext cx="1925985" cy="46498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</a:t>
            </a:fld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2088"/>
          </a:xfrm>
        </p:spPr>
        <p:txBody>
          <a:bodyPr>
            <a:normAutofit/>
          </a:bodyPr>
          <a:lstStyle/>
          <a:p>
            <a:r>
              <a:rPr lang="en-GB" sz="3600" dirty="0"/>
              <a:t>The Concept of Frequency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052736"/>
            <a:ext cx="8784976" cy="5805264"/>
          </a:xfrm>
        </p:spPr>
        <p:txBody>
          <a:bodyPr>
            <a:normAutofit/>
          </a:bodyPr>
          <a:lstStyle/>
          <a:p>
            <a:pPr algn="just"/>
            <a:endParaRPr lang="en-GB" sz="2200" dirty="0"/>
          </a:p>
          <a:p>
            <a:pPr algn="just"/>
            <a:endParaRPr lang="en-GB" sz="2200" dirty="0"/>
          </a:p>
          <a:p>
            <a:pPr algn="just"/>
            <a:endParaRPr lang="en-GB" sz="2200" dirty="0"/>
          </a:p>
          <a:p>
            <a:pPr algn="just"/>
            <a:endParaRPr lang="en-GB" sz="2200" dirty="0"/>
          </a:p>
          <a:p>
            <a:pPr algn="just"/>
            <a:endParaRPr lang="en-GB" sz="2200" dirty="0"/>
          </a:p>
          <a:p>
            <a:pPr algn="just"/>
            <a:endParaRPr lang="en-GB" sz="2200" dirty="0"/>
          </a:p>
          <a:p>
            <a:pPr algn="just"/>
            <a:endParaRPr lang="en-GB" sz="2200" dirty="0"/>
          </a:p>
          <a:p>
            <a:r>
              <a:rPr lang="en-GB" sz="2400" dirty="0"/>
              <a:t>Thus, the steady-state output sinusoid is</a:t>
            </a:r>
          </a:p>
          <a:p>
            <a:endParaRPr lang="en-GB" sz="2400" dirty="0"/>
          </a:p>
          <a:p>
            <a:endParaRPr lang="en-GB" sz="2400" dirty="0"/>
          </a:p>
          <a:p>
            <a:pPr algn="just"/>
            <a:r>
              <a:rPr lang="en-GB" sz="2400" dirty="0"/>
              <a:t>M</a:t>
            </a:r>
            <a:r>
              <a:rPr lang="en-GB" sz="2400" baseline="-25000" dirty="0"/>
              <a:t>o</a:t>
            </a:r>
            <a:r>
              <a:rPr lang="en-GB" sz="2400" dirty="0"/>
              <a:t>(</a:t>
            </a:r>
            <a:r>
              <a:rPr lang="el-GR" sz="2400" dirty="0"/>
              <a:t>ω</a:t>
            </a:r>
            <a:r>
              <a:rPr lang="en-GB" sz="2400" dirty="0"/>
              <a:t>) is the magnitude response and </a:t>
            </a:r>
            <a:r>
              <a:rPr lang="el-GR" sz="2400" dirty="0"/>
              <a:t>Φ</a:t>
            </a:r>
            <a:r>
              <a:rPr lang="en-GB" sz="2400" dirty="0"/>
              <a:t>(</a:t>
            </a:r>
            <a:r>
              <a:rPr lang="el-GR" sz="2400" dirty="0"/>
              <a:t>ω</a:t>
            </a:r>
            <a:r>
              <a:rPr lang="en-GB" sz="2400" dirty="0"/>
              <a:t>) is the phase response. The combination of the magnitude and phase frequency responses is called the frequency response. </a:t>
            </a:r>
            <a:endParaRPr lang="en-GB" sz="2200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436" y="836712"/>
            <a:ext cx="2989260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90554" y="908720"/>
            <a:ext cx="2831598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oup 11"/>
          <p:cNvGrpSpPr/>
          <p:nvPr/>
        </p:nvGrpSpPr>
        <p:grpSpPr>
          <a:xfrm>
            <a:off x="2992824" y="1858472"/>
            <a:ext cx="3262656" cy="936104"/>
            <a:chOff x="3145560" y="4738792"/>
            <a:chExt cx="3262656" cy="936104"/>
          </a:xfrm>
        </p:grpSpPr>
        <p:sp>
          <p:nvSpPr>
            <p:cNvPr id="8" name="Rectangle 7"/>
            <p:cNvSpPr/>
            <p:nvPr/>
          </p:nvSpPr>
          <p:spPr>
            <a:xfrm>
              <a:off x="3779912" y="4738792"/>
              <a:ext cx="1944216" cy="93610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 dirty="0"/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V="1">
              <a:off x="3145560" y="5229200"/>
              <a:ext cx="6480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V="1">
              <a:off x="5724216" y="5198136"/>
              <a:ext cx="6840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22532" name="Object 4"/>
            <p:cNvGraphicFramePr>
              <a:graphicFrameLocks noChangeAspect="1"/>
            </p:cNvGraphicFramePr>
            <p:nvPr/>
          </p:nvGraphicFramePr>
          <p:xfrm>
            <a:off x="3779912" y="5013176"/>
            <a:ext cx="1925985" cy="4649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711000" imgH="203040" progId="Equation.3">
                    <p:embed/>
                  </p:oleObj>
                </mc:Choice>
                <mc:Fallback>
                  <p:oleObj name="Equation" r:id="rId4" imgW="711000" imgH="20304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9912" y="5013176"/>
                          <a:ext cx="1925985" cy="46498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1204913" y="4508500"/>
          <a:ext cx="71183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25680" imgH="203040" progId="Equation.3">
                  <p:embed/>
                </p:oleObj>
              </mc:Choice>
              <mc:Fallback>
                <p:oleObj name="Equation" r:id="rId6" imgW="2425680" imgH="203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4913" y="4508500"/>
                        <a:ext cx="7118350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7</a:t>
            </a:fld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Frequency Domain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Bode Plot</a:t>
            </a:r>
          </a:p>
          <a:p>
            <a:r>
              <a:rPr lang="en-GB" dirty="0"/>
              <a:t>Nyquist Plot</a:t>
            </a:r>
          </a:p>
          <a:p>
            <a:r>
              <a:rPr lang="en-GB" dirty="0"/>
              <a:t>Nichol’s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8</a:t>
            </a:fld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Bode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A Bode diagram consists of two graphs:</a:t>
            </a:r>
          </a:p>
          <a:p>
            <a:pPr lvl="1" algn="just"/>
            <a:r>
              <a:rPr lang="en-GB" dirty="0"/>
              <a:t>One is a plot of the logarithm of the magnitude of a sinusoidal transfer function. </a:t>
            </a:r>
          </a:p>
          <a:p>
            <a:pPr lvl="1" algn="just"/>
            <a:r>
              <a:rPr lang="en-GB" dirty="0"/>
              <a:t>The other is a plot of the phase angle.</a:t>
            </a:r>
          </a:p>
          <a:p>
            <a:pPr lvl="1" algn="just"/>
            <a:r>
              <a:rPr lang="en-GB" dirty="0"/>
              <a:t>Both are plotted against the frequency on a logarithmic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9</a:t>
            </a:fld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142670"/>
            <a:ext cx="9144001" cy="6598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10</a:t>
            </a:fld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semilog paper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08505" cy="6818860"/>
          </a:xfrm>
        </p:spPr>
      </p:pic>
      <p:grpSp>
        <p:nvGrpSpPr>
          <p:cNvPr id="9" name="Group 8"/>
          <p:cNvGrpSpPr/>
          <p:nvPr/>
        </p:nvGrpSpPr>
        <p:grpSpPr>
          <a:xfrm>
            <a:off x="1259632" y="2996952"/>
            <a:ext cx="886461" cy="432048"/>
            <a:chOff x="1259632" y="2996952"/>
            <a:chExt cx="886461" cy="432048"/>
          </a:xfrm>
        </p:grpSpPr>
        <p:cxnSp>
          <p:nvCxnSpPr>
            <p:cNvPr id="7" name="Straight Arrow Connector 6"/>
            <p:cNvCxnSpPr/>
            <p:nvPr/>
          </p:nvCxnSpPr>
          <p:spPr>
            <a:xfrm flipH="1">
              <a:off x="1259632" y="3429000"/>
              <a:ext cx="864096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1259632" y="2996952"/>
              <a:ext cx="8864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Decade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11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Factors of a Transfer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The basic factors that very frequently occur in an arbitrary transfer function are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GB" dirty="0"/>
              <a:t>Gain K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GB" dirty="0"/>
              <a:t>Integral and Derivative Factors </a:t>
            </a:r>
            <a:r>
              <a:rPr lang="en-GB" b="1" dirty="0">
                <a:solidFill>
                  <a:srgbClr val="FF0000"/>
                </a:solidFill>
              </a:rPr>
              <a:t>(j</a:t>
            </a:r>
            <a:r>
              <a:rPr lang="el-GR" b="1" dirty="0">
                <a:solidFill>
                  <a:srgbClr val="FF0000"/>
                </a:solidFill>
              </a:rPr>
              <a:t>ω</a:t>
            </a:r>
            <a:r>
              <a:rPr lang="en-GB" b="1" dirty="0">
                <a:solidFill>
                  <a:srgbClr val="FF0000"/>
                </a:solidFill>
              </a:rPr>
              <a:t>)</a:t>
            </a:r>
            <a:r>
              <a:rPr lang="en-GB" b="1" baseline="30000" dirty="0">
                <a:solidFill>
                  <a:srgbClr val="FF0000"/>
                </a:solidFill>
              </a:rPr>
              <a:t>±1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GB" dirty="0"/>
              <a:t>First Order Factors </a:t>
            </a:r>
            <a:r>
              <a:rPr lang="en-GB" b="1" dirty="0">
                <a:solidFill>
                  <a:srgbClr val="FF0000"/>
                </a:solidFill>
              </a:rPr>
              <a:t>(j</a:t>
            </a:r>
            <a:r>
              <a:rPr lang="el-GR" b="1" dirty="0">
                <a:solidFill>
                  <a:srgbClr val="FF0000"/>
                </a:solidFill>
              </a:rPr>
              <a:t>ω</a:t>
            </a:r>
            <a:r>
              <a:rPr lang="en-GB" b="1" dirty="0" err="1">
                <a:solidFill>
                  <a:srgbClr val="FF0000"/>
                </a:solidFill>
              </a:rPr>
              <a:t>T+1</a:t>
            </a:r>
            <a:r>
              <a:rPr lang="en-GB" b="1" dirty="0">
                <a:solidFill>
                  <a:srgbClr val="FF0000"/>
                </a:solidFill>
              </a:rPr>
              <a:t>)</a:t>
            </a:r>
            <a:r>
              <a:rPr lang="en-GB" b="1" baseline="30000" dirty="0">
                <a:solidFill>
                  <a:srgbClr val="FF0000"/>
                </a:solidFill>
              </a:rPr>
              <a:t>±1</a:t>
            </a:r>
            <a:endParaRPr lang="en-GB" b="1" dirty="0">
              <a:solidFill>
                <a:srgbClr val="FF0000"/>
              </a:solidFill>
            </a:endParaRPr>
          </a:p>
          <a:p>
            <a:pPr marL="971550" lvl="1" indent="-514350" algn="just">
              <a:buFont typeface="+mj-lt"/>
              <a:buAutoNum type="arabicPeriod"/>
            </a:pPr>
            <a:r>
              <a:rPr lang="en-GB" dirty="0"/>
              <a:t>Quadratic Factors</a:t>
            </a:r>
          </a:p>
          <a:p>
            <a:pPr marL="971550" lvl="1" indent="-514350" algn="just">
              <a:buFont typeface="+mj-lt"/>
              <a:buAutoNum type="arabicPeriod"/>
            </a:pPr>
            <a:endParaRPr lang="en-GB" dirty="0"/>
          </a:p>
        </p:txBody>
      </p:sp>
      <p:graphicFrame>
        <p:nvGraphicFramePr>
          <p:cNvPr id="25603" name="Object 5"/>
          <p:cNvGraphicFramePr>
            <a:graphicFrameLocks noChangeAspect="1"/>
          </p:cNvGraphicFramePr>
          <p:nvPr/>
        </p:nvGraphicFramePr>
        <p:xfrm>
          <a:off x="1907705" y="5095745"/>
          <a:ext cx="5351094" cy="1141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60160" imgH="368280" progId="Equation.3">
                  <p:embed/>
                </p:oleObj>
              </mc:Choice>
              <mc:Fallback>
                <p:oleObj name="Equation" r:id="rId2" imgW="1460160" imgH="3682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5" y="5095745"/>
                        <a:ext cx="5351094" cy="11415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39952" y="4262032"/>
            <a:ext cx="3974844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12</a:t>
            </a:fld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850106"/>
          </a:xfrm>
        </p:spPr>
        <p:txBody>
          <a:bodyPr>
            <a:normAutofit/>
          </a:bodyPr>
          <a:lstStyle/>
          <a:p>
            <a:r>
              <a:rPr lang="en-GB" sz="4000" dirty="0"/>
              <a:t>Basic Factors of a Transfer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6512" y="1196752"/>
            <a:ext cx="8229600" cy="4525963"/>
          </a:xfrm>
        </p:spPr>
        <p:txBody>
          <a:bodyPr/>
          <a:lstStyle/>
          <a:p>
            <a:pPr marL="971550" lvl="1" indent="-514350" algn="just">
              <a:buFont typeface="+mj-lt"/>
              <a:buAutoNum type="arabicPeriod"/>
            </a:pPr>
            <a:r>
              <a:rPr lang="en-GB" dirty="0"/>
              <a:t>Gain K</a:t>
            </a:r>
          </a:p>
          <a:p>
            <a:pPr marL="971550" lvl="1" indent="-514350" algn="just">
              <a:buFont typeface="+mj-lt"/>
              <a:buAutoNum type="arabicPeriod"/>
            </a:pP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251520" y="2093947"/>
            <a:ext cx="813690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400" dirty="0"/>
              <a:t>The log-magnitude curve for a constant gain </a:t>
            </a:r>
            <a:r>
              <a:rPr lang="en-GB" sz="2400" b="1" dirty="0">
                <a:solidFill>
                  <a:srgbClr val="FF0000"/>
                </a:solidFill>
              </a:rPr>
              <a:t>K</a:t>
            </a:r>
            <a:r>
              <a:rPr lang="en-GB" sz="2400" dirty="0"/>
              <a:t> is a horizontal straight line at the magnitude of </a:t>
            </a:r>
            <a:r>
              <a:rPr lang="en-GB" sz="2400" b="1" dirty="0">
                <a:solidFill>
                  <a:srgbClr val="FF0000"/>
                </a:solidFill>
              </a:rPr>
              <a:t>20 log(K)</a:t>
            </a:r>
            <a:r>
              <a:rPr lang="en-GB" sz="2400" dirty="0"/>
              <a:t> decibels.</a:t>
            </a:r>
          </a:p>
          <a:p>
            <a:pPr marL="273050" indent="-273050" algn="just">
              <a:buFont typeface="Arial" pitchFamily="34" charset="0"/>
              <a:buChar char="•"/>
            </a:pPr>
            <a:endParaRPr lang="en-GB" sz="2400" dirty="0"/>
          </a:p>
          <a:p>
            <a:pPr marL="273050" indent="-273050" algn="just">
              <a:buFont typeface="Arial" pitchFamily="34" charset="0"/>
              <a:buChar char="•"/>
            </a:pPr>
            <a:r>
              <a:rPr lang="en-GB" sz="2400" dirty="0"/>
              <a:t>The phase angle of the gain </a:t>
            </a:r>
            <a:r>
              <a:rPr lang="en-GB" sz="2400" b="1" dirty="0">
                <a:solidFill>
                  <a:srgbClr val="FF0000"/>
                </a:solidFill>
              </a:rPr>
              <a:t>K</a:t>
            </a:r>
            <a:r>
              <a:rPr lang="en-GB" sz="2400" dirty="0"/>
              <a:t> is zero.</a:t>
            </a:r>
          </a:p>
          <a:p>
            <a:pPr marL="273050" indent="-273050" algn="just">
              <a:buFont typeface="Arial" pitchFamily="34" charset="0"/>
              <a:buChar char="•"/>
            </a:pPr>
            <a:endParaRPr lang="en-GB" sz="2400" dirty="0"/>
          </a:p>
          <a:p>
            <a:pPr marL="273050" indent="-273050" algn="just">
              <a:buFont typeface="Arial" pitchFamily="34" charset="0"/>
              <a:buChar char="•"/>
            </a:pPr>
            <a:r>
              <a:rPr lang="en-GB" sz="2400" dirty="0"/>
              <a:t>The effect of varying the gain </a:t>
            </a:r>
            <a:r>
              <a:rPr lang="en-GB" sz="2400" dirty="0">
                <a:solidFill>
                  <a:srgbClr val="FF0000"/>
                </a:solidFill>
              </a:rPr>
              <a:t>K</a:t>
            </a:r>
            <a:r>
              <a:rPr lang="en-GB" sz="2400" dirty="0"/>
              <a:t> in the transfer function is that it raises or lowers the log-magnitude curve of the transfer function by the corresponding constant amount, but it has no effect on the phase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13</a:t>
            </a:fld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emilog paper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3390" t="6792" r="2542" b="3349"/>
          <a:stretch>
            <a:fillRect/>
          </a:stretch>
        </p:blipFill>
        <p:spPr>
          <a:xfrm>
            <a:off x="683568" y="704920"/>
            <a:ext cx="7992888" cy="5715928"/>
          </a:xfrm>
        </p:spPr>
      </p:pic>
      <p:sp>
        <p:nvSpPr>
          <p:cNvPr id="10" name="TextBox 9"/>
          <p:cNvSpPr txBox="1"/>
          <p:nvPr/>
        </p:nvSpPr>
        <p:spPr>
          <a:xfrm>
            <a:off x="333666" y="6105520"/>
            <a:ext cx="421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536" y="4305320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538" y="241336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184" y="5882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16" y="2422269"/>
            <a:ext cx="492443" cy="2302875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Magnitude (decibels)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7669" y="6481506"/>
            <a:ext cx="2264659" cy="40011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Frequency (rad/sec)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938" y="6260855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0944" y="626695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4792" y="6266952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4992" y="6276832"/>
            <a:ext cx="458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100</a:t>
            </a: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2209800" y="188913"/>
          <a:ext cx="11223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95000" imgH="190440" progId="Equation.3">
                  <p:embed/>
                </p:oleObj>
              </mc:Choice>
              <mc:Fallback>
                <p:oleObj name="Equation" r:id="rId3" imgW="495000" imgH="1904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88913"/>
                        <a:ext cx="1122363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3601863" y="188913"/>
          <a:ext cx="435451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17360" imgH="190440" progId="Equation.3">
                  <p:embed/>
                </p:oleObj>
              </mc:Choice>
              <mc:Fallback>
                <p:oleObj name="Equation" r:id="rId5" imgW="1917360" imgH="1904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1863" y="188913"/>
                        <a:ext cx="4354513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Straight Connector 21"/>
          <p:cNvCxnSpPr/>
          <p:nvPr/>
        </p:nvCxnSpPr>
        <p:spPr>
          <a:xfrm>
            <a:off x="800288" y="895072"/>
            <a:ext cx="77400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635896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7822" y="6291904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0150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8230" y="628579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2198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2982" y="6309320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3910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9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14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emilog paper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3390" t="6792" r="2542" b="3349"/>
          <a:stretch>
            <a:fillRect/>
          </a:stretch>
        </p:blipFill>
        <p:spPr>
          <a:xfrm>
            <a:off x="683568" y="704920"/>
            <a:ext cx="7992888" cy="5715928"/>
          </a:xfrm>
        </p:spPr>
      </p:pic>
      <p:sp>
        <p:nvSpPr>
          <p:cNvPr id="10" name="TextBox 9"/>
          <p:cNvSpPr txBox="1"/>
          <p:nvPr/>
        </p:nvSpPr>
        <p:spPr>
          <a:xfrm>
            <a:off x="333666" y="6105520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</a:t>
            </a:r>
            <a:r>
              <a:rPr lang="en-GB" sz="1400" dirty="0" err="1"/>
              <a:t>90</a:t>
            </a:r>
            <a:r>
              <a:rPr lang="en-GB" sz="1400" baseline="30000" dirty="0" err="1"/>
              <a:t>o</a:t>
            </a:r>
            <a:endParaRPr lang="en-GB" sz="1400" baseline="30000" dirty="0"/>
          </a:p>
        </p:txBody>
      </p:sp>
      <p:sp>
        <p:nvSpPr>
          <p:cNvPr id="11" name="TextBox 10"/>
          <p:cNvSpPr txBox="1"/>
          <p:nvPr/>
        </p:nvSpPr>
        <p:spPr>
          <a:xfrm>
            <a:off x="381888" y="4305320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-30</a:t>
            </a:r>
            <a:r>
              <a:rPr lang="en-GB" sz="1400" baseline="30000" dirty="0"/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650" y="2413367"/>
            <a:ext cx="429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/>
              <a:t>30</a:t>
            </a:r>
            <a:r>
              <a:rPr lang="en-GB" sz="1400" baseline="30000" dirty="0" err="1"/>
              <a:t>o</a:t>
            </a:r>
            <a:endParaRPr lang="en-GB" sz="1400" baseline="30000" dirty="0"/>
          </a:p>
        </p:txBody>
      </p:sp>
      <p:sp>
        <p:nvSpPr>
          <p:cNvPr id="13" name="TextBox 12"/>
          <p:cNvSpPr txBox="1"/>
          <p:nvPr/>
        </p:nvSpPr>
        <p:spPr>
          <a:xfrm>
            <a:off x="409184" y="588200"/>
            <a:ext cx="429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/>
              <a:t>90</a:t>
            </a:r>
            <a:r>
              <a:rPr lang="en-GB" sz="1400" baseline="30000" dirty="0" err="1"/>
              <a:t>o</a:t>
            </a:r>
            <a:endParaRPr lang="en-GB" sz="1400" baseline="30000" dirty="0"/>
          </a:p>
        </p:txBody>
      </p:sp>
      <p:sp>
        <p:nvSpPr>
          <p:cNvPr id="14" name="TextBox 13"/>
          <p:cNvSpPr txBox="1"/>
          <p:nvPr/>
        </p:nvSpPr>
        <p:spPr>
          <a:xfrm>
            <a:off x="25616" y="2780928"/>
            <a:ext cx="492443" cy="1754455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Phase (degrees)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7669" y="6481506"/>
            <a:ext cx="2264659" cy="40011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Frequency (rad/sec)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938" y="6260855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0944" y="626695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4792" y="6266952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4992" y="6276832"/>
            <a:ext cx="458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100</a:t>
            </a: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1835696" y="188640"/>
          <a:ext cx="11223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95000" imgH="190440" progId="Equation.3">
                  <p:embed/>
                </p:oleObj>
              </mc:Choice>
              <mc:Fallback>
                <p:oleObj name="Equation" r:id="rId3" imgW="495000" imgH="1904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188640"/>
                        <a:ext cx="1122363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3563887" y="-38384"/>
          <a:ext cx="4522837" cy="796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31840" imgH="355320" progId="Equation.3">
                  <p:embed/>
                </p:oleObj>
              </mc:Choice>
              <mc:Fallback>
                <p:oleObj name="Equation" r:id="rId5" imgW="2031840" imgH="35532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7" y="-38384"/>
                        <a:ext cx="4522837" cy="7965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Straight Connector 21"/>
          <p:cNvCxnSpPr/>
          <p:nvPr/>
        </p:nvCxnSpPr>
        <p:spPr>
          <a:xfrm>
            <a:off x="813936" y="3514656"/>
            <a:ext cx="7740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635896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7822" y="6291904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0150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8230" y="628579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2198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2982" y="6309320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3910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696" y="3350895"/>
            <a:ext cx="338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 err="1"/>
              <a:t>0</a:t>
            </a:r>
            <a:r>
              <a:rPr lang="en-GB" sz="1400" b="1" baseline="30000" dirty="0" err="1"/>
              <a:t>o</a:t>
            </a:r>
            <a:endParaRPr lang="en-GB" sz="1400" b="1" baseline="30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15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en-GB" sz="4000" dirty="0"/>
              <a:t>Basic Factors of a Transfer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816" y="908720"/>
            <a:ext cx="8229600" cy="4525963"/>
          </a:xfrm>
        </p:spPr>
        <p:txBody>
          <a:bodyPr/>
          <a:lstStyle/>
          <a:p>
            <a:pPr marL="971550" lvl="1" indent="-514350" algn="just">
              <a:buFont typeface="+mj-lt"/>
              <a:buAutoNum type="arabicPeriod" startAt="2"/>
            </a:pPr>
            <a:r>
              <a:rPr lang="en-GB" dirty="0"/>
              <a:t>Integral and Derivative Factors </a:t>
            </a:r>
            <a:r>
              <a:rPr lang="en-GB" b="1" dirty="0">
                <a:solidFill>
                  <a:srgbClr val="FF0000"/>
                </a:solidFill>
              </a:rPr>
              <a:t>(j</a:t>
            </a:r>
            <a:r>
              <a:rPr lang="el-GR" b="1" dirty="0">
                <a:solidFill>
                  <a:srgbClr val="FF0000"/>
                </a:solidFill>
              </a:rPr>
              <a:t>ω</a:t>
            </a:r>
            <a:r>
              <a:rPr lang="en-GB" b="1" dirty="0">
                <a:solidFill>
                  <a:srgbClr val="FF0000"/>
                </a:solidFill>
              </a:rPr>
              <a:t>)</a:t>
            </a:r>
            <a:r>
              <a:rPr lang="en-GB" b="1" baseline="30000" dirty="0">
                <a:solidFill>
                  <a:srgbClr val="FF0000"/>
                </a:solidFill>
              </a:rPr>
              <a:t>±1</a:t>
            </a:r>
          </a:p>
        </p:txBody>
      </p:sp>
      <p:graphicFrame>
        <p:nvGraphicFramePr>
          <p:cNvPr id="29700" name="Object 2"/>
          <p:cNvGraphicFramePr>
            <a:graphicFrameLocks noChangeAspect="1"/>
          </p:cNvGraphicFramePr>
          <p:nvPr/>
        </p:nvGraphicFramePr>
        <p:xfrm>
          <a:off x="3249017" y="1600200"/>
          <a:ext cx="3051175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6040" imgH="203040" progId="Equation.3">
                  <p:embed/>
                </p:oleObj>
              </mc:Choice>
              <mc:Fallback>
                <p:oleObj name="Equation" r:id="rId2" imgW="1346040" imgH="203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9017" y="1600200"/>
                        <a:ext cx="3051175" cy="458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2"/>
          <p:cNvGraphicFramePr>
            <a:graphicFrameLocks noChangeAspect="1"/>
          </p:cNvGraphicFramePr>
          <p:nvPr/>
        </p:nvGraphicFramePr>
        <p:xfrm>
          <a:off x="3621385" y="2205038"/>
          <a:ext cx="2390775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080" imgH="241200" progId="Equation.3">
                  <p:embed/>
                </p:oleObj>
              </mc:Choice>
              <mc:Fallback>
                <p:oleObj name="Equation" r:id="rId4" imgW="1054080" imgH="24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1385" y="2205038"/>
                        <a:ext cx="2390775" cy="544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2"/>
          <p:cNvGraphicFramePr>
            <a:graphicFrameLocks noChangeAspect="1"/>
          </p:cNvGraphicFramePr>
          <p:nvPr/>
        </p:nvGraphicFramePr>
        <p:xfrm>
          <a:off x="3463925" y="5505450"/>
          <a:ext cx="325437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34960" imgH="355320" progId="Equation.3">
                  <p:embed/>
                </p:oleObj>
              </mc:Choice>
              <mc:Fallback>
                <p:oleObj name="Equation" r:id="rId6" imgW="1434960" imgH="35532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3925" y="5505450"/>
                        <a:ext cx="3254375" cy="803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>
          <a:xfrm>
            <a:off x="1475656" y="1628800"/>
            <a:ext cx="18580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Derivative Factor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49462" y="2267580"/>
            <a:ext cx="12314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Magnitude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34727" y="5661248"/>
            <a:ext cx="7521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Phase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83568" y="2975352"/>
          <a:ext cx="734481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0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0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0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0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0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0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l-GR" sz="2400" b="1" dirty="0"/>
                        <a:t>ω</a:t>
                      </a:r>
                      <a:endParaRPr lang="en-GB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Left Brace 15"/>
          <p:cNvSpPr/>
          <p:nvPr/>
        </p:nvSpPr>
        <p:spPr>
          <a:xfrm rot="16200000">
            <a:off x="4409982" y="1286762"/>
            <a:ext cx="648072" cy="594066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3779912" y="4581128"/>
            <a:ext cx="2094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Slope=</a:t>
            </a:r>
            <a:r>
              <a:rPr lang="en-GB" b="1" dirty="0" err="1">
                <a:solidFill>
                  <a:srgbClr val="FF0000"/>
                </a:solidFill>
              </a:rPr>
              <a:t>20db</a:t>
            </a:r>
            <a:r>
              <a:rPr lang="en-GB" b="1" dirty="0">
                <a:solidFill>
                  <a:srgbClr val="FF0000"/>
                </a:solidFill>
              </a:rPr>
              <a:t>/decade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1547664" y="3905760"/>
            <a:ext cx="1792607" cy="900684"/>
            <a:chOff x="1547664" y="3905760"/>
            <a:chExt cx="1792607" cy="900684"/>
          </a:xfrm>
        </p:grpSpPr>
        <p:sp>
          <p:nvSpPr>
            <p:cNvPr id="18" name="Left Brace 17"/>
            <p:cNvSpPr/>
            <p:nvPr/>
          </p:nvSpPr>
          <p:spPr>
            <a:xfrm rot="16200000">
              <a:off x="2089148" y="3509716"/>
              <a:ext cx="432048" cy="1224136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547664" y="4437112"/>
              <a:ext cx="179260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Slope=</a:t>
              </a:r>
              <a:r>
                <a:rPr lang="en-GB" b="1" dirty="0" err="1">
                  <a:solidFill>
                    <a:srgbClr val="FF0000"/>
                  </a:solidFill>
                </a:rPr>
                <a:t>6b</a:t>
              </a:r>
              <a:r>
                <a:rPr lang="en-GB" b="1" dirty="0">
                  <a:solidFill>
                    <a:srgbClr val="FF0000"/>
                  </a:solidFill>
                </a:rPr>
                <a:t>/octave</a:t>
              </a: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16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 animBg="1"/>
      <p:bldP spid="16" grpId="1" animBg="1"/>
      <p:bldP spid="17" grpId="0"/>
      <p:bldP spid="17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emilog paper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3390" t="6792" r="2542" b="3349"/>
          <a:stretch>
            <a:fillRect/>
          </a:stretch>
        </p:blipFill>
        <p:spPr>
          <a:xfrm>
            <a:off x="683568" y="704920"/>
            <a:ext cx="7992888" cy="5715928"/>
          </a:xfrm>
        </p:spPr>
      </p:pic>
      <p:sp>
        <p:nvSpPr>
          <p:cNvPr id="10" name="TextBox 9"/>
          <p:cNvSpPr txBox="1"/>
          <p:nvPr/>
        </p:nvSpPr>
        <p:spPr>
          <a:xfrm>
            <a:off x="333666" y="6105520"/>
            <a:ext cx="421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536" y="4305320"/>
            <a:ext cx="421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538" y="2413367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184" y="5882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16" y="2422269"/>
            <a:ext cx="492443" cy="2302875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Magnitude (decibels)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7669" y="6481506"/>
            <a:ext cx="2264659" cy="40011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Frequency (rad/sec)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938" y="6260855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0944" y="626695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4792" y="6266952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4992" y="6276832"/>
            <a:ext cx="458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100</a:t>
            </a:r>
          </a:p>
        </p:txBody>
      </p:sp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3883025" y="103188"/>
          <a:ext cx="1557338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85800" imgH="266400" progId="Equation.3">
                  <p:embed/>
                </p:oleObj>
              </mc:Choice>
              <mc:Fallback>
                <p:oleObj name="Equation" r:id="rId3" imgW="685800" imgH="2664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3025" y="103188"/>
                        <a:ext cx="1557338" cy="608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635896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7822" y="6291904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0150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8230" y="628579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2198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2982" y="6309320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3910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1546" y="335089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0</a:t>
            </a:r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813936" y="1124744"/>
            <a:ext cx="1741840" cy="42484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95536" y="5209455"/>
            <a:ext cx="421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-20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17</a:t>
            </a:fld>
            <a:endParaRPr 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emilog paper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3390" t="6792" r="2542" b="3349"/>
          <a:stretch>
            <a:fillRect/>
          </a:stretch>
        </p:blipFill>
        <p:spPr>
          <a:xfrm>
            <a:off x="683568" y="704920"/>
            <a:ext cx="7992888" cy="5715928"/>
          </a:xfrm>
        </p:spPr>
      </p:pic>
      <p:sp>
        <p:nvSpPr>
          <p:cNvPr id="10" name="TextBox 9"/>
          <p:cNvSpPr txBox="1"/>
          <p:nvPr/>
        </p:nvSpPr>
        <p:spPr>
          <a:xfrm>
            <a:off x="279074" y="6105520"/>
            <a:ext cx="575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</a:t>
            </a:r>
            <a:r>
              <a:rPr lang="en-GB" sz="1400" dirty="0" err="1"/>
              <a:t>180</a:t>
            </a:r>
            <a:r>
              <a:rPr lang="en-GB" sz="1400" baseline="30000" dirty="0" err="1"/>
              <a:t>o</a:t>
            </a:r>
            <a:endParaRPr lang="en-GB" sz="1400" baseline="30000" dirty="0"/>
          </a:p>
        </p:txBody>
      </p:sp>
      <p:sp>
        <p:nvSpPr>
          <p:cNvPr id="11" name="TextBox 10"/>
          <p:cNvSpPr txBox="1"/>
          <p:nvPr/>
        </p:nvSpPr>
        <p:spPr>
          <a:xfrm>
            <a:off x="381888" y="4305320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-60</a:t>
            </a:r>
            <a:r>
              <a:rPr lang="en-GB" sz="1400" baseline="30000" dirty="0"/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650" y="2413367"/>
            <a:ext cx="429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/>
              <a:t>60</a:t>
            </a:r>
            <a:r>
              <a:rPr lang="en-GB" sz="1400" baseline="30000" dirty="0" err="1"/>
              <a:t>o</a:t>
            </a:r>
            <a:endParaRPr lang="en-GB" sz="1400" baseline="30000" dirty="0"/>
          </a:p>
        </p:txBody>
      </p:sp>
      <p:sp>
        <p:nvSpPr>
          <p:cNvPr id="13" name="TextBox 12"/>
          <p:cNvSpPr txBox="1"/>
          <p:nvPr/>
        </p:nvSpPr>
        <p:spPr>
          <a:xfrm>
            <a:off x="286352" y="588200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/>
              <a:t>180</a:t>
            </a:r>
            <a:r>
              <a:rPr lang="en-GB" sz="1400" baseline="30000" dirty="0" err="1"/>
              <a:t>o</a:t>
            </a:r>
            <a:endParaRPr lang="en-GB" sz="1400" baseline="30000" dirty="0"/>
          </a:p>
        </p:txBody>
      </p:sp>
      <p:sp>
        <p:nvSpPr>
          <p:cNvPr id="14" name="TextBox 13"/>
          <p:cNvSpPr txBox="1"/>
          <p:nvPr/>
        </p:nvSpPr>
        <p:spPr>
          <a:xfrm>
            <a:off x="25616" y="2780928"/>
            <a:ext cx="492443" cy="1754455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Phase (degrees)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7669" y="6481506"/>
            <a:ext cx="2264659" cy="40011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Frequency (rad/sec)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938" y="6260855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0944" y="626695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4792" y="6266952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4992" y="6276832"/>
            <a:ext cx="458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100</a:t>
            </a:r>
          </a:p>
        </p:txBody>
      </p:sp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3059832" y="-38100"/>
          <a:ext cx="2401887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79280" imgH="355320" progId="Equation.3">
                  <p:embed/>
                </p:oleObj>
              </mc:Choice>
              <mc:Fallback>
                <p:oleObj name="Equation" r:id="rId3" imgW="1079280" imgH="35532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-38100"/>
                        <a:ext cx="2401887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Straight Connector 21"/>
          <p:cNvCxnSpPr/>
          <p:nvPr/>
        </p:nvCxnSpPr>
        <p:spPr>
          <a:xfrm>
            <a:off x="813936" y="2119208"/>
            <a:ext cx="7740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635896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7822" y="6291904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0150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8230" y="628579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2198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2982" y="6309320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3910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696" y="3350895"/>
            <a:ext cx="338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 err="1"/>
              <a:t>0</a:t>
            </a:r>
            <a:r>
              <a:rPr lang="en-GB" sz="1400" b="1" baseline="30000" dirty="0" err="1"/>
              <a:t>o</a:t>
            </a:r>
            <a:endParaRPr lang="en-GB" sz="1400" b="1" baseline="30000" dirty="0"/>
          </a:p>
        </p:txBody>
      </p:sp>
      <p:sp>
        <p:nvSpPr>
          <p:cNvPr id="30" name="TextBox 29"/>
          <p:cNvSpPr txBox="1"/>
          <p:nvPr/>
        </p:nvSpPr>
        <p:spPr>
          <a:xfrm>
            <a:off x="323528" y="197519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90</a:t>
            </a:r>
            <a:r>
              <a:rPr lang="en-GB" sz="1400" baseline="30000" dirty="0"/>
              <a:t>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18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en-GB" sz="4000" dirty="0"/>
              <a:t>Basic Factors of a Transfer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816" y="908720"/>
            <a:ext cx="8229600" cy="4525963"/>
          </a:xfrm>
        </p:spPr>
        <p:txBody>
          <a:bodyPr/>
          <a:lstStyle/>
          <a:p>
            <a:pPr marL="971550" lvl="1" indent="-514350" algn="just">
              <a:buFont typeface="+mj-lt"/>
              <a:buAutoNum type="arabicPeriod" startAt="2"/>
            </a:pPr>
            <a:r>
              <a:rPr lang="en-GB" dirty="0"/>
              <a:t>Integral and Derivative Factors </a:t>
            </a:r>
            <a:r>
              <a:rPr lang="en-GB" b="1" dirty="0">
                <a:solidFill>
                  <a:srgbClr val="FF0000"/>
                </a:solidFill>
              </a:rPr>
              <a:t>(j</a:t>
            </a:r>
            <a:r>
              <a:rPr lang="el-GR" b="1" dirty="0">
                <a:solidFill>
                  <a:srgbClr val="FF0000"/>
                </a:solidFill>
              </a:rPr>
              <a:t>ω</a:t>
            </a:r>
            <a:r>
              <a:rPr lang="en-GB" b="1" dirty="0">
                <a:solidFill>
                  <a:srgbClr val="FF0000"/>
                </a:solidFill>
              </a:rPr>
              <a:t>)</a:t>
            </a:r>
            <a:r>
              <a:rPr lang="en-GB" b="1" baseline="30000" dirty="0">
                <a:solidFill>
                  <a:srgbClr val="FF0000"/>
                </a:solidFill>
              </a:rPr>
              <a:t>±1</a:t>
            </a:r>
          </a:p>
        </p:txBody>
      </p:sp>
      <p:sp>
        <p:nvSpPr>
          <p:cNvPr id="6" name="Rectangle 5"/>
          <p:cNvSpPr/>
          <p:nvPr/>
        </p:nvSpPr>
        <p:spPr>
          <a:xfrm>
            <a:off x="467544" y="1556792"/>
            <a:ext cx="79928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 algn="just">
              <a:buFont typeface="Arial" pitchFamily="34" charset="0"/>
              <a:buChar char="•"/>
            </a:pPr>
            <a:r>
              <a:rPr lang="en-GB" sz="2400" dirty="0"/>
              <a:t>When expressed in decibels, the reciprocal of a number differs from its value only in sign; that is, for the number </a:t>
            </a:r>
            <a:r>
              <a:rPr lang="en-GB" sz="2400" i="1" dirty="0">
                <a:solidFill>
                  <a:srgbClr val="FF0000"/>
                </a:solidFill>
              </a:rPr>
              <a:t>N</a:t>
            </a:r>
            <a:r>
              <a:rPr lang="en-GB" sz="2400" dirty="0"/>
              <a:t>,</a:t>
            </a: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2588373" y="2492896"/>
          <a:ext cx="3567803" cy="9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880" imgH="355320" progId="Equation.3">
                  <p:embed/>
                </p:oleObj>
              </mc:Choice>
              <mc:Fallback>
                <p:oleObj name="Equation" r:id="rId2" imgW="1307880" imgH="35532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8373" y="2492896"/>
                        <a:ext cx="3567803" cy="9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"/>
          <p:cNvGraphicFramePr>
            <a:graphicFrameLocks noChangeAspect="1"/>
          </p:cNvGraphicFramePr>
          <p:nvPr/>
        </p:nvGraphicFramePr>
        <p:xfrm>
          <a:off x="3636963" y="4524375"/>
          <a:ext cx="3370262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85720" imgH="419040" progId="Equation.3">
                  <p:embed/>
                </p:oleObj>
              </mc:Choice>
              <mc:Fallback>
                <p:oleObj name="Equation" r:id="rId4" imgW="1485720" imgH="419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6963" y="4524375"/>
                        <a:ext cx="3370262" cy="946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/>
          <p:cNvSpPr/>
          <p:nvPr/>
        </p:nvSpPr>
        <p:spPr>
          <a:xfrm>
            <a:off x="2353518" y="4787686"/>
            <a:ext cx="12314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Magnitude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520" y="3380799"/>
            <a:ext cx="8712968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 algn="just">
              <a:buFont typeface="Arial" pitchFamily="34" charset="0"/>
              <a:buChar char="•"/>
            </a:pPr>
            <a:r>
              <a:rPr lang="en-GB" sz="2300" dirty="0"/>
              <a:t>Therefore, for  Integral Factor the slope of the magnitude line would be same but with opposite sign (</a:t>
            </a:r>
            <a:r>
              <a:rPr lang="en-GB" sz="2300" dirty="0" err="1"/>
              <a:t>i.e</a:t>
            </a:r>
            <a:r>
              <a:rPr lang="en-GB" sz="2300" dirty="0"/>
              <a:t>  -</a:t>
            </a:r>
            <a:r>
              <a:rPr lang="en-GB" sz="2300" dirty="0" err="1"/>
              <a:t>6db</a:t>
            </a:r>
            <a:r>
              <a:rPr lang="en-GB" sz="2300" dirty="0"/>
              <a:t>/octave or -</a:t>
            </a:r>
            <a:r>
              <a:rPr lang="en-GB" sz="2300" dirty="0" err="1"/>
              <a:t>20db</a:t>
            </a:r>
            <a:r>
              <a:rPr lang="en-GB" sz="2300" dirty="0"/>
              <a:t>/decade).</a:t>
            </a:r>
          </a:p>
        </p:txBody>
      </p:sp>
      <p:graphicFrame>
        <p:nvGraphicFramePr>
          <p:cNvPr id="19" name="Object 2"/>
          <p:cNvGraphicFramePr>
            <a:graphicFrameLocks noChangeAspect="1"/>
          </p:cNvGraphicFramePr>
          <p:nvPr/>
        </p:nvGraphicFramePr>
        <p:xfrm>
          <a:off x="3276600" y="5721350"/>
          <a:ext cx="362902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00200" imgH="355320" progId="Equation.3">
                  <p:embed/>
                </p:oleObj>
              </mc:Choice>
              <mc:Fallback>
                <p:oleObj name="Equation" r:id="rId6" imgW="1600200" imgH="35532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721350"/>
                        <a:ext cx="3629025" cy="803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9"/>
          <p:cNvSpPr/>
          <p:nvPr/>
        </p:nvSpPr>
        <p:spPr>
          <a:xfrm>
            <a:off x="2234727" y="5877272"/>
            <a:ext cx="7521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Phase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19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emilog paper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3390" t="6792" r="2542" b="3349"/>
          <a:stretch>
            <a:fillRect/>
          </a:stretch>
        </p:blipFill>
        <p:spPr>
          <a:xfrm>
            <a:off x="683568" y="704920"/>
            <a:ext cx="7992888" cy="5715928"/>
          </a:xfrm>
        </p:spPr>
      </p:pic>
      <p:sp>
        <p:nvSpPr>
          <p:cNvPr id="10" name="TextBox 9"/>
          <p:cNvSpPr txBox="1"/>
          <p:nvPr/>
        </p:nvSpPr>
        <p:spPr>
          <a:xfrm>
            <a:off x="333666" y="6105520"/>
            <a:ext cx="421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536" y="4305320"/>
            <a:ext cx="421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538" y="2413367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184" y="5882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16" y="2422269"/>
            <a:ext cx="492443" cy="2302875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Magnitude (decibels)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7669" y="6481506"/>
            <a:ext cx="2264659" cy="40011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Frequency (rad/sec)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938" y="6260855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0944" y="626695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4792" y="6266952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4992" y="6276832"/>
            <a:ext cx="458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100</a:t>
            </a:r>
          </a:p>
        </p:txBody>
      </p:sp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3811588" y="103188"/>
          <a:ext cx="1701800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49160" imgH="266400" progId="Equation.3">
                  <p:embed/>
                </p:oleObj>
              </mc:Choice>
              <mc:Fallback>
                <p:oleObj name="Equation" r:id="rId3" imgW="749160" imgH="2664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1588" y="103188"/>
                        <a:ext cx="1701800" cy="608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635896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7822" y="6291904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0150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8230" y="628579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2198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2982" y="6309320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3910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1546" y="335089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0</a:t>
            </a:r>
          </a:p>
        </p:txBody>
      </p:sp>
      <p:cxnSp>
        <p:nvCxnSpPr>
          <p:cNvPr id="32" name="Straight Connector 31"/>
          <p:cNvCxnSpPr/>
          <p:nvPr/>
        </p:nvCxnSpPr>
        <p:spPr>
          <a:xfrm flipH="1" flipV="1">
            <a:off x="804056" y="1638680"/>
            <a:ext cx="1679712" cy="402256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95536" y="148478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20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20</a:t>
            </a:fld>
            <a:endParaRPr 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emilog paper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3390" t="6792" r="2542" b="3349"/>
          <a:stretch>
            <a:fillRect/>
          </a:stretch>
        </p:blipFill>
        <p:spPr>
          <a:xfrm>
            <a:off x="683568" y="704920"/>
            <a:ext cx="7992888" cy="5715928"/>
          </a:xfrm>
        </p:spPr>
      </p:pic>
      <p:sp>
        <p:nvSpPr>
          <p:cNvPr id="10" name="TextBox 9"/>
          <p:cNvSpPr txBox="1"/>
          <p:nvPr/>
        </p:nvSpPr>
        <p:spPr>
          <a:xfrm>
            <a:off x="279074" y="6105520"/>
            <a:ext cx="575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</a:t>
            </a:r>
            <a:r>
              <a:rPr lang="en-GB" sz="1400" dirty="0" err="1"/>
              <a:t>180</a:t>
            </a:r>
            <a:r>
              <a:rPr lang="en-GB" sz="1400" baseline="30000" dirty="0" err="1"/>
              <a:t>o</a:t>
            </a:r>
            <a:endParaRPr lang="en-GB" sz="1400" baseline="30000" dirty="0"/>
          </a:p>
        </p:txBody>
      </p:sp>
      <p:sp>
        <p:nvSpPr>
          <p:cNvPr id="11" name="TextBox 10"/>
          <p:cNvSpPr txBox="1"/>
          <p:nvPr/>
        </p:nvSpPr>
        <p:spPr>
          <a:xfrm>
            <a:off x="381888" y="4305320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-60</a:t>
            </a:r>
            <a:r>
              <a:rPr lang="en-GB" sz="1400" baseline="30000" dirty="0"/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650" y="2413367"/>
            <a:ext cx="429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/>
              <a:t>60</a:t>
            </a:r>
            <a:r>
              <a:rPr lang="en-GB" sz="1400" baseline="30000" dirty="0" err="1"/>
              <a:t>o</a:t>
            </a:r>
            <a:endParaRPr lang="en-GB" sz="1400" baseline="30000" dirty="0"/>
          </a:p>
        </p:txBody>
      </p:sp>
      <p:sp>
        <p:nvSpPr>
          <p:cNvPr id="13" name="TextBox 12"/>
          <p:cNvSpPr txBox="1"/>
          <p:nvPr/>
        </p:nvSpPr>
        <p:spPr>
          <a:xfrm>
            <a:off x="286352" y="588200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/>
              <a:t>180</a:t>
            </a:r>
            <a:r>
              <a:rPr lang="en-GB" sz="1400" baseline="30000" dirty="0" err="1"/>
              <a:t>o</a:t>
            </a:r>
            <a:endParaRPr lang="en-GB" sz="1400" baseline="30000" dirty="0"/>
          </a:p>
        </p:txBody>
      </p:sp>
      <p:sp>
        <p:nvSpPr>
          <p:cNvPr id="14" name="TextBox 13"/>
          <p:cNvSpPr txBox="1"/>
          <p:nvPr/>
        </p:nvSpPr>
        <p:spPr>
          <a:xfrm>
            <a:off x="25616" y="2780928"/>
            <a:ext cx="492443" cy="1754455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Phase (degrees)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7669" y="6481506"/>
            <a:ext cx="2264659" cy="40011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Frequency (rad/sec)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938" y="6260855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0944" y="626695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4792" y="6266952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4992" y="6276832"/>
            <a:ext cx="458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100</a:t>
            </a:r>
          </a:p>
        </p:txBody>
      </p:sp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2989263" y="-38100"/>
          <a:ext cx="254317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3000" imgH="355320" progId="Equation.3">
                  <p:embed/>
                </p:oleObj>
              </mc:Choice>
              <mc:Fallback>
                <p:oleObj name="Equation" r:id="rId3" imgW="1143000" imgH="35532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9263" y="-38100"/>
                        <a:ext cx="2543175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Straight Connector 21"/>
          <p:cNvCxnSpPr/>
          <p:nvPr/>
        </p:nvCxnSpPr>
        <p:spPr>
          <a:xfrm>
            <a:off x="813936" y="4910104"/>
            <a:ext cx="7740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635896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7822" y="6291904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0150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8230" y="628579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2198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2982" y="6309320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3910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696" y="3350895"/>
            <a:ext cx="338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 err="1"/>
              <a:t>0</a:t>
            </a:r>
            <a:r>
              <a:rPr lang="en-GB" sz="1400" b="1" baseline="30000" dirty="0" err="1"/>
              <a:t>o</a:t>
            </a:r>
            <a:endParaRPr lang="en-GB" sz="1400" b="1" baseline="30000" dirty="0"/>
          </a:p>
        </p:txBody>
      </p:sp>
      <p:sp>
        <p:nvSpPr>
          <p:cNvPr id="30" name="TextBox 29"/>
          <p:cNvSpPr txBox="1"/>
          <p:nvPr/>
        </p:nvSpPr>
        <p:spPr>
          <a:xfrm>
            <a:off x="323528" y="4766088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-90</a:t>
            </a:r>
            <a:r>
              <a:rPr lang="en-GB" sz="1400" baseline="30000" dirty="0"/>
              <a:t>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21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/>
          <a:lstStyle/>
          <a:p>
            <a:r>
              <a:rPr lang="en-GB" dirty="0"/>
              <a:t>Basic Factors of a Transfer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6512" y="1052736"/>
            <a:ext cx="8229600" cy="4525963"/>
          </a:xfrm>
        </p:spPr>
        <p:txBody>
          <a:bodyPr/>
          <a:lstStyle/>
          <a:p>
            <a:pPr marL="971550" lvl="1" indent="-514350" algn="just">
              <a:buFont typeface="+mj-lt"/>
              <a:buAutoNum type="arabicPeriod" startAt="3"/>
            </a:pPr>
            <a:r>
              <a:rPr lang="en-GB" dirty="0"/>
              <a:t>First Order Factors </a:t>
            </a:r>
            <a:r>
              <a:rPr lang="en-GB" b="1" dirty="0">
                <a:solidFill>
                  <a:srgbClr val="FF0000"/>
                </a:solidFill>
              </a:rPr>
              <a:t>(j</a:t>
            </a:r>
            <a:r>
              <a:rPr lang="el-GR" b="1" dirty="0">
                <a:solidFill>
                  <a:srgbClr val="FF0000"/>
                </a:solidFill>
              </a:rPr>
              <a:t>ω</a:t>
            </a:r>
            <a:r>
              <a:rPr lang="en-GB" b="1" dirty="0" err="1">
                <a:solidFill>
                  <a:srgbClr val="FF0000"/>
                </a:solidFill>
              </a:rPr>
              <a:t>T+1</a:t>
            </a:r>
            <a:r>
              <a:rPr lang="en-GB" b="1" dirty="0">
                <a:solidFill>
                  <a:srgbClr val="FF0000"/>
                </a:solidFill>
              </a:rPr>
              <a:t>)</a:t>
            </a: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>
              <a:buFont typeface="+mj-lt"/>
              <a:buAutoNum type="arabicPeriod" startAt="3"/>
            </a:pP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>
              <a:buFont typeface="+mj-lt"/>
              <a:buAutoNum type="arabicPeriod" startAt="3"/>
            </a:pP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>
              <a:buFont typeface="+mj-lt"/>
              <a:buAutoNum type="arabicPeriod" startAt="3"/>
            </a:pP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>
              <a:buFont typeface="+mj-lt"/>
              <a:buAutoNum type="arabicPeriod" startAt="3"/>
            </a:pP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>
              <a:buFont typeface="+mj-lt"/>
              <a:buAutoNum type="arabicPeriod" startAt="3"/>
            </a:pP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/>
            <a:r>
              <a:rPr lang="en-GB" dirty="0"/>
              <a:t>For Low frequencies </a:t>
            </a:r>
            <a:r>
              <a:rPr lang="el-GR" dirty="0"/>
              <a:t>ω</a:t>
            </a:r>
            <a:r>
              <a:rPr lang="en-GB" dirty="0"/>
              <a:t>&lt;&lt;1/T</a:t>
            </a:r>
          </a:p>
          <a:p>
            <a:pPr marL="971550" lvl="1" indent="-514350" algn="just"/>
            <a:endParaRPr lang="en-GB" dirty="0"/>
          </a:p>
          <a:p>
            <a:pPr marL="971550" lvl="1" indent="-514350" algn="just"/>
            <a:endParaRPr lang="en-GB" dirty="0"/>
          </a:p>
          <a:p>
            <a:pPr marL="971550" lvl="1" indent="-514350" algn="just"/>
            <a:r>
              <a:rPr lang="en-GB" dirty="0"/>
              <a:t>For high frequencies </a:t>
            </a:r>
            <a:r>
              <a:rPr lang="el-GR" dirty="0"/>
              <a:t>ω</a:t>
            </a:r>
            <a:r>
              <a:rPr lang="en-GB" dirty="0"/>
              <a:t>&gt;&gt;1/T</a:t>
            </a:r>
          </a:p>
        </p:txBody>
      </p:sp>
      <p:graphicFrame>
        <p:nvGraphicFramePr>
          <p:cNvPr id="55298" name="Object 3"/>
          <p:cNvGraphicFramePr>
            <a:graphicFrameLocks noChangeAspect="1"/>
          </p:cNvGraphicFramePr>
          <p:nvPr/>
        </p:nvGraphicFramePr>
        <p:xfrm>
          <a:off x="1835696" y="1628800"/>
          <a:ext cx="5029224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215640" progId="Equation.3">
                  <p:embed/>
                </p:oleObj>
              </mc:Choice>
              <mc:Fallback>
                <p:oleObj name="Equation" r:id="rId2" imgW="1333440" imgH="215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1628800"/>
                        <a:ext cx="5029224" cy="708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0" name="Object 3"/>
          <p:cNvGraphicFramePr>
            <a:graphicFrameLocks noChangeAspect="1"/>
          </p:cNvGraphicFramePr>
          <p:nvPr/>
        </p:nvGraphicFramePr>
        <p:xfrm>
          <a:off x="1907704" y="2348880"/>
          <a:ext cx="5007888" cy="720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60160" imgH="241200" progId="Equation.3">
                  <p:embed/>
                </p:oleObj>
              </mc:Choice>
              <mc:Fallback>
                <p:oleObj name="Equation" r:id="rId4" imgW="1460160" imgH="241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2348880"/>
                        <a:ext cx="5007888" cy="72015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1" name="Object 5"/>
          <p:cNvGraphicFramePr>
            <a:graphicFrameLocks noChangeAspect="1"/>
          </p:cNvGraphicFramePr>
          <p:nvPr/>
        </p:nvGraphicFramePr>
        <p:xfrm>
          <a:off x="2339752" y="4012803"/>
          <a:ext cx="391795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3000" imgH="190440" progId="Equation.3">
                  <p:embed/>
                </p:oleObj>
              </mc:Choice>
              <mc:Fallback>
                <p:oleObj name="Equation" r:id="rId6" imgW="1143000" imgH="1904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4012803"/>
                        <a:ext cx="3917950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2" name="Object 6"/>
          <p:cNvGraphicFramePr>
            <a:graphicFrameLocks noChangeAspect="1"/>
          </p:cNvGraphicFramePr>
          <p:nvPr/>
        </p:nvGraphicFramePr>
        <p:xfrm>
          <a:off x="2555776" y="5589240"/>
          <a:ext cx="3656012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66680" imgH="190440" progId="Equation.3">
                  <p:embed/>
                </p:oleObj>
              </mc:Choice>
              <mc:Fallback>
                <p:oleObj name="Equation" r:id="rId8" imgW="1066680" imgH="1904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5589240"/>
                        <a:ext cx="3656012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3" name="Object 3"/>
          <p:cNvGraphicFramePr>
            <a:graphicFrameLocks noChangeAspect="1"/>
          </p:cNvGraphicFramePr>
          <p:nvPr/>
        </p:nvGraphicFramePr>
        <p:xfrm>
          <a:off x="6290312" y="3212976"/>
          <a:ext cx="2882792" cy="687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95280" imgH="355320" progId="Equation.3">
                  <p:embed/>
                </p:oleObj>
              </mc:Choice>
              <mc:Fallback>
                <p:oleObj name="Equation" r:id="rId10" imgW="1295280" imgH="3553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0312" y="3212976"/>
                        <a:ext cx="2882792" cy="68744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Straight Arrow Connector 10"/>
          <p:cNvCxnSpPr/>
          <p:nvPr/>
        </p:nvCxnSpPr>
        <p:spPr>
          <a:xfrm flipH="1" flipV="1">
            <a:off x="8244408" y="3861048"/>
            <a:ext cx="72008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304" name="Object 3"/>
          <p:cNvGraphicFramePr>
            <a:graphicFrameLocks noChangeAspect="1"/>
          </p:cNvGraphicFramePr>
          <p:nvPr/>
        </p:nvGraphicFramePr>
        <p:xfrm>
          <a:off x="8244408" y="4293096"/>
          <a:ext cx="254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720" imgH="139680" progId="Equation.3">
                  <p:embed/>
                </p:oleObj>
              </mc:Choice>
              <mc:Fallback>
                <p:oleObj name="Equation" r:id="rId12" imgW="126720" imgH="1396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4408" y="4293096"/>
                        <a:ext cx="254000" cy="24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Straight Arrow Connector 12"/>
          <p:cNvCxnSpPr/>
          <p:nvPr/>
        </p:nvCxnSpPr>
        <p:spPr>
          <a:xfrm flipH="1" flipV="1">
            <a:off x="7668344" y="3789040"/>
            <a:ext cx="72008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Object 3"/>
          <p:cNvGraphicFramePr>
            <a:graphicFrameLocks noChangeAspect="1"/>
          </p:cNvGraphicFramePr>
          <p:nvPr/>
        </p:nvGraphicFramePr>
        <p:xfrm>
          <a:off x="7596336" y="4221088"/>
          <a:ext cx="304800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2280" imgH="342720" progId="Equation.3">
                  <p:embed/>
                </p:oleObj>
              </mc:Choice>
              <mc:Fallback>
                <p:oleObj name="Equation" r:id="rId14" imgW="152280" imgH="34272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336" y="4221088"/>
                        <a:ext cx="304800" cy="592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22</a:t>
            </a:fld>
            <a:endParaRPr 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/>
          <a:lstStyle/>
          <a:p>
            <a:r>
              <a:rPr lang="en-GB" dirty="0"/>
              <a:t>Basic Factors of a Transfer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6512" y="1052736"/>
            <a:ext cx="8229600" cy="4525963"/>
          </a:xfrm>
        </p:spPr>
        <p:txBody>
          <a:bodyPr/>
          <a:lstStyle/>
          <a:p>
            <a:pPr marL="971550" lvl="1" indent="-514350" algn="just">
              <a:buFont typeface="+mj-lt"/>
              <a:buAutoNum type="arabicPeriod" startAt="3"/>
            </a:pPr>
            <a:r>
              <a:rPr lang="en-GB" dirty="0"/>
              <a:t>First Order Factors </a:t>
            </a:r>
            <a:r>
              <a:rPr lang="en-GB" b="1" dirty="0">
                <a:solidFill>
                  <a:srgbClr val="FF0000"/>
                </a:solidFill>
              </a:rPr>
              <a:t>(j</a:t>
            </a:r>
            <a:r>
              <a:rPr lang="el-GR" b="1" dirty="0">
                <a:solidFill>
                  <a:srgbClr val="FF0000"/>
                </a:solidFill>
              </a:rPr>
              <a:t>ω</a:t>
            </a:r>
            <a:r>
              <a:rPr lang="en-GB" b="1" dirty="0" err="1">
                <a:solidFill>
                  <a:srgbClr val="FF0000"/>
                </a:solidFill>
              </a:rPr>
              <a:t>T+1</a:t>
            </a:r>
            <a:r>
              <a:rPr lang="en-GB" b="1" dirty="0">
                <a:solidFill>
                  <a:srgbClr val="FF0000"/>
                </a:solidFill>
              </a:rPr>
              <a:t>)</a:t>
            </a: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>
              <a:buFont typeface="+mj-lt"/>
              <a:buAutoNum type="arabicPeriod" startAt="3"/>
            </a:pP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>
              <a:buFont typeface="+mj-lt"/>
              <a:buAutoNum type="arabicPeriod" startAt="3"/>
            </a:pP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>
              <a:buFont typeface="+mj-lt"/>
              <a:buAutoNum type="arabicPeriod" startAt="3"/>
            </a:pP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>
              <a:buFont typeface="+mj-lt"/>
              <a:buAutoNum type="arabicPeriod" startAt="3"/>
            </a:pP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>
              <a:buFont typeface="+mj-lt"/>
              <a:buAutoNum type="arabicPeriod" startAt="3"/>
            </a:pP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/>
            <a:endParaRPr lang="en-GB" dirty="0"/>
          </a:p>
        </p:txBody>
      </p:sp>
      <p:graphicFrame>
        <p:nvGraphicFramePr>
          <p:cNvPr id="55299" name="Object 3"/>
          <p:cNvGraphicFramePr>
            <a:graphicFrameLocks noChangeAspect="1"/>
          </p:cNvGraphicFramePr>
          <p:nvPr/>
        </p:nvGraphicFramePr>
        <p:xfrm>
          <a:off x="3253904" y="1772816"/>
          <a:ext cx="2902272" cy="629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02960" imgH="215640" progId="Equation.3">
                  <p:embed/>
                </p:oleObj>
              </mc:Choice>
              <mc:Fallback>
                <p:oleObj name="Equation" r:id="rId2" imgW="100296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3904" y="1772816"/>
                        <a:ext cx="2902272" cy="6298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6" name="Object 6"/>
          <p:cNvGraphicFramePr>
            <a:graphicFrameLocks noChangeAspect="1"/>
          </p:cNvGraphicFramePr>
          <p:nvPr/>
        </p:nvGraphicFramePr>
        <p:xfrm>
          <a:off x="323528" y="2852738"/>
          <a:ext cx="6207125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45960" imgH="215640" progId="Equation.3">
                  <p:embed/>
                </p:oleObj>
              </mc:Choice>
              <mc:Fallback>
                <p:oleObj name="Equation" r:id="rId4" imgW="2145960" imgH="215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2852738"/>
                        <a:ext cx="6207125" cy="630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7" name="Object 7"/>
          <p:cNvGraphicFramePr>
            <a:graphicFrameLocks noChangeAspect="1"/>
          </p:cNvGraphicFramePr>
          <p:nvPr/>
        </p:nvGraphicFramePr>
        <p:xfrm>
          <a:off x="250825" y="3644900"/>
          <a:ext cx="646430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34880" imgH="342720" progId="Equation.3">
                  <p:embed/>
                </p:oleObj>
              </mc:Choice>
              <mc:Fallback>
                <p:oleObj name="Equation" r:id="rId6" imgW="2234880" imgH="3427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644900"/>
                        <a:ext cx="6464300" cy="1000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8" name="Object 8"/>
          <p:cNvGraphicFramePr>
            <a:graphicFrameLocks noChangeAspect="1"/>
          </p:cNvGraphicFramePr>
          <p:nvPr/>
        </p:nvGraphicFramePr>
        <p:xfrm>
          <a:off x="285750" y="4837113"/>
          <a:ext cx="6538913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60440" imgH="215640" progId="Equation.3">
                  <p:embed/>
                </p:oleObj>
              </mc:Choice>
              <mc:Fallback>
                <p:oleObj name="Equation" r:id="rId8" imgW="2260440" imgH="215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4837113"/>
                        <a:ext cx="6538913" cy="630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23</a:t>
            </a:fld>
            <a:endParaRPr lang="en-GB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emilog paper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3390" t="6792" r="2542" b="3349"/>
          <a:stretch>
            <a:fillRect/>
          </a:stretch>
        </p:blipFill>
        <p:spPr>
          <a:xfrm>
            <a:off x="683568" y="704920"/>
            <a:ext cx="7992888" cy="5715928"/>
          </a:xfrm>
        </p:spPr>
      </p:pic>
      <p:sp>
        <p:nvSpPr>
          <p:cNvPr id="10" name="TextBox 9"/>
          <p:cNvSpPr txBox="1"/>
          <p:nvPr/>
        </p:nvSpPr>
        <p:spPr>
          <a:xfrm>
            <a:off x="333666" y="6105520"/>
            <a:ext cx="421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536" y="4305320"/>
            <a:ext cx="421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538" y="2413367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184" y="5882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16" y="2422269"/>
            <a:ext cx="492443" cy="2302875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Magnitude (decibels)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7669" y="6481506"/>
            <a:ext cx="2264659" cy="40011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Frequency (rad/sec)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938" y="6260855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0944" y="626695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4792" y="6266952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4992" y="6276832"/>
            <a:ext cx="458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5896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7822" y="6291904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0150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8230" y="628579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2198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2982" y="6309320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3910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1546" y="335089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9184" y="148478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20</a:t>
            </a:r>
          </a:p>
        </p:txBody>
      </p:sp>
      <p:graphicFrame>
        <p:nvGraphicFramePr>
          <p:cNvPr id="57347" name="Object 3"/>
          <p:cNvGraphicFramePr>
            <a:graphicFrameLocks noChangeAspect="1"/>
          </p:cNvGraphicFramePr>
          <p:nvPr/>
        </p:nvGraphicFramePr>
        <p:xfrm>
          <a:off x="2987824" y="0"/>
          <a:ext cx="288290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95280" imgH="355320" progId="Equation.3">
                  <p:embed/>
                </p:oleObj>
              </mc:Choice>
              <mc:Fallback>
                <p:oleObj name="Equation" r:id="rId3" imgW="1295280" imgH="3553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0"/>
                        <a:ext cx="2882900" cy="687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3" name="Straight Connector 32"/>
          <p:cNvCxnSpPr/>
          <p:nvPr/>
        </p:nvCxnSpPr>
        <p:spPr>
          <a:xfrm flipH="1">
            <a:off x="2020656" y="1138392"/>
            <a:ext cx="1039176" cy="23724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2" name="Group 41"/>
          <p:cNvGrpSpPr/>
          <p:nvPr/>
        </p:nvGrpSpPr>
        <p:grpSpPr>
          <a:xfrm>
            <a:off x="796520" y="3446416"/>
            <a:ext cx="1594091" cy="369332"/>
            <a:chOff x="796520" y="3446416"/>
            <a:chExt cx="1594091" cy="369332"/>
          </a:xfrm>
        </p:grpSpPr>
        <p:cxnSp>
          <p:nvCxnSpPr>
            <p:cNvPr id="32" name="Straight Connector 31"/>
            <p:cNvCxnSpPr/>
            <p:nvPr/>
          </p:nvCxnSpPr>
          <p:spPr>
            <a:xfrm flipH="1">
              <a:off x="796520" y="3487360"/>
              <a:ext cx="1260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1808400" y="3446416"/>
              <a:ext cx="582211" cy="369332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r>
                <a:rPr lang="el-GR" b="1" dirty="0">
                  <a:solidFill>
                    <a:srgbClr val="FF0000"/>
                  </a:solidFill>
                </a:rPr>
                <a:t>ω</a:t>
              </a:r>
              <a:r>
                <a:rPr lang="en-GB" b="1" dirty="0">
                  <a:solidFill>
                    <a:srgbClr val="FF0000"/>
                  </a:solidFill>
                </a:rPr>
                <a:t>=3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2668728" y="2204864"/>
            <a:ext cx="1326132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6 db/octave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27784" y="2627620"/>
            <a:ext cx="1504194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20 db/decade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24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emilog paper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3390" t="6792" r="2542" b="3349"/>
          <a:stretch>
            <a:fillRect/>
          </a:stretch>
        </p:blipFill>
        <p:spPr>
          <a:xfrm>
            <a:off x="683568" y="704920"/>
            <a:ext cx="7992888" cy="5715928"/>
          </a:xfrm>
        </p:spPr>
      </p:pic>
      <p:sp>
        <p:nvSpPr>
          <p:cNvPr id="10" name="TextBox 9"/>
          <p:cNvSpPr txBox="1"/>
          <p:nvPr/>
        </p:nvSpPr>
        <p:spPr>
          <a:xfrm>
            <a:off x="333666" y="6105520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</a:t>
            </a:r>
            <a:r>
              <a:rPr lang="en-GB" sz="1400" dirty="0" err="1"/>
              <a:t>90</a:t>
            </a:r>
            <a:r>
              <a:rPr lang="en-GB" sz="1400" baseline="30000" dirty="0" err="1"/>
              <a:t>o</a:t>
            </a:r>
            <a:endParaRPr lang="en-GB" sz="1400" baseline="30000" dirty="0"/>
          </a:p>
        </p:txBody>
      </p:sp>
      <p:sp>
        <p:nvSpPr>
          <p:cNvPr id="11" name="TextBox 10"/>
          <p:cNvSpPr txBox="1"/>
          <p:nvPr/>
        </p:nvSpPr>
        <p:spPr>
          <a:xfrm>
            <a:off x="381888" y="4305320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-30</a:t>
            </a:r>
            <a:r>
              <a:rPr lang="en-GB" sz="1400" baseline="30000" dirty="0"/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650" y="2413367"/>
            <a:ext cx="429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/>
              <a:t>30</a:t>
            </a:r>
            <a:r>
              <a:rPr lang="en-GB" sz="1400" baseline="30000" dirty="0" err="1"/>
              <a:t>o</a:t>
            </a:r>
            <a:endParaRPr lang="en-GB" sz="1400" baseline="30000" dirty="0"/>
          </a:p>
        </p:txBody>
      </p:sp>
      <p:sp>
        <p:nvSpPr>
          <p:cNvPr id="13" name="TextBox 12"/>
          <p:cNvSpPr txBox="1"/>
          <p:nvPr/>
        </p:nvSpPr>
        <p:spPr>
          <a:xfrm>
            <a:off x="409184" y="588200"/>
            <a:ext cx="429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/>
              <a:t>90</a:t>
            </a:r>
            <a:r>
              <a:rPr lang="en-GB" sz="1400" baseline="30000" dirty="0" err="1"/>
              <a:t>o</a:t>
            </a:r>
            <a:endParaRPr lang="en-GB" sz="1400" baseline="30000" dirty="0"/>
          </a:p>
        </p:txBody>
      </p:sp>
      <p:sp>
        <p:nvSpPr>
          <p:cNvPr id="14" name="TextBox 13"/>
          <p:cNvSpPr txBox="1"/>
          <p:nvPr/>
        </p:nvSpPr>
        <p:spPr>
          <a:xfrm>
            <a:off x="25616" y="2780928"/>
            <a:ext cx="492443" cy="1754455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Phase (degrees)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7669" y="6481506"/>
            <a:ext cx="2264659" cy="40011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Frequency (rad/sec)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938" y="6260855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0944" y="626695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4792" y="6266952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4992" y="6276832"/>
            <a:ext cx="458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5896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7822" y="6291904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0150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8230" y="628579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2198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2982" y="6309320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3910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696" y="3350895"/>
            <a:ext cx="338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 err="1"/>
              <a:t>0</a:t>
            </a:r>
            <a:r>
              <a:rPr lang="en-GB" sz="1400" b="1" baseline="30000" dirty="0" err="1"/>
              <a:t>o</a:t>
            </a:r>
            <a:endParaRPr lang="en-GB" sz="1400" b="1" baseline="30000" dirty="0"/>
          </a:p>
        </p:txBody>
      </p:sp>
      <p:sp>
        <p:nvSpPr>
          <p:cNvPr id="32" name="TextBox 31"/>
          <p:cNvSpPr txBox="1"/>
          <p:nvPr/>
        </p:nvSpPr>
        <p:spPr>
          <a:xfrm>
            <a:off x="395536" y="2132856"/>
            <a:ext cx="429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/>
              <a:t>45</a:t>
            </a:r>
            <a:r>
              <a:rPr lang="en-GB" sz="1400" baseline="30000" dirty="0" err="1"/>
              <a:t>o</a:t>
            </a:r>
            <a:endParaRPr lang="en-GB" sz="1400" baseline="30000" dirty="0"/>
          </a:p>
        </p:txBody>
      </p:sp>
      <p:sp>
        <p:nvSpPr>
          <p:cNvPr id="33" name="Flowchart: Connector 32"/>
          <p:cNvSpPr/>
          <p:nvPr/>
        </p:nvSpPr>
        <p:spPr>
          <a:xfrm>
            <a:off x="786640" y="3429000"/>
            <a:ext cx="72008" cy="7200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Flowchart: Connector 33"/>
          <p:cNvSpPr/>
          <p:nvPr/>
        </p:nvSpPr>
        <p:spPr>
          <a:xfrm>
            <a:off x="1907704" y="2276872"/>
            <a:ext cx="72008" cy="7200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lowchart: Connector 34"/>
          <p:cNvSpPr/>
          <p:nvPr/>
        </p:nvSpPr>
        <p:spPr>
          <a:xfrm>
            <a:off x="7740352" y="764704"/>
            <a:ext cx="72008" cy="7200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form 35"/>
          <p:cNvSpPr/>
          <p:nvPr/>
        </p:nvSpPr>
        <p:spPr>
          <a:xfrm>
            <a:off x="818866" y="832513"/>
            <a:ext cx="6946710" cy="2647666"/>
          </a:xfrm>
          <a:custGeom>
            <a:avLst/>
            <a:gdLst>
              <a:gd name="connsiteX0" fmla="*/ 0 w 6946710"/>
              <a:gd name="connsiteY0" fmla="*/ 2647666 h 2647666"/>
              <a:gd name="connsiteX1" fmla="*/ 586853 w 6946710"/>
              <a:gd name="connsiteY1" fmla="*/ 2197290 h 2647666"/>
              <a:gd name="connsiteX2" fmla="*/ 1091821 w 6946710"/>
              <a:gd name="connsiteY2" fmla="*/ 1528550 h 2647666"/>
              <a:gd name="connsiteX3" fmla="*/ 1583140 w 6946710"/>
              <a:gd name="connsiteY3" fmla="*/ 846162 h 2647666"/>
              <a:gd name="connsiteX4" fmla="*/ 3070746 w 6946710"/>
              <a:gd name="connsiteY4" fmla="*/ 341194 h 2647666"/>
              <a:gd name="connsiteX5" fmla="*/ 5022376 w 6946710"/>
              <a:gd name="connsiteY5" fmla="*/ 163774 h 2647666"/>
              <a:gd name="connsiteX6" fmla="*/ 6332561 w 6946710"/>
              <a:gd name="connsiteY6" fmla="*/ 40944 h 2647666"/>
              <a:gd name="connsiteX7" fmla="*/ 6946710 w 6946710"/>
              <a:gd name="connsiteY7" fmla="*/ 0 h 2647666"/>
              <a:gd name="connsiteX8" fmla="*/ 6946710 w 6946710"/>
              <a:gd name="connsiteY8" fmla="*/ 0 h 2647666"/>
              <a:gd name="connsiteX9" fmla="*/ 6946710 w 6946710"/>
              <a:gd name="connsiteY9" fmla="*/ 0 h 2647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946710" h="2647666">
                <a:moveTo>
                  <a:pt x="0" y="2647666"/>
                </a:moveTo>
                <a:cubicBezTo>
                  <a:pt x="202441" y="2515737"/>
                  <a:pt x="404883" y="2383809"/>
                  <a:pt x="586853" y="2197290"/>
                </a:cubicBezTo>
                <a:cubicBezTo>
                  <a:pt x="768823" y="2010771"/>
                  <a:pt x="925773" y="1753738"/>
                  <a:pt x="1091821" y="1528550"/>
                </a:cubicBezTo>
                <a:cubicBezTo>
                  <a:pt x="1257869" y="1303362"/>
                  <a:pt x="1253319" y="1044055"/>
                  <a:pt x="1583140" y="846162"/>
                </a:cubicBezTo>
                <a:cubicBezTo>
                  <a:pt x="1912961" y="648269"/>
                  <a:pt x="2497540" y="454925"/>
                  <a:pt x="3070746" y="341194"/>
                </a:cubicBezTo>
                <a:cubicBezTo>
                  <a:pt x="3643952" y="227463"/>
                  <a:pt x="5022376" y="163774"/>
                  <a:pt x="5022376" y="163774"/>
                </a:cubicBezTo>
                <a:lnTo>
                  <a:pt x="6332561" y="40944"/>
                </a:lnTo>
                <a:cubicBezTo>
                  <a:pt x="6653283" y="13648"/>
                  <a:pt x="6946710" y="0"/>
                  <a:pt x="6946710" y="0"/>
                </a:cubicBezTo>
                <a:lnTo>
                  <a:pt x="6946710" y="0"/>
                </a:lnTo>
                <a:lnTo>
                  <a:pt x="6946710" y="0"/>
                </a:ln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25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/>
          <a:lstStyle/>
          <a:p>
            <a:r>
              <a:rPr lang="en-GB" dirty="0"/>
              <a:t>Basic Factors of a Transfer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6512" y="1052736"/>
            <a:ext cx="8229600" cy="4525963"/>
          </a:xfrm>
        </p:spPr>
        <p:txBody>
          <a:bodyPr/>
          <a:lstStyle/>
          <a:p>
            <a:pPr marL="971550" lvl="1" indent="-514350" algn="just">
              <a:buFont typeface="+mj-lt"/>
              <a:buAutoNum type="arabicPeriod" startAt="3"/>
            </a:pPr>
            <a:r>
              <a:rPr lang="en-GB" dirty="0"/>
              <a:t>First Order Factors </a:t>
            </a:r>
            <a:r>
              <a:rPr lang="en-GB" b="1" dirty="0">
                <a:solidFill>
                  <a:srgbClr val="FF0000"/>
                </a:solidFill>
              </a:rPr>
              <a:t>(j</a:t>
            </a:r>
            <a:r>
              <a:rPr lang="el-GR" b="1" dirty="0">
                <a:solidFill>
                  <a:srgbClr val="FF0000"/>
                </a:solidFill>
              </a:rPr>
              <a:t>ω</a:t>
            </a:r>
            <a:r>
              <a:rPr lang="en-GB" b="1" dirty="0" err="1">
                <a:solidFill>
                  <a:srgbClr val="FF0000"/>
                </a:solidFill>
              </a:rPr>
              <a:t>T+1</a:t>
            </a:r>
            <a:r>
              <a:rPr lang="en-GB" b="1" dirty="0">
                <a:solidFill>
                  <a:srgbClr val="FF0000"/>
                </a:solidFill>
              </a:rPr>
              <a:t>)</a:t>
            </a:r>
            <a:r>
              <a:rPr lang="en-GB" b="1" baseline="30000" dirty="0">
                <a:solidFill>
                  <a:srgbClr val="FF0000"/>
                </a:solidFill>
              </a:rPr>
              <a:t>-1</a:t>
            </a:r>
          </a:p>
          <a:p>
            <a:pPr marL="971550" lvl="1" indent="-514350" algn="just">
              <a:buFont typeface="+mj-lt"/>
              <a:buAutoNum type="arabicPeriod" startAt="3"/>
            </a:pP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>
              <a:buFont typeface="+mj-lt"/>
              <a:buAutoNum type="arabicPeriod" startAt="3"/>
            </a:pP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>
              <a:buFont typeface="+mj-lt"/>
              <a:buAutoNum type="arabicPeriod" startAt="3"/>
            </a:pP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>
              <a:buFont typeface="+mj-lt"/>
              <a:buAutoNum type="arabicPeriod" startAt="3"/>
            </a:pP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>
              <a:buFont typeface="+mj-lt"/>
              <a:buAutoNum type="arabicPeriod" startAt="3"/>
            </a:pP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/>
            <a:r>
              <a:rPr lang="en-GB" dirty="0"/>
              <a:t>For Low frequencies </a:t>
            </a:r>
            <a:r>
              <a:rPr lang="el-GR" dirty="0"/>
              <a:t>ω</a:t>
            </a:r>
            <a:r>
              <a:rPr lang="en-GB" dirty="0"/>
              <a:t>&lt;&lt;1/T</a:t>
            </a:r>
          </a:p>
          <a:p>
            <a:pPr marL="971550" lvl="1" indent="-514350" algn="just"/>
            <a:endParaRPr lang="en-GB" dirty="0"/>
          </a:p>
          <a:p>
            <a:pPr marL="971550" lvl="1" indent="-514350" algn="just"/>
            <a:endParaRPr lang="en-GB" dirty="0"/>
          </a:p>
          <a:p>
            <a:pPr marL="971550" lvl="1" indent="-514350" algn="just"/>
            <a:r>
              <a:rPr lang="en-GB" dirty="0"/>
              <a:t>For high frequencies </a:t>
            </a:r>
            <a:r>
              <a:rPr lang="el-GR" dirty="0"/>
              <a:t>ω</a:t>
            </a:r>
            <a:r>
              <a:rPr lang="en-GB" dirty="0"/>
              <a:t>&gt;&gt;1/T</a:t>
            </a:r>
          </a:p>
        </p:txBody>
      </p:sp>
      <p:graphicFrame>
        <p:nvGraphicFramePr>
          <p:cNvPr id="55298" name="Object 3"/>
          <p:cNvGraphicFramePr>
            <a:graphicFrameLocks noChangeAspect="1"/>
          </p:cNvGraphicFramePr>
          <p:nvPr/>
        </p:nvGraphicFramePr>
        <p:xfrm>
          <a:off x="1692275" y="1628775"/>
          <a:ext cx="5316538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09400" imgH="215640" progId="Equation.3">
                  <p:embed/>
                </p:oleObj>
              </mc:Choice>
              <mc:Fallback>
                <p:oleObj name="Equation" r:id="rId2" imgW="1409400" imgH="215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628775"/>
                        <a:ext cx="5316538" cy="708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0" name="Object 3"/>
          <p:cNvGraphicFramePr>
            <a:graphicFrameLocks noChangeAspect="1"/>
          </p:cNvGraphicFramePr>
          <p:nvPr/>
        </p:nvGraphicFramePr>
        <p:xfrm>
          <a:off x="1800225" y="2349500"/>
          <a:ext cx="5224463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3880" imgH="241200" progId="Equation.3">
                  <p:embed/>
                </p:oleObj>
              </mc:Choice>
              <mc:Fallback>
                <p:oleObj name="Equation" r:id="rId4" imgW="1523880" imgH="2412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225" y="2349500"/>
                        <a:ext cx="5224463" cy="719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1" name="Object 5"/>
          <p:cNvGraphicFramePr>
            <a:graphicFrameLocks noChangeAspect="1"/>
          </p:cNvGraphicFramePr>
          <p:nvPr/>
        </p:nvGraphicFramePr>
        <p:xfrm>
          <a:off x="2232025" y="4013200"/>
          <a:ext cx="4135438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06360" imgH="190440" progId="Equation.3">
                  <p:embed/>
                </p:oleObj>
              </mc:Choice>
              <mc:Fallback>
                <p:oleObj name="Equation" r:id="rId6" imgW="1206360" imgH="1904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025" y="4013200"/>
                        <a:ext cx="4135438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2" name="Object 6"/>
          <p:cNvGraphicFramePr>
            <a:graphicFrameLocks noChangeAspect="1"/>
          </p:cNvGraphicFramePr>
          <p:nvPr/>
        </p:nvGraphicFramePr>
        <p:xfrm>
          <a:off x="2425700" y="5589588"/>
          <a:ext cx="391795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43000" imgH="190440" progId="Equation.3">
                  <p:embed/>
                </p:oleObj>
              </mc:Choice>
              <mc:Fallback>
                <p:oleObj name="Equation" r:id="rId8" imgW="1143000" imgH="1904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5589588"/>
                        <a:ext cx="3917950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3" name="Object 3"/>
          <p:cNvGraphicFramePr>
            <a:graphicFrameLocks noChangeAspect="1"/>
          </p:cNvGraphicFramePr>
          <p:nvPr/>
        </p:nvGraphicFramePr>
        <p:xfrm>
          <a:off x="6869113" y="3213100"/>
          <a:ext cx="1986310" cy="791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74360" imgH="355320" progId="Equation.3">
                  <p:embed/>
                </p:oleObj>
              </mc:Choice>
              <mc:Fallback>
                <p:oleObj name="Equation" r:id="rId10" imgW="774360" imgH="35532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9113" y="3213100"/>
                        <a:ext cx="1986310" cy="7919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26</a:t>
            </a:fld>
            <a:endParaRPr lang="en-GB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/>
          <a:lstStyle/>
          <a:p>
            <a:r>
              <a:rPr lang="en-GB" dirty="0"/>
              <a:t>Basic Factors of a Transfer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6512" y="1052736"/>
            <a:ext cx="8229600" cy="4525963"/>
          </a:xfrm>
        </p:spPr>
        <p:txBody>
          <a:bodyPr/>
          <a:lstStyle/>
          <a:p>
            <a:pPr marL="971550" lvl="1" indent="-514350" algn="just">
              <a:buFont typeface="+mj-lt"/>
              <a:buAutoNum type="arabicPeriod" startAt="3"/>
            </a:pPr>
            <a:r>
              <a:rPr lang="en-GB" dirty="0"/>
              <a:t>First Order Factors </a:t>
            </a:r>
            <a:r>
              <a:rPr lang="en-GB" b="1" dirty="0">
                <a:solidFill>
                  <a:srgbClr val="FF0000"/>
                </a:solidFill>
              </a:rPr>
              <a:t>(j</a:t>
            </a:r>
            <a:r>
              <a:rPr lang="el-GR" b="1" dirty="0">
                <a:solidFill>
                  <a:srgbClr val="FF0000"/>
                </a:solidFill>
              </a:rPr>
              <a:t>ω</a:t>
            </a:r>
            <a:r>
              <a:rPr lang="en-GB" b="1" dirty="0" err="1">
                <a:solidFill>
                  <a:srgbClr val="FF0000"/>
                </a:solidFill>
              </a:rPr>
              <a:t>T+1</a:t>
            </a:r>
            <a:r>
              <a:rPr lang="en-GB" b="1" dirty="0">
                <a:solidFill>
                  <a:srgbClr val="FF0000"/>
                </a:solidFill>
              </a:rPr>
              <a:t>)</a:t>
            </a:r>
            <a:r>
              <a:rPr lang="en-GB" b="1" baseline="30000" dirty="0">
                <a:solidFill>
                  <a:srgbClr val="FF0000"/>
                </a:solidFill>
              </a:rPr>
              <a:t>-1</a:t>
            </a:r>
          </a:p>
          <a:p>
            <a:pPr marL="971550" lvl="1" indent="-514350" algn="just">
              <a:buFont typeface="+mj-lt"/>
              <a:buAutoNum type="arabicPeriod" startAt="3"/>
            </a:pP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>
              <a:buFont typeface="+mj-lt"/>
              <a:buAutoNum type="arabicPeriod" startAt="3"/>
            </a:pP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>
              <a:buFont typeface="+mj-lt"/>
              <a:buAutoNum type="arabicPeriod" startAt="3"/>
            </a:pP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>
              <a:buFont typeface="+mj-lt"/>
              <a:buAutoNum type="arabicPeriod" startAt="3"/>
            </a:pP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>
              <a:buFont typeface="+mj-lt"/>
              <a:buAutoNum type="arabicPeriod" startAt="3"/>
            </a:pP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/>
            <a:endParaRPr lang="en-GB" dirty="0"/>
          </a:p>
        </p:txBody>
      </p:sp>
      <p:graphicFrame>
        <p:nvGraphicFramePr>
          <p:cNvPr id="55299" name="Object 3"/>
          <p:cNvGraphicFramePr>
            <a:graphicFrameLocks noChangeAspect="1"/>
          </p:cNvGraphicFramePr>
          <p:nvPr/>
        </p:nvGraphicFramePr>
        <p:xfrm>
          <a:off x="3144838" y="1773238"/>
          <a:ext cx="3122612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280" imgH="215640" progId="Equation.3">
                  <p:embed/>
                </p:oleObj>
              </mc:Choice>
              <mc:Fallback>
                <p:oleObj name="Equation" r:id="rId2" imgW="107928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4838" y="1773238"/>
                        <a:ext cx="3122612" cy="630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6" name="Object 6"/>
          <p:cNvGraphicFramePr>
            <a:graphicFrameLocks noChangeAspect="1"/>
          </p:cNvGraphicFramePr>
          <p:nvPr/>
        </p:nvGraphicFramePr>
        <p:xfrm>
          <a:off x="323528" y="2852738"/>
          <a:ext cx="6207125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45960" imgH="215640" progId="Equation.3">
                  <p:embed/>
                </p:oleObj>
              </mc:Choice>
              <mc:Fallback>
                <p:oleObj name="Equation" r:id="rId4" imgW="214596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2852738"/>
                        <a:ext cx="6207125" cy="630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7" name="Object 7"/>
          <p:cNvGraphicFramePr>
            <a:graphicFrameLocks noChangeAspect="1"/>
          </p:cNvGraphicFramePr>
          <p:nvPr/>
        </p:nvGraphicFramePr>
        <p:xfrm>
          <a:off x="49213" y="3644900"/>
          <a:ext cx="686752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74560" imgH="342720" progId="Equation.3">
                  <p:embed/>
                </p:oleObj>
              </mc:Choice>
              <mc:Fallback>
                <p:oleObj name="Equation" r:id="rId6" imgW="2374560" imgH="3427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3" y="3644900"/>
                        <a:ext cx="6867525" cy="1000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8" name="Object 8"/>
          <p:cNvGraphicFramePr>
            <a:graphicFrameLocks noChangeAspect="1"/>
          </p:cNvGraphicFramePr>
          <p:nvPr/>
        </p:nvGraphicFramePr>
        <p:xfrm>
          <a:off x="65088" y="4837113"/>
          <a:ext cx="6980237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12720" imgH="215640" progId="Equation.3">
                  <p:embed/>
                </p:oleObj>
              </mc:Choice>
              <mc:Fallback>
                <p:oleObj name="Equation" r:id="rId8" imgW="2412720" imgH="215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8" y="4837113"/>
                        <a:ext cx="6980237" cy="630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27</a:t>
            </a:fld>
            <a:endParaRPr lang="en-GB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emilog paper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3390" t="6792" r="2542" b="3349"/>
          <a:stretch>
            <a:fillRect/>
          </a:stretch>
        </p:blipFill>
        <p:spPr>
          <a:xfrm>
            <a:off x="683568" y="704920"/>
            <a:ext cx="7992888" cy="5715928"/>
          </a:xfrm>
        </p:spPr>
      </p:pic>
      <p:sp>
        <p:nvSpPr>
          <p:cNvPr id="10" name="TextBox 9"/>
          <p:cNvSpPr txBox="1"/>
          <p:nvPr/>
        </p:nvSpPr>
        <p:spPr>
          <a:xfrm>
            <a:off x="333666" y="6105520"/>
            <a:ext cx="421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536" y="4305320"/>
            <a:ext cx="421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538" y="2413367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184" y="5882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16" y="2422269"/>
            <a:ext cx="492443" cy="2302875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Magnitude (decibels)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7669" y="6481506"/>
            <a:ext cx="2264659" cy="40011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Frequency (rad/sec)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938" y="6260855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0944" y="626695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4792" y="6266952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4992" y="6276832"/>
            <a:ext cx="458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5896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7822" y="6291904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0150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8230" y="628579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2198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2982" y="6309320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3910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1546" y="335089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480" y="5232968"/>
            <a:ext cx="421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-20</a:t>
            </a:r>
          </a:p>
        </p:txBody>
      </p:sp>
      <p:graphicFrame>
        <p:nvGraphicFramePr>
          <p:cNvPr id="57347" name="Object 3"/>
          <p:cNvGraphicFramePr>
            <a:graphicFrameLocks noChangeAspect="1"/>
          </p:cNvGraphicFramePr>
          <p:nvPr/>
        </p:nvGraphicFramePr>
        <p:xfrm>
          <a:off x="3567113" y="0"/>
          <a:ext cx="1724025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74360" imgH="355320" progId="Equation.3">
                  <p:embed/>
                </p:oleObj>
              </mc:Choice>
              <mc:Fallback>
                <p:oleObj name="Equation" r:id="rId3" imgW="774360" imgH="3553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7113" y="0"/>
                        <a:ext cx="1724025" cy="687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3" name="Straight Connector 32"/>
          <p:cNvCxnSpPr/>
          <p:nvPr/>
        </p:nvCxnSpPr>
        <p:spPr>
          <a:xfrm flipH="1" flipV="1">
            <a:off x="2020656" y="3510888"/>
            <a:ext cx="1111184" cy="26544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" name="Group 41"/>
          <p:cNvGrpSpPr/>
          <p:nvPr/>
        </p:nvGrpSpPr>
        <p:grpSpPr>
          <a:xfrm>
            <a:off x="796520" y="3446416"/>
            <a:ext cx="1594091" cy="369332"/>
            <a:chOff x="796520" y="3446416"/>
            <a:chExt cx="1594091" cy="369332"/>
          </a:xfrm>
        </p:grpSpPr>
        <p:cxnSp>
          <p:nvCxnSpPr>
            <p:cNvPr id="32" name="Straight Connector 31"/>
            <p:cNvCxnSpPr/>
            <p:nvPr/>
          </p:nvCxnSpPr>
          <p:spPr>
            <a:xfrm flipH="1">
              <a:off x="796520" y="3487360"/>
              <a:ext cx="1260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1808400" y="3446416"/>
              <a:ext cx="582211" cy="369332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r>
                <a:rPr lang="el-GR" b="1" dirty="0">
                  <a:solidFill>
                    <a:srgbClr val="FF0000"/>
                  </a:solidFill>
                </a:rPr>
                <a:t>ω</a:t>
              </a:r>
              <a:r>
                <a:rPr lang="en-GB" b="1" dirty="0">
                  <a:solidFill>
                    <a:srgbClr val="FF0000"/>
                  </a:solidFill>
                </a:rPr>
                <a:t>=3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2627784" y="4437112"/>
            <a:ext cx="1396664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-6 db/octave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9242" y="4859868"/>
            <a:ext cx="1574726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-20 db/decade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28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emilog paper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3390" t="6792" r="2542" b="3349"/>
          <a:stretch>
            <a:fillRect/>
          </a:stretch>
        </p:blipFill>
        <p:spPr>
          <a:xfrm>
            <a:off x="683568" y="704920"/>
            <a:ext cx="7992888" cy="5715928"/>
          </a:xfrm>
        </p:spPr>
      </p:pic>
      <p:sp>
        <p:nvSpPr>
          <p:cNvPr id="10" name="TextBox 9"/>
          <p:cNvSpPr txBox="1"/>
          <p:nvPr/>
        </p:nvSpPr>
        <p:spPr>
          <a:xfrm>
            <a:off x="333666" y="6105520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</a:t>
            </a:r>
            <a:r>
              <a:rPr lang="en-GB" sz="1400" dirty="0" err="1"/>
              <a:t>90</a:t>
            </a:r>
            <a:r>
              <a:rPr lang="en-GB" sz="1400" baseline="30000" dirty="0" err="1"/>
              <a:t>o</a:t>
            </a:r>
            <a:endParaRPr lang="en-GB" sz="1400" baseline="30000" dirty="0"/>
          </a:p>
        </p:txBody>
      </p:sp>
      <p:sp>
        <p:nvSpPr>
          <p:cNvPr id="11" name="TextBox 10"/>
          <p:cNvSpPr txBox="1"/>
          <p:nvPr/>
        </p:nvSpPr>
        <p:spPr>
          <a:xfrm>
            <a:off x="381888" y="4305320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-30</a:t>
            </a:r>
            <a:r>
              <a:rPr lang="en-GB" sz="1400" baseline="30000" dirty="0"/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650" y="2413367"/>
            <a:ext cx="429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/>
              <a:t>30</a:t>
            </a:r>
            <a:r>
              <a:rPr lang="en-GB" sz="1400" baseline="30000" dirty="0" err="1"/>
              <a:t>o</a:t>
            </a:r>
            <a:endParaRPr lang="en-GB" sz="1400" baseline="30000" dirty="0"/>
          </a:p>
        </p:txBody>
      </p:sp>
      <p:sp>
        <p:nvSpPr>
          <p:cNvPr id="13" name="TextBox 12"/>
          <p:cNvSpPr txBox="1"/>
          <p:nvPr/>
        </p:nvSpPr>
        <p:spPr>
          <a:xfrm>
            <a:off x="409184" y="588200"/>
            <a:ext cx="429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/>
              <a:t>90</a:t>
            </a:r>
            <a:r>
              <a:rPr lang="en-GB" sz="1400" baseline="30000" dirty="0" err="1"/>
              <a:t>o</a:t>
            </a:r>
            <a:endParaRPr lang="en-GB" sz="1400" baseline="30000" dirty="0"/>
          </a:p>
        </p:txBody>
      </p:sp>
      <p:sp>
        <p:nvSpPr>
          <p:cNvPr id="14" name="TextBox 13"/>
          <p:cNvSpPr txBox="1"/>
          <p:nvPr/>
        </p:nvSpPr>
        <p:spPr>
          <a:xfrm>
            <a:off x="25616" y="2780928"/>
            <a:ext cx="492443" cy="1754455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Phase (degrees)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7669" y="6481506"/>
            <a:ext cx="2264659" cy="40011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Frequency (rad/sec)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938" y="6260855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0944" y="626695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4792" y="6266952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4992" y="6276832"/>
            <a:ext cx="458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5896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7822" y="6291904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0150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8230" y="628579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2198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2982" y="6309320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3910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696" y="3350895"/>
            <a:ext cx="338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 err="1"/>
              <a:t>0</a:t>
            </a:r>
            <a:r>
              <a:rPr lang="en-GB" sz="1400" b="1" baseline="30000" dirty="0" err="1"/>
              <a:t>o</a:t>
            </a:r>
            <a:endParaRPr lang="en-GB" sz="1400" b="1" baseline="30000" dirty="0"/>
          </a:p>
        </p:txBody>
      </p:sp>
      <p:sp>
        <p:nvSpPr>
          <p:cNvPr id="32" name="TextBox 31"/>
          <p:cNvSpPr txBox="1"/>
          <p:nvPr/>
        </p:nvSpPr>
        <p:spPr>
          <a:xfrm>
            <a:off x="395536" y="4993431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</a:t>
            </a:r>
            <a:r>
              <a:rPr lang="en-GB" sz="1400" dirty="0" err="1"/>
              <a:t>45</a:t>
            </a:r>
            <a:r>
              <a:rPr lang="en-GB" sz="1400" baseline="30000" dirty="0" err="1"/>
              <a:t>o</a:t>
            </a:r>
            <a:endParaRPr lang="en-GB" sz="1400" baseline="30000" dirty="0"/>
          </a:p>
        </p:txBody>
      </p:sp>
      <p:sp>
        <p:nvSpPr>
          <p:cNvPr id="33" name="Flowchart: Connector 32"/>
          <p:cNvSpPr/>
          <p:nvPr/>
        </p:nvSpPr>
        <p:spPr>
          <a:xfrm>
            <a:off x="786640" y="3429000"/>
            <a:ext cx="72008" cy="7200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Flowchart: Connector 33"/>
          <p:cNvSpPr/>
          <p:nvPr/>
        </p:nvSpPr>
        <p:spPr>
          <a:xfrm>
            <a:off x="1907704" y="5085184"/>
            <a:ext cx="72008" cy="7200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lowchart: Connector 34"/>
          <p:cNvSpPr/>
          <p:nvPr/>
        </p:nvSpPr>
        <p:spPr>
          <a:xfrm>
            <a:off x="7740352" y="6093296"/>
            <a:ext cx="72008" cy="7200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29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52934"/>
          </a:xfrm>
        </p:spPr>
        <p:txBody>
          <a:bodyPr>
            <a:normAutofit fontScale="90000"/>
          </a:bodyPr>
          <a:lstStyle/>
          <a:p>
            <a:r>
              <a:rPr lang="en-GB" dirty="0"/>
              <a:t>Example#1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908721"/>
            <a:ext cx="8496944" cy="1080120"/>
          </a:xfrm>
        </p:spPr>
        <p:txBody>
          <a:bodyPr>
            <a:normAutofit/>
          </a:bodyPr>
          <a:lstStyle/>
          <a:p>
            <a:pPr algn="just"/>
            <a:r>
              <a:rPr lang="en-GB" sz="3000" dirty="0"/>
              <a:t>Draw the Bode Plot of following Transfer function.</a:t>
            </a:r>
          </a:p>
        </p:txBody>
      </p:sp>
      <p:graphicFrame>
        <p:nvGraphicFramePr>
          <p:cNvPr id="64514" name="Object 2"/>
          <p:cNvGraphicFramePr>
            <a:graphicFrameLocks noChangeAspect="1"/>
          </p:cNvGraphicFramePr>
          <p:nvPr/>
        </p:nvGraphicFramePr>
        <p:xfrm>
          <a:off x="2867837" y="1556792"/>
          <a:ext cx="2928299" cy="1080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080" imgH="355320" progId="Equation.3">
                  <p:embed/>
                </p:oleObj>
              </mc:Choice>
              <mc:Fallback>
                <p:oleObj name="Equation" r:id="rId2" imgW="838080" imgH="3553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7837" y="1556792"/>
                        <a:ext cx="2928299" cy="108051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395536" y="2780928"/>
            <a:ext cx="123783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1" dirty="0">
                <a:solidFill>
                  <a:srgbClr val="FF0000"/>
                </a:solidFill>
              </a:rPr>
              <a:t>Solution:</a:t>
            </a:r>
          </a:p>
        </p:txBody>
      </p:sp>
      <p:graphicFrame>
        <p:nvGraphicFramePr>
          <p:cNvPr id="64515" name="Object 3"/>
          <p:cNvGraphicFramePr>
            <a:graphicFrameLocks noChangeAspect="1"/>
          </p:cNvGraphicFramePr>
          <p:nvPr/>
        </p:nvGraphicFramePr>
        <p:xfrm>
          <a:off x="2987824" y="3212976"/>
          <a:ext cx="2906018" cy="982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355320" progId="Equation.3">
                  <p:embed/>
                </p:oleObj>
              </mc:Choice>
              <mc:Fallback>
                <p:oleObj name="Equation" r:id="rId4" imgW="914400" imgH="3553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3212976"/>
                        <a:ext cx="2906018" cy="9821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>
          <a:xfrm>
            <a:off x="107504" y="4221088"/>
            <a:ext cx="8496944" cy="2636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transfer function contains</a:t>
            </a:r>
          </a:p>
          <a:p>
            <a:pPr marL="971550" lvl="1" indent="-514350" algn="just">
              <a:spcBef>
                <a:spcPct val="20000"/>
              </a:spcBef>
              <a:buFont typeface="+mj-lt"/>
              <a:buAutoNum type="arabicPeriod"/>
            </a:pPr>
            <a:r>
              <a:rPr lang="en-GB" sz="3000" dirty="0"/>
              <a:t>Gain Factor (</a:t>
            </a:r>
            <a:r>
              <a:rPr lang="en-GB" sz="3000" dirty="0">
                <a:solidFill>
                  <a:srgbClr val="FF0000"/>
                </a:solidFill>
              </a:rPr>
              <a:t>K=2</a:t>
            </a:r>
            <a:r>
              <a:rPr lang="en-GB" sz="3000" dirty="0"/>
              <a:t>)</a:t>
            </a:r>
          </a:p>
          <a:p>
            <a:pPr marL="971550" lvl="1" indent="-514350" algn="just">
              <a:spcBef>
                <a:spcPct val="20000"/>
              </a:spcBef>
              <a:buFont typeface="+mj-lt"/>
              <a:buAutoNum type="arabicPeriod"/>
            </a:pPr>
            <a:r>
              <a:rPr kumimoji="0" lang="en-GB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Derivative Factor (</a:t>
            </a:r>
            <a:r>
              <a:rPr kumimoji="0" lang="en-GB" sz="3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GB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971550" lvl="1" indent="-514350" algn="just">
              <a:spcBef>
                <a:spcPct val="20000"/>
              </a:spcBef>
              <a:buFont typeface="+mj-lt"/>
              <a:buAutoNum type="arabicPeriod"/>
            </a:pPr>
            <a:r>
              <a:rPr kumimoji="0" lang="en-GB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GB" sz="30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</a:t>
            </a:r>
            <a:r>
              <a:rPr kumimoji="0" lang="en-GB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Order Factor in denominator (</a:t>
            </a:r>
            <a:r>
              <a:rPr kumimoji="0" lang="en-GB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0.1s+1</a:t>
            </a:r>
            <a:r>
              <a:rPr kumimoji="0" lang="en-GB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GB" sz="30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30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52934"/>
          </a:xfrm>
        </p:spPr>
        <p:txBody>
          <a:bodyPr>
            <a:normAutofit fontScale="90000"/>
          </a:bodyPr>
          <a:lstStyle/>
          <a:p>
            <a:r>
              <a:rPr lang="en-GB" dirty="0"/>
              <a:t>Example#1</a:t>
            </a:r>
          </a:p>
        </p:txBody>
      </p:sp>
      <p:graphicFrame>
        <p:nvGraphicFramePr>
          <p:cNvPr id="64515" name="Object 3"/>
          <p:cNvGraphicFramePr>
            <a:graphicFrameLocks noChangeAspect="1"/>
          </p:cNvGraphicFramePr>
          <p:nvPr/>
        </p:nvGraphicFramePr>
        <p:xfrm>
          <a:off x="2771800" y="692696"/>
          <a:ext cx="2906018" cy="982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355320" progId="Equation.3">
                  <p:embed/>
                </p:oleObj>
              </mc:Choice>
              <mc:Fallback>
                <p:oleObj name="Equation" r:id="rId2" imgW="914400" imgH="35532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692696"/>
                        <a:ext cx="2906018" cy="9821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>
          <a:xfrm>
            <a:off x="-324544" y="1556792"/>
            <a:ext cx="8496944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71550" lvl="1" indent="-514350" algn="just">
              <a:spcBef>
                <a:spcPct val="20000"/>
              </a:spcBef>
              <a:buFont typeface="+mj-lt"/>
              <a:buAutoNum type="arabicPeriod"/>
            </a:pPr>
            <a:r>
              <a:rPr lang="en-GB" sz="2400" dirty="0"/>
              <a:t>Gain Factor (</a:t>
            </a:r>
            <a:r>
              <a:rPr lang="en-GB" sz="2400" dirty="0">
                <a:solidFill>
                  <a:srgbClr val="FF0000"/>
                </a:solidFill>
              </a:rPr>
              <a:t>K=2</a:t>
            </a:r>
            <a:r>
              <a:rPr lang="en-GB" sz="2400" dirty="0"/>
              <a:t>)</a:t>
            </a:r>
          </a:p>
        </p:txBody>
      </p:sp>
      <p:graphicFrame>
        <p:nvGraphicFramePr>
          <p:cNvPr id="66563" name="Object 3"/>
          <p:cNvGraphicFramePr>
            <a:graphicFrameLocks noChangeAspect="1"/>
          </p:cNvGraphicFramePr>
          <p:nvPr/>
        </p:nvGraphicFramePr>
        <p:xfrm>
          <a:off x="2843808" y="2060848"/>
          <a:ext cx="4248472" cy="656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82680" imgH="228600" progId="Equation.3">
                  <p:embed/>
                </p:oleObj>
              </mc:Choice>
              <mc:Fallback>
                <p:oleObj name="Equation" r:id="rId4" imgW="128268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2060848"/>
                        <a:ext cx="4248472" cy="6562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>
          <a:xfrm>
            <a:off x="-324544" y="2708920"/>
            <a:ext cx="8496944" cy="120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71550" lvl="1" indent="-514350" algn="just">
              <a:spcBef>
                <a:spcPct val="20000"/>
              </a:spcBef>
              <a:buFont typeface="+mj-lt"/>
              <a:buAutoNum type="arabicPeriod" startAt="2"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Derivative Factor (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</p:txBody>
      </p:sp>
      <p:graphicFrame>
        <p:nvGraphicFramePr>
          <p:cNvPr id="66564" name="Object 4"/>
          <p:cNvGraphicFramePr>
            <a:graphicFrameLocks noChangeAspect="1"/>
          </p:cNvGraphicFramePr>
          <p:nvPr/>
        </p:nvGraphicFramePr>
        <p:xfrm>
          <a:off x="2303463" y="3265488"/>
          <a:ext cx="5513387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54000" imgH="228600" progId="Equation.3">
                  <p:embed/>
                </p:oleObj>
              </mc:Choice>
              <mc:Fallback>
                <p:oleObj name="Equation" r:id="rId6" imgW="185400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463" y="3265488"/>
                        <a:ext cx="5513387" cy="588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ontent Placeholder 2"/>
          <p:cNvSpPr txBox="1">
            <a:spLocks/>
          </p:cNvSpPr>
          <p:nvPr/>
        </p:nvSpPr>
        <p:spPr>
          <a:xfrm>
            <a:off x="-36512" y="3933056"/>
            <a:ext cx="8496944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71550" lvl="1" indent="-514350" algn="just">
              <a:spcBef>
                <a:spcPct val="20000"/>
              </a:spcBef>
              <a:buFont typeface="+mj-lt"/>
              <a:buAutoNum type="arabicPeriod" startAt="3"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GB" sz="24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Order Factor in denominator (</a:t>
            </a:r>
            <a:r>
              <a:rPr kumimoji="0" lang="en-GB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0.1s+1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</p:txBody>
      </p:sp>
      <p:graphicFrame>
        <p:nvGraphicFramePr>
          <p:cNvPr id="66565" name="Object 5"/>
          <p:cNvGraphicFramePr>
            <a:graphicFrameLocks noChangeAspect="1"/>
          </p:cNvGraphicFramePr>
          <p:nvPr/>
        </p:nvGraphicFramePr>
        <p:xfrm>
          <a:off x="814388" y="4319588"/>
          <a:ext cx="74041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89040" imgH="419040" progId="Equation.3">
                  <p:embed/>
                </p:oleObj>
              </mc:Choice>
              <mc:Fallback>
                <p:oleObj name="Equation" r:id="rId8" imgW="2489040" imgH="419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388" y="4319588"/>
                        <a:ext cx="7404100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6" name="Object 6"/>
          <p:cNvGraphicFramePr>
            <a:graphicFrameLocks noChangeAspect="1"/>
          </p:cNvGraphicFramePr>
          <p:nvPr/>
        </p:nvGraphicFramePr>
        <p:xfrm>
          <a:off x="179512" y="5471813"/>
          <a:ext cx="9095680" cy="100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263760" imgH="419040" progId="Equation.3">
                  <p:embed/>
                </p:oleObj>
              </mc:Choice>
              <mc:Fallback>
                <p:oleObj name="Equation" r:id="rId10" imgW="3263760" imgH="419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5471813"/>
                        <a:ext cx="9095680" cy="1009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31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emilog paper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3390" t="6792" r="2542" b="3349"/>
          <a:stretch>
            <a:fillRect/>
          </a:stretch>
        </p:blipFill>
        <p:spPr>
          <a:xfrm>
            <a:off x="683568" y="704920"/>
            <a:ext cx="7992888" cy="5715928"/>
          </a:xfrm>
        </p:spPr>
      </p:pic>
      <p:sp>
        <p:nvSpPr>
          <p:cNvPr id="10" name="TextBox 9"/>
          <p:cNvSpPr txBox="1"/>
          <p:nvPr/>
        </p:nvSpPr>
        <p:spPr>
          <a:xfrm>
            <a:off x="333666" y="6105520"/>
            <a:ext cx="421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536" y="4305320"/>
            <a:ext cx="421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538" y="2413367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184" y="5882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16" y="2422269"/>
            <a:ext cx="492443" cy="2302875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Magnitude (decibels)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7669" y="6481506"/>
            <a:ext cx="2264659" cy="40011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Frequency (rad/sec)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938" y="6260855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0944" y="626695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4792" y="6266952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4992" y="6276832"/>
            <a:ext cx="458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5896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7822" y="6291904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0150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8230" y="628579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2198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2982" y="6309320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3910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1546" y="335089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480" y="5232968"/>
            <a:ext cx="421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-20</a:t>
            </a:r>
          </a:p>
        </p:txBody>
      </p:sp>
      <p:graphicFrame>
        <p:nvGraphicFramePr>
          <p:cNvPr id="57347" name="Object 3"/>
          <p:cNvGraphicFramePr>
            <a:graphicFrameLocks noChangeAspect="1"/>
          </p:cNvGraphicFramePr>
          <p:nvPr/>
        </p:nvGraphicFramePr>
        <p:xfrm>
          <a:off x="3497263" y="0"/>
          <a:ext cx="1865312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38080" imgH="355320" progId="Equation.3">
                  <p:embed/>
                </p:oleObj>
              </mc:Choice>
              <mc:Fallback>
                <p:oleObj name="Equation" r:id="rId3" imgW="838080" imgH="3553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7263" y="0"/>
                        <a:ext cx="1865312" cy="687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3" name="Straight Connector 32"/>
          <p:cNvCxnSpPr/>
          <p:nvPr/>
        </p:nvCxnSpPr>
        <p:spPr>
          <a:xfrm flipH="1">
            <a:off x="803798" y="1340768"/>
            <a:ext cx="1679970" cy="405973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" name="Group 41"/>
          <p:cNvGrpSpPr/>
          <p:nvPr/>
        </p:nvGrpSpPr>
        <p:grpSpPr>
          <a:xfrm>
            <a:off x="810167" y="2924944"/>
            <a:ext cx="7256047" cy="369332"/>
            <a:chOff x="796520" y="3446416"/>
            <a:chExt cx="1260000" cy="369332"/>
          </a:xfrm>
        </p:grpSpPr>
        <p:cxnSp>
          <p:nvCxnSpPr>
            <p:cNvPr id="32" name="Straight Connector 31"/>
            <p:cNvCxnSpPr/>
            <p:nvPr/>
          </p:nvCxnSpPr>
          <p:spPr>
            <a:xfrm flipH="1">
              <a:off x="796520" y="3487360"/>
              <a:ext cx="1260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1399740" y="3446416"/>
              <a:ext cx="94419" cy="369332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K=2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2339752" y="1916832"/>
            <a:ext cx="1504194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20 db/decade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97274" y="4859868"/>
            <a:ext cx="1574726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-20 db/decade</a:t>
            </a:r>
          </a:p>
        </p:txBody>
      </p:sp>
      <p:cxnSp>
        <p:nvCxnSpPr>
          <p:cNvPr id="38" name="Straight Connector 37"/>
          <p:cNvCxnSpPr/>
          <p:nvPr/>
        </p:nvCxnSpPr>
        <p:spPr>
          <a:xfrm flipH="1">
            <a:off x="799633" y="3501008"/>
            <a:ext cx="1548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2353400" y="3487360"/>
            <a:ext cx="1066472" cy="26779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32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emilog paper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3390" t="6792" r="2542" b="3349"/>
          <a:stretch>
            <a:fillRect/>
          </a:stretch>
        </p:blipFill>
        <p:spPr>
          <a:xfrm>
            <a:off x="683568" y="704920"/>
            <a:ext cx="7992888" cy="5715928"/>
          </a:xfrm>
        </p:spPr>
      </p:pic>
      <p:sp>
        <p:nvSpPr>
          <p:cNvPr id="10" name="TextBox 9"/>
          <p:cNvSpPr txBox="1"/>
          <p:nvPr/>
        </p:nvSpPr>
        <p:spPr>
          <a:xfrm>
            <a:off x="333666" y="6105520"/>
            <a:ext cx="421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536" y="4305320"/>
            <a:ext cx="421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538" y="2413367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184" y="5882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16" y="2422269"/>
            <a:ext cx="492443" cy="2302875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Magnitude (decibels)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7669" y="6481506"/>
            <a:ext cx="2264659" cy="40011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Frequency (rad/sec)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938" y="6260855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0944" y="626695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4792" y="6266952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4992" y="6276832"/>
            <a:ext cx="458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5896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7822" y="6291904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0150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8230" y="628579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2198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2982" y="6309320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3910" y="6295672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1546" y="335089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480" y="5232968"/>
            <a:ext cx="421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-20</a:t>
            </a:r>
          </a:p>
        </p:txBody>
      </p:sp>
      <p:graphicFrame>
        <p:nvGraphicFramePr>
          <p:cNvPr id="57347" name="Object 3"/>
          <p:cNvGraphicFramePr>
            <a:graphicFrameLocks noChangeAspect="1"/>
          </p:cNvGraphicFramePr>
          <p:nvPr/>
        </p:nvGraphicFramePr>
        <p:xfrm>
          <a:off x="3497263" y="0"/>
          <a:ext cx="1865312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38080" imgH="355320" progId="Equation.3">
                  <p:embed/>
                </p:oleObj>
              </mc:Choice>
              <mc:Fallback>
                <p:oleObj name="Equation" r:id="rId3" imgW="838080" imgH="35532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7263" y="0"/>
                        <a:ext cx="1865312" cy="687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3" name="Straight Connector 32"/>
          <p:cNvCxnSpPr/>
          <p:nvPr/>
        </p:nvCxnSpPr>
        <p:spPr>
          <a:xfrm flipH="1">
            <a:off x="803798" y="764704"/>
            <a:ext cx="1679970" cy="405973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547664" y="3140968"/>
            <a:ext cx="1504194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20 db/decade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5776" y="980728"/>
            <a:ext cx="295677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-20 db/</a:t>
            </a:r>
            <a:r>
              <a:rPr lang="en-GB" b="1" dirty="0" err="1">
                <a:solidFill>
                  <a:srgbClr val="FF0000"/>
                </a:solidFill>
              </a:rPr>
              <a:t>decade+20db</a:t>
            </a:r>
            <a:r>
              <a:rPr lang="en-GB" b="1" dirty="0">
                <a:solidFill>
                  <a:srgbClr val="FF0000"/>
                </a:solidFill>
              </a:rPr>
              <a:t>/decade</a:t>
            </a:r>
          </a:p>
        </p:txBody>
      </p:sp>
      <p:cxnSp>
        <p:nvCxnSpPr>
          <p:cNvPr id="42" name="Straight Connector 41"/>
          <p:cNvCxnSpPr/>
          <p:nvPr/>
        </p:nvCxnSpPr>
        <p:spPr>
          <a:xfrm>
            <a:off x="2483768" y="778352"/>
            <a:ext cx="28803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33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52934"/>
          </a:xfrm>
        </p:spPr>
        <p:txBody>
          <a:bodyPr>
            <a:normAutofit fontScale="90000"/>
          </a:bodyPr>
          <a:lstStyle/>
          <a:p>
            <a:r>
              <a:rPr lang="en-GB" dirty="0"/>
              <a:t>Example#1</a:t>
            </a:r>
          </a:p>
        </p:txBody>
      </p:sp>
      <p:graphicFrame>
        <p:nvGraphicFramePr>
          <p:cNvPr id="64515" name="Object 3"/>
          <p:cNvGraphicFramePr>
            <a:graphicFrameLocks noChangeAspect="1"/>
          </p:cNvGraphicFramePr>
          <p:nvPr/>
        </p:nvGraphicFramePr>
        <p:xfrm>
          <a:off x="2449513" y="801688"/>
          <a:ext cx="3552825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17440" imgH="380880" progId="Equation.3">
                  <p:embed/>
                </p:oleObj>
              </mc:Choice>
              <mc:Fallback>
                <p:oleObj name="Equation" r:id="rId2" imgW="1117440" imgH="3808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9513" y="801688"/>
                        <a:ext cx="3552825" cy="1052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0" name="Object 3"/>
          <p:cNvGraphicFramePr>
            <a:graphicFrameLocks noChangeAspect="1"/>
          </p:cNvGraphicFramePr>
          <p:nvPr/>
        </p:nvGraphicFramePr>
        <p:xfrm>
          <a:off x="1068388" y="2162175"/>
          <a:ext cx="609600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17360" imgH="203040" progId="Equation.3">
                  <p:embed/>
                </p:oleObj>
              </mc:Choice>
              <mc:Fallback>
                <p:oleObj name="Equation" r:id="rId4" imgW="191736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8388" y="2162175"/>
                        <a:ext cx="6096000" cy="560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1" name="Object 3"/>
          <p:cNvGraphicFramePr>
            <a:graphicFrameLocks noChangeAspect="1"/>
          </p:cNvGraphicFramePr>
          <p:nvPr/>
        </p:nvGraphicFramePr>
        <p:xfrm>
          <a:off x="539552" y="2787650"/>
          <a:ext cx="795337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01640" imgH="355320" progId="Equation.3">
                  <p:embed/>
                </p:oleObj>
              </mc:Choice>
              <mc:Fallback>
                <p:oleObj name="Equation" r:id="rId6" imgW="2501640" imgH="3553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2787650"/>
                        <a:ext cx="7953375" cy="981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2" name="Object 3"/>
          <p:cNvGraphicFramePr>
            <a:graphicFrameLocks noChangeAspect="1"/>
          </p:cNvGraphicFramePr>
          <p:nvPr/>
        </p:nvGraphicFramePr>
        <p:xfrm>
          <a:off x="2033588" y="4008438"/>
          <a:ext cx="496570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62040" imgH="215640" progId="Equation.3">
                  <p:embed/>
                </p:oleObj>
              </mc:Choice>
              <mc:Fallback>
                <p:oleObj name="Equation" r:id="rId8" imgW="1562040" imgH="215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588" y="4008438"/>
                        <a:ext cx="4965700" cy="595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44019" y="5178896"/>
          <a:ext cx="8892477" cy="88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4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84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4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84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84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84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84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840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840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0840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l-GR" sz="2400" b="1" dirty="0"/>
                        <a:t>ω</a:t>
                      </a:r>
                      <a:endParaRPr lang="en-GB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∞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l-GR" sz="2200" b="1" dirty="0"/>
                        <a:t>Φ</a:t>
                      </a:r>
                      <a:r>
                        <a:rPr lang="en-GB" sz="2200" b="1" dirty="0"/>
                        <a:t>(</a:t>
                      </a:r>
                      <a:r>
                        <a:rPr lang="el-GR" sz="2200" b="1" dirty="0"/>
                        <a:t>ω</a:t>
                      </a:r>
                      <a:r>
                        <a:rPr lang="en-GB" sz="2200" b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34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5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5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emilog paper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3390" t="6792" r="2542" b="3349"/>
          <a:stretch>
            <a:fillRect/>
          </a:stretch>
        </p:blipFill>
        <p:spPr>
          <a:xfrm>
            <a:off x="683568" y="800456"/>
            <a:ext cx="7992888" cy="5715928"/>
          </a:xfrm>
        </p:spPr>
      </p:pic>
      <p:sp>
        <p:nvSpPr>
          <p:cNvPr id="10" name="TextBox 9"/>
          <p:cNvSpPr txBox="1"/>
          <p:nvPr/>
        </p:nvSpPr>
        <p:spPr>
          <a:xfrm>
            <a:off x="333666" y="6201056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</a:t>
            </a:r>
            <a:r>
              <a:rPr lang="en-GB" sz="1400" dirty="0" err="1"/>
              <a:t>90</a:t>
            </a:r>
            <a:r>
              <a:rPr lang="en-GB" sz="1400" baseline="30000" dirty="0" err="1"/>
              <a:t>o</a:t>
            </a:r>
            <a:endParaRPr lang="en-GB" sz="1400" baseline="30000" dirty="0"/>
          </a:p>
        </p:txBody>
      </p:sp>
      <p:sp>
        <p:nvSpPr>
          <p:cNvPr id="11" name="TextBox 10"/>
          <p:cNvSpPr txBox="1"/>
          <p:nvPr/>
        </p:nvSpPr>
        <p:spPr>
          <a:xfrm>
            <a:off x="381888" y="4400856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-30</a:t>
            </a:r>
            <a:r>
              <a:rPr lang="en-GB" sz="1400" baseline="30000" dirty="0"/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650" y="2508903"/>
            <a:ext cx="429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/>
              <a:t>30</a:t>
            </a:r>
            <a:r>
              <a:rPr lang="en-GB" sz="1400" baseline="30000" dirty="0" err="1"/>
              <a:t>o</a:t>
            </a:r>
            <a:endParaRPr lang="en-GB" sz="1400" baseline="30000" dirty="0"/>
          </a:p>
        </p:txBody>
      </p:sp>
      <p:sp>
        <p:nvSpPr>
          <p:cNvPr id="13" name="TextBox 12"/>
          <p:cNvSpPr txBox="1"/>
          <p:nvPr/>
        </p:nvSpPr>
        <p:spPr>
          <a:xfrm>
            <a:off x="409184" y="683736"/>
            <a:ext cx="429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/>
              <a:t>90</a:t>
            </a:r>
            <a:r>
              <a:rPr lang="en-GB" sz="1400" baseline="30000" dirty="0" err="1"/>
              <a:t>o</a:t>
            </a:r>
            <a:endParaRPr lang="en-GB" sz="1400" baseline="30000" dirty="0"/>
          </a:p>
        </p:txBody>
      </p:sp>
      <p:sp>
        <p:nvSpPr>
          <p:cNvPr id="14" name="TextBox 13"/>
          <p:cNvSpPr txBox="1"/>
          <p:nvPr/>
        </p:nvSpPr>
        <p:spPr>
          <a:xfrm>
            <a:off x="25616" y="2876464"/>
            <a:ext cx="492443" cy="1754455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Phase (degrees)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7669" y="6549746"/>
            <a:ext cx="2264659" cy="40011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Frequency (rad/sec)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938" y="6356391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0944" y="636248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4792" y="636248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4992" y="6372368"/>
            <a:ext cx="458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5896" y="6391208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7822" y="6387440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0150" y="6391208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8230" y="6381328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2198" y="6391208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2982" y="6404856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3910" y="6391208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</a:t>
            </a:r>
            <a:r>
              <a:rPr lang="en-GB" sz="1400" baseline="30000" dirty="0"/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696" y="3446431"/>
            <a:ext cx="338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 err="1"/>
              <a:t>0</a:t>
            </a:r>
            <a:r>
              <a:rPr lang="en-GB" sz="1400" b="1" baseline="30000" dirty="0" err="1"/>
              <a:t>o</a:t>
            </a:r>
            <a:endParaRPr lang="en-GB" sz="1400" b="1" baseline="30000" dirty="0"/>
          </a:p>
        </p:txBody>
      </p:sp>
      <p:sp>
        <p:nvSpPr>
          <p:cNvPr id="32" name="TextBox 31"/>
          <p:cNvSpPr txBox="1"/>
          <p:nvPr/>
        </p:nvSpPr>
        <p:spPr>
          <a:xfrm>
            <a:off x="395536" y="5088967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-</a:t>
            </a:r>
            <a:r>
              <a:rPr lang="en-GB" sz="1400" dirty="0" err="1"/>
              <a:t>45</a:t>
            </a:r>
            <a:r>
              <a:rPr lang="en-GB" sz="1400" baseline="30000" dirty="0" err="1"/>
              <a:t>o</a:t>
            </a:r>
            <a:endParaRPr lang="en-GB" sz="1400" baseline="30000" dirty="0"/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39553" y="14600"/>
          <a:ext cx="8136909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97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97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97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97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97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97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97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3971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74340">
                <a:tc>
                  <a:txBody>
                    <a:bodyPr/>
                    <a:lstStyle/>
                    <a:p>
                      <a:pPr algn="ctr"/>
                      <a:r>
                        <a:rPr lang="el-GR" sz="1600" b="0" dirty="0"/>
                        <a:t>ω</a:t>
                      </a:r>
                      <a:endParaRPr lang="en-GB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/>
                        <a:t>∞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40">
                <a:tc>
                  <a:txBody>
                    <a:bodyPr/>
                    <a:lstStyle/>
                    <a:p>
                      <a:pPr algn="ctr"/>
                      <a:r>
                        <a:rPr lang="el-GR" sz="1600" b="0" dirty="0"/>
                        <a:t>Φ</a:t>
                      </a:r>
                      <a:r>
                        <a:rPr lang="en-GB" sz="1600" b="0" dirty="0"/>
                        <a:t>(</a:t>
                      </a:r>
                      <a:r>
                        <a:rPr lang="el-GR" sz="1600" b="0" dirty="0"/>
                        <a:t>ω</a:t>
                      </a:r>
                      <a:r>
                        <a:rPr lang="en-GB" sz="1600" b="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/>
                        <a:t>89.4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/>
                        <a:t>84.2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/>
                        <a:t>63.4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/>
                        <a:t>26.5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/>
                        <a:t>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4" name="Group 43"/>
          <p:cNvGrpSpPr/>
          <p:nvPr/>
        </p:nvGrpSpPr>
        <p:grpSpPr>
          <a:xfrm>
            <a:off x="759344" y="840480"/>
            <a:ext cx="3191880" cy="2799624"/>
            <a:chOff x="759344" y="840480"/>
            <a:chExt cx="3191880" cy="2799624"/>
          </a:xfrm>
        </p:grpSpPr>
        <p:sp>
          <p:nvSpPr>
            <p:cNvPr id="33" name="Flowchart: Connector 32"/>
            <p:cNvSpPr/>
            <p:nvPr/>
          </p:nvSpPr>
          <p:spPr>
            <a:xfrm>
              <a:off x="759344" y="840480"/>
              <a:ext cx="72008" cy="7200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Flowchart: Connector 33"/>
            <p:cNvSpPr/>
            <p:nvPr/>
          </p:nvSpPr>
          <p:spPr>
            <a:xfrm>
              <a:off x="1547664" y="908720"/>
              <a:ext cx="72008" cy="7200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Flowchart: Connector 35"/>
            <p:cNvSpPr/>
            <p:nvPr/>
          </p:nvSpPr>
          <p:spPr>
            <a:xfrm>
              <a:off x="2157136" y="1673512"/>
              <a:ext cx="72008" cy="7200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Flowchart: Connector 36"/>
            <p:cNvSpPr/>
            <p:nvPr/>
          </p:nvSpPr>
          <p:spPr>
            <a:xfrm>
              <a:off x="2339752" y="1962392"/>
              <a:ext cx="72008" cy="7200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Flowchart: Connector 37"/>
            <p:cNvSpPr/>
            <p:nvPr/>
          </p:nvSpPr>
          <p:spPr>
            <a:xfrm>
              <a:off x="2555776" y="2744672"/>
              <a:ext cx="72008" cy="7200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Flowchart: Connector 38"/>
            <p:cNvSpPr/>
            <p:nvPr/>
          </p:nvSpPr>
          <p:spPr>
            <a:xfrm>
              <a:off x="2799096" y="3374752"/>
              <a:ext cx="72008" cy="7200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Flowchart: Connector 39"/>
            <p:cNvSpPr/>
            <p:nvPr/>
          </p:nvSpPr>
          <p:spPr>
            <a:xfrm>
              <a:off x="3006088" y="3472560"/>
              <a:ext cx="72008" cy="7200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Flowchart: Connector 40"/>
            <p:cNvSpPr/>
            <p:nvPr/>
          </p:nvSpPr>
          <p:spPr>
            <a:xfrm>
              <a:off x="3131840" y="3532072"/>
              <a:ext cx="72008" cy="7200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Flowchart: Connector 41"/>
            <p:cNvSpPr/>
            <p:nvPr/>
          </p:nvSpPr>
          <p:spPr>
            <a:xfrm>
              <a:off x="3879216" y="3568096"/>
              <a:ext cx="72008" cy="7200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3" name="Freeform 42"/>
          <p:cNvSpPr/>
          <p:nvPr/>
        </p:nvSpPr>
        <p:spPr>
          <a:xfrm>
            <a:off x="805218" y="887104"/>
            <a:ext cx="7506269" cy="2747750"/>
          </a:xfrm>
          <a:custGeom>
            <a:avLst/>
            <a:gdLst>
              <a:gd name="connsiteX0" fmla="*/ 0 w 7506269"/>
              <a:gd name="connsiteY0" fmla="*/ 0 h 2747750"/>
              <a:gd name="connsiteX1" fmla="*/ 504967 w 7506269"/>
              <a:gd name="connsiteY1" fmla="*/ 27296 h 2747750"/>
              <a:gd name="connsiteX2" fmla="*/ 764275 w 7506269"/>
              <a:gd name="connsiteY2" fmla="*/ 81887 h 2747750"/>
              <a:gd name="connsiteX3" fmla="*/ 928048 w 7506269"/>
              <a:gd name="connsiteY3" fmla="*/ 272956 h 2747750"/>
              <a:gd name="connsiteX4" fmla="*/ 1241946 w 7506269"/>
              <a:gd name="connsiteY4" fmla="*/ 655093 h 2747750"/>
              <a:gd name="connsiteX5" fmla="*/ 1528549 w 7506269"/>
              <a:gd name="connsiteY5" fmla="*/ 1050878 h 2747750"/>
              <a:gd name="connsiteX6" fmla="*/ 1787857 w 7506269"/>
              <a:gd name="connsiteY6" fmla="*/ 1842448 h 2747750"/>
              <a:gd name="connsiteX7" fmla="*/ 2088107 w 7506269"/>
              <a:gd name="connsiteY7" fmla="*/ 2593075 h 2747750"/>
              <a:gd name="connsiteX8" fmla="*/ 3111689 w 7506269"/>
              <a:gd name="connsiteY8" fmla="*/ 2729553 h 2747750"/>
              <a:gd name="connsiteX9" fmla="*/ 7506269 w 7506269"/>
              <a:gd name="connsiteY9" fmla="*/ 2702257 h 274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506269" h="2747750">
                <a:moveTo>
                  <a:pt x="0" y="0"/>
                </a:moveTo>
                <a:cubicBezTo>
                  <a:pt x="188794" y="6824"/>
                  <a:pt x="377588" y="13648"/>
                  <a:pt x="504967" y="27296"/>
                </a:cubicBezTo>
                <a:cubicBezTo>
                  <a:pt x="632346" y="40944"/>
                  <a:pt x="693762" y="40944"/>
                  <a:pt x="764275" y="81887"/>
                </a:cubicBezTo>
                <a:cubicBezTo>
                  <a:pt x="834789" y="122830"/>
                  <a:pt x="848436" y="177422"/>
                  <a:pt x="928048" y="272956"/>
                </a:cubicBezTo>
                <a:cubicBezTo>
                  <a:pt x="1007660" y="368490"/>
                  <a:pt x="1141863" y="525439"/>
                  <a:pt x="1241946" y="655093"/>
                </a:cubicBezTo>
                <a:cubicBezTo>
                  <a:pt x="1342029" y="784747"/>
                  <a:pt x="1437564" y="852986"/>
                  <a:pt x="1528549" y="1050878"/>
                </a:cubicBezTo>
                <a:cubicBezTo>
                  <a:pt x="1619534" y="1248770"/>
                  <a:pt x="1694597" y="1585415"/>
                  <a:pt x="1787857" y="1842448"/>
                </a:cubicBezTo>
                <a:cubicBezTo>
                  <a:pt x="1881117" y="2099481"/>
                  <a:pt x="1867468" y="2445224"/>
                  <a:pt x="2088107" y="2593075"/>
                </a:cubicBezTo>
                <a:cubicBezTo>
                  <a:pt x="2308746" y="2740926"/>
                  <a:pt x="2208662" y="2711356"/>
                  <a:pt x="3111689" y="2729553"/>
                </a:cubicBezTo>
                <a:cubicBezTo>
                  <a:pt x="4014716" y="2747750"/>
                  <a:pt x="5760492" y="2725003"/>
                  <a:pt x="7506269" y="2702257"/>
                </a:cubicBezTo>
              </a:path>
            </a:pathLst>
          </a:cu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35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 cstate="print"/>
          <a:srcRect l="8151" t="6721" r="8151"/>
          <a:stretch>
            <a:fillRect/>
          </a:stretch>
        </p:blipFill>
        <p:spPr bwMode="auto">
          <a:xfrm>
            <a:off x="467544" y="44624"/>
            <a:ext cx="8136904" cy="68011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7" name="Group 6"/>
          <p:cNvGrpSpPr/>
          <p:nvPr/>
        </p:nvGrpSpPr>
        <p:grpSpPr>
          <a:xfrm>
            <a:off x="1187624" y="634336"/>
            <a:ext cx="7272808" cy="2304256"/>
            <a:chOff x="1187624" y="634336"/>
            <a:chExt cx="7272808" cy="2304256"/>
          </a:xfrm>
        </p:grpSpPr>
        <p:cxnSp>
          <p:nvCxnSpPr>
            <p:cNvPr id="4" name="Straight Connector 3"/>
            <p:cNvCxnSpPr/>
            <p:nvPr/>
          </p:nvCxnSpPr>
          <p:spPr>
            <a:xfrm flipV="1">
              <a:off x="1187624" y="634336"/>
              <a:ext cx="3672408" cy="230425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4860032" y="647984"/>
              <a:ext cx="3600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36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52934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Example#2</a:t>
            </a:r>
            <a:endParaRPr lang="en-GB" dirty="0"/>
          </a:p>
        </p:txBody>
      </p:sp>
      <p:graphicFrame>
        <p:nvGraphicFramePr>
          <p:cNvPr id="64515" name="Object 3"/>
          <p:cNvGraphicFramePr>
            <a:graphicFrameLocks noChangeAspect="1"/>
          </p:cNvGraphicFramePr>
          <p:nvPr/>
        </p:nvGraphicFramePr>
        <p:xfrm>
          <a:off x="2065338" y="692696"/>
          <a:ext cx="4319587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58640" imgH="355320" progId="Equation.3">
                  <p:embed/>
                </p:oleObj>
              </mc:Choice>
              <mc:Fallback>
                <p:oleObj name="Equation" r:id="rId2" imgW="1358640" imgH="35532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338" y="692696"/>
                        <a:ext cx="4319587" cy="982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/>
        </p:nvSpPr>
        <p:spPr>
          <a:xfrm>
            <a:off x="323528" y="1988840"/>
            <a:ext cx="123783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1" dirty="0">
                <a:solidFill>
                  <a:srgbClr val="FF0000"/>
                </a:solidFill>
              </a:rPr>
              <a:t>Solution:</a:t>
            </a:r>
          </a:p>
        </p:txBody>
      </p:sp>
      <p:graphicFrame>
        <p:nvGraphicFramePr>
          <p:cNvPr id="70663" name="Object 3"/>
          <p:cNvGraphicFramePr>
            <a:graphicFrameLocks noChangeAspect="1"/>
          </p:cNvGraphicFramePr>
          <p:nvPr/>
        </p:nvGraphicFramePr>
        <p:xfrm>
          <a:off x="1854200" y="2492375"/>
          <a:ext cx="5005388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74640" imgH="355320" progId="Equation.3">
                  <p:embed/>
                </p:oleObj>
              </mc:Choice>
              <mc:Fallback>
                <p:oleObj name="Equation" r:id="rId4" imgW="1574640" imgH="3553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200" y="2492375"/>
                        <a:ext cx="5005388" cy="982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37</a:t>
            </a:fld>
            <a:endParaRPr lang="en-GB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/>
          <a:lstStyle/>
          <a:p>
            <a:r>
              <a:rPr lang="en-GB" dirty="0"/>
              <a:t>Basic Factors of a Transfer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6512" y="1052736"/>
            <a:ext cx="8229600" cy="4525963"/>
          </a:xfrm>
        </p:spPr>
        <p:txBody>
          <a:bodyPr/>
          <a:lstStyle/>
          <a:p>
            <a:pPr marL="971550" lvl="1" indent="-514350" algn="just">
              <a:buFont typeface="+mj-lt"/>
              <a:buAutoNum type="arabicPeriod" startAt="4"/>
            </a:pPr>
            <a:r>
              <a:rPr lang="en-GB" dirty="0"/>
              <a:t>Quadratic Factors  </a:t>
            </a: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>
              <a:buFont typeface="+mj-lt"/>
              <a:buAutoNum type="arabicPeriod" startAt="4"/>
            </a:pP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>
              <a:buFont typeface="+mj-lt"/>
              <a:buAutoNum type="arabicPeriod" startAt="4"/>
            </a:pP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>
              <a:buFont typeface="+mj-lt"/>
              <a:buAutoNum type="arabicPeriod" startAt="4"/>
            </a:pP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>
              <a:buFont typeface="+mj-lt"/>
              <a:buAutoNum type="arabicPeriod" startAt="4"/>
            </a:pP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>
              <a:buFont typeface="+mj-lt"/>
              <a:buAutoNum type="arabicPeriod" startAt="4"/>
            </a:pPr>
            <a:endParaRPr lang="en-GB" b="1" baseline="30000" dirty="0">
              <a:solidFill>
                <a:srgbClr val="FF0000"/>
              </a:solidFill>
            </a:endParaRPr>
          </a:p>
          <a:p>
            <a:pPr marL="971550" lvl="1" indent="-514350" algn="just"/>
            <a:r>
              <a:rPr lang="en-GB" dirty="0"/>
              <a:t>For Low frequencies </a:t>
            </a:r>
            <a:r>
              <a:rPr lang="el-GR" dirty="0"/>
              <a:t>ω</a:t>
            </a:r>
            <a:r>
              <a:rPr lang="en-GB" dirty="0"/>
              <a:t>&lt;&lt;</a:t>
            </a:r>
            <a:r>
              <a:rPr lang="el-GR" dirty="0"/>
              <a:t> ω</a:t>
            </a:r>
            <a:r>
              <a:rPr lang="en-GB" baseline="-25000" dirty="0"/>
              <a:t>n</a:t>
            </a:r>
          </a:p>
          <a:p>
            <a:pPr marL="971550" lvl="1" indent="-514350" algn="just"/>
            <a:endParaRPr lang="en-GB" dirty="0"/>
          </a:p>
          <a:p>
            <a:pPr marL="971550" lvl="1" indent="-514350" algn="just"/>
            <a:endParaRPr lang="en-GB" dirty="0"/>
          </a:p>
          <a:p>
            <a:pPr marL="971550" lvl="1" indent="-514350" algn="just"/>
            <a:r>
              <a:rPr lang="en-GB" dirty="0"/>
              <a:t>For high frequencies </a:t>
            </a:r>
            <a:r>
              <a:rPr lang="el-GR" dirty="0"/>
              <a:t>ω</a:t>
            </a:r>
            <a:r>
              <a:rPr lang="en-GB" dirty="0"/>
              <a:t>&gt;&gt;</a:t>
            </a:r>
            <a:r>
              <a:rPr lang="el-GR" dirty="0"/>
              <a:t> ω</a:t>
            </a:r>
            <a:r>
              <a:rPr lang="en-GB" baseline="-25000" dirty="0"/>
              <a:t>n</a:t>
            </a:r>
            <a:endParaRPr lang="en-GB" dirty="0"/>
          </a:p>
        </p:txBody>
      </p:sp>
      <p:graphicFrame>
        <p:nvGraphicFramePr>
          <p:cNvPr id="55298" name="Object 3"/>
          <p:cNvGraphicFramePr>
            <a:graphicFrameLocks noChangeAspect="1"/>
          </p:cNvGraphicFramePr>
          <p:nvPr/>
        </p:nvGraphicFramePr>
        <p:xfrm>
          <a:off x="1331640" y="1772816"/>
          <a:ext cx="6264696" cy="1264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457200" progId="Equation.3">
                  <p:embed/>
                </p:oleObj>
              </mc:Choice>
              <mc:Fallback>
                <p:oleObj name="Equation" r:id="rId2" imgW="196848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1772816"/>
                        <a:ext cx="6264696" cy="12644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1" name="Object 5"/>
          <p:cNvGraphicFramePr>
            <a:graphicFrameLocks noChangeAspect="1"/>
          </p:cNvGraphicFramePr>
          <p:nvPr/>
        </p:nvGraphicFramePr>
        <p:xfrm>
          <a:off x="2339752" y="4012803"/>
          <a:ext cx="391795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3000" imgH="190440" progId="Equation.3">
                  <p:embed/>
                </p:oleObj>
              </mc:Choice>
              <mc:Fallback>
                <p:oleObj name="Equation" r:id="rId4" imgW="1143000" imgH="1904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4012803"/>
                        <a:ext cx="3917950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2" name="Object 6"/>
          <p:cNvGraphicFramePr>
            <a:graphicFrameLocks noChangeAspect="1"/>
          </p:cNvGraphicFramePr>
          <p:nvPr/>
        </p:nvGraphicFramePr>
        <p:xfrm>
          <a:off x="1654175" y="5475288"/>
          <a:ext cx="5922963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26920" imgH="380880" progId="Equation.3">
                  <p:embed/>
                </p:oleObj>
              </mc:Choice>
              <mc:Fallback>
                <p:oleObj name="Equation" r:id="rId6" imgW="1726920" imgH="3808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4175" y="5475288"/>
                        <a:ext cx="5922963" cy="1136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8" cstate="print"/>
          <a:srcRect r="7609" b="-16667"/>
          <a:stretch>
            <a:fillRect/>
          </a:stretch>
        </p:blipFill>
        <p:spPr bwMode="auto">
          <a:xfrm>
            <a:off x="3779912" y="1124744"/>
            <a:ext cx="3672408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38</a:t>
            </a:fld>
            <a:endParaRPr lang="en-GB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Minimum-Phase &amp; Non-minimum Phase Systems</a:t>
            </a:r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</p:nvPr>
        </p:nvGraphicFramePr>
        <p:xfrm>
          <a:off x="35496" y="3284984"/>
          <a:ext cx="2327920" cy="931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8840" imgH="355320" progId="Equation.3">
                  <p:embed/>
                </p:oleObj>
              </mc:Choice>
              <mc:Fallback>
                <p:oleObj name="Equation" r:id="rId2" imgW="888840" imgH="355320" progId="Equation.3">
                  <p:embed/>
                  <p:pic>
                    <p:nvPicPr>
                      <p:cNvPr id="0" name="Content Placeholder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96" y="3284984"/>
                        <a:ext cx="2327920" cy="9311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7283" name="Picture 3"/>
          <p:cNvPicPr>
            <a:picLocks noChangeAspect="1" noChangeArrowheads="1"/>
          </p:cNvPicPr>
          <p:nvPr/>
        </p:nvPicPr>
        <p:blipFill>
          <a:blip r:embed="rId4" cstate="print"/>
          <a:srcRect l="6624" t="7073" r="6624"/>
          <a:stretch>
            <a:fillRect/>
          </a:stretch>
        </p:blipFill>
        <p:spPr bwMode="auto">
          <a:xfrm>
            <a:off x="3203848" y="1772816"/>
            <a:ext cx="5796136" cy="4491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39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7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7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Minimum-Phase &amp; Non-minimum Phase Systems</a:t>
            </a:r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</p:nvPr>
        </p:nvGraphicFramePr>
        <p:xfrm>
          <a:off x="-36512" y="3432175"/>
          <a:ext cx="3430090" cy="932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880" imgH="355320" progId="Equation.3">
                  <p:embed/>
                </p:oleObj>
              </mc:Choice>
              <mc:Fallback>
                <p:oleObj name="Equation" r:id="rId2" imgW="1307880" imgH="355320" progId="Equation.3">
                  <p:embed/>
                  <p:pic>
                    <p:nvPicPr>
                      <p:cNvPr id="0" name="Content Placeholder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6512" y="3432175"/>
                        <a:ext cx="3430090" cy="93292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8307" name="Picture 3"/>
          <p:cNvPicPr>
            <a:picLocks noChangeAspect="1" noChangeArrowheads="1"/>
          </p:cNvPicPr>
          <p:nvPr/>
        </p:nvPicPr>
        <p:blipFill>
          <a:blip r:embed="rId4" cstate="print"/>
          <a:srcRect l="6624" t="7073" r="6624"/>
          <a:stretch>
            <a:fillRect/>
          </a:stretch>
        </p:blipFill>
        <p:spPr bwMode="auto">
          <a:xfrm>
            <a:off x="3491880" y="1669309"/>
            <a:ext cx="5616624" cy="4351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40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83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83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Minimum-Phase &amp; Non-minimum Phase Systems</a:t>
            </a:r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</p:nvPr>
        </p:nvGraphicFramePr>
        <p:xfrm>
          <a:off x="215900" y="3432175"/>
          <a:ext cx="292417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760" imgH="380880" progId="Equation.3">
                  <p:embed/>
                </p:oleObj>
              </mc:Choice>
              <mc:Fallback>
                <p:oleObj name="Equation" r:id="rId2" imgW="1193760" imgH="380880" progId="Equation.3">
                  <p:embed/>
                  <p:pic>
                    <p:nvPicPr>
                      <p:cNvPr id="0" name="Content Placeholder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" y="3432175"/>
                        <a:ext cx="2924175" cy="933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9331" name="Picture 3"/>
          <p:cNvPicPr>
            <a:picLocks noChangeAspect="1" noChangeArrowheads="1"/>
          </p:cNvPicPr>
          <p:nvPr/>
        </p:nvPicPr>
        <p:blipFill>
          <a:blip r:embed="rId4" cstate="print"/>
          <a:srcRect l="4702" t="5235" r="6934"/>
          <a:stretch>
            <a:fillRect/>
          </a:stretch>
        </p:blipFill>
        <p:spPr bwMode="auto">
          <a:xfrm>
            <a:off x="3563889" y="1733104"/>
            <a:ext cx="5527762" cy="4288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41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9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9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Minimum-Phase &amp; Non-minimum Phase Systems</a:t>
            </a:r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</p:nvPr>
        </p:nvGraphicFramePr>
        <p:xfrm>
          <a:off x="50800" y="3284538"/>
          <a:ext cx="2297113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76240" imgH="355320" progId="Equation.3">
                  <p:embed/>
                </p:oleObj>
              </mc:Choice>
              <mc:Fallback>
                <p:oleObj name="Equation" r:id="rId2" imgW="876240" imgH="355320" progId="Equation.3">
                  <p:embed/>
                  <p:pic>
                    <p:nvPicPr>
                      <p:cNvPr id="0" name="Content Placeholder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" y="3284538"/>
                        <a:ext cx="2297113" cy="931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0355" name="Picture 3"/>
          <p:cNvPicPr>
            <a:picLocks noChangeAspect="1" noChangeArrowheads="1"/>
          </p:cNvPicPr>
          <p:nvPr/>
        </p:nvPicPr>
        <p:blipFill>
          <a:blip r:embed="rId4" cstate="print"/>
          <a:srcRect l="5074" t="4932" r="6624"/>
          <a:stretch>
            <a:fillRect/>
          </a:stretch>
        </p:blipFill>
        <p:spPr bwMode="auto">
          <a:xfrm>
            <a:off x="3131840" y="1556791"/>
            <a:ext cx="5976664" cy="4654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42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Minimum-Phase &amp; Non-minimum Phase Systems</a:t>
            </a:r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</p:nvPr>
        </p:nvGraphicFramePr>
        <p:xfrm>
          <a:off x="35496" y="3654549"/>
          <a:ext cx="3146472" cy="854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880" imgH="355320" progId="Equation.3">
                  <p:embed/>
                </p:oleObj>
              </mc:Choice>
              <mc:Fallback>
                <p:oleObj name="Equation" r:id="rId2" imgW="1307880" imgH="355320" progId="Equation.3">
                  <p:embed/>
                  <p:pic>
                    <p:nvPicPr>
                      <p:cNvPr id="0" name="Content Placeholder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96" y="3654549"/>
                        <a:ext cx="3146472" cy="85457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1379" name="Picture 3"/>
          <p:cNvPicPr>
            <a:picLocks noChangeAspect="1" noChangeArrowheads="1"/>
          </p:cNvPicPr>
          <p:nvPr/>
        </p:nvPicPr>
        <p:blipFill>
          <a:blip r:embed="rId4" cstate="print"/>
          <a:srcRect l="6624" t="7073" r="6624"/>
          <a:stretch>
            <a:fillRect/>
          </a:stretch>
        </p:blipFill>
        <p:spPr bwMode="auto">
          <a:xfrm>
            <a:off x="3275856" y="1700808"/>
            <a:ext cx="5868144" cy="4546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43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Minimum-Phase &amp; Non-minimum Phase Systems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Transfer functions having neither poles nor zeros in the right-half s plane are minimum-phase transfer functions.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Whereas, those having poles and/or zeros in the right-half s plane are non-minimum-phase transfer functions.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44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868958"/>
          </a:xfrm>
        </p:spPr>
        <p:txBody>
          <a:bodyPr/>
          <a:lstStyle/>
          <a:p>
            <a:r>
              <a:rPr lang="en-GB" dirty="0"/>
              <a:t>Relative Stability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908720"/>
            <a:ext cx="8640960" cy="5688632"/>
          </a:xfrm>
        </p:spPr>
        <p:txBody>
          <a:bodyPr>
            <a:normAutofit/>
          </a:bodyPr>
          <a:lstStyle/>
          <a:p>
            <a:pPr marL="355600" lvl="1" indent="-355600" algn="just">
              <a:buClr>
                <a:schemeClr val="tx1"/>
              </a:buClr>
              <a:buFont typeface="Wingdings" pitchFamily="2" charset="2"/>
              <a:buChar char="q"/>
            </a:pPr>
            <a:r>
              <a:rPr lang="en-GB" sz="2600" dirty="0">
                <a:solidFill>
                  <a:srgbClr val="FF0000"/>
                </a:solidFill>
              </a:rPr>
              <a:t>Phase crossover frequency (</a:t>
            </a:r>
            <a:r>
              <a:rPr lang="el-GR" sz="2600" dirty="0">
                <a:solidFill>
                  <a:srgbClr val="FF0000"/>
                </a:solidFill>
              </a:rPr>
              <a:t>ω</a:t>
            </a:r>
            <a:r>
              <a:rPr lang="en-GB" sz="2600" baseline="-25000" dirty="0">
                <a:solidFill>
                  <a:srgbClr val="FF0000"/>
                </a:solidFill>
              </a:rPr>
              <a:t>p</a:t>
            </a:r>
            <a:r>
              <a:rPr lang="en-GB" sz="2600" dirty="0">
                <a:solidFill>
                  <a:srgbClr val="FF0000"/>
                </a:solidFill>
              </a:rPr>
              <a:t>) </a:t>
            </a:r>
            <a:r>
              <a:rPr lang="en-GB" sz="2600" dirty="0"/>
              <a:t>is the frequency at which the phase angle of the open-loop transfer function equals –180°.</a:t>
            </a:r>
          </a:p>
          <a:p>
            <a:pPr marL="355600" lvl="1" indent="-355600" algn="just">
              <a:buClr>
                <a:schemeClr val="tx1"/>
              </a:buClr>
              <a:buNone/>
            </a:pPr>
            <a:endParaRPr lang="en-GB" sz="1000" dirty="0"/>
          </a:p>
          <a:p>
            <a:pPr marL="355600" lvl="1" indent="-355600" algn="just">
              <a:buClr>
                <a:schemeClr val="tx1"/>
              </a:buClr>
              <a:buFont typeface="Wingdings" pitchFamily="2" charset="2"/>
              <a:buChar char="q"/>
            </a:pPr>
            <a:r>
              <a:rPr lang="en-GB" sz="2600" dirty="0">
                <a:solidFill>
                  <a:srgbClr val="FF0000"/>
                </a:solidFill>
              </a:rPr>
              <a:t>The gain crossover frequency (</a:t>
            </a:r>
            <a:r>
              <a:rPr lang="el-GR" sz="2600" dirty="0">
                <a:solidFill>
                  <a:srgbClr val="FF0000"/>
                </a:solidFill>
              </a:rPr>
              <a:t>ω</a:t>
            </a:r>
            <a:r>
              <a:rPr lang="en-GB" sz="2600" baseline="-25000" dirty="0">
                <a:solidFill>
                  <a:srgbClr val="FF0000"/>
                </a:solidFill>
              </a:rPr>
              <a:t>g</a:t>
            </a:r>
            <a:r>
              <a:rPr lang="en-GB" sz="2600" dirty="0">
                <a:solidFill>
                  <a:srgbClr val="FF0000"/>
                </a:solidFill>
              </a:rPr>
              <a:t>)</a:t>
            </a:r>
            <a:r>
              <a:rPr lang="en-GB" sz="2600" dirty="0"/>
              <a:t> is the frequency at which the magnitude of the open loop transfer function, is unity.</a:t>
            </a:r>
          </a:p>
          <a:p>
            <a:pPr marL="355600" lvl="1" indent="-355600" algn="just">
              <a:buClr>
                <a:schemeClr val="tx1"/>
              </a:buClr>
              <a:buNone/>
            </a:pPr>
            <a:endParaRPr lang="en-GB" sz="1000" dirty="0"/>
          </a:p>
          <a:p>
            <a:pPr marL="355600" indent="-355600" algn="just">
              <a:buClr>
                <a:schemeClr val="tx1"/>
              </a:buClr>
              <a:buFont typeface="Wingdings" pitchFamily="2" charset="2"/>
              <a:buChar char="q"/>
            </a:pPr>
            <a:r>
              <a:rPr lang="en-GB" sz="2600" dirty="0"/>
              <a:t>The </a:t>
            </a:r>
            <a:r>
              <a:rPr lang="en-GB" sz="2600" dirty="0">
                <a:solidFill>
                  <a:srgbClr val="FF0000"/>
                </a:solidFill>
              </a:rPr>
              <a:t>gain margin (K</a:t>
            </a:r>
            <a:r>
              <a:rPr lang="en-GB" sz="2600" baseline="-25000" dirty="0">
                <a:solidFill>
                  <a:srgbClr val="FF0000"/>
                </a:solidFill>
              </a:rPr>
              <a:t>g</a:t>
            </a:r>
            <a:r>
              <a:rPr lang="en-GB" sz="2600" dirty="0">
                <a:solidFill>
                  <a:srgbClr val="FF0000"/>
                </a:solidFill>
              </a:rPr>
              <a:t>) </a:t>
            </a:r>
            <a:r>
              <a:rPr lang="en-GB" sz="2600" dirty="0"/>
              <a:t>is the reciprocal of the magnitude of G(j</a:t>
            </a:r>
            <a:r>
              <a:rPr lang="el-GR" sz="2600" dirty="0"/>
              <a:t>ω</a:t>
            </a:r>
            <a:r>
              <a:rPr lang="en-GB" sz="2600" dirty="0"/>
              <a:t>) at the phase cross over frequency.</a:t>
            </a:r>
          </a:p>
          <a:p>
            <a:pPr marL="355600" indent="-355600" algn="just">
              <a:buClr>
                <a:schemeClr val="tx1"/>
              </a:buClr>
              <a:buNone/>
            </a:pPr>
            <a:endParaRPr lang="en-GB" sz="1000" dirty="0"/>
          </a:p>
          <a:p>
            <a:pPr marL="355600" indent="-355600" algn="just">
              <a:buClr>
                <a:schemeClr val="tx1"/>
              </a:buClr>
              <a:buNone/>
            </a:pPr>
            <a:endParaRPr lang="en-GB" sz="1000" dirty="0"/>
          </a:p>
          <a:p>
            <a:pPr marL="355600" indent="-355600" algn="just">
              <a:buClr>
                <a:schemeClr val="tx1"/>
              </a:buClr>
              <a:buNone/>
            </a:pPr>
            <a:endParaRPr lang="en-GB" sz="1000" dirty="0"/>
          </a:p>
          <a:p>
            <a:pPr marL="355600" indent="-355600" algn="just">
              <a:buClr>
                <a:schemeClr val="tx1"/>
              </a:buClr>
              <a:buNone/>
            </a:pPr>
            <a:endParaRPr lang="en-GB" sz="1000" dirty="0"/>
          </a:p>
          <a:p>
            <a:pPr marL="355600" lvl="1" indent="-355600" algn="just">
              <a:buClr>
                <a:schemeClr val="tx1"/>
              </a:buClr>
              <a:buFont typeface="Wingdings" pitchFamily="2" charset="2"/>
              <a:buChar char="q"/>
            </a:pPr>
            <a:r>
              <a:rPr lang="en-GB" sz="2600" dirty="0"/>
              <a:t>The </a:t>
            </a:r>
            <a:r>
              <a:rPr lang="en-GB" sz="2600" dirty="0">
                <a:solidFill>
                  <a:srgbClr val="FF0000"/>
                </a:solidFill>
              </a:rPr>
              <a:t>phase margin (</a:t>
            </a:r>
            <a:r>
              <a:rPr lang="el-GR" sz="2600" dirty="0">
                <a:solidFill>
                  <a:srgbClr val="FF0000"/>
                </a:solidFill>
              </a:rPr>
              <a:t>γ</a:t>
            </a:r>
            <a:r>
              <a:rPr lang="en-GB" sz="2600" dirty="0">
                <a:solidFill>
                  <a:srgbClr val="FF0000"/>
                </a:solidFill>
              </a:rPr>
              <a:t>) </a:t>
            </a:r>
            <a:r>
              <a:rPr lang="en-GB" sz="2600" dirty="0"/>
              <a:t>is that amount of additional phase lag at the gain crossover frequency required to bring the system to the verge of instability.</a:t>
            </a:r>
          </a:p>
          <a:p>
            <a:pPr marL="355600" indent="-355600" algn="just">
              <a:buClr>
                <a:schemeClr val="tx1"/>
              </a:buClr>
              <a:buFont typeface="Wingdings" pitchFamily="2" charset="2"/>
              <a:buChar char="q"/>
            </a:pPr>
            <a:endParaRPr lang="en-GB" dirty="0"/>
          </a:p>
        </p:txBody>
      </p:sp>
      <p:pic>
        <p:nvPicPr>
          <p:cNvPr id="1064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4293096"/>
            <a:ext cx="1679451" cy="801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64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9832" y="4293096"/>
            <a:ext cx="470535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45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868958"/>
          </a:xfrm>
        </p:spPr>
        <p:txBody>
          <a:bodyPr/>
          <a:lstStyle/>
          <a:p>
            <a:r>
              <a:rPr lang="en-GB" dirty="0"/>
              <a:t>Relative Stability</a:t>
            </a:r>
          </a:p>
        </p:txBody>
      </p:sp>
      <p:pic>
        <p:nvPicPr>
          <p:cNvPr id="105474" name="Picture 2"/>
          <p:cNvPicPr>
            <a:picLocks noChangeAspect="1" noChangeArrowheads="1"/>
          </p:cNvPicPr>
          <p:nvPr/>
        </p:nvPicPr>
        <p:blipFill>
          <a:blip r:embed="rId2" cstate="print"/>
          <a:srcRect r="55110"/>
          <a:stretch>
            <a:fillRect/>
          </a:stretch>
        </p:blipFill>
        <p:spPr bwMode="auto">
          <a:xfrm>
            <a:off x="58663" y="1556792"/>
            <a:ext cx="4081289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52810"/>
          <a:stretch>
            <a:fillRect/>
          </a:stretch>
        </p:blipFill>
        <p:spPr bwMode="auto">
          <a:xfrm>
            <a:off x="4860032" y="1556792"/>
            <a:ext cx="4290467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46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09C8-5D9B-4EC4-A03E-4711901F11D9}" type="slidenum">
              <a:rPr lang="en-US"/>
              <a:pPr/>
              <a:t>47</a:t>
            </a:fld>
            <a:endParaRPr lang="en-US"/>
          </a:p>
        </p:txBody>
      </p:sp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8" name="Group 17"/>
          <p:cNvGrpSpPr/>
          <p:nvPr/>
        </p:nvGrpSpPr>
        <p:grpSpPr>
          <a:xfrm>
            <a:off x="1398896" y="1828800"/>
            <a:ext cx="6880225" cy="4557713"/>
            <a:chOff x="1371600" y="1828800"/>
            <a:chExt cx="6880225" cy="4557713"/>
          </a:xfrm>
        </p:grpSpPr>
        <p:sp>
          <p:nvSpPr>
            <p:cNvPr id="21507" name="Line 3"/>
            <p:cNvSpPr>
              <a:spLocks noChangeShapeType="1"/>
            </p:cNvSpPr>
            <p:nvPr/>
          </p:nvSpPr>
          <p:spPr bwMode="auto">
            <a:xfrm>
              <a:off x="1371600" y="1849438"/>
              <a:ext cx="3672000" cy="0"/>
            </a:xfrm>
            <a:prstGeom prst="line">
              <a:avLst/>
            </a:prstGeom>
            <a:noFill/>
            <a:ln w="28575">
              <a:solidFill>
                <a:srgbClr val="00B0F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1508" name="Line 4"/>
            <p:cNvSpPr>
              <a:spLocks noChangeShapeType="1"/>
            </p:cNvSpPr>
            <p:nvPr/>
          </p:nvSpPr>
          <p:spPr bwMode="auto">
            <a:xfrm flipH="1" flipV="1">
              <a:off x="5091113" y="1931988"/>
              <a:ext cx="6858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1510" name="Text Box 6"/>
            <p:cNvSpPr txBox="1">
              <a:spLocks noChangeArrowheads="1"/>
            </p:cNvSpPr>
            <p:nvPr/>
          </p:nvSpPr>
          <p:spPr bwMode="auto">
            <a:xfrm>
              <a:off x="5257800" y="2403475"/>
              <a:ext cx="2994025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/>
                <a:t>Gain cross-over point</a:t>
              </a:r>
            </a:p>
          </p:txBody>
        </p:sp>
        <p:sp>
          <p:nvSpPr>
            <p:cNvPr id="21515" name="Line 11"/>
            <p:cNvSpPr>
              <a:spLocks noChangeShapeType="1"/>
            </p:cNvSpPr>
            <p:nvPr/>
          </p:nvSpPr>
          <p:spPr bwMode="auto">
            <a:xfrm>
              <a:off x="5029200" y="1828800"/>
              <a:ext cx="0" cy="4343400"/>
            </a:xfrm>
            <a:prstGeom prst="line">
              <a:avLst/>
            </a:prstGeom>
            <a:noFill/>
            <a:ln w="28575">
              <a:solidFill>
                <a:srgbClr val="00B0F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1516" name="Text Box 12"/>
            <p:cNvSpPr txBox="1">
              <a:spLocks noChangeArrowheads="1"/>
            </p:cNvSpPr>
            <p:nvPr/>
          </p:nvSpPr>
          <p:spPr bwMode="auto">
            <a:xfrm>
              <a:off x="4495800" y="5867400"/>
              <a:ext cx="701675" cy="519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l-GR" sz="2800" b="1" dirty="0">
                  <a:cs typeface="Times New Roman" pitchFamily="18" charset="0"/>
                </a:rPr>
                <a:t>ω</a:t>
              </a:r>
              <a:r>
                <a:rPr lang="en-US" sz="2800" b="1" baseline="-25000" dirty="0">
                  <a:cs typeface="Times New Roman" pitchFamily="18" charset="0"/>
                </a:rPr>
                <a:t>g</a:t>
              </a:r>
              <a:endParaRPr lang="el-GR" sz="2800" b="1" baseline="-25000" dirty="0">
                <a:cs typeface="Times New Roman" pitchFamily="18" charset="0"/>
              </a:endParaRPr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1371600" y="4038600"/>
            <a:ext cx="6923088" cy="2424113"/>
            <a:chOff x="864" y="2544"/>
            <a:chExt cx="4361" cy="1527"/>
          </a:xfrm>
        </p:grpSpPr>
        <p:sp>
          <p:nvSpPr>
            <p:cNvPr id="21511" name="Line 7"/>
            <p:cNvSpPr>
              <a:spLocks noChangeShapeType="1"/>
            </p:cNvSpPr>
            <p:nvPr/>
          </p:nvSpPr>
          <p:spPr bwMode="auto">
            <a:xfrm>
              <a:off x="864" y="3312"/>
              <a:ext cx="2585" cy="0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1512" name="Line 8"/>
            <p:cNvSpPr>
              <a:spLocks noChangeShapeType="1"/>
            </p:cNvSpPr>
            <p:nvPr/>
          </p:nvSpPr>
          <p:spPr bwMode="auto">
            <a:xfrm flipH="1">
              <a:off x="3456" y="2784"/>
              <a:ext cx="33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1513" name="Text Box 9"/>
            <p:cNvSpPr txBox="1">
              <a:spLocks noChangeArrowheads="1"/>
            </p:cNvSpPr>
            <p:nvPr/>
          </p:nvSpPr>
          <p:spPr bwMode="auto">
            <a:xfrm>
              <a:off x="3264" y="2544"/>
              <a:ext cx="196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 dirty="0"/>
                <a:t>Phase cross-over point</a:t>
              </a:r>
            </a:p>
          </p:txBody>
        </p:sp>
        <p:sp>
          <p:nvSpPr>
            <p:cNvPr id="21514" name="Line 10"/>
            <p:cNvSpPr>
              <a:spLocks noChangeShapeType="1"/>
            </p:cNvSpPr>
            <p:nvPr/>
          </p:nvSpPr>
          <p:spPr bwMode="auto">
            <a:xfrm>
              <a:off x="3443" y="3312"/>
              <a:ext cx="0" cy="528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1517" name="Text Box 13"/>
            <p:cNvSpPr txBox="1">
              <a:spLocks noChangeArrowheads="1"/>
            </p:cNvSpPr>
            <p:nvPr/>
          </p:nvSpPr>
          <p:spPr bwMode="auto">
            <a:xfrm>
              <a:off x="3254" y="3744"/>
              <a:ext cx="44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l-GR" sz="2800" b="1">
                  <a:cs typeface="Times New Roman" pitchFamily="18" charset="0"/>
                </a:rPr>
                <a:t>ω</a:t>
              </a:r>
              <a:r>
                <a:rPr lang="en-US" sz="2800" b="1" baseline="-25000">
                  <a:cs typeface="Times New Roman" pitchFamily="18" charset="0"/>
                </a:rPr>
                <a:t>p</a:t>
              </a:r>
              <a:endParaRPr lang="el-GR" sz="2800" b="1" baseline="-25000"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75C2A-77D0-4C50-8F64-A3AC870032FB}" type="slidenum">
              <a:rPr lang="en-US"/>
              <a:pPr/>
              <a:t>48</a:t>
            </a:fld>
            <a:endParaRPr lang="en-US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488" name="Line 8"/>
          <p:cNvSpPr>
            <a:spLocks noChangeShapeType="1"/>
          </p:cNvSpPr>
          <p:nvPr/>
        </p:nvSpPr>
        <p:spPr bwMode="auto">
          <a:xfrm>
            <a:off x="1371600" y="1849438"/>
            <a:ext cx="6934200" cy="0"/>
          </a:xfrm>
          <a:prstGeom prst="line">
            <a:avLst/>
          </a:prstGeom>
          <a:noFill/>
          <a:ln w="28575">
            <a:solidFill>
              <a:srgbClr val="8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>
            <a:off x="1371600" y="5257800"/>
            <a:ext cx="6934200" cy="0"/>
          </a:xfrm>
          <a:prstGeom prst="line">
            <a:avLst/>
          </a:prstGeom>
          <a:noFill/>
          <a:ln w="28575">
            <a:solidFill>
              <a:srgbClr val="8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5165725" y="1828800"/>
            <a:ext cx="2967038" cy="4633913"/>
            <a:chOff x="3254" y="1152"/>
            <a:chExt cx="1869" cy="2919"/>
          </a:xfrm>
        </p:grpSpPr>
        <p:sp>
          <p:nvSpPr>
            <p:cNvPr id="20490" name="Line 10"/>
            <p:cNvSpPr>
              <a:spLocks noChangeShapeType="1"/>
            </p:cNvSpPr>
            <p:nvPr/>
          </p:nvSpPr>
          <p:spPr bwMode="auto">
            <a:xfrm>
              <a:off x="3456" y="1152"/>
              <a:ext cx="0" cy="14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3" name="Group 21"/>
            <p:cNvGrpSpPr>
              <a:grpSpLocks/>
            </p:cNvGrpSpPr>
            <p:nvPr/>
          </p:nvGrpSpPr>
          <p:grpSpPr bwMode="auto">
            <a:xfrm>
              <a:off x="3254" y="1248"/>
              <a:ext cx="1869" cy="2823"/>
              <a:chOff x="3254" y="1248"/>
              <a:chExt cx="1869" cy="2823"/>
            </a:xfrm>
          </p:grpSpPr>
          <p:sp>
            <p:nvSpPr>
              <p:cNvPr id="20483" name="Text Box 3"/>
              <p:cNvSpPr txBox="1">
                <a:spLocks noChangeArrowheads="1"/>
              </p:cNvSpPr>
              <p:nvPr/>
            </p:nvSpPr>
            <p:spPr bwMode="auto">
              <a:xfrm>
                <a:off x="3254" y="3744"/>
                <a:ext cx="442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l-GR" sz="2800" b="1">
                    <a:cs typeface="Times New Roman" pitchFamily="18" charset="0"/>
                  </a:rPr>
                  <a:t>ω</a:t>
                </a:r>
                <a:r>
                  <a:rPr lang="en-US" sz="2800" b="1" baseline="-25000">
                    <a:cs typeface="Times New Roman" pitchFamily="18" charset="0"/>
                  </a:rPr>
                  <a:t>p</a:t>
                </a:r>
                <a:endParaRPr lang="el-GR" sz="2800" b="1" baseline="-25000">
                  <a:cs typeface="Times New Roman" pitchFamily="18" charset="0"/>
                </a:endParaRPr>
              </a:p>
            </p:txBody>
          </p:sp>
          <p:sp>
            <p:nvSpPr>
              <p:cNvPr id="20485" name="Line 5"/>
              <p:cNvSpPr>
                <a:spLocks noChangeShapeType="1"/>
              </p:cNvSpPr>
              <p:nvPr/>
            </p:nvSpPr>
            <p:spPr bwMode="auto">
              <a:xfrm flipV="1">
                <a:off x="3456" y="1296"/>
                <a:ext cx="0" cy="25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491" name="Line 11"/>
              <p:cNvSpPr>
                <a:spLocks noChangeShapeType="1"/>
              </p:cNvSpPr>
              <p:nvPr/>
            </p:nvSpPr>
            <p:spPr bwMode="auto">
              <a:xfrm flipH="1" flipV="1">
                <a:off x="3552" y="1248"/>
                <a:ext cx="72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492" name="Text Box 12"/>
              <p:cNvSpPr txBox="1">
                <a:spLocks noChangeArrowheads="1"/>
              </p:cNvSpPr>
              <p:nvPr/>
            </p:nvSpPr>
            <p:spPr bwMode="auto">
              <a:xfrm>
                <a:off x="3936" y="1296"/>
                <a:ext cx="118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b="1"/>
                  <a:t>Gain Margin</a:t>
                </a:r>
              </a:p>
            </p:txBody>
          </p:sp>
        </p:grpSp>
      </p:grp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2819400" y="990600"/>
            <a:ext cx="5045075" cy="4876800"/>
            <a:chOff x="1776" y="624"/>
            <a:chExt cx="3178" cy="3072"/>
          </a:xfrm>
        </p:grpSpPr>
        <p:sp>
          <p:nvSpPr>
            <p:cNvPr id="20494" name="Text Box 14"/>
            <p:cNvSpPr txBox="1">
              <a:spLocks noChangeArrowheads="1"/>
            </p:cNvSpPr>
            <p:nvPr/>
          </p:nvSpPr>
          <p:spPr bwMode="auto">
            <a:xfrm>
              <a:off x="1776" y="624"/>
              <a:ext cx="145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/>
                <a:t>Unstable Stable </a:t>
              </a:r>
            </a:p>
          </p:txBody>
        </p:sp>
        <p:sp>
          <p:nvSpPr>
            <p:cNvPr id="20495" name="Text Box 15"/>
            <p:cNvSpPr txBox="1">
              <a:spLocks noChangeArrowheads="1"/>
            </p:cNvSpPr>
            <p:nvPr/>
          </p:nvSpPr>
          <p:spPr bwMode="auto">
            <a:xfrm>
              <a:off x="2064" y="1296"/>
              <a:ext cx="62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/>
                <a:t>Stable</a:t>
              </a:r>
            </a:p>
          </p:txBody>
        </p:sp>
        <p:sp>
          <p:nvSpPr>
            <p:cNvPr id="20497" name="Text Box 17"/>
            <p:cNvSpPr txBox="1">
              <a:spLocks noChangeArrowheads="1"/>
            </p:cNvSpPr>
            <p:nvPr/>
          </p:nvSpPr>
          <p:spPr bwMode="auto">
            <a:xfrm>
              <a:off x="3504" y="3408"/>
              <a:ext cx="145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/>
                <a:t>Unstable Stable </a:t>
              </a:r>
            </a:p>
          </p:txBody>
        </p:sp>
        <p:sp>
          <p:nvSpPr>
            <p:cNvPr id="20498" name="Text Box 18"/>
            <p:cNvSpPr txBox="1">
              <a:spLocks noChangeArrowheads="1"/>
            </p:cNvSpPr>
            <p:nvPr/>
          </p:nvSpPr>
          <p:spPr bwMode="auto">
            <a:xfrm>
              <a:off x="3936" y="2592"/>
              <a:ext cx="62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b="1"/>
                <a:t>Stable</a:t>
              </a:r>
            </a:p>
          </p:txBody>
        </p:sp>
      </p:grp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2542037" y="1866911"/>
            <a:ext cx="2816225" cy="4587891"/>
            <a:chOff x="1440" y="1176"/>
            <a:chExt cx="1774" cy="2890"/>
          </a:xfrm>
        </p:grpSpPr>
        <p:sp>
          <p:nvSpPr>
            <p:cNvPr id="20484" name="Text Box 4"/>
            <p:cNvSpPr txBox="1">
              <a:spLocks noChangeArrowheads="1"/>
            </p:cNvSpPr>
            <p:nvPr/>
          </p:nvSpPr>
          <p:spPr bwMode="auto">
            <a:xfrm>
              <a:off x="2772" y="3739"/>
              <a:ext cx="44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l-GR" sz="2800" b="1" dirty="0">
                  <a:cs typeface="Times New Roman" pitchFamily="18" charset="0"/>
                </a:rPr>
                <a:t>ω</a:t>
              </a:r>
              <a:r>
                <a:rPr lang="en-US" sz="2800" b="1" baseline="-25000" dirty="0">
                  <a:cs typeface="Times New Roman" pitchFamily="18" charset="0"/>
                </a:rPr>
                <a:t>g</a:t>
              </a:r>
              <a:endParaRPr lang="el-GR" sz="2800" b="1" baseline="-25000" dirty="0">
                <a:cs typeface="Times New Roman" pitchFamily="18" charset="0"/>
              </a:endParaRPr>
            </a:p>
          </p:txBody>
        </p:sp>
        <p:sp>
          <p:nvSpPr>
            <p:cNvPr id="20486" name="Line 6"/>
            <p:cNvSpPr>
              <a:spLocks noChangeShapeType="1"/>
            </p:cNvSpPr>
            <p:nvPr/>
          </p:nvSpPr>
          <p:spPr bwMode="auto">
            <a:xfrm flipV="1">
              <a:off x="3024" y="1176"/>
              <a:ext cx="0" cy="26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0493" name="Text Box 13"/>
            <p:cNvSpPr txBox="1">
              <a:spLocks noChangeArrowheads="1"/>
            </p:cNvSpPr>
            <p:nvPr/>
          </p:nvSpPr>
          <p:spPr bwMode="auto">
            <a:xfrm>
              <a:off x="1440" y="2784"/>
              <a:ext cx="97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 dirty="0"/>
                <a:t>Phase Margin</a:t>
              </a:r>
            </a:p>
          </p:txBody>
        </p:sp>
        <p:sp>
          <p:nvSpPr>
            <p:cNvPr id="20499" name="Line 19"/>
            <p:cNvSpPr>
              <a:spLocks noChangeShapeType="1"/>
            </p:cNvSpPr>
            <p:nvPr/>
          </p:nvSpPr>
          <p:spPr bwMode="auto">
            <a:xfrm>
              <a:off x="2640" y="3024"/>
              <a:ext cx="28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0500" name="Line 20"/>
            <p:cNvSpPr>
              <a:spLocks noChangeShapeType="1"/>
            </p:cNvSpPr>
            <p:nvPr/>
          </p:nvSpPr>
          <p:spPr bwMode="auto">
            <a:xfrm flipV="1">
              <a:off x="3024" y="3184"/>
              <a:ext cx="0" cy="136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012974"/>
          </a:xfrm>
        </p:spPr>
        <p:txBody>
          <a:bodyPr/>
          <a:lstStyle/>
          <a:p>
            <a:r>
              <a:rPr lang="en-GB" dirty="0" err="1"/>
              <a:t>Example#3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736"/>
            <a:ext cx="8568952" cy="4525963"/>
          </a:xfrm>
        </p:spPr>
        <p:txBody>
          <a:bodyPr/>
          <a:lstStyle/>
          <a:p>
            <a:pPr algn="just"/>
            <a:r>
              <a:rPr lang="en-GB" dirty="0"/>
              <a:t>Obtain the phase and gain margins of the system shown in following figure for the two cases where </a:t>
            </a:r>
            <a:r>
              <a:rPr lang="en-GB" dirty="0">
                <a:solidFill>
                  <a:srgbClr val="FF0000"/>
                </a:solidFill>
              </a:rPr>
              <a:t>K=10</a:t>
            </a:r>
            <a:r>
              <a:rPr lang="en-GB" dirty="0"/>
              <a:t> and </a:t>
            </a:r>
            <a:r>
              <a:rPr lang="en-GB" dirty="0">
                <a:solidFill>
                  <a:srgbClr val="FF0000"/>
                </a:solidFill>
              </a:rPr>
              <a:t>K=100</a:t>
            </a:r>
            <a:r>
              <a:rPr lang="en-GB" dirty="0"/>
              <a:t>.</a:t>
            </a:r>
          </a:p>
        </p:txBody>
      </p:sp>
      <p:pic>
        <p:nvPicPr>
          <p:cNvPr id="1034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3501008"/>
            <a:ext cx="6602313" cy="2148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49</a:t>
            </a:fld>
            <a:endParaRPr lang="en-GB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50" name="Picture 2"/>
          <p:cNvPicPr>
            <a:picLocks noChangeAspect="1" noChangeArrowheads="1"/>
          </p:cNvPicPr>
          <p:nvPr/>
        </p:nvPicPr>
        <p:blipFill>
          <a:blip r:embed="rId2" cstate="print"/>
          <a:srcRect r="2492"/>
          <a:stretch>
            <a:fillRect/>
          </a:stretch>
        </p:blipFill>
        <p:spPr bwMode="auto">
          <a:xfrm>
            <a:off x="35496" y="548680"/>
            <a:ext cx="4434348" cy="6021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4451" name="Picture 3"/>
          <p:cNvPicPr>
            <a:picLocks noChangeAspect="1" noChangeArrowheads="1"/>
          </p:cNvPicPr>
          <p:nvPr/>
        </p:nvPicPr>
        <p:blipFill>
          <a:blip r:embed="rId3" cstate="print"/>
          <a:srcRect r="5512"/>
          <a:stretch>
            <a:fillRect/>
          </a:stretch>
        </p:blipFill>
        <p:spPr bwMode="auto">
          <a:xfrm>
            <a:off x="4702368" y="550749"/>
            <a:ext cx="4355976" cy="585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50</a:t>
            </a:fld>
            <a:endParaRPr lang="en-GB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868958"/>
          </a:xfrm>
        </p:spPr>
        <p:txBody>
          <a:bodyPr/>
          <a:lstStyle/>
          <a:p>
            <a:r>
              <a:rPr lang="en-GB" dirty="0"/>
              <a:t>Nyquist Plot (Polar Plot)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1340768"/>
            <a:ext cx="4752528" cy="5328592"/>
          </a:xfrm>
        </p:spPr>
        <p:txBody>
          <a:bodyPr>
            <a:normAutofit/>
          </a:bodyPr>
          <a:lstStyle/>
          <a:p>
            <a:pPr algn="just"/>
            <a:r>
              <a:rPr lang="en-GB" sz="2400" dirty="0"/>
              <a:t>The polar plot of a sinusoidal transfer function </a:t>
            </a:r>
            <a:r>
              <a:rPr lang="en-GB" sz="2400" dirty="0">
                <a:solidFill>
                  <a:srgbClr val="FF0000"/>
                </a:solidFill>
              </a:rPr>
              <a:t>G(j</a:t>
            </a:r>
            <a:r>
              <a:rPr lang="el-GR" sz="2400" dirty="0">
                <a:solidFill>
                  <a:srgbClr val="FF0000"/>
                </a:solidFill>
              </a:rPr>
              <a:t>ω</a:t>
            </a:r>
            <a:r>
              <a:rPr lang="en-GB" sz="2400" dirty="0">
                <a:solidFill>
                  <a:srgbClr val="FF0000"/>
                </a:solidFill>
              </a:rPr>
              <a:t>)</a:t>
            </a:r>
            <a:r>
              <a:rPr lang="en-GB" sz="2400" dirty="0"/>
              <a:t> is a plot of the magnitude of </a:t>
            </a:r>
            <a:r>
              <a:rPr lang="en-GB" sz="2400" dirty="0">
                <a:solidFill>
                  <a:srgbClr val="FF0000"/>
                </a:solidFill>
              </a:rPr>
              <a:t>G(j</a:t>
            </a:r>
            <a:r>
              <a:rPr lang="el-GR" sz="2400" dirty="0">
                <a:solidFill>
                  <a:srgbClr val="FF0000"/>
                </a:solidFill>
              </a:rPr>
              <a:t>ω</a:t>
            </a:r>
            <a:r>
              <a:rPr lang="en-GB" sz="2400" dirty="0">
                <a:solidFill>
                  <a:srgbClr val="FF0000"/>
                </a:solidFill>
              </a:rPr>
              <a:t>)</a:t>
            </a:r>
            <a:r>
              <a:rPr lang="en-GB" sz="2400" dirty="0"/>
              <a:t> versus the phase angle of </a:t>
            </a:r>
            <a:r>
              <a:rPr lang="en-GB" sz="2400" dirty="0">
                <a:solidFill>
                  <a:srgbClr val="FF0000"/>
                </a:solidFill>
              </a:rPr>
              <a:t>G(j</a:t>
            </a:r>
            <a:r>
              <a:rPr lang="el-GR" sz="2400" dirty="0">
                <a:solidFill>
                  <a:srgbClr val="FF0000"/>
                </a:solidFill>
              </a:rPr>
              <a:t>ω</a:t>
            </a:r>
            <a:r>
              <a:rPr lang="en-GB" sz="2400" dirty="0">
                <a:solidFill>
                  <a:srgbClr val="FF0000"/>
                </a:solidFill>
              </a:rPr>
              <a:t>) </a:t>
            </a:r>
            <a:r>
              <a:rPr lang="en-GB" sz="2400" dirty="0"/>
              <a:t>on polar coordinates as </a:t>
            </a:r>
            <a:r>
              <a:rPr lang="el-GR" sz="2400" dirty="0">
                <a:solidFill>
                  <a:srgbClr val="FF0000"/>
                </a:solidFill>
              </a:rPr>
              <a:t>ω</a:t>
            </a:r>
            <a:r>
              <a:rPr lang="en-GB" sz="2400" dirty="0"/>
              <a:t> is varied from zero to infinity.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Thus, the polar plot is the locus of vectors                              as </a:t>
            </a:r>
            <a:r>
              <a:rPr lang="el-GR" sz="2400" dirty="0">
                <a:solidFill>
                  <a:srgbClr val="FF0000"/>
                </a:solidFill>
              </a:rPr>
              <a:t>ω</a:t>
            </a:r>
            <a:r>
              <a:rPr lang="en-GB" sz="2400" dirty="0"/>
              <a:t> is varied from zero to infinity.</a:t>
            </a:r>
          </a:p>
        </p:txBody>
      </p:sp>
      <p:pic>
        <p:nvPicPr>
          <p:cNvPr id="1024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5171" y="4440535"/>
            <a:ext cx="199072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1340768"/>
            <a:ext cx="4095579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6976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868958"/>
          </a:xfrm>
        </p:spPr>
        <p:txBody>
          <a:bodyPr/>
          <a:lstStyle/>
          <a:p>
            <a:r>
              <a:rPr lang="en-GB" dirty="0"/>
              <a:t>Nyquist Plot (Polar Plot)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2"/>
            <a:ext cx="4320480" cy="5328592"/>
          </a:xfrm>
        </p:spPr>
        <p:txBody>
          <a:bodyPr>
            <a:normAutofit/>
          </a:bodyPr>
          <a:lstStyle/>
          <a:p>
            <a:pPr algn="just"/>
            <a:endParaRPr lang="en-GB" sz="2400" dirty="0"/>
          </a:p>
          <a:p>
            <a:pPr algn="just"/>
            <a:r>
              <a:rPr lang="en-GB" sz="2400" dirty="0"/>
              <a:t>Each point on the polar plot of </a:t>
            </a:r>
            <a:r>
              <a:rPr lang="en-GB" sz="2400" dirty="0">
                <a:solidFill>
                  <a:srgbClr val="FF0000"/>
                </a:solidFill>
              </a:rPr>
              <a:t>G(j</a:t>
            </a:r>
            <a:r>
              <a:rPr lang="el-GR" sz="2400" dirty="0">
                <a:solidFill>
                  <a:srgbClr val="FF0000"/>
                </a:solidFill>
              </a:rPr>
              <a:t>ω</a:t>
            </a:r>
            <a:r>
              <a:rPr lang="en-GB" sz="2400" dirty="0">
                <a:solidFill>
                  <a:srgbClr val="FF0000"/>
                </a:solidFill>
              </a:rPr>
              <a:t>)</a:t>
            </a:r>
            <a:r>
              <a:rPr lang="en-GB" sz="2400" dirty="0"/>
              <a:t> represents the terminal point of a vector at a particular value of </a:t>
            </a:r>
            <a:r>
              <a:rPr lang="el-GR" sz="2400" dirty="0">
                <a:solidFill>
                  <a:srgbClr val="FF0000"/>
                </a:solidFill>
              </a:rPr>
              <a:t>ω</a:t>
            </a:r>
            <a:r>
              <a:rPr lang="en-GB" sz="2400" dirty="0"/>
              <a:t>.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The projections of </a:t>
            </a:r>
            <a:r>
              <a:rPr lang="en-GB" sz="2400" dirty="0">
                <a:solidFill>
                  <a:srgbClr val="FF0000"/>
                </a:solidFill>
              </a:rPr>
              <a:t>G(j</a:t>
            </a:r>
            <a:r>
              <a:rPr lang="el-GR" sz="2400" dirty="0">
                <a:solidFill>
                  <a:srgbClr val="FF0000"/>
                </a:solidFill>
              </a:rPr>
              <a:t>ω</a:t>
            </a:r>
            <a:r>
              <a:rPr lang="en-GB" sz="2400" dirty="0">
                <a:solidFill>
                  <a:srgbClr val="FF0000"/>
                </a:solidFill>
              </a:rPr>
              <a:t>)</a:t>
            </a:r>
            <a:r>
              <a:rPr lang="en-GB" sz="2400" dirty="0"/>
              <a:t> on the real and imaginary axes are its real and imaginary components.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040" y="1340768"/>
            <a:ext cx="4095579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58786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868958"/>
          </a:xfrm>
        </p:spPr>
        <p:txBody>
          <a:bodyPr/>
          <a:lstStyle/>
          <a:p>
            <a:r>
              <a:rPr lang="en-GB" dirty="0"/>
              <a:t>Nyquist Plot (Polar Plot)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8" y="1412776"/>
            <a:ext cx="4644008" cy="5328592"/>
          </a:xfrm>
        </p:spPr>
        <p:txBody>
          <a:bodyPr>
            <a:normAutofit/>
          </a:bodyPr>
          <a:lstStyle/>
          <a:p>
            <a:pPr algn="just"/>
            <a:endParaRPr lang="en-GB" sz="2400" dirty="0"/>
          </a:p>
          <a:p>
            <a:pPr algn="just"/>
            <a:r>
              <a:rPr lang="en-GB" sz="2200" dirty="0"/>
              <a:t>An advantage in using a polar plot is that it depicts the frequency response characteristics of a system over the entire frequency range in a single plot. </a:t>
            </a:r>
          </a:p>
          <a:p>
            <a:pPr algn="just"/>
            <a:endParaRPr lang="en-GB" sz="2200" dirty="0"/>
          </a:p>
          <a:p>
            <a:pPr algn="just"/>
            <a:r>
              <a:rPr lang="en-GB" sz="2200" dirty="0"/>
              <a:t>One disadvantage is that the plot does not clearly indicate the contributions of each individual factor of the open-loop transfer function.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040" y="1340768"/>
            <a:ext cx="4095579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0928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44624"/>
            <a:ext cx="8640960" cy="868958"/>
          </a:xfrm>
        </p:spPr>
        <p:txBody>
          <a:bodyPr>
            <a:noAutofit/>
          </a:bodyPr>
          <a:lstStyle/>
          <a:p>
            <a:r>
              <a:rPr lang="en-GB" sz="3500" dirty="0"/>
              <a:t>Nyquist Plot of Integral and Derivative Factors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79512" y="1196752"/>
            <a:ext cx="8640960" cy="4525963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The polar plot of </a:t>
            </a:r>
            <a:r>
              <a:rPr lang="en-GB" sz="2800" dirty="0">
                <a:solidFill>
                  <a:srgbClr val="FF0000"/>
                </a:solidFill>
              </a:rPr>
              <a:t>G(j</a:t>
            </a:r>
            <a:r>
              <a:rPr lang="el-GR" sz="2800" dirty="0">
                <a:solidFill>
                  <a:srgbClr val="FF0000"/>
                </a:solidFill>
              </a:rPr>
              <a:t>ω</a:t>
            </a:r>
            <a:r>
              <a:rPr lang="en-GB" sz="2800" dirty="0">
                <a:solidFill>
                  <a:srgbClr val="FF0000"/>
                </a:solidFill>
              </a:rPr>
              <a:t>)=1/j</a:t>
            </a:r>
            <a:r>
              <a:rPr lang="el-GR" sz="2800" dirty="0">
                <a:solidFill>
                  <a:srgbClr val="FF0000"/>
                </a:solidFill>
              </a:rPr>
              <a:t>ω</a:t>
            </a:r>
            <a:r>
              <a:rPr lang="en-GB" sz="2800" dirty="0">
                <a:solidFill>
                  <a:srgbClr val="FF0000"/>
                </a:solidFill>
              </a:rPr>
              <a:t> </a:t>
            </a:r>
            <a:r>
              <a:rPr lang="en-GB" sz="2800" dirty="0"/>
              <a:t>is the negative imaginary axis, since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1763688" y="2541759"/>
          <a:ext cx="1656184" cy="887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1000" imgH="380880" progId="Equation.3">
                  <p:embed/>
                </p:oleObj>
              </mc:Choice>
              <mc:Fallback>
                <p:oleObj name="Equation" r:id="rId2" imgW="71100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541759"/>
                        <a:ext cx="1656184" cy="88724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3" name="Object 3"/>
          <p:cNvGraphicFramePr>
            <a:graphicFrameLocks noChangeAspect="1"/>
          </p:cNvGraphicFramePr>
          <p:nvPr/>
        </p:nvGraphicFramePr>
        <p:xfrm>
          <a:off x="939800" y="3694113"/>
          <a:ext cx="3492500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8320" imgH="380880" progId="Equation.3">
                  <p:embed/>
                </p:oleObj>
              </mc:Choice>
              <mc:Fallback>
                <p:oleObj name="Equation" r:id="rId4" imgW="149832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800" y="3694113"/>
                        <a:ext cx="3492500" cy="887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4" name="Object 4"/>
          <p:cNvGraphicFramePr>
            <a:graphicFrameLocks noChangeAspect="1"/>
          </p:cNvGraphicFramePr>
          <p:nvPr/>
        </p:nvGraphicFramePr>
        <p:xfrm>
          <a:off x="264095" y="4978176"/>
          <a:ext cx="4379913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79560" imgH="355320" progId="Equation.3">
                  <p:embed/>
                </p:oleObj>
              </mc:Choice>
              <mc:Fallback>
                <p:oleObj name="Equation" r:id="rId6" imgW="187956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95" y="4978176"/>
                        <a:ext cx="4379913" cy="827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5"/>
          <p:cNvGrpSpPr/>
          <p:nvPr/>
        </p:nvGrpSpPr>
        <p:grpSpPr>
          <a:xfrm>
            <a:off x="5220072" y="2276872"/>
            <a:ext cx="3882789" cy="3456384"/>
            <a:chOff x="5220072" y="2276872"/>
            <a:chExt cx="3882789" cy="3456384"/>
          </a:xfrm>
        </p:grpSpPr>
        <p:grpSp>
          <p:nvGrpSpPr>
            <p:cNvPr id="13" name="Group 12"/>
            <p:cNvGrpSpPr/>
            <p:nvPr/>
          </p:nvGrpSpPr>
          <p:grpSpPr>
            <a:xfrm>
              <a:off x="5220072" y="2564904"/>
              <a:ext cx="3456000" cy="3168352"/>
              <a:chOff x="5436096" y="2564904"/>
              <a:chExt cx="3456000" cy="3168352"/>
            </a:xfrm>
          </p:grpSpPr>
          <p:cxnSp>
            <p:nvCxnSpPr>
              <p:cNvPr id="10" name="Straight Connector 9"/>
              <p:cNvCxnSpPr/>
              <p:nvPr/>
            </p:nvCxnSpPr>
            <p:spPr>
              <a:xfrm>
                <a:off x="7236296" y="2564904"/>
                <a:ext cx="0" cy="316835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5436096" y="4221088"/>
                <a:ext cx="3456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/>
            <p:cNvSpPr txBox="1"/>
            <p:nvPr/>
          </p:nvSpPr>
          <p:spPr>
            <a:xfrm>
              <a:off x="6804248" y="2276872"/>
              <a:ext cx="426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>
                  <a:solidFill>
                    <a:srgbClr val="FF0000"/>
                  </a:solidFill>
                </a:rPr>
                <a:t>Im</a:t>
              </a:r>
              <a:endParaRPr lang="en-GB" dirty="0">
                <a:solidFill>
                  <a:srgbClr val="FF0000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681784" y="4005064"/>
              <a:ext cx="421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Re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751444" y="3953001"/>
            <a:ext cx="983834" cy="700135"/>
            <a:chOff x="6751444" y="3953001"/>
            <a:chExt cx="983834" cy="700135"/>
          </a:xfrm>
        </p:grpSpPr>
        <p:sp>
          <p:nvSpPr>
            <p:cNvPr id="17" name="Arc 16"/>
            <p:cNvSpPr/>
            <p:nvPr/>
          </p:nvSpPr>
          <p:spPr>
            <a:xfrm rot="5655672">
              <a:off x="6761046" y="3943399"/>
              <a:ext cx="537622" cy="556825"/>
            </a:xfrm>
            <a:prstGeom prst="arc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164288" y="4283804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-</a:t>
              </a:r>
              <a:r>
                <a:rPr lang="en-GB" dirty="0" err="1">
                  <a:solidFill>
                    <a:srgbClr val="FF0000"/>
                  </a:solidFill>
                </a:rPr>
                <a:t>90</a:t>
              </a:r>
              <a:r>
                <a:rPr lang="en-GB" baseline="30000" dirty="0" err="1">
                  <a:solidFill>
                    <a:srgbClr val="FF0000"/>
                  </a:solidFill>
                </a:rPr>
                <a:t>o</a:t>
              </a:r>
              <a:endParaRPr lang="en-GB" baseline="30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6444208" y="5589240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FF0000"/>
                </a:solidFill>
              </a:rPr>
              <a:t>ω</a:t>
            </a:r>
            <a:r>
              <a:rPr lang="en-GB" dirty="0">
                <a:solidFill>
                  <a:srgbClr val="FF0000"/>
                </a:solidFill>
              </a:rPr>
              <a:t>=0</a:t>
            </a:r>
            <a:endParaRPr lang="en-GB" baseline="30000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58552" y="4211208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FF0000"/>
                </a:solidFill>
              </a:rPr>
              <a:t>ω</a:t>
            </a:r>
            <a:r>
              <a:rPr lang="en-GB" dirty="0">
                <a:solidFill>
                  <a:srgbClr val="FF0000"/>
                </a:solidFill>
              </a:rPr>
              <a:t>=</a:t>
            </a:r>
            <a:r>
              <a:rPr lang="en-GB" dirty="0">
                <a:solidFill>
                  <a:srgbClr val="FF0000"/>
                </a:solidFill>
                <a:latin typeface="Bell MT"/>
              </a:rPr>
              <a:t>∞</a:t>
            </a:r>
            <a:endParaRPr lang="en-GB" baseline="30000" dirty="0">
              <a:solidFill>
                <a:srgbClr val="FF0000"/>
              </a:solidFill>
            </a:endParaRPr>
          </a:p>
        </p:txBody>
      </p:sp>
      <p:cxnSp>
        <p:nvCxnSpPr>
          <p:cNvPr id="23" name="Straight Arrow Connector 22"/>
          <p:cNvCxnSpPr>
            <a:stCxn id="20" idx="3"/>
          </p:cNvCxnSpPr>
          <p:nvPr/>
        </p:nvCxnSpPr>
        <p:spPr>
          <a:xfrm flipH="1" flipV="1">
            <a:off x="7020272" y="4221088"/>
            <a:ext cx="1338" cy="155281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15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44624"/>
            <a:ext cx="8640960" cy="868958"/>
          </a:xfrm>
        </p:spPr>
        <p:txBody>
          <a:bodyPr>
            <a:noAutofit/>
          </a:bodyPr>
          <a:lstStyle/>
          <a:p>
            <a:r>
              <a:rPr lang="en-GB" sz="3500" dirty="0"/>
              <a:t>Nyquist Plot of Integral and Derivative Factors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79512" y="1196752"/>
            <a:ext cx="8640960" cy="4525963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The polar plot of </a:t>
            </a:r>
            <a:r>
              <a:rPr lang="en-GB" sz="2800" dirty="0">
                <a:solidFill>
                  <a:srgbClr val="FF0000"/>
                </a:solidFill>
              </a:rPr>
              <a:t>G(j</a:t>
            </a:r>
            <a:r>
              <a:rPr lang="el-GR" sz="2800" dirty="0">
                <a:solidFill>
                  <a:srgbClr val="FF0000"/>
                </a:solidFill>
              </a:rPr>
              <a:t>ω</a:t>
            </a:r>
            <a:r>
              <a:rPr lang="en-GB" sz="2800" dirty="0">
                <a:solidFill>
                  <a:srgbClr val="FF0000"/>
                </a:solidFill>
              </a:rPr>
              <a:t>)=j</a:t>
            </a:r>
            <a:r>
              <a:rPr lang="el-GR" sz="2800" dirty="0">
                <a:solidFill>
                  <a:srgbClr val="FF0000"/>
                </a:solidFill>
              </a:rPr>
              <a:t>ω</a:t>
            </a:r>
            <a:r>
              <a:rPr lang="en-GB" sz="2800" dirty="0">
                <a:solidFill>
                  <a:srgbClr val="FF0000"/>
                </a:solidFill>
              </a:rPr>
              <a:t> </a:t>
            </a:r>
            <a:r>
              <a:rPr lang="en-GB" sz="2800" dirty="0"/>
              <a:t>is the positive imaginary axis, since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1792287" y="2747963"/>
          <a:ext cx="2055983" cy="609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5800" imgH="203040" progId="Equation.3">
                  <p:embed/>
                </p:oleObj>
              </mc:Choice>
              <mc:Fallback>
                <p:oleObj name="Equation" r:id="rId2" imgW="6858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2287" y="2747963"/>
                        <a:ext cx="2055983" cy="60902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4" name="Object 4"/>
          <p:cNvGraphicFramePr>
            <a:graphicFrameLocks noChangeAspect="1"/>
          </p:cNvGraphicFramePr>
          <p:nvPr/>
        </p:nvGraphicFramePr>
        <p:xfrm>
          <a:off x="371475" y="3717032"/>
          <a:ext cx="4704582" cy="592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14320" imgH="215640" progId="Equation.3">
                  <p:embed/>
                </p:oleObj>
              </mc:Choice>
              <mc:Fallback>
                <p:oleObj name="Equation" r:id="rId4" imgW="17143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" y="3717032"/>
                        <a:ext cx="4704582" cy="59251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5"/>
          <p:cNvGrpSpPr/>
          <p:nvPr/>
        </p:nvGrpSpPr>
        <p:grpSpPr>
          <a:xfrm>
            <a:off x="5220072" y="2276872"/>
            <a:ext cx="3882789" cy="3456384"/>
            <a:chOff x="5220072" y="2276872"/>
            <a:chExt cx="3882789" cy="3456384"/>
          </a:xfrm>
        </p:grpSpPr>
        <p:grpSp>
          <p:nvGrpSpPr>
            <p:cNvPr id="4" name="Group 12"/>
            <p:cNvGrpSpPr/>
            <p:nvPr/>
          </p:nvGrpSpPr>
          <p:grpSpPr>
            <a:xfrm>
              <a:off x="5220072" y="2564904"/>
              <a:ext cx="3456000" cy="3168352"/>
              <a:chOff x="5436096" y="2564904"/>
              <a:chExt cx="3456000" cy="3168352"/>
            </a:xfrm>
          </p:grpSpPr>
          <p:cxnSp>
            <p:nvCxnSpPr>
              <p:cNvPr id="10" name="Straight Connector 9"/>
              <p:cNvCxnSpPr/>
              <p:nvPr/>
            </p:nvCxnSpPr>
            <p:spPr>
              <a:xfrm>
                <a:off x="7236296" y="2564904"/>
                <a:ext cx="0" cy="316835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5436096" y="4221088"/>
                <a:ext cx="3456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/>
            <p:cNvSpPr txBox="1"/>
            <p:nvPr/>
          </p:nvSpPr>
          <p:spPr>
            <a:xfrm>
              <a:off x="6804248" y="2276872"/>
              <a:ext cx="426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>
                  <a:solidFill>
                    <a:srgbClr val="FF0000"/>
                  </a:solidFill>
                </a:rPr>
                <a:t>Im</a:t>
              </a:r>
              <a:endParaRPr lang="en-GB" dirty="0">
                <a:solidFill>
                  <a:srgbClr val="FF0000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681784" y="4005064"/>
              <a:ext cx="421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Re</a:t>
              </a:r>
            </a:p>
          </p:txBody>
        </p:sp>
      </p:grpSp>
      <p:sp>
        <p:nvSpPr>
          <p:cNvPr id="17" name="Arc 16"/>
          <p:cNvSpPr/>
          <p:nvPr/>
        </p:nvSpPr>
        <p:spPr>
          <a:xfrm rot="15944328" flipV="1">
            <a:off x="6761046" y="3943399"/>
            <a:ext cx="537622" cy="556825"/>
          </a:xfrm>
          <a:prstGeom prst="arc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/>
          <p:cNvSpPr txBox="1"/>
          <p:nvPr/>
        </p:nvSpPr>
        <p:spPr>
          <a:xfrm>
            <a:off x="7164288" y="3717032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>
                <a:solidFill>
                  <a:srgbClr val="FF0000"/>
                </a:solidFill>
              </a:rPr>
              <a:t>90</a:t>
            </a:r>
            <a:r>
              <a:rPr lang="en-GB" baseline="30000" dirty="0" err="1">
                <a:solidFill>
                  <a:srgbClr val="FF0000"/>
                </a:solidFill>
              </a:rPr>
              <a:t>o</a:t>
            </a:r>
            <a:endParaRPr lang="en-GB" baseline="30000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72200" y="3923764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FF0000"/>
                </a:solidFill>
              </a:rPr>
              <a:t>ω</a:t>
            </a:r>
            <a:r>
              <a:rPr lang="en-GB" dirty="0">
                <a:solidFill>
                  <a:srgbClr val="FF0000"/>
                </a:solidFill>
              </a:rPr>
              <a:t>=0</a:t>
            </a:r>
            <a:endParaRPr lang="en-GB" baseline="30000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00192" y="2636912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FF0000"/>
                </a:solidFill>
              </a:rPr>
              <a:t>ω</a:t>
            </a:r>
            <a:r>
              <a:rPr lang="en-GB" dirty="0">
                <a:solidFill>
                  <a:srgbClr val="FF0000"/>
                </a:solidFill>
              </a:rPr>
              <a:t>=</a:t>
            </a:r>
            <a:r>
              <a:rPr lang="en-GB" dirty="0">
                <a:solidFill>
                  <a:srgbClr val="FF0000"/>
                </a:solidFill>
                <a:latin typeface="Bell MT"/>
              </a:rPr>
              <a:t>∞</a:t>
            </a:r>
            <a:endParaRPr lang="en-GB" baseline="30000" dirty="0">
              <a:solidFill>
                <a:srgbClr val="FF0000"/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H="1" flipV="1">
            <a:off x="7020272" y="2654328"/>
            <a:ext cx="1338" cy="155281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3102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20" grpId="0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44624"/>
            <a:ext cx="8640960" cy="868958"/>
          </a:xfrm>
        </p:spPr>
        <p:txBody>
          <a:bodyPr>
            <a:noAutofit/>
          </a:bodyPr>
          <a:lstStyle/>
          <a:p>
            <a:r>
              <a:rPr lang="en-GB" sz="3500" dirty="0"/>
              <a:t>Nyquist Plot of First Order Factors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79512" y="1268760"/>
            <a:ext cx="8640960" cy="4525963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The polar plot of first order factor in numerator is 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971600" y="2060848"/>
          <a:ext cx="2412510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50680" imgH="203040" progId="Equation.3">
                  <p:embed/>
                </p:oleObj>
              </mc:Choice>
              <mc:Fallback>
                <p:oleObj name="Equation" r:id="rId2" imgW="8506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2060848"/>
                        <a:ext cx="2412510" cy="5760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5"/>
          <p:cNvGrpSpPr/>
          <p:nvPr/>
        </p:nvGrpSpPr>
        <p:grpSpPr>
          <a:xfrm>
            <a:off x="4860032" y="3068960"/>
            <a:ext cx="3882789" cy="3456384"/>
            <a:chOff x="5220072" y="2276872"/>
            <a:chExt cx="3882789" cy="3456384"/>
          </a:xfrm>
        </p:grpSpPr>
        <p:grpSp>
          <p:nvGrpSpPr>
            <p:cNvPr id="4" name="Group 12"/>
            <p:cNvGrpSpPr/>
            <p:nvPr/>
          </p:nvGrpSpPr>
          <p:grpSpPr>
            <a:xfrm>
              <a:off x="5220072" y="2564904"/>
              <a:ext cx="3456000" cy="3168352"/>
              <a:chOff x="5436096" y="2564904"/>
              <a:chExt cx="3456000" cy="3168352"/>
            </a:xfrm>
          </p:grpSpPr>
          <p:cxnSp>
            <p:nvCxnSpPr>
              <p:cNvPr id="10" name="Straight Connector 9"/>
              <p:cNvCxnSpPr/>
              <p:nvPr/>
            </p:nvCxnSpPr>
            <p:spPr>
              <a:xfrm>
                <a:off x="7236296" y="2564904"/>
                <a:ext cx="0" cy="316835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5436096" y="4221088"/>
                <a:ext cx="3456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/>
            <p:cNvSpPr txBox="1"/>
            <p:nvPr/>
          </p:nvSpPr>
          <p:spPr>
            <a:xfrm>
              <a:off x="6804248" y="2276872"/>
              <a:ext cx="426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>
                  <a:solidFill>
                    <a:srgbClr val="FF0000"/>
                  </a:solidFill>
                </a:rPr>
                <a:t>Im</a:t>
              </a:r>
              <a:endParaRPr lang="en-GB" dirty="0">
                <a:solidFill>
                  <a:srgbClr val="FF0000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681784" y="4005064"/>
              <a:ext cx="421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Re</a:t>
              </a:r>
            </a:p>
          </p:txBody>
        </p:sp>
      </p:grpSp>
      <p:cxnSp>
        <p:nvCxnSpPr>
          <p:cNvPr id="23" name="Straight Arrow Connector 22"/>
          <p:cNvCxnSpPr/>
          <p:nvPr/>
        </p:nvCxnSpPr>
        <p:spPr>
          <a:xfrm flipH="1" flipV="1">
            <a:off x="7207662" y="2955088"/>
            <a:ext cx="1338" cy="2052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11560" y="2996952"/>
          <a:ext cx="3384376" cy="338328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l-GR" sz="2800" dirty="0"/>
                        <a:t>ω</a:t>
                      </a:r>
                      <a:endParaRPr lang="en-GB" sz="2800" b="1" dirty="0"/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Re</a:t>
                      </a:r>
                      <a:endParaRPr lang="en-GB" sz="2800" b="1" dirty="0"/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 err="1"/>
                        <a:t>Im</a:t>
                      </a:r>
                      <a:endParaRPr lang="en-GB" sz="2800" b="1" dirty="0"/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0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1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0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1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1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1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2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1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2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∞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1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∞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5" name="Group 24"/>
          <p:cNvGrpSpPr/>
          <p:nvPr/>
        </p:nvGrpSpPr>
        <p:grpSpPr>
          <a:xfrm>
            <a:off x="7061216" y="4738792"/>
            <a:ext cx="601448" cy="626873"/>
            <a:chOff x="7421256" y="3946704"/>
            <a:chExt cx="601448" cy="626873"/>
          </a:xfrm>
        </p:grpSpPr>
        <p:sp>
          <p:nvSpPr>
            <p:cNvPr id="20" name="TextBox 19"/>
            <p:cNvSpPr txBox="1"/>
            <p:nvPr/>
          </p:nvSpPr>
          <p:spPr>
            <a:xfrm>
              <a:off x="7531864" y="3946704"/>
              <a:ext cx="4908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1400" dirty="0">
                  <a:solidFill>
                    <a:srgbClr val="FF0000"/>
                  </a:solidFill>
                </a:rPr>
                <a:t>ω</a:t>
              </a:r>
              <a:r>
                <a:rPr lang="en-GB" sz="1400" dirty="0">
                  <a:solidFill>
                    <a:srgbClr val="FF0000"/>
                  </a:solidFill>
                </a:rPr>
                <a:t>=0</a:t>
              </a:r>
              <a:endParaRPr lang="en-GB" sz="1400" baseline="30000" dirty="0">
                <a:solidFill>
                  <a:srgbClr val="FF0000"/>
                </a:solidFill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7529024" y="4180152"/>
              <a:ext cx="72000" cy="72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421256" y="42658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solidFill>
                    <a:srgbClr val="FF0000"/>
                  </a:solidFill>
                </a:rPr>
                <a:t>1</a:t>
              </a:r>
              <a:endParaRPr lang="en-GB" sz="1400" baseline="30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6" name="Oval 25"/>
          <p:cNvSpPr/>
          <p:nvPr/>
        </p:nvSpPr>
        <p:spPr>
          <a:xfrm>
            <a:off x="7177936" y="4509120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/>
          <p:cNvSpPr txBox="1"/>
          <p:nvPr/>
        </p:nvSpPr>
        <p:spPr>
          <a:xfrm>
            <a:off x="6401610" y="440981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1</a:t>
            </a:r>
            <a:endParaRPr lang="en-GB" sz="1400" baseline="30000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98688" y="4386303"/>
            <a:ext cx="490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400" dirty="0">
                <a:solidFill>
                  <a:srgbClr val="FF0000"/>
                </a:solidFill>
              </a:rPr>
              <a:t>ω</a:t>
            </a:r>
            <a:r>
              <a:rPr lang="en-GB" sz="1400" dirty="0">
                <a:solidFill>
                  <a:srgbClr val="FF0000"/>
                </a:solidFill>
              </a:rPr>
              <a:t>=1</a:t>
            </a:r>
            <a:endParaRPr lang="en-GB" sz="1400" baseline="30000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215040" y="3958023"/>
            <a:ext cx="490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400" dirty="0">
                <a:solidFill>
                  <a:srgbClr val="FF0000"/>
                </a:solidFill>
              </a:rPr>
              <a:t>ω</a:t>
            </a:r>
            <a:r>
              <a:rPr lang="en-GB" sz="1400" dirty="0">
                <a:solidFill>
                  <a:srgbClr val="FF0000"/>
                </a:solidFill>
              </a:rPr>
              <a:t>=2</a:t>
            </a:r>
            <a:endParaRPr lang="en-GB" sz="1400" baseline="30000" dirty="0">
              <a:solidFill>
                <a:srgbClr val="FF0000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7185472" y="4077072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/>
          <p:cNvSpPr txBox="1"/>
          <p:nvPr/>
        </p:nvSpPr>
        <p:spPr>
          <a:xfrm>
            <a:off x="6390234" y="397776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2</a:t>
            </a:r>
            <a:endParaRPr lang="en-GB" sz="1400" baseline="30000" dirty="0">
              <a:solidFill>
                <a:srgbClr val="FF0000"/>
              </a:solidFill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>
            <a:off x="6627744" y="4121784"/>
            <a:ext cx="7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6619288" y="4553832"/>
            <a:ext cx="7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176898" y="3016712"/>
            <a:ext cx="5709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400" dirty="0">
                <a:solidFill>
                  <a:srgbClr val="FF0000"/>
                </a:solidFill>
              </a:rPr>
              <a:t>ω</a:t>
            </a:r>
            <a:r>
              <a:rPr lang="en-GB" sz="1400" dirty="0">
                <a:solidFill>
                  <a:srgbClr val="FF0000"/>
                </a:solidFill>
              </a:rPr>
              <a:t>=</a:t>
            </a:r>
            <a:r>
              <a:rPr lang="en-GB" sz="1400" dirty="0">
                <a:solidFill>
                  <a:srgbClr val="FF0000"/>
                </a:solidFill>
                <a:latin typeface="Bell MT"/>
              </a:rPr>
              <a:t> ∞</a:t>
            </a:r>
            <a:endParaRPr lang="en-GB" sz="1400" dirty="0">
              <a:solidFill>
                <a:srgbClr val="FF0000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7177936" y="3140968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2814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/>
      <p:bldP spid="28" grpId="0"/>
      <p:bldP spid="29" grpId="0"/>
      <p:bldP spid="30" grpId="0" animBg="1"/>
      <p:bldP spid="31" grpId="0"/>
      <p:bldP spid="35" grpId="0"/>
      <p:bldP spid="3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44624"/>
            <a:ext cx="8640960" cy="868958"/>
          </a:xfrm>
        </p:spPr>
        <p:txBody>
          <a:bodyPr>
            <a:noAutofit/>
          </a:bodyPr>
          <a:lstStyle/>
          <a:p>
            <a:r>
              <a:rPr lang="en-GB" sz="3500" dirty="0"/>
              <a:t>Nyquist Plot of First Order Factors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79512" y="1268760"/>
            <a:ext cx="8640960" cy="4525963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The polar plot of first order factor in denominator is 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51520" y="2092116"/>
          <a:ext cx="2414017" cy="1048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76240" imgH="380880" progId="Equation.3">
                  <p:embed/>
                </p:oleObj>
              </mc:Choice>
              <mc:Fallback>
                <p:oleObj name="Equation" r:id="rId2" imgW="87624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2092116"/>
                        <a:ext cx="2414017" cy="10482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3" name="Object 2"/>
          <p:cNvGraphicFramePr>
            <a:graphicFrameLocks noChangeAspect="1"/>
          </p:cNvGraphicFramePr>
          <p:nvPr/>
        </p:nvGraphicFramePr>
        <p:xfrm>
          <a:off x="179512" y="3212976"/>
          <a:ext cx="3640138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20480" imgH="380880" progId="Equation.3">
                  <p:embed/>
                </p:oleObj>
              </mc:Choice>
              <mc:Fallback>
                <p:oleObj name="Equation" r:id="rId4" imgW="132048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3212976"/>
                        <a:ext cx="3640138" cy="1047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08" name="Object 2"/>
          <p:cNvGraphicFramePr>
            <a:graphicFrameLocks noChangeAspect="1"/>
          </p:cNvGraphicFramePr>
          <p:nvPr/>
        </p:nvGraphicFramePr>
        <p:xfrm>
          <a:off x="251520" y="4365104"/>
          <a:ext cx="241617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76240" imgH="368280" progId="Equation.3">
                  <p:embed/>
                </p:oleObj>
              </mc:Choice>
              <mc:Fallback>
                <p:oleObj name="Equation" r:id="rId6" imgW="87624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4365104"/>
                        <a:ext cx="2416175" cy="1012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09" name="Object 2"/>
          <p:cNvGraphicFramePr>
            <a:graphicFrameLocks noChangeAspect="1"/>
          </p:cNvGraphicFramePr>
          <p:nvPr/>
        </p:nvGraphicFramePr>
        <p:xfrm>
          <a:off x="251520" y="5517232"/>
          <a:ext cx="3922713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22360" imgH="368280" progId="Equation.3">
                  <p:embed/>
                </p:oleObj>
              </mc:Choice>
              <mc:Fallback>
                <p:oleObj name="Equation" r:id="rId8" imgW="142236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5517232"/>
                        <a:ext cx="3922713" cy="1012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5076056" y="2470122"/>
          <a:ext cx="3384376" cy="376719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1104">
                <a:tc>
                  <a:txBody>
                    <a:bodyPr/>
                    <a:lstStyle/>
                    <a:p>
                      <a:pPr algn="ctr"/>
                      <a:r>
                        <a:rPr lang="el-GR" sz="2800" dirty="0"/>
                        <a:t>ω</a:t>
                      </a:r>
                      <a:endParaRPr lang="en-GB" sz="2800" b="1" dirty="0"/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Re</a:t>
                      </a:r>
                      <a:endParaRPr lang="en-GB" sz="2800" b="1" dirty="0"/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 err="1"/>
                        <a:t>Im</a:t>
                      </a:r>
                      <a:endParaRPr lang="en-GB" sz="2800" b="1" dirty="0"/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0.5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0.8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0.4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1/2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-1/2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1/5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-2/5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∞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35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Arc 36"/>
          <p:cNvSpPr/>
          <p:nvPr/>
        </p:nvSpPr>
        <p:spPr>
          <a:xfrm rot="9951543">
            <a:off x="6564675" y="3314799"/>
            <a:ext cx="1430619" cy="1656748"/>
          </a:xfrm>
          <a:prstGeom prst="arc">
            <a:avLst>
              <a:gd name="adj1" fmla="val 12340603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44624"/>
            <a:ext cx="8640960" cy="868958"/>
          </a:xfrm>
        </p:spPr>
        <p:txBody>
          <a:bodyPr>
            <a:noAutofit/>
          </a:bodyPr>
          <a:lstStyle/>
          <a:p>
            <a:r>
              <a:rPr lang="en-GB" sz="3500" dirty="0"/>
              <a:t>Nyquist Plot of First Order Factors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07504" y="1052736"/>
            <a:ext cx="8640960" cy="4525963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The polar plot of first order factor in denominator is </a:t>
            </a:r>
          </a:p>
        </p:txBody>
      </p:sp>
      <p:grpSp>
        <p:nvGrpSpPr>
          <p:cNvPr id="3" name="Group 15"/>
          <p:cNvGrpSpPr/>
          <p:nvPr/>
        </p:nvGrpSpPr>
        <p:grpSpPr>
          <a:xfrm>
            <a:off x="4788024" y="2276872"/>
            <a:ext cx="4032448" cy="3528392"/>
            <a:chOff x="5220072" y="2204864"/>
            <a:chExt cx="4032448" cy="3528392"/>
          </a:xfrm>
        </p:grpSpPr>
        <p:grpSp>
          <p:nvGrpSpPr>
            <p:cNvPr id="4" name="Group 12"/>
            <p:cNvGrpSpPr/>
            <p:nvPr/>
          </p:nvGrpSpPr>
          <p:grpSpPr>
            <a:xfrm>
              <a:off x="5220072" y="2564904"/>
              <a:ext cx="3456000" cy="3168352"/>
              <a:chOff x="5436096" y="2564904"/>
              <a:chExt cx="3456000" cy="3168352"/>
            </a:xfrm>
          </p:grpSpPr>
          <p:cxnSp>
            <p:nvCxnSpPr>
              <p:cNvPr id="10" name="Straight Connector 9"/>
              <p:cNvCxnSpPr/>
              <p:nvPr/>
            </p:nvCxnSpPr>
            <p:spPr>
              <a:xfrm>
                <a:off x="7236296" y="2564904"/>
                <a:ext cx="0" cy="316835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5436096" y="4221088"/>
                <a:ext cx="3456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/>
            <p:cNvSpPr txBox="1"/>
            <p:nvPr/>
          </p:nvSpPr>
          <p:spPr>
            <a:xfrm>
              <a:off x="6804248" y="2204864"/>
              <a:ext cx="426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>
                  <a:solidFill>
                    <a:srgbClr val="FF0000"/>
                  </a:solidFill>
                </a:rPr>
                <a:t>Im</a:t>
              </a:r>
              <a:endParaRPr lang="en-GB" dirty="0">
                <a:solidFill>
                  <a:srgbClr val="FF0000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831443" y="4005064"/>
              <a:ext cx="421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Re</a:t>
              </a:r>
            </a:p>
          </p:txBody>
        </p:sp>
      </p:grpSp>
      <p:grpSp>
        <p:nvGrpSpPr>
          <p:cNvPr id="5" name="Group 24"/>
          <p:cNvGrpSpPr/>
          <p:nvPr/>
        </p:nvGrpSpPr>
        <p:grpSpPr>
          <a:xfrm>
            <a:off x="7949079" y="4012615"/>
            <a:ext cx="505710" cy="556289"/>
            <a:chOff x="7516994" y="3940607"/>
            <a:chExt cx="505710" cy="556289"/>
          </a:xfrm>
        </p:grpSpPr>
        <p:sp>
          <p:nvSpPr>
            <p:cNvPr id="20" name="TextBox 19"/>
            <p:cNvSpPr txBox="1"/>
            <p:nvPr/>
          </p:nvSpPr>
          <p:spPr>
            <a:xfrm>
              <a:off x="7531864" y="4189119"/>
              <a:ext cx="4908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1400" dirty="0">
                  <a:solidFill>
                    <a:srgbClr val="FF0000"/>
                  </a:solidFill>
                </a:rPr>
                <a:t>ω</a:t>
              </a:r>
              <a:r>
                <a:rPr lang="en-GB" sz="1400" dirty="0">
                  <a:solidFill>
                    <a:srgbClr val="FF0000"/>
                  </a:solidFill>
                </a:rPr>
                <a:t>=0</a:t>
              </a:r>
              <a:endParaRPr lang="en-GB" sz="1400" baseline="30000" dirty="0">
                <a:solidFill>
                  <a:srgbClr val="FF0000"/>
                </a:solidFill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7529024" y="4180152"/>
              <a:ext cx="72000" cy="72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516994" y="394060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solidFill>
                    <a:srgbClr val="FF0000"/>
                  </a:solidFill>
                </a:rPr>
                <a:t>1</a:t>
              </a:r>
              <a:endParaRPr lang="en-GB" sz="1400" baseline="30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7158645" y="4921423"/>
            <a:ext cx="490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400" dirty="0">
                <a:solidFill>
                  <a:srgbClr val="FF0000"/>
                </a:solidFill>
              </a:rPr>
              <a:t>ω</a:t>
            </a:r>
            <a:r>
              <a:rPr lang="en-GB" sz="1400" dirty="0">
                <a:solidFill>
                  <a:srgbClr val="FF0000"/>
                </a:solidFill>
              </a:rPr>
              <a:t>=1</a:t>
            </a:r>
            <a:endParaRPr lang="en-GB" sz="1400" baseline="30000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01941" y="4534087"/>
            <a:ext cx="490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400" dirty="0">
                <a:solidFill>
                  <a:srgbClr val="FF0000"/>
                </a:solidFill>
              </a:rPr>
              <a:t>ω</a:t>
            </a:r>
            <a:r>
              <a:rPr lang="en-GB" sz="1400" dirty="0">
                <a:solidFill>
                  <a:srgbClr val="FF0000"/>
                </a:solidFill>
              </a:rPr>
              <a:t>=2</a:t>
            </a:r>
            <a:endParaRPr lang="en-GB" sz="1400" baseline="30000" dirty="0">
              <a:solidFill>
                <a:srgbClr val="FF0000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7316317" y="4923752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/>
          <p:cNvSpPr txBox="1"/>
          <p:nvPr/>
        </p:nvSpPr>
        <p:spPr>
          <a:xfrm>
            <a:off x="6170293" y="4818350"/>
            <a:ext cx="594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-0.5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6555736" y="4948719"/>
            <a:ext cx="7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058765" y="4059656"/>
            <a:ext cx="5709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400" dirty="0">
                <a:solidFill>
                  <a:srgbClr val="FF0000"/>
                </a:solidFill>
              </a:rPr>
              <a:t>ω</a:t>
            </a:r>
            <a:r>
              <a:rPr lang="en-GB" sz="1400" dirty="0">
                <a:solidFill>
                  <a:srgbClr val="FF0000"/>
                </a:solidFill>
              </a:rPr>
              <a:t>=</a:t>
            </a:r>
            <a:r>
              <a:rPr lang="en-GB" sz="1400" dirty="0">
                <a:solidFill>
                  <a:srgbClr val="FF0000"/>
                </a:solidFill>
                <a:latin typeface="Bell MT"/>
              </a:rPr>
              <a:t> ∞</a:t>
            </a:r>
            <a:endParaRPr lang="en-GB" sz="1400" dirty="0">
              <a:solidFill>
                <a:srgbClr val="FF0000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6541645" y="4254504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83568" y="2182090"/>
          <a:ext cx="3384376" cy="376719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1104">
                <a:tc>
                  <a:txBody>
                    <a:bodyPr/>
                    <a:lstStyle/>
                    <a:p>
                      <a:pPr algn="ctr"/>
                      <a:r>
                        <a:rPr lang="el-GR" sz="2800" dirty="0"/>
                        <a:t>ω</a:t>
                      </a:r>
                      <a:endParaRPr lang="en-GB" sz="2800" b="1" dirty="0"/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Re</a:t>
                      </a:r>
                      <a:endParaRPr lang="en-GB" sz="2800" b="1" dirty="0"/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 err="1"/>
                        <a:t>Im</a:t>
                      </a:r>
                      <a:endParaRPr lang="en-GB" sz="2800" b="1" dirty="0"/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0.5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0.8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-0.4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0.5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-0.5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0.2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-0.4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∞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113344" y="3985319"/>
            <a:ext cx="46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0.5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6563272" y="4756209"/>
            <a:ext cx="7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6771309" y="4694088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TextBox 49"/>
          <p:cNvSpPr txBox="1"/>
          <p:nvPr/>
        </p:nvSpPr>
        <p:spPr>
          <a:xfrm>
            <a:off x="6636584" y="3985319"/>
            <a:ext cx="450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0.2</a:t>
            </a:r>
          </a:p>
        </p:txBody>
      </p:sp>
      <p:cxnSp>
        <p:nvCxnSpPr>
          <p:cNvPr id="53" name="Straight Connector 52"/>
          <p:cNvCxnSpPr/>
          <p:nvPr/>
        </p:nvCxnSpPr>
        <p:spPr>
          <a:xfrm flipV="1">
            <a:off x="6804248" y="4252160"/>
            <a:ext cx="0" cy="7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7326189" y="4262032"/>
            <a:ext cx="0" cy="7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/>
          <p:cNvGrpSpPr/>
          <p:nvPr/>
        </p:nvGrpSpPr>
        <p:grpSpPr>
          <a:xfrm>
            <a:off x="6177829" y="4005064"/>
            <a:ext cx="2197191" cy="989200"/>
            <a:chOff x="6177829" y="4005064"/>
            <a:chExt cx="2197191" cy="989200"/>
          </a:xfrm>
        </p:grpSpPr>
        <p:sp>
          <p:nvSpPr>
            <p:cNvPr id="42" name="TextBox 41"/>
            <p:cNvSpPr txBox="1"/>
            <p:nvPr/>
          </p:nvSpPr>
          <p:spPr>
            <a:xfrm>
              <a:off x="6177829" y="4587240"/>
              <a:ext cx="5940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solidFill>
                    <a:srgbClr val="FF0000"/>
                  </a:solidFill>
                </a:rPr>
                <a:t>-0.4</a:t>
              </a:r>
            </a:p>
          </p:txBody>
        </p:sp>
        <p:grpSp>
          <p:nvGrpSpPr>
            <p:cNvPr id="66" name="Group 65"/>
            <p:cNvGrpSpPr/>
            <p:nvPr/>
          </p:nvGrpSpPr>
          <p:grpSpPr>
            <a:xfrm>
              <a:off x="7590693" y="4005064"/>
              <a:ext cx="784327" cy="989200"/>
              <a:chOff x="7590693" y="4005064"/>
              <a:chExt cx="784327" cy="989200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7762005" y="4710057"/>
                <a:ext cx="72000" cy="72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7590693" y="4005064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solidFill>
                      <a:srgbClr val="FF0000"/>
                    </a:solidFill>
                  </a:rPr>
                  <a:t>0.8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7747925" y="4686487"/>
                <a:ext cx="62709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sz="1400" dirty="0">
                    <a:solidFill>
                      <a:srgbClr val="FF0000"/>
                    </a:solidFill>
                  </a:rPr>
                  <a:t>ω</a:t>
                </a:r>
                <a:r>
                  <a:rPr lang="en-GB" sz="1400" dirty="0">
                    <a:solidFill>
                      <a:srgbClr val="FF0000"/>
                    </a:solidFill>
                  </a:rPr>
                  <a:t>=0.5</a:t>
                </a:r>
                <a:endParaRPr lang="en-GB" sz="1400" baseline="300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55" name="Straight Connector 54"/>
              <p:cNvCxnSpPr/>
              <p:nvPr/>
            </p:nvCxnSpPr>
            <p:spPr>
              <a:xfrm flipV="1">
                <a:off x="7806717" y="4265808"/>
                <a:ext cx="0" cy="72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79478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28" grpId="0"/>
      <p:bldP spid="29" grpId="0"/>
      <p:bldP spid="30" grpId="0" animBg="1"/>
      <p:bldP spid="35" grpId="0"/>
      <p:bldP spid="36" grpId="0" animBg="1"/>
      <p:bldP spid="39" grpId="0"/>
      <p:bldP spid="48" grpId="0" animBg="1"/>
      <p:bldP spid="50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Arc 36"/>
          <p:cNvSpPr/>
          <p:nvPr/>
        </p:nvSpPr>
        <p:spPr>
          <a:xfrm rot="9951543">
            <a:off x="6578323" y="3278781"/>
            <a:ext cx="1430619" cy="1656748"/>
          </a:xfrm>
          <a:prstGeom prst="arc">
            <a:avLst>
              <a:gd name="adj1" fmla="val 12340603"/>
              <a:gd name="adj2" fmla="val 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44624"/>
            <a:ext cx="8640960" cy="868958"/>
          </a:xfrm>
        </p:spPr>
        <p:txBody>
          <a:bodyPr>
            <a:noAutofit/>
          </a:bodyPr>
          <a:lstStyle/>
          <a:p>
            <a:r>
              <a:rPr lang="en-GB" sz="3500" dirty="0"/>
              <a:t>Nyquist Plot of First Order Factors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07504" y="1052736"/>
            <a:ext cx="8640960" cy="4525963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The polar plot of first order factor in denominator is </a:t>
            </a:r>
          </a:p>
        </p:txBody>
      </p:sp>
      <p:grpSp>
        <p:nvGrpSpPr>
          <p:cNvPr id="3" name="Group 15"/>
          <p:cNvGrpSpPr/>
          <p:nvPr/>
        </p:nvGrpSpPr>
        <p:grpSpPr>
          <a:xfrm>
            <a:off x="4788024" y="2276872"/>
            <a:ext cx="4032448" cy="3528392"/>
            <a:chOff x="5220072" y="2204864"/>
            <a:chExt cx="4032448" cy="3528392"/>
          </a:xfrm>
        </p:grpSpPr>
        <p:grpSp>
          <p:nvGrpSpPr>
            <p:cNvPr id="4" name="Group 12"/>
            <p:cNvGrpSpPr/>
            <p:nvPr/>
          </p:nvGrpSpPr>
          <p:grpSpPr>
            <a:xfrm>
              <a:off x="5220072" y="2564904"/>
              <a:ext cx="3456000" cy="3168352"/>
              <a:chOff x="5436096" y="2564904"/>
              <a:chExt cx="3456000" cy="3168352"/>
            </a:xfrm>
          </p:grpSpPr>
          <p:cxnSp>
            <p:nvCxnSpPr>
              <p:cNvPr id="10" name="Straight Connector 9"/>
              <p:cNvCxnSpPr/>
              <p:nvPr/>
            </p:nvCxnSpPr>
            <p:spPr>
              <a:xfrm>
                <a:off x="7236296" y="2564904"/>
                <a:ext cx="0" cy="316835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5436096" y="4221088"/>
                <a:ext cx="3456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/>
            <p:cNvSpPr txBox="1"/>
            <p:nvPr/>
          </p:nvSpPr>
          <p:spPr>
            <a:xfrm>
              <a:off x="6804248" y="2204864"/>
              <a:ext cx="426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>
                  <a:solidFill>
                    <a:srgbClr val="FF0000"/>
                  </a:solidFill>
                </a:rPr>
                <a:t>Im</a:t>
              </a:r>
              <a:endParaRPr lang="en-GB" dirty="0">
                <a:solidFill>
                  <a:srgbClr val="FF0000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831443" y="4005064"/>
              <a:ext cx="421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Re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6601440" y="4797152"/>
            <a:ext cx="490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400" dirty="0">
                <a:solidFill>
                  <a:srgbClr val="FF0000"/>
                </a:solidFill>
              </a:rPr>
              <a:t>ω</a:t>
            </a:r>
            <a:r>
              <a:rPr lang="en-GB" sz="1400" dirty="0">
                <a:solidFill>
                  <a:srgbClr val="FF0000"/>
                </a:solidFill>
              </a:rPr>
              <a:t>=2</a:t>
            </a:r>
            <a:endParaRPr lang="en-GB" sz="1400" baseline="300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058765" y="4059656"/>
            <a:ext cx="5709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400" dirty="0">
                <a:solidFill>
                  <a:srgbClr val="FF0000"/>
                </a:solidFill>
              </a:rPr>
              <a:t>ω</a:t>
            </a:r>
            <a:r>
              <a:rPr lang="en-GB" sz="1400" dirty="0">
                <a:solidFill>
                  <a:srgbClr val="FF0000"/>
                </a:solidFill>
              </a:rPr>
              <a:t>=</a:t>
            </a:r>
            <a:r>
              <a:rPr lang="en-GB" sz="1400" dirty="0">
                <a:solidFill>
                  <a:srgbClr val="FF0000"/>
                </a:solidFill>
                <a:latin typeface="Bell MT"/>
              </a:rPr>
              <a:t> ∞</a:t>
            </a:r>
            <a:endParaRPr lang="en-GB" sz="1400" dirty="0">
              <a:solidFill>
                <a:srgbClr val="FF0000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6541645" y="4254504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251520" y="2182090"/>
          <a:ext cx="4464496" cy="376719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630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7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7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1104">
                <a:tc>
                  <a:txBody>
                    <a:bodyPr/>
                    <a:lstStyle/>
                    <a:p>
                      <a:pPr algn="ctr"/>
                      <a:r>
                        <a:rPr lang="el-GR" sz="2800" dirty="0"/>
                        <a:t>ω</a:t>
                      </a:r>
                      <a:endParaRPr lang="en-GB" sz="2800" b="1" dirty="0"/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Re</a:t>
                      </a:r>
                      <a:endParaRPr lang="en-GB" sz="2800" b="1" dirty="0"/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 err="1"/>
                        <a:t>Im</a:t>
                      </a:r>
                      <a:endParaRPr lang="en-GB" sz="2800" b="1" dirty="0"/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800" b="1" dirty="0"/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800" b="1" dirty="0"/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 err="1"/>
                        <a:t>0</a:t>
                      </a:r>
                      <a:r>
                        <a:rPr lang="en-GB" sz="2200" baseline="30000" dirty="0" err="1"/>
                        <a:t>o</a:t>
                      </a:r>
                      <a:endParaRPr lang="en-GB" sz="2200" baseline="30000" dirty="0"/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0.5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0.8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-0.4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0.9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</a:t>
                      </a:r>
                      <a:r>
                        <a:rPr lang="en-GB" sz="2200" dirty="0" err="1"/>
                        <a:t>26</a:t>
                      </a:r>
                      <a:r>
                        <a:rPr lang="en-GB" sz="2200" baseline="30000" dirty="0" err="1"/>
                        <a:t>o</a:t>
                      </a:r>
                      <a:endParaRPr lang="en-GB" sz="2200" dirty="0"/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0.5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-0.5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0.7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/>
                        <a:t>-</a:t>
                      </a:r>
                      <a:r>
                        <a:rPr lang="en-GB" sz="2200" dirty="0" err="1"/>
                        <a:t>45</a:t>
                      </a:r>
                      <a:r>
                        <a:rPr lang="en-GB" sz="2200" baseline="30000" dirty="0" err="1"/>
                        <a:t>o</a:t>
                      </a:r>
                      <a:endParaRPr lang="en-GB" sz="2200" dirty="0"/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0.2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-0.4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0.4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/>
                        <a:t>-</a:t>
                      </a:r>
                      <a:r>
                        <a:rPr lang="en-GB" sz="2200" dirty="0" err="1"/>
                        <a:t>63</a:t>
                      </a:r>
                      <a:r>
                        <a:rPr lang="en-GB" sz="2200" baseline="30000" dirty="0" err="1"/>
                        <a:t>o</a:t>
                      </a:r>
                      <a:endParaRPr lang="en-GB" sz="2200" dirty="0"/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∞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-90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8" name="Object 37"/>
          <p:cNvGraphicFramePr>
            <a:graphicFrameLocks noChangeAspect="1"/>
          </p:cNvGraphicFramePr>
          <p:nvPr/>
        </p:nvGraphicFramePr>
        <p:xfrm>
          <a:off x="2771800" y="2331464"/>
          <a:ext cx="773139" cy="445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040" imgH="241200" progId="Equation.3">
                  <p:embed/>
                </p:oleObj>
              </mc:Choice>
              <mc:Fallback>
                <p:oleObj name="Equation" r:id="rId2" imgW="41904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2331464"/>
                        <a:ext cx="773139" cy="44514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31" name="Object 3"/>
          <p:cNvGraphicFramePr>
            <a:graphicFrameLocks noChangeAspect="1"/>
          </p:cNvGraphicFramePr>
          <p:nvPr/>
        </p:nvGraphicFramePr>
        <p:xfrm>
          <a:off x="3668713" y="2370138"/>
          <a:ext cx="890587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400" imgH="203040" progId="Equation.3">
                  <p:embed/>
                </p:oleObj>
              </mc:Choice>
              <mc:Fallback>
                <p:oleObj name="Equation" r:id="rId4" imgW="4824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713" y="2370138"/>
                        <a:ext cx="890587" cy="3746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" name="Group 44"/>
          <p:cNvGrpSpPr/>
          <p:nvPr/>
        </p:nvGrpSpPr>
        <p:grpSpPr>
          <a:xfrm>
            <a:off x="6613653" y="3933056"/>
            <a:ext cx="1473523" cy="357448"/>
            <a:chOff x="6613653" y="3933056"/>
            <a:chExt cx="1473523" cy="357448"/>
          </a:xfrm>
        </p:grpSpPr>
        <p:sp>
          <p:nvSpPr>
            <p:cNvPr id="20" name="TextBox 19"/>
            <p:cNvSpPr txBox="1"/>
            <p:nvPr/>
          </p:nvSpPr>
          <p:spPr>
            <a:xfrm>
              <a:off x="7596336" y="3933056"/>
              <a:ext cx="4908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1400" dirty="0">
                  <a:solidFill>
                    <a:srgbClr val="FF0000"/>
                  </a:solidFill>
                </a:rPr>
                <a:t>ω</a:t>
              </a:r>
              <a:r>
                <a:rPr lang="en-GB" sz="1400" dirty="0">
                  <a:solidFill>
                    <a:srgbClr val="FF0000"/>
                  </a:solidFill>
                </a:rPr>
                <a:t>=0</a:t>
              </a:r>
              <a:endParaRPr lang="en-GB" sz="1400" baseline="30000" dirty="0">
                <a:solidFill>
                  <a:srgbClr val="FF0000"/>
                </a:solidFill>
              </a:endParaRPr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>
              <a:off x="6613653" y="4290504"/>
              <a:ext cx="14400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7" name="Group 56"/>
          <p:cNvGrpSpPr/>
          <p:nvPr/>
        </p:nvGrpSpPr>
        <p:grpSpPr>
          <a:xfrm>
            <a:off x="6613645" y="4304152"/>
            <a:ext cx="1761375" cy="690112"/>
            <a:chOff x="6613645" y="4304152"/>
            <a:chExt cx="1761375" cy="690112"/>
          </a:xfrm>
        </p:grpSpPr>
        <p:sp>
          <p:nvSpPr>
            <p:cNvPr id="51" name="TextBox 50"/>
            <p:cNvSpPr txBox="1"/>
            <p:nvPr/>
          </p:nvSpPr>
          <p:spPr>
            <a:xfrm>
              <a:off x="7747925" y="4686487"/>
              <a:ext cx="6270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1400" dirty="0">
                  <a:solidFill>
                    <a:srgbClr val="FF0000"/>
                  </a:solidFill>
                </a:rPr>
                <a:t>ω</a:t>
              </a:r>
              <a:r>
                <a:rPr lang="en-GB" sz="1400" dirty="0">
                  <a:solidFill>
                    <a:srgbClr val="FF0000"/>
                  </a:solidFill>
                </a:rPr>
                <a:t>=0.5</a:t>
              </a:r>
              <a:endParaRPr lang="en-GB" sz="1400" baseline="30000" dirty="0">
                <a:solidFill>
                  <a:srgbClr val="FF0000"/>
                </a:solidFill>
              </a:endParaRPr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>
              <a:off x="6613645" y="4304152"/>
              <a:ext cx="1172552" cy="41644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2" name="Group 61"/>
          <p:cNvGrpSpPr/>
          <p:nvPr/>
        </p:nvGrpSpPr>
        <p:grpSpPr>
          <a:xfrm>
            <a:off x="6613645" y="4290504"/>
            <a:ext cx="1041483" cy="958441"/>
            <a:chOff x="6613645" y="4290504"/>
            <a:chExt cx="1041483" cy="958441"/>
          </a:xfrm>
        </p:grpSpPr>
        <p:sp>
          <p:nvSpPr>
            <p:cNvPr id="28" name="TextBox 27"/>
            <p:cNvSpPr txBox="1"/>
            <p:nvPr/>
          </p:nvSpPr>
          <p:spPr>
            <a:xfrm>
              <a:off x="7164288" y="4941168"/>
              <a:ext cx="4908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1400" dirty="0">
                  <a:solidFill>
                    <a:srgbClr val="FF0000"/>
                  </a:solidFill>
                </a:rPr>
                <a:t>ω</a:t>
              </a:r>
              <a:r>
                <a:rPr lang="en-GB" sz="1400" dirty="0">
                  <a:solidFill>
                    <a:srgbClr val="FF0000"/>
                  </a:solidFill>
                </a:rPr>
                <a:t>=1</a:t>
              </a:r>
              <a:endParaRPr lang="en-GB" sz="1400" baseline="30000" dirty="0">
                <a:solidFill>
                  <a:srgbClr val="FF0000"/>
                </a:solidFill>
              </a:endParaRPr>
            </a:p>
          </p:txBody>
        </p:sp>
        <p:cxnSp>
          <p:nvCxnSpPr>
            <p:cNvPr id="59" name="Straight Arrow Connector 58"/>
            <p:cNvCxnSpPr>
              <a:stCxn id="36" idx="6"/>
            </p:cNvCxnSpPr>
            <p:nvPr/>
          </p:nvCxnSpPr>
          <p:spPr>
            <a:xfrm>
              <a:off x="6613645" y="4290504"/>
              <a:ext cx="764128" cy="64379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61" name="Straight Arrow Connector 60"/>
          <p:cNvCxnSpPr/>
          <p:nvPr/>
        </p:nvCxnSpPr>
        <p:spPr>
          <a:xfrm>
            <a:off x="6568941" y="4290504"/>
            <a:ext cx="265664" cy="40358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86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29" grpId="0"/>
      <p:bldP spid="3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26976"/>
          </a:xfrm>
        </p:spPr>
        <p:txBody>
          <a:bodyPr/>
          <a:lstStyle/>
          <a:p>
            <a:r>
              <a:rPr lang="en-GB" dirty="0" err="1"/>
              <a:t>Example#1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1052736"/>
            <a:ext cx="9108504" cy="4525963"/>
          </a:xfrm>
        </p:spPr>
        <p:txBody>
          <a:bodyPr>
            <a:normAutofit/>
          </a:bodyPr>
          <a:lstStyle/>
          <a:p>
            <a:r>
              <a:rPr lang="en-GB" sz="2700" dirty="0"/>
              <a:t>Draw the polar plot of following open loop transfer function.</a:t>
            </a:r>
          </a:p>
        </p:txBody>
      </p:sp>
      <p:graphicFrame>
        <p:nvGraphicFramePr>
          <p:cNvPr id="125954" name="Object 2"/>
          <p:cNvGraphicFramePr>
            <a:graphicFrameLocks noChangeAspect="1"/>
          </p:cNvGraphicFramePr>
          <p:nvPr/>
        </p:nvGraphicFramePr>
        <p:xfrm>
          <a:off x="3087688" y="2636912"/>
          <a:ext cx="307975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17440" imgH="380880" progId="Equation.3">
                  <p:embed/>
                </p:oleObj>
              </mc:Choice>
              <mc:Fallback>
                <p:oleObj name="Equation" r:id="rId2" imgW="111744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7688" y="2636912"/>
                        <a:ext cx="3079750" cy="1047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5" name="Object 2"/>
          <p:cNvGraphicFramePr>
            <a:graphicFrameLocks noChangeAspect="1"/>
          </p:cNvGraphicFramePr>
          <p:nvPr/>
        </p:nvGraphicFramePr>
        <p:xfrm>
          <a:off x="3419872" y="1556792"/>
          <a:ext cx="223837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12520" imgH="355320" progId="Equation.3">
                  <p:embed/>
                </p:oleObj>
              </mc:Choice>
              <mc:Fallback>
                <p:oleObj name="Equation" r:id="rId4" imgW="81252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1556792"/>
                        <a:ext cx="2238375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1888" y="2060848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Solution</a:t>
            </a:r>
          </a:p>
        </p:txBody>
      </p:sp>
      <p:graphicFrame>
        <p:nvGraphicFramePr>
          <p:cNvPr id="125956" name="Object 2"/>
          <p:cNvGraphicFramePr>
            <a:graphicFrameLocks noChangeAspect="1"/>
          </p:cNvGraphicFramePr>
          <p:nvPr/>
        </p:nvGraphicFramePr>
        <p:xfrm>
          <a:off x="611560" y="2492896"/>
          <a:ext cx="18557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177480" progId="Equation.3">
                  <p:embed/>
                </p:oleObj>
              </mc:Choice>
              <mc:Fallback>
                <p:oleObj name="Equation" r:id="rId6" imgW="67284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2492896"/>
                        <a:ext cx="1855788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7" name="Object 2"/>
          <p:cNvGraphicFramePr>
            <a:graphicFrameLocks noChangeAspect="1"/>
          </p:cNvGraphicFramePr>
          <p:nvPr/>
        </p:nvGraphicFramePr>
        <p:xfrm>
          <a:off x="3184525" y="3645024"/>
          <a:ext cx="2974975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79280" imgH="393480" progId="Equation.3">
                  <p:embed/>
                </p:oleObj>
              </mc:Choice>
              <mc:Fallback>
                <p:oleObj name="Equation" r:id="rId8" imgW="10792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4525" y="3645024"/>
                        <a:ext cx="2974975" cy="1082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8" name="Object 2"/>
          <p:cNvGraphicFramePr>
            <a:graphicFrameLocks noChangeAspect="1"/>
          </p:cNvGraphicFramePr>
          <p:nvPr/>
        </p:nvGraphicFramePr>
        <p:xfrm>
          <a:off x="3055193" y="4581128"/>
          <a:ext cx="482917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52480" imgH="419040" progId="Equation.3">
                  <p:embed/>
                </p:oleObj>
              </mc:Choice>
              <mc:Fallback>
                <p:oleObj name="Equation" r:id="rId10" imgW="175248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5193" y="4581128"/>
                        <a:ext cx="4829175" cy="1152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9" name="Object 7"/>
          <p:cNvGraphicFramePr>
            <a:graphicFrameLocks noChangeAspect="1"/>
          </p:cNvGraphicFramePr>
          <p:nvPr/>
        </p:nvGraphicFramePr>
        <p:xfrm>
          <a:off x="3986213" y="5695950"/>
          <a:ext cx="2974975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79280" imgH="393480" progId="Equation.3">
                  <p:embed/>
                </p:oleObj>
              </mc:Choice>
              <mc:Fallback>
                <p:oleObj name="Equation" r:id="rId12" imgW="10792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6213" y="5695950"/>
                        <a:ext cx="2974975" cy="1082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2947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26976"/>
          </a:xfrm>
        </p:spPr>
        <p:txBody>
          <a:bodyPr/>
          <a:lstStyle/>
          <a:p>
            <a:r>
              <a:rPr lang="en-GB" dirty="0" err="1"/>
              <a:t>Example#1</a:t>
            </a:r>
            <a:endParaRPr lang="en-GB" dirty="0"/>
          </a:p>
        </p:txBody>
      </p:sp>
      <p:graphicFrame>
        <p:nvGraphicFramePr>
          <p:cNvPr id="125959" name="Object 7"/>
          <p:cNvGraphicFramePr>
            <a:graphicFrameLocks noChangeAspect="1"/>
          </p:cNvGraphicFramePr>
          <p:nvPr/>
        </p:nvGraphicFramePr>
        <p:xfrm>
          <a:off x="670297" y="2155396"/>
          <a:ext cx="2614935" cy="951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280" imgH="393480" progId="Equation.3">
                  <p:embed/>
                </p:oleObj>
              </mc:Choice>
              <mc:Fallback>
                <p:oleObj name="Equation" r:id="rId2" imgW="10792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297" y="2155396"/>
                        <a:ext cx="2614935" cy="9516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4" name="Object 7"/>
          <p:cNvGraphicFramePr>
            <a:graphicFrameLocks noChangeAspect="1"/>
          </p:cNvGraphicFramePr>
          <p:nvPr/>
        </p:nvGraphicFramePr>
        <p:xfrm>
          <a:off x="598289" y="3163508"/>
          <a:ext cx="4117727" cy="979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50960" imgH="393480" progId="Equation.3">
                  <p:embed/>
                </p:oleObj>
              </mc:Choice>
              <mc:Fallback>
                <p:oleObj name="Equation" r:id="rId4" imgW="16509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289" y="3163508"/>
                        <a:ext cx="4117727" cy="9798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5" name="Object 7"/>
          <p:cNvGraphicFramePr>
            <a:graphicFrameLocks noChangeAspect="1"/>
          </p:cNvGraphicFramePr>
          <p:nvPr/>
        </p:nvGraphicFramePr>
        <p:xfrm>
          <a:off x="670297" y="4315636"/>
          <a:ext cx="3976439" cy="913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00200" imgH="368280" progId="Equation.3">
                  <p:embed/>
                </p:oleObj>
              </mc:Choice>
              <mc:Fallback>
                <p:oleObj name="Equation" r:id="rId6" imgW="160020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297" y="4315636"/>
                        <a:ext cx="3976439" cy="9135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52120" y="1268760"/>
          <a:ext cx="3096344" cy="499365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790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17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1104">
                <a:tc>
                  <a:txBody>
                    <a:bodyPr/>
                    <a:lstStyle/>
                    <a:p>
                      <a:pPr algn="ctr"/>
                      <a:r>
                        <a:rPr lang="el-GR" sz="2800" dirty="0"/>
                        <a:t>ω</a:t>
                      </a:r>
                      <a:endParaRPr lang="en-GB" sz="2800" b="1" dirty="0"/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Re</a:t>
                      </a:r>
                      <a:endParaRPr lang="en-GB" sz="2800" b="1" dirty="0"/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 err="1"/>
                        <a:t>Im</a:t>
                      </a:r>
                      <a:endParaRPr lang="en-GB" sz="2800" b="1" dirty="0"/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∞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∞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0.1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-10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0.5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-0.8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-1.6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-0.5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-0.5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-0.2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-0.1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-0.1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-0.03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∞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7833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34"/>
          <p:cNvSpPr/>
          <p:nvPr/>
        </p:nvSpPr>
        <p:spPr>
          <a:xfrm>
            <a:off x="5269071" y="3789040"/>
            <a:ext cx="887105" cy="2688609"/>
          </a:xfrm>
          <a:custGeom>
            <a:avLst/>
            <a:gdLst>
              <a:gd name="connsiteX0" fmla="*/ 13648 w 887105"/>
              <a:gd name="connsiteY0" fmla="*/ 2688609 h 2688609"/>
              <a:gd name="connsiteX1" fmla="*/ 13648 w 887105"/>
              <a:gd name="connsiteY1" fmla="*/ 2129051 h 2688609"/>
              <a:gd name="connsiteX2" fmla="*/ 95534 w 887105"/>
              <a:gd name="connsiteY2" fmla="*/ 1187356 h 2688609"/>
              <a:gd name="connsiteX3" fmla="*/ 327546 w 887105"/>
              <a:gd name="connsiteY3" fmla="*/ 532263 h 2688609"/>
              <a:gd name="connsiteX4" fmla="*/ 887105 w 887105"/>
              <a:gd name="connsiteY4" fmla="*/ 0 h 2688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105" h="2688609">
                <a:moveTo>
                  <a:pt x="13648" y="2688609"/>
                </a:moveTo>
                <a:cubicBezTo>
                  <a:pt x="6824" y="2533934"/>
                  <a:pt x="0" y="2379260"/>
                  <a:pt x="13648" y="2129051"/>
                </a:cubicBezTo>
                <a:cubicBezTo>
                  <a:pt x="27296" y="1878842"/>
                  <a:pt x="43218" y="1453487"/>
                  <a:pt x="95534" y="1187356"/>
                </a:cubicBezTo>
                <a:cubicBezTo>
                  <a:pt x="147850" y="921225"/>
                  <a:pt x="195618" y="730156"/>
                  <a:pt x="327546" y="532263"/>
                </a:cubicBezTo>
                <a:cubicBezTo>
                  <a:pt x="459474" y="334370"/>
                  <a:pt x="673289" y="167185"/>
                  <a:pt x="887105" y="0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26976"/>
          </a:xfrm>
        </p:spPr>
        <p:txBody>
          <a:bodyPr/>
          <a:lstStyle/>
          <a:p>
            <a:r>
              <a:rPr lang="en-GB" dirty="0" err="1"/>
              <a:t>Example#1</a:t>
            </a:r>
            <a:endParaRPr lang="en-GB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9512" y="1315670"/>
          <a:ext cx="3096344" cy="499365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790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17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1104">
                <a:tc>
                  <a:txBody>
                    <a:bodyPr/>
                    <a:lstStyle/>
                    <a:p>
                      <a:pPr algn="ctr"/>
                      <a:r>
                        <a:rPr lang="el-GR" sz="2800" dirty="0"/>
                        <a:t>ω</a:t>
                      </a:r>
                      <a:endParaRPr lang="en-GB" sz="2800" b="1" dirty="0"/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Re</a:t>
                      </a:r>
                      <a:endParaRPr lang="en-GB" sz="2800" b="1" dirty="0"/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 err="1"/>
                        <a:t>Im</a:t>
                      </a:r>
                      <a:endParaRPr lang="en-GB" sz="2800" b="1" dirty="0"/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∞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∞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0.1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-10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0.5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-0.8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-1.6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-0.5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-0.5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-0.2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-0.1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-0.1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-0.03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323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∞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0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7" name="Group 15"/>
          <p:cNvGrpSpPr/>
          <p:nvPr/>
        </p:nvGrpSpPr>
        <p:grpSpPr>
          <a:xfrm>
            <a:off x="3851920" y="1196752"/>
            <a:ext cx="5040560" cy="5184056"/>
            <a:chOff x="5220072" y="2204864"/>
            <a:chExt cx="4032448" cy="4032043"/>
          </a:xfrm>
        </p:grpSpPr>
        <p:grpSp>
          <p:nvGrpSpPr>
            <p:cNvPr id="18" name="Group 12"/>
            <p:cNvGrpSpPr/>
            <p:nvPr/>
          </p:nvGrpSpPr>
          <p:grpSpPr>
            <a:xfrm>
              <a:off x="5220072" y="2596908"/>
              <a:ext cx="3456000" cy="3639999"/>
              <a:chOff x="5436096" y="2596908"/>
              <a:chExt cx="3456000" cy="3639999"/>
            </a:xfrm>
          </p:grpSpPr>
          <p:cxnSp>
            <p:nvCxnSpPr>
              <p:cNvPr id="21" name="Straight Connector 20"/>
              <p:cNvCxnSpPr/>
              <p:nvPr/>
            </p:nvCxnSpPr>
            <p:spPr>
              <a:xfrm>
                <a:off x="7279501" y="2596908"/>
                <a:ext cx="0" cy="363999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5436096" y="4221088"/>
                <a:ext cx="3456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/>
            <p:cNvSpPr txBox="1"/>
            <p:nvPr/>
          </p:nvSpPr>
          <p:spPr>
            <a:xfrm>
              <a:off x="6804248" y="2204864"/>
              <a:ext cx="426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>
                  <a:solidFill>
                    <a:srgbClr val="FF0000"/>
                  </a:solidFill>
                </a:rPr>
                <a:t>Im</a:t>
              </a:r>
              <a:endParaRPr lang="en-GB" dirty="0">
                <a:solidFill>
                  <a:srgbClr val="FF0000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831443" y="4005064"/>
              <a:ext cx="421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Re</a:t>
              </a:r>
            </a:p>
          </p:txBody>
        </p:sp>
      </p:grpSp>
      <p:cxnSp>
        <p:nvCxnSpPr>
          <p:cNvPr id="24" name="Straight Connector 23"/>
          <p:cNvCxnSpPr/>
          <p:nvPr/>
        </p:nvCxnSpPr>
        <p:spPr>
          <a:xfrm>
            <a:off x="6097816" y="6237312"/>
            <a:ext cx="10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788024" y="6334287"/>
            <a:ext cx="490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400" dirty="0">
                <a:solidFill>
                  <a:srgbClr val="FF0000"/>
                </a:solidFill>
              </a:rPr>
              <a:t>ω</a:t>
            </a:r>
            <a:r>
              <a:rPr lang="en-GB" sz="1400" dirty="0">
                <a:solidFill>
                  <a:srgbClr val="FF0000"/>
                </a:solidFill>
              </a:rPr>
              <a:t>=0</a:t>
            </a:r>
            <a:endParaRPr lang="en-GB" sz="1400" baseline="30000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56176" y="6073551"/>
            <a:ext cx="421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-10</a:t>
            </a:r>
            <a:endParaRPr lang="en-GB" sz="1400" baseline="30000" dirty="0">
              <a:solidFill>
                <a:srgbClr val="FF000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0072" y="3789040"/>
            <a:ext cx="10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89704" y="3479824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-1</a:t>
            </a:r>
            <a:endParaRPr lang="en-GB" sz="1400" baseline="30000" dirty="0">
              <a:solidFill>
                <a:srgbClr val="FF0000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5237496" y="6196376"/>
            <a:ext cx="72000" cy="72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/>
          <p:cNvSpPr txBox="1"/>
          <p:nvPr/>
        </p:nvSpPr>
        <p:spPr>
          <a:xfrm>
            <a:off x="4644008" y="6062232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400" dirty="0">
                <a:solidFill>
                  <a:srgbClr val="FF0000"/>
                </a:solidFill>
              </a:rPr>
              <a:t>ω</a:t>
            </a:r>
            <a:r>
              <a:rPr lang="en-GB" sz="1400" dirty="0">
                <a:solidFill>
                  <a:srgbClr val="FF0000"/>
                </a:solidFill>
              </a:rPr>
              <a:t>=0.1</a:t>
            </a:r>
            <a:endParaRPr lang="en-GB" sz="1400" baseline="30000" dirty="0">
              <a:solidFill>
                <a:srgbClr val="FF0000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5594616" y="4228624"/>
            <a:ext cx="72000" cy="72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40" name="TextBox 39"/>
          <p:cNvSpPr txBox="1"/>
          <p:nvPr/>
        </p:nvSpPr>
        <p:spPr>
          <a:xfrm>
            <a:off x="5021257" y="4077072"/>
            <a:ext cx="490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400" dirty="0">
                <a:solidFill>
                  <a:srgbClr val="FF0000"/>
                </a:solidFill>
              </a:rPr>
              <a:t>ω</a:t>
            </a:r>
            <a:r>
              <a:rPr lang="en-GB" sz="1400" dirty="0">
                <a:solidFill>
                  <a:srgbClr val="FF0000"/>
                </a:solidFill>
              </a:rPr>
              <a:t>=1</a:t>
            </a:r>
            <a:endParaRPr lang="en-GB" sz="1400" baseline="30000" dirty="0">
              <a:solidFill>
                <a:srgbClr val="FF0000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6010744" y="3848824"/>
            <a:ext cx="72000" cy="72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Oval 41"/>
          <p:cNvSpPr/>
          <p:nvPr/>
        </p:nvSpPr>
        <p:spPr>
          <a:xfrm>
            <a:off x="5860616" y="3967888"/>
            <a:ext cx="72000" cy="72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/>
          <p:cNvSpPr txBox="1"/>
          <p:nvPr/>
        </p:nvSpPr>
        <p:spPr>
          <a:xfrm>
            <a:off x="5364088" y="3789040"/>
            <a:ext cx="490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400" dirty="0">
                <a:solidFill>
                  <a:srgbClr val="FF0000"/>
                </a:solidFill>
              </a:rPr>
              <a:t>ω</a:t>
            </a:r>
            <a:r>
              <a:rPr lang="en-GB" sz="1400" dirty="0">
                <a:solidFill>
                  <a:srgbClr val="FF0000"/>
                </a:solidFill>
              </a:rPr>
              <a:t>=2</a:t>
            </a:r>
            <a:endParaRPr lang="en-GB" sz="1400" baseline="30000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457424" y="3861048"/>
            <a:ext cx="490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400" dirty="0">
                <a:solidFill>
                  <a:srgbClr val="FF0000"/>
                </a:solidFill>
              </a:rPr>
              <a:t>ω</a:t>
            </a:r>
            <a:r>
              <a:rPr lang="en-GB" sz="1400" dirty="0">
                <a:solidFill>
                  <a:srgbClr val="FF0000"/>
                </a:solidFill>
              </a:rPr>
              <a:t>=3</a:t>
            </a:r>
            <a:endParaRPr lang="en-GB" sz="1400" baseline="30000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663768" y="4678103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400" dirty="0">
                <a:solidFill>
                  <a:srgbClr val="FF0000"/>
                </a:solidFill>
              </a:rPr>
              <a:t>ω</a:t>
            </a:r>
            <a:r>
              <a:rPr lang="en-GB" sz="1400" dirty="0">
                <a:solidFill>
                  <a:srgbClr val="FF0000"/>
                </a:solidFill>
              </a:rPr>
              <a:t>=0.5</a:t>
            </a:r>
            <a:endParaRPr lang="en-GB" sz="1400" baseline="30000" dirty="0">
              <a:solidFill>
                <a:srgbClr val="FF0000"/>
              </a:solidFill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 flipH="1" flipV="1">
            <a:off x="6154088" y="3910280"/>
            <a:ext cx="300000" cy="947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5350440" y="4797160"/>
            <a:ext cx="72000" cy="72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49" name="Oval 48"/>
          <p:cNvSpPr/>
          <p:nvPr/>
        </p:nvSpPr>
        <p:spPr>
          <a:xfrm>
            <a:off x="6125120" y="3764088"/>
            <a:ext cx="72000" cy="72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50" name="TextBox 49"/>
          <p:cNvSpPr txBox="1"/>
          <p:nvPr/>
        </p:nvSpPr>
        <p:spPr>
          <a:xfrm>
            <a:off x="6322899" y="3514656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400" dirty="0">
                <a:solidFill>
                  <a:srgbClr val="FF0000"/>
                </a:solidFill>
              </a:rPr>
              <a:t>ω</a:t>
            </a:r>
            <a:r>
              <a:rPr lang="en-GB" sz="1400" dirty="0">
                <a:solidFill>
                  <a:srgbClr val="FF0000"/>
                </a:solidFill>
              </a:rPr>
              <a:t>=∞</a:t>
            </a:r>
          </a:p>
        </p:txBody>
      </p:sp>
    </p:spTree>
    <p:extLst>
      <p:ext uri="{BB962C8B-B14F-4D97-AF65-F5344CB8AC3E}">
        <p14:creationId xmlns:p14="http://schemas.microsoft.com/office/powerpoint/2010/main" val="2174763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5" grpId="0"/>
      <p:bldP spid="34" grpId="0" animBg="1"/>
      <p:bldP spid="36" grpId="0"/>
      <p:bldP spid="39" grpId="0" animBg="1"/>
      <p:bldP spid="40" grpId="0"/>
      <p:bldP spid="41" grpId="0" animBg="1"/>
      <p:bldP spid="42" grpId="0" animBg="1"/>
      <p:bldP spid="43" grpId="0"/>
      <p:bldP spid="44" grpId="0"/>
      <p:bldP spid="45" grpId="0"/>
      <p:bldP spid="48" grpId="0" animBg="1"/>
      <p:bldP spid="49" grpId="0" animBg="1"/>
      <p:bldP spid="50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/>
          <p:nvPr/>
        </p:nvSpPr>
        <p:spPr>
          <a:xfrm>
            <a:off x="5577385" y="2540544"/>
            <a:ext cx="3082119" cy="2545308"/>
          </a:xfrm>
          <a:custGeom>
            <a:avLst/>
            <a:gdLst>
              <a:gd name="connsiteX0" fmla="*/ 2693158 w 3082119"/>
              <a:gd name="connsiteY0" fmla="*/ 634621 h 2545308"/>
              <a:gd name="connsiteX1" fmla="*/ 2993409 w 3082119"/>
              <a:gd name="connsiteY1" fmla="*/ 1630907 h 2545308"/>
              <a:gd name="connsiteX2" fmla="*/ 2160896 w 3082119"/>
              <a:gd name="connsiteY2" fmla="*/ 2176818 h 2545308"/>
              <a:gd name="connsiteX3" fmla="*/ 782472 w 3082119"/>
              <a:gd name="connsiteY3" fmla="*/ 2354239 h 2545308"/>
              <a:gd name="connsiteX4" fmla="*/ 100084 w 3082119"/>
              <a:gd name="connsiteY4" fmla="*/ 1030406 h 2545308"/>
              <a:gd name="connsiteX5" fmla="*/ 181970 w 3082119"/>
              <a:gd name="connsiteY5" fmla="*/ 61415 h 2545308"/>
              <a:gd name="connsiteX6" fmla="*/ 1164609 w 3082119"/>
              <a:gd name="connsiteY6" fmla="*/ 661916 h 2545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82119" h="2545308">
                <a:moveTo>
                  <a:pt x="2693158" y="634621"/>
                </a:moveTo>
                <a:cubicBezTo>
                  <a:pt x="2887638" y="1004247"/>
                  <a:pt x="3082119" y="1373874"/>
                  <a:pt x="2993409" y="1630907"/>
                </a:cubicBezTo>
                <a:cubicBezTo>
                  <a:pt x="2904699" y="1887940"/>
                  <a:pt x="2529386" y="2056263"/>
                  <a:pt x="2160896" y="2176818"/>
                </a:cubicBezTo>
                <a:cubicBezTo>
                  <a:pt x="1792407" y="2297373"/>
                  <a:pt x="1125941" y="2545308"/>
                  <a:pt x="782472" y="2354239"/>
                </a:cubicBezTo>
                <a:cubicBezTo>
                  <a:pt x="439003" y="2163170"/>
                  <a:pt x="200168" y="1412543"/>
                  <a:pt x="100084" y="1030406"/>
                </a:cubicBezTo>
                <a:cubicBezTo>
                  <a:pt x="0" y="648269"/>
                  <a:pt x="4549" y="122830"/>
                  <a:pt x="181970" y="61415"/>
                </a:cubicBezTo>
                <a:cubicBezTo>
                  <a:pt x="359391" y="0"/>
                  <a:pt x="762000" y="330958"/>
                  <a:pt x="1164609" y="661916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20080"/>
          </a:xfrm>
        </p:spPr>
        <p:txBody>
          <a:bodyPr>
            <a:normAutofit/>
          </a:bodyPr>
          <a:lstStyle/>
          <a:p>
            <a:r>
              <a:rPr lang="en-GB" sz="3900" dirty="0"/>
              <a:t>Nyquist Stability Criterion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1124744"/>
            <a:ext cx="4320480" cy="5184576"/>
          </a:xfrm>
        </p:spPr>
        <p:txBody>
          <a:bodyPr>
            <a:normAutofit/>
          </a:bodyPr>
          <a:lstStyle/>
          <a:p>
            <a:pPr algn="just"/>
            <a:r>
              <a:rPr lang="en-GB" sz="2600" dirty="0"/>
              <a:t>The Nyquist stability criterion determines the stability of a closed-loop system from its open-loop frequency response and open-loop poles.</a:t>
            </a:r>
          </a:p>
          <a:p>
            <a:pPr algn="just"/>
            <a:endParaRPr lang="en-GB" sz="1200" dirty="0"/>
          </a:p>
          <a:p>
            <a:pPr algn="just"/>
            <a:r>
              <a:rPr lang="en-GB" sz="2600" i="1" dirty="0">
                <a:solidFill>
                  <a:srgbClr val="FF0000"/>
                </a:solidFill>
              </a:rPr>
              <a:t>A minimum phase closed loop system will be stable if the Nyquist plot of open loop transfer function does not encircle (-1, </a:t>
            </a:r>
            <a:r>
              <a:rPr lang="en-GB" sz="2600" i="1" dirty="0" err="1">
                <a:solidFill>
                  <a:srgbClr val="FF0000"/>
                </a:solidFill>
              </a:rPr>
              <a:t>j0</a:t>
            </a:r>
            <a:r>
              <a:rPr lang="en-GB" sz="2600" i="1" dirty="0">
                <a:solidFill>
                  <a:srgbClr val="FF0000"/>
                </a:solidFill>
              </a:rPr>
              <a:t>) point. </a:t>
            </a:r>
          </a:p>
        </p:txBody>
      </p:sp>
      <p:grpSp>
        <p:nvGrpSpPr>
          <p:cNvPr id="4" name="Group 15"/>
          <p:cNvGrpSpPr/>
          <p:nvPr/>
        </p:nvGrpSpPr>
        <p:grpSpPr>
          <a:xfrm>
            <a:off x="4405695" y="764704"/>
            <a:ext cx="4846825" cy="5010839"/>
            <a:chOff x="5220072" y="2339588"/>
            <a:chExt cx="3877460" cy="3897319"/>
          </a:xfrm>
        </p:grpSpPr>
        <p:grpSp>
          <p:nvGrpSpPr>
            <p:cNvPr id="5" name="Group 12"/>
            <p:cNvGrpSpPr/>
            <p:nvPr/>
          </p:nvGrpSpPr>
          <p:grpSpPr>
            <a:xfrm>
              <a:off x="5220072" y="2596908"/>
              <a:ext cx="3456000" cy="3639999"/>
              <a:chOff x="5436096" y="2596908"/>
              <a:chExt cx="3456000" cy="3639999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7279501" y="2596908"/>
                <a:ext cx="0" cy="363999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5436096" y="4221088"/>
                <a:ext cx="3456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/>
            <p:cNvSpPr txBox="1"/>
            <p:nvPr/>
          </p:nvSpPr>
          <p:spPr>
            <a:xfrm>
              <a:off x="6867182" y="2339588"/>
              <a:ext cx="426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>
                  <a:solidFill>
                    <a:srgbClr val="FF0000"/>
                  </a:solidFill>
                </a:rPr>
                <a:t>Im</a:t>
              </a:r>
              <a:endParaRPr lang="en-GB" dirty="0">
                <a:solidFill>
                  <a:srgbClr val="FF0000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76455" y="4075781"/>
              <a:ext cx="421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Re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5652120" y="2823735"/>
            <a:ext cx="6671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FF0000"/>
                </a:solidFill>
              </a:rPr>
              <a:t>(-1, </a:t>
            </a:r>
            <a:r>
              <a:rPr lang="en-GB" sz="1400" b="1" dirty="0" err="1">
                <a:solidFill>
                  <a:srgbClr val="FF0000"/>
                </a:solidFill>
              </a:rPr>
              <a:t>j0</a:t>
            </a:r>
            <a:r>
              <a:rPr lang="en-GB" sz="1400" b="1" dirty="0">
                <a:solidFill>
                  <a:srgbClr val="FF0000"/>
                </a:solidFill>
              </a:rPr>
              <a:t>)</a:t>
            </a:r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5570824" y="3183775"/>
            <a:ext cx="108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6084169" y="3183775"/>
            <a:ext cx="2341050" cy="1317497"/>
          </a:xfrm>
          <a:custGeom>
            <a:avLst/>
            <a:gdLst>
              <a:gd name="connsiteX0" fmla="*/ 2124502 w 2265529"/>
              <a:gd name="connsiteY0" fmla="*/ 0 h 1298812"/>
              <a:gd name="connsiteX1" fmla="*/ 2124502 w 2265529"/>
              <a:gd name="connsiteY1" fmla="*/ 573206 h 1298812"/>
              <a:gd name="connsiteX2" fmla="*/ 1278341 w 2265529"/>
              <a:gd name="connsiteY2" fmla="*/ 1214651 h 1298812"/>
              <a:gd name="connsiteX3" fmla="*/ 118281 w 2265529"/>
              <a:gd name="connsiteY3" fmla="*/ 1078174 h 1298812"/>
              <a:gd name="connsiteX4" fmla="*/ 568657 w 2265529"/>
              <a:gd name="connsiteY4" fmla="*/ 13648 h 1298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5529" h="1298812">
                <a:moveTo>
                  <a:pt x="2124502" y="0"/>
                </a:moveTo>
                <a:cubicBezTo>
                  <a:pt x="2195015" y="185382"/>
                  <a:pt x="2265529" y="370764"/>
                  <a:pt x="2124502" y="573206"/>
                </a:cubicBezTo>
                <a:cubicBezTo>
                  <a:pt x="1983475" y="775648"/>
                  <a:pt x="1612711" y="1130490"/>
                  <a:pt x="1278341" y="1214651"/>
                </a:cubicBezTo>
                <a:cubicBezTo>
                  <a:pt x="943971" y="1298812"/>
                  <a:pt x="236562" y="1278341"/>
                  <a:pt x="118281" y="1078174"/>
                </a:cubicBezTo>
                <a:cubicBezTo>
                  <a:pt x="0" y="878007"/>
                  <a:pt x="284328" y="445827"/>
                  <a:pt x="568657" y="1364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 15"/>
          <p:cNvSpPr/>
          <p:nvPr/>
        </p:nvSpPr>
        <p:spPr>
          <a:xfrm>
            <a:off x="5072418" y="2274413"/>
            <a:ext cx="3828196" cy="3311857"/>
          </a:xfrm>
          <a:custGeom>
            <a:avLst/>
            <a:gdLst>
              <a:gd name="connsiteX0" fmla="*/ 3211773 w 3828196"/>
              <a:gd name="connsiteY0" fmla="*/ 914400 h 3311857"/>
              <a:gd name="connsiteX1" fmla="*/ 3784979 w 3828196"/>
              <a:gd name="connsiteY1" fmla="*/ 1624083 h 3311857"/>
              <a:gd name="connsiteX2" fmla="*/ 3361898 w 3828196"/>
              <a:gd name="connsiteY2" fmla="*/ 3016155 h 3311857"/>
              <a:gd name="connsiteX3" fmla="*/ 987188 w 3828196"/>
              <a:gd name="connsiteY3" fmla="*/ 2920621 h 3311857"/>
              <a:gd name="connsiteX4" fmla="*/ 4549 w 3828196"/>
              <a:gd name="connsiteY4" fmla="*/ 668740 h 3311857"/>
              <a:gd name="connsiteX5" fmla="*/ 959892 w 3828196"/>
              <a:gd name="connsiteY5" fmla="*/ 40943 h 3311857"/>
              <a:gd name="connsiteX6" fmla="*/ 1642281 w 3828196"/>
              <a:gd name="connsiteY6" fmla="*/ 914400 h 3311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28196" h="3311857">
                <a:moveTo>
                  <a:pt x="3211773" y="914400"/>
                </a:moveTo>
                <a:cubicBezTo>
                  <a:pt x="3485865" y="1094095"/>
                  <a:pt x="3759958" y="1273791"/>
                  <a:pt x="3784979" y="1624083"/>
                </a:cubicBezTo>
                <a:cubicBezTo>
                  <a:pt x="3810000" y="1974375"/>
                  <a:pt x="3828196" y="2800065"/>
                  <a:pt x="3361898" y="3016155"/>
                </a:cubicBezTo>
                <a:cubicBezTo>
                  <a:pt x="2895600" y="3232245"/>
                  <a:pt x="1546746" y="3311857"/>
                  <a:pt x="987188" y="2920621"/>
                </a:cubicBezTo>
                <a:cubicBezTo>
                  <a:pt x="427630" y="2529385"/>
                  <a:pt x="9098" y="1148686"/>
                  <a:pt x="4549" y="668740"/>
                </a:cubicBezTo>
                <a:cubicBezTo>
                  <a:pt x="0" y="188794"/>
                  <a:pt x="686937" y="0"/>
                  <a:pt x="959892" y="40943"/>
                </a:cubicBezTo>
                <a:cubicBezTo>
                  <a:pt x="1232847" y="81886"/>
                  <a:pt x="1437564" y="498143"/>
                  <a:pt x="1642281" y="9144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7136992" y="4402252"/>
            <a:ext cx="240836" cy="640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7289392" y="4803236"/>
            <a:ext cx="240836" cy="640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7164288" y="5474383"/>
            <a:ext cx="504056" cy="136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94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3" grpId="0" build="p"/>
      <p:bldP spid="10" grpId="0"/>
      <p:bldP spid="12" grpId="0" animBg="1"/>
      <p:bldP spid="12" grpId="1" animBg="1"/>
      <p:bldP spid="16" grpId="0" animBg="1"/>
      <p:bldP spid="16" grpId="1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40772E01-145E-4B53-8F7E-3865E75C6982}" type="datetime1">
              <a:rPr lang="en-US"/>
              <a:pPr/>
              <a:t>12/9/2025</a:t>
            </a:fld>
            <a:endParaRPr lang="en-US"/>
          </a:p>
        </p:txBody>
      </p:sp>
      <p:sp>
        <p:nvSpPr>
          <p:cNvPr id="1024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180DC71-03B6-4C3F-B198-EBF54B939799}" type="slidenum">
              <a:rPr lang="en-US"/>
              <a:pPr/>
              <a:t>64</a:t>
            </a:fld>
            <a:endParaRPr lang="en-US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5" name="Oval 5"/>
          <p:cNvSpPr>
            <a:spLocks noChangeArrowheads="1"/>
          </p:cNvSpPr>
          <p:nvPr/>
        </p:nvSpPr>
        <p:spPr bwMode="auto">
          <a:xfrm>
            <a:off x="4724400" y="838200"/>
            <a:ext cx="5105400" cy="5257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46" name="Line 7"/>
          <p:cNvSpPr>
            <a:spLocks noChangeShapeType="1"/>
          </p:cNvSpPr>
          <p:nvPr/>
        </p:nvSpPr>
        <p:spPr bwMode="auto">
          <a:xfrm>
            <a:off x="2514600" y="4419600"/>
            <a:ext cx="2514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0247" name="Line 8"/>
          <p:cNvSpPr>
            <a:spLocks noChangeShapeType="1"/>
          </p:cNvSpPr>
          <p:nvPr/>
        </p:nvSpPr>
        <p:spPr bwMode="auto">
          <a:xfrm flipV="1">
            <a:off x="7239000" y="3505200"/>
            <a:ext cx="152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0248" name="Text Box 9"/>
          <p:cNvSpPr txBox="1">
            <a:spLocks noChangeArrowheads="1"/>
          </p:cNvSpPr>
          <p:nvPr/>
        </p:nvSpPr>
        <p:spPr bwMode="auto">
          <a:xfrm>
            <a:off x="1524000" y="3886200"/>
            <a:ext cx="2994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Gain cross-over point</a:t>
            </a:r>
          </a:p>
        </p:txBody>
      </p:sp>
      <p:sp>
        <p:nvSpPr>
          <p:cNvPr id="10249" name="Text Box 10"/>
          <p:cNvSpPr txBox="1">
            <a:spLocks noChangeArrowheads="1"/>
          </p:cNvSpPr>
          <p:nvPr/>
        </p:nvSpPr>
        <p:spPr bwMode="auto">
          <a:xfrm>
            <a:off x="5878513" y="4191000"/>
            <a:ext cx="31130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/>
              <a:t>Phase cross-over point</a:t>
            </a:r>
          </a:p>
        </p:txBody>
      </p:sp>
      <p:sp>
        <p:nvSpPr>
          <p:cNvPr id="10250" name="Line 11"/>
          <p:cNvSpPr>
            <a:spLocks noChangeShapeType="1"/>
          </p:cNvSpPr>
          <p:nvPr/>
        </p:nvSpPr>
        <p:spPr bwMode="auto">
          <a:xfrm>
            <a:off x="7481888" y="3179763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0251" name="Line 12"/>
          <p:cNvSpPr>
            <a:spLocks noChangeShapeType="1"/>
          </p:cNvSpPr>
          <p:nvPr/>
        </p:nvSpPr>
        <p:spPr bwMode="auto">
          <a:xfrm>
            <a:off x="7467600" y="3173413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252" name="Line 13"/>
          <p:cNvSpPr>
            <a:spLocks noChangeShapeType="1"/>
          </p:cNvSpPr>
          <p:nvPr/>
        </p:nvSpPr>
        <p:spPr bwMode="auto">
          <a:xfrm flipH="1" flipV="1">
            <a:off x="7239000" y="24384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253" name="Text Box 14"/>
          <p:cNvSpPr txBox="1">
            <a:spLocks noChangeArrowheads="1"/>
          </p:cNvSpPr>
          <p:nvPr/>
        </p:nvSpPr>
        <p:spPr bwMode="auto">
          <a:xfrm>
            <a:off x="6040438" y="1981200"/>
            <a:ext cx="18843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Gain Margin</a:t>
            </a:r>
          </a:p>
        </p:txBody>
      </p:sp>
      <p:sp>
        <p:nvSpPr>
          <p:cNvPr id="10254" name="Line 15"/>
          <p:cNvSpPr>
            <a:spLocks noChangeShapeType="1"/>
          </p:cNvSpPr>
          <p:nvPr/>
        </p:nvSpPr>
        <p:spPr bwMode="auto">
          <a:xfrm flipH="1">
            <a:off x="4114800" y="3505200"/>
            <a:ext cx="3962400" cy="190500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255" name="Arc 16"/>
          <p:cNvSpPr>
            <a:spLocks/>
          </p:cNvSpPr>
          <p:nvPr/>
        </p:nvSpPr>
        <p:spPr bwMode="auto">
          <a:xfrm flipH="1" flipV="1">
            <a:off x="6048375" y="3429000"/>
            <a:ext cx="838200" cy="685800"/>
          </a:xfrm>
          <a:custGeom>
            <a:avLst/>
            <a:gdLst>
              <a:gd name="T0" fmla="*/ 0 w 21600"/>
              <a:gd name="T1" fmla="*/ 0 h 21600"/>
              <a:gd name="T2" fmla="*/ 838200 w 21600"/>
              <a:gd name="T3" fmla="*/ 685800 h 21600"/>
              <a:gd name="T4" fmla="*/ 0 w 21600"/>
              <a:gd name="T5" fmla="*/ 68580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006600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56" name="Text Box 17"/>
          <p:cNvSpPr txBox="1">
            <a:spLocks noChangeArrowheads="1"/>
          </p:cNvSpPr>
          <p:nvPr/>
        </p:nvSpPr>
        <p:spPr bwMode="auto">
          <a:xfrm>
            <a:off x="4656807" y="3547864"/>
            <a:ext cx="2003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/>
              <a:t>Phase Margin</a:t>
            </a:r>
          </a:p>
        </p:txBody>
      </p:sp>
    </p:spTree>
    <p:extLst>
      <p:ext uri="{BB962C8B-B14F-4D97-AF65-F5344CB8AC3E}">
        <p14:creationId xmlns:p14="http://schemas.microsoft.com/office/powerpoint/2010/main" val="733332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 animBg="1"/>
      <p:bldP spid="10246" grpId="0" animBg="1"/>
      <p:bldP spid="10247" grpId="0" animBg="1"/>
      <p:bldP spid="10248" grpId="0"/>
      <p:bldP spid="10249" grpId="0"/>
      <p:bldP spid="10250" grpId="0" animBg="1"/>
      <p:bldP spid="10251" grpId="0" animBg="1"/>
      <p:bldP spid="10252" grpId="0" animBg="1"/>
      <p:bldP spid="10253" grpId="0"/>
      <p:bldP spid="10254" grpId="0" animBg="1"/>
      <p:bldP spid="10255" grpId="0" animBg="1"/>
      <p:bldP spid="1025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784976" cy="868958"/>
          </a:xfrm>
        </p:spPr>
        <p:txBody>
          <a:bodyPr>
            <a:noAutofit/>
          </a:bodyPr>
          <a:lstStyle/>
          <a:p>
            <a:r>
              <a:rPr lang="en-GB" sz="3700" dirty="0"/>
              <a:t>Nichol’s Chart (Log-magnitude </a:t>
            </a:r>
            <a:r>
              <a:rPr lang="en-GB" sz="3700" dirty="0" err="1"/>
              <a:t>vs</a:t>
            </a:r>
            <a:r>
              <a:rPr lang="en-GB" sz="3700" dirty="0"/>
              <a:t> Phase Plot)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1340768"/>
            <a:ext cx="8928992" cy="5328592"/>
          </a:xfrm>
        </p:spPr>
        <p:txBody>
          <a:bodyPr>
            <a:normAutofit/>
          </a:bodyPr>
          <a:lstStyle/>
          <a:p>
            <a:pPr algn="just"/>
            <a:r>
              <a:rPr lang="en-GB" sz="2400" dirty="0"/>
              <a:t>Another approach to graphically portraying the frequency-response characteristics is to use the log-magnitude-versus-phase plot.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Which is a plot of the logarithmic magnitude in decibels versus the phase angle for a frequency range of interest.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In the manual approach the log-magnitude-versus-phase plot can easily be constructed by reading values of the log magnitude and phase angle from the Bode diagram.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Advantages of the log-magnitude-versus-phase plot are that the relative stability of the closed-loop system can be determined quickly and that compensation can be worked out easily.</a:t>
            </a:r>
          </a:p>
        </p:txBody>
      </p:sp>
    </p:spTree>
    <p:extLst>
      <p:ext uri="{BB962C8B-B14F-4D97-AF65-F5344CB8AC3E}">
        <p14:creationId xmlns:p14="http://schemas.microsoft.com/office/powerpoint/2010/main" val="2904996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568952" cy="922114"/>
          </a:xfrm>
        </p:spPr>
        <p:txBody>
          <a:bodyPr>
            <a:noAutofit/>
          </a:bodyPr>
          <a:lstStyle/>
          <a:p>
            <a:r>
              <a:rPr lang="en-GB" sz="3800" dirty="0"/>
              <a:t>Nichol’s Chart of simple transfer functions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755576" y="1268760"/>
          <a:ext cx="2160240" cy="1157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1000" imgH="380880" progId="Equation.3">
                  <p:embed/>
                </p:oleObj>
              </mc:Choice>
              <mc:Fallback>
                <p:oleObj name="Equation" r:id="rId2" imgW="71100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1268760"/>
                        <a:ext cx="2160240" cy="115727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0" name="Object 4"/>
          <p:cNvGraphicFramePr>
            <a:graphicFrameLocks noChangeAspect="1"/>
          </p:cNvGraphicFramePr>
          <p:nvPr/>
        </p:nvGraphicFramePr>
        <p:xfrm>
          <a:off x="467544" y="2492896"/>
          <a:ext cx="3163887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41120" imgH="355320" progId="Equation.3">
                  <p:embed/>
                </p:oleObj>
              </mc:Choice>
              <mc:Fallback>
                <p:oleObj name="Equation" r:id="rId4" imgW="104112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2492896"/>
                        <a:ext cx="3163887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1861" name="Picture 5"/>
          <p:cNvPicPr>
            <a:picLocks noChangeAspect="1" noChangeArrowheads="1"/>
          </p:cNvPicPr>
          <p:nvPr/>
        </p:nvPicPr>
        <p:blipFill>
          <a:blip r:embed="rId6" cstate="print"/>
          <a:srcRect r="3523"/>
          <a:stretch>
            <a:fillRect/>
          </a:stretch>
        </p:blipFill>
        <p:spPr bwMode="auto">
          <a:xfrm>
            <a:off x="3995936" y="1484784"/>
            <a:ext cx="5148064" cy="4457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67544" y="3933056"/>
          <a:ext cx="3300536" cy="225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7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3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l-GR" sz="2000" dirty="0"/>
                        <a:t>ω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2000" dirty="0"/>
                        <a:t>φ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Bell MT"/>
                        </a:rPr>
                        <a:t>∞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</a:t>
                      </a:r>
                      <a:r>
                        <a:rPr lang="en-GB" dirty="0" err="1"/>
                        <a:t>90</a:t>
                      </a:r>
                      <a:r>
                        <a:rPr lang="en-GB" baseline="30000" dirty="0" err="1"/>
                        <a:t>o</a:t>
                      </a:r>
                      <a:endParaRPr lang="en-GB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-</a:t>
                      </a:r>
                      <a:r>
                        <a:rPr lang="en-GB" dirty="0" err="1"/>
                        <a:t>90</a:t>
                      </a:r>
                      <a:r>
                        <a:rPr lang="en-GB" baseline="30000" dirty="0" err="1"/>
                        <a:t>o</a:t>
                      </a:r>
                      <a:endParaRPr lang="en-GB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-</a:t>
                      </a:r>
                      <a:r>
                        <a:rPr lang="en-GB" dirty="0" err="1"/>
                        <a:t>90</a:t>
                      </a:r>
                      <a:r>
                        <a:rPr lang="en-GB" baseline="30000" dirty="0" err="1"/>
                        <a:t>o</a:t>
                      </a:r>
                      <a:endParaRPr lang="en-GB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-</a:t>
                      </a:r>
                      <a:r>
                        <a:rPr lang="en-GB" dirty="0" err="1"/>
                        <a:t>90</a:t>
                      </a:r>
                      <a:r>
                        <a:rPr lang="en-GB" baseline="30000" dirty="0" err="1"/>
                        <a:t>o</a:t>
                      </a:r>
                      <a:endParaRPr lang="en-GB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Bell MT"/>
                        </a:rPr>
                        <a:t>∞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Bell MT"/>
                        </a:rPr>
                        <a:t>-∞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-</a:t>
                      </a:r>
                      <a:r>
                        <a:rPr lang="en-GB" dirty="0" err="1"/>
                        <a:t>90</a:t>
                      </a:r>
                      <a:r>
                        <a:rPr lang="en-GB" baseline="30000" dirty="0" err="1"/>
                        <a:t>o</a:t>
                      </a:r>
                      <a:endParaRPr lang="en-GB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515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568952" cy="922114"/>
          </a:xfrm>
        </p:spPr>
        <p:txBody>
          <a:bodyPr>
            <a:noAutofit/>
          </a:bodyPr>
          <a:lstStyle/>
          <a:p>
            <a:r>
              <a:rPr lang="en-GB" sz="3800" dirty="0"/>
              <a:t>Nichol’s Chart of simple transfer functions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683568" y="2276872"/>
          <a:ext cx="2671390" cy="1068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52200" imgH="380880" progId="Equation.3">
                  <p:embed/>
                </p:oleObj>
              </mc:Choice>
              <mc:Fallback>
                <p:oleObj name="Equation" r:id="rId2" imgW="95220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2276872"/>
                        <a:ext cx="2671390" cy="106884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0" name="Object 4"/>
          <p:cNvGraphicFramePr>
            <a:graphicFrameLocks noChangeAspect="1"/>
          </p:cNvGraphicFramePr>
          <p:nvPr/>
        </p:nvGraphicFramePr>
        <p:xfrm>
          <a:off x="0" y="3717032"/>
          <a:ext cx="4331915" cy="923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760" imgH="406080" progId="Equation.3">
                  <p:embed/>
                </p:oleObj>
              </mc:Choice>
              <mc:Fallback>
                <p:oleObj name="Equation" r:id="rId4" imgW="19047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717032"/>
                        <a:ext cx="4331915" cy="92342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2884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427984" y="1842120"/>
            <a:ext cx="4686563" cy="4107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8381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568952" cy="922114"/>
          </a:xfrm>
        </p:spPr>
        <p:txBody>
          <a:bodyPr>
            <a:noAutofit/>
          </a:bodyPr>
          <a:lstStyle/>
          <a:p>
            <a:r>
              <a:rPr lang="en-GB" sz="3800" dirty="0"/>
              <a:t>Nichol’s Chart of simple transfer functions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451100" y="1125538"/>
          <a:ext cx="3313113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80800" imgH="380880" progId="Equation.3">
                  <p:embed/>
                </p:oleObj>
              </mc:Choice>
              <mc:Fallback>
                <p:oleObj name="Equation" r:id="rId2" imgW="118080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1125538"/>
                        <a:ext cx="3313113" cy="1068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390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07704" y="2319284"/>
            <a:ext cx="5056237" cy="4538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2364116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724942"/>
          </a:xfrm>
        </p:spPr>
        <p:txBody>
          <a:bodyPr>
            <a:normAutofit fontScale="90000"/>
          </a:bodyPr>
          <a:lstStyle/>
          <a:p>
            <a:r>
              <a:rPr lang="en-GB" dirty="0"/>
              <a:t>Relative Stability</a:t>
            </a:r>
          </a:p>
        </p:txBody>
      </p:sp>
      <p:pic>
        <p:nvPicPr>
          <p:cNvPr id="1249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08720"/>
            <a:ext cx="4376142" cy="5918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493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43885" y="980728"/>
            <a:ext cx="4600115" cy="5877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02420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DEVELOPMENT4.gi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44528" y="-259182"/>
            <a:ext cx="6840760" cy="7062756"/>
          </a:xfrm>
        </p:spPr>
      </p:pic>
    </p:spTree>
    <p:extLst>
      <p:ext uri="{BB962C8B-B14F-4D97-AF65-F5344CB8AC3E}">
        <p14:creationId xmlns:p14="http://schemas.microsoft.com/office/powerpoint/2010/main" val="244159153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344233"/>
            <a:ext cx="5411316" cy="6541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4631260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868958"/>
          </a:xfrm>
        </p:spPr>
        <p:txBody>
          <a:bodyPr/>
          <a:lstStyle/>
          <a:p>
            <a:r>
              <a:rPr lang="en-GB" dirty="0" err="1"/>
              <a:t>Example#1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980728"/>
            <a:ext cx="8856984" cy="4525963"/>
          </a:xfrm>
        </p:spPr>
        <p:txBody>
          <a:bodyPr>
            <a:normAutofit/>
          </a:bodyPr>
          <a:lstStyle/>
          <a:p>
            <a:pPr algn="just"/>
            <a:r>
              <a:rPr lang="en-GB" sz="3000" dirty="0"/>
              <a:t>Draw the Nichol’s Chart of following open loop transfer function and obtain the Gain Margin and Phase Margin. 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275856" y="2060848"/>
          <a:ext cx="3117497" cy="9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0" imgH="355320" progId="Equation.3">
                  <p:embed/>
                </p:oleObj>
              </mc:Choice>
              <mc:Fallback>
                <p:oleObj name="Equation" r:id="rId2" imgW="114300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2060848"/>
                        <a:ext cx="3117497" cy="9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1520" y="2996952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Solution</a:t>
            </a:r>
          </a:p>
        </p:txBody>
      </p:sp>
      <p:graphicFrame>
        <p:nvGraphicFramePr>
          <p:cNvPr id="144387" name="Object 3"/>
          <p:cNvGraphicFramePr>
            <a:graphicFrameLocks noChangeAspect="1"/>
          </p:cNvGraphicFramePr>
          <p:nvPr/>
        </p:nvGraphicFramePr>
        <p:xfrm>
          <a:off x="2411760" y="3212976"/>
          <a:ext cx="4224338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49080" imgH="380880" progId="Equation.3">
                  <p:embed/>
                </p:oleObj>
              </mc:Choice>
              <mc:Fallback>
                <p:oleObj name="Equation" r:id="rId4" imgW="154908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3212976"/>
                        <a:ext cx="4224338" cy="1039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88" name="Object 4"/>
          <p:cNvGraphicFramePr>
            <a:graphicFrameLocks noChangeAspect="1"/>
          </p:cNvGraphicFramePr>
          <p:nvPr/>
        </p:nvGraphicFramePr>
        <p:xfrm>
          <a:off x="2466975" y="4221088"/>
          <a:ext cx="4259263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62040" imgH="393480" progId="Equation.3">
                  <p:embed/>
                </p:oleObj>
              </mc:Choice>
              <mc:Fallback>
                <p:oleObj name="Equation" r:id="rId6" imgW="15620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975" y="4221088"/>
                        <a:ext cx="4259263" cy="1074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90" name="Object 6"/>
          <p:cNvGraphicFramePr>
            <a:graphicFrameLocks noChangeAspect="1"/>
          </p:cNvGraphicFramePr>
          <p:nvPr/>
        </p:nvGraphicFramePr>
        <p:xfrm>
          <a:off x="981075" y="5481638"/>
          <a:ext cx="7410450" cy="114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17640" imgH="419040" progId="Equation.3">
                  <p:embed/>
                </p:oleObj>
              </mc:Choice>
              <mc:Fallback>
                <p:oleObj name="Equation" r:id="rId8" imgW="27176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1075" y="5481638"/>
                        <a:ext cx="7410450" cy="1144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0058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868958"/>
          </a:xfrm>
        </p:spPr>
        <p:txBody>
          <a:bodyPr/>
          <a:lstStyle/>
          <a:p>
            <a:r>
              <a:rPr lang="en-GB" dirty="0" err="1"/>
              <a:t>Example#1</a:t>
            </a:r>
            <a:endParaRPr lang="en-GB" dirty="0"/>
          </a:p>
        </p:txBody>
      </p:sp>
      <p:graphicFrame>
        <p:nvGraphicFramePr>
          <p:cNvPr id="144390" name="Object 6"/>
          <p:cNvGraphicFramePr>
            <a:graphicFrameLocks noChangeAspect="1"/>
          </p:cNvGraphicFramePr>
          <p:nvPr/>
        </p:nvGraphicFramePr>
        <p:xfrm>
          <a:off x="1043608" y="1052736"/>
          <a:ext cx="7410450" cy="114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17640" imgH="419040" progId="Equation.3">
                  <p:embed/>
                </p:oleObj>
              </mc:Choice>
              <mc:Fallback>
                <p:oleObj name="Equation" r:id="rId2" imgW="27176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1052736"/>
                        <a:ext cx="7410450" cy="1144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4" name="Object 6"/>
          <p:cNvGraphicFramePr>
            <a:graphicFrameLocks noChangeAspect="1"/>
          </p:cNvGraphicFramePr>
          <p:nvPr/>
        </p:nvGraphicFramePr>
        <p:xfrm>
          <a:off x="2622550" y="2600325"/>
          <a:ext cx="4397375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800" imgH="393480" progId="Equation.3">
                  <p:embed/>
                </p:oleObj>
              </mc:Choice>
              <mc:Fallback>
                <p:oleObj name="Equation" r:id="rId4" imgW="16128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550" y="2600325"/>
                        <a:ext cx="4397375" cy="1074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5" name="Object 6"/>
          <p:cNvGraphicFramePr>
            <a:graphicFrameLocks noChangeAspect="1"/>
          </p:cNvGraphicFramePr>
          <p:nvPr/>
        </p:nvGraphicFramePr>
        <p:xfrm>
          <a:off x="611560" y="4149080"/>
          <a:ext cx="7929562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08080" imgH="393480" progId="Equation.3">
                  <p:embed/>
                </p:oleObj>
              </mc:Choice>
              <mc:Fallback>
                <p:oleObj name="Equation" r:id="rId6" imgW="29080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4149080"/>
                        <a:ext cx="7929562" cy="1074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2995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24942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Example#1</a:t>
            </a:r>
            <a:endParaRPr lang="en-GB" dirty="0"/>
          </a:p>
        </p:txBody>
      </p:sp>
      <p:graphicFrame>
        <p:nvGraphicFramePr>
          <p:cNvPr id="145415" name="Object 6"/>
          <p:cNvGraphicFramePr>
            <a:graphicFrameLocks noChangeAspect="1"/>
          </p:cNvGraphicFramePr>
          <p:nvPr/>
        </p:nvGraphicFramePr>
        <p:xfrm>
          <a:off x="1115616" y="903791"/>
          <a:ext cx="6756102" cy="1013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28720" imgH="393480" progId="Equation.3">
                  <p:embed/>
                </p:oleObj>
              </mc:Choice>
              <mc:Fallback>
                <p:oleObj name="Equation" r:id="rId2" imgW="26287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903791"/>
                        <a:ext cx="6756102" cy="101304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843807" y="2304394"/>
          <a:ext cx="3384377" cy="4076934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812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6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6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846">
                <a:tc>
                  <a:txBody>
                    <a:bodyPr/>
                    <a:lstStyle/>
                    <a:p>
                      <a:pPr algn="ctr"/>
                      <a:r>
                        <a:rPr lang="el-GR" sz="2400" dirty="0"/>
                        <a:t>ω</a:t>
                      </a:r>
                      <a:endParaRPr lang="en-GB" sz="2400" b="1" dirty="0"/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/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/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809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0.01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-</a:t>
                      </a:r>
                      <a:r>
                        <a:rPr lang="en-GB" sz="2400" dirty="0" err="1"/>
                        <a:t>90</a:t>
                      </a:r>
                      <a:r>
                        <a:rPr lang="en-GB" sz="2400" baseline="30000" dirty="0" err="1"/>
                        <a:t>o</a:t>
                      </a:r>
                      <a:endParaRPr lang="en-GB" sz="2400" baseline="30000" dirty="0"/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809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0.1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10.3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-</a:t>
                      </a:r>
                      <a:r>
                        <a:rPr lang="en-GB" sz="2400" dirty="0" err="1"/>
                        <a:t>97.5</a:t>
                      </a:r>
                      <a:r>
                        <a:rPr lang="en-GB" sz="2400" baseline="30000" dirty="0" err="1"/>
                        <a:t>o</a:t>
                      </a:r>
                      <a:endParaRPr lang="en-GB" sz="2400" dirty="0"/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809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0.5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-4.4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-</a:t>
                      </a:r>
                      <a:r>
                        <a:rPr lang="en-GB" sz="2400" dirty="0" err="1"/>
                        <a:t>125</a:t>
                      </a:r>
                      <a:r>
                        <a:rPr lang="en-GB" sz="2400" baseline="30000" dirty="0" err="1"/>
                        <a:t>o</a:t>
                      </a:r>
                      <a:endParaRPr lang="en-GB" sz="2400" dirty="0"/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809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-14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-</a:t>
                      </a:r>
                      <a:r>
                        <a:rPr lang="en-GB" sz="2400" dirty="0" err="1"/>
                        <a:t>153</a:t>
                      </a:r>
                      <a:r>
                        <a:rPr lang="en-GB" sz="2400" baseline="30000" dirty="0" err="1"/>
                        <a:t>o</a:t>
                      </a:r>
                      <a:endParaRPr lang="en-GB" sz="2400" dirty="0"/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2809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-22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-</a:t>
                      </a:r>
                      <a:r>
                        <a:rPr lang="en-GB" sz="2400" dirty="0" err="1"/>
                        <a:t>180</a:t>
                      </a:r>
                      <a:r>
                        <a:rPr lang="en-GB" sz="2400" baseline="30000" dirty="0" err="1"/>
                        <a:t>o</a:t>
                      </a:r>
                      <a:endParaRPr lang="en-GB" sz="2400" dirty="0"/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2809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-26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-</a:t>
                      </a:r>
                      <a:r>
                        <a:rPr lang="en-GB" sz="2400" dirty="0" err="1"/>
                        <a:t>189</a:t>
                      </a:r>
                      <a:r>
                        <a:rPr lang="en-GB" sz="2400" baseline="30000" dirty="0" err="1"/>
                        <a:t>o</a:t>
                      </a:r>
                      <a:endParaRPr lang="en-GB" sz="2400" dirty="0"/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851920" y="2419323"/>
          <a:ext cx="96043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20560" imgH="253800" progId="Equation.3">
                  <p:embed/>
                </p:oleObj>
              </mc:Choice>
              <mc:Fallback>
                <p:oleObj name="Equation" r:id="rId4" imgW="5205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2419323"/>
                        <a:ext cx="960438" cy="46831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5220071" y="2471184"/>
          <a:ext cx="890587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2400" imgH="203040" progId="Equation.3">
                  <p:embed/>
                </p:oleObj>
              </mc:Choice>
              <mc:Fallback>
                <p:oleObj name="Equation" r:id="rId6" imgW="4824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1" y="2471184"/>
                        <a:ext cx="890587" cy="3746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49144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06766" y="-31223"/>
            <a:ext cx="6301738" cy="6889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Oval 4"/>
          <p:cNvSpPr/>
          <p:nvPr/>
        </p:nvSpPr>
        <p:spPr>
          <a:xfrm>
            <a:off x="6490478" y="233352"/>
            <a:ext cx="108000" cy="108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6378950" y="2204864"/>
            <a:ext cx="108000" cy="108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5825254" y="3604080"/>
            <a:ext cx="108000" cy="108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5220072" y="4573592"/>
            <a:ext cx="108000" cy="108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4612944" y="5359568"/>
            <a:ext cx="108000" cy="108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4427984" y="5962928"/>
            <a:ext cx="108000" cy="108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4241" y="1700808"/>
          <a:ext cx="2808312" cy="4076934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547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2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5594">
                <a:tc>
                  <a:txBody>
                    <a:bodyPr/>
                    <a:lstStyle/>
                    <a:p>
                      <a:pPr algn="ctr"/>
                      <a:r>
                        <a:rPr lang="el-GR" sz="2400" dirty="0"/>
                        <a:t>ω</a:t>
                      </a:r>
                      <a:endParaRPr lang="en-GB" sz="2400" b="1" dirty="0"/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/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/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809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0.01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30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/>
                        <a:t>-</a:t>
                      </a:r>
                      <a:r>
                        <a:rPr lang="en-GB" sz="2000" dirty="0" err="1"/>
                        <a:t>90</a:t>
                      </a:r>
                      <a:r>
                        <a:rPr lang="en-GB" sz="2000" baseline="30000" dirty="0" err="1"/>
                        <a:t>o</a:t>
                      </a:r>
                      <a:endParaRPr lang="en-GB" sz="2000" baseline="30000" dirty="0"/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809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0.1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10.3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-</a:t>
                      </a:r>
                      <a:r>
                        <a:rPr lang="en-GB" sz="2000" dirty="0" err="1"/>
                        <a:t>97.5</a:t>
                      </a:r>
                      <a:r>
                        <a:rPr lang="en-GB" sz="2000" baseline="30000" dirty="0" err="1"/>
                        <a:t>o</a:t>
                      </a:r>
                      <a:endParaRPr lang="en-GB" sz="2000" dirty="0"/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809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0.5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-4.4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/>
                        <a:t>-</a:t>
                      </a:r>
                      <a:r>
                        <a:rPr lang="en-GB" sz="2000" dirty="0" err="1"/>
                        <a:t>125</a:t>
                      </a:r>
                      <a:r>
                        <a:rPr lang="en-GB" sz="2000" baseline="30000" dirty="0" err="1"/>
                        <a:t>o</a:t>
                      </a:r>
                      <a:endParaRPr lang="en-GB" sz="2000" dirty="0"/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809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-14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/>
                        <a:t>-</a:t>
                      </a:r>
                      <a:r>
                        <a:rPr lang="en-GB" sz="2000" dirty="0" err="1"/>
                        <a:t>153</a:t>
                      </a:r>
                      <a:r>
                        <a:rPr lang="en-GB" sz="2000" baseline="30000" dirty="0" err="1"/>
                        <a:t>o</a:t>
                      </a:r>
                      <a:endParaRPr lang="en-GB" sz="2000" dirty="0"/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2809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-22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-</a:t>
                      </a:r>
                      <a:r>
                        <a:rPr lang="en-GB" sz="2000" dirty="0" err="1"/>
                        <a:t>180</a:t>
                      </a:r>
                      <a:r>
                        <a:rPr lang="en-GB" sz="2000" baseline="30000" dirty="0" err="1"/>
                        <a:t>o</a:t>
                      </a:r>
                      <a:endParaRPr lang="en-GB" sz="2000" dirty="0"/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2809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-26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-</a:t>
                      </a:r>
                      <a:r>
                        <a:rPr lang="en-GB" sz="2000" dirty="0" err="1"/>
                        <a:t>189</a:t>
                      </a:r>
                      <a:r>
                        <a:rPr lang="en-GB" sz="2000" baseline="30000" dirty="0" err="1"/>
                        <a:t>o</a:t>
                      </a:r>
                      <a:endParaRPr lang="en-GB" sz="2000" dirty="0"/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921825" y="1772816"/>
          <a:ext cx="837829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20560" imgH="253800" progId="Equation.3">
                  <p:embed/>
                </p:oleObj>
              </mc:Choice>
              <mc:Fallback>
                <p:oleObj name="Equation" r:id="rId3" imgW="5205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1825" y="1772816"/>
                        <a:ext cx="837829" cy="46831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"/>
          <p:cNvGraphicFramePr>
            <a:graphicFrameLocks noChangeAspect="1"/>
          </p:cNvGraphicFramePr>
          <p:nvPr/>
        </p:nvGraphicFramePr>
        <p:xfrm>
          <a:off x="1929937" y="1844824"/>
          <a:ext cx="776895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82400" imgH="203040" progId="Equation.3">
                  <p:embed/>
                </p:oleObj>
              </mc:Choice>
              <mc:Fallback>
                <p:oleObj name="Equation" r:id="rId5" imgW="4824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9937" y="1844824"/>
                        <a:ext cx="776895" cy="3746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reeform 13"/>
          <p:cNvSpPr/>
          <p:nvPr/>
        </p:nvSpPr>
        <p:spPr>
          <a:xfrm>
            <a:off x="4428699" y="150125"/>
            <a:ext cx="2122226" cy="6045959"/>
          </a:xfrm>
          <a:custGeom>
            <a:avLst/>
            <a:gdLst>
              <a:gd name="connsiteX0" fmla="*/ 34119 w 2122226"/>
              <a:gd name="connsiteY0" fmla="*/ 6045959 h 6045959"/>
              <a:gd name="connsiteX1" fmla="*/ 34119 w 2122226"/>
              <a:gd name="connsiteY1" fmla="*/ 5663821 h 6045959"/>
              <a:gd name="connsiteX2" fmla="*/ 238835 w 2122226"/>
              <a:gd name="connsiteY2" fmla="*/ 5268036 h 6045959"/>
              <a:gd name="connsiteX3" fmla="*/ 852985 w 2122226"/>
              <a:gd name="connsiteY3" fmla="*/ 4490114 h 6045959"/>
              <a:gd name="connsiteX4" fmla="*/ 1317008 w 2122226"/>
              <a:gd name="connsiteY4" fmla="*/ 3739487 h 6045959"/>
              <a:gd name="connsiteX5" fmla="*/ 1535373 w 2122226"/>
              <a:gd name="connsiteY5" fmla="*/ 3384645 h 6045959"/>
              <a:gd name="connsiteX6" fmla="*/ 1644555 w 2122226"/>
              <a:gd name="connsiteY6" fmla="*/ 3152633 h 6045959"/>
              <a:gd name="connsiteX7" fmla="*/ 1931158 w 2122226"/>
              <a:gd name="connsiteY7" fmla="*/ 2552132 h 6045959"/>
              <a:gd name="connsiteX8" fmla="*/ 2053988 w 2122226"/>
              <a:gd name="connsiteY8" fmla="*/ 1719618 h 6045959"/>
              <a:gd name="connsiteX9" fmla="*/ 2122226 w 2122226"/>
              <a:gd name="connsiteY9" fmla="*/ 0 h 6045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22226" h="6045959">
                <a:moveTo>
                  <a:pt x="34119" y="6045959"/>
                </a:moveTo>
                <a:cubicBezTo>
                  <a:pt x="17059" y="5919717"/>
                  <a:pt x="0" y="5793475"/>
                  <a:pt x="34119" y="5663821"/>
                </a:cubicBezTo>
                <a:cubicBezTo>
                  <a:pt x="68238" y="5534167"/>
                  <a:pt x="102357" y="5463654"/>
                  <a:pt x="238835" y="5268036"/>
                </a:cubicBezTo>
                <a:cubicBezTo>
                  <a:pt x="375313" y="5072418"/>
                  <a:pt x="673289" y="4744872"/>
                  <a:pt x="852985" y="4490114"/>
                </a:cubicBezTo>
                <a:cubicBezTo>
                  <a:pt x="1032681" y="4235356"/>
                  <a:pt x="1317008" y="3739487"/>
                  <a:pt x="1317008" y="3739487"/>
                </a:cubicBezTo>
                <a:cubicBezTo>
                  <a:pt x="1430739" y="3555242"/>
                  <a:pt x="1480782" y="3482454"/>
                  <a:pt x="1535373" y="3384645"/>
                </a:cubicBezTo>
                <a:cubicBezTo>
                  <a:pt x="1589964" y="3286836"/>
                  <a:pt x="1644555" y="3152633"/>
                  <a:pt x="1644555" y="3152633"/>
                </a:cubicBezTo>
                <a:cubicBezTo>
                  <a:pt x="1710519" y="3013881"/>
                  <a:pt x="1862919" y="2790968"/>
                  <a:pt x="1931158" y="2552132"/>
                </a:cubicBezTo>
                <a:cubicBezTo>
                  <a:pt x="1999397" y="2313296"/>
                  <a:pt x="2022143" y="2144973"/>
                  <a:pt x="2053988" y="1719618"/>
                </a:cubicBezTo>
                <a:cubicBezTo>
                  <a:pt x="2085833" y="1294263"/>
                  <a:pt x="2104029" y="647131"/>
                  <a:pt x="2122226" y="0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7049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58" name="Picture 2"/>
          <p:cNvPicPr>
            <a:picLocks noChangeAspect="1" noChangeArrowheads="1"/>
          </p:cNvPicPr>
          <p:nvPr/>
        </p:nvPicPr>
        <p:blipFill>
          <a:blip r:embed="rId2" cstate="print"/>
          <a:srcRect l="4889" t="5822" r="8001"/>
          <a:stretch>
            <a:fillRect/>
          </a:stretch>
        </p:blipFill>
        <p:spPr bwMode="auto">
          <a:xfrm>
            <a:off x="395536" y="216024"/>
            <a:ext cx="8363158" cy="6381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Oval 7"/>
          <p:cNvSpPr/>
          <p:nvPr/>
        </p:nvSpPr>
        <p:spPr>
          <a:xfrm>
            <a:off x="7582688" y="1772816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Arrow Connector 9"/>
          <p:cNvCxnSpPr>
            <a:stCxn id="5" idx="0"/>
          </p:cNvCxnSpPr>
          <p:nvPr/>
        </p:nvCxnSpPr>
        <p:spPr>
          <a:xfrm flipV="1">
            <a:off x="5004048" y="1844824"/>
            <a:ext cx="0" cy="57606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8" idx="3"/>
          </p:cNvCxnSpPr>
          <p:nvPr/>
        </p:nvCxnSpPr>
        <p:spPr>
          <a:xfrm>
            <a:off x="5004048" y="1844824"/>
            <a:ext cx="2599731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4877449" y="2420888"/>
            <a:ext cx="1512168" cy="3456384"/>
            <a:chOff x="4877449" y="2420888"/>
            <a:chExt cx="1512168" cy="3456384"/>
          </a:xfrm>
        </p:grpSpPr>
        <p:sp>
          <p:nvSpPr>
            <p:cNvPr id="5" name="Oval 4"/>
            <p:cNvSpPr/>
            <p:nvPr/>
          </p:nvSpPr>
          <p:spPr>
            <a:xfrm>
              <a:off x="4932040" y="2420888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7" name="Straight Connector 6"/>
            <p:cNvCxnSpPr/>
            <p:nvPr/>
          </p:nvCxnSpPr>
          <p:spPr>
            <a:xfrm flipV="1">
              <a:off x="4990400" y="2420888"/>
              <a:ext cx="0" cy="34563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4877449" y="2463256"/>
              <a:ext cx="15121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/>
                <a:t>Phase Cross over point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7164288" y="2058504"/>
            <a:ext cx="1368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Gain Cross over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5816" y="1988840"/>
            <a:ext cx="1983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Gain Margin=22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4088" y="1340768"/>
            <a:ext cx="1928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Phase Margin=70</a:t>
            </a:r>
            <a:r>
              <a:rPr lang="en-GB" baseline="300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15311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/>
      <p:bldP spid="15" grpId="0"/>
      <p:bldP spid="17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476672"/>
            <a:ext cx="8735679" cy="6165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24774601"/>
      </p:ext>
    </p:extLst>
  </p:cSld>
  <p:clrMapOvr>
    <a:masterClrMapping/>
  </p:clrMapOvr>
</p:sld>
</file>

<file path=ppt/theme/theme1.xml><?xml version="1.0" encoding="utf-8"?>
<a:theme xmlns:a="http://schemas.openxmlformats.org/drawingml/2006/main" name="lecture 26 Ruth Herwitz Stability Criter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26 Ruth Herwitz Stability Criterion</Template>
  <TotalTime>1746</TotalTime>
  <Words>2494</Words>
  <Application>Microsoft Office PowerPoint</Application>
  <PresentationFormat>On-screen Show (4:3)</PresentationFormat>
  <Paragraphs>850</Paragraphs>
  <Slides>77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4" baseType="lpstr">
      <vt:lpstr>Arial</vt:lpstr>
      <vt:lpstr>Bell MT</vt:lpstr>
      <vt:lpstr>Calibri</vt:lpstr>
      <vt:lpstr>Times New Roman</vt:lpstr>
      <vt:lpstr>Wingdings</vt:lpstr>
      <vt:lpstr>lecture 26 Ruth Herwitz Stability Criterion</vt:lpstr>
      <vt:lpstr>Equation</vt:lpstr>
      <vt:lpstr>Introduction</vt:lpstr>
      <vt:lpstr>The Concept of Frequency Response</vt:lpstr>
      <vt:lpstr>The Concept of Frequency Response</vt:lpstr>
      <vt:lpstr>The Concept of Frequency Response</vt:lpstr>
      <vt:lpstr>The Concept of Frequency Response</vt:lpstr>
      <vt:lpstr>The Concept of Frequency Response</vt:lpstr>
      <vt:lpstr>The Concept of Frequency Response</vt:lpstr>
      <vt:lpstr>Frequency Domain Plots</vt:lpstr>
      <vt:lpstr>Bode Plot</vt:lpstr>
      <vt:lpstr>PowerPoint Presentation</vt:lpstr>
      <vt:lpstr>PowerPoint Presentation</vt:lpstr>
      <vt:lpstr>Basic Factors of a Transfer Function</vt:lpstr>
      <vt:lpstr>Basic Factors of a Transfer Function</vt:lpstr>
      <vt:lpstr>PowerPoint Presentation</vt:lpstr>
      <vt:lpstr>PowerPoint Presentation</vt:lpstr>
      <vt:lpstr>Basic Factors of a Transfer Function</vt:lpstr>
      <vt:lpstr>PowerPoint Presentation</vt:lpstr>
      <vt:lpstr>PowerPoint Presentation</vt:lpstr>
      <vt:lpstr>Basic Factors of a Transfer Function</vt:lpstr>
      <vt:lpstr>PowerPoint Presentation</vt:lpstr>
      <vt:lpstr>PowerPoint Presentation</vt:lpstr>
      <vt:lpstr>Basic Factors of a Transfer Function</vt:lpstr>
      <vt:lpstr>Basic Factors of a Transfer Function</vt:lpstr>
      <vt:lpstr>PowerPoint Presentation</vt:lpstr>
      <vt:lpstr>PowerPoint Presentation</vt:lpstr>
      <vt:lpstr>Basic Factors of a Transfer Function</vt:lpstr>
      <vt:lpstr>Basic Factors of a Transfer Function</vt:lpstr>
      <vt:lpstr>PowerPoint Presentation</vt:lpstr>
      <vt:lpstr>PowerPoint Presentation</vt:lpstr>
      <vt:lpstr>Example#1</vt:lpstr>
      <vt:lpstr>Example#1</vt:lpstr>
      <vt:lpstr>PowerPoint Presentation</vt:lpstr>
      <vt:lpstr>PowerPoint Presentation</vt:lpstr>
      <vt:lpstr>Example#1</vt:lpstr>
      <vt:lpstr>PowerPoint Presentation</vt:lpstr>
      <vt:lpstr>PowerPoint Presentation</vt:lpstr>
      <vt:lpstr>Example#2</vt:lpstr>
      <vt:lpstr>Basic Factors of a Transfer Function</vt:lpstr>
      <vt:lpstr>Minimum-Phase &amp; Non-minimum Phase Systems</vt:lpstr>
      <vt:lpstr>Minimum-Phase &amp; Non-minimum Phase Systems</vt:lpstr>
      <vt:lpstr>Minimum-Phase &amp; Non-minimum Phase Systems</vt:lpstr>
      <vt:lpstr>Minimum-Phase &amp; Non-minimum Phase Systems</vt:lpstr>
      <vt:lpstr>Minimum-Phase &amp; Non-minimum Phase Systems</vt:lpstr>
      <vt:lpstr>Minimum-Phase &amp; Non-minimum Phase Systems</vt:lpstr>
      <vt:lpstr>Relative Stability</vt:lpstr>
      <vt:lpstr>Relative Stability</vt:lpstr>
      <vt:lpstr>PowerPoint Presentation</vt:lpstr>
      <vt:lpstr>PowerPoint Presentation</vt:lpstr>
      <vt:lpstr>Example#3</vt:lpstr>
      <vt:lpstr>PowerPoint Presentation</vt:lpstr>
      <vt:lpstr>Nyquist Plot (Polar Plot)</vt:lpstr>
      <vt:lpstr>Nyquist Plot (Polar Plot)</vt:lpstr>
      <vt:lpstr>Nyquist Plot (Polar Plot)</vt:lpstr>
      <vt:lpstr>Nyquist Plot of Integral and Derivative Factors</vt:lpstr>
      <vt:lpstr>Nyquist Plot of Integral and Derivative Factors</vt:lpstr>
      <vt:lpstr>Nyquist Plot of First Order Factors</vt:lpstr>
      <vt:lpstr>Nyquist Plot of First Order Factors</vt:lpstr>
      <vt:lpstr>Nyquist Plot of First Order Factors</vt:lpstr>
      <vt:lpstr>Nyquist Plot of First Order Factors</vt:lpstr>
      <vt:lpstr>Example#1</vt:lpstr>
      <vt:lpstr>Example#1</vt:lpstr>
      <vt:lpstr>Example#1</vt:lpstr>
      <vt:lpstr>Nyquist Stability Criterion</vt:lpstr>
      <vt:lpstr>PowerPoint Presentation</vt:lpstr>
      <vt:lpstr>Nichol’s Chart (Log-magnitude vs Phase Plot)</vt:lpstr>
      <vt:lpstr>Nichol’s Chart of simple transfer functions</vt:lpstr>
      <vt:lpstr>Nichol’s Chart of simple transfer functions</vt:lpstr>
      <vt:lpstr>Nichol’s Chart of simple transfer functions</vt:lpstr>
      <vt:lpstr>Relative Stability</vt:lpstr>
      <vt:lpstr>PowerPoint Presentation</vt:lpstr>
      <vt:lpstr>PowerPoint Presentation</vt:lpstr>
      <vt:lpstr>Example#1</vt:lpstr>
      <vt:lpstr>Example#1</vt:lpstr>
      <vt:lpstr>Example#1</vt:lpstr>
      <vt:lpstr>PowerPoint Presentation</vt:lpstr>
      <vt:lpstr>PowerPoint Presentation</vt:lpstr>
      <vt:lpstr>PowerPoint Presentation</vt:lpstr>
    </vt:vector>
  </TitlesOfParts>
  <Company>University Of Salford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Feedback Control Systems (FCS)</dc:title>
  <dc:creator>Imtiaz Hussain</dc:creator>
  <cp:lastModifiedBy>ayeshaz.rao@gmail.com</cp:lastModifiedBy>
  <cp:revision>227</cp:revision>
  <dcterms:created xsi:type="dcterms:W3CDTF">2013-03-24T03:49:47Z</dcterms:created>
  <dcterms:modified xsi:type="dcterms:W3CDTF">2025-12-09T06:21:01Z</dcterms:modified>
</cp:coreProperties>
</file>