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7"/>
  </p:notesMasterIdLst>
  <p:handoutMasterIdLst>
    <p:handoutMasterId r:id="rId38"/>
  </p:handoutMasterIdLst>
  <p:sldIdLst>
    <p:sldId id="338" r:id="rId2"/>
    <p:sldId id="336" r:id="rId3"/>
    <p:sldId id="286" r:id="rId4"/>
    <p:sldId id="284" r:id="rId5"/>
    <p:sldId id="285" r:id="rId6"/>
    <p:sldId id="290" r:id="rId7"/>
    <p:sldId id="292" r:id="rId8"/>
    <p:sldId id="293" r:id="rId9"/>
    <p:sldId id="297" r:id="rId10"/>
    <p:sldId id="306" r:id="rId11"/>
    <p:sldId id="302" r:id="rId12"/>
    <p:sldId id="337" r:id="rId13"/>
    <p:sldId id="386" r:id="rId14"/>
    <p:sldId id="389" r:id="rId15"/>
    <p:sldId id="303" r:id="rId16"/>
    <p:sldId id="294" r:id="rId17"/>
    <p:sldId id="304" r:id="rId18"/>
    <p:sldId id="300" r:id="rId19"/>
    <p:sldId id="301" r:id="rId20"/>
    <p:sldId id="390" r:id="rId21"/>
    <p:sldId id="307" r:id="rId22"/>
    <p:sldId id="309" r:id="rId23"/>
    <p:sldId id="311" r:id="rId24"/>
    <p:sldId id="318" r:id="rId25"/>
    <p:sldId id="313" r:id="rId26"/>
    <p:sldId id="316" r:id="rId27"/>
    <p:sldId id="320" r:id="rId28"/>
    <p:sldId id="324" r:id="rId29"/>
    <p:sldId id="326" r:id="rId30"/>
    <p:sldId id="327" r:id="rId31"/>
    <p:sldId id="335" r:id="rId32"/>
    <p:sldId id="395" r:id="rId33"/>
    <p:sldId id="397" r:id="rId34"/>
    <p:sldId id="398" r:id="rId35"/>
    <p:sldId id="325"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6" d="100"/>
          <a:sy n="106" d="100"/>
        </p:scale>
        <p:origin x="366" y="-81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diagrams/_rels/data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image" Target="../media/image2.gif"/></Relationships>
</file>

<file path=ppt/diagrams/_rels/drawing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image" Target="../media/image2.gif"/></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B0F1E5-D7AA-4055-8BE1-4D0F5463EA8C}" type="doc">
      <dgm:prSet loTypeId="urn:microsoft.com/office/officeart/2005/8/layout/hList7#1" loCatId="list" qsTypeId="urn:microsoft.com/office/officeart/2005/8/quickstyle/3d1" qsCatId="3D" csTypeId="urn:microsoft.com/office/officeart/2005/8/colors/colorful5" csCatId="colorful" phldr="1"/>
      <dgm:spPr/>
    </dgm:pt>
    <dgm:pt modelId="{D49D74BF-C5BD-4E18-B5A9-660CD55627CF}">
      <dgm:prSet phldrT="[Text]" custT="1"/>
      <dgm:spPr/>
      <dgm:t>
        <a:bodyPr/>
        <a:lstStyle/>
        <a:p>
          <a:r>
            <a:rPr lang="en-GB" sz="2400" b="1" dirty="0"/>
            <a:t>Classical Control</a:t>
          </a:r>
        </a:p>
      </dgm:t>
    </dgm:pt>
    <dgm:pt modelId="{81323AA3-BF44-423A-AC26-D02BBEAC8215}" type="parTrans" cxnId="{E8E10E48-8AA3-44C6-8510-5669E696076A}">
      <dgm:prSet/>
      <dgm:spPr/>
      <dgm:t>
        <a:bodyPr/>
        <a:lstStyle/>
        <a:p>
          <a:endParaRPr lang="en-GB"/>
        </a:p>
      </dgm:t>
    </dgm:pt>
    <dgm:pt modelId="{C0212C2F-2D81-4B1D-867B-F2D8EFE03B70}" type="sibTrans" cxnId="{E8E10E48-8AA3-44C6-8510-5669E696076A}">
      <dgm:prSet/>
      <dgm:spPr/>
      <dgm:t>
        <a:bodyPr/>
        <a:lstStyle/>
        <a:p>
          <a:endParaRPr lang="en-GB"/>
        </a:p>
      </dgm:t>
    </dgm:pt>
    <dgm:pt modelId="{F6D3E502-8067-4CFC-89AE-0D2E379013EF}">
      <dgm:prSet phldrT="[Text]" custT="1"/>
      <dgm:spPr/>
      <dgm:t>
        <a:bodyPr/>
        <a:lstStyle/>
        <a:p>
          <a:r>
            <a:rPr lang="en-GB" sz="2400" dirty="0"/>
            <a:t>Modern Control</a:t>
          </a:r>
        </a:p>
      </dgm:t>
    </dgm:pt>
    <dgm:pt modelId="{BF8C99F8-F342-4515-BFA8-1482D6E0B141}" type="parTrans" cxnId="{5F7526D2-0D34-454E-B97A-0F636B60A1AA}">
      <dgm:prSet/>
      <dgm:spPr/>
      <dgm:t>
        <a:bodyPr/>
        <a:lstStyle/>
        <a:p>
          <a:endParaRPr lang="en-GB"/>
        </a:p>
      </dgm:t>
    </dgm:pt>
    <dgm:pt modelId="{614E9058-FA30-4F45-9A02-0AAA1FCAAF62}" type="sibTrans" cxnId="{5F7526D2-0D34-454E-B97A-0F636B60A1AA}">
      <dgm:prSet/>
      <dgm:spPr/>
      <dgm:t>
        <a:bodyPr/>
        <a:lstStyle/>
        <a:p>
          <a:endParaRPr lang="en-GB"/>
        </a:p>
      </dgm:t>
    </dgm:pt>
    <dgm:pt modelId="{5B2F511C-21DE-4038-B815-3AAED65704B4}">
      <dgm:prSet phldrT="[Text]" custT="1"/>
      <dgm:spPr/>
      <dgm:t>
        <a:bodyPr/>
        <a:lstStyle/>
        <a:p>
          <a:r>
            <a:rPr lang="en-GB" sz="1500" dirty="0"/>
            <a:t>System Modelling</a:t>
          </a:r>
        </a:p>
      </dgm:t>
    </dgm:pt>
    <dgm:pt modelId="{324A1239-002D-4632-921B-75AB9F7CBCB1}" type="parTrans" cxnId="{5C74B637-007A-4B54-9D6C-1FFA3112DB1D}">
      <dgm:prSet/>
      <dgm:spPr/>
      <dgm:t>
        <a:bodyPr/>
        <a:lstStyle/>
        <a:p>
          <a:endParaRPr lang="en-GB"/>
        </a:p>
      </dgm:t>
    </dgm:pt>
    <dgm:pt modelId="{533441E3-D9A4-4CD1-8E2F-1CE01DD108DF}" type="sibTrans" cxnId="{5C74B637-007A-4B54-9D6C-1FFA3112DB1D}">
      <dgm:prSet/>
      <dgm:spPr/>
      <dgm:t>
        <a:bodyPr/>
        <a:lstStyle/>
        <a:p>
          <a:endParaRPr lang="en-GB"/>
        </a:p>
      </dgm:t>
    </dgm:pt>
    <dgm:pt modelId="{25DEB516-7993-4CE8-A714-EEDB8C48C641}">
      <dgm:prSet phldrT="[Text]" custT="1"/>
      <dgm:spPr/>
      <dgm:t>
        <a:bodyPr/>
        <a:lstStyle/>
        <a:p>
          <a:r>
            <a:rPr lang="en-GB" sz="1500" dirty="0"/>
            <a:t>System Analysis</a:t>
          </a:r>
        </a:p>
      </dgm:t>
    </dgm:pt>
    <dgm:pt modelId="{6D1AD51B-6203-49DD-B856-99A06ABF4BF0}" type="parTrans" cxnId="{B3160129-5119-4570-858F-DC92ACFB266B}">
      <dgm:prSet/>
      <dgm:spPr/>
      <dgm:t>
        <a:bodyPr/>
        <a:lstStyle/>
        <a:p>
          <a:endParaRPr lang="en-GB"/>
        </a:p>
      </dgm:t>
    </dgm:pt>
    <dgm:pt modelId="{085B2567-8CF9-408F-9D73-F7D1FD7A9F37}" type="sibTrans" cxnId="{B3160129-5119-4570-858F-DC92ACFB266B}">
      <dgm:prSet/>
      <dgm:spPr/>
      <dgm:t>
        <a:bodyPr/>
        <a:lstStyle/>
        <a:p>
          <a:endParaRPr lang="en-GB"/>
        </a:p>
      </dgm:t>
    </dgm:pt>
    <dgm:pt modelId="{F8A6FDC2-968A-4421-B0F1-EF3478F5970A}">
      <dgm:prSet phldrT="[Text]" custT="1"/>
      <dgm:spPr/>
      <dgm:t>
        <a:bodyPr/>
        <a:lstStyle/>
        <a:p>
          <a:r>
            <a:rPr lang="en-GB" sz="1500" dirty="0"/>
            <a:t>Transfer Function</a:t>
          </a:r>
        </a:p>
      </dgm:t>
    </dgm:pt>
    <dgm:pt modelId="{41C66582-E51A-4059-9197-8BC2F7CF6C35}" type="parTrans" cxnId="{A9C6B675-CDDD-47E9-AFE7-2BFAF2418A7B}">
      <dgm:prSet/>
      <dgm:spPr/>
      <dgm:t>
        <a:bodyPr/>
        <a:lstStyle/>
        <a:p>
          <a:endParaRPr lang="en-GB"/>
        </a:p>
      </dgm:t>
    </dgm:pt>
    <dgm:pt modelId="{C680B4A8-E160-4EFE-939C-AC2A91CE65DF}" type="sibTrans" cxnId="{A9C6B675-CDDD-47E9-AFE7-2BFAF2418A7B}">
      <dgm:prSet/>
      <dgm:spPr/>
      <dgm:t>
        <a:bodyPr/>
        <a:lstStyle/>
        <a:p>
          <a:endParaRPr lang="en-GB"/>
        </a:p>
      </dgm:t>
    </dgm:pt>
    <dgm:pt modelId="{1936046F-2D61-420D-84D7-5C5C1F9D184D}">
      <dgm:prSet phldrT="[Text]" custT="1"/>
      <dgm:spPr/>
      <dgm:t>
        <a:bodyPr/>
        <a:lstStyle/>
        <a:p>
          <a:r>
            <a:rPr lang="en-GB" sz="1500" dirty="0"/>
            <a:t>Block Diagrams</a:t>
          </a:r>
        </a:p>
      </dgm:t>
    </dgm:pt>
    <dgm:pt modelId="{557BD747-F0A4-41D8-A98A-24C58D9388E4}" type="parTrans" cxnId="{5EB120AA-9ADD-4D72-AE72-F835D2ABD8ED}">
      <dgm:prSet/>
      <dgm:spPr/>
      <dgm:t>
        <a:bodyPr/>
        <a:lstStyle/>
        <a:p>
          <a:endParaRPr lang="en-GB"/>
        </a:p>
      </dgm:t>
    </dgm:pt>
    <dgm:pt modelId="{F74B3417-05E4-4BA8-ADE0-09E010CE4854}" type="sibTrans" cxnId="{5EB120AA-9ADD-4D72-AE72-F835D2ABD8ED}">
      <dgm:prSet/>
      <dgm:spPr/>
      <dgm:t>
        <a:bodyPr/>
        <a:lstStyle/>
        <a:p>
          <a:endParaRPr lang="en-GB"/>
        </a:p>
      </dgm:t>
    </dgm:pt>
    <dgm:pt modelId="{549861F5-C202-4A2E-8899-82E015EAFCFA}">
      <dgm:prSet phldrT="[Text]" custT="1"/>
      <dgm:spPr/>
      <dgm:t>
        <a:bodyPr/>
        <a:lstStyle/>
        <a:p>
          <a:r>
            <a:rPr lang="en-GB" sz="1500" dirty="0"/>
            <a:t>Signal Flow Graphs</a:t>
          </a:r>
        </a:p>
      </dgm:t>
    </dgm:pt>
    <dgm:pt modelId="{AF41D80D-801A-411C-812E-CF026410DD7D}" type="parTrans" cxnId="{D92AE06C-B6E9-44A4-9582-21781FD0C992}">
      <dgm:prSet/>
      <dgm:spPr/>
      <dgm:t>
        <a:bodyPr/>
        <a:lstStyle/>
        <a:p>
          <a:endParaRPr lang="en-GB"/>
        </a:p>
      </dgm:t>
    </dgm:pt>
    <dgm:pt modelId="{D4618071-8BC2-4555-8987-E24D1C895870}" type="sibTrans" cxnId="{D92AE06C-B6E9-44A4-9582-21781FD0C992}">
      <dgm:prSet/>
      <dgm:spPr/>
      <dgm:t>
        <a:bodyPr/>
        <a:lstStyle/>
        <a:p>
          <a:endParaRPr lang="en-GB"/>
        </a:p>
      </dgm:t>
    </dgm:pt>
    <dgm:pt modelId="{DEA87345-8209-42CB-A669-DA1B185E3520}">
      <dgm:prSet phldrT="[Text]" custT="1"/>
      <dgm:spPr/>
      <dgm:t>
        <a:bodyPr/>
        <a:lstStyle/>
        <a:p>
          <a:r>
            <a:rPr lang="en-GB" sz="1500" dirty="0"/>
            <a:t>Time Domain Analysis</a:t>
          </a:r>
        </a:p>
      </dgm:t>
    </dgm:pt>
    <dgm:pt modelId="{E9C0B674-013D-4E64-A5DF-B52B2604145F}" type="parTrans" cxnId="{A2357417-FD5C-4A86-B32B-E82D01C64BF9}">
      <dgm:prSet/>
      <dgm:spPr/>
      <dgm:t>
        <a:bodyPr/>
        <a:lstStyle/>
        <a:p>
          <a:endParaRPr lang="en-GB"/>
        </a:p>
      </dgm:t>
    </dgm:pt>
    <dgm:pt modelId="{16700A89-D493-4B01-AF91-A5EFFF57E5A0}" type="sibTrans" cxnId="{A2357417-FD5C-4A86-B32B-E82D01C64BF9}">
      <dgm:prSet/>
      <dgm:spPr/>
      <dgm:t>
        <a:bodyPr/>
        <a:lstStyle/>
        <a:p>
          <a:endParaRPr lang="en-GB"/>
        </a:p>
      </dgm:t>
    </dgm:pt>
    <dgm:pt modelId="{B4368A69-7E3D-4D46-8FC6-18D0B71CAF98}">
      <dgm:prSet phldrT="[Text]" custT="1"/>
      <dgm:spPr/>
      <dgm:t>
        <a:bodyPr/>
        <a:lstStyle/>
        <a:p>
          <a:r>
            <a:rPr lang="en-GB" sz="1500" dirty="0"/>
            <a:t>State Space Modelling</a:t>
          </a:r>
        </a:p>
      </dgm:t>
    </dgm:pt>
    <dgm:pt modelId="{ABB45032-2D4E-41A0-AA29-566E23B69C20}" type="parTrans" cxnId="{DF668A96-5929-4C8E-8FFB-74EA4F639D4A}">
      <dgm:prSet/>
      <dgm:spPr/>
      <dgm:t>
        <a:bodyPr/>
        <a:lstStyle/>
        <a:p>
          <a:endParaRPr lang="en-GB"/>
        </a:p>
      </dgm:t>
    </dgm:pt>
    <dgm:pt modelId="{28B77C52-5DD1-4F55-B298-A0DC3054BC2B}" type="sibTrans" cxnId="{DF668A96-5929-4C8E-8FFB-74EA4F639D4A}">
      <dgm:prSet/>
      <dgm:spPr/>
      <dgm:t>
        <a:bodyPr/>
        <a:lstStyle/>
        <a:p>
          <a:endParaRPr lang="en-GB"/>
        </a:p>
      </dgm:t>
    </dgm:pt>
    <dgm:pt modelId="{AD0262A7-4237-4432-8645-D7FDDE36251E}">
      <dgm:prSet phldrT="[Text]" custT="1"/>
      <dgm:spPr/>
      <dgm:t>
        <a:bodyPr/>
        <a:lstStyle/>
        <a:p>
          <a:r>
            <a:rPr lang="en-GB" sz="1500" dirty="0"/>
            <a:t>Bode Plots, </a:t>
          </a:r>
          <a:r>
            <a:rPr lang="en-GB" sz="1500" dirty="0" err="1"/>
            <a:t>Nyquist</a:t>
          </a:r>
          <a:r>
            <a:rPr lang="en-GB" sz="1500" dirty="0"/>
            <a:t> Plots, Nichol’s Chart</a:t>
          </a:r>
        </a:p>
      </dgm:t>
    </dgm:pt>
    <dgm:pt modelId="{E9DFECCE-3FDF-417D-9501-0B879093C5FA}" type="parTrans" cxnId="{BFED260C-FC9A-4F50-B188-F6EF784C8614}">
      <dgm:prSet/>
      <dgm:spPr/>
      <dgm:t>
        <a:bodyPr/>
        <a:lstStyle/>
        <a:p>
          <a:endParaRPr lang="en-GB"/>
        </a:p>
      </dgm:t>
    </dgm:pt>
    <dgm:pt modelId="{833202A1-DE7D-461F-A4C8-94098A72CBDB}" type="sibTrans" cxnId="{BFED260C-FC9A-4F50-B188-F6EF784C8614}">
      <dgm:prSet/>
      <dgm:spPr/>
      <dgm:t>
        <a:bodyPr/>
        <a:lstStyle/>
        <a:p>
          <a:endParaRPr lang="en-GB"/>
        </a:p>
      </dgm:t>
    </dgm:pt>
    <dgm:pt modelId="{F8D97157-B08B-4F18-8FD6-8A6232F360A8}">
      <dgm:prSet phldrT="[Text]" custT="1"/>
      <dgm:spPr/>
      <dgm:t>
        <a:bodyPr/>
        <a:lstStyle/>
        <a:p>
          <a:r>
            <a:rPr lang="en-GB" sz="1500" dirty="0"/>
            <a:t>Transfer Function to State Space</a:t>
          </a:r>
        </a:p>
      </dgm:t>
    </dgm:pt>
    <dgm:pt modelId="{3BC78674-52C6-4CAC-A3B7-E9C30005C762}" type="sibTrans" cxnId="{1BC1D7F7-2B44-46FB-9AE2-D440CD5FD620}">
      <dgm:prSet/>
      <dgm:spPr/>
      <dgm:t>
        <a:bodyPr/>
        <a:lstStyle/>
        <a:p>
          <a:endParaRPr lang="en-GB"/>
        </a:p>
      </dgm:t>
    </dgm:pt>
    <dgm:pt modelId="{7F50ADF6-B663-4549-BAF3-172B9B687066}" type="parTrans" cxnId="{1BC1D7F7-2B44-46FB-9AE2-D440CD5FD620}">
      <dgm:prSet/>
      <dgm:spPr/>
      <dgm:t>
        <a:bodyPr/>
        <a:lstStyle/>
        <a:p>
          <a:endParaRPr lang="en-GB"/>
        </a:p>
      </dgm:t>
    </dgm:pt>
    <dgm:pt modelId="{8B81ABEE-BEA4-4F80-B35F-4B586E01EDC2}">
      <dgm:prSet phldrT="[Text]" custT="1"/>
      <dgm:spPr/>
      <dgm:t>
        <a:bodyPr/>
        <a:lstStyle/>
        <a:p>
          <a:r>
            <a:rPr lang="en-GB" sz="1500" dirty="0"/>
            <a:t>State Space to Transfer Function</a:t>
          </a:r>
        </a:p>
      </dgm:t>
    </dgm:pt>
    <dgm:pt modelId="{C43A4C0E-CCD7-4B18-808D-7B9D1FF53F0E}" type="sibTrans" cxnId="{7C5586D8-0D3B-4337-9F14-DBE69D45C7AE}">
      <dgm:prSet/>
      <dgm:spPr/>
      <dgm:t>
        <a:bodyPr/>
        <a:lstStyle/>
        <a:p>
          <a:endParaRPr lang="en-GB"/>
        </a:p>
      </dgm:t>
    </dgm:pt>
    <dgm:pt modelId="{0A41B95E-2E77-49FD-A7BE-39FA3B45E4F2}" type="parTrans" cxnId="{7C5586D8-0D3B-4337-9F14-DBE69D45C7AE}">
      <dgm:prSet/>
      <dgm:spPr/>
      <dgm:t>
        <a:bodyPr/>
        <a:lstStyle/>
        <a:p>
          <a:endParaRPr lang="en-GB"/>
        </a:p>
      </dgm:t>
    </dgm:pt>
    <dgm:pt modelId="{04E3225A-2C6B-4B68-A27E-DE95984A47AB}">
      <dgm:prSet phldrT="[Text]" custT="1"/>
      <dgm:spPr/>
      <dgm:t>
        <a:bodyPr/>
        <a:lstStyle/>
        <a:p>
          <a:r>
            <a:rPr lang="en-GB" sz="1500" dirty="0"/>
            <a:t>Solution of State Equations (state Transition Matrix)</a:t>
          </a:r>
        </a:p>
      </dgm:t>
    </dgm:pt>
    <dgm:pt modelId="{6E86E5C9-24B0-4F1F-811E-93988E462E15}" type="sibTrans" cxnId="{68FD1DCB-FB42-468F-ABAA-CD8EB9967B3C}">
      <dgm:prSet/>
      <dgm:spPr/>
      <dgm:t>
        <a:bodyPr/>
        <a:lstStyle/>
        <a:p>
          <a:endParaRPr lang="en-GB"/>
        </a:p>
      </dgm:t>
    </dgm:pt>
    <dgm:pt modelId="{EB72450B-BF90-48FD-9E8F-518E1C55CA31}" type="parTrans" cxnId="{68FD1DCB-FB42-468F-ABAA-CD8EB9967B3C}">
      <dgm:prSet/>
      <dgm:spPr/>
      <dgm:t>
        <a:bodyPr/>
        <a:lstStyle/>
        <a:p>
          <a:endParaRPr lang="en-GB"/>
        </a:p>
      </dgm:t>
    </dgm:pt>
    <dgm:pt modelId="{EAF7F4A7-DCEA-4CD7-B4EF-E222E46390E7}">
      <dgm:prSet phldrT="[Text]" custT="1"/>
      <dgm:spPr/>
      <dgm:t>
        <a:bodyPr/>
        <a:lstStyle/>
        <a:p>
          <a:r>
            <a:rPr lang="en-GB" sz="1500" dirty="0"/>
            <a:t>Observability and Controllability</a:t>
          </a:r>
        </a:p>
      </dgm:t>
    </dgm:pt>
    <dgm:pt modelId="{C6A0B240-3C80-4E44-AE61-988C0B7E7DFB}" type="sibTrans" cxnId="{062AA1BF-1491-4CE3-BA89-1B8AD31A7D03}">
      <dgm:prSet/>
      <dgm:spPr/>
      <dgm:t>
        <a:bodyPr/>
        <a:lstStyle/>
        <a:p>
          <a:endParaRPr lang="en-GB"/>
        </a:p>
      </dgm:t>
    </dgm:pt>
    <dgm:pt modelId="{E4A2E9F5-B97D-4AC3-A730-041715B92765}" type="parTrans" cxnId="{062AA1BF-1491-4CE3-BA89-1B8AD31A7D03}">
      <dgm:prSet/>
      <dgm:spPr/>
      <dgm:t>
        <a:bodyPr/>
        <a:lstStyle/>
        <a:p>
          <a:endParaRPr lang="en-GB"/>
        </a:p>
      </dgm:t>
    </dgm:pt>
    <dgm:pt modelId="{FA453B88-AA03-48A7-BE13-8194CA84A345}">
      <dgm:prSet phldrT="[Text]" custT="1"/>
      <dgm:spPr/>
      <dgm:t>
        <a:bodyPr/>
        <a:lstStyle/>
        <a:p>
          <a:r>
            <a:rPr lang="en-GB" sz="1500" dirty="0"/>
            <a:t>Eigenvalue Analysis</a:t>
          </a:r>
        </a:p>
      </dgm:t>
    </dgm:pt>
    <dgm:pt modelId="{8C910987-3D4F-46B0-9FB2-3BBCC81D014E}" type="sibTrans" cxnId="{79E23F9A-48DE-4085-BF05-CA8281090D8F}">
      <dgm:prSet/>
      <dgm:spPr/>
      <dgm:t>
        <a:bodyPr/>
        <a:lstStyle/>
        <a:p>
          <a:endParaRPr lang="en-GB"/>
        </a:p>
      </dgm:t>
    </dgm:pt>
    <dgm:pt modelId="{5AC6074E-153E-42E2-9DD2-F46A724C6563}" type="parTrans" cxnId="{79E23F9A-48DE-4085-BF05-CA8281090D8F}">
      <dgm:prSet/>
      <dgm:spPr/>
      <dgm:t>
        <a:bodyPr/>
        <a:lstStyle/>
        <a:p>
          <a:endParaRPr lang="en-GB"/>
        </a:p>
      </dgm:t>
    </dgm:pt>
    <dgm:pt modelId="{53FB0769-485E-4861-9217-EF8A068AC260}">
      <dgm:prSet phldrT="[Text]" custT="1"/>
      <dgm:spPr/>
      <dgm:t>
        <a:bodyPr/>
        <a:lstStyle/>
        <a:p>
          <a:r>
            <a:rPr lang="en-GB" sz="1500" dirty="0"/>
            <a:t>System Design</a:t>
          </a:r>
        </a:p>
      </dgm:t>
    </dgm:pt>
    <dgm:pt modelId="{4025B6A6-E98A-4766-ADEC-7479BBCC4627}" type="parTrans" cxnId="{038FECE4-36C0-4378-ADAC-99521E6DA03F}">
      <dgm:prSet/>
      <dgm:spPr/>
      <dgm:t>
        <a:bodyPr/>
        <a:lstStyle/>
        <a:p>
          <a:endParaRPr lang="en-US"/>
        </a:p>
      </dgm:t>
    </dgm:pt>
    <dgm:pt modelId="{8EC22982-9EB2-4240-9833-19B4FF6FA0FE}" type="sibTrans" cxnId="{038FECE4-36C0-4378-ADAC-99521E6DA03F}">
      <dgm:prSet/>
      <dgm:spPr/>
      <dgm:t>
        <a:bodyPr/>
        <a:lstStyle/>
        <a:p>
          <a:endParaRPr lang="en-US"/>
        </a:p>
      </dgm:t>
    </dgm:pt>
    <dgm:pt modelId="{F7521DFA-8742-4CBB-93AA-6603C58180BC}">
      <dgm:prSet phldrT="[Text]" custT="1"/>
      <dgm:spPr/>
      <dgm:t>
        <a:bodyPr/>
        <a:lstStyle/>
        <a:p>
          <a:r>
            <a:rPr lang="en-GB" sz="1500" dirty="0"/>
            <a:t>Compensation Techniques</a:t>
          </a:r>
        </a:p>
      </dgm:t>
    </dgm:pt>
    <dgm:pt modelId="{4AC58385-CDA7-4756-A9A9-3597E2E793AF}" type="parTrans" cxnId="{3D7C3122-7C16-4A03-8E6A-554BB0CEC344}">
      <dgm:prSet/>
      <dgm:spPr/>
      <dgm:t>
        <a:bodyPr/>
        <a:lstStyle/>
        <a:p>
          <a:endParaRPr lang="en-US"/>
        </a:p>
      </dgm:t>
    </dgm:pt>
    <dgm:pt modelId="{092AE7D2-BD14-4E60-AE7D-9BAACEE19C98}" type="sibTrans" cxnId="{3D7C3122-7C16-4A03-8E6A-554BB0CEC344}">
      <dgm:prSet/>
      <dgm:spPr/>
      <dgm:t>
        <a:bodyPr/>
        <a:lstStyle/>
        <a:p>
          <a:endParaRPr lang="en-US"/>
        </a:p>
      </dgm:t>
    </dgm:pt>
    <dgm:pt modelId="{30023125-5F91-423A-91D6-EABBF4757AC3}">
      <dgm:prSet phldrT="[Text]" custT="1"/>
      <dgm:spPr/>
      <dgm:t>
        <a:bodyPr/>
        <a:lstStyle/>
        <a:p>
          <a:r>
            <a:rPr lang="en-GB" sz="1500" dirty="0"/>
            <a:t>PID Control</a:t>
          </a:r>
        </a:p>
      </dgm:t>
    </dgm:pt>
    <dgm:pt modelId="{BCB37D1C-7611-49DA-8C72-994672E9DDD9}" type="parTrans" cxnId="{07333D03-CAA0-442B-9DA3-AE400DED71F1}">
      <dgm:prSet/>
      <dgm:spPr/>
      <dgm:t>
        <a:bodyPr/>
        <a:lstStyle/>
        <a:p>
          <a:endParaRPr lang="en-US"/>
        </a:p>
      </dgm:t>
    </dgm:pt>
    <dgm:pt modelId="{AF5B004F-E5A5-44EF-B7B5-2A0528AC9714}" type="sibTrans" cxnId="{07333D03-CAA0-442B-9DA3-AE400DED71F1}">
      <dgm:prSet/>
      <dgm:spPr/>
      <dgm:t>
        <a:bodyPr/>
        <a:lstStyle/>
        <a:p>
          <a:endParaRPr lang="en-US"/>
        </a:p>
      </dgm:t>
    </dgm:pt>
    <dgm:pt modelId="{A88AB06C-8857-44D8-AC76-6464CD0A7284}">
      <dgm:prSet phldrT="[Text]" custT="1"/>
      <dgm:spPr/>
      <dgm:t>
        <a:bodyPr/>
        <a:lstStyle/>
        <a:p>
          <a:r>
            <a:rPr lang="en-GB" sz="1500" dirty="0"/>
            <a:t>Frequency Domain Analysis</a:t>
          </a:r>
        </a:p>
      </dgm:t>
    </dgm:pt>
    <dgm:pt modelId="{3B9042AC-6857-44F1-A64A-21C927FAE9E5}" type="parTrans" cxnId="{F7757382-8341-49DA-9EEA-A85AF155C1AD}">
      <dgm:prSet/>
      <dgm:spPr/>
      <dgm:t>
        <a:bodyPr/>
        <a:lstStyle/>
        <a:p>
          <a:endParaRPr lang="en-US"/>
        </a:p>
      </dgm:t>
    </dgm:pt>
    <dgm:pt modelId="{7001B377-2882-4410-9E05-12AE11D55428}" type="sibTrans" cxnId="{F7757382-8341-49DA-9EEA-A85AF155C1AD}">
      <dgm:prSet/>
      <dgm:spPr/>
      <dgm:t>
        <a:bodyPr/>
        <a:lstStyle/>
        <a:p>
          <a:endParaRPr lang="en-US"/>
        </a:p>
      </dgm:t>
    </dgm:pt>
    <dgm:pt modelId="{87C22991-54F1-452B-AAED-84A230A7B492}">
      <dgm:prSet phldrT="[Text]" custT="1"/>
      <dgm:spPr/>
      <dgm:t>
        <a:bodyPr/>
        <a:lstStyle/>
        <a:p>
          <a:r>
            <a:rPr lang="en-GB" sz="1500" dirty="0"/>
            <a:t>State Space Design Techniques</a:t>
          </a:r>
        </a:p>
      </dgm:t>
    </dgm:pt>
    <dgm:pt modelId="{4808B78F-9357-40C3-9ABA-E1225E0A8124}" type="parTrans" cxnId="{2A591E1E-8DCA-43B4-A47D-E4B6C5FE3A39}">
      <dgm:prSet/>
      <dgm:spPr/>
      <dgm:t>
        <a:bodyPr/>
        <a:lstStyle/>
        <a:p>
          <a:endParaRPr lang="en-US"/>
        </a:p>
      </dgm:t>
    </dgm:pt>
    <dgm:pt modelId="{75C5FFE2-40E0-4B7C-8958-B1CE77F39B48}" type="sibTrans" cxnId="{2A591E1E-8DCA-43B4-A47D-E4B6C5FE3A39}">
      <dgm:prSet/>
      <dgm:spPr/>
      <dgm:t>
        <a:bodyPr/>
        <a:lstStyle/>
        <a:p>
          <a:endParaRPr lang="en-US"/>
        </a:p>
      </dgm:t>
    </dgm:pt>
    <dgm:pt modelId="{837465E6-5147-4C01-80FF-D47D902C56A7}">
      <dgm:prSet phldrT="[Text]" custT="1"/>
      <dgm:spPr/>
      <dgm:t>
        <a:bodyPr/>
        <a:lstStyle/>
        <a:p>
          <a:r>
            <a:rPr lang="en-GB" sz="1500" dirty="0"/>
            <a:t> Root Locus </a:t>
          </a:r>
        </a:p>
      </dgm:t>
    </dgm:pt>
    <dgm:pt modelId="{31A06B7C-60FD-446E-A6F0-70E6ED04F57C}" type="parTrans" cxnId="{4D7EB468-2032-41BA-A9B6-364AC5B1D5EB}">
      <dgm:prSet/>
      <dgm:spPr/>
      <dgm:t>
        <a:bodyPr/>
        <a:lstStyle/>
        <a:p>
          <a:endParaRPr lang="en-US"/>
        </a:p>
      </dgm:t>
    </dgm:pt>
    <dgm:pt modelId="{990B6AF8-A787-4273-B077-B41C0FFED265}" type="sibTrans" cxnId="{4D7EB468-2032-41BA-A9B6-364AC5B1D5EB}">
      <dgm:prSet/>
      <dgm:spPr/>
      <dgm:t>
        <a:bodyPr/>
        <a:lstStyle/>
        <a:p>
          <a:endParaRPr lang="en-US"/>
        </a:p>
      </dgm:t>
    </dgm:pt>
    <dgm:pt modelId="{7D2C670E-9AE7-44BE-A0CD-0225FBFD9D00}" type="pres">
      <dgm:prSet presAssocID="{6CB0F1E5-D7AA-4055-8BE1-4D0F5463EA8C}" presName="Name0" presStyleCnt="0">
        <dgm:presLayoutVars>
          <dgm:dir/>
          <dgm:resizeHandles val="exact"/>
        </dgm:presLayoutVars>
      </dgm:prSet>
      <dgm:spPr/>
    </dgm:pt>
    <dgm:pt modelId="{98BAEFD2-1F14-46F5-B924-9D6055E43C2A}" type="pres">
      <dgm:prSet presAssocID="{6CB0F1E5-D7AA-4055-8BE1-4D0F5463EA8C}" presName="fgShape" presStyleLbl="fgShp" presStyleIdx="0" presStyleCnt="1" custScaleX="81654" custScaleY="33333" custLinFactNeighborX="-226" custLinFactNeighborY="58333"/>
      <dgm:spPr/>
    </dgm:pt>
    <dgm:pt modelId="{1FE829AD-2213-40FC-9509-A22903DE88E6}" type="pres">
      <dgm:prSet presAssocID="{6CB0F1E5-D7AA-4055-8BE1-4D0F5463EA8C}" presName="linComp" presStyleCnt="0"/>
      <dgm:spPr/>
    </dgm:pt>
    <dgm:pt modelId="{347910AC-02E5-4948-A902-8956C7BA3E08}" type="pres">
      <dgm:prSet presAssocID="{D49D74BF-C5BD-4E18-B5A9-660CD55627CF}" presName="compNode" presStyleCnt="0"/>
      <dgm:spPr/>
    </dgm:pt>
    <dgm:pt modelId="{17436FB3-3249-4A61-8619-B60FC8E94C5D}" type="pres">
      <dgm:prSet presAssocID="{D49D74BF-C5BD-4E18-B5A9-660CD55627CF}" presName="bkgdShape" presStyleLbl="node1" presStyleIdx="0" presStyleCnt="2"/>
      <dgm:spPr/>
    </dgm:pt>
    <dgm:pt modelId="{98295B6B-BE4F-44B0-9CD0-15D9E32341BA}" type="pres">
      <dgm:prSet presAssocID="{D49D74BF-C5BD-4E18-B5A9-660CD55627CF}" presName="nodeTx" presStyleLbl="node1" presStyleIdx="0" presStyleCnt="2">
        <dgm:presLayoutVars>
          <dgm:bulletEnabled val="1"/>
        </dgm:presLayoutVars>
      </dgm:prSet>
      <dgm:spPr/>
    </dgm:pt>
    <dgm:pt modelId="{1577CFCC-D821-4A9F-BB6B-392014C37A9E}" type="pres">
      <dgm:prSet presAssocID="{D49D74BF-C5BD-4E18-B5A9-660CD55627CF}" presName="invisiNode" presStyleLbl="node1" presStyleIdx="0" presStyleCnt="2"/>
      <dgm:spPr/>
    </dgm:pt>
    <dgm:pt modelId="{1398020A-AEDC-4429-8F9B-68D4F6195C5B}" type="pres">
      <dgm:prSet presAssocID="{D49D74BF-C5BD-4E18-B5A9-660CD55627CF}" presName="imagNode" presStyleLbl="fgImgPlace1" presStyleIdx="0" presStyleCnt="2" custLinFactNeighborX="4686" custLinFactNeighborY="-10510"/>
      <dgm:spPr>
        <a:blipFill rotWithShape="0">
          <a:blip xmlns:r="http://schemas.openxmlformats.org/officeDocument/2006/relationships" r:embed="rId1"/>
          <a:stretch>
            <a:fillRect/>
          </a:stretch>
        </a:blipFill>
      </dgm:spPr>
    </dgm:pt>
    <dgm:pt modelId="{CEF826DB-7DA1-4E62-8565-3596B16ACB4F}" type="pres">
      <dgm:prSet presAssocID="{C0212C2F-2D81-4B1D-867B-F2D8EFE03B70}" presName="sibTrans" presStyleLbl="sibTrans2D1" presStyleIdx="0" presStyleCnt="0"/>
      <dgm:spPr/>
    </dgm:pt>
    <dgm:pt modelId="{CBCE66CF-8297-4495-B80F-1D572CF89C4B}" type="pres">
      <dgm:prSet presAssocID="{F6D3E502-8067-4CFC-89AE-0D2E379013EF}" presName="compNode" presStyleCnt="0"/>
      <dgm:spPr/>
    </dgm:pt>
    <dgm:pt modelId="{F3CFABE6-68D5-4DC3-9A1E-79FE09914C3A}" type="pres">
      <dgm:prSet presAssocID="{F6D3E502-8067-4CFC-89AE-0D2E379013EF}" presName="bkgdShape" presStyleLbl="node1" presStyleIdx="1" presStyleCnt="2"/>
      <dgm:spPr/>
    </dgm:pt>
    <dgm:pt modelId="{69E77281-A37C-43FC-9B98-DD138E89712B}" type="pres">
      <dgm:prSet presAssocID="{F6D3E502-8067-4CFC-89AE-0D2E379013EF}" presName="nodeTx" presStyleLbl="node1" presStyleIdx="1" presStyleCnt="2">
        <dgm:presLayoutVars>
          <dgm:bulletEnabled val="1"/>
        </dgm:presLayoutVars>
      </dgm:prSet>
      <dgm:spPr/>
    </dgm:pt>
    <dgm:pt modelId="{5FA18E20-265C-4F85-B5DF-517047F38A4E}" type="pres">
      <dgm:prSet presAssocID="{F6D3E502-8067-4CFC-89AE-0D2E379013EF}" presName="invisiNode" presStyleLbl="node1" presStyleIdx="1" presStyleCnt="2"/>
      <dgm:spPr/>
    </dgm:pt>
    <dgm:pt modelId="{A2932948-9B4D-48B8-A913-693D754768FA}" type="pres">
      <dgm:prSet presAssocID="{F6D3E502-8067-4CFC-89AE-0D2E379013EF}" presName="imagNode" presStyleLbl="fgImgPlace1" presStyleIdx="1" presStyleCnt="2" custLinFactNeighborY="-10510"/>
      <dgm:spPr>
        <a:blipFill rotWithShape="0">
          <a:blip xmlns:r="http://schemas.openxmlformats.org/officeDocument/2006/relationships" r:embed="rId2"/>
          <a:stretch>
            <a:fillRect/>
          </a:stretch>
        </a:blipFill>
      </dgm:spPr>
    </dgm:pt>
  </dgm:ptLst>
  <dgm:cxnLst>
    <dgm:cxn modelId="{07333D03-CAA0-442B-9DA3-AE400DED71F1}" srcId="{53FB0769-485E-4861-9217-EF8A068AC260}" destId="{30023125-5F91-423A-91D6-EABBF4757AC3}" srcOrd="1" destOrd="0" parTransId="{BCB37D1C-7611-49DA-8C72-994672E9DDD9}" sibTransId="{AF5B004F-E5A5-44EF-B7B5-2A0528AC9714}"/>
    <dgm:cxn modelId="{470B9006-021F-4D3C-938B-E8F5CB0E2B18}" type="presOf" srcId="{C0212C2F-2D81-4B1D-867B-F2D8EFE03B70}" destId="{CEF826DB-7DA1-4E62-8565-3596B16ACB4F}" srcOrd="0" destOrd="0" presId="urn:microsoft.com/office/officeart/2005/8/layout/hList7#1"/>
    <dgm:cxn modelId="{15245F07-2F20-45CE-85BC-66BEAB2482BC}" type="presOf" srcId="{FA453B88-AA03-48A7-BE13-8194CA84A345}" destId="{F3CFABE6-68D5-4DC3-9A1E-79FE09914C3A}" srcOrd="0" destOrd="2" presId="urn:microsoft.com/office/officeart/2005/8/layout/hList7#1"/>
    <dgm:cxn modelId="{BFED260C-FC9A-4F50-B188-F6EF784C8614}" srcId="{A88AB06C-8857-44D8-AC76-6464CD0A7284}" destId="{AD0262A7-4237-4432-8645-D7FDDE36251E}" srcOrd="0" destOrd="0" parTransId="{E9DFECCE-3FDF-417D-9501-0B879093C5FA}" sibTransId="{833202A1-DE7D-461F-A4C8-94098A72CBDB}"/>
    <dgm:cxn modelId="{02E3E816-F7D8-48B0-97C8-530A815FA80E}" type="presOf" srcId="{F8D97157-B08B-4F18-8FD6-8A6232F360A8}" destId="{69E77281-A37C-43FC-9B98-DD138E89712B}" srcOrd="1" destOrd="6" presId="urn:microsoft.com/office/officeart/2005/8/layout/hList7#1"/>
    <dgm:cxn modelId="{A2357417-FD5C-4A86-B32B-E82D01C64BF9}" srcId="{25DEB516-7993-4CE8-A714-EEDB8C48C641}" destId="{DEA87345-8209-42CB-A669-DA1B185E3520}" srcOrd="0" destOrd="0" parTransId="{E9C0B674-013D-4E64-A5DF-B52B2604145F}" sibTransId="{16700A89-D493-4B01-AF91-A5EFFF57E5A0}"/>
    <dgm:cxn modelId="{79AD2619-E830-4FA3-A983-CF2E8DB911B7}" type="presOf" srcId="{04E3225A-2C6B-4B68-A27E-DE95984A47AB}" destId="{69E77281-A37C-43FC-9B98-DD138E89712B}" srcOrd="1" destOrd="4" presId="urn:microsoft.com/office/officeart/2005/8/layout/hList7#1"/>
    <dgm:cxn modelId="{3410711B-61F2-4E82-8CC5-05BA56195EA6}" type="presOf" srcId="{30023125-5F91-423A-91D6-EABBF4757AC3}" destId="{98295B6B-BE4F-44B0-9CD0-15D9E32341BA}" srcOrd="1" destOrd="12" presId="urn:microsoft.com/office/officeart/2005/8/layout/hList7#1"/>
    <dgm:cxn modelId="{2A591E1E-8DCA-43B4-A47D-E4B6C5FE3A39}" srcId="{F6D3E502-8067-4CFC-89AE-0D2E379013EF}" destId="{87C22991-54F1-452B-AAED-84A230A7B492}" srcOrd="6" destOrd="0" parTransId="{4808B78F-9357-40C3-9ABA-E1225E0A8124}" sibTransId="{75C5FFE2-40E0-4B7C-8958-B1CE77F39B48}"/>
    <dgm:cxn modelId="{3D7C3122-7C16-4A03-8E6A-554BB0CEC344}" srcId="{53FB0769-485E-4861-9217-EF8A068AC260}" destId="{F7521DFA-8742-4CBB-93AA-6603C58180BC}" srcOrd="0" destOrd="0" parTransId="{4AC58385-CDA7-4756-A9A9-3597E2E793AF}" sibTransId="{092AE7D2-BD14-4E60-AE7D-9BAACEE19C98}"/>
    <dgm:cxn modelId="{B0F2D926-6A54-4884-A83D-B9735B6D9E85}" type="presOf" srcId="{DEA87345-8209-42CB-A669-DA1B185E3520}" destId="{17436FB3-3249-4A61-8619-B60FC8E94C5D}" srcOrd="0" destOrd="6" presId="urn:microsoft.com/office/officeart/2005/8/layout/hList7#1"/>
    <dgm:cxn modelId="{B3160129-5119-4570-858F-DC92ACFB266B}" srcId="{D49D74BF-C5BD-4E18-B5A9-660CD55627CF}" destId="{25DEB516-7993-4CE8-A714-EEDB8C48C641}" srcOrd="1" destOrd="0" parTransId="{6D1AD51B-6203-49DD-B856-99A06ABF4BF0}" sibTransId="{085B2567-8CF9-408F-9D73-F7D1FD7A9F37}"/>
    <dgm:cxn modelId="{E2BE3329-F0D6-4E35-B0E2-547211F96467}" type="presOf" srcId="{5B2F511C-21DE-4038-B815-3AAED65704B4}" destId="{17436FB3-3249-4A61-8619-B60FC8E94C5D}" srcOrd="0" destOrd="1" presId="urn:microsoft.com/office/officeart/2005/8/layout/hList7#1"/>
    <dgm:cxn modelId="{1EE7CC2B-0A3C-4826-AC6D-2A5A64DF9DA2}" type="presOf" srcId="{5B2F511C-21DE-4038-B815-3AAED65704B4}" destId="{98295B6B-BE4F-44B0-9CD0-15D9E32341BA}" srcOrd="1" destOrd="1" presId="urn:microsoft.com/office/officeart/2005/8/layout/hList7#1"/>
    <dgm:cxn modelId="{272A942F-2201-4D0D-A2F0-B3958CF4D25D}" type="presOf" srcId="{87C22991-54F1-452B-AAED-84A230A7B492}" destId="{69E77281-A37C-43FC-9B98-DD138E89712B}" srcOrd="1" destOrd="7" presId="urn:microsoft.com/office/officeart/2005/8/layout/hList7#1"/>
    <dgm:cxn modelId="{5C74B637-007A-4B54-9D6C-1FFA3112DB1D}" srcId="{D49D74BF-C5BD-4E18-B5A9-660CD55627CF}" destId="{5B2F511C-21DE-4038-B815-3AAED65704B4}" srcOrd="0" destOrd="0" parTransId="{324A1239-002D-4632-921B-75AB9F7CBCB1}" sibTransId="{533441E3-D9A4-4CD1-8E2F-1CE01DD108DF}"/>
    <dgm:cxn modelId="{16FF2A63-CB2C-44B5-8B8A-0209744630AD}" type="presOf" srcId="{D49D74BF-C5BD-4E18-B5A9-660CD55627CF}" destId="{98295B6B-BE4F-44B0-9CD0-15D9E32341BA}" srcOrd="1" destOrd="0" presId="urn:microsoft.com/office/officeart/2005/8/layout/hList7#1"/>
    <dgm:cxn modelId="{E8E10E48-8AA3-44C6-8510-5669E696076A}" srcId="{6CB0F1E5-D7AA-4055-8BE1-4D0F5463EA8C}" destId="{D49D74BF-C5BD-4E18-B5A9-660CD55627CF}" srcOrd="0" destOrd="0" parTransId="{81323AA3-BF44-423A-AC26-D02BBEAC8215}" sibTransId="{C0212C2F-2D81-4B1D-867B-F2D8EFE03B70}"/>
    <dgm:cxn modelId="{FAB88448-4DE6-4CD6-8B35-745D85C4A606}" type="presOf" srcId="{87C22991-54F1-452B-AAED-84A230A7B492}" destId="{F3CFABE6-68D5-4DC3-9A1E-79FE09914C3A}" srcOrd="0" destOrd="7" presId="urn:microsoft.com/office/officeart/2005/8/layout/hList7#1"/>
    <dgm:cxn modelId="{4D7EB468-2032-41BA-A9B6-364AC5B1D5EB}" srcId="{D49D74BF-C5BD-4E18-B5A9-660CD55627CF}" destId="{837465E6-5147-4C01-80FF-D47D902C56A7}" srcOrd="2" destOrd="0" parTransId="{31A06B7C-60FD-446E-A6F0-70E6ED04F57C}" sibTransId="{990B6AF8-A787-4273-B077-B41C0FFED265}"/>
    <dgm:cxn modelId="{B6EC3E4B-BDE4-41DE-ACC0-1E6D321D09D6}" type="presOf" srcId="{D49D74BF-C5BD-4E18-B5A9-660CD55627CF}" destId="{17436FB3-3249-4A61-8619-B60FC8E94C5D}" srcOrd="0" destOrd="0" presId="urn:microsoft.com/office/officeart/2005/8/layout/hList7#1"/>
    <dgm:cxn modelId="{D92AE06C-B6E9-44A4-9582-21781FD0C992}" srcId="{5B2F511C-21DE-4038-B815-3AAED65704B4}" destId="{549861F5-C202-4A2E-8899-82E015EAFCFA}" srcOrd="2" destOrd="0" parTransId="{AF41D80D-801A-411C-812E-CF026410DD7D}" sibTransId="{D4618071-8BC2-4555-8987-E24D1C895870}"/>
    <dgm:cxn modelId="{08E30770-02CF-4D64-B7A2-01DCFAAC8087}" type="presOf" srcId="{EAF7F4A7-DCEA-4CD7-B4EF-E222E46390E7}" destId="{69E77281-A37C-43FC-9B98-DD138E89712B}" srcOrd="1" destOrd="3" presId="urn:microsoft.com/office/officeart/2005/8/layout/hList7#1"/>
    <dgm:cxn modelId="{13CFEB74-D2CE-45B9-9B90-C562CFAAA02A}" type="presOf" srcId="{F8D97157-B08B-4F18-8FD6-8A6232F360A8}" destId="{F3CFABE6-68D5-4DC3-9A1E-79FE09914C3A}" srcOrd="0" destOrd="6" presId="urn:microsoft.com/office/officeart/2005/8/layout/hList7#1"/>
    <dgm:cxn modelId="{A9C6B675-CDDD-47E9-AFE7-2BFAF2418A7B}" srcId="{5B2F511C-21DE-4038-B815-3AAED65704B4}" destId="{F8A6FDC2-968A-4421-B0F1-EF3478F5970A}" srcOrd="0" destOrd="0" parTransId="{41C66582-E51A-4059-9197-8BC2F7CF6C35}" sibTransId="{C680B4A8-E160-4EFE-939C-AC2A91CE65DF}"/>
    <dgm:cxn modelId="{B67AC758-B405-41EB-A138-9952CFD5146C}" type="presOf" srcId="{A88AB06C-8857-44D8-AC76-6464CD0A7284}" destId="{98295B6B-BE4F-44B0-9CD0-15D9E32341BA}" srcOrd="1" destOrd="7" presId="urn:microsoft.com/office/officeart/2005/8/layout/hList7#1"/>
    <dgm:cxn modelId="{161DAE5A-3867-4178-B95D-C0DCD28A6B38}" type="presOf" srcId="{6CB0F1E5-D7AA-4055-8BE1-4D0F5463EA8C}" destId="{7D2C670E-9AE7-44BE-A0CD-0225FBFD9D00}" srcOrd="0" destOrd="0" presId="urn:microsoft.com/office/officeart/2005/8/layout/hList7#1"/>
    <dgm:cxn modelId="{1968AF5A-1CA9-46FB-8B8D-FAF1A4B7C9C7}" type="presOf" srcId="{53FB0769-485E-4861-9217-EF8A068AC260}" destId="{98295B6B-BE4F-44B0-9CD0-15D9E32341BA}" srcOrd="1" destOrd="10" presId="urn:microsoft.com/office/officeart/2005/8/layout/hList7#1"/>
    <dgm:cxn modelId="{24791481-37BE-4669-BB4D-E91159769D66}" type="presOf" srcId="{F6D3E502-8067-4CFC-89AE-0D2E379013EF}" destId="{69E77281-A37C-43FC-9B98-DD138E89712B}" srcOrd="1" destOrd="0" presId="urn:microsoft.com/office/officeart/2005/8/layout/hList7#1"/>
    <dgm:cxn modelId="{F7757382-8341-49DA-9EEA-A85AF155C1AD}" srcId="{25DEB516-7993-4CE8-A714-EEDB8C48C641}" destId="{A88AB06C-8857-44D8-AC76-6464CD0A7284}" srcOrd="1" destOrd="0" parTransId="{3B9042AC-6857-44F1-A64A-21C927FAE9E5}" sibTransId="{7001B377-2882-4410-9E05-12AE11D55428}"/>
    <dgm:cxn modelId="{F47D7D83-748A-4008-8E12-B3652BA4A497}" type="presOf" srcId="{04E3225A-2C6B-4B68-A27E-DE95984A47AB}" destId="{F3CFABE6-68D5-4DC3-9A1E-79FE09914C3A}" srcOrd="0" destOrd="4" presId="urn:microsoft.com/office/officeart/2005/8/layout/hList7#1"/>
    <dgm:cxn modelId="{BCD7A087-1233-4A51-90ED-A932606B1E18}" type="presOf" srcId="{EAF7F4A7-DCEA-4CD7-B4EF-E222E46390E7}" destId="{F3CFABE6-68D5-4DC3-9A1E-79FE09914C3A}" srcOrd="0" destOrd="3" presId="urn:microsoft.com/office/officeart/2005/8/layout/hList7#1"/>
    <dgm:cxn modelId="{6A623788-5E8C-4E53-81CA-6DE6F8BDB6F0}" type="presOf" srcId="{549861F5-C202-4A2E-8899-82E015EAFCFA}" destId="{98295B6B-BE4F-44B0-9CD0-15D9E32341BA}" srcOrd="1" destOrd="4" presId="urn:microsoft.com/office/officeart/2005/8/layout/hList7#1"/>
    <dgm:cxn modelId="{EBF7348D-2575-4C81-82E5-C542A32FEE2B}" type="presOf" srcId="{25DEB516-7993-4CE8-A714-EEDB8C48C641}" destId="{98295B6B-BE4F-44B0-9CD0-15D9E32341BA}" srcOrd="1" destOrd="5" presId="urn:microsoft.com/office/officeart/2005/8/layout/hList7#1"/>
    <dgm:cxn modelId="{CCD6708E-7DBB-405E-8E33-DF81CC9643F1}" type="presOf" srcId="{B4368A69-7E3D-4D46-8FC6-18D0B71CAF98}" destId="{F3CFABE6-68D5-4DC3-9A1E-79FE09914C3A}" srcOrd="0" destOrd="1" presId="urn:microsoft.com/office/officeart/2005/8/layout/hList7#1"/>
    <dgm:cxn modelId="{DF668A96-5929-4C8E-8FFB-74EA4F639D4A}" srcId="{F6D3E502-8067-4CFC-89AE-0D2E379013EF}" destId="{B4368A69-7E3D-4D46-8FC6-18D0B71CAF98}" srcOrd="0" destOrd="0" parTransId="{ABB45032-2D4E-41A0-AA29-566E23B69C20}" sibTransId="{28B77C52-5DD1-4F55-B298-A0DC3054BC2B}"/>
    <dgm:cxn modelId="{97D55B98-8AE9-41F0-8AAF-39C8F6B5B4B8}" type="presOf" srcId="{F8A6FDC2-968A-4421-B0F1-EF3478F5970A}" destId="{17436FB3-3249-4A61-8619-B60FC8E94C5D}" srcOrd="0" destOrd="2" presId="urn:microsoft.com/office/officeart/2005/8/layout/hList7#1"/>
    <dgm:cxn modelId="{E6CD9098-4C43-445E-9FE0-D233F164BA59}" type="presOf" srcId="{F7521DFA-8742-4CBB-93AA-6603C58180BC}" destId="{98295B6B-BE4F-44B0-9CD0-15D9E32341BA}" srcOrd="1" destOrd="11" presId="urn:microsoft.com/office/officeart/2005/8/layout/hList7#1"/>
    <dgm:cxn modelId="{79E23F9A-48DE-4085-BF05-CA8281090D8F}" srcId="{F6D3E502-8067-4CFC-89AE-0D2E379013EF}" destId="{FA453B88-AA03-48A7-BE13-8194CA84A345}" srcOrd="1" destOrd="0" parTransId="{5AC6074E-153E-42E2-9DD2-F46A724C6563}" sibTransId="{8C910987-3D4F-46B0-9FB2-3BBCC81D014E}"/>
    <dgm:cxn modelId="{2BEE6B9C-8DD9-47F6-AA92-712F4DC76A4E}" type="presOf" srcId="{25DEB516-7993-4CE8-A714-EEDB8C48C641}" destId="{17436FB3-3249-4A61-8619-B60FC8E94C5D}" srcOrd="0" destOrd="5" presId="urn:microsoft.com/office/officeart/2005/8/layout/hList7#1"/>
    <dgm:cxn modelId="{6BD205A6-73DD-4DFE-8A00-3BF09CE34133}" type="presOf" srcId="{F6D3E502-8067-4CFC-89AE-0D2E379013EF}" destId="{F3CFABE6-68D5-4DC3-9A1E-79FE09914C3A}" srcOrd="0" destOrd="0" presId="urn:microsoft.com/office/officeart/2005/8/layout/hList7#1"/>
    <dgm:cxn modelId="{26D981A7-A127-434E-B886-404A08DF3ADD}" type="presOf" srcId="{53FB0769-485E-4861-9217-EF8A068AC260}" destId="{17436FB3-3249-4A61-8619-B60FC8E94C5D}" srcOrd="0" destOrd="10" presId="urn:microsoft.com/office/officeart/2005/8/layout/hList7#1"/>
    <dgm:cxn modelId="{5EB120AA-9ADD-4D72-AE72-F835D2ABD8ED}" srcId="{5B2F511C-21DE-4038-B815-3AAED65704B4}" destId="{1936046F-2D61-420D-84D7-5C5C1F9D184D}" srcOrd="1" destOrd="0" parTransId="{557BD747-F0A4-41D8-A98A-24C58D9388E4}" sibTransId="{F74B3417-05E4-4BA8-ADE0-09E010CE4854}"/>
    <dgm:cxn modelId="{A00673AC-BF8A-4BF6-BE0A-DD535176FB68}" type="presOf" srcId="{30023125-5F91-423A-91D6-EABBF4757AC3}" destId="{17436FB3-3249-4A61-8619-B60FC8E94C5D}" srcOrd="0" destOrd="12" presId="urn:microsoft.com/office/officeart/2005/8/layout/hList7#1"/>
    <dgm:cxn modelId="{D79931B1-87BB-4E5B-900C-61AF10252E9C}" type="presOf" srcId="{549861F5-C202-4A2E-8899-82E015EAFCFA}" destId="{17436FB3-3249-4A61-8619-B60FC8E94C5D}" srcOrd="0" destOrd="4" presId="urn:microsoft.com/office/officeart/2005/8/layout/hList7#1"/>
    <dgm:cxn modelId="{5E9950B1-4E0E-4F8C-A803-943A15914F99}" type="presOf" srcId="{FA453B88-AA03-48A7-BE13-8194CA84A345}" destId="{69E77281-A37C-43FC-9B98-DD138E89712B}" srcOrd="1" destOrd="2" presId="urn:microsoft.com/office/officeart/2005/8/layout/hList7#1"/>
    <dgm:cxn modelId="{06334AB5-4EA7-4BCB-A923-C7BB00C88456}" type="presOf" srcId="{837465E6-5147-4C01-80FF-D47D902C56A7}" destId="{98295B6B-BE4F-44B0-9CD0-15D9E32341BA}" srcOrd="1" destOrd="9" presId="urn:microsoft.com/office/officeart/2005/8/layout/hList7#1"/>
    <dgm:cxn modelId="{DC840EB9-F8A9-4EA0-8BD4-B46BA204C023}" type="presOf" srcId="{B4368A69-7E3D-4D46-8FC6-18D0B71CAF98}" destId="{69E77281-A37C-43FC-9B98-DD138E89712B}" srcOrd="1" destOrd="1" presId="urn:microsoft.com/office/officeart/2005/8/layout/hList7#1"/>
    <dgm:cxn modelId="{062AA1BF-1491-4CE3-BA89-1B8AD31A7D03}" srcId="{F6D3E502-8067-4CFC-89AE-0D2E379013EF}" destId="{EAF7F4A7-DCEA-4CD7-B4EF-E222E46390E7}" srcOrd="2" destOrd="0" parTransId="{E4A2E9F5-B97D-4AC3-A730-041715B92765}" sibTransId="{C6A0B240-3C80-4E44-AE61-988C0B7E7DFB}"/>
    <dgm:cxn modelId="{850474C2-490E-45D5-8D97-8DA33B97BE8E}" type="presOf" srcId="{F8A6FDC2-968A-4421-B0F1-EF3478F5970A}" destId="{98295B6B-BE4F-44B0-9CD0-15D9E32341BA}" srcOrd="1" destOrd="2" presId="urn:microsoft.com/office/officeart/2005/8/layout/hList7#1"/>
    <dgm:cxn modelId="{68FD1DCB-FB42-468F-ABAA-CD8EB9967B3C}" srcId="{F6D3E502-8067-4CFC-89AE-0D2E379013EF}" destId="{04E3225A-2C6B-4B68-A27E-DE95984A47AB}" srcOrd="3" destOrd="0" parTransId="{EB72450B-BF90-48FD-9E8F-518E1C55CA31}" sibTransId="{6E86E5C9-24B0-4F1F-811E-93988E462E15}"/>
    <dgm:cxn modelId="{9D17D7D1-4ED4-4522-A3AB-F677CEB7E21F}" type="presOf" srcId="{DEA87345-8209-42CB-A669-DA1B185E3520}" destId="{98295B6B-BE4F-44B0-9CD0-15D9E32341BA}" srcOrd="1" destOrd="6" presId="urn:microsoft.com/office/officeart/2005/8/layout/hList7#1"/>
    <dgm:cxn modelId="{F95407D2-2731-48A1-B149-36A68D911E91}" type="presOf" srcId="{837465E6-5147-4C01-80FF-D47D902C56A7}" destId="{17436FB3-3249-4A61-8619-B60FC8E94C5D}" srcOrd="0" destOrd="9" presId="urn:microsoft.com/office/officeart/2005/8/layout/hList7#1"/>
    <dgm:cxn modelId="{5F7526D2-0D34-454E-B97A-0F636B60A1AA}" srcId="{6CB0F1E5-D7AA-4055-8BE1-4D0F5463EA8C}" destId="{F6D3E502-8067-4CFC-89AE-0D2E379013EF}" srcOrd="1" destOrd="0" parTransId="{BF8C99F8-F342-4515-BFA8-1482D6E0B141}" sibTransId="{614E9058-FA30-4F45-9A02-0AAA1FCAAF62}"/>
    <dgm:cxn modelId="{E935D5D4-F3DF-4492-8906-3431D78B539C}" type="presOf" srcId="{A88AB06C-8857-44D8-AC76-6464CD0A7284}" destId="{17436FB3-3249-4A61-8619-B60FC8E94C5D}" srcOrd="0" destOrd="7" presId="urn:microsoft.com/office/officeart/2005/8/layout/hList7#1"/>
    <dgm:cxn modelId="{1C4D49D6-1BB7-4D7E-B5AE-ABFBEE086F15}" type="presOf" srcId="{8B81ABEE-BEA4-4F80-B35F-4B586E01EDC2}" destId="{69E77281-A37C-43FC-9B98-DD138E89712B}" srcOrd="1" destOrd="5" presId="urn:microsoft.com/office/officeart/2005/8/layout/hList7#1"/>
    <dgm:cxn modelId="{7C5586D8-0D3B-4337-9F14-DBE69D45C7AE}" srcId="{F6D3E502-8067-4CFC-89AE-0D2E379013EF}" destId="{8B81ABEE-BEA4-4F80-B35F-4B586E01EDC2}" srcOrd="4" destOrd="0" parTransId="{0A41B95E-2E77-49FD-A7BE-39FA3B45E4F2}" sibTransId="{C43A4C0E-CCD7-4B18-808D-7B9D1FF53F0E}"/>
    <dgm:cxn modelId="{AF301AD9-0894-4C5D-AA8F-7A05F2942ED3}" type="presOf" srcId="{F7521DFA-8742-4CBB-93AA-6603C58180BC}" destId="{17436FB3-3249-4A61-8619-B60FC8E94C5D}" srcOrd="0" destOrd="11" presId="urn:microsoft.com/office/officeart/2005/8/layout/hList7#1"/>
    <dgm:cxn modelId="{5B2EDCD9-AABB-4C73-93D7-C46F5A0A3B6F}" type="presOf" srcId="{AD0262A7-4237-4432-8645-D7FDDE36251E}" destId="{98295B6B-BE4F-44B0-9CD0-15D9E32341BA}" srcOrd="1" destOrd="8" presId="urn:microsoft.com/office/officeart/2005/8/layout/hList7#1"/>
    <dgm:cxn modelId="{333D8DDA-E96D-4230-A4E7-06740685D5B7}" type="presOf" srcId="{1936046F-2D61-420D-84D7-5C5C1F9D184D}" destId="{98295B6B-BE4F-44B0-9CD0-15D9E32341BA}" srcOrd="1" destOrd="3" presId="urn:microsoft.com/office/officeart/2005/8/layout/hList7#1"/>
    <dgm:cxn modelId="{979420DD-A451-4177-B47D-60D67DB24F2B}" type="presOf" srcId="{1936046F-2D61-420D-84D7-5C5C1F9D184D}" destId="{17436FB3-3249-4A61-8619-B60FC8E94C5D}" srcOrd="0" destOrd="3" presId="urn:microsoft.com/office/officeart/2005/8/layout/hList7#1"/>
    <dgm:cxn modelId="{038FECE4-36C0-4378-ADAC-99521E6DA03F}" srcId="{D49D74BF-C5BD-4E18-B5A9-660CD55627CF}" destId="{53FB0769-485E-4861-9217-EF8A068AC260}" srcOrd="3" destOrd="0" parTransId="{4025B6A6-E98A-4766-ADEC-7479BBCC4627}" sibTransId="{8EC22982-9EB2-4240-9833-19B4FF6FA0FE}"/>
    <dgm:cxn modelId="{F61688F4-A782-4897-8DE4-E290ED8BB1C8}" type="presOf" srcId="{8B81ABEE-BEA4-4F80-B35F-4B586E01EDC2}" destId="{F3CFABE6-68D5-4DC3-9A1E-79FE09914C3A}" srcOrd="0" destOrd="5" presId="urn:microsoft.com/office/officeart/2005/8/layout/hList7#1"/>
    <dgm:cxn modelId="{E2AFC6F7-E879-4721-9DBB-5464B2EF94C2}" type="presOf" srcId="{AD0262A7-4237-4432-8645-D7FDDE36251E}" destId="{17436FB3-3249-4A61-8619-B60FC8E94C5D}" srcOrd="0" destOrd="8" presId="urn:microsoft.com/office/officeart/2005/8/layout/hList7#1"/>
    <dgm:cxn modelId="{1BC1D7F7-2B44-46FB-9AE2-D440CD5FD620}" srcId="{F6D3E502-8067-4CFC-89AE-0D2E379013EF}" destId="{F8D97157-B08B-4F18-8FD6-8A6232F360A8}" srcOrd="5" destOrd="0" parTransId="{7F50ADF6-B663-4549-BAF3-172B9B687066}" sibTransId="{3BC78674-52C6-4CAC-A3B7-E9C30005C762}"/>
    <dgm:cxn modelId="{AEB16E25-5FE0-4A5F-B389-2C71490B49FE}" type="presParOf" srcId="{7D2C670E-9AE7-44BE-A0CD-0225FBFD9D00}" destId="{98BAEFD2-1F14-46F5-B924-9D6055E43C2A}" srcOrd="0" destOrd="0" presId="urn:microsoft.com/office/officeart/2005/8/layout/hList7#1"/>
    <dgm:cxn modelId="{CBEB756A-6069-4B78-8E28-5FA1286E2C53}" type="presParOf" srcId="{7D2C670E-9AE7-44BE-A0CD-0225FBFD9D00}" destId="{1FE829AD-2213-40FC-9509-A22903DE88E6}" srcOrd="1" destOrd="0" presId="urn:microsoft.com/office/officeart/2005/8/layout/hList7#1"/>
    <dgm:cxn modelId="{BB778A1F-76B3-49F2-B7BC-B28437B1336F}" type="presParOf" srcId="{1FE829AD-2213-40FC-9509-A22903DE88E6}" destId="{347910AC-02E5-4948-A902-8956C7BA3E08}" srcOrd="0" destOrd="0" presId="urn:microsoft.com/office/officeart/2005/8/layout/hList7#1"/>
    <dgm:cxn modelId="{8AB8FE41-1F37-475A-97E4-4D3B53A5987F}" type="presParOf" srcId="{347910AC-02E5-4948-A902-8956C7BA3E08}" destId="{17436FB3-3249-4A61-8619-B60FC8E94C5D}" srcOrd="0" destOrd="0" presId="urn:microsoft.com/office/officeart/2005/8/layout/hList7#1"/>
    <dgm:cxn modelId="{91DF9E81-1FF3-4C3B-A252-8D9AAAAF8BFC}" type="presParOf" srcId="{347910AC-02E5-4948-A902-8956C7BA3E08}" destId="{98295B6B-BE4F-44B0-9CD0-15D9E32341BA}" srcOrd="1" destOrd="0" presId="urn:microsoft.com/office/officeart/2005/8/layout/hList7#1"/>
    <dgm:cxn modelId="{DB993643-F1D7-4180-BAB0-996FA0753829}" type="presParOf" srcId="{347910AC-02E5-4948-A902-8956C7BA3E08}" destId="{1577CFCC-D821-4A9F-BB6B-392014C37A9E}" srcOrd="2" destOrd="0" presId="urn:microsoft.com/office/officeart/2005/8/layout/hList7#1"/>
    <dgm:cxn modelId="{CF4D68F6-9A87-41AB-A991-A275ABE5B3CD}" type="presParOf" srcId="{347910AC-02E5-4948-A902-8956C7BA3E08}" destId="{1398020A-AEDC-4429-8F9B-68D4F6195C5B}" srcOrd="3" destOrd="0" presId="urn:microsoft.com/office/officeart/2005/8/layout/hList7#1"/>
    <dgm:cxn modelId="{71D9A076-1BA0-4749-9C4F-CD663BB07165}" type="presParOf" srcId="{1FE829AD-2213-40FC-9509-A22903DE88E6}" destId="{CEF826DB-7DA1-4E62-8565-3596B16ACB4F}" srcOrd="1" destOrd="0" presId="urn:microsoft.com/office/officeart/2005/8/layout/hList7#1"/>
    <dgm:cxn modelId="{38461DDE-2D64-4633-B15B-DF3058F7683C}" type="presParOf" srcId="{1FE829AD-2213-40FC-9509-A22903DE88E6}" destId="{CBCE66CF-8297-4495-B80F-1D572CF89C4B}" srcOrd="2" destOrd="0" presId="urn:microsoft.com/office/officeart/2005/8/layout/hList7#1"/>
    <dgm:cxn modelId="{BE14080F-8458-4C14-BB5F-AD405841C9AD}" type="presParOf" srcId="{CBCE66CF-8297-4495-B80F-1D572CF89C4B}" destId="{F3CFABE6-68D5-4DC3-9A1E-79FE09914C3A}" srcOrd="0" destOrd="0" presId="urn:microsoft.com/office/officeart/2005/8/layout/hList7#1"/>
    <dgm:cxn modelId="{480EF27C-5AB6-4F3E-B5D1-6CABC2C6AE03}" type="presParOf" srcId="{CBCE66CF-8297-4495-B80F-1D572CF89C4B}" destId="{69E77281-A37C-43FC-9B98-DD138E89712B}" srcOrd="1" destOrd="0" presId="urn:microsoft.com/office/officeart/2005/8/layout/hList7#1"/>
    <dgm:cxn modelId="{62AEC253-7B50-4B8E-9337-14A6F009F166}" type="presParOf" srcId="{CBCE66CF-8297-4495-B80F-1D572CF89C4B}" destId="{5FA18E20-265C-4F85-B5DF-517047F38A4E}" srcOrd="2" destOrd="0" presId="urn:microsoft.com/office/officeart/2005/8/layout/hList7#1"/>
    <dgm:cxn modelId="{90E3CA26-BE73-4092-B256-4EDF98BC4214}" type="presParOf" srcId="{CBCE66CF-8297-4495-B80F-1D572CF89C4B}" destId="{A2932948-9B4D-48B8-A913-693D754768FA}" srcOrd="3" destOrd="0" presId="urn:microsoft.com/office/officeart/2005/8/layout/hList7#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436FB3-3249-4A61-8619-B60FC8E94C5D}">
      <dsp:nvSpPr>
        <dsp:cNvPr id="0" name=""/>
        <dsp:cNvSpPr/>
      </dsp:nvSpPr>
      <dsp:spPr>
        <a:xfrm>
          <a:off x="3929" y="0"/>
          <a:ext cx="4500562" cy="6669360"/>
        </a:xfrm>
        <a:prstGeom prst="roundRect">
          <a:avLst>
            <a:gd name="adj" fmla="val 1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t" anchorCtr="1">
          <a:noAutofit/>
        </a:bodyPr>
        <a:lstStyle/>
        <a:p>
          <a:pPr marL="0" lvl="0" indent="0" algn="l" defTabSz="1066800">
            <a:lnSpc>
              <a:spcPct val="90000"/>
            </a:lnSpc>
            <a:spcBef>
              <a:spcPct val="0"/>
            </a:spcBef>
            <a:spcAft>
              <a:spcPct val="35000"/>
            </a:spcAft>
            <a:buNone/>
          </a:pPr>
          <a:r>
            <a:rPr lang="en-GB" sz="2400" b="1" kern="1200" dirty="0"/>
            <a:t>Classical Control</a:t>
          </a:r>
        </a:p>
        <a:p>
          <a:pPr marL="114300" lvl="1" indent="-114300" algn="l" defTabSz="666750">
            <a:lnSpc>
              <a:spcPct val="90000"/>
            </a:lnSpc>
            <a:spcBef>
              <a:spcPct val="0"/>
            </a:spcBef>
            <a:spcAft>
              <a:spcPct val="15000"/>
            </a:spcAft>
            <a:buChar char="•"/>
          </a:pPr>
          <a:r>
            <a:rPr lang="en-GB" sz="1500" kern="1200" dirty="0"/>
            <a:t>System Modelling</a:t>
          </a:r>
        </a:p>
        <a:p>
          <a:pPr marL="228600" lvl="2" indent="-114300" algn="l" defTabSz="666750">
            <a:lnSpc>
              <a:spcPct val="90000"/>
            </a:lnSpc>
            <a:spcBef>
              <a:spcPct val="0"/>
            </a:spcBef>
            <a:spcAft>
              <a:spcPct val="15000"/>
            </a:spcAft>
            <a:buChar char="•"/>
          </a:pPr>
          <a:r>
            <a:rPr lang="en-GB" sz="1500" kern="1200" dirty="0"/>
            <a:t>Transfer Function</a:t>
          </a:r>
        </a:p>
        <a:p>
          <a:pPr marL="228600" lvl="2" indent="-114300" algn="l" defTabSz="666750">
            <a:lnSpc>
              <a:spcPct val="90000"/>
            </a:lnSpc>
            <a:spcBef>
              <a:spcPct val="0"/>
            </a:spcBef>
            <a:spcAft>
              <a:spcPct val="15000"/>
            </a:spcAft>
            <a:buChar char="•"/>
          </a:pPr>
          <a:r>
            <a:rPr lang="en-GB" sz="1500" kern="1200" dirty="0"/>
            <a:t>Block Diagrams</a:t>
          </a:r>
        </a:p>
        <a:p>
          <a:pPr marL="228600" lvl="2" indent="-114300" algn="l" defTabSz="666750">
            <a:lnSpc>
              <a:spcPct val="90000"/>
            </a:lnSpc>
            <a:spcBef>
              <a:spcPct val="0"/>
            </a:spcBef>
            <a:spcAft>
              <a:spcPct val="15000"/>
            </a:spcAft>
            <a:buChar char="•"/>
          </a:pPr>
          <a:r>
            <a:rPr lang="en-GB" sz="1500" kern="1200" dirty="0"/>
            <a:t>Signal Flow Graphs</a:t>
          </a:r>
        </a:p>
        <a:p>
          <a:pPr marL="114300" lvl="1" indent="-114300" algn="l" defTabSz="666750">
            <a:lnSpc>
              <a:spcPct val="90000"/>
            </a:lnSpc>
            <a:spcBef>
              <a:spcPct val="0"/>
            </a:spcBef>
            <a:spcAft>
              <a:spcPct val="15000"/>
            </a:spcAft>
            <a:buChar char="•"/>
          </a:pPr>
          <a:r>
            <a:rPr lang="en-GB" sz="1500" kern="1200" dirty="0"/>
            <a:t>System Analysis</a:t>
          </a:r>
        </a:p>
        <a:p>
          <a:pPr marL="228600" lvl="2" indent="-114300" algn="l" defTabSz="666750">
            <a:lnSpc>
              <a:spcPct val="90000"/>
            </a:lnSpc>
            <a:spcBef>
              <a:spcPct val="0"/>
            </a:spcBef>
            <a:spcAft>
              <a:spcPct val="15000"/>
            </a:spcAft>
            <a:buChar char="•"/>
          </a:pPr>
          <a:r>
            <a:rPr lang="en-GB" sz="1500" kern="1200" dirty="0"/>
            <a:t>Time Domain Analysis</a:t>
          </a:r>
        </a:p>
        <a:p>
          <a:pPr marL="228600" lvl="2" indent="-114300" algn="l" defTabSz="666750">
            <a:lnSpc>
              <a:spcPct val="90000"/>
            </a:lnSpc>
            <a:spcBef>
              <a:spcPct val="0"/>
            </a:spcBef>
            <a:spcAft>
              <a:spcPct val="15000"/>
            </a:spcAft>
            <a:buChar char="•"/>
          </a:pPr>
          <a:r>
            <a:rPr lang="en-GB" sz="1500" kern="1200" dirty="0"/>
            <a:t>Frequency Domain Analysis</a:t>
          </a:r>
        </a:p>
        <a:p>
          <a:pPr marL="342900" lvl="3" indent="-114300" algn="l" defTabSz="666750">
            <a:lnSpc>
              <a:spcPct val="90000"/>
            </a:lnSpc>
            <a:spcBef>
              <a:spcPct val="0"/>
            </a:spcBef>
            <a:spcAft>
              <a:spcPct val="15000"/>
            </a:spcAft>
            <a:buChar char="•"/>
          </a:pPr>
          <a:r>
            <a:rPr lang="en-GB" sz="1500" kern="1200" dirty="0"/>
            <a:t>Bode Plots, </a:t>
          </a:r>
          <a:r>
            <a:rPr lang="en-GB" sz="1500" kern="1200" dirty="0" err="1"/>
            <a:t>Nyquist</a:t>
          </a:r>
          <a:r>
            <a:rPr lang="en-GB" sz="1500" kern="1200" dirty="0"/>
            <a:t> Plots, Nichol’s Chart</a:t>
          </a:r>
        </a:p>
        <a:p>
          <a:pPr marL="114300" lvl="1" indent="-114300" algn="l" defTabSz="666750">
            <a:lnSpc>
              <a:spcPct val="90000"/>
            </a:lnSpc>
            <a:spcBef>
              <a:spcPct val="0"/>
            </a:spcBef>
            <a:spcAft>
              <a:spcPct val="15000"/>
            </a:spcAft>
            <a:buChar char="•"/>
          </a:pPr>
          <a:r>
            <a:rPr lang="en-GB" sz="1500" kern="1200" dirty="0"/>
            <a:t> Root Locus </a:t>
          </a:r>
        </a:p>
        <a:p>
          <a:pPr marL="114300" lvl="1" indent="-114300" algn="l" defTabSz="666750">
            <a:lnSpc>
              <a:spcPct val="90000"/>
            </a:lnSpc>
            <a:spcBef>
              <a:spcPct val="0"/>
            </a:spcBef>
            <a:spcAft>
              <a:spcPct val="15000"/>
            </a:spcAft>
            <a:buChar char="•"/>
          </a:pPr>
          <a:r>
            <a:rPr lang="en-GB" sz="1500" kern="1200" dirty="0"/>
            <a:t>System Design</a:t>
          </a:r>
        </a:p>
        <a:p>
          <a:pPr marL="228600" lvl="2" indent="-114300" algn="l" defTabSz="666750">
            <a:lnSpc>
              <a:spcPct val="90000"/>
            </a:lnSpc>
            <a:spcBef>
              <a:spcPct val="0"/>
            </a:spcBef>
            <a:spcAft>
              <a:spcPct val="15000"/>
            </a:spcAft>
            <a:buChar char="•"/>
          </a:pPr>
          <a:r>
            <a:rPr lang="en-GB" sz="1500" kern="1200" dirty="0"/>
            <a:t>Compensation Techniques</a:t>
          </a:r>
        </a:p>
        <a:p>
          <a:pPr marL="228600" lvl="2" indent="-114300" algn="l" defTabSz="666750">
            <a:lnSpc>
              <a:spcPct val="90000"/>
            </a:lnSpc>
            <a:spcBef>
              <a:spcPct val="0"/>
            </a:spcBef>
            <a:spcAft>
              <a:spcPct val="15000"/>
            </a:spcAft>
            <a:buChar char="•"/>
          </a:pPr>
          <a:r>
            <a:rPr lang="en-GB" sz="1500" kern="1200" dirty="0"/>
            <a:t>PID Control</a:t>
          </a:r>
        </a:p>
      </dsp:txBody>
      <dsp:txXfrm>
        <a:off x="3929" y="2667744"/>
        <a:ext cx="4500562" cy="2667744"/>
      </dsp:txXfrm>
    </dsp:sp>
    <dsp:sp modelId="{1398020A-AEDC-4429-8F9B-68D4F6195C5B}">
      <dsp:nvSpPr>
        <dsp:cNvPr id="0" name=""/>
        <dsp:cNvSpPr/>
      </dsp:nvSpPr>
      <dsp:spPr>
        <a:xfrm>
          <a:off x="1247833" y="166745"/>
          <a:ext cx="2220896" cy="2220896"/>
        </a:xfrm>
        <a:prstGeom prst="ellipse">
          <a:avLst/>
        </a:prstGeom>
        <a:blipFill rotWithShape="0">
          <a:blip xmlns:r="http://schemas.openxmlformats.org/officeDocument/2006/relationships" r:embed="rId1"/>
          <a:stretch>
            <a:fillRect/>
          </a:stretch>
        </a:blipFill>
        <a:ln>
          <a:noFill/>
        </a:ln>
        <a:effectLst>
          <a:outerShdw blurRad="40000" dist="23000" dir="5400000" rotWithShape="0">
            <a:srgbClr val="000000">
              <a:alpha val="35000"/>
            </a:srgbClr>
          </a:outerShdw>
        </a:effectLst>
        <a:scene3d>
          <a:camera prst="orthographicFront"/>
          <a:lightRig rig="flat" dir="t"/>
        </a:scene3d>
        <a:sp3d z="127000" prstMaterial="plastic">
          <a:bevelT w="88900" h="88900"/>
          <a:bevelB w="88900" h="31750" prst="angle"/>
        </a:sp3d>
      </dsp:spPr>
      <dsp:style>
        <a:lnRef idx="0">
          <a:scrgbClr r="0" g="0" b="0"/>
        </a:lnRef>
        <a:fillRef idx="3">
          <a:scrgbClr r="0" g="0" b="0"/>
        </a:fillRef>
        <a:effectRef idx="2">
          <a:scrgbClr r="0" g="0" b="0"/>
        </a:effectRef>
        <a:fontRef idx="minor"/>
      </dsp:style>
    </dsp:sp>
    <dsp:sp modelId="{F3CFABE6-68D5-4DC3-9A1E-79FE09914C3A}">
      <dsp:nvSpPr>
        <dsp:cNvPr id="0" name=""/>
        <dsp:cNvSpPr/>
      </dsp:nvSpPr>
      <dsp:spPr>
        <a:xfrm>
          <a:off x="4639508" y="0"/>
          <a:ext cx="4500562" cy="6669360"/>
        </a:xfrm>
        <a:prstGeom prst="roundRect">
          <a:avLst>
            <a:gd name="adj" fmla="val 10000"/>
          </a:avLst>
        </a:prstGeom>
        <a:gradFill rotWithShape="0">
          <a:gsLst>
            <a:gs pos="0">
              <a:schemeClr val="accent5">
                <a:hueOff val="-9933876"/>
                <a:satOff val="39811"/>
                <a:lumOff val="8628"/>
                <a:alphaOff val="0"/>
                <a:shade val="51000"/>
                <a:satMod val="130000"/>
              </a:schemeClr>
            </a:gs>
            <a:gs pos="80000">
              <a:schemeClr val="accent5">
                <a:hueOff val="-9933876"/>
                <a:satOff val="39811"/>
                <a:lumOff val="8628"/>
                <a:alphaOff val="0"/>
                <a:shade val="93000"/>
                <a:satMod val="130000"/>
              </a:schemeClr>
            </a:gs>
            <a:gs pos="100000">
              <a:schemeClr val="accent5">
                <a:hueOff val="-9933876"/>
                <a:satOff val="39811"/>
                <a:lumOff val="862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t" anchorCtr="1">
          <a:noAutofit/>
        </a:bodyPr>
        <a:lstStyle/>
        <a:p>
          <a:pPr marL="0" lvl="0" indent="0" algn="l" defTabSz="1066800">
            <a:lnSpc>
              <a:spcPct val="90000"/>
            </a:lnSpc>
            <a:spcBef>
              <a:spcPct val="0"/>
            </a:spcBef>
            <a:spcAft>
              <a:spcPct val="35000"/>
            </a:spcAft>
            <a:buNone/>
          </a:pPr>
          <a:r>
            <a:rPr lang="en-GB" sz="2400" kern="1200" dirty="0"/>
            <a:t>Modern Control</a:t>
          </a:r>
        </a:p>
        <a:p>
          <a:pPr marL="114300" lvl="1" indent="-114300" algn="l" defTabSz="666750">
            <a:lnSpc>
              <a:spcPct val="90000"/>
            </a:lnSpc>
            <a:spcBef>
              <a:spcPct val="0"/>
            </a:spcBef>
            <a:spcAft>
              <a:spcPct val="15000"/>
            </a:spcAft>
            <a:buChar char="•"/>
          </a:pPr>
          <a:r>
            <a:rPr lang="en-GB" sz="1500" kern="1200" dirty="0"/>
            <a:t>State Space Modelling</a:t>
          </a:r>
        </a:p>
        <a:p>
          <a:pPr marL="114300" lvl="1" indent="-114300" algn="l" defTabSz="666750">
            <a:lnSpc>
              <a:spcPct val="90000"/>
            </a:lnSpc>
            <a:spcBef>
              <a:spcPct val="0"/>
            </a:spcBef>
            <a:spcAft>
              <a:spcPct val="15000"/>
            </a:spcAft>
            <a:buChar char="•"/>
          </a:pPr>
          <a:r>
            <a:rPr lang="en-GB" sz="1500" kern="1200" dirty="0"/>
            <a:t>Eigenvalue Analysis</a:t>
          </a:r>
        </a:p>
        <a:p>
          <a:pPr marL="114300" lvl="1" indent="-114300" algn="l" defTabSz="666750">
            <a:lnSpc>
              <a:spcPct val="90000"/>
            </a:lnSpc>
            <a:spcBef>
              <a:spcPct val="0"/>
            </a:spcBef>
            <a:spcAft>
              <a:spcPct val="15000"/>
            </a:spcAft>
            <a:buChar char="•"/>
          </a:pPr>
          <a:r>
            <a:rPr lang="en-GB" sz="1500" kern="1200" dirty="0"/>
            <a:t>Observability and Controllability</a:t>
          </a:r>
        </a:p>
        <a:p>
          <a:pPr marL="114300" lvl="1" indent="-114300" algn="l" defTabSz="666750">
            <a:lnSpc>
              <a:spcPct val="90000"/>
            </a:lnSpc>
            <a:spcBef>
              <a:spcPct val="0"/>
            </a:spcBef>
            <a:spcAft>
              <a:spcPct val="15000"/>
            </a:spcAft>
            <a:buChar char="•"/>
          </a:pPr>
          <a:r>
            <a:rPr lang="en-GB" sz="1500" kern="1200" dirty="0"/>
            <a:t>Solution of State Equations (state Transition Matrix)</a:t>
          </a:r>
        </a:p>
        <a:p>
          <a:pPr marL="114300" lvl="1" indent="-114300" algn="l" defTabSz="666750">
            <a:lnSpc>
              <a:spcPct val="90000"/>
            </a:lnSpc>
            <a:spcBef>
              <a:spcPct val="0"/>
            </a:spcBef>
            <a:spcAft>
              <a:spcPct val="15000"/>
            </a:spcAft>
            <a:buChar char="•"/>
          </a:pPr>
          <a:r>
            <a:rPr lang="en-GB" sz="1500" kern="1200" dirty="0"/>
            <a:t>State Space to Transfer Function</a:t>
          </a:r>
        </a:p>
        <a:p>
          <a:pPr marL="114300" lvl="1" indent="-114300" algn="l" defTabSz="666750">
            <a:lnSpc>
              <a:spcPct val="90000"/>
            </a:lnSpc>
            <a:spcBef>
              <a:spcPct val="0"/>
            </a:spcBef>
            <a:spcAft>
              <a:spcPct val="15000"/>
            </a:spcAft>
            <a:buChar char="•"/>
          </a:pPr>
          <a:r>
            <a:rPr lang="en-GB" sz="1500" kern="1200" dirty="0"/>
            <a:t>Transfer Function to State Space</a:t>
          </a:r>
        </a:p>
        <a:p>
          <a:pPr marL="114300" lvl="1" indent="-114300" algn="l" defTabSz="666750">
            <a:lnSpc>
              <a:spcPct val="90000"/>
            </a:lnSpc>
            <a:spcBef>
              <a:spcPct val="0"/>
            </a:spcBef>
            <a:spcAft>
              <a:spcPct val="15000"/>
            </a:spcAft>
            <a:buChar char="•"/>
          </a:pPr>
          <a:r>
            <a:rPr lang="en-GB" sz="1500" kern="1200" dirty="0"/>
            <a:t>State Space Design Techniques</a:t>
          </a:r>
        </a:p>
      </dsp:txBody>
      <dsp:txXfrm>
        <a:off x="4639508" y="2667744"/>
        <a:ext cx="4500562" cy="2667744"/>
      </dsp:txXfrm>
    </dsp:sp>
    <dsp:sp modelId="{A2932948-9B4D-48B8-A913-693D754768FA}">
      <dsp:nvSpPr>
        <dsp:cNvPr id="0" name=""/>
        <dsp:cNvSpPr/>
      </dsp:nvSpPr>
      <dsp:spPr>
        <a:xfrm>
          <a:off x="5779341" y="166745"/>
          <a:ext cx="2220896" cy="2220896"/>
        </a:xfrm>
        <a:prstGeom prst="ellipse">
          <a:avLst/>
        </a:prstGeom>
        <a:blipFill rotWithShape="0">
          <a:blip xmlns:r="http://schemas.openxmlformats.org/officeDocument/2006/relationships" r:embed="rId2"/>
          <a:stretch>
            <a:fillRect/>
          </a:stretch>
        </a:blipFill>
        <a:ln>
          <a:noFill/>
        </a:ln>
        <a:effectLst>
          <a:outerShdw blurRad="40000" dist="23000" dir="5400000" rotWithShape="0">
            <a:srgbClr val="000000">
              <a:alpha val="35000"/>
            </a:srgbClr>
          </a:outerShdw>
        </a:effectLst>
        <a:scene3d>
          <a:camera prst="orthographicFront"/>
          <a:lightRig rig="flat" dir="t"/>
        </a:scene3d>
        <a:sp3d z="127000" prstMaterial="plastic">
          <a:bevelT w="88900" h="88900"/>
          <a:bevelB w="88900" h="31750" prst="angle"/>
        </a:sp3d>
      </dsp:spPr>
      <dsp:style>
        <a:lnRef idx="0">
          <a:scrgbClr r="0" g="0" b="0"/>
        </a:lnRef>
        <a:fillRef idx="3">
          <a:scrgbClr r="0" g="0" b="0"/>
        </a:fillRef>
        <a:effectRef idx="2">
          <a:scrgbClr r="0" g="0" b="0"/>
        </a:effectRef>
        <a:fontRef idx="minor"/>
      </dsp:style>
    </dsp:sp>
    <dsp:sp modelId="{98BAEFD2-1F14-46F5-B924-9D6055E43C2A}">
      <dsp:nvSpPr>
        <dsp:cNvPr id="0" name=""/>
        <dsp:cNvSpPr/>
      </dsp:nvSpPr>
      <dsp:spPr>
        <a:xfrm>
          <a:off x="1118424" y="6252523"/>
          <a:ext cx="6869126" cy="333464"/>
        </a:xfrm>
        <a:prstGeom prst="leftRightArrow">
          <a:avLst/>
        </a:prstGeom>
        <a:solidFill>
          <a:schemeClr val="accent5">
            <a:tint val="4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flat" dir="t"/>
        </a:scene3d>
        <a:sp3d z="190500" prstMaterial="plastic">
          <a:bevelT w="120900" h="88900"/>
          <a:bevelB w="88900" h="31750" prst="angle"/>
        </a:sp3d>
      </dsp:spPr>
      <dsp:style>
        <a:lnRef idx="0">
          <a:scrgbClr r="0" g="0" b="0"/>
        </a:lnRef>
        <a:fillRef idx="1">
          <a:scrgbClr r="0" g="0" b="0"/>
        </a:fillRef>
        <a:effectRef idx="3">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List7#1">
  <dgm:title val=""/>
  <dgm:desc val=""/>
  <dgm:catLst>
    <dgm:cat type="list" pri="12000"/>
    <dgm:cat type="process" pri="20000"/>
    <dgm:cat type="relationship" pri="14000"/>
    <dgm:cat type="convert" pri="8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A275CD0-BF64-4EDA-A390-EA27F5FF7906}" type="datetimeFigureOut">
              <a:rPr lang="en-GB" smtClean="0"/>
              <a:pPr/>
              <a:t>01/09/2025</a:t>
            </a:fld>
            <a:endParaRPr lang="en-GB"/>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16C7654-C7C7-4BC9-B3D0-68A06137D36C}" type="slidenum">
              <a:rPr lang="en-GB" smtClean="0"/>
              <a:pPr/>
              <a:t>‹#›</a:t>
            </a:fld>
            <a:endParaRPr lang="en-GB"/>
          </a:p>
        </p:txBody>
      </p:sp>
    </p:spTree>
    <p:extLst>
      <p:ext uri="{BB962C8B-B14F-4D97-AF65-F5344CB8AC3E}">
        <p14:creationId xmlns:p14="http://schemas.microsoft.com/office/powerpoint/2010/main" val="37268300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98514C-001B-453C-B6E3-E163FE60AE61}" type="datetimeFigureOut">
              <a:rPr lang="en-US" smtClean="0"/>
              <a:t>9/1/2025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CA9CBC8-4C3A-4A59-B238-1ECE2E509172}" type="slidenum">
              <a:rPr lang="en-US" smtClean="0"/>
              <a:t>‹#›</a:t>
            </a:fld>
            <a:endParaRPr lang="en-US"/>
          </a:p>
        </p:txBody>
      </p:sp>
    </p:spTree>
    <p:extLst>
      <p:ext uri="{BB962C8B-B14F-4D97-AF65-F5344CB8AC3E}">
        <p14:creationId xmlns:p14="http://schemas.microsoft.com/office/powerpoint/2010/main" val="4252269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5BD45-B5A0-4654-B232-F8508C108E19}" type="slidenum">
              <a:rPr lang="en-US" smtClean="0"/>
              <a:pPr/>
              <a:t>1</a:t>
            </a:fld>
            <a:endParaRPr lang="en-US" dirty="0"/>
          </a:p>
        </p:txBody>
      </p:sp>
    </p:spTree>
    <p:extLst>
      <p:ext uri="{BB962C8B-B14F-4D97-AF65-F5344CB8AC3E}">
        <p14:creationId xmlns:p14="http://schemas.microsoft.com/office/powerpoint/2010/main" val="3010484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1D0EB596-26A6-4B62-B838-1FBD98B8F792}" type="datetime1">
              <a:rPr lang="en-GB" smtClean="0"/>
              <a:t>01/09/2025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A0D5CAB-8BF0-4EA3-BAE4-9835C852A49B}"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DA900C6-399C-48F6-A4A3-4C28CA09E911}" type="datetime1">
              <a:rPr lang="en-GB" smtClean="0"/>
              <a:t>01/09/2025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A0D5CAB-8BF0-4EA3-BAE4-9835C852A49B}"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3C8A0C-165A-4CD2-9CFC-1F29D7562AC3}" type="datetime1">
              <a:rPr lang="en-GB" smtClean="0"/>
              <a:t>01/09/2025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A0D5CAB-8BF0-4EA3-BAE4-9835C852A49B}"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58E3A9DB-6227-4F0B-A323-913EFC0856EC}" type="datetime1">
              <a:rPr lang="en-GB" smtClean="0"/>
              <a:t>01/09/2025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A0D5CAB-8BF0-4EA3-BAE4-9835C852A49B}"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3808CAC3-0785-4F1E-8776-0468BE9547F3}" type="datetime1">
              <a:rPr lang="en-GB" smtClean="0"/>
              <a:t>01/09/2025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A0D5CAB-8BF0-4EA3-BAE4-9835C852A49B}"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2A975F21-A41D-4CCF-9FEB-3E3721282634}" type="datetime1">
              <a:rPr lang="en-GB" smtClean="0"/>
              <a:t>01/09/2025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A0D5CAB-8BF0-4EA3-BAE4-9835C852A49B}"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3BE73C-54FC-47A9-87B1-6BC9E4341F81}" type="datetime1">
              <a:rPr lang="en-GB" smtClean="0"/>
              <a:t>01/09/2025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A0D5CAB-8BF0-4EA3-BAE4-9835C852A49B}"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6A2545-8044-4700-987A-1F0869E15A36}" type="datetime1">
              <a:rPr lang="en-GB" smtClean="0"/>
              <a:t>01/09/2025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A0D5CAB-8BF0-4EA3-BAE4-9835C852A49B}"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52633F-B50C-4884-B3CA-CCF10A286812}" type="datetime1">
              <a:rPr lang="en-GB" smtClean="0"/>
              <a:t>01/09/2025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A0D5CAB-8BF0-4EA3-BAE4-9835C852A49B}"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EFE824A-2591-48AA-89B2-2CAE9BDAD301}" type="datetime1">
              <a:rPr lang="en-GB" smtClean="0"/>
              <a:t>01/09/2025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A0D5CAB-8BF0-4EA3-BAE4-9835C852A49B}"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5CC3BD0-5403-485A-911A-970F6A6D0D2A}" type="datetime1">
              <a:rPr lang="en-GB" smtClean="0"/>
              <a:t>01/09/2025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A0D5CAB-8BF0-4EA3-BAE4-9835C852A49B}"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693F33-D21E-4B9C-BFCF-2E9F3DB4A393}" type="datetime1">
              <a:rPr lang="en-GB" smtClean="0"/>
              <a:t>01/09/2025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0D5CAB-8BF0-4EA3-BAE4-9835C852A49B}"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2.wmf"/><Relationship Id="rId7" Type="http://schemas.openxmlformats.org/officeDocument/2006/relationships/image" Target="../media/image25.e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image" Target="../media/image24.emf"/><Relationship Id="rId5" Type="http://schemas.openxmlformats.org/officeDocument/2006/relationships/image" Target="../media/image23.wmf"/><Relationship Id="rId4" Type="http://schemas.openxmlformats.org/officeDocument/2006/relationships/oleObject" Target="../embeddings/oleObject2.bin"/></Relationships>
</file>

<file path=ppt/slides/_rels/slide24.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3.bin"/><Relationship Id="rId1" Type="http://schemas.openxmlformats.org/officeDocument/2006/relationships/slideLayout" Target="../slideLayouts/slideLayout7.xml"/><Relationship Id="rId5" Type="http://schemas.openxmlformats.org/officeDocument/2006/relationships/image" Target="../media/image27.wmf"/><Relationship Id="rId4" Type="http://schemas.openxmlformats.org/officeDocument/2006/relationships/oleObject" Target="../embeddings/oleObject4.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1295400"/>
            <a:ext cx="8229600" cy="1143000"/>
          </a:xfrm>
        </p:spPr>
        <p:txBody>
          <a:bodyPr>
            <a:normAutofit/>
          </a:bodyPr>
          <a:lstStyle/>
          <a:p>
            <a:pPr algn="ctr"/>
            <a:r>
              <a:rPr lang="en-US" b="1" dirty="0"/>
              <a:t>Control Systems (CS)</a:t>
            </a:r>
            <a:endParaRPr lang="en-GB" dirty="0"/>
          </a:p>
        </p:txBody>
      </p:sp>
      <p:sp>
        <p:nvSpPr>
          <p:cNvPr id="6" name="TextBox 5"/>
          <p:cNvSpPr txBox="1"/>
          <p:nvPr/>
        </p:nvSpPr>
        <p:spPr>
          <a:xfrm>
            <a:off x="2057400" y="2674203"/>
            <a:ext cx="5562599" cy="830997"/>
          </a:xfrm>
          <a:prstGeom prst="rect">
            <a:avLst/>
          </a:prstGeom>
          <a:noFill/>
        </p:spPr>
        <p:txBody>
          <a:bodyPr wrap="square" rtlCol="0">
            <a:spAutoFit/>
          </a:bodyPr>
          <a:lstStyle/>
          <a:p>
            <a:pPr algn="ctr"/>
            <a:r>
              <a:rPr lang="en-GB" sz="2400" dirty="0"/>
              <a:t>Lecture-1</a:t>
            </a:r>
          </a:p>
          <a:p>
            <a:pPr algn="ctr"/>
            <a:r>
              <a:rPr lang="en-GB" sz="2400" dirty="0"/>
              <a:t>Introduction to the Subject</a:t>
            </a:r>
          </a:p>
        </p:txBody>
      </p:sp>
      <p:sp>
        <p:nvSpPr>
          <p:cNvPr id="8" name="Rectangle 7"/>
          <p:cNvSpPr/>
          <p:nvPr/>
        </p:nvSpPr>
        <p:spPr>
          <a:xfrm>
            <a:off x="0" y="5688964"/>
            <a:ext cx="9144000" cy="1169036"/>
          </a:xfrm>
          <a:prstGeom prst="rect">
            <a:avLst/>
          </a:prstGeom>
          <a:blipFill>
            <a:blip r:embed="rId3"/>
            <a:tile tx="0" ty="0" sx="100000" sy="100000" flip="none" algn="tl"/>
          </a:bli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fld id="{7A0D5CAB-8BF0-4EA3-BAE4-9835C852A49B}" type="slidenum">
              <a:rPr lang="en-GB" smtClean="0"/>
              <a:pPr/>
              <a:t>1</a:t>
            </a:fld>
            <a:endParaRPr lang="en-GB" dirty="0"/>
          </a:p>
        </p:txBody>
      </p:sp>
    </p:spTree>
    <p:extLst>
      <p:ext uri="{BB962C8B-B14F-4D97-AF65-F5344CB8AC3E}">
        <p14:creationId xmlns:p14="http://schemas.microsoft.com/office/powerpoint/2010/main" val="3876699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Course Outline</a:t>
            </a:r>
          </a:p>
          <a:p>
            <a:r>
              <a:rPr lang="en-US" dirty="0"/>
              <a:t>Recommended Books</a:t>
            </a:r>
          </a:p>
          <a:p>
            <a:r>
              <a:rPr lang="en-US" dirty="0"/>
              <a:t>Prerequisites of the subject</a:t>
            </a:r>
          </a:p>
          <a:p>
            <a:r>
              <a:rPr lang="en-US" dirty="0"/>
              <a:t>Basic Definitions</a:t>
            </a:r>
          </a:p>
          <a:p>
            <a:r>
              <a:rPr lang="en-US" dirty="0"/>
              <a:t>Types of Control Systems</a:t>
            </a:r>
          </a:p>
          <a:p>
            <a:r>
              <a:rPr lang="en-US" dirty="0"/>
              <a:t>Examples </a:t>
            </a:r>
          </a:p>
          <a:p>
            <a:endParaRPr lang="en-US" dirty="0"/>
          </a:p>
        </p:txBody>
      </p:sp>
      <p:sp>
        <p:nvSpPr>
          <p:cNvPr id="4" name="Slide Number Placeholder 3"/>
          <p:cNvSpPr>
            <a:spLocks noGrp="1"/>
          </p:cNvSpPr>
          <p:nvPr>
            <p:ph type="sldNum" sz="quarter" idx="12"/>
          </p:nvPr>
        </p:nvSpPr>
        <p:spPr/>
        <p:txBody>
          <a:bodyPr/>
          <a:lstStyle/>
          <a:p>
            <a:fld id="{7A0D5CAB-8BF0-4EA3-BAE4-9835C852A49B}" type="slidenum">
              <a:rPr lang="en-GB" smtClean="0"/>
              <a:pPr/>
              <a:t>2</a:t>
            </a:fld>
            <a:endParaRPr lang="en-GB"/>
          </a:p>
        </p:txBody>
      </p:sp>
    </p:spTree>
    <p:extLst>
      <p:ext uri="{BB962C8B-B14F-4D97-AF65-F5344CB8AC3E}">
        <p14:creationId xmlns:p14="http://schemas.microsoft.com/office/powerpoint/2010/main" val="1737292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67544" y="1700808"/>
            <a:ext cx="8424936" cy="369332"/>
          </a:xfrm>
          <a:prstGeom prst="rect">
            <a:avLst/>
          </a:prstGeom>
          <a:noFill/>
        </p:spPr>
        <p:txBody>
          <a:bodyPr wrap="square" rtlCol="0">
            <a:spAutoFit/>
          </a:bodyPr>
          <a:lstStyle/>
          <a:p>
            <a:pPr marL="285750" indent="-285750">
              <a:buFont typeface="Arial" pitchFamily="34" charset="0"/>
              <a:buChar char="•"/>
            </a:pPr>
            <a:endParaRPr lang="en-GB" dirty="0"/>
          </a:p>
        </p:txBody>
      </p:sp>
      <p:graphicFrame>
        <p:nvGraphicFramePr>
          <p:cNvPr id="5" name="Diagram 4"/>
          <p:cNvGraphicFramePr/>
          <p:nvPr>
            <p:extLst>
              <p:ext uri="{D42A27DB-BD31-4B8C-83A1-F6EECF244321}">
                <p14:modId xmlns:p14="http://schemas.microsoft.com/office/powerpoint/2010/main" val="1756783546"/>
              </p:ext>
            </p:extLst>
          </p:nvPr>
        </p:nvGraphicFramePr>
        <p:xfrm>
          <a:off x="0" y="0"/>
          <a:ext cx="9144000" cy="6669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Slide Number Placeholder 5"/>
          <p:cNvSpPr>
            <a:spLocks noGrp="1"/>
          </p:cNvSpPr>
          <p:nvPr>
            <p:ph type="sldNum" sz="quarter" idx="12"/>
          </p:nvPr>
        </p:nvSpPr>
        <p:spPr/>
        <p:txBody>
          <a:bodyPr/>
          <a:lstStyle/>
          <a:p>
            <a:fld id="{7A0D5CAB-8BF0-4EA3-BAE4-9835C852A49B}" type="slidenum">
              <a:rPr lang="en-GB" smtClean="0"/>
              <a:pPr/>
              <a:t>3</a:t>
            </a:fld>
            <a:endParaRPr lang="en-GB"/>
          </a:p>
        </p:txBody>
      </p:sp>
    </p:spTree>
    <p:extLst>
      <p:ext uri="{BB962C8B-B14F-4D97-AF65-F5344CB8AC3E}">
        <p14:creationId xmlns:p14="http://schemas.microsoft.com/office/powerpoint/2010/main" val="3065670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305800" cy="794352"/>
          </a:xfrm>
        </p:spPr>
        <p:txBody>
          <a:bodyPr>
            <a:normAutofit/>
          </a:bodyPr>
          <a:lstStyle/>
          <a:p>
            <a:pPr algn="ctr"/>
            <a:r>
              <a:rPr lang="en-GB" dirty="0"/>
              <a:t>Text Books</a:t>
            </a:r>
          </a:p>
        </p:txBody>
      </p:sp>
      <p:sp>
        <p:nvSpPr>
          <p:cNvPr id="4" name="TextBox 3"/>
          <p:cNvSpPr txBox="1"/>
          <p:nvPr/>
        </p:nvSpPr>
        <p:spPr>
          <a:xfrm>
            <a:off x="323528" y="1196752"/>
            <a:ext cx="4480384" cy="5078313"/>
          </a:xfrm>
          <a:prstGeom prst="rect">
            <a:avLst/>
          </a:prstGeom>
          <a:noFill/>
        </p:spPr>
        <p:txBody>
          <a:bodyPr wrap="square" rtlCol="0">
            <a:spAutoFit/>
          </a:bodyPr>
          <a:lstStyle/>
          <a:p>
            <a:pPr marL="342900" indent="-342900">
              <a:lnSpc>
                <a:spcPct val="150000"/>
              </a:lnSpc>
              <a:buFont typeface="+mj-lt"/>
              <a:buAutoNum type="arabicPeriod"/>
            </a:pPr>
            <a:r>
              <a:rPr lang="en-GB" dirty="0"/>
              <a:t>Modern Control Engineering, (5</a:t>
            </a:r>
            <a:r>
              <a:rPr lang="en-GB" baseline="30000" dirty="0"/>
              <a:t>th</a:t>
            </a:r>
            <a:r>
              <a:rPr lang="en-GB" dirty="0"/>
              <a:t> Edition)</a:t>
            </a:r>
          </a:p>
          <a:p>
            <a:pPr>
              <a:lnSpc>
                <a:spcPct val="150000"/>
              </a:lnSpc>
            </a:pPr>
            <a:r>
              <a:rPr lang="en-GB" dirty="0"/>
              <a:t>      By: Katsuhiko Ogata.</a:t>
            </a:r>
          </a:p>
          <a:p>
            <a:pPr>
              <a:lnSpc>
                <a:spcPct val="150000"/>
              </a:lnSpc>
            </a:pPr>
            <a:r>
              <a:rPr lang="en-GB" dirty="0"/>
              <a:t>       (Prof Emeritus)</a:t>
            </a:r>
          </a:p>
          <a:p>
            <a:pPr>
              <a:lnSpc>
                <a:spcPct val="150000"/>
              </a:lnSpc>
            </a:pPr>
            <a:r>
              <a:rPr lang="en-GB" dirty="0"/>
              <a:t>  Mechanical Engineering</a:t>
            </a:r>
          </a:p>
          <a:p>
            <a:pPr>
              <a:lnSpc>
                <a:spcPct val="150000"/>
              </a:lnSpc>
            </a:pPr>
            <a:r>
              <a:rPr lang="en-GB" dirty="0"/>
              <a:t>   University of Minnesota</a:t>
            </a:r>
          </a:p>
          <a:p>
            <a:pPr>
              <a:lnSpc>
                <a:spcPct val="150000"/>
              </a:lnSpc>
            </a:pPr>
            <a:endParaRPr lang="en-GB" dirty="0"/>
          </a:p>
          <a:p>
            <a:pPr>
              <a:lnSpc>
                <a:spcPct val="150000"/>
              </a:lnSpc>
            </a:pPr>
            <a:endParaRPr lang="en-GB" dirty="0"/>
          </a:p>
          <a:p>
            <a:pPr marL="342900" indent="-342900">
              <a:lnSpc>
                <a:spcPct val="150000"/>
              </a:lnSpc>
              <a:buFont typeface="+mj-lt"/>
              <a:buAutoNum type="arabicPeriod" startAt="2"/>
            </a:pPr>
            <a:r>
              <a:rPr lang="en-GB" dirty="0"/>
              <a:t>Control Systems Engineering, (6</a:t>
            </a:r>
            <a:r>
              <a:rPr lang="en-GB" baseline="30000" dirty="0"/>
              <a:t>th</a:t>
            </a:r>
            <a:r>
              <a:rPr lang="en-GB" dirty="0"/>
              <a:t> Edition)</a:t>
            </a:r>
          </a:p>
          <a:p>
            <a:pPr>
              <a:lnSpc>
                <a:spcPct val="150000"/>
              </a:lnSpc>
            </a:pPr>
            <a:r>
              <a:rPr lang="en-GB" dirty="0"/>
              <a:t>      By: Norman S. </a:t>
            </a:r>
            <a:r>
              <a:rPr lang="en-GB" dirty="0" err="1"/>
              <a:t>Nise</a:t>
            </a:r>
            <a:r>
              <a:rPr lang="en-GB" dirty="0"/>
              <a:t>. (Professor Emeritus)</a:t>
            </a:r>
          </a:p>
          <a:p>
            <a:pPr>
              <a:lnSpc>
                <a:spcPct val="150000"/>
              </a:lnSpc>
            </a:pPr>
            <a:r>
              <a:rPr lang="en-GB" dirty="0"/>
              <a:t>                  Electrical and Computer      	Engineering Department </a:t>
            </a:r>
          </a:p>
          <a:p>
            <a:pPr>
              <a:lnSpc>
                <a:spcPct val="150000"/>
              </a:lnSpc>
            </a:pPr>
            <a:r>
              <a:rPr lang="en-GB" dirty="0"/>
              <a:t>   at California State Polytechnic University</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91537" y="1111859"/>
            <a:ext cx="2222086" cy="258976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53065" y="4005064"/>
            <a:ext cx="2139292" cy="269942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Slide Number Placeholder 5"/>
          <p:cNvSpPr>
            <a:spLocks noGrp="1"/>
          </p:cNvSpPr>
          <p:nvPr>
            <p:ph type="sldNum" sz="quarter" idx="12"/>
          </p:nvPr>
        </p:nvSpPr>
        <p:spPr/>
        <p:txBody>
          <a:bodyPr/>
          <a:lstStyle/>
          <a:p>
            <a:fld id="{7A0D5CAB-8BF0-4EA3-BAE4-9835C852A49B}" type="slidenum">
              <a:rPr lang="en-GB" smtClean="0"/>
              <a:pPr/>
              <a:t>4</a:t>
            </a:fld>
            <a:endParaRPr lang="en-GB"/>
          </a:p>
        </p:txBody>
      </p:sp>
    </p:spTree>
    <p:extLst>
      <p:ext uri="{BB962C8B-B14F-4D97-AF65-F5344CB8AC3E}">
        <p14:creationId xmlns:p14="http://schemas.microsoft.com/office/powerpoint/2010/main" val="2050520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305800" cy="650336"/>
          </a:xfrm>
        </p:spPr>
        <p:txBody>
          <a:bodyPr>
            <a:normAutofit fontScale="90000"/>
          </a:bodyPr>
          <a:lstStyle/>
          <a:p>
            <a:pPr algn="ctr"/>
            <a:r>
              <a:rPr lang="en-GB" dirty="0"/>
              <a:t>Reference Books</a:t>
            </a:r>
          </a:p>
        </p:txBody>
      </p:sp>
      <p:sp>
        <p:nvSpPr>
          <p:cNvPr id="3" name="TextBox 2"/>
          <p:cNvSpPr txBox="1"/>
          <p:nvPr/>
        </p:nvSpPr>
        <p:spPr>
          <a:xfrm>
            <a:off x="323528" y="1967929"/>
            <a:ext cx="4680520" cy="3693319"/>
          </a:xfrm>
          <a:prstGeom prst="rect">
            <a:avLst/>
          </a:prstGeom>
          <a:noFill/>
        </p:spPr>
        <p:txBody>
          <a:bodyPr wrap="square" rtlCol="0">
            <a:spAutoFit/>
          </a:bodyPr>
          <a:lstStyle/>
          <a:p>
            <a:pPr marL="342900" indent="-342900">
              <a:buFont typeface="+mj-lt"/>
              <a:buAutoNum type="arabicPeriod"/>
            </a:pPr>
            <a:r>
              <a:rPr lang="en-GB" dirty="0"/>
              <a:t>Modern Control Systems, (12</a:t>
            </a:r>
            <a:r>
              <a:rPr lang="en-GB" baseline="30000" dirty="0"/>
              <a:t>th</a:t>
            </a:r>
            <a:r>
              <a:rPr lang="en-GB" dirty="0"/>
              <a:t> Edition)</a:t>
            </a:r>
          </a:p>
          <a:p>
            <a:r>
              <a:rPr lang="en-GB" dirty="0"/>
              <a:t>      By: Richard C. </a:t>
            </a:r>
            <a:r>
              <a:rPr lang="en-GB" dirty="0" err="1"/>
              <a:t>Dorf</a:t>
            </a:r>
            <a:r>
              <a:rPr lang="en-GB" dirty="0"/>
              <a:t> and Robert H. Bishop.</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2</a:t>
            </a:r>
            <a:r>
              <a:rPr lang="en-US" dirty="0"/>
              <a:t>.   Automatic Control Systems, (9</a:t>
            </a:r>
            <a:r>
              <a:rPr lang="en-US" baseline="30000" dirty="0"/>
              <a:t>th</a:t>
            </a:r>
            <a:r>
              <a:rPr lang="en-US" dirty="0"/>
              <a:t> Edition)</a:t>
            </a:r>
          </a:p>
          <a:p>
            <a:r>
              <a:rPr lang="en-US" dirty="0"/>
              <a:t>      By: </a:t>
            </a:r>
            <a:r>
              <a:rPr lang="en-US" dirty="0" err="1"/>
              <a:t>Golnaraghi</a:t>
            </a:r>
            <a:r>
              <a:rPr lang="en-US" dirty="0"/>
              <a:t> and B. C. </a:t>
            </a:r>
            <a:r>
              <a:rPr lang="en-US" dirty="0" err="1"/>
              <a:t>Kuo</a:t>
            </a:r>
            <a:r>
              <a:rPr lang="en-US" dirty="0"/>
              <a:t>.</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50303" y="1124744"/>
            <a:ext cx="2015765" cy="247389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5359" y="3933056"/>
            <a:ext cx="2083494" cy="276325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Slide Number Placeholder 5"/>
          <p:cNvSpPr>
            <a:spLocks noGrp="1"/>
          </p:cNvSpPr>
          <p:nvPr>
            <p:ph type="sldNum" sz="quarter" idx="12"/>
          </p:nvPr>
        </p:nvSpPr>
        <p:spPr/>
        <p:txBody>
          <a:bodyPr/>
          <a:lstStyle/>
          <a:p>
            <a:fld id="{7A0D5CAB-8BF0-4EA3-BAE4-9835C852A49B}" type="slidenum">
              <a:rPr lang="en-GB" smtClean="0"/>
              <a:pPr/>
              <a:t>5</a:t>
            </a:fld>
            <a:endParaRPr lang="en-GB"/>
          </a:p>
        </p:txBody>
      </p:sp>
    </p:spTree>
    <p:extLst>
      <p:ext uri="{BB962C8B-B14F-4D97-AF65-F5344CB8AC3E}">
        <p14:creationId xmlns:p14="http://schemas.microsoft.com/office/powerpoint/2010/main" val="468232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Prerequisites</a:t>
            </a:r>
          </a:p>
        </p:txBody>
      </p:sp>
      <p:sp>
        <p:nvSpPr>
          <p:cNvPr id="3" name="Content Placeholder 2"/>
          <p:cNvSpPr>
            <a:spLocks noGrp="1"/>
          </p:cNvSpPr>
          <p:nvPr>
            <p:ph idx="1"/>
          </p:nvPr>
        </p:nvSpPr>
        <p:spPr/>
        <p:txBody>
          <a:bodyPr/>
          <a:lstStyle/>
          <a:p>
            <a:r>
              <a:rPr lang="en-GB" dirty="0"/>
              <a:t>For Classical Control Theory</a:t>
            </a:r>
          </a:p>
          <a:p>
            <a:pPr lvl="1"/>
            <a:r>
              <a:rPr lang="en-GB" dirty="0"/>
              <a:t>Differential Equations</a:t>
            </a:r>
          </a:p>
          <a:p>
            <a:pPr lvl="1"/>
            <a:r>
              <a:rPr lang="en-GB" dirty="0"/>
              <a:t>Laplace Transform</a:t>
            </a:r>
          </a:p>
          <a:p>
            <a:pPr lvl="1"/>
            <a:r>
              <a:rPr lang="en-GB" dirty="0"/>
              <a:t>Basic Physics</a:t>
            </a:r>
          </a:p>
          <a:p>
            <a:pPr lvl="1"/>
            <a:r>
              <a:rPr lang="en-GB" dirty="0"/>
              <a:t>Ordinary and Semi-</a:t>
            </a:r>
            <a:r>
              <a:rPr lang="en-GB" dirty="0" err="1"/>
              <a:t>logarithimic</a:t>
            </a:r>
            <a:r>
              <a:rPr lang="en-GB" dirty="0"/>
              <a:t> graph papers</a:t>
            </a:r>
          </a:p>
          <a:p>
            <a:r>
              <a:rPr lang="en-GB" dirty="0"/>
              <a:t>For Modern Control theory </a:t>
            </a:r>
            <a:r>
              <a:rPr lang="en-GB" sz="2800" dirty="0"/>
              <a:t>above &amp;</a:t>
            </a:r>
          </a:p>
          <a:p>
            <a:pPr lvl="1"/>
            <a:r>
              <a:rPr lang="en-GB" dirty="0"/>
              <a:t>Linear Algebra</a:t>
            </a:r>
          </a:p>
          <a:p>
            <a:pPr lvl="1"/>
            <a:r>
              <a:rPr lang="en-GB" dirty="0"/>
              <a:t>Matrices</a:t>
            </a:r>
          </a:p>
        </p:txBody>
      </p:sp>
      <p:sp>
        <p:nvSpPr>
          <p:cNvPr id="4" name="Slide Number Placeholder 3"/>
          <p:cNvSpPr>
            <a:spLocks noGrp="1"/>
          </p:cNvSpPr>
          <p:nvPr>
            <p:ph type="sldNum" sz="quarter" idx="12"/>
          </p:nvPr>
        </p:nvSpPr>
        <p:spPr/>
        <p:txBody>
          <a:bodyPr/>
          <a:lstStyle/>
          <a:p>
            <a:fld id="{7A0D5CAB-8BF0-4EA3-BAE4-9835C852A49B}" type="slidenum">
              <a:rPr lang="en-GB" smtClean="0"/>
              <a:pPr/>
              <a:t>6</a:t>
            </a:fld>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What is Control System?</a:t>
            </a:r>
          </a:p>
        </p:txBody>
      </p:sp>
      <p:sp>
        <p:nvSpPr>
          <p:cNvPr id="4" name="Content Placeholder 3"/>
          <p:cNvSpPr>
            <a:spLocks noGrp="1"/>
          </p:cNvSpPr>
          <p:nvPr>
            <p:ph idx="1"/>
          </p:nvPr>
        </p:nvSpPr>
        <p:spPr>
          <a:xfrm>
            <a:off x="323528" y="1639341"/>
            <a:ext cx="8640960" cy="4525963"/>
          </a:xfrm>
        </p:spPr>
        <p:txBody>
          <a:bodyPr/>
          <a:lstStyle/>
          <a:p>
            <a:pPr algn="just"/>
            <a:r>
              <a:rPr lang="en-GB" dirty="0"/>
              <a:t>A system Controlling the operation of another system.</a:t>
            </a:r>
          </a:p>
          <a:p>
            <a:pPr algn="just"/>
            <a:r>
              <a:rPr lang="en-GB" dirty="0"/>
              <a:t>A system that can regulate itself and another system.</a:t>
            </a:r>
          </a:p>
          <a:p>
            <a:pPr algn="just"/>
            <a:r>
              <a:rPr lang="en-GB" dirty="0"/>
              <a:t>A control System is a device, or set of devices to manage, command, direct or regulate the behaviour of other device(s) or system(s).  </a:t>
            </a:r>
          </a:p>
        </p:txBody>
      </p:sp>
      <p:sp>
        <p:nvSpPr>
          <p:cNvPr id="2" name="Slide Number Placeholder 1"/>
          <p:cNvSpPr>
            <a:spLocks noGrp="1"/>
          </p:cNvSpPr>
          <p:nvPr>
            <p:ph type="sldNum" sz="quarter" idx="12"/>
          </p:nvPr>
        </p:nvSpPr>
        <p:spPr/>
        <p:txBody>
          <a:bodyPr/>
          <a:lstStyle/>
          <a:p>
            <a:fld id="{7A0D5CAB-8BF0-4EA3-BAE4-9835C852A49B}" type="slidenum">
              <a:rPr lang="en-GB" smtClean="0"/>
              <a:pPr/>
              <a:t>7</a:t>
            </a:fld>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3"/>
          <p:cNvSpPr txBox="1">
            <a:spLocks noChangeArrowheads="1"/>
          </p:cNvSpPr>
          <p:nvPr/>
        </p:nvSpPr>
        <p:spPr bwMode="auto">
          <a:xfrm>
            <a:off x="517525" y="447675"/>
            <a:ext cx="1994072" cy="584775"/>
          </a:xfrm>
          <a:prstGeom prst="rect">
            <a:avLst/>
          </a:prstGeom>
          <a:noFill/>
          <a:ln w="9525">
            <a:noFill/>
            <a:miter lim="800000"/>
            <a:headEnd/>
            <a:tailEnd/>
          </a:ln>
          <a:effectLst/>
        </p:spPr>
        <p:txBody>
          <a:bodyPr wrap="none">
            <a:spAutoFit/>
          </a:bodyPr>
          <a:lstStyle/>
          <a:p>
            <a:r>
              <a:rPr lang="en-US" sz="3200" dirty="0"/>
              <a:t>Definitions</a:t>
            </a:r>
          </a:p>
        </p:txBody>
      </p:sp>
      <p:sp>
        <p:nvSpPr>
          <p:cNvPr id="3083" name="Text Box 11"/>
          <p:cNvSpPr txBox="1">
            <a:spLocks noChangeArrowheads="1"/>
          </p:cNvSpPr>
          <p:nvPr/>
        </p:nvSpPr>
        <p:spPr bwMode="auto">
          <a:xfrm>
            <a:off x="251520" y="1556792"/>
            <a:ext cx="8892480" cy="430887"/>
          </a:xfrm>
          <a:prstGeom prst="rect">
            <a:avLst/>
          </a:prstGeom>
          <a:noFill/>
          <a:ln w="9525">
            <a:noFill/>
            <a:miter lim="800000"/>
            <a:headEnd/>
            <a:tailEnd/>
          </a:ln>
          <a:effectLst/>
        </p:spPr>
        <p:txBody>
          <a:bodyPr wrap="square">
            <a:spAutoFit/>
          </a:bodyPr>
          <a:lstStyle/>
          <a:p>
            <a:r>
              <a:rPr lang="en-US" sz="2200" b="1" dirty="0"/>
              <a:t>System</a:t>
            </a:r>
            <a:r>
              <a:rPr lang="en-US" sz="2200" dirty="0"/>
              <a:t> – An interconnection of elements and devices for a </a:t>
            </a:r>
            <a:r>
              <a:rPr lang="en-US" sz="2200" dirty="0">
                <a:solidFill>
                  <a:srgbClr val="FF0000"/>
                </a:solidFill>
              </a:rPr>
              <a:t>desired purpose</a:t>
            </a:r>
            <a:r>
              <a:rPr lang="en-US" sz="2200" dirty="0"/>
              <a:t>.</a:t>
            </a:r>
          </a:p>
        </p:txBody>
      </p:sp>
      <p:sp>
        <p:nvSpPr>
          <p:cNvPr id="3084" name="Text Box 12"/>
          <p:cNvSpPr txBox="1">
            <a:spLocks noChangeArrowheads="1"/>
          </p:cNvSpPr>
          <p:nvPr/>
        </p:nvSpPr>
        <p:spPr bwMode="auto">
          <a:xfrm>
            <a:off x="251520" y="2564904"/>
            <a:ext cx="8640960" cy="769441"/>
          </a:xfrm>
          <a:prstGeom prst="rect">
            <a:avLst/>
          </a:prstGeom>
          <a:noFill/>
          <a:ln w="9525">
            <a:noFill/>
            <a:miter lim="800000"/>
            <a:headEnd/>
            <a:tailEnd/>
          </a:ln>
          <a:effectLst/>
        </p:spPr>
        <p:txBody>
          <a:bodyPr wrap="square">
            <a:spAutoFit/>
          </a:bodyPr>
          <a:lstStyle/>
          <a:p>
            <a:pPr algn="just"/>
            <a:r>
              <a:rPr lang="en-US" sz="2200" b="1" dirty="0"/>
              <a:t>Control System</a:t>
            </a:r>
            <a:r>
              <a:rPr lang="en-US" sz="2200" dirty="0"/>
              <a:t> – An interconnection of components forming a system configuration that will provide a desired response.</a:t>
            </a:r>
          </a:p>
        </p:txBody>
      </p:sp>
      <p:sp>
        <p:nvSpPr>
          <p:cNvPr id="3086" name="Text Box 14"/>
          <p:cNvSpPr txBox="1">
            <a:spLocks noChangeArrowheads="1"/>
          </p:cNvSpPr>
          <p:nvPr/>
        </p:nvSpPr>
        <p:spPr bwMode="auto">
          <a:xfrm>
            <a:off x="251520" y="3789040"/>
            <a:ext cx="8496944" cy="1107996"/>
          </a:xfrm>
          <a:prstGeom prst="rect">
            <a:avLst/>
          </a:prstGeom>
          <a:noFill/>
          <a:ln w="9525">
            <a:noFill/>
            <a:miter lim="800000"/>
            <a:headEnd/>
            <a:tailEnd/>
          </a:ln>
          <a:effectLst/>
        </p:spPr>
        <p:txBody>
          <a:bodyPr wrap="square">
            <a:spAutoFit/>
          </a:bodyPr>
          <a:lstStyle/>
          <a:p>
            <a:pPr algn="just"/>
            <a:r>
              <a:rPr lang="en-US" sz="2200" b="1" dirty="0"/>
              <a:t>Process</a:t>
            </a:r>
            <a:r>
              <a:rPr lang="en-US" sz="2200" dirty="0"/>
              <a:t> – The device, </a:t>
            </a:r>
            <a:r>
              <a:rPr lang="en-US" sz="2200" dirty="0">
                <a:solidFill>
                  <a:srgbClr val="FF0000"/>
                </a:solidFill>
              </a:rPr>
              <a:t>plant</a:t>
            </a:r>
            <a:r>
              <a:rPr lang="en-US" sz="2200" dirty="0"/>
              <a:t>, or system under control.  The input and output relationship represents the cause-and-effect relationship of the process</a:t>
            </a:r>
            <a:r>
              <a:rPr lang="en-US" dirty="0"/>
              <a:t>.</a:t>
            </a:r>
          </a:p>
        </p:txBody>
      </p:sp>
      <p:grpSp>
        <p:nvGrpSpPr>
          <p:cNvPr id="16" name="Group 15"/>
          <p:cNvGrpSpPr/>
          <p:nvPr/>
        </p:nvGrpSpPr>
        <p:grpSpPr>
          <a:xfrm>
            <a:off x="2987824" y="5301208"/>
            <a:ext cx="3888432" cy="864096"/>
            <a:chOff x="4860032" y="4869160"/>
            <a:chExt cx="3888432" cy="864096"/>
          </a:xfrm>
        </p:grpSpPr>
        <p:sp>
          <p:nvSpPr>
            <p:cNvPr id="10" name="Rectangle 9"/>
            <p:cNvSpPr/>
            <p:nvPr/>
          </p:nvSpPr>
          <p:spPr>
            <a:xfrm>
              <a:off x="6228184" y="4869160"/>
              <a:ext cx="1080120" cy="8640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dirty="0"/>
                <a:t>Process</a:t>
              </a:r>
            </a:p>
          </p:txBody>
        </p:sp>
        <p:cxnSp>
          <p:nvCxnSpPr>
            <p:cNvPr id="12" name="Straight Arrow Connector 11"/>
            <p:cNvCxnSpPr/>
            <p:nvPr/>
          </p:nvCxnSpPr>
          <p:spPr>
            <a:xfrm>
              <a:off x="5494036" y="5302876"/>
              <a:ext cx="7200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7218892" y="5301208"/>
              <a:ext cx="7200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7892139" y="5085184"/>
              <a:ext cx="856325" cy="369332"/>
            </a:xfrm>
            <a:prstGeom prst="rect">
              <a:avLst/>
            </a:prstGeom>
            <a:noFill/>
          </p:spPr>
          <p:txBody>
            <a:bodyPr wrap="none" rtlCol="0">
              <a:spAutoFit/>
            </a:bodyPr>
            <a:lstStyle/>
            <a:p>
              <a:r>
                <a:rPr lang="en-GB" dirty="0"/>
                <a:t>Output</a:t>
              </a:r>
            </a:p>
          </p:txBody>
        </p:sp>
        <p:sp>
          <p:nvSpPr>
            <p:cNvPr id="15" name="TextBox 14"/>
            <p:cNvSpPr txBox="1"/>
            <p:nvPr/>
          </p:nvSpPr>
          <p:spPr>
            <a:xfrm>
              <a:off x="4860032" y="5075892"/>
              <a:ext cx="684803" cy="369332"/>
            </a:xfrm>
            <a:prstGeom prst="rect">
              <a:avLst/>
            </a:prstGeom>
            <a:noFill/>
          </p:spPr>
          <p:txBody>
            <a:bodyPr wrap="none" rtlCol="0">
              <a:spAutoFit/>
            </a:bodyPr>
            <a:lstStyle/>
            <a:p>
              <a:r>
                <a:rPr lang="en-GB" dirty="0"/>
                <a:t>Input</a:t>
              </a:r>
            </a:p>
          </p:txBody>
        </p:sp>
      </p:grpSp>
      <p:sp>
        <p:nvSpPr>
          <p:cNvPr id="2" name="Slide Number Placeholder 1"/>
          <p:cNvSpPr>
            <a:spLocks noGrp="1"/>
          </p:cNvSpPr>
          <p:nvPr>
            <p:ph type="sldNum" sz="quarter" idx="12"/>
          </p:nvPr>
        </p:nvSpPr>
        <p:spPr/>
        <p:txBody>
          <a:bodyPr/>
          <a:lstStyle/>
          <a:p>
            <a:fld id="{7A0D5CAB-8BF0-4EA3-BAE4-9835C852A49B}" type="slidenum">
              <a:rPr lang="en-GB" smtClean="0"/>
              <a:pPr/>
              <a:t>8</a:t>
            </a:fld>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0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8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8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3" grpId="0"/>
      <p:bldP spid="3084" grpId="0"/>
      <p:bldP spid="308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3"/>
          <p:cNvSpPr txBox="1">
            <a:spLocks noChangeArrowheads="1"/>
          </p:cNvSpPr>
          <p:nvPr/>
        </p:nvSpPr>
        <p:spPr bwMode="auto">
          <a:xfrm>
            <a:off x="517525" y="447675"/>
            <a:ext cx="1994072" cy="584775"/>
          </a:xfrm>
          <a:prstGeom prst="rect">
            <a:avLst/>
          </a:prstGeom>
          <a:noFill/>
          <a:ln w="9525">
            <a:noFill/>
            <a:miter lim="800000"/>
            <a:headEnd/>
            <a:tailEnd/>
          </a:ln>
          <a:effectLst/>
        </p:spPr>
        <p:txBody>
          <a:bodyPr wrap="none">
            <a:spAutoFit/>
          </a:bodyPr>
          <a:lstStyle/>
          <a:p>
            <a:r>
              <a:rPr lang="en-US" sz="3200" dirty="0"/>
              <a:t>Definitions</a:t>
            </a:r>
          </a:p>
        </p:txBody>
      </p:sp>
      <p:sp>
        <p:nvSpPr>
          <p:cNvPr id="3083" name="Text Box 11"/>
          <p:cNvSpPr txBox="1">
            <a:spLocks noChangeArrowheads="1"/>
          </p:cNvSpPr>
          <p:nvPr/>
        </p:nvSpPr>
        <p:spPr bwMode="auto">
          <a:xfrm>
            <a:off x="467544" y="1484784"/>
            <a:ext cx="8359080" cy="1107996"/>
          </a:xfrm>
          <a:prstGeom prst="rect">
            <a:avLst/>
          </a:prstGeom>
          <a:noFill/>
          <a:ln w="9525">
            <a:noFill/>
            <a:miter lim="800000"/>
            <a:headEnd/>
            <a:tailEnd/>
          </a:ln>
          <a:effectLst/>
        </p:spPr>
        <p:txBody>
          <a:bodyPr wrap="square">
            <a:spAutoFit/>
          </a:bodyPr>
          <a:lstStyle/>
          <a:p>
            <a:pPr algn="just"/>
            <a:r>
              <a:rPr lang="en-US" sz="2200" b="1" dirty="0"/>
              <a:t>Controlled Variable</a:t>
            </a:r>
            <a:r>
              <a:rPr lang="en-US" sz="2200" dirty="0"/>
              <a:t>– It is the quantity or condition that is measured and Controlled. Normally </a:t>
            </a:r>
            <a:r>
              <a:rPr lang="en-US" sz="2200" i="1" dirty="0">
                <a:solidFill>
                  <a:srgbClr val="C00000"/>
                </a:solidFill>
              </a:rPr>
              <a:t>controlled variable </a:t>
            </a:r>
            <a:r>
              <a:rPr lang="en-US" sz="2200" dirty="0"/>
              <a:t>is the output of the control system.</a:t>
            </a:r>
          </a:p>
        </p:txBody>
      </p:sp>
      <p:sp>
        <p:nvSpPr>
          <p:cNvPr id="3084" name="Text Box 12"/>
          <p:cNvSpPr txBox="1">
            <a:spLocks noChangeArrowheads="1"/>
          </p:cNvSpPr>
          <p:nvPr/>
        </p:nvSpPr>
        <p:spPr bwMode="auto">
          <a:xfrm>
            <a:off x="457200" y="3200400"/>
            <a:ext cx="8153400" cy="769441"/>
          </a:xfrm>
          <a:prstGeom prst="rect">
            <a:avLst/>
          </a:prstGeom>
          <a:noFill/>
          <a:ln w="9525">
            <a:noFill/>
            <a:miter lim="800000"/>
            <a:headEnd/>
            <a:tailEnd/>
          </a:ln>
          <a:effectLst/>
        </p:spPr>
        <p:txBody>
          <a:bodyPr>
            <a:spAutoFit/>
          </a:bodyPr>
          <a:lstStyle/>
          <a:p>
            <a:r>
              <a:rPr lang="en-US" sz="2200" b="1" dirty="0"/>
              <a:t>Manipulated Variable</a:t>
            </a:r>
            <a:r>
              <a:rPr lang="en-US" sz="2200" dirty="0"/>
              <a:t>– It is the quantity of the condition that is varied by the controller so as to affect the value of </a:t>
            </a:r>
            <a:r>
              <a:rPr lang="en-US" sz="2200" i="1" dirty="0">
                <a:solidFill>
                  <a:srgbClr val="C00000"/>
                </a:solidFill>
              </a:rPr>
              <a:t>controlled variable</a:t>
            </a:r>
            <a:r>
              <a:rPr lang="en-US" sz="2200" dirty="0"/>
              <a:t>.</a:t>
            </a:r>
          </a:p>
        </p:txBody>
      </p:sp>
      <p:sp>
        <p:nvSpPr>
          <p:cNvPr id="3086" name="Text Box 14"/>
          <p:cNvSpPr txBox="1">
            <a:spLocks noChangeArrowheads="1"/>
          </p:cNvSpPr>
          <p:nvPr/>
        </p:nvSpPr>
        <p:spPr bwMode="auto">
          <a:xfrm>
            <a:off x="467544" y="4495800"/>
            <a:ext cx="8208912" cy="1446550"/>
          </a:xfrm>
          <a:prstGeom prst="rect">
            <a:avLst/>
          </a:prstGeom>
          <a:noFill/>
          <a:ln w="9525">
            <a:noFill/>
            <a:miter lim="800000"/>
            <a:headEnd/>
            <a:tailEnd/>
          </a:ln>
          <a:effectLst/>
        </p:spPr>
        <p:txBody>
          <a:bodyPr wrap="square">
            <a:spAutoFit/>
          </a:bodyPr>
          <a:lstStyle/>
          <a:p>
            <a:pPr algn="just"/>
            <a:r>
              <a:rPr lang="en-US" sz="2200" b="1" dirty="0"/>
              <a:t>Control</a:t>
            </a:r>
            <a:r>
              <a:rPr lang="en-US" sz="2200" dirty="0"/>
              <a:t> – Control means measuring the value of </a:t>
            </a:r>
            <a:r>
              <a:rPr lang="en-US" sz="2200" i="1" dirty="0">
                <a:solidFill>
                  <a:srgbClr val="C00000"/>
                </a:solidFill>
              </a:rPr>
              <a:t>controlled variable </a:t>
            </a:r>
            <a:r>
              <a:rPr lang="en-US" sz="2200" dirty="0"/>
              <a:t>of the system and applying the </a:t>
            </a:r>
            <a:r>
              <a:rPr lang="en-US" sz="2200" i="1" dirty="0">
                <a:solidFill>
                  <a:srgbClr val="C00000"/>
                </a:solidFill>
              </a:rPr>
              <a:t>manipulated variable </a:t>
            </a:r>
            <a:r>
              <a:rPr lang="en-US" sz="2200" dirty="0"/>
              <a:t>to the system to correct or limit  the deviation of the measured value from a desired value. </a:t>
            </a:r>
          </a:p>
        </p:txBody>
      </p:sp>
      <p:sp>
        <p:nvSpPr>
          <p:cNvPr id="2" name="Slide Number Placeholder 1"/>
          <p:cNvSpPr>
            <a:spLocks noGrp="1"/>
          </p:cNvSpPr>
          <p:nvPr>
            <p:ph type="sldNum" sz="quarter" idx="12"/>
          </p:nvPr>
        </p:nvSpPr>
        <p:spPr/>
        <p:txBody>
          <a:bodyPr/>
          <a:lstStyle/>
          <a:p>
            <a:fld id="{7A0D5CAB-8BF0-4EA3-BAE4-9835C852A49B}" type="slidenum">
              <a:rPr lang="en-GB" smtClean="0"/>
              <a:pPr/>
              <a:t>9</a:t>
            </a:fld>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0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8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3" grpId="0"/>
      <p:bldP spid="3084" grpId="0"/>
      <p:bldP spid="308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3"/>
          <p:cNvSpPr txBox="1">
            <a:spLocks noChangeArrowheads="1"/>
          </p:cNvSpPr>
          <p:nvPr/>
        </p:nvSpPr>
        <p:spPr bwMode="auto">
          <a:xfrm>
            <a:off x="517525" y="447675"/>
            <a:ext cx="1994072" cy="584775"/>
          </a:xfrm>
          <a:prstGeom prst="rect">
            <a:avLst/>
          </a:prstGeom>
          <a:noFill/>
          <a:ln w="9525">
            <a:noFill/>
            <a:miter lim="800000"/>
            <a:headEnd/>
            <a:tailEnd/>
          </a:ln>
          <a:effectLst/>
        </p:spPr>
        <p:txBody>
          <a:bodyPr wrap="none">
            <a:spAutoFit/>
          </a:bodyPr>
          <a:lstStyle/>
          <a:p>
            <a:r>
              <a:rPr lang="en-US" sz="3200" dirty="0"/>
              <a:t>Definitions</a:t>
            </a:r>
          </a:p>
        </p:txBody>
      </p:sp>
      <p:sp>
        <p:nvSpPr>
          <p:cNvPr id="3083" name="Text Box 11"/>
          <p:cNvSpPr txBox="1">
            <a:spLocks noChangeArrowheads="1"/>
          </p:cNvSpPr>
          <p:nvPr/>
        </p:nvSpPr>
        <p:spPr bwMode="auto">
          <a:xfrm>
            <a:off x="323528" y="4077072"/>
            <a:ext cx="8359080" cy="1938992"/>
          </a:xfrm>
          <a:prstGeom prst="rect">
            <a:avLst/>
          </a:prstGeom>
          <a:noFill/>
          <a:ln w="9525">
            <a:noFill/>
            <a:miter lim="800000"/>
            <a:headEnd/>
            <a:tailEnd/>
          </a:ln>
          <a:effectLst/>
        </p:spPr>
        <p:txBody>
          <a:bodyPr wrap="square">
            <a:spAutoFit/>
          </a:bodyPr>
          <a:lstStyle/>
          <a:p>
            <a:pPr algn="just"/>
            <a:r>
              <a:rPr lang="en-US" sz="2200" b="1" dirty="0"/>
              <a:t>Disturbances</a:t>
            </a:r>
            <a:r>
              <a:rPr lang="en-US" sz="2200" dirty="0"/>
              <a:t>– A disturbance is a signal that tends to adversely affect the value of the system. It is an unwanted input of the system.</a:t>
            </a:r>
          </a:p>
          <a:p>
            <a:pPr algn="just"/>
            <a:endParaRPr lang="en-US" sz="1000" dirty="0"/>
          </a:p>
          <a:p>
            <a:pPr marL="900113" indent="-266700" algn="just">
              <a:buFont typeface="Arial" pitchFamily="34" charset="0"/>
              <a:buChar char="•"/>
            </a:pPr>
            <a:r>
              <a:rPr lang="en-US" sz="2200" dirty="0"/>
              <a:t>	If a disturbance is generated within the system, it is called </a:t>
            </a:r>
            <a:r>
              <a:rPr lang="en-US" sz="2200" i="1" dirty="0">
                <a:solidFill>
                  <a:srgbClr val="C00000"/>
                </a:solidFill>
              </a:rPr>
              <a:t>internal disturbance</a:t>
            </a:r>
            <a:r>
              <a:rPr lang="en-US" sz="2200" dirty="0"/>
              <a:t>. While an </a:t>
            </a:r>
            <a:r>
              <a:rPr lang="en-US" sz="2200" i="1" dirty="0">
                <a:solidFill>
                  <a:srgbClr val="C00000"/>
                </a:solidFill>
              </a:rPr>
              <a:t>external disturbance </a:t>
            </a:r>
            <a:r>
              <a:rPr lang="en-US" sz="2200" dirty="0"/>
              <a:t>is generated outside the system. </a:t>
            </a:r>
          </a:p>
        </p:txBody>
      </p:sp>
      <p:grpSp>
        <p:nvGrpSpPr>
          <p:cNvPr id="18" name="Group 17"/>
          <p:cNvGrpSpPr/>
          <p:nvPr/>
        </p:nvGrpSpPr>
        <p:grpSpPr>
          <a:xfrm>
            <a:off x="971600" y="1196752"/>
            <a:ext cx="7344816" cy="2053392"/>
            <a:chOff x="1115616" y="3717032"/>
            <a:chExt cx="7344816" cy="2053392"/>
          </a:xfrm>
        </p:grpSpPr>
        <p:sp>
          <p:nvSpPr>
            <p:cNvPr id="9" name="Rectangle 8"/>
            <p:cNvSpPr/>
            <p:nvPr/>
          </p:nvSpPr>
          <p:spPr>
            <a:xfrm>
              <a:off x="2966446" y="4509120"/>
              <a:ext cx="1305497" cy="112120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b="1" dirty="0"/>
                <a:t>Controller</a:t>
              </a:r>
            </a:p>
          </p:txBody>
        </p:sp>
        <p:cxnSp>
          <p:nvCxnSpPr>
            <p:cNvPr id="10" name="Straight Arrow Connector 9"/>
            <p:cNvCxnSpPr/>
            <p:nvPr/>
          </p:nvCxnSpPr>
          <p:spPr>
            <a:xfrm>
              <a:off x="2209744" y="5069722"/>
              <a:ext cx="73969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38539" y="5069722"/>
              <a:ext cx="69618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476619" y="4604718"/>
              <a:ext cx="1983813" cy="923330"/>
            </a:xfrm>
            <a:prstGeom prst="rect">
              <a:avLst/>
            </a:prstGeom>
            <a:noFill/>
          </p:spPr>
          <p:txBody>
            <a:bodyPr wrap="none" rtlCol="0">
              <a:spAutoFit/>
            </a:bodyPr>
            <a:lstStyle/>
            <a:p>
              <a:r>
                <a:rPr lang="en-GB" dirty="0">
                  <a:solidFill>
                    <a:srgbClr val="C00000"/>
                  </a:solidFill>
                </a:rPr>
                <a:t>Output</a:t>
              </a:r>
            </a:p>
            <a:p>
              <a:r>
                <a:rPr lang="en-GB" dirty="0"/>
                <a:t>Or</a:t>
              </a:r>
            </a:p>
            <a:p>
              <a:r>
                <a:rPr lang="en-GB" dirty="0">
                  <a:solidFill>
                    <a:srgbClr val="C00000"/>
                  </a:solidFill>
                </a:rPr>
                <a:t>Controlled Variable</a:t>
              </a:r>
            </a:p>
          </p:txBody>
        </p:sp>
        <p:sp>
          <p:nvSpPr>
            <p:cNvPr id="13" name="TextBox 12"/>
            <p:cNvSpPr txBox="1"/>
            <p:nvPr/>
          </p:nvSpPr>
          <p:spPr>
            <a:xfrm>
              <a:off x="1115616" y="4293096"/>
              <a:ext cx="1082925" cy="1477328"/>
            </a:xfrm>
            <a:prstGeom prst="rect">
              <a:avLst/>
            </a:prstGeom>
            <a:noFill/>
          </p:spPr>
          <p:txBody>
            <a:bodyPr wrap="none" rtlCol="0">
              <a:spAutoFit/>
            </a:bodyPr>
            <a:lstStyle/>
            <a:p>
              <a:r>
                <a:rPr lang="en-GB" dirty="0">
                  <a:solidFill>
                    <a:srgbClr val="C00000"/>
                  </a:solidFill>
                </a:rPr>
                <a:t>Input</a:t>
              </a:r>
            </a:p>
            <a:p>
              <a:r>
                <a:rPr lang="en-GB" dirty="0"/>
                <a:t>or</a:t>
              </a:r>
            </a:p>
            <a:p>
              <a:r>
                <a:rPr lang="en-GB" dirty="0">
                  <a:solidFill>
                    <a:srgbClr val="C00000"/>
                  </a:solidFill>
                </a:rPr>
                <a:t>Set point</a:t>
              </a:r>
            </a:p>
            <a:p>
              <a:r>
                <a:rPr lang="en-GB" dirty="0"/>
                <a:t>or</a:t>
              </a:r>
            </a:p>
            <a:p>
              <a:r>
                <a:rPr lang="en-GB" dirty="0">
                  <a:solidFill>
                    <a:srgbClr val="C00000"/>
                  </a:solidFill>
                </a:rPr>
                <a:t>reference</a:t>
              </a:r>
            </a:p>
          </p:txBody>
        </p:sp>
        <p:sp>
          <p:nvSpPr>
            <p:cNvPr id="14" name="Rectangle 13"/>
            <p:cNvSpPr/>
            <p:nvPr/>
          </p:nvSpPr>
          <p:spPr>
            <a:xfrm>
              <a:off x="4707109" y="4509120"/>
              <a:ext cx="1218464" cy="112120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sz="2000" b="1" dirty="0"/>
                <a:t>Process</a:t>
              </a:r>
            </a:p>
          </p:txBody>
        </p:sp>
        <p:cxnSp>
          <p:nvCxnSpPr>
            <p:cNvPr id="15" name="Straight Arrow Connector 14"/>
            <p:cNvCxnSpPr/>
            <p:nvPr/>
          </p:nvCxnSpPr>
          <p:spPr>
            <a:xfrm>
              <a:off x="4254988" y="5069722"/>
              <a:ext cx="43511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427984" y="3717032"/>
              <a:ext cx="2199833" cy="369332"/>
            </a:xfrm>
            <a:prstGeom prst="rect">
              <a:avLst/>
            </a:prstGeom>
            <a:noFill/>
          </p:spPr>
          <p:txBody>
            <a:bodyPr wrap="none" rtlCol="0">
              <a:spAutoFit/>
            </a:bodyPr>
            <a:lstStyle/>
            <a:p>
              <a:r>
                <a:rPr lang="en-GB" dirty="0">
                  <a:solidFill>
                    <a:srgbClr val="C00000"/>
                  </a:solidFill>
                </a:rPr>
                <a:t>Manipulated Variable</a:t>
              </a:r>
            </a:p>
          </p:txBody>
        </p:sp>
        <p:sp>
          <p:nvSpPr>
            <p:cNvPr id="17" name="Freeform 16"/>
            <p:cNvSpPr/>
            <p:nvPr/>
          </p:nvSpPr>
          <p:spPr>
            <a:xfrm>
              <a:off x="4417255" y="4079631"/>
              <a:ext cx="295422" cy="829994"/>
            </a:xfrm>
            <a:custGeom>
              <a:avLst/>
              <a:gdLst>
                <a:gd name="connsiteX0" fmla="*/ 0 w 295422"/>
                <a:gd name="connsiteY0" fmla="*/ 829994 h 829994"/>
                <a:gd name="connsiteX1" fmla="*/ 56271 w 295422"/>
                <a:gd name="connsiteY1" fmla="*/ 239151 h 829994"/>
                <a:gd name="connsiteX2" fmla="*/ 295422 w 295422"/>
                <a:gd name="connsiteY2" fmla="*/ 0 h 829994"/>
              </a:gdLst>
              <a:ahLst/>
              <a:cxnLst>
                <a:cxn ang="0">
                  <a:pos x="connsiteX0" y="connsiteY0"/>
                </a:cxn>
                <a:cxn ang="0">
                  <a:pos x="connsiteX1" y="connsiteY1"/>
                </a:cxn>
                <a:cxn ang="0">
                  <a:pos x="connsiteX2" y="connsiteY2"/>
                </a:cxn>
              </a:cxnLst>
              <a:rect l="l" t="t" r="r" b="b"/>
              <a:pathLst>
                <a:path w="295422" h="829994">
                  <a:moveTo>
                    <a:pt x="0" y="829994"/>
                  </a:moveTo>
                  <a:cubicBezTo>
                    <a:pt x="3517" y="603738"/>
                    <a:pt x="7034" y="377483"/>
                    <a:pt x="56271" y="239151"/>
                  </a:cubicBezTo>
                  <a:cubicBezTo>
                    <a:pt x="105508" y="100819"/>
                    <a:pt x="200465" y="50409"/>
                    <a:pt x="295422" y="0"/>
                  </a:cubicBezTo>
                </a:path>
              </a:pathLst>
            </a:cu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2" name="Slide Number Placeholder 1"/>
          <p:cNvSpPr>
            <a:spLocks noGrp="1"/>
          </p:cNvSpPr>
          <p:nvPr>
            <p:ph type="sldNum" sz="quarter" idx="12"/>
          </p:nvPr>
        </p:nvSpPr>
        <p:spPr/>
        <p:txBody>
          <a:bodyPr/>
          <a:lstStyle/>
          <a:p>
            <a:fld id="{7A0D5CAB-8BF0-4EA3-BAE4-9835C852A49B}" type="slidenum">
              <a:rPr lang="en-GB" smtClean="0"/>
              <a:pPr/>
              <a:t>10</a:t>
            </a:fld>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Control System </a:t>
            </a:r>
          </a:p>
        </p:txBody>
      </p:sp>
      <p:sp>
        <p:nvSpPr>
          <p:cNvPr id="3" name="Content Placeholder 2"/>
          <p:cNvSpPr>
            <a:spLocks noGrp="1"/>
          </p:cNvSpPr>
          <p:nvPr>
            <p:ph idx="1"/>
          </p:nvPr>
        </p:nvSpPr>
        <p:spPr/>
        <p:txBody>
          <a:bodyPr/>
          <a:lstStyle/>
          <a:p>
            <a:r>
              <a:rPr lang="en-GB" dirty="0"/>
              <a:t>Natural Control System</a:t>
            </a:r>
          </a:p>
          <a:p>
            <a:pPr lvl="1"/>
            <a:r>
              <a:rPr lang="en-GB" dirty="0"/>
              <a:t>Universe</a:t>
            </a:r>
          </a:p>
          <a:p>
            <a:pPr lvl="1"/>
            <a:r>
              <a:rPr lang="en-GB" dirty="0"/>
              <a:t>Human Body</a:t>
            </a:r>
          </a:p>
          <a:p>
            <a:pPr lvl="1"/>
            <a:endParaRPr lang="en-GB" sz="18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6016" y="1748662"/>
            <a:ext cx="4286989" cy="2304256"/>
          </a:xfrm>
          <a:prstGeom prst="rect">
            <a:avLst/>
          </a:prstGeom>
        </p:spPr>
      </p:pic>
      <p:pic>
        <p:nvPicPr>
          <p:cNvPr id="6146" name="Picture 2" descr="http://i1.ytimg.com/vi/KJZCOjdG8eA/maxresdefault.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552" y="4052918"/>
            <a:ext cx="4933377" cy="2775025"/>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7A0D5CAB-8BF0-4EA3-BAE4-9835C852A49B}" type="slidenum">
              <a:rPr lang="en-GB" smtClean="0"/>
              <a:pPr/>
              <a:t>11</a:t>
            </a:fld>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Control System </a:t>
            </a:r>
          </a:p>
        </p:txBody>
      </p:sp>
      <p:sp>
        <p:nvSpPr>
          <p:cNvPr id="3" name="Content Placeholder 2"/>
          <p:cNvSpPr>
            <a:spLocks noGrp="1"/>
          </p:cNvSpPr>
          <p:nvPr>
            <p:ph idx="1"/>
          </p:nvPr>
        </p:nvSpPr>
        <p:spPr/>
        <p:txBody>
          <a:bodyPr/>
          <a:lstStyle/>
          <a:p>
            <a:r>
              <a:rPr lang="en-GB" dirty="0"/>
              <a:t>Manmade Control System</a:t>
            </a:r>
          </a:p>
          <a:p>
            <a:pPr lvl="1"/>
            <a:r>
              <a:rPr lang="en-GB" dirty="0"/>
              <a:t>Aeroplanes </a:t>
            </a:r>
          </a:p>
          <a:p>
            <a:pPr lvl="1"/>
            <a:r>
              <a:rPr lang="en-GB" dirty="0"/>
              <a:t>Chemical Process</a:t>
            </a:r>
          </a:p>
        </p:txBody>
      </p:sp>
      <p:pic>
        <p:nvPicPr>
          <p:cNvPr id="6148" name="Picture 4" descr="http://www.fearofflyinghelp.com/photos/Control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5611" y="2028969"/>
            <a:ext cx="4286250" cy="2705100"/>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http://www.auma.com/uploads/media/30102003145846_1/news/pid_regler_en.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6777" y="3381519"/>
            <a:ext cx="3233936" cy="347648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7A0D5CAB-8BF0-4EA3-BAE4-9835C852A49B}" type="slidenum">
              <a:rPr lang="en-GB" smtClean="0"/>
              <a:pPr/>
              <a:t>12</a:t>
            </a:fld>
            <a:endParaRPr lang="en-GB"/>
          </a:p>
        </p:txBody>
      </p:sp>
    </p:spTree>
    <p:extLst>
      <p:ext uri="{BB962C8B-B14F-4D97-AF65-F5344CB8AC3E}">
        <p14:creationId xmlns:p14="http://schemas.microsoft.com/office/powerpoint/2010/main" val="2036582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2D31ACF9-B433-DE83-62F7-B5017D6EB011}"/>
              </a:ext>
            </a:extLst>
          </p:cNvPr>
          <p:cNvSpPr>
            <a:spLocks noGrp="1"/>
          </p:cNvSpPr>
          <p:nvPr>
            <p:ph type="ftr" sz="quarter" idx="10"/>
          </p:nvPr>
        </p:nvSpPr>
        <p:spPr/>
        <p:txBody>
          <a:bodyPr/>
          <a:lstStyle/>
          <a:p>
            <a:r>
              <a:rPr lang="en-US" altLang="en-US"/>
              <a:t>Control Systems Engineering, Fourth Edition </a:t>
            </a:r>
            <a:r>
              <a:rPr lang="en-US" altLang="en-US" i="0"/>
              <a:t>by Norman S. Nise</a:t>
            </a:r>
          </a:p>
          <a:p>
            <a:r>
              <a:rPr lang="en-US" altLang="en-US" i="0"/>
              <a:t>Copyright © 2004 by John Wiley &amp; Sons. All rights reserved.</a:t>
            </a:r>
          </a:p>
        </p:txBody>
      </p:sp>
      <p:sp>
        <p:nvSpPr>
          <p:cNvPr id="691202" name="Rectangle 2">
            <a:extLst>
              <a:ext uri="{FF2B5EF4-FFF2-40B4-BE49-F238E27FC236}">
                <a16:creationId xmlns:a16="http://schemas.microsoft.com/office/drawing/2014/main" id="{7EA1973E-9C40-3A33-5B79-81A00496BC2F}"/>
              </a:ext>
            </a:extLst>
          </p:cNvPr>
          <p:cNvSpPr>
            <a:spLocks noChangeArrowheads="1"/>
          </p:cNvSpPr>
          <p:nvPr/>
        </p:nvSpPr>
        <p:spPr bwMode="auto">
          <a:xfrm>
            <a:off x="304800" y="1295400"/>
            <a:ext cx="2667000" cy="531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1800" b="1" i="0" dirty="0">
                <a:latin typeface="Arial" panose="020B0604020202020204" pitchFamily="34" charset="0"/>
              </a:rPr>
              <a:t>a.</a:t>
            </a:r>
            <a:r>
              <a:rPr lang="en-US" altLang="en-US" sz="1800" i="0" dirty="0">
                <a:latin typeface="Arial" panose="020B0604020202020204" pitchFamily="34" charset="0"/>
              </a:rPr>
              <a:t> Early elevators were controlled by hand ropes or an elevator operator. Here, a rope is cut to demonstrate the safety brake, an innovation in early</a:t>
            </a:r>
          </a:p>
          <a:p>
            <a:pPr eaLnBrk="0" hangingPunct="0"/>
            <a:r>
              <a:rPr lang="en-US" altLang="en-US" sz="1800" i="0" dirty="0">
                <a:latin typeface="Arial" panose="020B0604020202020204" pitchFamily="34" charset="0"/>
              </a:rPr>
              <a:t>elevators;</a:t>
            </a:r>
          </a:p>
          <a:p>
            <a:pPr eaLnBrk="0" hangingPunct="0"/>
            <a:r>
              <a:rPr lang="en-US" altLang="en-US" sz="1800" b="1" i="0" dirty="0">
                <a:latin typeface="Arial" panose="020B0604020202020204" pitchFamily="34" charset="0"/>
              </a:rPr>
              <a:t>b.</a:t>
            </a:r>
            <a:r>
              <a:rPr lang="en-US" altLang="en-US" sz="1800" i="0" dirty="0">
                <a:latin typeface="Arial" panose="020B0604020202020204" pitchFamily="34" charset="0"/>
              </a:rPr>
              <a:t> Modern Duo-lift elevators make their way up the Grande Arche in Paris, driven by one motor, with each car counterbalancing the other. Today, elevators are fully automatic, using control systems to regulate position and velocity.</a:t>
            </a:r>
            <a:endParaRPr lang="en-US" altLang="en-US" sz="2000" i="0" dirty="0">
              <a:latin typeface="Arial" panose="020B0604020202020204" pitchFamily="34" charset="0"/>
            </a:endParaRPr>
          </a:p>
        </p:txBody>
      </p:sp>
      <p:pic>
        <p:nvPicPr>
          <p:cNvPr id="691203" name="Picture 3">
            <a:extLst>
              <a:ext uri="{FF2B5EF4-FFF2-40B4-BE49-F238E27FC236}">
                <a16:creationId xmlns:a16="http://schemas.microsoft.com/office/drawing/2014/main" id="{572C020D-B820-FDA4-A769-C40240EF3E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1066800"/>
            <a:ext cx="5853113" cy="481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91204" name="Rectangle 4">
            <a:extLst>
              <a:ext uri="{FF2B5EF4-FFF2-40B4-BE49-F238E27FC236}">
                <a16:creationId xmlns:a16="http://schemas.microsoft.com/office/drawing/2014/main" id="{E0B8646C-272D-AC3C-2F44-D6EA23DE0ABE}"/>
              </a:ext>
            </a:extLst>
          </p:cNvPr>
          <p:cNvSpPr>
            <a:spLocks noGrp="1" noChangeArrowheads="1"/>
          </p:cNvSpPr>
          <p:nvPr>
            <p:ph type="title"/>
          </p:nvPr>
        </p:nvSpPr>
        <p:spPr>
          <a:xfrm>
            <a:off x="304800" y="533400"/>
            <a:ext cx="3200400" cy="685800"/>
          </a:xfrm>
        </p:spPr>
        <p:txBody>
          <a:bodyPr>
            <a:normAutofit fontScale="90000"/>
          </a:bodyPr>
          <a:lstStyle/>
          <a:p>
            <a:br>
              <a:rPr lang="en-US" altLang="en-US" b="1" dirty="0"/>
            </a:br>
            <a:r>
              <a:rPr lang="en-US" altLang="en-US" dirty="0"/>
              <a:t>Elevators</a:t>
            </a:r>
            <a:endParaRPr lang="en-US" altLang="en-US" b="1" dirty="0"/>
          </a:p>
        </p:txBody>
      </p:sp>
      <p:sp>
        <p:nvSpPr>
          <p:cNvPr id="691205" name="Text Box 5">
            <a:extLst>
              <a:ext uri="{FF2B5EF4-FFF2-40B4-BE49-F238E27FC236}">
                <a16:creationId xmlns:a16="http://schemas.microsoft.com/office/drawing/2014/main" id="{2FE349CC-BD01-5109-E54D-69F7A9FD9774}"/>
              </a:ext>
            </a:extLst>
          </p:cNvPr>
          <p:cNvSpPr txBox="1">
            <a:spLocks noChangeArrowheads="1"/>
          </p:cNvSpPr>
          <p:nvPr/>
        </p:nvSpPr>
        <p:spPr bwMode="auto">
          <a:xfrm>
            <a:off x="6324600" y="533400"/>
            <a:ext cx="24384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400" i="0">
                <a:latin typeface="Arial" panose="020B0604020202020204" pitchFamily="34" charset="0"/>
              </a:rPr>
              <a:t>Photos courtesy of United Technologies Otis Elevator.</a:t>
            </a:r>
            <a:endParaRPr lang="en-US" altLang="en-US" i="0">
              <a:effectLst>
                <a:outerShdw blurRad="38100" dist="38100" dir="2700000" algn="tl">
                  <a:srgbClr val="C0C0C0"/>
                </a:outerShdw>
              </a:effectL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81232846-8A58-6D7B-8B5E-62D1BAF82A09}"/>
              </a:ext>
            </a:extLst>
          </p:cNvPr>
          <p:cNvSpPr>
            <a:spLocks noGrp="1"/>
          </p:cNvSpPr>
          <p:nvPr>
            <p:ph type="ftr" sz="quarter" idx="10"/>
          </p:nvPr>
        </p:nvSpPr>
        <p:spPr/>
        <p:txBody>
          <a:bodyPr/>
          <a:lstStyle/>
          <a:p>
            <a:r>
              <a:rPr lang="en-US" altLang="en-US"/>
              <a:t>Control Systems Engineering, Fourth Edition </a:t>
            </a:r>
            <a:r>
              <a:rPr lang="en-US" altLang="en-US" i="0"/>
              <a:t>by Norman S. Nise</a:t>
            </a:r>
          </a:p>
          <a:p>
            <a:r>
              <a:rPr lang="en-US" altLang="en-US" i="0"/>
              <a:t>Copyright © 2004 by John Wiley &amp; Sons. All rights reserved.</a:t>
            </a:r>
          </a:p>
        </p:txBody>
      </p:sp>
      <p:pic>
        <p:nvPicPr>
          <p:cNvPr id="694274" name="Picture 2">
            <a:extLst>
              <a:ext uri="{FF2B5EF4-FFF2-40B4-BE49-F238E27FC236}">
                <a16:creationId xmlns:a16="http://schemas.microsoft.com/office/drawing/2014/main" id="{FFBFB29F-1F01-88CF-1AAA-D8A2BFE764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438400"/>
            <a:ext cx="78867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94275" name="Rectangle 3">
            <a:extLst>
              <a:ext uri="{FF2B5EF4-FFF2-40B4-BE49-F238E27FC236}">
                <a16:creationId xmlns:a16="http://schemas.microsoft.com/office/drawing/2014/main" id="{9049EB9D-627C-4DC7-B375-63D05D04651B}"/>
              </a:ext>
            </a:extLst>
          </p:cNvPr>
          <p:cNvSpPr>
            <a:spLocks noGrp="1" noChangeArrowheads="1"/>
          </p:cNvSpPr>
          <p:nvPr>
            <p:ph type="title"/>
          </p:nvPr>
        </p:nvSpPr>
        <p:spPr/>
        <p:txBody>
          <a:bodyPr>
            <a:normAutofit fontScale="90000"/>
          </a:bodyPr>
          <a:lstStyle/>
          <a:p>
            <a:br>
              <a:rPr lang="en-US" altLang="en-US" b="1" dirty="0"/>
            </a:br>
            <a:r>
              <a:rPr lang="en-US" altLang="en-US" dirty="0"/>
              <a:t>Elevator input and output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Control System </a:t>
            </a:r>
          </a:p>
        </p:txBody>
      </p:sp>
      <p:sp>
        <p:nvSpPr>
          <p:cNvPr id="3" name="Content Placeholder 2"/>
          <p:cNvSpPr>
            <a:spLocks noGrp="1"/>
          </p:cNvSpPr>
          <p:nvPr>
            <p:ph idx="1"/>
          </p:nvPr>
        </p:nvSpPr>
        <p:spPr/>
        <p:txBody>
          <a:bodyPr/>
          <a:lstStyle/>
          <a:p>
            <a:r>
              <a:rPr lang="en-GB" dirty="0"/>
              <a:t>Manual Control Systems</a:t>
            </a:r>
          </a:p>
          <a:p>
            <a:pPr lvl="1"/>
            <a:r>
              <a:rPr lang="en-GB" dirty="0"/>
              <a:t>Room Temperature regulation Via Electric Fan</a:t>
            </a:r>
          </a:p>
          <a:p>
            <a:pPr lvl="1"/>
            <a:r>
              <a:rPr lang="en-GB" dirty="0"/>
              <a:t>Water Level Control</a:t>
            </a:r>
          </a:p>
          <a:p>
            <a:endParaRPr lang="en-GB" dirty="0"/>
          </a:p>
          <a:p>
            <a:endParaRPr lang="en-GB" sz="1000" dirty="0"/>
          </a:p>
          <a:p>
            <a:r>
              <a:rPr lang="en-GB" dirty="0"/>
              <a:t>Automatic Control System</a:t>
            </a:r>
          </a:p>
          <a:p>
            <a:pPr lvl="1"/>
            <a:r>
              <a:rPr lang="en-GB" dirty="0"/>
              <a:t>Home Water Heating Systems (Geysers)</a:t>
            </a:r>
          </a:p>
          <a:p>
            <a:pPr lvl="1"/>
            <a:r>
              <a:rPr lang="en-GB" dirty="0"/>
              <a:t>Room Temperature regulation Via A.C</a:t>
            </a:r>
          </a:p>
          <a:p>
            <a:pPr lvl="1"/>
            <a:r>
              <a:rPr lang="en-GB" dirty="0"/>
              <a:t>Human Body Temperature Control</a:t>
            </a:r>
          </a:p>
        </p:txBody>
      </p:sp>
      <p:pic>
        <p:nvPicPr>
          <p:cNvPr id="4" name="Picture 2"/>
          <p:cNvPicPr>
            <a:picLocks noChangeAspect="1" noChangeArrowheads="1"/>
          </p:cNvPicPr>
          <p:nvPr/>
        </p:nvPicPr>
        <p:blipFill>
          <a:blip r:embed="rId2" cstate="print"/>
          <a:srcRect l="9787" r="21700" b="19141"/>
          <a:stretch>
            <a:fillRect/>
          </a:stretch>
        </p:blipFill>
        <p:spPr bwMode="auto">
          <a:xfrm>
            <a:off x="4716016" y="2636912"/>
            <a:ext cx="1728192" cy="1399012"/>
          </a:xfrm>
          <a:prstGeom prst="rect">
            <a:avLst/>
          </a:prstGeom>
          <a:noFill/>
          <a:ln w="9525">
            <a:noFill/>
            <a:miter lim="800000"/>
            <a:headEnd/>
            <a:tailEnd/>
          </a:ln>
          <a:effectLst/>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64288" y="4365104"/>
            <a:ext cx="1713206" cy="1978253"/>
          </a:xfrm>
          <a:prstGeom prst="rect">
            <a:avLst/>
          </a:prstGeom>
        </p:spPr>
      </p:pic>
      <p:sp>
        <p:nvSpPr>
          <p:cNvPr id="6" name="Slide Number Placeholder 5"/>
          <p:cNvSpPr>
            <a:spLocks noGrp="1"/>
          </p:cNvSpPr>
          <p:nvPr>
            <p:ph type="sldNum" sz="quarter" idx="12"/>
          </p:nvPr>
        </p:nvSpPr>
        <p:spPr/>
        <p:txBody>
          <a:bodyPr/>
          <a:lstStyle/>
          <a:p>
            <a:fld id="{7A0D5CAB-8BF0-4EA3-BAE4-9835C852A49B}" type="slidenum">
              <a:rPr lang="en-GB" smtClean="0"/>
              <a:pPr/>
              <a:t>15</a:t>
            </a:fld>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 name="Text Box 10"/>
          <p:cNvSpPr txBox="1">
            <a:spLocks noChangeArrowheads="1"/>
          </p:cNvSpPr>
          <p:nvPr/>
        </p:nvSpPr>
        <p:spPr bwMode="auto">
          <a:xfrm>
            <a:off x="251520" y="1507431"/>
            <a:ext cx="8352928" cy="1754326"/>
          </a:xfrm>
          <a:prstGeom prst="rect">
            <a:avLst/>
          </a:prstGeom>
          <a:noFill/>
          <a:ln w="9525">
            <a:noFill/>
            <a:miter lim="800000"/>
            <a:headEnd/>
            <a:tailEnd/>
          </a:ln>
          <a:effectLst/>
        </p:spPr>
        <p:txBody>
          <a:bodyPr wrap="square">
            <a:spAutoFit/>
          </a:bodyPr>
          <a:lstStyle/>
          <a:p>
            <a:pPr algn="just">
              <a:spcBef>
                <a:spcPts val="600"/>
              </a:spcBef>
              <a:spcAft>
                <a:spcPts val="600"/>
              </a:spcAft>
            </a:pPr>
            <a:r>
              <a:rPr lang="en-US" sz="2200" b="1" dirty="0"/>
              <a:t>Open-Loop Control Systems</a:t>
            </a:r>
            <a:r>
              <a:rPr lang="en-US" sz="2200" dirty="0"/>
              <a:t> utilize a controller or control actuator to obtain the desired response.</a:t>
            </a:r>
          </a:p>
          <a:p>
            <a:pPr marL="717550" algn="just">
              <a:spcBef>
                <a:spcPts val="600"/>
              </a:spcBef>
              <a:spcAft>
                <a:spcPts val="600"/>
              </a:spcAft>
              <a:buFont typeface="Arial" pitchFamily="34" charset="0"/>
              <a:buChar char="•"/>
            </a:pPr>
            <a:r>
              <a:rPr lang="en-US" sz="2200" dirty="0"/>
              <a:t>	Output has no effect on the control action.</a:t>
            </a:r>
          </a:p>
          <a:p>
            <a:pPr marL="717550" algn="just">
              <a:spcBef>
                <a:spcPts val="600"/>
              </a:spcBef>
              <a:spcAft>
                <a:spcPts val="600"/>
              </a:spcAft>
              <a:buFont typeface="Arial" pitchFamily="34" charset="0"/>
              <a:buChar char="•"/>
            </a:pPr>
            <a:r>
              <a:rPr lang="en-US" sz="2200" dirty="0"/>
              <a:t>  In other words output is neither measured nor fed back.</a:t>
            </a:r>
          </a:p>
        </p:txBody>
      </p:sp>
      <p:grpSp>
        <p:nvGrpSpPr>
          <p:cNvPr id="21" name="Group 20"/>
          <p:cNvGrpSpPr/>
          <p:nvPr/>
        </p:nvGrpSpPr>
        <p:grpSpPr>
          <a:xfrm>
            <a:off x="2195736" y="3567460"/>
            <a:ext cx="5005283" cy="1884090"/>
            <a:chOff x="4895309" y="1124744"/>
            <a:chExt cx="4141187" cy="1452042"/>
          </a:xfrm>
        </p:grpSpPr>
        <p:pic>
          <p:nvPicPr>
            <p:cNvPr id="4104" name="Picture 8"/>
            <p:cNvPicPr>
              <a:picLocks noChangeAspect="1" noChangeArrowheads="1"/>
            </p:cNvPicPr>
            <p:nvPr/>
          </p:nvPicPr>
          <p:blipFill>
            <a:blip r:embed="rId2" cstate="print"/>
            <a:srcRect/>
            <a:stretch>
              <a:fillRect/>
            </a:stretch>
          </p:blipFill>
          <p:spPr bwMode="auto">
            <a:xfrm>
              <a:off x="5150296" y="2060848"/>
              <a:ext cx="3886200" cy="515938"/>
            </a:xfrm>
            <a:prstGeom prst="rect">
              <a:avLst/>
            </a:prstGeom>
            <a:noFill/>
            <a:ln w="9525">
              <a:noFill/>
              <a:miter lim="800000"/>
              <a:headEnd/>
              <a:tailEnd/>
            </a:ln>
            <a:effectLst/>
          </p:spPr>
        </p:pic>
        <p:grpSp>
          <p:nvGrpSpPr>
            <p:cNvPr id="20" name="Group 19"/>
            <p:cNvGrpSpPr/>
            <p:nvPr/>
          </p:nvGrpSpPr>
          <p:grpSpPr>
            <a:xfrm>
              <a:off x="4895309" y="1124744"/>
              <a:ext cx="4136147" cy="864096"/>
              <a:chOff x="4895309" y="1124744"/>
              <a:chExt cx="4136147" cy="864096"/>
            </a:xfrm>
          </p:grpSpPr>
          <p:sp>
            <p:nvSpPr>
              <p:cNvPr id="13" name="Rectangle 12"/>
              <p:cNvSpPr/>
              <p:nvPr/>
            </p:nvSpPr>
            <p:spPr>
              <a:xfrm>
                <a:off x="5652120" y="1124744"/>
                <a:ext cx="1080120" cy="8640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b="1" dirty="0"/>
                  <a:t>Controller</a:t>
                </a:r>
              </a:p>
            </p:txBody>
          </p:sp>
          <p:cxnSp>
            <p:nvCxnSpPr>
              <p:cNvPr id="14" name="Straight Arrow Connector 13"/>
              <p:cNvCxnSpPr/>
              <p:nvPr/>
            </p:nvCxnSpPr>
            <p:spPr>
              <a:xfrm>
                <a:off x="5026052" y="1556792"/>
                <a:ext cx="612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8028384" y="1556792"/>
                <a:ext cx="576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8175131" y="1198420"/>
                <a:ext cx="856325" cy="369332"/>
              </a:xfrm>
              <a:prstGeom prst="rect">
                <a:avLst/>
              </a:prstGeom>
              <a:noFill/>
            </p:spPr>
            <p:txBody>
              <a:bodyPr wrap="none" rtlCol="0">
                <a:spAutoFit/>
              </a:bodyPr>
              <a:lstStyle/>
              <a:p>
                <a:r>
                  <a:rPr lang="en-GB" dirty="0"/>
                  <a:t>Output</a:t>
                </a:r>
              </a:p>
            </p:txBody>
          </p:sp>
          <p:sp>
            <p:nvSpPr>
              <p:cNvPr id="17" name="TextBox 16"/>
              <p:cNvSpPr txBox="1"/>
              <p:nvPr/>
            </p:nvSpPr>
            <p:spPr>
              <a:xfrm>
                <a:off x="4895309" y="1196752"/>
                <a:ext cx="684803" cy="369332"/>
              </a:xfrm>
              <a:prstGeom prst="rect">
                <a:avLst/>
              </a:prstGeom>
              <a:noFill/>
            </p:spPr>
            <p:txBody>
              <a:bodyPr wrap="none" rtlCol="0">
                <a:spAutoFit/>
              </a:bodyPr>
              <a:lstStyle/>
              <a:p>
                <a:r>
                  <a:rPr lang="en-GB" dirty="0"/>
                  <a:t>Input</a:t>
                </a:r>
              </a:p>
            </p:txBody>
          </p:sp>
          <p:sp>
            <p:nvSpPr>
              <p:cNvPr id="18" name="Rectangle 17"/>
              <p:cNvSpPr/>
              <p:nvPr/>
            </p:nvSpPr>
            <p:spPr>
              <a:xfrm>
                <a:off x="7092280" y="1124744"/>
                <a:ext cx="1008112" cy="8640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sz="2000" b="1" dirty="0"/>
                  <a:t>Process</a:t>
                </a:r>
              </a:p>
            </p:txBody>
          </p:sp>
          <p:cxnSp>
            <p:nvCxnSpPr>
              <p:cNvPr id="19" name="Straight Arrow Connector 18"/>
              <p:cNvCxnSpPr/>
              <p:nvPr/>
            </p:nvCxnSpPr>
            <p:spPr>
              <a:xfrm>
                <a:off x="6718212" y="1556792"/>
                <a:ext cx="360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sp>
        <p:nvSpPr>
          <p:cNvPr id="41" name="Text Box 10"/>
          <p:cNvSpPr txBox="1">
            <a:spLocks noChangeArrowheads="1"/>
          </p:cNvSpPr>
          <p:nvPr/>
        </p:nvSpPr>
        <p:spPr bwMode="auto">
          <a:xfrm>
            <a:off x="323528" y="5878433"/>
            <a:ext cx="8352928" cy="769441"/>
          </a:xfrm>
          <a:prstGeom prst="rect">
            <a:avLst/>
          </a:prstGeom>
          <a:noFill/>
          <a:ln w="9525">
            <a:noFill/>
            <a:miter lim="800000"/>
            <a:headEnd/>
            <a:tailEnd/>
          </a:ln>
          <a:effectLst/>
        </p:spPr>
        <p:txBody>
          <a:bodyPr wrap="square">
            <a:spAutoFit/>
          </a:bodyPr>
          <a:lstStyle/>
          <a:p>
            <a:pPr algn="just"/>
            <a:r>
              <a:rPr lang="en-US" sz="2200" b="1" dirty="0">
                <a:solidFill>
                  <a:srgbClr val="FF0000"/>
                </a:solidFill>
              </a:rPr>
              <a:t>Examples:- </a:t>
            </a:r>
            <a:r>
              <a:rPr lang="en-US" sz="2200" b="1" dirty="0"/>
              <a:t>Washing Machine, Toaster, Electric Fan, microwave oven, 	        </a:t>
            </a:r>
            <a:r>
              <a:rPr lang="en-US" sz="2200" b="1" dirty="0" err="1"/>
              <a:t>e.t.c</a:t>
            </a:r>
            <a:endParaRPr lang="en-US" sz="2200" dirty="0"/>
          </a:p>
        </p:txBody>
      </p:sp>
      <p:sp>
        <p:nvSpPr>
          <p:cNvPr id="2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4400" b="0" i="0" u="none" strike="noStrike" kern="1200" cap="none" spc="0" normalizeH="0" baseline="0" noProof="0">
                <a:ln>
                  <a:noFill/>
                </a:ln>
                <a:solidFill>
                  <a:schemeClr val="tx1"/>
                </a:solidFill>
                <a:effectLst/>
                <a:uLnTx/>
                <a:uFillTx/>
                <a:latin typeface="+mj-lt"/>
                <a:ea typeface="+mj-ea"/>
                <a:cs typeface="+mj-cs"/>
              </a:rPr>
              <a:t>Types of Control System </a:t>
            </a:r>
            <a:endParaRPr kumimoji="0" lang="en-GB"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23" name="Text Box 10"/>
          <p:cNvSpPr txBox="1">
            <a:spLocks noChangeArrowheads="1"/>
          </p:cNvSpPr>
          <p:nvPr/>
        </p:nvSpPr>
        <p:spPr bwMode="auto">
          <a:xfrm>
            <a:off x="2627784" y="980728"/>
            <a:ext cx="3528392" cy="430887"/>
          </a:xfrm>
          <a:prstGeom prst="rect">
            <a:avLst/>
          </a:prstGeom>
          <a:noFill/>
          <a:ln w="9525">
            <a:noFill/>
            <a:miter lim="800000"/>
            <a:headEnd/>
            <a:tailEnd/>
          </a:ln>
          <a:effectLst/>
        </p:spPr>
        <p:txBody>
          <a:bodyPr wrap="square">
            <a:spAutoFit/>
          </a:bodyPr>
          <a:lstStyle/>
          <a:p>
            <a:pPr algn="just">
              <a:spcBef>
                <a:spcPts val="600"/>
              </a:spcBef>
              <a:spcAft>
                <a:spcPts val="600"/>
              </a:spcAft>
            </a:pPr>
            <a:r>
              <a:rPr lang="en-US" sz="2200" b="1" dirty="0"/>
              <a:t>Open-Loop Control Systems</a:t>
            </a:r>
            <a:endParaRPr lang="en-US" sz="2200" dirty="0"/>
          </a:p>
        </p:txBody>
      </p:sp>
      <p:sp>
        <p:nvSpPr>
          <p:cNvPr id="2" name="Slide Number Placeholder 1"/>
          <p:cNvSpPr>
            <a:spLocks noGrp="1"/>
          </p:cNvSpPr>
          <p:nvPr>
            <p:ph type="sldNum" sz="quarter" idx="12"/>
          </p:nvPr>
        </p:nvSpPr>
        <p:spPr/>
        <p:txBody>
          <a:bodyPr/>
          <a:lstStyle/>
          <a:p>
            <a:fld id="{7A0D5CAB-8BF0-4EA3-BAE4-9835C852A49B}" type="slidenum">
              <a:rPr lang="en-GB" smtClean="0"/>
              <a:pPr/>
              <a:t>16</a:t>
            </a:fld>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 name="Text Box 10"/>
          <p:cNvSpPr txBox="1">
            <a:spLocks noChangeArrowheads="1"/>
          </p:cNvSpPr>
          <p:nvPr/>
        </p:nvSpPr>
        <p:spPr bwMode="auto">
          <a:xfrm>
            <a:off x="2627784" y="980728"/>
            <a:ext cx="3528392" cy="430887"/>
          </a:xfrm>
          <a:prstGeom prst="rect">
            <a:avLst/>
          </a:prstGeom>
          <a:noFill/>
          <a:ln w="9525">
            <a:noFill/>
            <a:miter lim="800000"/>
            <a:headEnd/>
            <a:tailEnd/>
          </a:ln>
          <a:effectLst/>
        </p:spPr>
        <p:txBody>
          <a:bodyPr wrap="square">
            <a:spAutoFit/>
          </a:bodyPr>
          <a:lstStyle/>
          <a:p>
            <a:pPr algn="just">
              <a:spcBef>
                <a:spcPts val="600"/>
              </a:spcBef>
              <a:spcAft>
                <a:spcPts val="600"/>
              </a:spcAft>
            </a:pPr>
            <a:r>
              <a:rPr lang="en-US" sz="2200" b="1" dirty="0"/>
              <a:t>Open-Loop Control Systems</a:t>
            </a:r>
            <a:endParaRPr lang="en-US" sz="2200" dirty="0"/>
          </a:p>
        </p:txBody>
      </p:sp>
      <p:sp>
        <p:nvSpPr>
          <p:cNvPr id="2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4400" b="0" i="0" u="none" strike="noStrike" kern="1200" cap="none" spc="0" normalizeH="0" baseline="0" noProof="0">
                <a:ln>
                  <a:noFill/>
                </a:ln>
                <a:solidFill>
                  <a:schemeClr val="tx1"/>
                </a:solidFill>
                <a:effectLst/>
                <a:uLnTx/>
                <a:uFillTx/>
                <a:latin typeface="+mj-lt"/>
                <a:ea typeface="+mj-ea"/>
                <a:cs typeface="+mj-cs"/>
              </a:rPr>
              <a:t>Types of Control System </a:t>
            </a:r>
            <a:endParaRPr kumimoji="0" lang="en-GB"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21" name="Rectangle 20"/>
          <p:cNvSpPr/>
          <p:nvPr/>
        </p:nvSpPr>
        <p:spPr>
          <a:xfrm>
            <a:off x="251520" y="1844824"/>
            <a:ext cx="8640960" cy="2985433"/>
          </a:xfrm>
          <a:prstGeom prst="rect">
            <a:avLst/>
          </a:prstGeom>
        </p:spPr>
        <p:txBody>
          <a:bodyPr wrap="square">
            <a:spAutoFit/>
          </a:bodyPr>
          <a:lstStyle/>
          <a:p>
            <a:pPr marL="365125" indent="-365125" algn="just">
              <a:spcBef>
                <a:spcPts val="1200"/>
              </a:spcBef>
              <a:spcAft>
                <a:spcPts val="1200"/>
              </a:spcAft>
              <a:buFont typeface="Arial" pitchFamily="34" charset="0"/>
              <a:buChar char="•"/>
            </a:pPr>
            <a:r>
              <a:rPr lang="en-US" sz="2400" dirty="0"/>
              <a:t>Since in open loop control systems reference input is not compared with measured output, for each reference input there is fixed operating condition. Therefore, the accuracy of the system depends on calibration.</a:t>
            </a:r>
          </a:p>
          <a:p>
            <a:pPr marL="365125" indent="-365125" algn="just">
              <a:spcBef>
                <a:spcPts val="1200"/>
              </a:spcBef>
              <a:spcAft>
                <a:spcPts val="1200"/>
              </a:spcAft>
              <a:buFont typeface="Arial" pitchFamily="34" charset="0"/>
              <a:buChar char="•"/>
            </a:pPr>
            <a:r>
              <a:rPr lang="en-US" sz="2400" dirty="0"/>
              <a:t>The performance of open loop system is severely affected by the presence of disturbances, or variation in operating/ environmental  conditions.  </a:t>
            </a:r>
          </a:p>
        </p:txBody>
      </p:sp>
      <p:sp>
        <p:nvSpPr>
          <p:cNvPr id="2" name="Slide Number Placeholder 1"/>
          <p:cNvSpPr>
            <a:spLocks noGrp="1"/>
          </p:cNvSpPr>
          <p:nvPr>
            <p:ph type="sldNum" sz="quarter" idx="12"/>
          </p:nvPr>
        </p:nvSpPr>
        <p:spPr/>
        <p:txBody>
          <a:bodyPr/>
          <a:lstStyle/>
          <a:p>
            <a:fld id="{7A0D5CAB-8BF0-4EA3-BAE4-9835C852A49B}" type="slidenum">
              <a:rPr lang="en-GB" smtClean="0"/>
              <a:pPr/>
              <a:t>17</a:t>
            </a:fld>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1" end="1"/>
                                            </p:txEl>
                                          </p:spTgt>
                                        </p:tgtEl>
                                        <p:attrNameLst>
                                          <p:attrName>style.visibility</p:attrName>
                                        </p:attrNameLst>
                                      </p:cBhvr>
                                      <p:to>
                                        <p:strVal val="visible"/>
                                      </p:to>
                                    </p:set>
                                    <p:animEffect transition="in" filter="fade">
                                      <p:cBhvr>
                                        <p:cTn id="7" dur="500"/>
                                        <p:tgtEl>
                                          <p:spTgt spid="2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7" name="Text Box 11"/>
          <p:cNvSpPr txBox="1">
            <a:spLocks noChangeArrowheads="1"/>
          </p:cNvSpPr>
          <p:nvPr/>
        </p:nvSpPr>
        <p:spPr bwMode="auto">
          <a:xfrm>
            <a:off x="323528" y="1579439"/>
            <a:ext cx="8352928" cy="769441"/>
          </a:xfrm>
          <a:prstGeom prst="rect">
            <a:avLst/>
          </a:prstGeom>
          <a:noFill/>
          <a:ln w="9525">
            <a:noFill/>
            <a:miter lim="800000"/>
            <a:headEnd/>
            <a:tailEnd/>
          </a:ln>
          <a:effectLst/>
        </p:spPr>
        <p:txBody>
          <a:bodyPr wrap="square">
            <a:spAutoFit/>
          </a:bodyPr>
          <a:lstStyle/>
          <a:p>
            <a:pPr algn="just"/>
            <a:r>
              <a:rPr lang="en-US" sz="2200" b="1" dirty="0"/>
              <a:t>Closed-Loop Control Systems</a:t>
            </a:r>
            <a:r>
              <a:rPr lang="en-US" sz="2200" dirty="0"/>
              <a:t> utilizes feedback to compare the actual output to the desired output response.</a:t>
            </a:r>
          </a:p>
        </p:txBody>
      </p:sp>
      <p:sp>
        <p:nvSpPr>
          <p:cNvPr id="33" name="Text Box 10"/>
          <p:cNvSpPr txBox="1">
            <a:spLocks noChangeArrowheads="1"/>
          </p:cNvSpPr>
          <p:nvPr/>
        </p:nvSpPr>
        <p:spPr bwMode="auto">
          <a:xfrm>
            <a:off x="323528" y="5662409"/>
            <a:ext cx="8352928" cy="430887"/>
          </a:xfrm>
          <a:prstGeom prst="rect">
            <a:avLst/>
          </a:prstGeom>
          <a:noFill/>
          <a:ln w="9525">
            <a:noFill/>
            <a:miter lim="800000"/>
            <a:headEnd/>
            <a:tailEnd/>
          </a:ln>
          <a:effectLst/>
        </p:spPr>
        <p:txBody>
          <a:bodyPr wrap="square">
            <a:spAutoFit/>
          </a:bodyPr>
          <a:lstStyle/>
          <a:p>
            <a:pPr algn="just"/>
            <a:r>
              <a:rPr lang="en-US" sz="2200" b="1" dirty="0">
                <a:solidFill>
                  <a:srgbClr val="FF0000"/>
                </a:solidFill>
              </a:rPr>
              <a:t>Examples</a:t>
            </a:r>
            <a:r>
              <a:rPr lang="en-US" sz="2200" b="1" dirty="0"/>
              <a:t>:-  Refrigerator, Electric Iron, Air conditioner  </a:t>
            </a:r>
            <a:endParaRPr lang="en-US" sz="2200" dirty="0"/>
          </a:p>
        </p:txBody>
      </p:sp>
      <p:sp>
        <p:nvSpPr>
          <p:cNvPr id="21" name="Title 1"/>
          <p:cNvSpPr txBox="1">
            <a:spLocks/>
          </p:cNvSpPr>
          <p:nvPr/>
        </p:nvSpPr>
        <p:spPr>
          <a:xfrm>
            <a:off x="457200" y="116632"/>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4400" b="0" i="0" u="none" strike="noStrike" kern="1200" cap="none" spc="0" normalizeH="0" baseline="0" noProof="0" dirty="0">
                <a:ln>
                  <a:noFill/>
                </a:ln>
                <a:solidFill>
                  <a:schemeClr val="tx1"/>
                </a:solidFill>
                <a:effectLst/>
                <a:uLnTx/>
                <a:uFillTx/>
                <a:latin typeface="+mj-lt"/>
                <a:ea typeface="+mj-ea"/>
                <a:cs typeface="+mj-cs"/>
              </a:rPr>
              <a:t>Types of Control System </a:t>
            </a:r>
          </a:p>
        </p:txBody>
      </p:sp>
      <p:sp>
        <p:nvSpPr>
          <p:cNvPr id="31" name="Text Box 10"/>
          <p:cNvSpPr txBox="1">
            <a:spLocks noChangeArrowheads="1"/>
          </p:cNvSpPr>
          <p:nvPr/>
        </p:nvSpPr>
        <p:spPr bwMode="auto">
          <a:xfrm>
            <a:off x="2483768" y="836712"/>
            <a:ext cx="3888432" cy="430887"/>
          </a:xfrm>
          <a:prstGeom prst="rect">
            <a:avLst/>
          </a:prstGeom>
          <a:noFill/>
          <a:ln w="9525">
            <a:noFill/>
            <a:miter lim="800000"/>
            <a:headEnd/>
            <a:tailEnd/>
          </a:ln>
          <a:effectLst/>
        </p:spPr>
        <p:txBody>
          <a:bodyPr wrap="square">
            <a:spAutoFit/>
          </a:bodyPr>
          <a:lstStyle/>
          <a:p>
            <a:pPr algn="just">
              <a:spcBef>
                <a:spcPts val="600"/>
              </a:spcBef>
              <a:spcAft>
                <a:spcPts val="600"/>
              </a:spcAft>
            </a:pPr>
            <a:r>
              <a:rPr lang="en-US" sz="2200" b="1" dirty="0"/>
              <a:t>Closed-Loop Control Systems</a:t>
            </a:r>
            <a:endParaRPr lang="en-US" sz="2200" dirty="0"/>
          </a:p>
        </p:txBody>
      </p:sp>
      <p:grpSp>
        <p:nvGrpSpPr>
          <p:cNvPr id="35" name="Group 39"/>
          <p:cNvGrpSpPr/>
          <p:nvPr/>
        </p:nvGrpSpPr>
        <p:grpSpPr>
          <a:xfrm>
            <a:off x="1691680" y="2708920"/>
            <a:ext cx="5976664" cy="2232248"/>
            <a:chOff x="3635896" y="2924944"/>
            <a:chExt cx="5472608" cy="1944216"/>
          </a:xfrm>
        </p:grpSpPr>
        <p:pic>
          <p:nvPicPr>
            <p:cNvPr id="37" name="Picture 9"/>
            <p:cNvPicPr>
              <a:picLocks noChangeAspect="1" noChangeArrowheads="1"/>
            </p:cNvPicPr>
            <p:nvPr/>
          </p:nvPicPr>
          <p:blipFill>
            <a:blip r:embed="rId2" cstate="print"/>
            <a:srcRect/>
            <a:stretch>
              <a:fillRect/>
            </a:stretch>
          </p:blipFill>
          <p:spPr bwMode="auto">
            <a:xfrm>
              <a:off x="4255472" y="4392910"/>
              <a:ext cx="4648200" cy="476250"/>
            </a:xfrm>
            <a:prstGeom prst="rect">
              <a:avLst/>
            </a:prstGeom>
            <a:noFill/>
            <a:ln w="9525">
              <a:noFill/>
              <a:miter lim="800000"/>
              <a:headEnd/>
              <a:tailEnd/>
            </a:ln>
            <a:effectLst/>
          </p:spPr>
        </p:pic>
        <p:sp>
          <p:nvSpPr>
            <p:cNvPr id="40" name="Rectangle 39"/>
            <p:cNvSpPr/>
            <p:nvPr/>
          </p:nvSpPr>
          <p:spPr>
            <a:xfrm>
              <a:off x="5729168" y="2924944"/>
              <a:ext cx="1080120" cy="8640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sz="1600" b="1" dirty="0"/>
                <a:t>Controller</a:t>
              </a:r>
            </a:p>
          </p:txBody>
        </p:sp>
        <p:cxnSp>
          <p:nvCxnSpPr>
            <p:cNvPr id="41" name="Straight Arrow Connector 40"/>
            <p:cNvCxnSpPr/>
            <p:nvPr/>
          </p:nvCxnSpPr>
          <p:spPr>
            <a:xfrm>
              <a:off x="5439500" y="3356992"/>
              <a:ext cx="288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8105432" y="3356992"/>
              <a:ext cx="576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8252179" y="2998620"/>
              <a:ext cx="856325" cy="369332"/>
            </a:xfrm>
            <a:prstGeom prst="rect">
              <a:avLst/>
            </a:prstGeom>
            <a:noFill/>
          </p:spPr>
          <p:txBody>
            <a:bodyPr wrap="none" rtlCol="0">
              <a:spAutoFit/>
            </a:bodyPr>
            <a:lstStyle/>
            <a:p>
              <a:r>
                <a:rPr lang="en-GB" dirty="0"/>
                <a:t>Output</a:t>
              </a:r>
            </a:p>
          </p:txBody>
        </p:sp>
        <p:sp>
          <p:nvSpPr>
            <p:cNvPr id="44" name="TextBox 43"/>
            <p:cNvSpPr txBox="1"/>
            <p:nvPr/>
          </p:nvSpPr>
          <p:spPr>
            <a:xfrm>
              <a:off x="3635896" y="2987660"/>
              <a:ext cx="684803" cy="369332"/>
            </a:xfrm>
            <a:prstGeom prst="rect">
              <a:avLst/>
            </a:prstGeom>
            <a:noFill/>
          </p:spPr>
          <p:txBody>
            <a:bodyPr wrap="none" rtlCol="0">
              <a:spAutoFit/>
            </a:bodyPr>
            <a:lstStyle/>
            <a:p>
              <a:r>
                <a:rPr lang="en-GB" dirty="0"/>
                <a:t>Input</a:t>
              </a:r>
            </a:p>
          </p:txBody>
        </p:sp>
        <p:sp>
          <p:nvSpPr>
            <p:cNvPr id="45" name="Rectangle 44"/>
            <p:cNvSpPr/>
            <p:nvPr/>
          </p:nvSpPr>
          <p:spPr>
            <a:xfrm>
              <a:off x="7169328" y="2924944"/>
              <a:ext cx="1008112" cy="8640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sz="1600" b="1" dirty="0"/>
                <a:t>Process</a:t>
              </a:r>
            </a:p>
          </p:txBody>
        </p:sp>
        <p:cxnSp>
          <p:nvCxnSpPr>
            <p:cNvPr id="46" name="Straight Arrow Connector 45"/>
            <p:cNvCxnSpPr/>
            <p:nvPr/>
          </p:nvCxnSpPr>
          <p:spPr>
            <a:xfrm>
              <a:off x="6795260" y="3356992"/>
              <a:ext cx="360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4272867" y="3189616"/>
              <a:ext cx="1183209" cy="338554"/>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GB" sz="1600" dirty="0"/>
                <a:t>Comparator</a:t>
              </a:r>
            </a:p>
          </p:txBody>
        </p:sp>
        <p:sp>
          <p:nvSpPr>
            <p:cNvPr id="48" name="TextBox 47"/>
            <p:cNvSpPr txBox="1"/>
            <p:nvPr/>
          </p:nvSpPr>
          <p:spPr>
            <a:xfrm>
              <a:off x="6233224" y="3981704"/>
              <a:ext cx="1566134" cy="369332"/>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GB" dirty="0"/>
                <a:t>Measurement</a:t>
              </a:r>
            </a:p>
          </p:txBody>
        </p:sp>
        <p:cxnSp>
          <p:nvCxnSpPr>
            <p:cNvPr id="49" name="Straight Arrow Connector 48"/>
            <p:cNvCxnSpPr/>
            <p:nvPr/>
          </p:nvCxnSpPr>
          <p:spPr>
            <a:xfrm flipV="1">
              <a:off x="4864472" y="3528170"/>
              <a:ext cx="600" cy="648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4879140" y="4177216"/>
              <a:ext cx="13681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8393464" y="3356992"/>
              <a:ext cx="0" cy="828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H="1" flipV="1">
              <a:off x="7799358" y="4194506"/>
              <a:ext cx="59410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3923928" y="3356992"/>
              <a:ext cx="360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2" name="Slide Number Placeholder 1"/>
          <p:cNvSpPr>
            <a:spLocks noGrp="1"/>
          </p:cNvSpPr>
          <p:nvPr>
            <p:ph type="sldNum" sz="quarter" idx="12"/>
          </p:nvPr>
        </p:nvSpPr>
        <p:spPr/>
        <p:txBody>
          <a:bodyPr/>
          <a:lstStyle/>
          <a:p>
            <a:fld id="{7A0D5CAB-8BF0-4EA3-BAE4-9835C852A49B}" type="slidenum">
              <a:rPr lang="en-GB" smtClean="0"/>
              <a:pPr/>
              <a:t>18</a:t>
            </a:fld>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Text Box 4"/>
          <p:cNvSpPr txBox="1">
            <a:spLocks noChangeArrowheads="1"/>
          </p:cNvSpPr>
          <p:nvPr/>
        </p:nvSpPr>
        <p:spPr bwMode="auto">
          <a:xfrm>
            <a:off x="112325" y="764704"/>
            <a:ext cx="3493777" cy="430887"/>
          </a:xfrm>
          <a:prstGeom prst="rect">
            <a:avLst/>
          </a:prstGeom>
          <a:noFill/>
          <a:ln w="9525">
            <a:noFill/>
            <a:miter lim="800000"/>
            <a:headEnd/>
            <a:tailEnd/>
          </a:ln>
          <a:effectLst/>
        </p:spPr>
        <p:txBody>
          <a:bodyPr wrap="none">
            <a:spAutoFit/>
          </a:bodyPr>
          <a:lstStyle/>
          <a:p>
            <a:r>
              <a:rPr lang="en-US" sz="2200" dirty="0"/>
              <a:t>Multivariable Control System</a:t>
            </a:r>
          </a:p>
        </p:txBody>
      </p:sp>
      <p:sp>
        <p:nvSpPr>
          <p:cNvPr id="5" name="Title 1"/>
          <p:cNvSpPr txBox="1">
            <a:spLocks/>
          </p:cNvSpPr>
          <p:nvPr/>
        </p:nvSpPr>
        <p:spPr>
          <a:xfrm>
            <a:off x="457200" y="-13394"/>
            <a:ext cx="8229600" cy="778098"/>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4400" b="0" i="0" u="none" strike="noStrike" kern="1200" cap="none" spc="0" normalizeH="0" baseline="0" noProof="0" dirty="0">
                <a:ln>
                  <a:noFill/>
                </a:ln>
                <a:solidFill>
                  <a:schemeClr val="tx1"/>
                </a:solidFill>
                <a:effectLst/>
                <a:uLnTx/>
                <a:uFillTx/>
                <a:latin typeface="+mj-lt"/>
                <a:ea typeface="+mj-ea"/>
                <a:cs typeface="+mj-cs"/>
              </a:rPr>
              <a:t>Types of Control System </a:t>
            </a:r>
          </a:p>
        </p:txBody>
      </p:sp>
      <p:grpSp>
        <p:nvGrpSpPr>
          <p:cNvPr id="42" name="Group 41"/>
          <p:cNvGrpSpPr/>
          <p:nvPr/>
        </p:nvGrpSpPr>
        <p:grpSpPr>
          <a:xfrm>
            <a:off x="2235843" y="1511981"/>
            <a:ext cx="6616990" cy="1764092"/>
            <a:chOff x="941796" y="3203684"/>
            <a:chExt cx="6616990" cy="1764092"/>
          </a:xfrm>
        </p:grpSpPr>
        <p:sp>
          <p:nvSpPr>
            <p:cNvPr id="8" name="Rectangle 7"/>
            <p:cNvSpPr/>
            <p:nvPr/>
          </p:nvSpPr>
          <p:spPr>
            <a:xfrm>
              <a:off x="3761729" y="3356992"/>
              <a:ext cx="1179605" cy="99211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sz="1600" b="1" dirty="0"/>
                <a:t>Controller</a:t>
              </a:r>
            </a:p>
          </p:txBody>
        </p:sp>
        <p:cxnSp>
          <p:nvCxnSpPr>
            <p:cNvPr id="9" name="Straight Arrow Connector 8"/>
            <p:cNvCxnSpPr/>
            <p:nvPr/>
          </p:nvCxnSpPr>
          <p:spPr>
            <a:xfrm>
              <a:off x="3445381" y="3853047"/>
              <a:ext cx="31452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6356860" y="3853047"/>
              <a:ext cx="629053"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612693" y="3203684"/>
              <a:ext cx="946093" cy="369332"/>
            </a:xfrm>
            <a:prstGeom prst="rect">
              <a:avLst/>
            </a:prstGeom>
            <a:noFill/>
          </p:spPr>
          <p:txBody>
            <a:bodyPr wrap="none" rtlCol="0">
              <a:spAutoFit/>
            </a:bodyPr>
            <a:lstStyle/>
            <a:p>
              <a:r>
                <a:rPr lang="en-GB" dirty="0"/>
                <a:t>Outputs</a:t>
              </a:r>
            </a:p>
          </p:txBody>
        </p:sp>
        <p:sp>
          <p:nvSpPr>
            <p:cNvPr id="13" name="TextBox 12"/>
            <p:cNvSpPr txBox="1"/>
            <p:nvPr/>
          </p:nvSpPr>
          <p:spPr>
            <a:xfrm>
              <a:off x="1084144" y="3518412"/>
              <a:ext cx="583878" cy="307777"/>
            </a:xfrm>
            <a:prstGeom prst="rect">
              <a:avLst/>
            </a:prstGeom>
            <a:noFill/>
          </p:spPr>
          <p:txBody>
            <a:bodyPr wrap="none" rtlCol="0">
              <a:spAutoFit/>
            </a:bodyPr>
            <a:lstStyle/>
            <a:p>
              <a:r>
                <a:rPr lang="en-GB" sz="1400" dirty="0"/>
                <a:t>Temp</a:t>
              </a:r>
            </a:p>
          </p:txBody>
        </p:sp>
        <p:sp>
          <p:nvSpPr>
            <p:cNvPr id="14" name="Rectangle 13"/>
            <p:cNvSpPr/>
            <p:nvPr/>
          </p:nvSpPr>
          <p:spPr>
            <a:xfrm>
              <a:off x="5334536" y="3356992"/>
              <a:ext cx="1100964" cy="99211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sz="1600" b="1" dirty="0"/>
                <a:t>Process</a:t>
              </a:r>
            </a:p>
          </p:txBody>
        </p:sp>
        <p:cxnSp>
          <p:nvCxnSpPr>
            <p:cNvPr id="15" name="Straight Arrow Connector 14"/>
            <p:cNvCxnSpPr/>
            <p:nvPr/>
          </p:nvCxnSpPr>
          <p:spPr>
            <a:xfrm>
              <a:off x="4926014" y="3838979"/>
              <a:ext cx="39315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171295" y="3660875"/>
              <a:ext cx="1292189" cy="388710"/>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GB" sz="1600" dirty="0"/>
                <a:t>Comparator</a:t>
              </a:r>
            </a:p>
          </p:txBody>
        </p:sp>
        <p:sp>
          <p:nvSpPr>
            <p:cNvPr id="17" name="TextBox 16"/>
            <p:cNvSpPr txBox="1"/>
            <p:nvPr/>
          </p:nvSpPr>
          <p:spPr>
            <a:xfrm>
              <a:off x="4283968" y="4598444"/>
              <a:ext cx="1728192" cy="369332"/>
            </a:xfrm>
            <a:prstGeom prst="rect">
              <a:avLst/>
            </a:prstGeom>
            <a:ln/>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GB" dirty="0"/>
                <a:t>Measurements</a:t>
              </a:r>
            </a:p>
          </p:txBody>
        </p:sp>
        <p:cxnSp>
          <p:nvCxnSpPr>
            <p:cNvPr id="18" name="Straight Arrow Connector 17"/>
            <p:cNvCxnSpPr/>
            <p:nvPr/>
          </p:nvCxnSpPr>
          <p:spPr>
            <a:xfrm flipV="1">
              <a:off x="2831458" y="4049585"/>
              <a:ext cx="655" cy="74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833409" y="4794786"/>
              <a:ext cx="149416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671421" y="3853047"/>
              <a:ext cx="0" cy="9506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flipV="1">
              <a:off x="6022595" y="4814637"/>
              <a:ext cx="6488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1790217" y="3853047"/>
              <a:ext cx="39315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2434168" y="4933118"/>
              <a:ext cx="18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3191492" y="4653136"/>
              <a:ext cx="1116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3189125" y="4077072"/>
              <a:ext cx="655" cy="576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439896" y="4048936"/>
              <a:ext cx="655" cy="900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1773801" y="4005447"/>
              <a:ext cx="39315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1787869" y="3718700"/>
              <a:ext cx="39315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3433940" y="4005447"/>
              <a:ext cx="31452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3457101" y="3732768"/>
              <a:ext cx="31452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927058" y="4103923"/>
              <a:ext cx="39315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4937734" y="3573016"/>
              <a:ext cx="39315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544352" y="4070948"/>
              <a:ext cx="0" cy="61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6823821" y="3659092"/>
              <a:ext cx="0" cy="1296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flipV="1">
              <a:off x="6012160" y="4685677"/>
              <a:ext cx="54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flipV="1">
              <a:off x="6012160" y="4952969"/>
              <a:ext cx="828000" cy="0"/>
            </a:xfrm>
            <a:prstGeom prst="line">
              <a:avLst/>
            </a:prstGeom>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959200" y="3674828"/>
              <a:ext cx="854721" cy="307777"/>
            </a:xfrm>
            <a:prstGeom prst="rect">
              <a:avLst/>
            </a:prstGeom>
            <a:noFill/>
          </p:spPr>
          <p:txBody>
            <a:bodyPr wrap="none" rtlCol="0">
              <a:spAutoFit/>
            </a:bodyPr>
            <a:lstStyle/>
            <a:p>
              <a:r>
                <a:rPr lang="en-GB" sz="1400" dirty="0"/>
                <a:t>Humidity</a:t>
              </a:r>
            </a:p>
          </p:txBody>
        </p:sp>
        <p:sp>
          <p:nvSpPr>
            <p:cNvPr id="39" name="TextBox 38"/>
            <p:cNvSpPr txBox="1"/>
            <p:nvPr/>
          </p:nvSpPr>
          <p:spPr>
            <a:xfrm>
              <a:off x="941796" y="3890852"/>
              <a:ext cx="813108" cy="307777"/>
            </a:xfrm>
            <a:prstGeom prst="rect">
              <a:avLst/>
            </a:prstGeom>
            <a:noFill/>
          </p:spPr>
          <p:txBody>
            <a:bodyPr wrap="none" rtlCol="0">
              <a:spAutoFit/>
            </a:bodyPr>
            <a:lstStyle/>
            <a:p>
              <a:r>
                <a:rPr lang="en-GB" sz="1400" dirty="0"/>
                <a:t>Pressure</a:t>
              </a:r>
            </a:p>
          </p:txBody>
        </p:sp>
        <p:cxnSp>
          <p:nvCxnSpPr>
            <p:cNvPr id="40" name="Straight Arrow Connector 39"/>
            <p:cNvCxnSpPr/>
            <p:nvPr/>
          </p:nvCxnSpPr>
          <p:spPr>
            <a:xfrm>
              <a:off x="6382648" y="3662428"/>
              <a:ext cx="629053"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6372200" y="4077072"/>
              <a:ext cx="629053"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pic>
        <p:nvPicPr>
          <p:cNvPr id="8194" name="Picture 2" descr="http://c3e308.medialib.glogster.com/media/0e/0efe66df65b52a723a0a513fa6c6066ce94bc99e4166cb6ace2ce99215f39bd5/fractioning-column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13" y="2610050"/>
            <a:ext cx="3429000" cy="4076701"/>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7A0D5CAB-8BF0-4EA3-BAE4-9835C852A49B}" type="slidenum">
              <a:rPr lang="en-GB" smtClean="0"/>
              <a:pPr/>
              <a:t>19</a:t>
            </a:fld>
            <a:endParaRPr lang="en-GB"/>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77E71F05-0E65-E3D3-EC68-27262C275D49}"/>
              </a:ext>
            </a:extLst>
          </p:cNvPr>
          <p:cNvSpPr>
            <a:spLocks noGrp="1"/>
          </p:cNvSpPr>
          <p:nvPr>
            <p:ph type="ftr" sz="quarter" idx="10"/>
          </p:nvPr>
        </p:nvSpPr>
        <p:spPr/>
        <p:txBody>
          <a:bodyPr/>
          <a:lstStyle/>
          <a:p>
            <a:r>
              <a:rPr lang="en-US" altLang="en-US"/>
              <a:t>Control Systems Engineering, Fourth Edition </a:t>
            </a:r>
            <a:r>
              <a:rPr lang="en-US" altLang="en-US" i="0"/>
              <a:t>by Norman S. Nise</a:t>
            </a:r>
          </a:p>
          <a:p>
            <a:r>
              <a:rPr lang="en-US" altLang="en-US" i="0"/>
              <a:t>Copyright © 2004 by John Wiley &amp; Sons. All rights reserved.</a:t>
            </a:r>
          </a:p>
        </p:txBody>
      </p:sp>
      <p:sp>
        <p:nvSpPr>
          <p:cNvPr id="695298" name="Rectangle 2">
            <a:extLst>
              <a:ext uri="{FF2B5EF4-FFF2-40B4-BE49-F238E27FC236}">
                <a16:creationId xmlns:a16="http://schemas.microsoft.com/office/drawing/2014/main" id="{6137768C-333B-691A-52E6-9EBFAE6932A9}"/>
              </a:ext>
            </a:extLst>
          </p:cNvPr>
          <p:cNvSpPr>
            <a:spLocks noChangeArrowheads="1"/>
          </p:cNvSpPr>
          <p:nvPr/>
        </p:nvSpPr>
        <p:spPr bwMode="auto">
          <a:xfrm>
            <a:off x="500063" y="177958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en-US" altLang="en-US" b="1" i="0">
              <a:latin typeface="Arial" panose="020B0604020202020204" pitchFamily="34" charset="0"/>
            </a:endParaRPr>
          </a:p>
        </p:txBody>
      </p:sp>
      <p:pic>
        <p:nvPicPr>
          <p:cNvPr id="695299" name="Picture 3">
            <a:extLst>
              <a:ext uri="{FF2B5EF4-FFF2-40B4-BE49-F238E27FC236}">
                <a16:creationId xmlns:a16="http://schemas.microsoft.com/office/drawing/2014/main" id="{FF28BE9F-1397-178B-590A-278D4F930B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1600200"/>
            <a:ext cx="5562600" cy="347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95300" name="Rectangle 4">
            <a:extLst>
              <a:ext uri="{FF2B5EF4-FFF2-40B4-BE49-F238E27FC236}">
                <a16:creationId xmlns:a16="http://schemas.microsoft.com/office/drawing/2014/main" id="{5B91FDB4-52CE-5EFF-2C07-AAB58F60BCFF}"/>
              </a:ext>
            </a:extLst>
          </p:cNvPr>
          <p:cNvSpPr>
            <a:spLocks noGrp="1" noChangeArrowheads="1"/>
          </p:cNvSpPr>
          <p:nvPr>
            <p:ph type="title"/>
          </p:nvPr>
        </p:nvSpPr>
        <p:spPr>
          <a:xfrm>
            <a:off x="381000" y="609600"/>
            <a:ext cx="2819400" cy="5029200"/>
          </a:xfrm>
        </p:spPr>
        <p:txBody>
          <a:bodyPr>
            <a:normAutofit fontScale="90000"/>
          </a:bodyPr>
          <a:lstStyle/>
          <a:p>
            <a:r>
              <a:rPr lang="en-US" altLang="en-US" b="1"/>
              <a:t>Figure 1.6</a:t>
            </a:r>
            <a:br>
              <a:rPr lang="en-US" altLang="en-US"/>
            </a:br>
            <a:r>
              <a:rPr lang="en-US" altLang="en-US"/>
              <a:t>Block diagrams of control systems:</a:t>
            </a:r>
            <a:br>
              <a:rPr lang="en-US" altLang="en-US"/>
            </a:br>
            <a:r>
              <a:rPr lang="en-US" altLang="en-US" b="1"/>
              <a:t>a. </a:t>
            </a:r>
            <a:r>
              <a:rPr lang="en-US" altLang="en-US"/>
              <a:t>open-loop system;</a:t>
            </a:r>
            <a:br>
              <a:rPr lang="en-US" altLang="en-US"/>
            </a:br>
            <a:r>
              <a:rPr lang="en-US" altLang="en-US" b="1"/>
              <a:t>b. </a:t>
            </a:r>
            <a:r>
              <a:rPr lang="en-US" altLang="en-US"/>
              <a:t>closed-loop system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Text Box 4"/>
          <p:cNvSpPr txBox="1">
            <a:spLocks noChangeArrowheads="1"/>
          </p:cNvSpPr>
          <p:nvPr/>
        </p:nvSpPr>
        <p:spPr bwMode="auto">
          <a:xfrm>
            <a:off x="2843808" y="1052736"/>
            <a:ext cx="3060966" cy="430887"/>
          </a:xfrm>
          <a:prstGeom prst="rect">
            <a:avLst/>
          </a:prstGeom>
          <a:noFill/>
          <a:ln w="9525">
            <a:noFill/>
            <a:miter lim="800000"/>
            <a:headEnd/>
            <a:tailEnd/>
          </a:ln>
          <a:effectLst/>
        </p:spPr>
        <p:txBody>
          <a:bodyPr wrap="none">
            <a:spAutoFit/>
          </a:bodyPr>
          <a:lstStyle/>
          <a:p>
            <a:r>
              <a:rPr lang="en-US" sz="2200" dirty="0"/>
              <a:t>Feedback Control System</a:t>
            </a:r>
          </a:p>
        </p:txBody>
      </p:sp>
      <p:sp>
        <p:nvSpPr>
          <p:cNvPr id="5"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4400" b="0" i="0" u="none" strike="noStrike" kern="1200" cap="none" spc="0" normalizeH="0" baseline="0" noProof="0">
                <a:ln>
                  <a:noFill/>
                </a:ln>
                <a:solidFill>
                  <a:schemeClr val="tx1"/>
                </a:solidFill>
                <a:effectLst/>
                <a:uLnTx/>
                <a:uFillTx/>
                <a:latin typeface="+mj-lt"/>
                <a:ea typeface="+mj-ea"/>
                <a:cs typeface="+mj-cs"/>
              </a:rPr>
              <a:t>Types of Control System </a:t>
            </a:r>
            <a:endParaRPr kumimoji="0" lang="en-GB"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37" name="Text Box 4"/>
          <p:cNvSpPr txBox="1">
            <a:spLocks noChangeArrowheads="1"/>
          </p:cNvSpPr>
          <p:nvPr/>
        </p:nvSpPr>
        <p:spPr bwMode="auto">
          <a:xfrm>
            <a:off x="251520" y="1772816"/>
            <a:ext cx="8604448" cy="4154984"/>
          </a:xfrm>
          <a:prstGeom prst="rect">
            <a:avLst/>
          </a:prstGeom>
          <a:noFill/>
          <a:ln w="9525">
            <a:noFill/>
            <a:miter lim="800000"/>
            <a:headEnd/>
            <a:tailEnd/>
          </a:ln>
          <a:effectLst/>
        </p:spPr>
        <p:txBody>
          <a:bodyPr wrap="square">
            <a:spAutoFit/>
          </a:bodyPr>
          <a:lstStyle/>
          <a:p>
            <a:pPr marL="182563" indent="-182563" algn="just">
              <a:buFont typeface="Arial" pitchFamily="34" charset="0"/>
              <a:buChar char="•"/>
            </a:pPr>
            <a:r>
              <a:rPr lang="en-US" sz="2200" dirty="0"/>
              <a:t>A system that maintains a prescribed relationship between the output and some reference input by comparing them and using the difference (i.e. error) as a means of control is called a feedback control system.</a:t>
            </a:r>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r>
              <a:rPr lang="en-US" sz="2200" dirty="0"/>
              <a:t>Feedback can be positive or negative.</a:t>
            </a:r>
          </a:p>
        </p:txBody>
      </p:sp>
      <p:grpSp>
        <p:nvGrpSpPr>
          <p:cNvPr id="62" name="Group 61"/>
          <p:cNvGrpSpPr/>
          <p:nvPr/>
        </p:nvGrpSpPr>
        <p:grpSpPr>
          <a:xfrm>
            <a:off x="1331640" y="3429000"/>
            <a:ext cx="6495549" cy="1582649"/>
            <a:chOff x="1449188" y="3573016"/>
            <a:chExt cx="6495549" cy="1582649"/>
          </a:xfrm>
        </p:grpSpPr>
        <p:sp>
          <p:nvSpPr>
            <p:cNvPr id="44" name="Rectangle 43"/>
            <p:cNvSpPr/>
            <p:nvPr/>
          </p:nvSpPr>
          <p:spPr>
            <a:xfrm>
              <a:off x="3833737" y="3573016"/>
              <a:ext cx="1179605" cy="99211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sz="1600" b="1" dirty="0"/>
                <a:t>Controller</a:t>
              </a:r>
            </a:p>
          </p:txBody>
        </p:sp>
        <p:cxnSp>
          <p:nvCxnSpPr>
            <p:cNvPr id="45" name="Straight Arrow Connector 44"/>
            <p:cNvCxnSpPr/>
            <p:nvPr/>
          </p:nvCxnSpPr>
          <p:spPr>
            <a:xfrm>
              <a:off x="3193825" y="4069071"/>
              <a:ext cx="648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6428868" y="4069071"/>
              <a:ext cx="629053"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7009540" y="3861048"/>
              <a:ext cx="935197" cy="424048"/>
            </a:xfrm>
            <a:prstGeom prst="rect">
              <a:avLst/>
            </a:prstGeom>
            <a:noFill/>
          </p:spPr>
          <p:txBody>
            <a:bodyPr wrap="none" rtlCol="0">
              <a:spAutoFit/>
            </a:bodyPr>
            <a:lstStyle/>
            <a:p>
              <a:r>
                <a:rPr lang="en-GB" dirty="0"/>
                <a:t>Output</a:t>
              </a:r>
            </a:p>
          </p:txBody>
        </p:sp>
        <p:sp>
          <p:nvSpPr>
            <p:cNvPr id="48" name="TextBox 47"/>
            <p:cNvSpPr txBox="1"/>
            <p:nvPr/>
          </p:nvSpPr>
          <p:spPr>
            <a:xfrm>
              <a:off x="1449188" y="3827907"/>
              <a:ext cx="747877" cy="424048"/>
            </a:xfrm>
            <a:prstGeom prst="rect">
              <a:avLst/>
            </a:prstGeom>
            <a:noFill/>
          </p:spPr>
          <p:txBody>
            <a:bodyPr wrap="none" rtlCol="0">
              <a:spAutoFit/>
            </a:bodyPr>
            <a:lstStyle/>
            <a:p>
              <a:r>
                <a:rPr lang="en-GB" dirty="0"/>
                <a:t>Input</a:t>
              </a:r>
            </a:p>
          </p:txBody>
        </p:sp>
        <p:sp>
          <p:nvSpPr>
            <p:cNvPr id="49" name="Rectangle 48"/>
            <p:cNvSpPr/>
            <p:nvPr/>
          </p:nvSpPr>
          <p:spPr>
            <a:xfrm>
              <a:off x="5406544" y="3573016"/>
              <a:ext cx="1100964" cy="99211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sz="1600" b="1" dirty="0"/>
                <a:t>Process</a:t>
              </a:r>
            </a:p>
          </p:txBody>
        </p:sp>
        <p:cxnSp>
          <p:nvCxnSpPr>
            <p:cNvPr id="50" name="Straight Arrow Connector 49"/>
            <p:cNvCxnSpPr/>
            <p:nvPr/>
          </p:nvCxnSpPr>
          <p:spPr>
            <a:xfrm>
              <a:off x="4998022" y="4069071"/>
              <a:ext cx="39315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4384220" y="4786333"/>
              <a:ext cx="1074140" cy="369332"/>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GB" dirty="0"/>
                <a:t>Feedback</a:t>
              </a:r>
            </a:p>
          </p:txBody>
        </p:sp>
        <p:cxnSp>
          <p:nvCxnSpPr>
            <p:cNvPr id="53" name="Straight Arrow Connector 52"/>
            <p:cNvCxnSpPr/>
            <p:nvPr/>
          </p:nvCxnSpPr>
          <p:spPr>
            <a:xfrm flipV="1">
              <a:off x="2903466" y="4265609"/>
              <a:ext cx="655" cy="74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2905417" y="5010810"/>
              <a:ext cx="149416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6743429" y="4069071"/>
              <a:ext cx="0" cy="950667"/>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H="1" flipV="1">
              <a:off x="5479968" y="5016593"/>
              <a:ext cx="126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2087792" y="4040935"/>
              <a:ext cx="612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8" name="Flowchart: Summing Junction 57"/>
            <p:cNvSpPr/>
            <p:nvPr/>
          </p:nvSpPr>
          <p:spPr>
            <a:xfrm>
              <a:off x="2671656" y="3774972"/>
              <a:ext cx="504056" cy="504056"/>
            </a:xfrm>
            <a:prstGeom prst="flowChartSummingJunctio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GB"/>
            </a:p>
          </p:txBody>
        </p:sp>
        <p:sp>
          <p:nvSpPr>
            <p:cNvPr id="59" name="TextBox 58"/>
            <p:cNvSpPr txBox="1"/>
            <p:nvPr/>
          </p:nvSpPr>
          <p:spPr>
            <a:xfrm>
              <a:off x="2789204" y="3980264"/>
              <a:ext cx="255198" cy="369332"/>
            </a:xfrm>
            <a:prstGeom prst="rect">
              <a:avLst/>
            </a:prstGeom>
            <a:noFill/>
          </p:spPr>
          <p:txBody>
            <a:bodyPr wrap="none" rtlCol="0">
              <a:spAutoFit/>
            </a:bodyPr>
            <a:lstStyle/>
            <a:p>
              <a:r>
                <a:rPr lang="en-GB" dirty="0"/>
                <a:t>-</a:t>
              </a:r>
            </a:p>
          </p:txBody>
        </p:sp>
        <p:sp>
          <p:nvSpPr>
            <p:cNvPr id="60" name="TextBox 59"/>
            <p:cNvSpPr txBox="1"/>
            <p:nvPr/>
          </p:nvSpPr>
          <p:spPr>
            <a:xfrm>
              <a:off x="2634500" y="3855364"/>
              <a:ext cx="300082" cy="369332"/>
            </a:xfrm>
            <a:prstGeom prst="rect">
              <a:avLst/>
            </a:prstGeom>
            <a:noFill/>
          </p:spPr>
          <p:txBody>
            <a:bodyPr wrap="none" rtlCol="0">
              <a:spAutoFit/>
            </a:bodyPr>
            <a:lstStyle/>
            <a:p>
              <a:r>
                <a:rPr lang="en-GB" dirty="0"/>
                <a:t>+</a:t>
              </a:r>
            </a:p>
          </p:txBody>
        </p:sp>
        <p:sp>
          <p:nvSpPr>
            <p:cNvPr id="61" name="TextBox 60"/>
            <p:cNvSpPr txBox="1"/>
            <p:nvPr/>
          </p:nvSpPr>
          <p:spPr>
            <a:xfrm>
              <a:off x="3175712" y="3759236"/>
              <a:ext cx="658642" cy="369332"/>
            </a:xfrm>
            <a:prstGeom prst="rect">
              <a:avLst/>
            </a:prstGeom>
            <a:noFill/>
          </p:spPr>
          <p:txBody>
            <a:bodyPr wrap="none" rtlCol="0">
              <a:spAutoFit/>
            </a:bodyPr>
            <a:lstStyle/>
            <a:p>
              <a:r>
                <a:rPr lang="en-GB" dirty="0"/>
                <a:t>error</a:t>
              </a:r>
            </a:p>
          </p:txBody>
        </p:sp>
      </p:grpSp>
      <p:sp>
        <p:nvSpPr>
          <p:cNvPr id="2" name="Slide Number Placeholder 1"/>
          <p:cNvSpPr>
            <a:spLocks noGrp="1"/>
          </p:cNvSpPr>
          <p:nvPr>
            <p:ph type="sldNum" sz="quarter" idx="12"/>
          </p:nvPr>
        </p:nvSpPr>
        <p:spPr/>
        <p:txBody>
          <a:bodyPr/>
          <a:lstStyle/>
          <a:p>
            <a:fld id="{7A0D5CAB-8BF0-4EA3-BAE4-9835C852A49B}" type="slidenum">
              <a:rPr lang="en-GB" smtClean="0"/>
              <a:pPr/>
              <a:t>21</a:t>
            </a:fld>
            <a:endParaRPr lang="en-GB"/>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Text Box 4"/>
          <p:cNvSpPr txBox="1">
            <a:spLocks noChangeArrowheads="1"/>
          </p:cNvSpPr>
          <p:nvPr/>
        </p:nvSpPr>
        <p:spPr bwMode="auto">
          <a:xfrm>
            <a:off x="3652786" y="1052736"/>
            <a:ext cx="1711302" cy="430887"/>
          </a:xfrm>
          <a:prstGeom prst="rect">
            <a:avLst/>
          </a:prstGeom>
          <a:noFill/>
          <a:ln w="9525">
            <a:noFill/>
            <a:miter lim="800000"/>
            <a:headEnd/>
            <a:tailEnd/>
          </a:ln>
          <a:effectLst/>
        </p:spPr>
        <p:txBody>
          <a:bodyPr wrap="none">
            <a:spAutoFit/>
          </a:bodyPr>
          <a:lstStyle/>
          <a:p>
            <a:r>
              <a:rPr lang="en-US" sz="2200" dirty="0"/>
              <a:t>Servo System</a:t>
            </a:r>
          </a:p>
        </p:txBody>
      </p:sp>
      <p:sp>
        <p:nvSpPr>
          <p:cNvPr id="5"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4400" b="0" i="0" u="none" strike="noStrike" kern="1200" cap="none" spc="0" normalizeH="0" baseline="0" noProof="0">
                <a:ln>
                  <a:noFill/>
                </a:ln>
                <a:solidFill>
                  <a:schemeClr val="tx1"/>
                </a:solidFill>
                <a:effectLst/>
                <a:uLnTx/>
                <a:uFillTx/>
                <a:latin typeface="+mj-lt"/>
                <a:ea typeface="+mj-ea"/>
                <a:cs typeface="+mj-cs"/>
              </a:rPr>
              <a:t>Types of Control System </a:t>
            </a:r>
            <a:endParaRPr kumimoji="0" lang="en-GB"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37" name="Text Box 4"/>
          <p:cNvSpPr txBox="1">
            <a:spLocks noChangeArrowheads="1"/>
          </p:cNvSpPr>
          <p:nvPr/>
        </p:nvSpPr>
        <p:spPr bwMode="auto">
          <a:xfrm>
            <a:off x="251520" y="1772816"/>
            <a:ext cx="8604448" cy="769441"/>
          </a:xfrm>
          <a:prstGeom prst="rect">
            <a:avLst/>
          </a:prstGeom>
          <a:noFill/>
          <a:ln w="9525">
            <a:noFill/>
            <a:miter lim="800000"/>
            <a:headEnd/>
            <a:tailEnd/>
          </a:ln>
          <a:effectLst/>
        </p:spPr>
        <p:txBody>
          <a:bodyPr wrap="square">
            <a:spAutoFit/>
          </a:bodyPr>
          <a:lstStyle/>
          <a:p>
            <a:pPr marL="182563" indent="-182563" algn="just">
              <a:buFont typeface="Arial" pitchFamily="34" charset="0"/>
              <a:buChar char="•"/>
            </a:pPr>
            <a:r>
              <a:rPr lang="en-US" sz="2200" dirty="0"/>
              <a:t>A Servo System (or servomechanism) is a feedback control system in which the output is some mechanical position, velocity or acceleration.</a:t>
            </a:r>
          </a:p>
        </p:txBody>
      </p:sp>
      <p:pic>
        <p:nvPicPr>
          <p:cNvPr id="24" name="Picture 23" descr="cr11.jpg"/>
          <p:cNvPicPr>
            <a:picLocks noChangeAspect="1"/>
          </p:cNvPicPr>
          <p:nvPr/>
        </p:nvPicPr>
        <p:blipFill>
          <a:blip r:embed="rId2" cstate="print"/>
          <a:stretch>
            <a:fillRect/>
          </a:stretch>
        </p:blipFill>
        <p:spPr>
          <a:xfrm>
            <a:off x="611560" y="3140968"/>
            <a:ext cx="4163801" cy="2952328"/>
          </a:xfrm>
          <a:prstGeom prst="rect">
            <a:avLst/>
          </a:prstGeom>
        </p:spPr>
      </p:pic>
      <p:pic>
        <p:nvPicPr>
          <p:cNvPr id="25" name="Picture 24" descr="images.jpg"/>
          <p:cNvPicPr>
            <a:picLocks noChangeAspect="1"/>
          </p:cNvPicPr>
          <p:nvPr/>
        </p:nvPicPr>
        <p:blipFill>
          <a:blip r:embed="rId3" cstate="print"/>
          <a:stretch>
            <a:fillRect/>
          </a:stretch>
        </p:blipFill>
        <p:spPr>
          <a:xfrm>
            <a:off x="5364088" y="3573016"/>
            <a:ext cx="3444230" cy="2119526"/>
          </a:xfrm>
          <a:prstGeom prst="rect">
            <a:avLst/>
          </a:prstGeom>
        </p:spPr>
      </p:pic>
      <p:sp>
        <p:nvSpPr>
          <p:cNvPr id="26" name="Rectangle 25"/>
          <p:cNvSpPr/>
          <p:nvPr/>
        </p:nvSpPr>
        <p:spPr>
          <a:xfrm>
            <a:off x="1043608" y="6021288"/>
            <a:ext cx="2789546" cy="369332"/>
          </a:xfrm>
          <a:prstGeom prst="rect">
            <a:avLst/>
          </a:prstGeom>
        </p:spPr>
        <p:txBody>
          <a:bodyPr wrap="none">
            <a:spAutoFit/>
          </a:bodyPr>
          <a:lstStyle/>
          <a:p>
            <a:r>
              <a:rPr lang="en-US" dirty="0"/>
              <a:t>Antenna Positioning System</a:t>
            </a:r>
            <a:endParaRPr lang="en-GB" dirty="0"/>
          </a:p>
        </p:txBody>
      </p:sp>
      <p:sp>
        <p:nvSpPr>
          <p:cNvPr id="27" name="Rectangle 26"/>
          <p:cNvSpPr/>
          <p:nvPr/>
        </p:nvSpPr>
        <p:spPr>
          <a:xfrm>
            <a:off x="5809765" y="6093296"/>
            <a:ext cx="3138616" cy="369332"/>
          </a:xfrm>
          <a:prstGeom prst="rect">
            <a:avLst/>
          </a:prstGeom>
        </p:spPr>
        <p:txBody>
          <a:bodyPr wrap="none">
            <a:spAutoFit/>
          </a:bodyPr>
          <a:lstStyle/>
          <a:p>
            <a:r>
              <a:rPr lang="en-US" dirty="0"/>
              <a:t>Modular Servo System (</a:t>
            </a:r>
            <a:r>
              <a:rPr lang="en-US" dirty="0" err="1"/>
              <a:t>MS150</a:t>
            </a:r>
            <a:r>
              <a:rPr lang="en-US" dirty="0"/>
              <a:t>)</a:t>
            </a:r>
            <a:endParaRPr lang="en-GB" dirty="0"/>
          </a:p>
        </p:txBody>
      </p:sp>
      <p:sp>
        <p:nvSpPr>
          <p:cNvPr id="2" name="Slide Number Placeholder 1"/>
          <p:cNvSpPr>
            <a:spLocks noGrp="1"/>
          </p:cNvSpPr>
          <p:nvPr>
            <p:ph type="sldNum" sz="quarter" idx="12"/>
          </p:nvPr>
        </p:nvSpPr>
        <p:spPr/>
        <p:txBody>
          <a:bodyPr/>
          <a:lstStyle/>
          <a:p>
            <a:fld id="{7A0D5CAB-8BF0-4EA3-BAE4-9835C852A49B}" type="slidenum">
              <a:rPr lang="en-GB" smtClean="0"/>
              <a:pPr/>
              <a:t>22</a:t>
            </a:fld>
            <a:endParaRPr lang="en-GB"/>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Text Box 4"/>
          <p:cNvSpPr txBox="1">
            <a:spLocks noChangeArrowheads="1"/>
          </p:cNvSpPr>
          <p:nvPr/>
        </p:nvSpPr>
        <p:spPr bwMode="auto">
          <a:xfrm>
            <a:off x="2392588" y="692696"/>
            <a:ext cx="4195636" cy="430887"/>
          </a:xfrm>
          <a:prstGeom prst="rect">
            <a:avLst/>
          </a:prstGeom>
          <a:noFill/>
          <a:ln w="9525">
            <a:noFill/>
            <a:miter lim="800000"/>
            <a:headEnd/>
            <a:tailEnd/>
          </a:ln>
          <a:effectLst/>
        </p:spPr>
        <p:txBody>
          <a:bodyPr wrap="none">
            <a:spAutoFit/>
          </a:bodyPr>
          <a:lstStyle/>
          <a:p>
            <a:r>
              <a:rPr lang="en-US" sz="2200" dirty="0"/>
              <a:t>Linear Vs Nonlinear Control System</a:t>
            </a:r>
          </a:p>
        </p:txBody>
      </p:sp>
      <p:sp>
        <p:nvSpPr>
          <p:cNvPr id="5" name="Title 1"/>
          <p:cNvSpPr txBox="1">
            <a:spLocks/>
          </p:cNvSpPr>
          <p:nvPr/>
        </p:nvSpPr>
        <p:spPr>
          <a:xfrm>
            <a:off x="457200" y="-27384"/>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4400" b="0" i="0" u="none" strike="noStrike" kern="1200" cap="none" spc="0" normalizeH="0" baseline="0" noProof="0" dirty="0">
                <a:ln>
                  <a:noFill/>
                </a:ln>
                <a:solidFill>
                  <a:schemeClr val="tx1"/>
                </a:solidFill>
                <a:effectLst/>
                <a:uLnTx/>
                <a:uFillTx/>
                <a:latin typeface="+mj-lt"/>
                <a:ea typeface="+mj-ea"/>
                <a:cs typeface="+mj-cs"/>
              </a:rPr>
              <a:t>Types of Control System </a:t>
            </a:r>
          </a:p>
        </p:txBody>
      </p:sp>
      <p:sp>
        <p:nvSpPr>
          <p:cNvPr id="37" name="Text Box 4"/>
          <p:cNvSpPr txBox="1">
            <a:spLocks noChangeArrowheads="1"/>
          </p:cNvSpPr>
          <p:nvPr/>
        </p:nvSpPr>
        <p:spPr bwMode="auto">
          <a:xfrm>
            <a:off x="35496" y="1291407"/>
            <a:ext cx="8604448" cy="769441"/>
          </a:xfrm>
          <a:prstGeom prst="rect">
            <a:avLst/>
          </a:prstGeom>
          <a:noFill/>
          <a:ln w="9525">
            <a:noFill/>
            <a:miter lim="800000"/>
            <a:headEnd/>
            <a:tailEnd/>
          </a:ln>
          <a:effectLst/>
        </p:spPr>
        <p:txBody>
          <a:bodyPr wrap="square">
            <a:spAutoFit/>
          </a:bodyPr>
          <a:lstStyle/>
          <a:p>
            <a:pPr marL="182563" indent="-182563" algn="just">
              <a:buFont typeface="Arial" pitchFamily="34" charset="0"/>
              <a:buChar char="•"/>
            </a:pPr>
            <a:r>
              <a:rPr lang="en-US" sz="2200" dirty="0"/>
              <a:t>A Control System in which output varies linearly with the input is called a linear control system. </a:t>
            </a:r>
          </a:p>
        </p:txBody>
      </p:sp>
      <p:graphicFrame>
        <p:nvGraphicFramePr>
          <p:cNvPr id="10" name="Object 9"/>
          <p:cNvGraphicFramePr>
            <a:graphicFrameLocks noChangeAspect="1"/>
          </p:cNvGraphicFramePr>
          <p:nvPr/>
        </p:nvGraphicFramePr>
        <p:xfrm>
          <a:off x="6156176" y="3068960"/>
          <a:ext cx="1875413" cy="504056"/>
        </p:xfrm>
        <a:graphic>
          <a:graphicData uri="http://schemas.openxmlformats.org/presentationml/2006/ole">
            <mc:AlternateContent xmlns:mc="http://schemas.openxmlformats.org/markup-compatibility/2006">
              <mc:Choice xmlns:v="urn:schemas-microsoft-com:vml" Requires="v">
                <p:oleObj name="Equation" r:id="rId2" imgW="825480" imgH="203040" progId="Equation.3">
                  <p:embed/>
                </p:oleObj>
              </mc:Choice>
              <mc:Fallback>
                <p:oleObj name="Equation" r:id="rId2" imgW="825480" imgH="20304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176" y="3068960"/>
                        <a:ext cx="1875413"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 name="Group 11"/>
          <p:cNvGrpSpPr/>
          <p:nvPr/>
        </p:nvGrpSpPr>
        <p:grpSpPr>
          <a:xfrm>
            <a:off x="2833223" y="2132856"/>
            <a:ext cx="3538977" cy="864096"/>
            <a:chOff x="4860032" y="4869160"/>
            <a:chExt cx="3538977" cy="864096"/>
          </a:xfrm>
        </p:grpSpPr>
        <p:cxnSp>
          <p:nvCxnSpPr>
            <p:cNvPr id="14" name="Straight Arrow Connector 13"/>
            <p:cNvCxnSpPr/>
            <p:nvPr/>
          </p:nvCxnSpPr>
          <p:spPr>
            <a:xfrm>
              <a:off x="5494036" y="5302876"/>
              <a:ext cx="7200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7218892" y="5301208"/>
              <a:ext cx="7200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7892139" y="5085184"/>
              <a:ext cx="506870" cy="369332"/>
            </a:xfrm>
            <a:prstGeom prst="rect">
              <a:avLst/>
            </a:prstGeom>
            <a:noFill/>
          </p:spPr>
          <p:txBody>
            <a:bodyPr wrap="none" rtlCol="0">
              <a:spAutoFit/>
            </a:bodyPr>
            <a:lstStyle/>
            <a:p>
              <a:r>
                <a:rPr lang="en-GB" i="1" dirty="0"/>
                <a:t>y(t)</a:t>
              </a:r>
            </a:p>
          </p:txBody>
        </p:sp>
        <p:sp>
          <p:nvSpPr>
            <p:cNvPr id="17" name="TextBox 16"/>
            <p:cNvSpPr txBox="1"/>
            <p:nvPr/>
          </p:nvSpPr>
          <p:spPr>
            <a:xfrm>
              <a:off x="4860032" y="5075892"/>
              <a:ext cx="524503" cy="369332"/>
            </a:xfrm>
            <a:prstGeom prst="rect">
              <a:avLst/>
            </a:prstGeom>
            <a:noFill/>
          </p:spPr>
          <p:txBody>
            <a:bodyPr wrap="none" rtlCol="0">
              <a:spAutoFit/>
            </a:bodyPr>
            <a:lstStyle/>
            <a:p>
              <a:r>
                <a:rPr lang="en-GB" i="1" dirty="0"/>
                <a:t>u(t)</a:t>
              </a:r>
            </a:p>
          </p:txBody>
        </p:sp>
        <p:sp>
          <p:nvSpPr>
            <p:cNvPr id="13" name="Rectangle 12"/>
            <p:cNvSpPr/>
            <p:nvPr/>
          </p:nvSpPr>
          <p:spPr>
            <a:xfrm>
              <a:off x="6228184" y="4869160"/>
              <a:ext cx="1080120" cy="8640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dirty="0"/>
                <a:t>Process</a:t>
              </a:r>
            </a:p>
          </p:txBody>
        </p:sp>
      </p:grpSp>
      <p:graphicFrame>
        <p:nvGraphicFramePr>
          <p:cNvPr id="2051" name="Object 3"/>
          <p:cNvGraphicFramePr>
            <a:graphicFrameLocks noChangeAspect="1"/>
          </p:cNvGraphicFramePr>
          <p:nvPr/>
        </p:nvGraphicFramePr>
        <p:xfrm>
          <a:off x="1256556" y="3068191"/>
          <a:ext cx="2019300" cy="504825"/>
        </p:xfrm>
        <a:graphic>
          <a:graphicData uri="http://schemas.openxmlformats.org/presentationml/2006/ole">
            <mc:AlternateContent xmlns:mc="http://schemas.openxmlformats.org/markup-compatibility/2006">
              <mc:Choice xmlns:v="urn:schemas-microsoft-com:vml" Requires="v">
                <p:oleObj name="Equation" r:id="rId4" imgW="888840" imgH="203040" progId="Equation.3">
                  <p:embed/>
                </p:oleObj>
              </mc:Choice>
              <mc:Fallback>
                <p:oleObj name="Equation" r:id="rId4" imgW="888840" imgH="20304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6556" y="3068191"/>
                        <a:ext cx="2019300"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53" name="Picture 5"/>
          <p:cNvPicPr>
            <a:picLocks noChangeAspect="1" noChangeArrowheads="1"/>
          </p:cNvPicPr>
          <p:nvPr/>
        </p:nvPicPr>
        <p:blipFill>
          <a:blip r:embed="rId6" cstate="print"/>
          <a:srcRect r="7851"/>
          <a:stretch>
            <a:fillRect/>
          </a:stretch>
        </p:blipFill>
        <p:spPr bwMode="auto">
          <a:xfrm>
            <a:off x="5076056" y="3617238"/>
            <a:ext cx="3851920" cy="3052122"/>
          </a:xfrm>
          <a:prstGeom prst="rect">
            <a:avLst/>
          </a:prstGeom>
          <a:noFill/>
          <a:ln w="9525">
            <a:noFill/>
            <a:miter lim="800000"/>
            <a:headEnd/>
            <a:tailEnd/>
          </a:ln>
          <a:effectLst/>
        </p:spPr>
      </p:pic>
      <p:pic>
        <p:nvPicPr>
          <p:cNvPr id="2054" name="Picture 6"/>
          <p:cNvPicPr>
            <a:picLocks noChangeAspect="1" noChangeArrowheads="1"/>
          </p:cNvPicPr>
          <p:nvPr/>
        </p:nvPicPr>
        <p:blipFill>
          <a:blip r:embed="rId7" cstate="print"/>
          <a:srcRect r="8001"/>
          <a:stretch>
            <a:fillRect/>
          </a:stretch>
        </p:blipFill>
        <p:spPr bwMode="auto">
          <a:xfrm>
            <a:off x="216024" y="3711702"/>
            <a:ext cx="3635896" cy="2885650"/>
          </a:xfrm>
          <a:prstGeom prst="rect">
            <a:avLst/>
          </a:prstGeom>
          <a:noFill/>
          <a:ln w="9525">
            <a:noFill/>
            <a:miter lim="800000"/>
            <a:headEnd/>
            <a:tailEnd/>
          </a:ln>
          <a:effectLst/>
        </p:spPr>
      </p:pic>
      <p:sp>
        <p:nvSpPr>
          <p:cNvPr id="2" name="Slide Number Placeholder 1"/>
          <p:cNvSpPr>
            <a:spLocks noGrp="1"/>
          </p:cNvSpPr>
          <p:nvPr>
            <p:ph type="sldNum" sz="quarter" idx="12"/>
          </p:nvPr>
        </p:nvSpPr>
        <p:spPr/>
        <p:txBody>
          <a:bodyPr/>
          <a:lstStyle/>
          <a:p>
            <a:fld id="{7A0D5CAB-8BF0-4EA3-BAE4-9835C852A49B}" type="slidenum">
              <a:rPr lang="en-GB" smtClean="0"/>
              <a:pPr/>
              <a:t>23</a:t>
            </a:fld>
            <a:endParaRPr lang="en-GB"/>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Text Box 4"/>
          <p:cNvSpPr txBox="1">
            <a:spLocks noChangeArrowheads="1"/>
          </p:cNvSpPr>
          <p:nvPr/>
        </p:nvSpPr>
        <p:spPr bwMode="auto">
          <a:xfrm>
            <a:off x="2392588" y="1052736"/>
            <a:ext cx="4195636" cy="430887"/>
          </a:xfrm>
          <a:prstGeom prst="rect">
            <a:avLst/>
          </a:prstGeom>
          <a:noFill/>
          <a:ln w="9525">
            <a:noFill/>
            <a:miter lim="800000"/>
            <a:headEnd/>
            <a:tailEnd/>
          </a:ln>
          <a:effectLst/>
        </p:spPr>
        <p:txBody>
          <a:bodyPr wrap="none">
            <a:spAutoFit/>
          </a:bodyPr>
          <a:lstStyle/>
          <a:p>
            <a:r>
              <a:rPr lang="en-US" sz="2200" dirty="0"/>
              <a:t>Linear Vs Nonlinear Control System</a:t>
            </a:r>
          </a:p>
        </p:txBody>
      </p:sp>
      <p:sp>
        <p:nvSpPr>
          <p:cNvPr id="5"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4400" b="0" i="0" u="none" strike="noStrike" kern="1200" cap="none" spc="0" normalizeH="0" baseline="0" noProof="0">
                <a:ln>
                  <a:noFill/>
                </a:ln>
                <a:solidFill>
                  <a:schemeClr val="tx1"/>
                </a:solidFill>
                <a:effectLst/>
                <a:uLnTx/>
                <a:uFillTx/>
                <a:latin typeface="+mj-lt"/>
                <a:ea typeface="+mj-ea"/>
                <a:cs typeface="+mj-cs"/>
              </a:rPr>
              <a:t>Types of Control System </a:t>
            </a:r>
            <a:endParaRPr kumimoji="0" lang="en-GB"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37" name="Text Box 4"/>
          <p:cNvSpPr txBox="1">
            <a:spLocks noChangeArrowheads="1"/>
          </p:cNvSpPr>
          <p:nvPr/>
        </p:nvSpPr>
        <p:spPr bwMode="auto">
          <a:xfrm>
            <a:off x="251520" y="1772816"/>
            <a:ext cx="8604448" cy="769441"/>
          </a:xfrm>
          <a:prstGeom prst="rect">
            <a:avLst/>
          </a:prstGeom>
          <a:noFill/>
          <a:ln w="9525">
            <a:noFill/>
            <a:miter lim="800000"/>
            <a:headEnd/>
            <a:tailEnd/>
          </a:ln>
          <a:effectLst/>
        </p:spPr>
        <p:txBody>
          <a:bodyPr wrap="square">
            <a:spAutoFit/>
          </a:bodyPr>
          <a:lstStyle/>
          <a:p>
            <a:pPr marL="182563" indent="-182563" algn="just">
              <a:buFont typeface="Arial" pitchFamily="34" charset="0"/>
              <a:buChar char="•"/>
            </a:pPr>
            <a:r>
              <a:rPr lang="en-US" sz="2200" dirty="0"/>
              <a:t>When the input and output has nonlinear relationship the system is said to be nonlinear.</a:t>
            </a:r>
          </a:p>
        </p:txBody>
      </p:sp>
      <p:pic>
        <p:nvPicPr>
          <p:cNvPr id="6" name="Picture 2"/>
          <p:cNvPicPr>
            <a:picLocks noChangeAspect="1" noChangeArrowheads="1"/>
          </p:cNvPicPr>
          <p:nvPr/>
        </p:nvPicPr>
        <p:blipFill>
          <a:blip r:embed="rId2" cstate="print"/>
          <a:srcRect r="6339"/>
          <a:stretch>
            <a:fillRect/>
          </a:stretch>
        </p:blipFill>
        <p:spPr bwMode="auto">
          <a:xfrm>
            <a:off x="2267744" y="2996952"/>
            <a:ext cx="4217000" cy="3287494"/>
          </a:xfrm>
          <a:prstGeom prst="rect">
            <a:avLst/>
          </a:prstGeom>
          <a:noFill/>
          <a:ln w="9525">
            <a:noFill/>
            <a:miter lim="800000"/>
            <a:headEnd/>
            <a:tailEnd/>
          </a:ln>
          <a:effectLst/>
        </p:spPr>
      </p:pic>
      <p:sp>
        <p:nvSpPr>
          <p:cNvPr id="2" name="Slide Number Placeholder 1"/>
          <p:cNvSpPr>
            <a:spLocks noGrp="1"/>
          </p:cNvSpPr>
          <p:nvPr>
            <p:ph type="sldNum" sz="quarter" idx="12"/>
          </p:nvPr>
        </p:nvSpPr>
        <p:spPr/>
        <p:txBody>
          <a:bodyPr/>
          <a:lstStyle/>
          <a:p>
            <a:fld id="{7A0D5CAB-8BF0-4EA3-BAE4-9835C852A49B}" type="slidenum">
              <a:rPr lang="en-GB" smtClean="0"/>
              <a:pPr/>
              <a:t>24</a:t>
            </a:fld>
            <a:endParaRPr lang="en-GB"/>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Text Box 4"/>
          <p:cNvSpPr txBox="1">
            <a:spLocks noChangeArrowheads="1"/>
          </p:cNvSpPr>
          <p:nvPr/>
        </p:nvSpPr>
        <p:spPr bwMode="auto">
          <a:xfrm>
            <a:off x="2699792" y="1052736"/>
            <a:ext cx="3608552" cy="430887"/>
          </a:xfrm>
          <a:prstGeom prst="rect">
            <a:avLst/>
          </a:prstGeom>
          <a:noFill/>
          <a:ln w="9525">
            <a:noFill/>
            <a:miter lim="800000"/>
            <a:headEnd/>
            <a:tailEnd/>
          </a:ln>
          <a:effectLst/>
        </p:spPr>
        <p:txBody>
          <a:bodyPr wrap="none">
            <a:spAutoFit/>
          </a:bodyPr>
          <a:lstStyle/>
          <a:p>
            <a:r>
              <a:rPr lang="en-US" sz="2200" dirty="0"/>
              <a:t>Time invariant </a:t>
            </a:r>
            <a:r>
              <a:rPr lang="en-US" sz="2200" dirty="0" err="1"/>
              <a:t>vs</a:t>
            </a:r>
            <a:r>
              <a:rPr lang="en-US" sz="2200" dirty="0"/>
              <a:t> Time variant</a:t>
            </a:r>
          </a:p>
        </p:txBody>
      </p:sp>
      <p:sp>
        <p:nvSpPr>
          <p:cNvPr id="5"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4400" b="0" i="0" u="none" strike="noStrike" kern="1200" cap="none" spc="0" normalizeH="0" baseline="0" noProof="0">
                <a:ln>
                  <a:noFill/>
                </a:ln>
                <a:solidFill>
                  <a:schemeClr val="tx1"/>
                </a:solidFill>
                <a:effectLst/>
                <a:uLnTx/>
                <a:uFillTx/>
                <a:latin typeface="+mj-lt"/>
                <a:ea typeface="+mj-ea"/>
                <a:cs typeface="+mj-cs"/>
              </a:rPr>
              <a:t>Types of Control System </a:t>
            </a:r>
            <a:endParaRPr kumimoji="0" lang="en-GB"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37" name="Text Box 4"/>
          <p:cNvSpPr txBox="1">
            <a:spLocks noChangeArrowheads="1"/>
          </p:cNvSpPr>
          <p:nvPr/>
        </p:nvSpPr>
        <p:spPr bwMode="auto">
          <a:xfrm>
            <a:off x="251520" y="1772816"/>
            <a:ext cx="8352928" cy="3477875"/>
          </a:xfrm>
          <a:prstGeom prst="rect">
            <a:avLst/>
          </a:prstGeom>
          <a:noFill/>
          <a:ln w="9525">
            <a:noFill/>
            <a:miter lim="800000"/>
            <a:headEnd/>
            <a:tailEnd/>
          </a:ln>
          <a:effectLst/>
        </p:spPr>
        <p:txBody>
          <a:bodyPr wrap="square">
            <a:spAutoFit/>
          </a:bodyPr>
          <a:lstStyle/>
          <a:p>
            <a:pPr marL="182563" indent="-182563" algn="just">
              <a:buFont typeface="Arial" pitchFamily="34" charset="0"/>
              <a:buChar char="•"/>
            </a:pPr>
            <a:r>
              <a:rPr lang="en-US" sz="2200" dirty="0"/>
              <a:t>When the characteristics of the system do not depend upon time itself then the system is said to time invariant control system.</a:t>
            </a:r>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r>
              <a:rPr lang="en-US" sz="2200" dirty="0"/>
              <a:t>Time varying control system is a system in which one or more parameters vary with time.</a:t>
            </a:r>
          </a:p>
        </p:txBody>
      </p:sp>
      <p:graphicFrame>
        <p:nvGraphicFramePr>
          <p:cNvPr id="13" name="Object 3"/>
          <p:cNvGraphicFramePr>
            <a:graphicFrameLocks noChangeAspect="1"/>
          </p:cNvGraphicFramePr>
          <p:nvPr/>
        </p:nvGraphicFramePr>
        <p:xfrm>
          <a:off x="3203848" y="2996952"/>
          <a:ext cx="2019300" cy="504825"/>
        </p:xfrm>
        <a:graphic>
          <a:graphicData uri="http://schemas.openxmlformats.org/presentationml/2006/ole">
            <mc:AlternateContent xmlns:mc="http://schemas.openxmlformats.org/markup-compatibility/2006">
              <mc:Choice xmlns:v="urn:schemas-microsoft-com:vml" Requires="v">
                <p:oleObj name="Equation" r:id="rId2" imgW="888840" imgH="203040" progId="Equation.3">
                  <p:embed/>
                </p:oleObj>
              </mc:Choice>
              <mc:Fallback>
                <p:oleObj name="Equation" r:id="rId2" imgW="888840" imgH="203040" progId="Equation.3">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848" y="2996952"/>
                        <a:ext cx="2019300"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4" name="Object 4"/>
          <p:cNvGraphicFramePr>
            <a:graphicFrameLocks noChangeAspect="1"/>
          </p:cNvGraphicFramePr>
          <p:nvPr/>
        </p:nvGraphicFramePr>
        <p:xfrm>
          <a:off x="3275856" y="5445224"/>
          <a:ext cx="1990725" cy="504825"/>
        </p:xfrm>
        <a:graphic>
          <a:graphicData uri="http://schemas.openxmlformats.org/presentationml/2006/ole">
            <mc:AlternateContent xmlns:mc="http://schemas.openxmlformats.org/markup-compatibility/2006">
              <mc:Choice xmlns:v="urn:schemas-microsoft-com:vml" Requires="v">
                <p:oleObj name="Equation" r:id="rId4" imgW="876240" imgH="203040" progId="Equation.3">
                  <p:embed/>
                </p:oleObj>
              </mc:Choice>
              <mc:Fallback>
                <p:oleObj name="Equation" r:id="rId4" imgW="876240" imgH="20304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5856" y="5445224"/>
                        <a:ext cx="1990725"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7A0D5CAB-8BF0-4EA3-BAE4-9835C852A49B}" type="slidenum">
              <a:rPr lang="en-GB" smtClean="0"/>
              <a:pPr/>
              <a:t>25</a:t>
            </a:fld>
            <a:endParaRPr lang="en-GB"/>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Text Box 4"/>
          <p:cNvSpPr txBox="1">
            <a:spLocks noChangeArrowheads="1"/>
          </p:cNvSpPr>
          <p:nvPr/>
        </p:nvSpPr>
        <p:spPr bwMode="auto">
          <a:xfrm>
            <a:off x="2051720" y="1052736"/>
            <a:ext cx="4881849" cy="430887"/>
          </a:xfrm>
          <a:prstGeom prst="rect">
            <a:avLst/>
          </a:prstGeom>
          <a:noFill/>
          <a:ln w="9525">
            <a:noFill/>
            <a:miter lim="800000"/>
            <a:headEnd/>
            <a:tailEnd/>
          </a:ln>
          <a:effectLst/>
        </p:spPr>
        <p:txBody>
          <a:bodyPr wrap="none">
            <a:spAutoFit/>
          </a:bodyPr>
          <a:lstStyle/>
          <a:p>
            <a:r>
              <a:rPr lang="en-US" sz="2200" dirty="0"/>
              <a:t>Continuous Data Vs Discrete Data System</a:t>
            </a:r>
          </a:p>
        </p:txBody>
      </p:sp>
      <p:sp>
        <p:nvSpPr>
          <p:cNvPr id="5"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4400" b="0" i="0" u="none" strike="noStrike" kern="1200" cap="none" spc="0" normalizeH="0" baseline="0" noProof="0">
                <a:ln>
                  <a:noFill/>
                </a:ln>
                <a:solidFill>
                  <a:schemeClr val="tx1"/>
                </a:solidFill>
                <a:effectLst/>
                <a:uLnTx/>
                <a:uFillTx/>
                <a:latin typeface="+mj-lt"/>
                <a:ea typeface="+mj-ea"/>
                <a:cs typeface="+mj-cs"/>
              </a:rPr>
              <a:t>Types of Control System </a:t>
            </a:r>
            <a:endParaRPr kumimoji="0" lang="en-GB"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37" name="Text Box 4"/>
          <p:cNvSpPr txBox="1">
            <a:spLocks noChangeArrowheads="1"/>
          </p:cNvSpPr>
          <p:nvPr/>
        </p:nvSpPr>
        <p:spPr bwMode="auto">
          <a:xfrm>
            <a:off x="251520" y="1772816"/>
            <a:ext cx="8604448" cy="3139321"/>
          </a:xfrm>
          <a:prstGeom prst="rect">
            <a:avLst/>
          </a:prstGeom>
          <a:noFill/>
          <a:ln w="9525">
            <a:noFill/>
            <a:miter lim="800000"/>
            <a:headEnd/>
            <a:tailEnd/>
          </a:ln>
          <a:effectLst/>
        </p:spPr>
        <p:txBody>
          <a:bodyPr wrap="square">
            <a:spAutoFit/>
          </a:bodyPr>
          <a:lstStyle/>
          <a:p>
            <a:pPr marL="182563" indent="-182563" algn="just">
              <a:buFont typeface="Arial" pitchFamily="34" charset="0"/>
              <a:buChar char="•"/>
            </a:pPr>
            <a:r>
              <a:rPr lang="en-US" sz="2200" dirty="0"/>
              <a:t>In continuous data control system all system variables are function of a continuous time t.</a:t>
            </a:r>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r>
              <a:rPr lang="en-US" sz="2200" dirty="0"/>
              <a:t>A discrete time control system involves one or more variables that are known only at discrete time intervals.</a:t>
            </a:r>
          </a:p>
        </p:txBody>
      </p:sp>
      <p:grpSp>
        <p:nvGrpSpPr>
          <p:cNvPr id="13" name="Group 12"/>
          <p:cNvGrpSpPr/>
          <p:nvPr/>
        </p:nvGrpSpPr>
        <p:grpSpPr>
          <a:xfrm>
            <a:off x="2162596" y="2557508"/>
            <a:ext cx="4471214" cy="1456848"/>
            <a:chOff x="2162596" y="2557508"/>
            <a:chExt cx="4471214" cy="1456848"/>
          </a:xfrm>
        </p:grpSpPr>
        <p:cxnSp>
          <p:nvCxnSpPr>
            <p:cNvPr id="7" name="Straight Arrow Connector 6"/>
            <p:cNvCxnSpPr/>
            <p:nvPr/>
          </p:nvCxnSpPr>
          <p:spPr>
            <a:xfrm flipV="1">
              <a:off x="2627784" y="2636912"/>
              <a:ext cx="0" cy="12241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2627784" y="3861048"/>
              <a:ext cx="3744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Freeform 9"/>
            <p:cNvSpPr/>
            <p:nvPr/>
          </p:nvSpPr>
          <p:spPr>
            <a:xfrm>
              <a:off x="2644726" y="2987040"/>
              <a:ext cx="3587262" cy="867507"/>
            </a:xfrm>
            <a:custGeom>
              <a:avLst/>
              <a:gdLst>
                <a:gd name="connsiteX0" fmla="*/ 0 w 3587262"/>
                <a:gd name="connsiteY0" fmla="*/ 867507 h 867507"/>
                <a:gd name="connsiteX1" fmla="*/ 267287 w 3587262"/>
                <a:gd name="connsiteY1" fmla="*/ 501747 h 867507"/>
                <a:gd name="connsiteX2" fmla="*/ 689317 w 3587262"/>
                <a:gd name="connsiteY2" fmla="*/ 107852 h 867507"/>
                <a:gd name="connsiteX3" fmla="*/ 1716259 w 3587262"/>
                <a:gd name="connsiteY3" fmla="*/ 65649 h 867507"/>
                <a:gd name="connsiteX4" fmla="*/ 2546253 w 3587262"/>
                <a:gd name="connsiteY4" fmla="*/ 501747 h 867507"/>
                <a:gd name="connsiteX5" fmla="*/ 3587262 w 3587262"/>
                <a:gd name="connsiteY5" fmla="*/ 93784 h 867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87262" h="867507">
                  <a:moveTo>
                    <a:pt x="0" y="867507"/>
                  </a:moveTo>
                  <a:cubicBezTo>
                    <a:pt x="76200" y="747931"/>
                    <a:pt x="152401" y="628356"/>
                    <a:pt x="267287" y="501747"/>
                  </a:cubicBezTo>
                  <a:cubicBezTo>
                    <a:pt x="382173" y="375138"/>
                    <a:pt x="447822" y="180535"/>
                    <a:pt x="689317" y="107852"/>
                  </a:cubicBezTo>
                  <a:cubicBezTo>
                    <a:pt x="930812" y="35169"/>
                    <a:pt x="1406770" y="0"/>
                    <a:pt x="1716259" y="65649"/>
                  </a:cubicBezTo>
                  <a:cubicBezTo>
                    <a:pt x="2025748" y="131298"/>
                    <a:pt x="2234419" y="497058"/>
                    <a:pt x="2546253" y="501747"/>
                  </a:cubicBezTo>
                  <a:cubicBezTo>
                    <a:pt x="2858087" y="506436"/>
                    <a:pt x="3222674" y="300110"/>
                    <a:pt x="3587262" y="93784"/>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11" name="TextBox 10"/>
            <p:cNvSpPr txBox="1"/>
            <p:nvPr/>
          </p:nvSpPr>
          <p:spPr>
            <a:xfrm>
              <a:off x="2162596" y="2557508"/>
              <a:ext cx="502061" cy="369332"/>
            </a:xfrm>
            <a:prstGeom prst="rect">
              <a:avLst/>
            </a:prstGeom>
            <a:noFill/>
          </p:spPr>
          <p:txBody>
            <a:bodyPr wrap="none" rtlCol="0">
              <a:spAutoFit/>
            </a:bodyPr>
            <a:lstStyle/>
            <a:p>
              <a:r>
                <a:rPr lang="en-GB" i="1" dirty="0"/>
                <a:t>x</a:t>
              </a:r>
              <a:r>
                <a:rPr lang="en-GB" dirty="0"/>
                <a:t>(t)</a:t>
              </a:r>
            </a:p>
          </p:txBody>
        </p:sp>
        <p:sp>
          <p:nvSpPr>
            <p:cNvPr id="12" name="TextBox 11"/>
            <p:cNvSpPr txBox="1"/>
            <p:nvPr/>
          </p:nvSpPr>
          <p:spPr>
            <a:xfrm>
              <a:off x="6372200" y="3645024"/>
              <a:ext cx="261610" cy="369332"/>
            </a:xfrm>
            <a:prstGeom prst="rect">
              <a:avLst/>
            </a:prstGeom>
            <a:noFill/>
          </p:spPr>
          <p:txBody>
            <a:bodyPr wrap="none" rtlCol="0">
              <a:spAutoFit/>
            </a:bodyPr>
            <a:lstStyle/>
            <a:p>
              <a:r>
                <a:rPr lang="en-GB" dirty="0"/>
                <a:t>t</a:t>
              </a:r>
            </a:p>
          </p:txBody>
        </p:sp>
      </p:grpSp>
      <p:sp>
        <p:nvSpPr>
          <p:cNvPr id="16" name="Freeform 15"/>
          <p:cNvSpPr/>
          <p:nvPr/>
        </p:nvSpPr>
        <p:spPr>
          <a:xfrm>
            <a:off x="3015960" y="5445224"/>
            <a:ext cx="3587262" cy="867507"/>
          </a:xfrm>
          <a:custGeom>
            <a:avLst/>
            <a:gdLst>
              <a:gd name="connsiteX0" fmla="*/ 0 w 3587262"/>
              <a:gd name="connsiteY0" fmla="*/ 867507 h 867507"/>
              <a:gd name="connsiteX1" fmla="*/ 267287 w 3587262"/>
              <a:gd name="connsiteY1" fmla="*/ 501747 h 867507"/>
              <a:gd name="connsiteX2" fmla="*/ 689317 w 3587262"/>
              <a:gd name="connsiteY2" fmla="*/ 107852 h 867507"/>
              <a:gd name="connsiteX3" fmla="*/ 1716259 w 3587262"/>
              <a:gd name="connsiteY3" fmla="*/ 65649 h 867507"/>
              <a:gd name="connsiteX4" fmla="*/ 2546253 w 3587262"/>
              <a:gd name="connsiteY4" fmla="*/ 501747 h 867507"/>
              <a:gd name="connsiteX5" fmla="*/ 3587262 w 3587262"/>
              <a:gd name="connsiteY5" fmla="*/ 93784 h 867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87262" h="867507">
                <a:moveTo>
                  <a:pt x="0" y="867507"/>
                </a:moveTo>
                <a:cubicBezTo>
                  <a:pt x="76200" y="747931"/>
                  <a:pt x="152401" y="628356"/>
                  <a:pt x="267287" y="501747"/>
                </a:cubicBezTo>
                <a:cubicBezTo>
                  <a:pt x="382173" y="375138"/>
                  <a:pt x="447822" y="180535"/>
                  <a:pt x="689317" y="107852"/>
                </a:cubicBezTo>
                <a:cubicBezTo>
                  <a:pt x="930812" y="35169"/>
                  <a:pt x="1406770" y="0"/>
                  <a:pt x="1716259" y="65649"/>
                </a:cubicBezTo>
                <a:cubicBezTo>
                  <a:pt x="2025748" y="131298"/>
                  <a:pt x="2234419" y="497058"/>
                  <a:pt x="2546253" y="501747"/>
                </a:cubicBezTo>
                <a:cubicBezTo>
                  <a:pt x="2858087" y="506436"/>
                  <a:pt x="3222674" y="300110"/>
                  <a:pt x="3587262" y="93784"/>
                </a:cubicBezTo>
              </a:path>
            </a:pathLst>
          </a:custGeom>
          <a:ln>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grpSp>
        <p:nvGrpSpPr>
          <p:cNvPr id="44" name="Group 43"/>
          <p:cNvGrpSpPr/>
          <p:nvPr/>
        </p:nvGrpSpPr>
        <p:grpSpPr>
          <a:xfrm>
            <a:off x="2483768" y="5015692"/>
            <a:ext cx="4586438" cy="1456848"/>
            <a:chOff x="2579370" y="5015692"/>
            <a:chExt cx="4586438" cy="1456848"/>
          </a:xfrm>
        </p:grpSpPr>
        <p:cxnSp>
          <p:nvCxnSpPr>
            <p:cNvPr id="14" name="Straight Arrow Connector 13"/>
            <p:cNvCxnSpPr/>
            <p:nvPr/>
          </p:nvCxnSpPr>
          <p:spPr>
            <a:xfrm flipV="1">
              <a:off x="3114898" y="5095096"/>
              <a:ext cx="0" cy="12241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3114898" y="6319232"/>
              <a:ext cx="3744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579370" y="5015692"/>
              <a:ext cx="564578" cy="369332"/>
            </a:xfrm>
            <a:prstGeom prst="rect">
              <a:avLst/>
            </a:prstGeom>
            <a:noFill/>
          </p:spPr>
          <p:txBody>
            <a:bodyPr wrap="none" rtlCol="0">
              <a:spAutoFit/>
            </a:bodyPr>
            <a:lstStyle/>
            <a:p>
              <a:r>
                <a:rPr lang="en-GB" i="1" dirty="0"/>
                <a:t>X[n]</a:t>
              </a:r>
              <a:endParaRPr lang="en-GB" dirty="0"/>
            </a:p>
          </p:txBody>
        </p:sp>
        <p:sp>
          <p:nvSpPr>
            <p:cNvPr id="18" name="TextBox 17"/>
            <p:cNvSpPr txBox="1"/>
            <p:nvPr/>
          </p:nvSpPr>
          <p:spPr>
            <a:xfrm>
              <a:off x="6859314" y="6103208"/>
              <a:ext cx="306494" cy="369332"/>
            </a:xfrm>
            <a:prstGeom prst="rect">
              <a:avLst/>
            </a:prstGeom>
            <a:noFill/>
          </p:spPr>
          <p:txBody>
            <a:bodyPr wrap="none" rtlCol="0">
              <a:spAutoFit/>
            </a:bodyPr>
            <a:lstStyle/>
            <a:p>
              <a:r>
                <a:rPr lang="en-GB" dirty="0"/>
                <a:t>n</a:t>
              </a:r>
            </a:p>
          </p:txBody>
        </p:sp>
        <p:cxnSp>
          <p:nvCxnSpPr>
            <p:cNvPr id="20" name="Straight Arrow Connector 19"/>
            <p:cNvCxnSpPr/>
            <p:nvPr/>
          </p:nvCxnSpPr>
          <p:spPr>
            <a:xfrm flipV="1">
              <a:off x="3275856" y="6093296"/>
              <a:ext cx="0" cy="2160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3414188" y="5938548"/>
              <a:ext cx="0" cy="396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3566588" y="5705120"/>
              <a:ext cx="0" cy="61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3718988" y="5589240"/>
              <a:ext cx="0" cy="756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3871388" y="5518900"/>
              <a:ext cx="0" cy="79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4023788" y="5503164"/>
              <a:ext cx="0" cy="828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4176188" y="5487428"/>
              <a:ext cx="0" cy="828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4328588" y="5471012"/>
              <a:ext cx="0" cy="828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4499992" y="5473360"/>
              <a:ext cx="0" cy="86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4672144" y="5489096"/>
              <a:ext cx="0" cy="828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V="1">
              <a:off x="4830228" y="5499148"/>
              <a:ext cx="0" cy="828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4975912" y="5531300"/>
              <a:ext cx="0" cy="79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5128312" y="5641496"/>
              <a:ext cx="0" cy="68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V="1">
              <a:off x="5294780" y="5751692"/>
              <a:ext cx="0" cy="576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V="1">
              <a:off x="5447180" y="5875956"/>
              <a:ext cx="0" cy="43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V="1">
              <a:off x="5599580" y="5915812"/>
              <a:ext cx="0" cy="396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V="1">
              <a:off x="5723844" y="5955668"/>
              <a:ext cx="0" cy="360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5883880" y="5927532"/>
              <a:ext cx="0" cy="396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6050348" y="5863204"/>
              <a:ext cx="0" cy="43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flipV="1">
              <a:off x="6202748" y="5805264"/>
              <a:ext cx="0" cy="50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V="1">
              <a:off x="6369216" y="5720856"/>
              <a:ext cx="0" cy="576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V="1">
              <a:off x="6549752" y="5631444"/>
              <a:ext cx="0" cy="68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V="1">
              <a:off x="6702152" y="5544688"/>
              <a:ext cx="0" cy="79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2" name="Slide Number Placeholder 1"/>
          <p:cNvSpPr>
            <a:spLocks noGrp="1"/>
          </p:cNvSpPr>
          <p:nvPr>
            <p:ph type="sldNum" sz="quarter" idx="12"/>
          </p:nvPr>
        </p:nvSpPr>
        <p:spPr/>
        <p:txBody>
          <a:bodyPr/>
          <a:lstStyle/>
          <a:p>
            <a:fld id="{7A0D5CAB-8BF0-4EA3-BAE4-9835C852A49B}" type="slidenum">
              <a:rPr lang="en-GB" smtClean="0"/>
              <a:pPr/>
              <a:t>26</a:t>
            </a:fld>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Text Box 4"/>
          <p:cNvSpPr txBox="1">
            <a:spLocks noChangeArrowheads="1"/>
          </p:cNvSpPr>
          <p:nvPr/>
        </p:nvSpPr>
        <p:spPr bwMode="auto">
          <a:xfrm>
            <a:off x="1979712" y="1052736"/>
            <a:ext cx="5026761" cy="430887"/>
          </a:xfrm>
          <a:prstGeom prst="rect">
            <a:avLst/>
          </a:prstGeom>
          <a:noFill/>
          <a:ln w="9525">
            <a:noFill/>
            <a:miter lim="800000"/>
            <a:headEnd/>
            <a:tailEnd/>
          </a:ln>
          <a:effectLst/>
        </p:spPr>
        <p:txBody>
          <a:bodyPr wrap="none">
            <a:spAutoFit/>
          </a:bodyPr>
          <a:lstStyle/>
          <a:p>
            <a:r>
              <a:rPr lang="en-US" sz="2200" dirty="0"/>
              <a:t>Deterministic </a:t>
            </a:r>
            <a:r>
              <a:rPr lang="en-US" sz="2200" dirty="0" err="1"/>
              <a:t>vs</a:t>
            </a:r>
            <a:r>
              <a:rPr lang="en-US" sz="2200" dirty="0"/>
              <a:t> Stochastic Control System</a:t>
            </a:r>
          </a:p>
        </p:txBody>
      </p:sp>
      <p:sp>
        <p:nvSpPr>
          <p:cNvPr id="5"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4400" b="0" i="0" u="none" strike="noStrike" kern="1200" cap="none" spc="0" normalizeH="0" baseline="0" noProof="0" dirty="0">
                <a:ln>
                  <a:noFill/>
                </a:ln>
                <a:solidFill>
                  <a:schemeClr val="tx1"/>
                </a:solidFill>
                <a:effectLst/>
                <a:uLnTx/>
                <a:uFillTx/>
                <a:latin typeface="+mj-lt"/>
                <a:ea typeface="+mj-ea"/>
                <a:cs typeface="+mj-cs"/>
              </a:rPr>
              <a:t>Types of Control System </a:t>
            </a:r>
          </a:p>
        </p:txBody>
      </p:sp>
      <p:sp>
        <p:nvSpPr>
          <p:cNvPr id="37" name="Text Box 4"/>
          <p:cNvSpPr txBox="1">
            <a:spLocks noChangeArrowheads="1"/>
          </p:cNvSpPr>
          <p:nvPr/>
        </p:nvSpPr>
        <p:spPr bwMode="auto">
          <a:xfrm>
            <a:off x="179512" y="1628800"/>
            <a:ext cx="8604448" cy="3477875"/>
          </a:xfrm>
          <a:prstGeom prst="rect">
            <a:avLst/>
          </a:prstGeom>
          <a:noFill/>
          <a:ln w="9525">
            <a:noFill/>
            <a:miter lim="800000"/>
            <a:headEnd/>
            <a:tailEnd/>
          </a:ln>
          <a:effectLst/>
        </p:spPr>
        <p:txBody>
          <a:bodyPr wrap="square">
            <a:spAutoFit/>
          </a:bodyPr>
          <a:lstStyle/>
          <a:p>
            <a:pPr marL="182563" indent="-182563" algn="just">
              <a:buFont typeface="Arial" pitchFamily="34" charset="0"/>
              <a:buChar char="•"/>
            </a:pPr>
            <a:r>
              <a:rPr lang="en-US" sz="2200" dirty="0"/>
              <a:t>A control System is deterministic if the response to input is predictable and repeatable.</a:t>
            </a:r>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endParaRPr lang="en-US" sz="2200" dirty="0"/>
          </a:p>
          <a:p>
            <a:pPr marL="182563" indent="-182563" algn="just">
              <a:buFont typeface="Arial" pitchFamily="34" charset="0"/>
              <a:buChar char="•"/>
            </a:pPr>
            <a:r>
              <a:rPr lang="en-US" sz="2200" dirty="0"/>
              <a:t>If not, the control system is a stochastic control system</a:t>
            </a:r>
          </a:p>
        </p:txBody>
      </p:sp>
      <p:grpSp>
        <p:nvGrpSpPr>
          <p:cNvPr id="25" name="Group 24"/>
          <p:cNvGrpSpPr/>
          <p:nvPr/>
        </p:nvGrpSpPr>
        <p:grpSpPr>
          <a:xfrm>
            <a:off x="1763688" y="2420888"/>
            <a:ext cx="6120680" cy="2016136"/>
            <a:chOff x="611560" y="2780928"/>
            <a:chExt cx="6120680" cy="2016136"/>
          </a:xfrm>
        </p:grpSpPr>
        <p:sp>
          <p:nvSpPr>
            <p:cNvPr id="19" name="TextBox 18"/>
            <p:cNvSpPr txBox="1"/>
            <p:nvPr/>
          </p:nvSpPr>
          <p:spPr>
            <a:xfrm>
              <a:off x="3738754" y="2780928"/>
              <a:ext cx="502061" cy="369332"/>
            </a:xfrm>
            <a:prstGeom prst="rect">
              <a:avLst/>
            </a:prstGeom>
            <a:noFill/>
          </p:spPr>
          <p:txBody>
            <a:bodyPr wrap="none" rtlCol="0">
              <a:spAutoFit/>
            </a:bodyPr>
            <a:lstStyle/>
            <a:p>
              <a:r>
                <a:rPr lang="en-GB" i="1" dirty="0"/>
                <a:t>y</a:t>
              </a:r>
              <a:r>
                <a:rPr lang="en-GB" dirty="0"/>
                <a:t>(t)</a:t>
              </a:r>
            </a:p>
          </p:txBody>
        </p:sp>
        <p:sp>
          <p:nvSpPr>
            <p:cNvPr id="20" name="TextBox 19"/>
            <p:cNvSpPr txBox="1"/>
            <p:nvPr/>
          </p:nvSpPr>
          <p:spPr>
            <a:xfrm>
              <a:off x="6259034" y="4005064"/>
              <a:ext cx="473206" cy="369332"/>
            </a:xfrm>
            <a:prstGeom prst="rect">
              <a:avLst/>
            </a:prstGeom>
            <a:noFill/>
          </p:spPr>
          <p:txBody>
            <a:bodyPr wrap="none" rtlCol="0">
              <a:spAutoFit/>
            </a:bodyPr>
            <a:lstStyle/>
            <a:p>
              <a:r>
                <a:rPr lang="en-GB" dirty="0"/>
                <a:t>    t</a:t>
              </a:r>
            </a:p>
          </p:txBody>
        </p:sp>
        <p:sp>
          <p:nvSpPr>
            <p:cNvPr id="23" name="Rectangle 22"/>
            <p:cNvSpPr/>
            <p:nvPr/>
          </p:nvSpPr>
          <p:spPr>
            <a:xfrm>
              <a:off x="4327840" y="3429000"/>
              <a:ext cx="576064" cy="57606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p:cNvSpPr/>
            <p:nvPr/>
          </p:nvSpPr>
          <p:spPr>
            <a:xfrm>
              <a:off x="5485696" y="3429000"/>
              <a:ext cx="576064" cy="57606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6" name="Straight Arrow Connector 15"/>
            <p:cNvCxnSpPr/>
            <p:nvPr/>
          </p:nvCxnSpPr>
          <p:spPr>
            <a:xfrm>
              <a:off x="4314818" y="4005064"/>
              <a:ext cx="230425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14" name="Group 13"/>
            <p:cNvGrpSpPr/>
            <p:nvPr/>
          </p:nvGrpSpPr>
          <p:grpSpPr>
            <a:xfrm>
              <a:off x="611560" y="2780928"/>
              <a:ext cx="2993486" cy="2016136"/>
              <a:chOff x="611560" y="2780928"/>
              <a:chExt cx="2993486" cy="2016136"/>
            </a:xfrm>
          </p:grpSpPr>
          <p:cxnSp>
            <p:nvCxnSpPr>
              <p:cNvPr id="7" name="Straight Arrow Connector 6"/>
              <p:cNvCxnSpPr/>
              <p:nvPr/>
            </p:nvCxnSpPr>
            <p:spPr>
              <a:xfrm flipV="1">
                <a:off x="1187624" y="2924944"/>
                <a:ext cx="0" cy="10801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Isosceles Triangle 9"/>
              <p:cNvSpPr/>
              <p:nvPr/>
            </p:nvSpPr>
            <p:spPr>
              <a:xfrm>
                <a:off x="1187624" y="3213064"/>
                <a:ext cx="648072" cy="792000"/>
              </a:xfrm>
              <a:prstGeom prst="triangl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Isosceles Triangle 10"/>
              <p:cNvSpPr/>
              <p:nvPr/>
            </p:nvSpPr>
            <p:spPr>
              <a:xfrm flipV="1">
                <a:off x="1835696" y="4005064"/>
                <a:ext cx="648072" cy="792000"/>
              </a:xfrm>
              <a:prstGeom prst="triangl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p:cNvSpPr txBox="1"/>
              <p:nvPr/>
            </p:nvSpPr>
            <p:spPr>
              <a:xfrm>
                <a:off x="611560" y="2780928"/>
                <a:ext cx="502061" cy="369332"/>
              </a:xfrm>
              <a:prstGeom prst="rect">
                <a:avLst/>
              </a:prstGeom>
              <a:noFill/>
            </p:spPr>
            <p:txBody>
              <a:bodyPr wrap="none" rtlCol="0">
                <a:spAutoFit/>
              </a:bodyPr>
              <a:lstStyle/>
              <a:p>
                <a:r>
                  <a:rPr lang="en-GB" i="1" dirty="0"/>
                  <a:t>x</a:t>
                </a:r>
                <a:r>
                  <a:rPr lang="en-GB" dirty="0"/>
                  <a:t>(t)</a:t>
                </a:r>
              </a:p>
            </p:txBody>
          </p:sp>
          <p:sp>
            <p:nvSpPr>
              <p:cNvPr id="13" name="TextBox 12"/>
              <p:cNvSpPr txBox="1"/>
              <p:nvPr/>
            </p:nvSpPr>
            <p:spPr>
              <a:xfrm>
                <a:off x="3131840" y="4005064"/>
                <a:ext cx="473206" cy="369332"/>
              </a:xfrm>
              <a:prstGeom prst="rect">
                <a:avLst/>
              </a:prstGeom>
              <a:noFill/>
            </p:spPr>
            <p:txBody>
              <a:bodyPr wrap="none" rtlCol="0">
                <a:spAutoFit/>
              </a:bodyPr>
              <a:lstStyle/>
              <a:p>
                <a:r>
                  <a:rPr lang="en-GB" dirty="0"/>
                  <a:t>    t</a:t>
                </a:r>
              </a:p>
            </p:txBody>
          </p:sp>
          <p:cxnSp>
            <p:nvCxnSpPr>
              <p:cNvPr id="9" name="Straight Arrow Connector 8"/>
              <p:cNvCxnSpPr/>
              <p:nvPr/>
            </p:nvCxnSpPr>
            <p:spPr>
              <a:xfrm>
                <a:off x="1187624" y="4005064"/>
                <a:ext cx="230425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cxnSp>
          <p:nvCxnSpPr>
            <p:cNvPr id="15" name="Straight Arrow Connector 14"/>
            <p:cNvCxnSpPr/>
            <p:nvPr/>
          </p:nvCxnSpPr>
          <p:spPr>
            <a:xfrm flipV="1">
              <a:off x="4314818" y="2924944"/>
              <a:ext cx="0" cy="10801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36" name="Group 35"/>
          <p:cNvGrpSpPr/>
          <p:nvPr/>
        </p:nvGrpSpPr>
        <p:grpSpPr>
          <a:xfrm>
            <a:off x="2555776" y="5140504"/>
            <a:ext cx="4471214" cy="1456848"/>
            <a:chOff x="2555776" y="5085184"/>
            <a:chExt cx="4471214" cy="1456848"/>
          </a:xfrm>
        </p:grpSpPr>
        <p:cxnSp>
          <p:nvCxnSpPr>
            <p:cNvPr id="28" name="Straight Arrow Connector 27"/>
            <p:cNvCxnSpPr/>
            <p:nvPr/>
          </p:nvCxnSpPr>
          <p:spPr>
            <a:xfrm flipV="1">
              <a:off x="3020964" y="5164588"/>
              <a:ext cx="0" cy="12241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3020964" y="6388724"/>
              <a:ext cx="3744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2555776" y="5085184"/>
              <a:ext cx="502061" cy="369332"/>
            </a:xfrm>
            <a:prstGeom prst="rect">
              <a:avLst/>
            </a:prstGeom>
            <a:noFill/>
          </p:spPr>
          <p:txBody>
            <a:bodyPr wrap="none" rtlCol="0">
              <a:spAutoFit/>
            </a:bodyPr>
            <a:lstStyle/>
            <a:p>
              <a:r>
                <a:rPr lang="en-GB" i="1" dirty="0"/>
                <a:t>z</a:t>
              </a:r>
              <a:r>
                <a:rPr lang="en-GB" dirty="0"/>
                <a:t>(t)</a:t>
              </a:r>
            </a:p>
          </p:txBody>
        </p:sp>
        <p:sp>
          <p:nvSpPr>
            <p:cNvPr id="32" name="TextBox 31"/>
            <p:cNvSpPr txBox="1"/>
            <p:nvPr/>
          </p:nvSpPr>
          <p:spPr>
            <a:xfrm>
              <a:off x="6765380" y="6172700"/>
              <a:ext cx="261610" cy="369332"/>
            </a:xfrm>
            <a:prstGeom prst="rect">
              <a:avLst/>
            </a:prstGeom>
            <a:noFill/>
          </p:spPr>
          <p:txBody>
            <a:bodyPr wrap="none" rtlCol="0">
              <a:spAutoFit/>
            </a:bodyPr>
            <a:lstStyle/>
            <a:p>
              <a:r>
                <a:rPr lang="en-GB" dirty="0"/>
                <a:t>t</a:t>
              </a:r>
            </a:p>
          </p:txBody>
        </p:sp>
        <p:sp>
          <p:nvSpPr>
            <p:cNvPr id="35" name="Freeform 34"/>
            <p:cNvSpPr/>
            <p:nvPr/>
          </p:nvSpPr>
          <p:spPr>
            <a:xfrm>
              <a:off x="3038621" y="5289452"/>
              <a:ext cx="3418449" cy="1097280"/>
            </a:xfrm>
            <a:custGeom>
              <a:avLst/>
              <a:gdLst>
                <a:gd name="connsiteX0" fmla="*/ 0 w 3418449"/>
                <a:gd name="connsiteY0" fmla="*/ 1097280 h 1097280"/>
                <a:gd name="connsiteX1" fmla="*/ 196948 w 3418449"/>
                <a:gd name="connsiteY1" fmla="*/ 450166 h 1097280"/>
                <a:gd name="connsiteX2" fmla="*/ 604911 w 3418449"/>
                <a:gd name="connsiteY2" fmla="*/ 70338 h 1097280"/>
                <a:gd name="connsiteX3" fmla="*/ 844062 w 3418449"/>
                <a:gd name="connsiteY3" fmla="*/ 872197 h 1097280"/>
                <a:gd name="connsiteX4" fmla="*/ 1195754 w 3418449"/>
                <a:gd name="connsiteY4" fmla="*/ 281354 h 1097280"/>
                <a:gd name="connsiteX5" fmla="*/ 1589649 w 3418449"/>
                <a:gd name="connsiteY5" fmla="*/ 1026942 h 1097280"/>
                <a:gd name="connsiteX6" fmla="*/ 1997613 w 3418449"/>
                <a:gd name="connsiteY6" fmla="*/ 84406 h 1097280"/>
                <a:gd name="connsiteX7" fmla="*/ 2644726 w 3418449"/>
                <a:gd name="connsiteY7" fmla="*/ 815926 h 1097280"/>
                <a:gd name="connsiteX8" fmla="*/ 3010486 w 3418449"/>
                <a:gd name="connsiteY8" fmla="*/ 253218 h 1097280"/>
                <a:gd name="connsiteX9" fmla="*/ 3418449 w 3418449"/>
                <a:gd name="connsiteY9" fmla="*/ 1097280 h 109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18449" h="1097280">
                  <a:moveTo>
                    <a:pt x="0" y="1097280"/>
                  </a:moveTo>
                  <a:cubicBezTo>
                    <a:pt x="48065" y="859301"/>
                    <a:pt x="96130" y="621323"/>
                    <a:pt x="196948" y="450166"/>
                  </a:cubicBezTo>
                  <a:cubicBezTo>
                    <a:pt x="297767" y="279009"/>
                    <a:pt x="497059" y="0"/>
                    <a:pt x="604911" y="70338"/>
                  </a:cubicBezTo>
                  <a:cubicBezTo>
                    <a:pt x="712763" y="140676"/>
                    <a:pt x="745588" y="837028"/>
                    <a:pt x="844062" y="872197"/>
                  </a:cubicBezTo>
                  <a:cubicBezTo>
                    <a:pt x="942536" y="907366"/>
                    <a:pt x="1071490" y="255563"/>
                    <a:pt x="1195754" y="281354"/>
                  </a:cubicBezTo>
                  <a:cubicBezTo>
                    <a:pt x="1320019" y="307145"/>
                    <a:pt x="1456006" y="1059767"/>
                    <a:pt x="1589649" y="1026942"/>
                  </a:cubicBezTo>
                  <a:cubicBezTo>
                    <a:pt x="1723292" y="994117"/>
                    <a:pt x="1821767" y="119575"/>
                    <a:pt x="1997613" y="84406"/>
                  </a:cubicBezTo>
                  <a:cubicBezTo>
                    <a:pt x="2173459" y="49237"/>
                    <a:pt x="2475914" y="787791"/>
                    <a:pt x="2644726" y="815926"/>
                  </a:cubicBezTo>
                  <a:cubicBezTo>
                    <a:pt x="2813538" y="844061"/>
                    <a:pt x="2881532" y="206326"/>
                    <a:pt x="3010486" y="253218"/>
                  </a:cubicBezTo>
                  <a:cubicBezTo>
                    <a:pt x="3139440" y="300110"/>
                    <a:pt x="3418449" y="1097280"/>
                    <a:pt x="3418449" y="109728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2" name="Slide Number Placeholder 1"/>
          <p:cNvSpPr>
            <a:spLocks noGrp="1"/>
          </p:cNvSpPr>
          <p:nvPr>
            <p:ph type="sldNum" sz="quarter" idx="12"/>
          </p:nvPr>
        </p:nvSpPr>
        <p:spPr/>
        <p:txBody>
          <a:bodyPr/>
          <a:lstStyle/>
          <a:p>
            <a:fld id="{7A0D5CAB-8BF0-4EA3-BAE4-9835C852A49B}" type="slidenum">
              <a:rPr lang="en-GB" smtClean="0"/>
              <a:pPr/>
              <a:t>27</a:t>
            </a:fld>
            <a:endParaRPr lang="en-GB"/>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562074"/>
          </a:xfrm>
        </p:spPr>
        <p:txBody>
          <a:bodyPr>
            <a:normAutofit fontScale="90000"/>
          </a:bodyPr>
          <a:lstStyle/>
          <a:p>
            <a:r>
              <a:rPr lang="en-GB" sz="3200" dirty="0"/>
              <a:t>Classification of Control Systems</a:t>
            </a:r>
          </a:p>
        </p:txBody>
      </p:sp>
      <p:grpSp>
        <p:nvGrpSpPr>
          <p:cNvPr id="63" name="Group 62"/>
          <p:cNvGrpSpPr/>
          <p:nvPr/>
        </p:nvGrpSpPr>
        <p:grpSpPr>
          <a:xfrm>
            <a:off x="755576" y="815298"/>
            <a:ext cx="7832128" cy="5682995"/>
            <a:chOff x="755576" y="815298"/>
            <a:chExt cx="7832128" cy="5682995"/>
          </a:xfrm>
        </p:grpSpPr>
        <p:sp>
          <p:nvSpPr>
            <p:cNvPr id="11" name="TextBox 10"/>
            <p:cNvSpPr txBox="1"/>
            <p:nvPr/>
          </p:nvSpPr>
          <p:spPr>
            <a:xfrm>
              <a:off x="3762030" y="815298"/>
              <a:ext cx="1686872" cy="369332"/>
            </a:xfrm>
            <a:prstGeom prst="rect">
              <a:avLst/>
            </a:prstGeom>
            <a:noFill/>
          </p:spPr>
          <p:txBody>
            <a:bodyPr wrap="none" rtlCol="0">
              <a:spAutoFit/>
            </a:bodyPr>
            <a:lstStyle/>
            <a:p>
              <a:r>
                <a:rPr lang="en-GB" dirty="0"/>
                <a:t>Control Systems</a:t>
              </a:r>
            </a:p>
          </p:txBody>
        </p:sp>
        <p:sp>
          <p:nvSpPr>
            <p:cNvPr id="12" name="TextBox 11"/>
            <p:cNvSpPr txBox="1"/>
            <p:nvPr/>
          </p:nvSpPr>
          <p:spPr>
            <a:xfrm>
              <a:off x="3444773" y="2023045"/>
              <a:ext cx="879921" cy="369332"/>
            </a:xfrm>
            <a:prstGeom prst="rect">
              <a:avLst/>
            </a:prstGeom>
            <a:noFill/>
          </p:spPr>
          <p:txBody>
            <a:bodyPr wrap="none" rtlCol="0">
              <a:spAutoFit/>
            </a:bodyPr>
            <a:lstStyle/>
            <a:p>
              <a:r>
                <a:rPr lang="en-GB" dirty="0"/>
                <a:t>Natural</a:t>
              </a:r>
            </a:p>
          </p:txBody>
        </p:sp>
        <p:sp>
          <p:nvSpPr>
            <p:cNvPr id="13" name="TextBox 12"/>
            <p:cNvSpPr txBox="1"/>
            <p:nvPr/>
          </p:nvSpPr>
          <p:spPr>
            <a:xfrm>
              <a:off x="4595742" y="2023045"/>
              <a:ext cx="1217000" cy="369332"/>
            </a:xfrm>
            <a:prstGeom prst="rect">
              <a:avLst/>
            </a:prstGeom>
            <a:noFill/>
          </p:spPr>
          <p:txBody>
            <a:bodyPr wrap="none" rtlCol="0">
              <a:spAutoFit/>
            </a:bodyPr>
            <a:lstStyle/>
            <a:p>
              <a:r>
                <a:rPr lang="en-GB" dirty="0"/>
                <a:t>Man-made</a:t>
              </a:r>
            </a:p>
          </p:txBody>
        </p:sp>
        <p:sp>
          <p:nvSpPr>
            <p:cNvPr id="21" name="TextBox 20"/>
            <p:cNvSpPr txBox="1"/>
            <p:nvPr/>
          </p:nvSpPr>
          <p:spPr>
            <a:xfrm>
              <a:off x="4063707" y="3081551"/>
              <a:ext cx="899605" cy="369332"/>
            </a:xfrm>
            <a:prstGeom prst="rect">
              <a:avLst/>
            </a:prstGeom>
            <a:noFill/>
          </p:spPr>
          <p:txBody>
            <a:bodyPr wrap="none" rtlCol="0">
              <a:spAutoFit/>
            </a:bodyPr>
            <a:lstStyle/>
            <a:p>
              <a:r>
                <a:rPr lang="en-GB" dirty="0"/>
                <a:t>Manual</a:t>
              </a:r>
            </a:p>
          </p:txBody>
        </p:sp>
        <p:sp>
          <p:nvSpPr>
            <p:cNvPr id="22" name="TextBox 21"/>
            <p:cNvSpPr txBox="1"/>
            <p:nvPr/>
          </p:nvSpPr>
          <p:spPr>
            <a:xfrm>
              <a:off x="5225171" y="3061285"/>
              <a:ext cx="1156535" cy="369332"/>
            </a:xfrm>
            <a:prstGeom prst="rect">
              <a:avLst/>
            </a:prstGeom>
            <a:noFill/>
          </p:spPr>
          <p:txBody>
            <a:bodyPr wrap="none" rtlCol="0">
              <a:spAutoFit/>
            </a:bodyPr>
            <a:lstStyle/>
            <a:p>
              <a:r>
                <a:rPr lang="en-GB" dirty="0"/>
                <a:t>Automatic</a:t>
              </a:r>
            </a:p>
          </p:txBody>
        </p:sp>
        <p:sp>
          <p:nvSpPr>
            <p:cNvPr id="29" name="TextBox 28"/>
            <p:cNvSpPr txBox="1"/>
            <p:nvPr/>
          </p:nvSpPr>
          <p:spPr>
            <a:xfrm>
              <a:off x="4571848" y="4045170"/>
              <a:ext cx="1184940" cy="369332"/>
            </a:xfrm>
            <a:prstGeom prst="rect">
              <a:avLst/>
            </a:prstGeom>
            <a:noFill/>
          </p:spPr>
          <p:txBody>
            <a:bodyPr wrap="none" rtlCol="0">
              <a:spAutoFit/>
            </a:bodyPr>
            <a:lstStyle/>
            <a:p>
              <a:r>
                <a:rPr lang="en-GB" dirty="0"/>
                <a:t>Open-loop</a:t>
              </a:r>
            </a:p>
          </p:txBody>
        </p:sp>
        <p:sp>
          <p:nvSpPr>
            <p:cNvPr id="30" name="TextBox 29"/>
            <p:cNvSpPr txBox="1"/>
            <p:nvPr/>
          </p:nvSpPr>
          <p:spPr>
            <a:xfrm>
              <a:off x="5857252" y="4045170"/>
              <a:ext cx="1298753" cy="369332"/>
            </a:xfrm>
            <a:prstGeom prst="rect">
              <a:avLst/>
            </a:prstGeom>
            <a:noFill/>
          </p:spPr>
          <p:txBody>
            <a:bodyPr wrap="none" rtlCol="0">
              <a:spAutoFit/>
            </a:bodyPr>
            <a:lstStyle/>
            <a:p>
              <a:r>
                <a:rPr lang="en-GB" dirty="0"/>
                <a:t>Closed-loop</a:t>
              </a:r>
            </a:p>
          </p:txBody>
        </p:sp>
        <p:sp>
          <p:nvSpPr>
            <p:cNvPr id="36" name="TextBox 35"/>
            <p:cNvSpPr txBox="1"/>
            <p:nvPr/>
          </p:nvSpPr>
          <p:spPr>
            <a:xfrm>
              <a:off x="5201276" y="4990672"/>
              <a:ext cx="1181734" cy="369332"/>
            </a:xfrm>
            <a:prstGeom prst="rect">
              <a:avLst/>
            </a:prstGeom>
            <a:noFill/>
          </p:spPr>
          <p:txBody>
            <a:bodyPr wrap="none" rtlCol="0">
              <a:spAutoFit/>
            </a:bodyPr>
            <a:lstStyle/>
            <a:p>
              <a:r>
                <a:rPr lang="en-GB" dirty="0"/>
                <a:t>Non-linear</a:t>
              </a:r>
            </a:p>
          </p:txBody>
        </p:sp>
        <p:sp>
          <p:nvSpPr>
            <p:cNvPr id="37" name="TextBox 36"/>
            <p:cNvSpPr txBox="1"/>
            <p:nvPr/>
          </p:nvSpPr>
          <p:spPr>
            <a:xfrm>
              <a:off x="6717339" y="4897933"/>
              <a:ext cx="718466" cy="369332"/>
            </a:xfrm>
            <a:prstGeom prst="rect">
              <a:avLst/>
            </a:prstGeom>
            <a:noFill/>
          </p:spPr>
          <p:txBody>
            <a:bodyPr wrap="none" rtlCol="0">
              <a:spAutoFit/>
            </a:bodyPr>
            <a:lstStyle/>
            <a:p>
              <a:r>
                <a:rPr lang="en-GB" dirty="0"/>
                <a:t>linear</a:t>
              </a:r>
            </a:p>
          </p:txBody>
        </p:sp>
        <p:sp>
          <p:nvSpPr>
            <p:cNvPr id="43" name="TextBox 42"/>
            <p:cNvSpPr txBox="1"/>
            <p:nvPr/>
          </p:nvSpPr>
          <p:spPr>
            <a:xfrm>
              <a:off x="5753027" y="5918055"/>
              <a:ext cx="1354153" cy="369332"/>
            </a:xfrm>
            <a:prstGeom prst="rect">
              <a:avLst/>
            </a:prstGeom>
            <a:noFill/>
          </p:spPr>
          <p:txBody>
            <a:bodyPr wrap="none" rtlCol="0">
              <a:spAutoFit/>
            </a:bodyPr>
            <a:lstStyle/>
            <a:p>
              <a:r>
                <a:rPr lang="en-GB" dirty="0"/>
                <a:t>Time variant</a:t>
              </a:r>
            </a:p>
          </p:txBody>
        </p:sp>
        <p:sp>
          <p:nvSpPr>
            <p:cNvPr id="44" name="TextBox 43"/>
            <p:cNvSpPr txBox="1"/>
            <p:nvPr/>
          </p:nvSpPr>
          <p:spPr>
            <a:xfrm>
              <a:off x="7062671" y="5918055"/>
              <a:ext cx="1525033" cy="369332"/>
            </a:xfrm>
            <a:prstGeom prst="rect">
              <a:avLst/>
            </a:prstGeom>
            <a:noFill/>
          </p:spPr>
          <p:txBody>
            <a:bodyPr wrap="none" rtlCol="0">
              <a:spAutoFit/>
            </a:bodyPr>
            <a:lstStyle/>
            <a:p>
              <a:r>
                <a:rPr lang="en-GB" dirty="0"/>
                <a:t>Time invariant</a:t>
              </a:r>
            </a:p>
          </p:txBody>
        </p:sp>
        <p:sp>
          <p:nvSpPr>
            <p:cNvPr id="51" name="TextBox 50"/>
            <p:cNvSpPr txBox="1"/>
            <p:nvPr/>
          </p:nvSpPr>
          <p:spPr>
            <a:xfrm>
              <a:off x="755576" y="5132592"/>
              <a:ext cx="1181734" cy="369332"/>
            </a:xfrm>
            <a:prstGeom prst="rect">
              <a:avLst/>
            </a:prstGeom>
            <a:noFill/>
          </p:spPr>
          <p:txBody>
            <a:bodyPr wrap="none" rtlCol="0">
              <a:spAutoFit/>
            </a:bodyPr>
            <a:lstStyle/>
            <a:p>
              <a:r>
                <a:rPr lang="en-GB" dirty="0"/>
                <a:t>Non-linear</a:t>
              </a:r>
            </a:p>
          </p:txBody>
        </p:sp>
        <p:sp>
          <p:nvSpPr>
            <p:cNvPr id="52" name="TextBox 51"/>
            <p:cNvSpPr txBox="1"/>
            <p:nvPr/>
          </p:nvSpPr>
          <p:spPr>
            <a:xfrm>
              <a:off x="2199047" y="5202916"/>
              <a:ext cx="718466" cy="369332"/>
            </a:xfrm>
            <a:prstGeom prst="rect">
              <a:avLst/>
            </a:prstGeom>
            <a:noFill/>
          </p:spPr>
          <p:txBody>
            <a:bodyPr wrap="none" rtlCol="0">
              <a:spAutoFit/>
            </a:bodyPr>
            <a:lstStyle/>
            <a:p>
              <a:r>
                <a:rPr lang="en-GB" dirty="0"/>
                <a:t>linear</a:t>
              </a:r>
            </a:p>
          </p:txBody>
        </p:sp>
        <p:grpSp>
          <p:nvGrpSpPr>
            <p:cNvPr id="62" name="Group 61"/>
            <p:cNvGrpSpPr/>
            <p:nvPr/>
          </p:nvGrpSpPr>
          <p:grpSpPr>
            <a:xfrm>
              <a:off x="1332128" y="1281138"/>
              <a:ext cx="6377597" cy="4755085"/>
              <a:chOff x="1332128" y="1281138"/>
              <a:chExt cx="6377597" cy="4755085"/>
            </a:xfrm>
          </p:grpSpPr>
          <p:grpSp>
            <p:nvGrpSpPr>
              <p:cNvPr id="61" name="Group 60"/>
              <p:cNvGrpSpPr/>
              <p:nvPr/>
            </p:nvGrpSpPr>
            <p:grpSpPr>
              <a:xfrm>
                <a:off x="3905078" y="1281138"/>
                <a:ext cx="1263037" cy="741907"/>
                <a:chOff x="3905078" y="1281138"/>
                <a:chExt cx="1263037" cy="741907"/>
              </a:xfrm>
            </p:grpSpPr>
            <p:cxnSp>
              <p:nvCxnSpPr>
                <p:cNvPr id="5" name="Straight Connector 4"/>
                <p:cNvCxnSpPr/>
                <p:nvPr/>
              </p:nvCxnSpPr>
              <p:spPr>
                <a:xfrm flipH="1">
                  <a:off x="3905078" y="1559353"/>
                  <a:ext cx="1263037" cy="0"/>
                </a:xfrm>
                <a:prstGeom prst="line">
                  <a:avLst/>
                </a:prstGeom>
              </p:spPr>
              <p:style>
                <a:lnRef idx="2">
                  <a:schemeClr val="dk1"/>
                </a:lnRef>
                <a:fillRef idx="0">
                  <a:schemeClr val="dk1"/>
                </a:fillRef>
                <a:effectRef idx="1">
                  <a:schemeClr val="dk1"/>
                </a:effectRef>
                <a:fontRef idx="minor">
                  <a:schemeClr val="tx1"/>
                </a:fontRef>
              </p:style>
            </p:cxnSp>
            <p:cxnSp>
              <p:nvCxnSpPr>
                <p:cNvPr id="7" name="Straight Arrow Connector 6"/>
                <p:cNvCxnSpPr/>
                <p:nvPr/>
              </p:nvCxnSpPr>
              <p:spPr>
                <a:xfrm>
                  <a:off x="3905078" y="1559353"/>
                  <a:ext cx="0" cy="46369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8" name="Straight Arrow Connector 7"/>
                <p:cNvCxnSpPr/>
                <p:nvPr/>
              </p:nvCxnSpPr>
              <p:spPr>
                <a:xfrm>
                  <a:off x="5166025" y="1559353"/>
                  <a:ext cx="0" cy="46369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0" name="Straight Connector 9"/>
                <p:cNvCxnSpPr/>
                <p:nvPr/>
              </p:nvCxnSpPr>
              <p:spPr>
                <a:xfrm flipV="1">
                  <a:off x="4536597" y="1281138"/>
                  <a:ext cx="0" cy="278215"/>
                </a:xfrm>
                <a:prstGeom prst="line">
                  <a:avLst/>
                </a:prstGeom>
              </p:spPr>
              <p:style>
                <a:lnRef idx="2">
                  <a:schemeClr val="dk1"/>
                </a:lnRef>
                <a:fillRef idx="0">
                  <a:schemeClr val="dk1"/>
                </a:fillRef>
                <a:effectRef idx="1">
                  <a:schemeClr val="dk1"/>
                </a:effectRef>
                <a:fontRef idx="minor">
                  <a:schemeClr val="tx1"/>
                </a:fontRef>
              </p:style>
            </p:cxnSp>
          </p:grpSp>
          <p:grpSp>
            <p:nvGrpSpPr>
              <p:cNvPr id="23" name="Group 22"/>
              <p:cNvGrpSpPr/>
              <p:nvPr/>
            </p:nvGrpSpPr>
            <p:grpSpPr>
              <a:xfrm>
                <a:off x="4536597" y="2393998"/>
                <a:ext cx="1278573" cy="649127"/>
                <a:chOff x="899592" y="1484784"/>
                <a:chExt cx="1020512" cy="504024"/>
              </a:xfrm>
            </p:grpSpPr>
            <p:cxnSp>
              <p:nvCxnSpPr>
                <p:cNvPr id="17" name="Straight Connector 16"/>
                <p:cNvCxnSpPr/>
                <p:nvPr/>
              </p:nvCxnSpPr>
              <p:spPr>
                <a:xfrm flipH="1">
                  <a:off x="899592" y="1700808"/>
                  <a:ext cx="1008112" cy="0"/>
                </a:xfrm>
                <a:prstGeom prst="line">
                  <a:avLst/>
                </a:prstGeom>
              </p:spPr>
              <p:style>
                <a:lnRef idx="2">
                  <a:schemeClr val="dk1"/>
                </a:lnRef>
                <a:fillRef idx="0">
                  <a:schemeClr val="dk1"/>
                </a:fillRef>
                <a:effectRef idx="1">
                  <a:schemeClr val="dk1"/>
                </a:effectRef>
                <a:fontRef idx="minor">
                  <a:schemeClr val="tx1"/>
                </a:fontRef>
              </p:style>
            </p:cxnSp>
            <p:cxnSp>
              <p:nvCxnSpPr>
                <p:cNvPr id="18" name="Straight Arrow Connector 17"/>
                <p:cNvCxnSpPr/>
                <p:nvPr/>
              </p:nvCxnSpPr>
              <p:spPr>
                <a:xfrm>
                  <a:off x="899592" y="1700808"/>
                  <a:ext cx="0" cy="2880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9" name="Straight Arrow Connector 18"/>
                <p:cNvCxnSpPr/>
                <p:nvPr/>
              </p:nvCxnSpPr>
              <p:spPr>
                <a:xfrm>
                  <a:off x="1920104" y="1700808"/>
                  <a:ext cx="0" cy="2880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0" name="Straight Connector 19"/>
                <p:cNvCxnSpPr/>
                <p:nvPr/>
              </p:nvCxnSpPr>
              <p:spPr>
                <a:xfrm flipV="1">
                  <a:off x="1403648" y="1484784"/>
                  <a:ext cx="0" cy="216024"/>
                </a:xfrm>
                <a:prstGeom prst="line">
                  <a:avLst/>
                </a:prstGeom>
              </p:spPr>
              <p:style>
                <a:lnRef idx="2">
                  <a:schemeClr val="dk1"/>
                </a:lnRef>
                <a:fillRef idx="0">
                  <a:schemeClr val="dk1"/>
                </a:fillRef>
                <a:effectRef idx="1">
                  <a:schemeClr val="dk1"/>
                </a:effectRef>
                <a:fontRef idx="minor">
                  <a:schemeClr val="tx1"/>
                </a:fontRef>
              </p:style>
            </p:cxnSp>
          </p:grpSp>
          <p:grpSp>
            <p:nvGrpSpPr>
              <p:cNvPr id="24" name="Group 23"/>
              <p:cNvGrpSpPr/>
              <p:nvPr/>
            </p:nvGrpSpPr>
            <p:grpSpPr>
              <a:xfrm>
                <a:off x="5170205" y="3411972"/>
                <a:ext cx="1278573" cy="649127"/>
                <a:chOff x="899592" y="1484784"/>
                <a:chExt cx="1020512" cy="504024"/>
              </a:xfrm>
            </p:grpSpPr>
            <p:cxnSp>
              <p:nvCxnSpPr>
                <p:cNvPr id="25" name="Straight Connector 24"/>
                <p:cNvCxnSpPr/>
                <p:nvPr/>
              </p:nvCxnSpPr>
              <p:spPr>
                <a:xfrm flipH="1">
                  <a:off x="899592" y="1700808"/>
                  <a:ext cx="1008112" cy="0"/>
                </a:xfrm>
                <a:prstGeom prst="line">
                  <a:avLst/>
                </a:prstGeom>
              </p:spPr>
              <p:style>
                <a:lnRef idx="2">
                  <a:schemeClr val="dk1"/>
                </a:lnRef>
                <a:fillRef idx="0">
                  <a:schemeClr val="dk1"/>
                </a:fillRef>
                <a:effectRef idx="1">
                  <a:schemeClr val="dk1"/>
                </a:effectRef>
                <a:fontRef idx="minor">
                  <a:schemeClr val="tx1"/>
                </a:fontRef>
              </p:style>
            </p:cxnSp>
            <p:cxnSp>
              <p:nvCxnSpPr>
                <p:cNvPr id="26" name="Straight Arrow Connector 25"/>
                <p:cNvCxnSpPr/>
                <p:nvPr/>
              </p:nvCxnSpPr>
              <p:spPr>
                <a:xfrm>
                  <a:off x="899592" y="1700808"/>
                  <a:ext cx="0" cy="2880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7" name="Straight Arrow Connector 26"/>
                <p:cNvCxnSpPr/>
                <p:nvPr/>
              </p:nvCxnSpPr>
              <p:spPr>
                <a:xfrm>
                  <a:off x="1920104" y="1700808"/>
                  <a:ext cx="0" cy="2880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8" name="Straight Connector 27"/>
                <p:cNvCxnSpPr/>
                <p:nvPr/>
              </p:nvCxnSpPr>
              <p:spPr>
                <a:xfrm flipV="1">
                  <a:off x="1403648" y="1484784"/>
                  <a:ext cx="0" cy="216024"/>
                </a:xfrm>
                <a:prstGeom prst="line">
                  <a:avLst/>
                </a:prstGeom>
              </p:spPr>
              <p:style>
                <a:lnRef idx="2">
                  <a:schemeClr val="dk1"/>
                </a:lnRef>
                <a:fillRef idx="0">
                  <a:schemeClr val="dk1"/>
                </a:fillRef>
                <a:effectRef idx="1">
                  <a:schemeClr val="dk1"/>
                </a:effectRef>
                <a:fontRef idx="minor">
                  <a:schemeClr val="tx1"/>
                </a:fontRef>
              </p:style>
            </p:cxnSp>
          </p:grpSp>
          <p:grpSp>
            <p:nvGrpSpPr>
              <p:cNvPr id="31" name="Group 30"/>
              <p:cNvGrpSpPr/>
              <p:nvPr/>
            </p:nvGrpSpPr>
            <p:grpSpPr>
              <a:xfrm>
                <a:off x="5799634" y="4341545"/>
                <a:ext cx="1278573" cy="649127"/>
                <a:chOff x="899592" y="1484784"/>
                <a:chExt cx="1020512" cy="504024"/>
              </a:xfrm>
            </p:grpSpPr>
            <p:cxnSp>
              <p:nvCxnSpPr>
                <p:cNvPr id="32" name="Straight Connector 31"/>
                <p:cNvCxnSpPr/>
                <p:nvPr/>
              </p:nvCxnSpPr>
              <p:spPr>
                <a:xfrm flipH="1">
                  <a:off x="899592" y="1700808"/>
                  <a:ext cx="1008112" cy="0"/>
                </a:xfrm>
                <a:prstGeom prst="line">
                  <a:avLst/>
                </a:prstGeom>
              </p:spPr>
              <p:style>
                <a:lnRef idx="2">
                  <a:schemeClr val="dk1"/>
                </a:lnRef>
                <a:fillRef idx="0">
                  <a:schemeClr val="dk1"/>
                </a:fillRef>
                <a:effectRef idx="1">
                  <a:schemeClr val="dk1"/>
                </a:effectRef>
                <a:fontRef idx="minor">
                  <a:schemeClr val="tx1"/>
                </a:fontRef>
              </p:style>
            </p:cxnSp>
            <p:cxnSp>
              <p:nvCxnSpPr>
                <p:cNvPr id="33" name="Straight Arrow Connector 32"/>
                <p:cNvCxnSpPr/>
                <p:nvPr/>
              </p:nvCxnSpPr>
              <p:spPr>
                <a:xfrm>
                  <a:off x="899592" y="1700808"/>
                  <a:ext cx="0" cy="2880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4" name="Straight Arrow Connector 33"/>
                <p:cNvCxnSpPr/>
                <p:nvPr/>
              </p:nvCxnSpPr>
              <p:spPr>
                <a:xfrm>
                  <a:off x="1920104" y="1700808"/>
                  <a:ext cx="0" cy="2880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5" name="Straight Connector 34"/>
                <p:cNvCxnSpPr/>
                <p:nvPr/>
              </p:nvCxnSpPr>
              <p:spPr>
                <a:xfrm flipV="1">
                  <a:off x="1403648" y="1484784"/>
                  <a:ext cx="0" cy="216024"/>
                </a:xfrm>
                <a:prstGeom prst="line">
                  <a:avLst/>
                </a:prstGeom>
              </p:spPr>
              <p:style>
                <a:lnRef idx="2">
                  <a:schemeClr val="dk1"/>
                </a:lnRef>
                <a:fillRef idx="0">
                  <a:schemeClr val="dk1"/>
                </a:fillRef>
                <a:effectRef idx="1">
                  <a:schemeClr val="dk1"/>
                </a:effectRef>
                <a:fontRef idx="minor">
                  <a:schemeClr val="tx1"/>
                </a:fontRef>
              </p:style>
            </p:cxnSp>
          </p:grpSp>
          <p:grpSp>
            <p:nvGrpSpPr>
              <p:cNvPr id="38" name="Group 37"/>
              <p:cNvGrpSpPr/>
              <p:nvPr/>
            </p:nvGrpSpPr>
            <p:grpSpPr>
              <a:xfrm>
                <a:off x="6431152" y="5268887"/>
                <a:ext cx="1278573" cy="649127"/>
                <a:chOff x="899592" y="1484784"/>
                <a:chExt cx="1020512" cy="504024"/>
              </a:xfrm>
            </p:grpSpPr>
            <p:cxnSp>
              <p:nvCxnSpPr>
                <p:cNvPr id="39" name="Straight Connector 38"/>
                <p:cNvCxnSpPr/>
                <p:nvPr/>
              </p:nvCxnSpPr>
              <p:spPr>
                <a:xfrm flipH="1">
                  <a:off x="899592" y="1700808"/>
                  <a:ext cx="1008112" cy="0"/>
                </a:xfrm>
                <a:prstGeom prst="line">
                  <a:avLst/>
                </a:prstGeom>
              </p:spPr>
              <p:style>
                <a:lnRef idx="2">
                  <a:schemeClr val="dk1"/>
                </a:lnRef>
                <a:fillRef idx="0">
                  <a:schemeClr val="dk1"/>
                </a:fillRef>
                <a:effectRef idx="1">
                  <a:schemeClr val="dk1"/>
                </a:effectRef>
                <a:fontRef idx="minor">
                  <a:schemeClr val="tx1"/>
                </a:fontRef>
              </p:style>
            </p:cxnSp>
            <p:cxnSp>
              <p:nvCxnSpPr>
                <p:cNvPr id="40" name="Straight Arrow Connector 39"/>
                <p:cNvCxnSpPr/>
                <p:nvPr/>
              </p:nvCxnSpPr>
              <p:spPr>
                <a:xfrm>
                  <a:off x="899592" y="1700808"/>
                  <a:ext cx="0" cy="2880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1" name="Straight Arrow Connector 40"/>
                <p:cNvCxnSpPr/>
                <p:nvPr/>
              </p:nvCxnSpPr>
              <p:spPr>
                <a:xfrm>
                  <a:off x="1920104" y="1700808"/>
                  <a:ext cx="0" cy="2880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2" name="Straight Connector 41"/>
                <p:cNvCxnSpPr/>
                <p:nvPr/>
              </p:nvCxnSpPr>
              <p:spPr>
                <a:xfrm flipV="1">
                  <a:off x="1403648" y="1484784"/>
                  <a:ext cx="0" cy="216024"/>
                </a:xfrm>
                <a:prstGeom prst="line">
                  <a:avLst/>
                </a:prstGeom>
              </p:spPr>
              <p:style>
                <a:lnRef idx="2">
                  <a:schemeClr val="dk1"/>
                </a:lnRef>
                <a:fillRef idx="0">
                  <a:schemeClr val="dk1"/>
                </a:fillRef>
                <a:effectRef idx="1">
                  <a:schemeClr val="dk1"/>
                </a:effectRef>
                <a:fontRef idx="minor">
                  <a:schemeClr val="tx1"/>
                </a:fontRef>
              </p:style>
            </p:cxnSp>
          </p:grpSp>
          <p:grpSp>
            <p:nvGrpSpPr>
              <p:cNvPr id="46" name="Group 45"/>
              <p:cNvGrpSpPr/>
              <p:nvPr/>
            </p:nvGrpSpPr>
            <p:grpSpPr>
              <a:xfrm>
                <a:off x="1332128" y="4459671"/>
                <a:ext cx="3483209" cy="649127"/>
                <a:chOff x="-872472" y="1484784"/>
                <a:chExt cx="2780176" cy="504024"/>
              </a:xfrm>
            </p:grpSpPr>
            <p:cxnSp>
              <p:nvCxnSpPr>
                <p:cNvPr id="47" name="Straight Connector 46"/>
                <p:cNvCxnSpPr/>
                <p:nvPr/>
              </p:nvCxnSpPr>
              <p:spPr>
                <a:xfrm flipH="1">
                  <a:off x="-872472" y="1700808"/>
                  <a:ext cx="2772000" cy="0"/>
                </a:xfrm>
                <a:prstGeom prst="line">
                  <a:avLst/>
                </a:prstGeom>
              </p:spPr>
              <p:style>
                <a:lnRef idx="2">
                  <a:schemeClr val="dk1"/>
                </a:lnRef>
                <a:fillRef idx="0">
                  <a:schemeClr val="dk1"/>
                </a:fillRef>
                <a:effectRef idx="1">
                  <a:schemeClr val="dk1"/>
                </a:effectRef>
                <a:fontRef idx="minor">
                  <a:schemeClr val="tx1"/>
                </a:fontRef>
              </p:style>
            </p:cxnSp>
            <p:cxnSp>
              <p:nvCxnSpPr>
                <p:cNvPr id="48" name="Straight Arrow Connector 47"/>
                <p:cNvCxnSpPr/>
                <p:nvPr/>
              </p:nvCxnSpPr>
              <p:spPr>
                <a:xfrm>
                  <a:off x="-872472" y="1700808"/>
                  <a:ext cx="0" cy="2880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9" name="Straight Arrow Connector 48"/>
                <p:cNvCxnSpPr/>
                <p:nvPr/>
              </p:nvCxnSpPr>
              <p:spPr>
                <a:xfrm>
                  <a:off x="137308" y="1700808"/>
                  <a:ext cx="0" cy="2880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50" name="Straight Connector 49"/>
                <p:cNvCxnSpPr/>
                <p:nvPr/>
              </p:nvCxnSpPr>
              <p:spPr>
                <a:xfrm flipV="1">
                  <a:off x="1907704" y="1484784"/>
                  <a:ext cx="0" cy="216024"/>
                </a:xfrm>
                <a:prstGeom prst="line">
                  <a:avLst/>
                </a:prstGeom>
              </p:spPr>
              <p:style>
                <a:lnRef idx="2">
                  <a:schemeClr val="dk1"/>
                </a:lnRef>
                <a:fillRef idx="0">
                  <a:schemeClr val="dk1"/>
                </a:fillRef>
                <a:effectRef idx="1">
                  <a:schemeClr val="dk1"/>
                </a:effectRef>
                <a:fontRef idx="minor">
                  <a:schemeClr val="tx1"/>
                </a:fontRef>
              </p:style>
            </p:cxnSp>
          </p:grpSp>
          <p:grpSp>
            <p:nvGrpSpPr>
              <p:cNvPr id="53" name="Group 52"/>
              <p:cNvGrpSpPr/>
              <p:nvPr/>
            </p:nvGrpSpPr>
            <p:grpSpPr>
              <a:xfrm>
                <a:off x="2875999" y="5387096"/>
                <a:ext cx="2886621" cy="649127"/>
                <a:chOff x="-872472" y="1484784"/>
                <a:chExt cx="2780176" cy="504024"/>
              </a:xfrm>
            </p:grpSpPr>
            <p:cxnSp>
              <p:nvCxnSpPr>
                <p:cNvPr id="54" name="Straight Connector 53"/>
                <p:cNvCxnSpPr/>
                <p:nvPr/>
              </p:nvCxnSpPr>
              <p:spPr>
                <a:xfrm flipH="1">
                  <a:off x="-872472" y="1700808"/>
                  <a:ext cx="2772000" cy="0"/>
                </a:xfrm>
                <a:prstGeom prst="line">
                  <a:avLst/>
                </a:prstGeom>
              </p:spPr>
              <p:style>
                <a:lnRef idx="2">
                  <a:schemeClr val="dk1"/>
                </a:lnRef>
                <a:fillRef idx="0">
                  <a:schemeClr val="dk1"/>
                </a:fillRef>
                <a:effectRef idx="1">
                  <a:schemeClr val="dk1"/>
                </a:effectRef>
                <a:fontRef idx="minor">
                  <a:schemeClr val="tx1"/>
                </a:fontRef>
              </p:style>
            </p:cxnSp>
            <p:cxnSp>
              <p:nvCxnSpPr>
                <p:cNvPr id="55" name="Straight Arrow Connector 54"/>
                <p:cNvCxnSpPr/>
                <p:nvPr/>
              </p:nvCxnSpPr>
              <p:spPr>
                <a:xfrm>
                  <a:off x="-872472" y="1700808"/>
                  <a:ext cx="0" cy="2880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56" name="Straight Arrow Connector 55"/>
                <p:cNvCxnSpPr/>
                <p:nvPr/>
              </p:nvCxnSpPr>
              <p:spPr>
                <a:xfrm>
                  <a:off x="425891" y="1700808"/>
                  <a:ext cx="0" cy="2880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57" name="Straight Connector 56"/>
                <p:cNvCxnSpPr/>
                <p:nvPr/>
              </p:nvCxnSpPr>
              <p:spPr>
                <a:xfrm flipV="1">
                  <a:off x="1907704" y="1484784"/>
                  <a:ext cx="0" cy="216024"/>
                </a:xfrm>
                <a:prstGeom prst="line">
                  <a:avLst/>
                </a:prstGeom>
              </p:spPr>
              <p:style>
                <a:lnRef idx="2">
                  <a:schemeClr val="dk1"/>
                </a:lnRef>
                <a:fillRef idx="0">
                  <a:schemeClr val="dk1"/>
                </a:fillRef>
                <a:effectRef idx="1">
                  <a:schemeClr val="dk1"/>
                </a:effectRef>
                <a:fontRef idx="minor">
                  <a:schemeClr val="tx1"/>
                </a:fontRef>
              </p:style>
            </p:cxnSp>
          </p:grpSp>
        </p:grpSp>
        <p:sp>
          <p:nvSpPr>
            <p:cNvPr id="58" name="TextBox 57"/>
            <p:cNvSpPr txBox="1"/>
            <p:nvPr/>
          </p:nvSpPr>
          <p:spPr>
            <a:xfrm>
              <a:off x="2177537" y="6128961"/>
              <a:ext cx="1354153" cy="369332"/>
            </a:xfrm>
            <a:prstGeom prst="rect">
              <a:avLst/>
            </a:prstGeom>
            <a:noFill/>
          </p:spPr>
          <p:txBody>
            <a:bodyPr wrap="none" rtlCol="0">
              <a:spAutoFit/>
            </a:bodyPr>
            <a:lstStyle/>
            <a:p>
              <a:r>
                <a:rPr lang="en-GB" dirty="0"/>
                <a:t>Time variant</a:t>
              </a:r>
            </a:p>
          </p:txBody>
        </p:sp>
        <p:sp>
          <p:nvSpPr>
            <p:cNvPr id="59" name="TextBox 58"/>
            <p:cNvSpPr txBox="1"/>
            <p:nvPr/>
          </p:nvSpPr>
          <p:spPr>
            <a:xfrm>
              <a:off x="3552301" y="6114330"/>
              <a:ext cx="1525033" cy="369332"/>
            </a:xfrm>
            <a:prstGeom prst="rect">
              <a:avLst/>
            </a:prstGeom>
            <a:noFill/>
          </p:spPr>
          <p:txBody>
            <a:bodyPr wrap="none" rtlCol="0">
              <a:spAutoFit/>
            </a:bodyPr>
            <a:lstStyle/>
            <a:p>
              <a:r>
                <a:rPr lang="en-GB" dirty="0"/>
                <a:t>Time invariant</a:t>
              </a:r>
            </a:p>
          </p:txBody>
        </p:sp>
      </p:grpSp>
      <p:sp>
        <p:nvSpPr>
          <p:cNvPr id="64" name="Freeform 63"/>
          <p:cNvSpPr/>
          <p:nvPr/>
        </p:nvSpPr>
        <p:spPr>
          <a:xfrm>
            <a:off x="3582573" y="147711"/>
            <a:ext cx="5425439" cy="6485205"/>
          </a:xfrm>
          <a:custGeom>
            <a:avLst/>
            <a:gdLst>
              <a:gd name="connsiteX0" fmla="*/ 131298 w 5425439"/>
              <a:gd name="connsiteY0" fmla="*/ 794824 h 6485205"/>
              <a:gd name="connsiteX1" fmla="*/ 1003495 w 5425439"/>
              <a:gd name="connsiteY1" fmla="*/ 2286000 h 6485205"/>
              <a:gd name="connsiteX2" fmla="*/ 1692812 w 5425439"/>
              <a:gd name="connsiteY2" fmla="*/ 3284806 h 6485205"/>
              <a:gd name="connsiteX3" fmla="*/ 2382129 w 5425439"/>
              <a:gd name="connsiteY3" fmla="*/ 4339883 h 6485205"/>
              <a:gd name="connsiteX4" fmla="*/ 2944836 w 5425439"/>
              <a:gd name="connsiteY4" fmla="*/ 5015132 h 6485205"/>
              <a:gd name="connsiteX5" fmla="*/ 3606018 w 5425439"/>
              <a:gd name="connsiteY5" fmla="*/ 6126480 h 6485205"/>
              <a:gd name="connsiteX6" fmla="*/ 4942449 w 5425439"/>
              <a:gd name="connsiteY6" fmla="*/ 6323427 h 6485205"/>
              <a:gd name="connsiteX7" fmla="*/ 4900245 w 5425439"/>
              <a:gd name="connsiteY7" fmla="*/ 5155809 h 6485205"/>
              <a:gd name="connsiteX8" fmla="*/ 1791285 w 5425439"/>
              <a:gd name="connsiteY8" fmla="*/ 724486 h 6485205"/>
              <a:gd name="connsiteX9" fmla="*/ 131298 w 5425439"/>
              <a:gd name="connsiteY9" fmla="*/ 794824 h 6485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25439" h="6485205">
                <a:moveTo>
                  <a:pt x="131298" y="794824"/>
                </a:moveTo>
                <a:cubicBezTo>
                  <a:pt x="0" y="1055076"/>
                  <a:pt x="743243" y="1871003"/>
                  <a:pt x="1003495" y="2286000"/>
                </a:cubicBezTo>
                <a:cubicBezTo>
                  <a:pt x="1263747" y="2700997"/>
                  <a:pt x="1463040" y="2942492"/>
                  <a:pt x="1692812" y="3284806"/>
                </a:cubicBezTo>
                <a:cubicBezTo>
                  <a:pt x="1922584" y="3627120"/>
                  <a:pt x="2173458" y="4051495"/>
                  <a:pt x="2382129" y="4339883"/>
                </a:cubicBezTo>
                <a:cubicBezTo>
                  <a:pt x="2590800" y="4628271"/>
                  <a:pt x="2740855" y="4717366"/>
                  <a:pt x="2944836" y="5015132"/>
                </a:cubicBezTo>
                <a:cubicBezTo>
                  <a:pt x="3148817" y="5312898"/>
                  <a:pt x="3273083" y="5908431"/>
                  <a:pt x="3606018" y="6126480"/>
                </a:cubicBezTo>
                <a:cubicBezTo>
                  <a:pt x="3938954" y="6344529"/>
                  <a:pt x="4726745" y="6485205"/>
                  <a:pt x="4942449" y="6323427"/>
                </a:cubicBezTo>
                <a:cubicBezTo>
                  <a:pt x="5158153" y="6161649"/>
                  <a:pt x="5425439" y="6088966"/>
                  <a:pt x="4900245" y="5155809"/>
                </a:cubicBezTo>
                <a:cubicBezTo>
                  <a:pt x="4375051" y="4222652"/>
                  <a:pt x="2586109" y="1448972"/>
                  <a:pt x="1791285" y="724486"/>
                </a:cubicBezTo>
                <a:cubicBezTo>
                  <a:pt x="996461" y="0"/>
                  <a:pt x="262596" y="534572"/>
                  <a:pt x="131298" y="794824"/>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TextBox 64"/>
          <p:cNvSpPr txBox="1"/>
          <p:nvPr/>
        </p:nvSpPr>
        <p:spPr>
          <a:xfrm rot="3371579">
            <a:off x="4128570" y="3302736"/>
            <a:ext cx="5612883" cy="369332"/>
          </a:xfrm>
          <a:prstGeom prst="rect">
            <a:avLst/>
          </a:prstGeom>
          <a:noFill/>
        </p:spPr>
        <p:txBody>
          <a:bodyPr wrap="none" rtlCol="0">
            <a:spAutoFit/>
          </a:bodyPr>
          <a:lstStyle/>
          <a:p>
            <a:r>
              <a:rPr lang="en-GB" b="1" dirty="0" err="1">
                <a:effectLst>
                  <a:outerShdw blurRad="38100" dist="38100" dir="2700000" algn="tl">
                    <a:srgbClr val="000000">
                      <a:alpha val="43137"/>
                    </a:srgbClr>
                  </a:outerShdw>
                </a:effectLst>
              </a:rPr>
              <a:t>LTI</a:t>
            </a:r>
            <a:r>
              <a:rPr lang="en-GB" b="1" dirty="0">
                <a:effectLst>
                  <a:outerShdw blurRad="38100" dist="38100" dir="2700000" algn="tl">
                    <a:srgbClr val="000000">
                      <a:alpha val="43137"/>
                    </a:srgbClr>
                  </a:outerShdw>
                </a:effectLst>
              </a:rPr>
              <a:t>  Control Systems</a:t>
            </a:r>
            <a:r>
              <a:rPr lang="en-GB" dirty="0"/>
              <a:t>(Linear time invariant control systems)</a:t>
            </a:r>
          </a:p>
        </p:txBody>
      </p:sp>
      <p:sp>
        <p:nvSpPr>
          <p:cNvPr id="3" name="Slide Number Placeholder 2"/>
          <p:cNvSpPr>
            <a:spLocks noGrp="1"/>
          </p:cNvSpPr>
          <p:nvPr>
            <p:ph type="sldNum" sz="quarter" idx="12"/>
          </p:nvPr>
        </p:nvSpPr>
        <p:spPr/>
        <p:txBody>
          <a:bodyPr/>
          <a:lstStyle/>
          <a:p>
            <a:fld id="{7A0D5CAB-8BF0-4EA3-BAE4-9835C852A49B}" type="slidenum">
              <a:rPr lang="en-GB" smtClean="0"/>
              <a:pPr/>
              <a:t>28</a:t>
            </a:fld>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wipe(down)">
                                      <p:cBhvr>
                                        <p:cTn id="7" dur="5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5">
                                            <p:txEl>
                                              <p:pRg st="0" end="0"/>
                                            </p:txEl>
                                          </p:spTgt>
                                        </p:tgtEl>
                                        <p:attrNameLst>
                                          <p:attrName>style.visibility</p:attrName>
                                        </p:attrNameLst>
                                      </p:cBhvr>
                                      <p:to>
                                        <p:strVal val="visible"/>
                                      </p:to>
                                    </p:set>
                                    <p:animEffect transition="in" filter="fade">
                                      <p:cBhvr>
                                        <p:cTn id="12" dur="2000"/>
                                        <p:tgtEl>
                                          <p:spTgt spid="6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517525" y="447675"/>
            <a:ext cx="4453207" cy="523220"/>
          </a:xfrm>
          <a:prstGeom prst="rect">
            <a:avLst/>
          </a:prstGeom>
          <a:noFill/>
          <a:ln w="9525">
            <a:noFill/>
            <a:miter lim="800000"/>
            <a:headEnd/>
            <a:tailEnd/>
          </a:ln>
          <a:effectLst/>
        </p:spPr>
        <p:txBody>
          <a:bodyPr wrap="none">
            <a:spAutoFit/>
          </a:bodyPr>
          <a:lstStyle/>
          <a:p>
            <a:r>
              <a:rPr lang="en-US" sz="2800" b="1" dirty="0"/>
              <a:t>Examples of Control Systems</a:t>
            </a:r>
          </a:p>
        </p:txBody>
      </p:sp>
      <p:pic>
        <p:nvPicPr>
          <p:cNvPr id="6147" name="Picture 3"/>
          <p:cNvPicPr>
            <a:picLocks noChangeAspect="1" noChangeArrowheads="1"/>
          </p:cNvPicPr>
          <p:nvPr/>
        </p:nvPicPr>
        <p:blipFill>
          <a:blip r:embed="rId2" cstate="print"/>
          <a:srcRect l="9262" t="5904" r="16099" b="9963"/>
          <a:stretch>
            <a:fillRect/>
          </a:stretch>
        </p:blipFill>
        <p:spPr bwMode="auto">
          <a:xfrm>
            <a:off x="1979712" y="1662686"/>
            <a:ext cx="4608512" cy="5150690"/>
          </a:xfrm>
          <a:prstGeom prst="rect">
            <a:avLst/>
          </a:prstGeom>
          <a:noFill/>
          <a:ln w="9525">
            <a:noFill/>
            <a:miter lim="800000"/>
            <a:headEnd/>
            <a:tailEnd/>
          </a:ln>
          <a:effectLst/>
        </p:spPr>
      </p:pic>
      <p:sp>
        <p:nvSpPr>
          <p:cNvPr id="6148" name="Text Box 4"/>
          <p:cNvSpPr txBox="1">
            <a:spLocks noChangeArrowheads="1"/>
          </p:cNvSpPr>
          <p:nvPr/>
        </p:nvSpPr>
        <p:spPr bwMode="auto">
          <a:xfrm>
            <a:off x="593725" y="1124744"/>
            <a:ext cx="3213508" cy="430887"/>
          </a:xfrm>
          <a:prstGeom prst="rect">
            <a:avLst/>
          </a:prstGeom>
          <a:noFill/>
          <a:ln w="9525">
            <a:noFill/>
            <a:miter lim="800000"/>
            <a:headEnd/>
            <a:tailEnd/>
          </a:ln>
          <a:effectLst/>
        </p:spPr>
        <p:txBody>
          <a:bodyPr wrap="none">
            <a:spAutoFit/>
          </a:bodyPr>
          <a:lstStyle/>
          <a:p>
            <a:r>
              <a:rPr lang="en-US" sz="2200" dirty="0"/>
              <a:t>Water-level float regulator</a:t>
            </a:r>
          </a:p>
        </p:txBody>
      </p:sp>
      <p:sp>
        <p:nvSpPr>
          <p:cNvPr id="2" name="Slide Number Placeholder 1"/>
          <p:cNvSpPr>
            <a:spLocks noGrp="1"/>
          </p:cNvSpPr>
          <p:nvPr>
            <p:ph type="sldNum" sz="quarter" idx="12"/>
          </p:nvPr>
        </p:nvSpPr>
        <p:spPr/>
        <p:txBody>
          <a:bodyPr/>
          <a:lstStyle/>
          <a:p>
            <a:fld id="{7A0D5CAB-8BF0-4EA3-BAE4-9835C852A49B}" type="slidenum">
              <a:rPr lang="en-GB" smtClean="0"/>
              <a:pPr/>
              <a:t>29</a:t>
            </a:fld>
            <a:endParaRPr lang="en-GB"/>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cstate="print"/>
          <a:srcRect/>
          <a:stretch>
            <a:fillRect/>
          </a:stretch>
        </p:blipFill>
        <p:spPr bwMode="auto">
          <a:xfrm>
            <a:off x="1907704" y="1484784"/>
            <a:ext cx="5494633" cy="3768824"/>
          </a:xfrm>
          <a:prstGeom prst="rect">
            <a:avLst/>
          </a:prstGeom>
          <a:noFill/>
          <a:ln w="9525">
            <a:noFill/>
            <a:miter lim="800000"/>
            <a:headEnd/>
            <a:tailEnd/>
          </a:ln>
          <a:effectLst/>
        </p:spPr>
      </p:pic>
      <p:pic>
        <p:nvPicPr>
          <p:cNvPr id="10243" name="Picture 3"/>
          <p:cNvPicPr>
            <a:picLocks noChangeAspect="1" noChangeArrowheads="1"/>
          </p:cNvPicPr>
          <p:nvPr/>
        </p:nvPicPr>
        <p:blipFill>
          <a:blip r:embed="rId3" cstate="print"/>
          <a:srcRect/>
          <a:stretch>
            <a:fillRect/>
          </a:stretch>
        </p:blipFill>
        <p:spPr bwMode="auto">
          <a:xfrm>
            <a:off x="628648" y="5440288"/>
            <a:ext cx="8551864" cy="1157064"/>
          </a:xfrm>
          <a:prstGeom prst="rect">
            <a:avLst/>
          </a:prstGeom>
          <a:noFill/>
          <a:ln w="9525">
            <a:noFill/>
            <a:miter lim="800000"/>
            <a:headEnd/>
            <a:tailEnd/>
          </a:ln>
          <a:effectLst/>
        </p:spPr>
      </p:pic>
      <p:sp>
        <p:nvSpPr>
          <p:cNvPr id="10245" name="Text Box 5"/>
          <p:cNvSpPr txBox="1">
            <a:spLocks noChangeArrowheads="1"/>
          </p:cNvSpPr>
          <p:nvPr/>
        </p:nvSpPr>
        <p:spPr bwMode="auto">
          <a:xfrm>
            <a:off x="533400" y="457200"/>
            <a:ext cx="4453207" cy="523220"/>
          </a:xfrm>
          <a:prstGeom prst="rect">
            <a:avLst/>
          </a:prstGeom>
          <a:noFill/>
          <a:ln w="9525">
            <a:noFill/>
            <a:miter lim="800000"/>
            <a:headEnd/>
            <a:tailEnd/>
          </a:ln>
          <a:effectLst/>
        </p:spPr>
        <p:txBody>
          <a:bodyPr wrap="none">
            <a:spAutoFit/>
          </a:bodyPr>
          <a:lstStyle/>
          <a:p>
            <a:r>
              <a:rPr lang="en-US" sz="2800" b="1" dirty="0"/>
              <a:t>Examples of Control Systems</a:t>
            </a:r>
          </a:p>
        </p:txBody>
      </p:sp>
      <p:sp>
        <p:nvSpPr>
          <p:cNvPr id="2" name="Slide Number Placeholder 1"/>
          <p:cNvSpPr>
            <a:spLocks noGrp="1"/>
          </p:cNvSpPr>
          <p:nvPr>
            <p:ph type="sldNum" sz="quarter" idx="12"/>
          </p:nvPr>
        </p:nvSpPr>
        <p:spPr/>
        <p:txBody>
          <a:bodyPr/>
          <a:lstStyle/>
          <a:p>
            <a:fld id="{7A0D5CAB-8BF0-4EA3-BAE4-9835C852A49B}" type="slidenum">
              <a:rPr lang="en-GB" smtClean="0"/>
              <a:pPr/>
              <a:t>30</a:t>
            </a:fld>
            <a:endParaRPr lang="en-GB"/>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cstate="print"/>
          <a:srcRect/>
          <a:stretch>
            <a:fillRect/>
          </a:stretch>
        </p:blipFill>
        <p:spPr bwMode="auto">
          <a:xfrm>
            <a:off x="1556911" y="1219199"/>
            <a:ext cx="6111433" cy="4420077"/>
          </a:xfrm>
          <a:prstGeom prst="rect">
            <a:avLst/>
          </a:prstGeom>
          <a:noFill/>
          <a:ln w="9525">
            <a:noFill/>
            <a:miter lim="800000"/>
            <a:headEnd/>
            <a:tailEnd/>
          </a:ln>
          <a:effectLst/>
        </p:spPr>
      </p:pic>
      <p:pic>
        <p:nvPicPr>
          <p:cNvPr id="22531" name="Picture 3"/>
          <p:cNvPicPr>
            <a:picLocks noChangeAspect="1" noChangeArrowheads="1"/>
          </p:cNvPicPr>
          <p:nvPr/>
        </p:nvPicPr>
        <p:blipFill>
          <a:blip r:embed="rId3" cstate="print"/>
          <a:srcRect/>
          <a:stretch>
            <a:fillRect/>
          </a:stretch>
        </p:blipFill>
        <p:spPr bwMode="auto">
          <a:xfrm>
            <a:off x="1390060" y="5541640"/>
            <a:ext cx="6638324" cy="983704"/>
          </a:xfrm>
          <a:prstGeom prst="rect">
            <a:avLst/>
          </a:prstGeom>
          <a:noFill/>
          <a:ln w="9525">
            <a:noFill/>
            <a:miter lim="800000"/>
            <a:headEnd/>
            <a:tailEnd/>
          </a:ln>
          <a:effectLst/>
        </p:spPr>
      </p:pic>
      <p:sp>
        <p:nvSpPr>
          <p:cNvPr id="5" name="Text Box 4"/>
          <p:cNvSpPr txBox="1">
            <a:spLocks noChangeArrowheads="1"/>
          </p:cNvSpPr>
          <p:nvPr/>
        </p:nvSpPr>
        <p:spPr bwMode="auto">
          <a:xfrm>
            <a:off x="533400" y="457200"/>
            <a:ext cx="5953125" cy="519113"/>
          </a:xfrm>
          <a:prstGeom prst="rect">
            <a:avLst/>
          </a:prstGeom>
          <a:noFill/>
          <a:ln w="9525">
            <a:noFill/>
            <a:miter lim="800000"/>
            <a:headEnd/>
            <a:tailEnd/>
          </a:ln>
          <a:effectLst/>
        </p:spPr>
        <p:txBody>
          <a:bodyPr wrap="none">
            <a:spAutoFit/>
          </a:bodyPr>
          <a:lstStyle/>
          <a:p>
            <a:r>
              <a:rPr lang="en-US" sz="2800" b="1" dirty="0"/>
              <a:t>Examples of Modern Control Systems</a:t>
            </a:r>
          </a:p>
        </p:txBody>
      </p:sp>
      <p:sp>
        <p:nvSpPr>
          <p:cNvPr id="2" name="Slide Number Placeholder 1"/>
          <p:cNvSpPr>
            <a:spLocks noGrp="1"/>
          </p:cNvSpPr>
          <p:nvPr>
            <p:ph type="sldNum" sz="quarter" idx="12"/>
          </p:nvPr>
        </p:nvSpPr>
        <p:spPr/>
        <p:txBody>
          <a:bodyPr/>
          <a:lstStyle/>
          <a:p>
            <a:fld id="{7A0D5CAB-8BF0-4EA3-BAE4-9835C852A49B}" type="slidenum">
              <a:rPr lang="en-GB" smtClean="0"/>
              <a:pPr/>
              <a:t>31</a:t>
            </a:fld>
            <a:endParaRPr lang="en-GB"/>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DBEFAAA4-49AC-927C-3A21-387CDD49E147}"/>
              </a:ext>
            </a:extLst>
          </p:cNvPr>
          <p:cNvSpPr>
            <a:spLocks noGrp="1"/>
          </p:cNvSpPr>
          <p:nvPr>
            <p:ph type="ftr" sz="quarter" idx="10"/>
          </p:nvPr>
        </p:nvSpPr>
        <p:spPr/>
        <p:txBody>
          <a:bodyPr/>
          <a:lstStyle/>
          <a:p>
            <a:r>
              <a:rPr lang="en-US" altLang="en-US"/>
              <a:t>Control Systems Engineering, Fourth Edition </a:t>
            </a:r>
            <a:r>
              <a:rPr lang="en-US" altLang="en-US" i="0"/>
              <a:t>by Norman S. Nise</a:t>
            </a:r>
          </a:p>
          <a:p>
            <a:r>
              <a:rPr lang="en-US" altLang="en-US" i="0"/>
              <a:t>Copyright © 2004 by John Wiley &amp; Sons. All rights reserved.</a:t>
            </a:r>
          </a:p>
        </p:txBody>
      </p:sp>
      <p:pic>
        <p:nvPicPr>
          <p:cNvPr id="700418" name="Picture 2">
            <a:extLst>
              <a:ext uri="{FF2B5EF4-FFF2-40B4-BE49-F238E27FC236}">
                <a16:creationId xmlns:a16="http://schemas.microsoft.com/office/drawing/2014/main" id="{DE4B473F-4982-9EF3-C34A-6F48CA853E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971800"/>
            <a:ext cx="8534400" cy="245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0419" name="Rectangle 3">
            <a:extLst>
              <a:ext uri="{FF2B5EF4-FFF2-40B4-BE49-F238E27FC236}">
                <a16:creationId xmlns:a16="http://schemas.microsoft.com/office/drawing/2014/main" id="{1CB9961D-C88D-AA7F-8EB6-90001B865945}"/>
              </a:ext>
            </a:extLst>
          </p:cNvPr>
          <p:cNvSpPr>
            <a:spLocks noGrp="1" noChangeArrowheads="1"/>
          </p:cNvSpPr>
          <p:nvPr>
            <p:ph type="title"/>
          </p:nvPr>
        </p:nvSpPr>
        <p:spPr/>
        <p:txBody>
          <a:bodyPr>
            <a:normAutofit fontScale="90000"/>
          </a:bodyPr>
          <a:lstStyle/>
          <a:p>
            <a:r>
              <a:rPr lang="en-US" altLang="en-US" b="1"/>
              <a:t>Figure 1.11</a:t>
            </a:r>
            <a:br>
              <a:rPr lang="en-US" altLang="en-US" b="1"/>
            </a:br>
            <a:r>
              <a:rPr lang="en-US" altLang="en-US"/>
              <a:t>The control system design process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E25F2ABB-68BC-7C67-C0A9-C9A11C0984F5}"/>
              </a:ext>
            </a:extLst>
          </p:cNvPr>
          <p:cNvSpPr>
            <a:spLocks noGrp="1"/>
          </p:cNvSpPr>
          <p:nvPr>
            <p:ph type="ftr" sz="quarter" idx="10"/>
          </p:nvPr>
        </p:nvSpPr>
        <p:spPr/>
        <p:txBody>
          <a:bodyPr/>
          <a:lstStyle/>
          <a:p>
            <a:r>
              <a:rPr lang="en-US" altLang="en-US" dirty="0"/>
              <a:t>Control Systems Engineering, Fourth Edition </a:t>
            </a:r>
            <a:r>
              <a:rPr lang="en-US" altLang="en-US" i="0" dirty="0"/>
              <a:t>by Norman S. Nise</a:t>
            </a:r>
          </a:p>
          <a:p>
            <a:r>
              <a:rPr lang="en-US" altLang="en-US" i="0" dirty="0"/>
              <a:t>Copyright © 2004 by John Wiley &amp; Sons. All rights reserved.</a:t>
            </a:r>
          </a:p>
        </p:txBody>
      </p:sp>
      <p:sp>
        <p:nvSpPr>
          <p:cNvPr id="702466" name="Rectangle 2">
            <a:extLst>
              <a:ext uri="{FF2B5EF4-FFF2-40B4-BE49-F238E27FC236}">
                <a16:creationId xmlns:a16="http://schemas.microsoft.com/office/drawing/2014/main" id="{EBC854C0-1D3A-8DF6-EEEA-0F7FAFCE1EA5}"/>
              </a:ext>
            </a:extLst>
          </p:cNvPr>
          <p:cNvSpPr>
            <a:spLocks noGrp="1" noChangeArrowheads="1"/>
          </p:cNvSpPr>
          <p:nvPr>
            <p:ph type="title"/>
          </p:nvPr>
        </p:nvSpPr>
        <p:spPr/>
        <p:txBody>
          <a:bodyPr>
            <a:normAutofit fontScale="90000"/>
          </a:bodyPr>
          <a:lstStyle/>
          <a:p>
            <a:r>
              <a:rPr lang="en-US" altLang="en-US" b="1"/>
              <a:t>Table 1.1</a:t>
            </a:r>
            <a:br>
              <a:rPr lang="en-US" altLang="en-US" b="1"/>
            </a:br>
            <a:r>
              <a:rPr lang="en-US" altLang="en-US"/>
              <a:t>Test waveforms used in control systems</a:t>
            </a:r>
          </a:p>
        </p:txBody>
      </p:sp>
      <p:sp>
        <p:nvSpPr>
          <p:cNvPr id="702467" name="Rectangle 3">
            <a:extLst>
              <a:ext uri="{FF2B5EF4-FFF2-40B4-BE49-F238E27FC236}">
                <a16:creationId xmlns:a16="http://schemas.microsoft.com/office/drawing/2014/main" id="{25D7192C-960C-1D01-5357-D40575254999}"/>
              </a:ext>
            </a:extLst>
          </p:cNvPr>
          <p:cNvSpPr>
            <a:spLocks noChangeArrowheads="1"/>
          </p:cNvSpPr>
          <p:nvPr/>
        </p:nvSpPr>
        <p:spPr bwMode="auto">
          <a:xfrm>
            <a:off x="457200" y="2971800"/>
            <a:ext cx="32004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sz="2400">
                <a:solidFill>
                  <a:schemeClr val="tx2"/>
                </a:solidFill>
                <a:latin typeface="Arial" panose="020B0604020202020204" pitchFamily="34" charset="0"/>
              </a:defRPr>
            </a:lvl1pPr>
            <a:lvl2pPr>
              <a:defRPr sz="2400">
                <a:solidFill>
                  <a:schemeClr val="tx2"/>
                </a:solidFill>
                <a:latin typeface="Arial" panose="020B0604020202020204" pitchFamily="34" charset="0"/>
              </a:defRPr>
            </a:lvl2pPr>
            <a:lvl3pPr>
              <a:defRPr sz="2400">
                <a:solidFill>
                  <a:schemeClr val="tx2"/>
                </a:solidFill>
                <a:latin typeface="Arial" panose="020B0604020202020204" pitchFamily="34" charset="0"/>
              </a:defRPr>
            </a:lvl3pPr>
            <a:lvl4pPr>
              <a:defRPr sz="2400">
                <a:solidFill>
                  <a:schemeClr val="tx2"/>
                </a:solidFill>
                <a:latin typeface="Arial" panose="020B0604020202020204" pitchFamily="34" charset="0"/>
              </a:defRPr>
            </a:lvl4pPr>
            <a:lvl5pPr>
              <a:defRPr sz="2400">
                <a:solidFill>
                  <a:schemeClr val="tx2"/>
                </a:solidFill>
                <a:latin typeface="Arial" panose="020B0604020202020204" pitchFamily="34" charset="0"/>
              </a:defRPr>
            </a:lvl5pPr>
            <a:lvl6pPr marL="457200" fontAlgn="base">
              <a:spcBef>
                <a:spcPct val="0"/>
              </a:spcBef>
              <a:spcAft>
                <a:spcPct val="0"/>
              </a:spcAft>
              <a:defRPr sz="2400">
                <a:solidFill>
                  <a:schemeClr val="tx2"/>
                </a:solidFill>
                <a:latin typeface="Arial" panose="020B0604020202020204" pitchFamily="34" charset="0"/>
              </a:defRPr>
            </a:lvl6pPr>
            <a:lvl7pPr marL="914400" fontAlgn="base">
              <a:spcBef>
                <a:spcPct val="0"/>
              </a:spcBef>
              <a:spcAft>
                <a:spcPct val="0"/>
              </a:spcAft>
              <a:defRPr sz="2400">
                <a:solidFill>
                  <a:schemeClr val="tx2"/>
                </a:solidFill>
                <a:latin typeface="Arial" panose="020B0604020202020204" pitchFamily="34" charset="0"/>
              </a:defRPr>
            </a:lvl7pPr>
            <a:lvl8pPr marL="1371600" fontAlgn="base">
              <a:spcBef>
                <a:spcPct val="0"/>
              </a:spcBef>
              <a:spcAft>
                <a:spcPct val="0"/>
              </a:spcAft>
              <a:defRPr sz="2400">
                <a:solidFill>
                  <a:schemeClr val="tx2"/>
                </a:solidFill>
                <a:latin typeface="Arial" panose="020B0604020202020204" pitchFamily="34" charset="0"/>
              </a:defRPr>
            </a:lvl8pPr>
            <a:lvl9pPr marL="1828800" fontAlgn="base">
              <a:spcBef>
                <a:spcPct val="0"/>
              </a:spcBef>
              <a:spcAft>
                <a:spcPct val="0"/>
              </a:spcAft>
              <a:defRPr sz="2400">
                <a:solidFill>
                  <a:schemeClr val="tx2"/>
                </a:solidFill>
                <a:latin typeface="Arial" panose="020B0604020202020204" pitchFamily="34" charset="0"/>
              </a:defRPr>
            </a:lvl9pPr>
          </a:lstStyle>
          <a:p>
            <a:endParaRPr lang="en-US" altLang="en-US" i="0">
              <a:latin typeface="NewsGothic-Bold;NewsGothic"/>
            </a:endParaRPr>
          </a:p>
        </p:txBody>
      </p:sp>
      <p:pic>
        <p:nvPicPr>
          <p:cNvPr id="702468" name="Picture 4">
            <a:extLst>
              <a:ext uri="{FF2B5EF4-FFF2-40B4-BE49-F238E27FC236}">
                <a16:creationId xmlns:a16="http://schemas.microsoft.com/office/drawing/2014/main" id="{BE903C6D-B65B-474F-8495-BC5E355D7B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1272380"/>
            <a:ext cx="4933528" cy="5173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372F5ECF-1313-7DBD-FF6A-AFE8AF6A0596}"/>
              </a:ext>
            </a:extLst>
          </p:cNvPr>
          <p:cNvSpPr>
            <a:spLocks noGrp="1"/>
          </p:cNvSpPr>
          <p:nvPr>
            <p:ph type="ftr" sz="quarter" idx="10"/>
          </p:nvPr>
        </p:nvSpPr>
        <p:spPr/>
        <p:txBody>
          <a:bodyPr/>
          <a:lstStyle/>
          <a:p>
            <a:r>
              <a:rPr lang="en-US" altLang="en-US" dirty="0"/>
              <a:t>Control Systems Engineering, Fourth Edition </a:t>
            </a:r>
            <a:r>
              <a:rPr lang="en-US" altLang="en-US" i="0" dirty="0"/>
              <a:t>by Norman S. Nise</a:t>
            </a:r>
          </a:p>
          <a:p>
            <a:r>
              <a:rPr lang="en-US" altLang="en-US" i="0" dirty="0"/>
              <a:t>.</a:t>
            </a:r>
          </a:p>
        </p:txBody>
      </p:sp>
      <p:pic>
        <p:nvPicPr>
          <p:cNvPr id="703490" name="Picture 2">
            <a:extLst>
              <a:ext uri="{FF2B5EF4-FFF2-40B4-BE49-F238E27FC236}">
                <a16:creationId xmlns:a16="http://schemas.microsoft.com/office/drawing/2014/main" id="{11999D8C-736B-B1E1-7C54-2F4AB31EA7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1772816"/>
            <a:ext cx="4505325" cy="3989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3491" name="Rectangle 3">
            <a:extLst>
              <a:ext uri="{FF2B5EF4-FFF2-40B4-BE49-F238E27FC236}">
                <a16:creationId xmlns:a16="http://schemas.microsoft.com/office/drawing/2014/main" id="{5DBFF944-93B4-C086-570B-D924C932C9F8}"/>
              </a:ext>
            </a:extLst>
          </p:cNvPr>
          <p:cNvSpPr>
            <a:spLocks noGrp="1" noChangeArrowheads="1"/>
          </p:cNvSpPr>
          <p:nvPr>
            <p:ph type="title"/>
          </p:nvPr>
        </p:nvSpPr>
        <p:spPr/>
        <p:txBody>
          <a:bodyPr>
            <a:normAutofit fontScale="90000"/>
          </a:bodyPr>
          <a:lstStyle/>
          <a:p>
            <a:r>
              <a:rPr lang="en-US" altLang="en-US" b="1"/>
              <a:t>Figure P1.1</a:t>
            </a:r>
            <a:br>
              <a:rPr lang="en-US" altLang="en-US"/>
            </a:br>
            <a:r>
              <a:rPr lang="en-US" altLang="en-US"/>
              <a:t>Potentiometer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A0D5CAB-8BF0-4EA3-BAE4-9835C852A49B}" type="slidenum">
              <a:rPr lang="en-GB" smtClean="0"/>
              <a:pPr/>
              <a:t>35</a:t>
            </a:fld>
            <a:endParaRPr lang="en-GB"/>
          </a:p>
        </p:txBody>
      </p:sp>
      <p:sp>
        <p:nvSpPr>
          <p:cNvPr id="6" name="Text Placeholder 5">
            <a:extLst>
              <a:ext uri="{FF2B5EF4-FFF2-40B4-BE49-F238E27FC236}">
                <a16:creationId xmlns:a16="http://schemas.microsoft.com/office/drawing/2014/main" id="{7CB618BB-8457-D39B-C8BF-FA81BCE74677}"/>
              </a:ext>
            </a:extLst>
          </p:cNvPr>
          <p:cNvSpPr>
            <a:spLocks noGrp="1"/>
          </p:cNvSpPr>
          <p:nvPr>
            <p:ph type="body" idx="1"/>
          </p:nvPr>
        </p:nvSpPr>
        <p:spPr/>
        <p:txBody>
          <a:bodyPr>
            <a:normAutofit/>
          </a:bodyPr>
          <a:lstStyle/>
          <a:p>
            <a:pPr algn="ctr"/>
            <a:r>
              <a:rPr lang="en-US" sz="6000" dirty="0"/>
              <a:t>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1892</TotalTime>
  <Words>1407</Words>
  <Application>Microsoft Office PowerPoint</Application>
  <PresentationFormat>On-screen Show (4:3)</PresentationFormat>
  <Paragraphs>296</Paragraphs>
  <Slides>35</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0" baseType="lpstr">
      <vt:lpstr>Arial</vt:lpstr>
      <vt:lpstr>Calibri</vt:lpstr>
      <vt:lpstr>NewsGothic-Bold;NewsGothic</vt:lpstr>
      <vt:lpstr>Office Theme</vt:lpstr>
      <vt:lpstr>Equation</vt:lpstr>
      <vt:lpstr>Control Systems (CS)</vt:lpstr>
      <vt:lpstr>Outline</vt:lpstr>
      <vt:lpstr>PowerPoint Presentation</vt:lpstr>
      <vt:lpstr>Text Books</vt:lpstr>
      <vt:lpstr>Reference Books</vt:lpstr>
      <vt:lpstr>Prerequisites</vt:lpstr>
      <vt:lpstr>What is Control System?</vt:lpstr>
      <vt:lpstr>PowerPoint Presentation</vt:lpstr>
      <vt:lpstr>PowerPoint Presentation</vt:lpstr>
      <vt:lpstr>PowerPoint Presentation</vt:lpstr>
      <vt:lpstr>Types of Control System </vt:lpstr>
      <vt:lpstr>Types of Control System </vt:lpstr>
      <vt:lpstr> Elevators</vt:lpstr>
      <vt:lpstr> Elevator input and output</vt:lpstr>
      <vt:lpstr>Types of Control System </vt:lpstr>
      <vt:lpstr>PowerPoint Presentation</vt:lpstr>
      <vt:lpstr>PowerPoint Presentation</vt:lpstr>
      <vt:lpstr>PowerPoint Presentation</vt:lpstr>
      <vt:lpstr>PowerPoint Presentation</vt:lpstr>
      <vt:lpstr>Figure 1.6 Block diagrams of control systems: a. open-loop system; b. closed-loop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Classification of Control Systems</vt:lpstr>
      <vt:lpstr>PowerPoint Presentation</vt:lpstr>
      <vt:lpstr>PowerPoint Presentation</vt:lpstr>
      <vt:lpstr>PowerPoint Presentation</vt:lpstr>
      <vt:lpstr>Figure 1.11 The control system design process</vt:lpstr>
      <vt:lpstr>Table 1.1 Test waveforms used in control systems</vt:lpstr>
      <vt:lpstr>Figure P1.1 Potentiometer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Arif</dc:creator>
  <cp:lastModifiedBy>Ayesha Ali</cp:lastModifiedBy>
  <cp:revision>325</cp:revision>
  <dcterms:created xsi:type="dcterms:W3CDTF">2012-07-01T09:15:58Z</dcterms:created>
  <dcterms:modified xsi:type="dcterms:W3CDTF">2025-09-01T04:53:12Z</dcterms:modified>
</cp:coreProperties>
</file>