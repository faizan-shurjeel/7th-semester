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11"/>
  </p:notesMasterIdLst>
  <p:handoutMasterIdLst>
    <p:handoutMasterId r:id="rId112"/>
  </p:handoutMasterIdLst>
  <p:sldIdLst>
    <p:sldId id="465" r:id="rId2"/>
    <p:sldId id="466" r:id="rId3"/>
    <p:sldId id="349" r:id="rId4"/>
    <p:sldId id="355" r:id="rId5"/>
    <p:sldId id="358" r:id="rId6"/>
    <p:sldId id="362" r:id="rId7"/>
    <p:sldId id="363" r:id="rId8"/>
    <p:sldId id="437" r:id="rId9"/>
    <p:sldId id="439" r:id="rId10"/>
    <p:sldId id="438" r:id="rId11"/>
    <p:sldId id="461" r:id="rId12"/>
    <p:sldId id="462" r:id="rId13"/>
    <p:sldId id="463" r:id="rId14"/>
    <p:sldId id="440" r:id="rId15"/>
    <p:sldId id="464" r:id="rId16"/>
    <p:sldId id="441" r:id="rId17"/>
    <p:sldId id="399" r:id="rId18"/>
    <p:sldId id="442" r:id="rId19"/>
    <p:sldId id="443" r:id="rId20"/>
    <p:sldId id="444" r:id="rId21"/>
    <p:sldId id="445" r:id="rId22"/>
    <p:sldId id="446" r:id="rId23"/>
    <p:sldId id="447" r:id="rId24"/>
    <p:sldId id="448" r:id="rId25"/>
    <p:sldId id="412" r:id="rId26"/>
    <p:sldId id="413" r:id="rId27"/>
    <p:sldId id="414" r:id="rId28"/>
    <p:sldId id="415" r:id="rId29"/>
    <p:sldId id="416" r:id="rId30"/>
    <p:sldId id="417" r:id="rId31"/>
    <p:sldId id="418" r:id="rId32"/>
    <p:sldId id="419" r:id="rId33"/>
    <p:sldId id="420" r:id="rId34"/>
    <p:sldId id="421" r:id="rId35"/>
    <p:sldId id="422" r:id="rId36"/>
    <p:sldId id="423" r:id="rId37"/>
    <p:sldId id="424" r:id="rId38"/>
    <p:sldId id="425" r:id="rId39"/>
    <p:sldId id="426" r:id="rId40"/>
    <p:sldId id="428" r:id="rId41"/>
    <p:sldId id="429" r:id="rId42"/>
    <p:sldId id="430" r:id="rId43"/>
    <p:sldId id="431" r:id="rId44"/>
    <p:sldId id="432" r:id="rId45"/>
    <p:sldId id="433" r:id="rId46"/>
    <p:sldId id="434" r:id="rId47"/>
    <p:sldId id="435" r:id="rId48"/>
    <p:sldId id="436" r:id="rId49"/>
    <p:sldId id="456" r:id="rId50"/>
    <p:sldId id="457" r:id="rId51"/>
    <p:sldId id="458" r:id="rId52"/>
    <p:sldId id="459" r:id="rId53"/>
    <p:sldId id="467" r:id="rId54"/>
    <p:sldId id="326" r:id="rId55"/>
    <p:sldId id="328" r:id="rId56"/>
    <p:sldId id="334" r:id="rId57"/>
    <p:sldId id="335" r:id="rId58"/>
    <p:sldId id="338" r:id="rId59"/>
    <p:sldId id="333" r:id="rId60"/>
    <p:sldId id="332" r:id="rId61"/>
    <p:sldId id="352" r:id="rId62"/>
    <p:sldId id="367" r:id="rId63"/>
    <p:sldId id="368" r:id="rId64"/>
    <p:sldId id="369" r:id="rId65"/>
    <p:sldId id="350" r:id="rId66"/>
    <p:sldId id="356" r:id="rId67"/>
    <p:sldId id="357" r:id="rId68"/>
    <p:sldId id="468" r:id="rId69"/>
    <p:sldId id="469" r:id="rId70"/>
    <p:sldId id="470" r:id="rId71"/>
    <p:sldId id="364" r:id="rId72"/>
    <p:sldId id="359" r:id="rId73"/>
    <p:sldId id="360" r:id="rId74"/>
    <p:sldId id="361" r:id="rId75"/>
    <p:sldId id="348" r:id="rId76"/>
    <p:sldId id="471" r:id="rId77"/>
    <p:sldId id="353" r:id="rId78"/>
    <p:sldId id="336" r:id="rId79"/>
    <p:sldId id="377" r:id="rId80"/>
    <p:sldId id="372" r:id="rId81"/>
    <p:sldId id="378" r:id="rId82"/>
    <p:sldId id="373" r:id="rId83"/>
    <p:sldId id="370" r:id="rId84"/>
    <p:sldId id="371" r:id="rId85"/>
    <p:sldId id="380" r:id="rId86"/>
    <p:sldId id="379" r:id="rId87"/>
    <p:sldId id="381" r:id="rId88"/>
    <p:sldId id="382" r:id="rId89"/>
    <p:sldId id="383" r:id="rId90"/>
    <p:sldId id="384" r:id="rId91"/>
    <p:sldId id="385" r:id="rId92"/>
    <p:sldId id="386" r:id="rId93"/>
    <p:sldId id="354" r:id="rId94"/>
    <p:sldId id="365" r:id="rId95"/>
    <p:sldId id="374" r:id="rId96"/>
    <p:sldId id="375" r:id="rId97"/>
    <p:sldId id="376" r:id="rId98"/>
    <p:sldId id="339" r:id="rId99"/>
    <p:sldId id="340" r:id="rId100"/>
    <p:sldId id="341" r:id="rId101"/>
    <p:sldId id="342" r:id="rId102"/>
    <p:sldId id="343" r:id="rId103"/>
    <p:sldId id="344" r:id="rId104"/>
    <p:sldId id="387" r:id="rId105"/>
    <p:sldId id="388" r:id="rId106"/>
    <p:sldId id="392" r:id="rId107"/>
    <p:sldId id="393" r:id="rId108"/>
    <p:sldId id="394" r:id="rId109"/>
    <p:sldId id="395" r:id="rId1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1E6"/>
    <a:srgbClr val="FEF6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94" autoAdjust="0"/>
    <p:restoredTop sz="94660"/>
  </p:normalViewPr>
  <p:slideViewPr>
    <p:cSldViewPr>
      <p:cViewPr varScale="1">
        <p:scale>
          <a:sx n="64" d="100"/>
          <a:sy n="64" d="100"/>
        </p:scale>
        <p:origin x="1578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handoutMaster" Target="handoutMasters/handoutMaster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275CD0-BF64-4EDA-A390-EA27F5FF7906}" type="datetimeFigureOut">
              <a:rPr lang="en-GB" smtClean="0"/>
              <a:pPr/>
              <a:t>22/09/2025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6C7654-C7C7-4BC9-B3D0-68A06137D36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68300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F374EF-CF58-40E7-81EF-EAF4FBD0518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AB61D7-8453-4374-B61E-326A0CDD6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402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E5BD45-B5A0-4654-B232-F8508C108E19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484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387CF-CE0A-4864-B4DC-7EE2A87B92C7}" type="datetime1">
              <a:rPr lang="en-GB" smtClean="0"/>
              <a:t>22/09/2025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E6606-3188-44A3-B192-CC0AAAEE5DD7}" type="datetime1">
              <a:rPr lang="en-GB" smtClean="0"/>
              <a:t>22/09/2025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445D9-4EF3-4812-8E00-6CC7F1AE8890}" type="datetime1">
              <a:rPr lang="en-GB" smtClean="0"/>
              <a:t>22/09/2025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169D6-27DA-45A4-989D-EDC2DAD7E89F}" type="datetime1">
              <a:rPr lang="en-GB" smtClean="0"/>
              <a:t>22/09/2025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1C69F-F623-4E3A-BF48-50717FC3BBDF}" type="datetime1">
              <a:rPr lang="en-GB" smtClean="0"/>
              <a:t>22/09/2025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F2A4E-73A2-4D3A-9A8B-1AF90718CDFF}" type="datetime1">
              <a:rPr lang="en-GB" smtClean="0"/>
              <a:t>22/09/2025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F43DF-B36F-46C9-95A9-D08361B1E570}" type="datetime1">
              <a:rPr lang="en-GB" smtClean="0"/>
              <a:t>22/09/2025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11984-4EC1-4FEC-837F-745441E7BB21}" type="datetime1">
              <a:rPr lang="en-GB" smtClean="0"/>
              <a:t>22/09/2025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3B7A8-4BC3-4907-83A6-A05C4EF0B6E8}" type="datetime1">
              <a:rPr lang="en-GB" smtClean="0"/>
              <a:t>22/09/2025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DC4A2-A981-4E36-A26E-934E608FB5E7}" type="datetime1">
              <a:rPr lang="en-GB" smtClean="0"/>
              <a:t>22/09/2025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3BC9F-F8E5-4907-A1D3-1F7D08F58D6E}" type="datetime1">
              <a:rPr lang="en-GB" smtClean="0"/>
              <a:t>22/09/2025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4771BF-F736-4659-B05D-E326F810F8AE}" type="datetime1">
              <a:rPr lang="en-GB" smtClean="0"/>
              <a:t>22/09/2025</a:t>
            </a:fld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C7DFB6-F363-45AB-835D-69A0B1EC36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195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BC12CC-2229-4F66-8198-B0C996824D91}" type="datetime1">
              <a:rPr lang="en-GB" smtClean="0"/>
              <a:t>22/09/2025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0D5CAB-8BF0-4EA3-BAE4-9835C852A49B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12" Type="http://schemas.openxmlformats.org/officeDocument/2006/relationships/image" Target="../media/image9.png"/><Relationship Id="rId17" Type="http://schemas.openxmlformats.org/officeDocument/2006/relationships/image" Target="../media/image5.png"/><Relationship Id="rId2" Type="http://schemas.openxmlformats.org/officeDocument/2006/relationships/oleObject" Target="../embeddings/oleObject1.bin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8.png"/><Relationship Id="rId5" Type="http://schemas.openxmlformats.org/officeDocument/2006/relationships/image" Target="../media/image2.wmf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6.wmf"/><Relationship Id="rId4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.wmf"/><Relationship Id="rId4" Type="http://schemas.openxmlformats.org/officeDocument/2006/relationships/oleObject" Target="../embeddings/oleObject7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13" Type="http://schemas.openxmlformats.org/officeDocument/2006/relationships/oleObject" Target="../embeddings/oleObject13.bin"/><Relationship Id="rId18" Type="http://schemas.openxmlformats.org/officeDocument/2006/relationships/image" Target="../media/image31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28.wmf"/><Relationship Id="rId17" Type="http://schemas.openxmlformats.org/officeDocument/2006/relationships/oleObject" Target="../embeddings/oleObject15.bin"/><Relationship Id="rId2" Type="http://schemas.openxmlformats.org/officeDocument/2006/relationships/image" Target="../media/image23.png"/><Relationship Id="rId16" Type="http://schemas.openxmlformats.org/officeDocument/2006/relationships/image" Target="../media/image30.wmf"/><Relationship Id="rId20" Type="http://schemas.openxmlformats.org/officeDocument/2006/relationships/image" Target="../media/image32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5" Type="http://schemas.openxmlformats.org/officeDocument/2006/relationships/oleObject" Target="../embeddings/oleObject14.bin"/><Relationship Id="rId10" Type="http://schemas.openxmlformats.org/officeDocument/2006/relationships/image" Target="../media/image27.wmf"/><Relationship Id="rId19" Type="http://schemas.openxmlformats.org/officeDocument/2006/relationships/oleObject" Target="../embeddings/oleObject16.bin"/><Relationship Id="rId4" Type="http://schemas.openxmlformats.org/officeDocument/2006/relationships/image" Target="../media/image24.wmf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29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image" Target="../media/image33.wmf"/><Relationship Id="rId7" Type="http://schemas.openxmlformats.org/officeDocument/2006/relationships/image" Target="../media/image35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34.wmf"/><Relationship Id="rId10" Type="http://schemas.openxmlformats.org/officeDocument/2006/relationships/image" Target="../media/image37.png"/><Relationship Id="rId4" Type="http://schemas.openxmlformats.org/officeDocument/2006/relationships/oleObject" Target="../embeddings/oleObject18.bin"/><Relationship Id="rId9" Type="http://schemas.openxmlformats.org/officeDocument/2006/relationships/image" Target="../media/image36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42.wmf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w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0" Type="http://schemas.openxmlformats.org/officeDocument/2006/relationships/image" Target="../media/image41.wmf"/><Relationship Id="rId4" Type="http://schemas.openxmlformats.org/officeDocument/2006/relationships/image" Target="../media/image38.wmf"/><Relationship Id="rId9" Type="http://schemas.openxmlformats.org/officeDocument/2006/relationships/oleObject" Target="../embeddings/oleObject24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7.bin"/><Relationship Id="rId5" Type="http://schemas.openxmlformats.org/officeDocument/2006/relationships/image" Target="../media/image42.wmf"/><Relationship Id="rId4" Type="http://schemas.openxmlformats.org/officeDocument/2006/relationships/oleObject" Target="../embeddings/oleObject25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13" Type="http://schemas.openxmlformats.org/officeDocument/2006/relationships/oleObject" Target="../embeddings/oleObject33.bin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46.wmf"/><Relationship Id="rId2" Type="http://schemas.openxmlformats.org/officeDocument/2006/relationships/image" Target="../media/image37.png"/><Relationship Id="rId16" Type="http://schemas.openxmlformats.org/officeDocument/2006/relationships/image" Target="../media/image48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wmf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29.bin"/><Relationship Id="rId15" Type="http://schemas.openxmlformats.org/officeDocument/2006/relationships/oleObject" Target="../embeddings/oleObject34.bin"/><Relationship Id="rId10" Type="http://schemas.openxmlformats.org/officeDocument/2006/relationships/image" Target="../media/image45.wmf"/><Relationship Id="rId4" Type="http://schemas.openxmlformats.org/officeDocument/2006/relationships/image" Target="../media/image41.wmf"/><Relationship Id="rId9" Type="http://schemas.openxmlformats.org/officeDocument/2006/relationships/oleObject" Target="../embeddings/oleObject31.bin"/><Relationship Id="rId14" Type="http://schemas.openxmlformats.org/officeDocument/2006/relationships/image" Target="../media/image47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13" Type="http://schemas.openxmlformats.org/officeDocument/2006/relationships/image" Target="../media/image60.wmf"/><Relationship Id="rId3" Type="http://schemas.openxmlformats.org/officeDocument/2006/relationships/image" Target="../media/image55.wmf"/><Relationship Id="rId7" Type="http://schemas.openxmlformats.org/officeDocument/2006/relationships/image" Target="../media/image57.wmf"/><Relationship Id="rId12" Type="http://schemas.openxmlformats.org/officeDocument/2006/relationships/oleObject" Target="../embeddings/oleObject40.bin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7.bin"/><Relationship Id="rId11" Type="http://schemas.openxmlformats.org/officeDocument/2006/relationships/image" Target="../media/image59.wmf"/><Relationship Id="rId5" Type="http://schemas.openxmlformats.org/officeDocument/2006/relationships/image" Target="../media/image56.wmf"/><Relationship Id="rId15" Type="http://schemas.openxmlformats.org/officeDocument/2006/relationships/image" Target="../media/image61.wmf"/><Relationship Id="rId10" Type="http://schemas.openxmlformats.org/officeDocument/2006/relationships/oleObject" Target="../embeddings/oleObject39.bin"/><Relationship Id="rId4" Type="http://schemas.openxmlformats.org/officeDocument/2006/relationships/oleObject" Target="../embeddings/oleObject36.bin"/><Relationship Id="rId9" Type="http://schemas.openxmlformats.org/officeDocument/2006/relationships/image" Target="../media/image58.wmf"/><Relationship Id="rId14" Type="http://schemas.openxmlformats.org/officeDocument/2006/relationships/oleObject" Target="../embeddings/oleObject41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.bin"/><Relationship Id="rId13" Type="http://schemas.openxmlformats.org/officeDocument/2006/relationships/image" Target="../media/image67.wmf"/><Relationship Id="rId3" Type="http://schemas.openxmlformats.org/officeDocument/2006/relationships/image" Target="../media/image62.wmf"/><Relationship Id="rId7" Type="http://schemas.openxmlformats.org/officeDocument/2006/relationships/image" Target="../media/image64.wmf"/><Relationship Id="rId12" Type="http://schemas.openxmlformats.org/officeDocument/2006/relationships/oleObject" Target="../embeddings/oleObject47.bin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4.bin"/><Relationship Id="rId11" Type="http://schemas.openxmlformats.org/officeDocument/2006/relationships/image" Target="../media/image66.wmf"/><Relationship Id="rId5" Type="http://schemas.openxmlformats.org/officeDocument/2006/relationships/image" Target="../media/image63.wmf"/><Relationship Id="rId15" Type="http://schemas.openxmlformats.org/officeDocument/2006/relationships/image" Target="../media/image61.wmf"/><Relationship Id="rId10" Type="http://schemas.openxmlformats.org/officeDocument/2006/relationships/oleObject" Target="../embeddings/oleObject46.bin"/><Relationship Id="rId4" Type="http://schemas.openxmlformats.org/officeDocument/2006/relationships/oleObject" Target="../embeddings/oleObject43.bin"/><Relationship Id="rId9" Type="http://schemas.openxmlformats.org/officeDocument/2006/relationships/image" Target="../media/image65.wmf"/><Relationship Id="rId14" Type="http://schemas.openxmlformats.org/officeDocument/2006/relationships/oleObject" Target="../embeddings/oleObject48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.bin"/><Relationship Id="rId13" Type="http://schemas.openxmlformats.org/officeDocument/2006/relationships/image" Target="../media/image61.wmf"/><Relationship Id="rId3" Type="http://schemas.openxmlformats.org/officeDocument/2006/relationships/image" Target="../media/image62.wmf"/><Relationship Id="rId7" Type="http://schemas.openxmlformats.org/officeDocument/2006/relationships/image" Target="../media/image65.wmf"/><Relationship Id="rId12" Type="http://schemas.openxmlformats.org/officeDocument/2006/relationships/oleObject" Target="../embeddings/oleObject54.bin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1.bin"/><Relationship Id="rId11" Type="http://schemas.openxmlformats.org/officeDocument/2006/relationships/image" Target="../media/image67.wmf"/><Relationship Id="rId5" Type="http://schemas.openxmlformats.org/officeDocument/2006/relationships/image" Target="../media/image68.wmf"/><Relationship Id="rId10" Type="http://schemas.openxmlformats.org/officeDocument/2006/relationships/oleObject" Target="../embeddings/oleObject53.bin"/><Relationship Id="rId4" Type="http://schemas.openxmlformats.org/officeDocument/2006/relationships/oleObject" Target="../embeddings/oleObject50.bin"/><Relationship Id="rId9" Type="http://schemas.openxmlformats.org/officeDocument/2006/relationships/image" Target="../media/image66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8.bin"/><Relationship Id="rId13" Type="http://schemas.openxmlformats.org/officeDocument/2006/relationships/image" Target="../media/image61.wmf"/><Relationship Id="rId3" Type="http://schemas.openxmlformats.org/officeDocument/2006/relationships/image" Target="../media/image62.wmf"/><Relationship Id="rId7" Type="http://schemas.openxmlformats.org/officeDocument/2006/relationships/image" Target="../media/image65.wmf"/><Relationship Id="rId12" Type="http://schemas.openxmlformats.org/officeDocument/2006/relationships/oleObject" Target="../embeddings/oleObject60.bin"/><Relationship Id="rId2" Type="http://schemas.openxmlformats.org/officeDocument/2006/relationships/oleObject" Target="../embeddings/oleObject5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7.bin"/><Relationship Id="rId11" Type="http://schemas.openxmlformats.org/officeDocument/2006/relationships/image" Target="../media/image67.wmf"/><Relationship Id="rId5" Type="http://schemas.openxmlformats.org/officeDocument/2006/relationships/image" Target="../media/image68.wmf"/><Relationship Id="rId10" Type="http://schemas.openxmlformats.org/officeDocument/2006/relationships/oleObject" Target="../embeddings/oleObject59.bin"/><Relationship Id="rId4" Type="http://schemas.openxmlformats.org/officeDocument/2006/relationships/oleObject" Target="../embeddings/oleObject56.bin"/><Relationship Id="rId9" Type="http://schemas.openxmlformats.org/officeDocument/2006/relationships/image" Target="../media/image66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4.bin"/><Relationship Id="rId3" Type="http://schemas.openxmlformats.org/officeDocument/2006/relationships/image" Target="../media/image62.wmf"/><Relationship Id="rId7" Type="http://schemas.openxmlformats.org/officeDocument/2006/relationships/image" Target="../media/image65.wmf"/><Relationship Id="rId2" Type="http://schemas.openxmlformats.org/officeDocument/2006/relationships/oleObject" Target="../embeddings/oleObject6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3.bin"/><Relationship Id="rId11" Type="http://schemas.openxmlformats.org/officeDocument/2006/relationships/image" Target="../media/image61.wmf"/><Relationship Id="rId5" Type="http://schemas.openxmlformats.org/officeDocument/2006/relationships/image" Target="../media/image69.wmf"/><Relationship Id="rId10" Type="http://schemas.openxmlformats.org/officeDocument/2006/relationships/oleObject" Target="../embeddings/oleObject65.bin"/><Relationship Id="rId4" Type="http://schemas.openxmlformats.org/officeDocument/2006/relationships/oleObject" Target="../embeddings/oleObject62.bin"/><Relationship Id="rId9" Type="http://schemas.openxmlformats.org/officeDocument/2006/relationships/image" Target="../media/image67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9.bin"/><Relationship Id="rId3" Type="http://schemas.openxmlformats.org/officeDocument/2006/relationships/image" Target="../media/image62.wmf"/><Relationship Id="rId7" Type="http://schemas.openxmlformats.org/officeDocument/2006/relationships/image" Target="../media/image67.wmf"/><Relationship Id="rId2" Type="http://schemas.openxmlformats.org/officeDocument/2006/relationships/oleObject" Target="../embeddings/oleObject6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8.bin"/><Relationship Id="rId5" Type="http://schemas.openxmlformats.org/officeDocument/2006/relationships/image" Target="../media/image70.wmf"/><Relationship Id="rId4" Type="http://schemas.openxmlformats.org/officeDocument/2006/relationships/oleObject" Target="../embeddings/oleObject67.bin"/><Relationship Id="rId9" Type="http://schemas.openxmlformats.org/officeDocument/2006/relationships/image" Target="../media/image61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7" Type="http://schemas.openxmlformats.org/officeDocument/2006/relationships/image" Target="../media/image61.wmf"/><Relationship Id="rId2" Type="http://schemas.openxmlformats.org/officeDocument/2006/relationships/oleObject" Target="../embeddings/oleObject7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2.bin"/><Relationship Id="rId5" Type="http://schemas.openxmlformats.org/officeDocument/2006/relationships/image" Target="../media/image71.wmf"/><Relationship Id="rId4" Type="http://schemas.openxmlformats.org/officeDocument/2006/relationships/oleObject" Target="../embeddings/oleObject71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oleObject" Target="../embeddings/oleObject78.bin"/><Relationship Id="rId3" Type="http://schemas.openxmlformats.org/officeDocument/2006/relationships/oleObject" Target="../embeddings/oleObject73.bin"/><Relationship Id="rId7" Type="http://schemas.openxmlformats.org/officeDocument/2006/relationships/oleObject" Target="../embeddings/oleObject75.bin"/><Relationship Id="rId12" Type="http://schemas.openxmlformats.org/officeDocument/2006/relationships/image" Target="../media/image75.wmf"/><Relationship Id="rId2" Type="http://schemas.openxmlformats.org/officeDocument/2006/relationships/image" Target="../media/image37.png"/><Relationship Id="rId16" Type="http://schemas.openxmlformats.org/officeDocument/2006/relationships/image" Target="../media/image77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wmf"/><Relationship Id="rId11" Type="http://schemas.openxmlformats.org/officeDocument/2006/relationships/oleObject" Target="../embeddings/oleObject77.bin"/><Relationship Id="rId5" Type="http://schemas.openxmlformats.org/officeDocument/2006/relationships/oleObject" Target="../embeddings/oleObject74.bin"/><Relationship Id="rId15" Type="http://schemas.openxmlformats.org/officeDocument/2006/relationships/oleObject" Target="../embeddings/oleObject79.bin"/><Relationship Id="rId10" Type="http://schemas.openxmlformats.org/officeDocument/2006/relationships/image" Target="../media/image74.wmf"/><Relationship Id="rId4" Type="http://schemas.openxmlformats.org/officeDocument/2006/relationships/image" Target="../media/image72.wmf"/><Relationship Id="rId9" Type="http://schemas.openxmlformats.org/officeDocument/2006/relationships/oleObject" Target="../embeddings/oleObject76.bin"/><Relationship Id="rId14" Type="http://schemas.openxmlformats.org/officeDocument/2006/relationships/image" Target="../media/image76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oleObject" Target="../embeddings/oleObject85.bin"/><Relationship Id="rId18" Type="http://schemas.openxmlformats.org/officeDocument/2006/relationships/image" Target="../media/image75.wmf"/><Relationship Id="rId26" Type="http://schemas.openxmlformats.org/officeDocument/2006/relationships/image" Target="../media/image80.wmf"/><Relationship Id="rId3" Type="http://schemas.openxmlformats.org/officeDocument/2006/relationships/image" Target="../media/image72.wmf"/><Relationship Id="rId21" Type="http://schemas.openxmlformats.org/officeDocument/2006/relationships/oleObject" Target="../embeddings/oleObject89.bin"/><Relationship Id="rId7" Type="http://schemas.openxmlformats.org/officeDocument/2006/relationships/image" Target="../media/image46.wmf"/><Relationship Id="rId12" Type="http://schemas.openxmlformats.org/officeDocument/2006/relationships/image" Target="../media/image76.wmf"/><Relationship Id="rId17" Type="http://schemas.openxmlformats.org/officeDocument/2006/relationships/oleObject" Target="../embeddings/oleObject87.bin"/><Relationship Id="rId25" Type="http://schemas.openxmlformats.org/officeDocument/2006/relationships/oleObject" Target="../embeddings/oleObject91.bin"/><Relationship Id="rId2" Type="http://schemas.openxmlformats.org/officeDocument/2006/relationships/oleObject" Target="../embeddings/oleObject80.bin"/><Relationship Id="rId16" Type="http://schemas.openxmlformats.org/officeDocument/2006/relationships/image" Target="../media/image74.wmf"/><Relationship Id="rId20" Type="http://schemas.openxmlformats.org/officeDocument/2006/relationships/image" Target="../media/image45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2.bin"/><Relationship Id="rId11" Type="http://schemas.openxmlformats.org/officeDocument/2006/relationships/oleObject" Target="../embeddings/oleObject84.bin"/><Relationship Id="rId24" Type="http://schemas.openxmlformats.org/officeDocument/2006/relationships/image" Target="../media/image79.wmf"/><Relationship Id="rId5" Type="http://schemas.openxmlformats.org/officeDocument/2006/relationships/image" Target="../media/image78.wmf"/><Relationship Id="rId15" Type="http://schemas.openxmlformats.org/officeDocument/2006/relationships/oleObject" Target="../embeddings/oleObject86.bin"/><Relationship Id="rId23" Type="http://schemas.openxmlformats.org/officeDocument/2006/relationships/oleObject" Target="../embeddings/oleObject90.bin"/><Relationship Id="rId28" Type="http://schemas.openxmlformats.org/officeDocument/2006/relationships/image" Target="../media/image81.wmf"/><Relationship Id="rId10" Type="http://schemas.openxmlformats.org/officeDocument/2006/relationships/image" Target="../media/image34.wmf"/><Relationship Id="rId19" Type="http://schemas.openxmlformats.org/officeDocument/2006/relationships/oleObject" Target="../embeddings/oleObject88.bin"/><Relationship Id="rId4" Type="http://schemas.openxmlformats.org/officeDocument/2006/relationships/oleObject" Target="../embeddings/oleObject81.bin"/><Relationship Id="rId9" Type="http://schemas.openxmlformats.org/officeDocument/2006/relationships/oleObject" Target="../embeddings/oleObject83.bin"/><Relationship Id="rId14" Type="http://schemas.openxmlformats.org/officeDocument/2006/relationships/image" Target="../media/image77.wmf"/><Relationship Id="rId22" Type="http://schemas.openxmlformats.org/officeDocument/2006/relationships/image" Target="../media/image73.wmf"/><Relationship Id="rId27" Type="http://schemas.openxmlformats.org/officeDocument/2006/relationships/oleObject" Target="../embeddings/oleObject92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13" Type="http://schemas.openxmlformats.org/officeDocument/2006/relationships/oleObject" Target="../embeddings/oleObject98.bin"/><Relationship Id="rId18" Type="http://schemas.openxmlformats.org/officeDocument/2006/relationships/image" Target="../media/image83.wmf"/><Relationship Id="rId26" Type="http://schemas.openxmlformats.org/officeDocument/2006/relationships/oleObject" Target="../embeddings/oleObject105.bin"/><Relationship Id="rId3" Type="http://schemas.openxmlformats.org/officeDocument/2006/relationships/image" Target="../media/image78.wmf"/><Relationship Id="rId21" Type="http://schemas.openxmlformats.org/officeDocument/2006/relationships/oleObject" Target="../embeddings/oleObject102.bin"/><Relationship Id="rId7" Type="http://schemas.openxmlformats.org/officeDocument/2006/relationships/oleObject" Target="../embeddings/oleObject95.bin"/><Relationship Id="rId12" Type="http://schemas.openxmlformats.org/officeDocument/2006/relationships/image" Target="../media/image82.wmf"/><Relationship Id="rId17" Type="http://schemas.openxmlformats.org/officeDocument/2006/relationships/oleObject" Target="../embeddings/oleObject100.bin"/><Relationship Id="rId25" Type="http://schemas.openxmlformats.org/officeDocument/2006/relationships/image" Target="../media/image74.wmf"/><Relationship Id="rId2" Type="http://schemas.openxmlformats.org/officeDocument/2006/relationships/oleObject" Target="../embeddings/oleObject93.bin"/><Relationship Id="rId16" Type="http://schemas.openxmlformats.org/officeDocument/2006/relationships/image" Target="../media/image77.wmf"/><Relationship Id="rId20" Type="http://schemas.openxmlformats.org/officeDocument/2006/relationships/image" Target="../media/image84.wmf"/><Relationship Id="rId29" Type="http://schemas.openxmlformats.org/officeDocument/2006/relationships/image" Target="../media/image45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97.bin"/><Relationship Id="rId24" Type="http://schemas.openxmlformats.org/officeDocument/2006/relationships/oleObject" Target="../embeddings/oleObject104.bin"/><Relationship Id="rId5" Type="http://schemas.openxmlformats.org/officeDocument/2006/relationships/oleObject" Target="../embeddings/oleObject94.bin"/><Relationship Id="rId15" Type="http://schemas.openxmlformats.org/officeDocument/2006/relationships/oleObject" Target="../embeddings/oleObject99.bin"/><Relationship Id="rId23" Type="http://schemas.openxmlformats.org/officeDocument/2006/relationships/oleObject" Target="../embeddings/oleObject103.bin"/><Relationship Id="rId28" Type="http://schemas.openxmlformats.org/officeDocument/2006/relationships/oleObject" Target="../embeddings/oleObject106.bin"/><Relationship Id="rId10" Type="http://schemas.openxmlformats.org/officeDocument/2006/relationships/image" Target="../media/image80.wmf"/><Relationship Id="rId19" Type="http://schemas.openxmlformats.org/officeDocument/2006/relationships/oleObject" Target="../embeddings/oleObject101.bin"/><Relationship Id="rId31" Type="http://schemas.openxmlformats.org/officeDocument/2006/relationships/image" Target="../media/image73.wmf"/><Relationship Id="rId4" Type="http://schemas.openxmlformats.org/officeDocument/2006/relationships/image" Target="../media/image37.png"/><Relationship Id="rId9" Type="http://schemas.openxmlformats.org/officeDocument/2006/relationships/oleObject" Target="../embeddings/oleObject96.bin"/><Relationship Id="rId14" Type="http://schemas.openxmlformats.org/officeDocument/2006/relationships/image" Target="../media/image76.wmf"/><Relationship Id="rId22" Type="http://schemas.openxmlformats.org/officeDocument/2006/relationships/image" Target="../media/image85.wmf"/><Relationship Id="rId27" Type="http://schemas.openxmlformats.org/officeDocument/2006/relationships/image" Target="../media/image72.wmf"/><Relationship Id="rId30" Type="http://schemas.openxmlformats.org/officeDocument/2006/relationships/oleObject" Target="../embeddings/oleObject107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13" Type="http://schemas.openxmlformats.org/officeDocument/2006/relationships/oleObject" Target="../embeddings/oleObject113.bin"/><Relationship Id="rId18" Type="http://schemas.openxmlformats.org/officeDocument/2006/relationships/image" Target="../media/image89.wmf"/><Relationship Id="rId3" Type="http://schemas.openxmlformats.org/officeDocument/2006/relationships/oleObject" Target="../embeddings/oleObject108.bin"/><Relationship Id="rId21" Type="http://schemas.openxmlformats.org/officeDocument/2006/relationships/oleObject" Target="../embeddings/oleObject117.bin"/><Relationship Id="rId7" Type="http://schemas.openxmlformats.org/officeDocument/2006/relationships/oleObject" Target="../embeddings/oleObject110.bin"/><Relationship Id="rId12" Type="http://schemas.openxmlformats.org/officeDocument/2006/relationships/image" Target="../media/image34.wmf"/><Relationship Id="rId17" Type="http://schemas.openxmlformats.org/officeDocument/2006/relationships/oleObject" Target="../embeddings/oleObject115.bin"/><Relationship Id="rId2" Type="http://schemas.openxmlformats.org/officeDocument/2006/relationships/image" Target="../media/image37.png"/><Relationship Id="rId16" Type="http://schemas.openxmlformats.org/officeDocument/2006/relationships/image" Target="../media/image88.wmf"/><Relationship Id="rId20" Type="http://schemas.openxmlformats.org/officeDocument/2006/relationships/image" Target="../media/image76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6.wmf"/><Relationship Id="rId11" Type="http://schemas.openxmlformats.org/officeDocument/2006/relationships/oleObject" Target="../embeddings/oleObject112.bin"/><Relationship Id="rId5" Type="http://schemas.openxmlformats.org/officeDocument/2006/relationships/oleObject" Target="../embeddings/oleObject109.bin"/><Relationship Id="rId15" Type="http://schemas.openxmlformats.org/officeDocument/2006/relationships/oleObject" Target="../embeddings/oleObject114.bin"/><Relationship Id="rId23" Type="http://schemas.openxmlformats.org/officeDocument/2006/relationships/image" Target="../media/image90.wmf"/><Relationship Id="rId10" Type="http://schemas.openxmlformats.org/officeDocument/2006/relationships/image" Target="../media/image87.wmf"/><Relationship Id="rId19" Type="http://schemas.openxmlformats.org/officeDocument/2006/relationships/oleObject" Target="../embeddings/oleObject116.bin"/><Relationship Id="rId4" Type="http://schemas.openxmlformats.org/officeDocument/2006/relationships/image" Target="../media/image80.wmf"/><Relationship Id="rId9" Type="http://schemas.openxmlformats.org/officeDocument/2006/relationships/oleObject" Target="../embeddings/oleObject111.bin"/><Relationship Id="rId14" Type="http://schemas.openxmlformats.org/officeDocument/2006/relationships/image" Target="../media/image85.wmf"/><Relationship Id="rId22" Type="http://schemas.openxmlformats.org/officeDocument/2006/relationships/oleObject" Target="../embeddings/oleObject118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13" Type="http://schemas.openxmlformats.org/officeDocument/2006/relationships/oleObject" Target="../embeddings/oleObject124.bin"/><Relationship Id="rId3" Type="http://schemas.openxmlformats.org/officeDocument/2006/relationships/oleObject" Target="../embeddings/oleObject119.bin"/><Relationship Id="rId7" Type="http://schemas.openxmlformats.org/officeDocument/2006/relationships/oleObject" Target="../embeddings/oleObject121.bin"/><Relationship Id="rId12" Type="http://schemas.openxmlformats.org/officeDocument/2006/relationships/image" Target="../media/image80.wmf"/><Relationship Id="rId2" Type="http://schemas.openxmlformats.org/officeDocument/2006/relationships/image" Target="../media/image37.png"/><Relationship Id="rId16" Type="http://schemas.openxmlformats.org/officeDocument/2006/relationships/image" Target="../media/image91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123.bin"/><Relationship Id="rId5" Type="http://schemas.openxmlformats.org/officeDocument/2006/relationships/oleObject" Target="../embeddings/oleObject120.bin"/><Relationship Id="rId15" Type="http://schemas.openxmlformats.org/officeDocument/2006/relationships/oleObject" Target="../embeddings/oleObject125.bin"/><Relationship Id="rId10" Type="http://schemas.openxmlformats.org/officeDocument/2006/relationships/image" Target="../media/image76.wmf"/><Relationship Id="rId4" Type="http://schemas.openxmlformats.org/officeDocument/2006/relationships/image" Target="../media/image72.wmf"/><Relationship Id="rId9" Type="http://schemas.openxmlformats.org/officeDocument/2006/relationships/oleObject" Target="../embeddings/oleObject122.bin"/><Relationship Id="rId14" Type="http://schemas.openxmlformats.org/officeDocument/2006/relationships/image" Target="../media/image77.wmf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31.bin"/><Relationship Id="rId18" Type="http://schemas.openxmlformats.org/officeDocument/2006/relationships/image" Target="../media/image45.wmf"/><Relationship Id="rId26" Type="http://schemas.openxmlformats.org/officeDocument/2006/relationships/image" Target="../media/image76.wmf"/><Relationship Id="rId3" Type="http://schemas.openxmlformats.org/officeDocument/2006/relationships/image" Target="../media/image92.wmf"/><Relationship Id="rId21" Type="http://schemas.openxmlformats.org/officeDocument/2006/relationships/oleObject" Target="../embeddings/oleObject135.bin"/><Relationship Id="rId34" Type="http://schemas.openxmlformats.org/officeDocument/2006/relationships/oleObject" Target="../embeddings/oleObject143.bin"/><Relationship Id="rId7" Type="http://schemas.openxmlformats.org/officeDocument/2006/relationships/oleObject" Target="../embeddings/oleObject128.bin"/><Relationship Id="rId12" Type="http://schemas.openxmlformats.org/officeDocument/2006/relationships/image" Target="../media/image77.wmf"/><Relationship Id="rId17" Type="http://schemas.openxmlformats.org/officeDocument/2006/relationships/oleObject" Target="../embeddings/oleObject133.bin"/><Relationship Id="rId25" Type="http://schemas.openxmlformats.org/officeDocument/2006/relationships/oleObject" Target="../embeddings/oleObject137.bin"/><Relationship Id="rId33" Type="http://schemas.openxmlformats.org/officeDocument/2006/relationships/oleObject" Target="../embeddings/oleObject142.bin"/><Relationship Id="rId2" Type="http://schemas.openxmlformats.org/officeDocument/2006/relationships/oleObject" Target="../embeddings/oleObject126.bin"/><Relationship Id="rId16" Type="http://schemas.openxmlformats.org/officeDocument/2006/relationships/image" Target="../media/image46.wmf"/><Relationship Id="rId20" Type="http://schemas.openxmlformats.org/officeDocument/2006/relationships/image" Target="../media/image93.wmf"/><Relationship Id="rId29" Type="http://schemas.openxmlformats.org/officeDocument/2006/relationships/oleObject" Target="../embeddings/oleObject140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130.bin"/><Relationship Id="rId24" Type="http://schemas.openxmlformats.org/officeDocument/2006/relationships/image" Target="../media/image72.wmf"/><Relationship Id="rId32" Type="http://schemas.openxmlformats.org/officeDocument/2006/relationships/image" Target="../media/image95.wmf"/><Relationship Id="rId5" Type="http://schemas.openxmlformats.org/officeDocument/2006/relationships/oleObject" Target="../embeddings/oleObject127.bin"/><Relationship Id="rId15" Type="http://schemas.openxmlformats.org/officeDocument/2006/relationships/oleObject" Target="../embeddings/oleObject132.bin"/><Relationship Id="rId23" Type="http://schemas.openxmlformats.org/officeDocument/2006/relationships/oleObject" Target="../embeddings/oleObject136.bin"/><Relationship Id="rId28" Type="http://schemas.openxmlformats.org/officeDocument/2006/relationships/oleObject" Target="../embeddings/oleObject139.bin"/><Relationship Id="rId10" Type="http://schemas.openxmlformats.org/officeDocument/2006/relationships/image" Target="../media/image80.wmf"/><Relationship Id="rId19" Type="http://schemas.openxmlformats.org/officeDocument/2006/relationships/oleObject" Target="../embeddings/oleObject134.bin"/><Relationship Id="rId31" Type="http://schemas.openxmlformats.org/officeDocument/2006/relationships/oleObject" Target="../embeddings/oleObject141.bin"/><Relationship Id="rId4" Type="http://schemas.openxmlformats.org/officeDocument/2006/relationships/image" Target="../media/image37.png"/><Relationship Id="rId9" Type="http://schemas.openxmlformats.org/officeDocument/2006/relationships/oleObject" Target="../embeddings/oleObject129.bin"/><Relationship Id="rId14" Type="http://schemas.openxmlformats.org/officeDocument/2006/relationships/image" Target="../media/image91.wmf"/><Relationship Id="rId22" Type="http://schemas.openxmlformats.org/officeDocument/2006/relationships/image" Target="../media/image94.wmf"/><Relationship Id="rId27" Type="http://schemas.openxmlformats.org/officeDocument/2006/relationships/oleObject" Target="../embeddings/oleObject138.bin"/><Relationship Id="rId30" Type="http://schemas.openxmlformats.org/officeDocument/2006/relationships/image" Target="../media/image84.wmf"/><Relationship Id="rId35" Type="http://schemas.openxmlformats.org/officeDocument/2006/relationships/image" Target="../media/image96.wmf"/><Relationship Id="rId8" Type="http://schemas.openxmlformats.org/officeDocument/2006/relationships/image" Target="../media/image75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3" Type="http://schemas.openxmlformats.org/officeDocument/2006/relationships/oleObject" Target="../embeddings/oleObject144.bin"/><Relationship Id="rId7" Type="http://schemas.openxmlformats.org/officeDocument/2006/relationships/oleObject" Target="../embeddings/oleObject146.bin"/><Relationship Id="rId12" Type="http://schemas.openxmlformats.org/officeDocument/2006/relationships/image" Target="../media/image99.wmf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wmf"/><Relationship Id="rId11" Type="http://schemas.openxmlformats.org/officeDocument/2006/relationships/oleObject" Target="../embeddings/oleObject148.bin"/><Relationship Id="rId5" Type="http://schemas.openxmlformats.org/officeDocument/2006/relationships/oleObject" Target="../embeddings/oleObject145.bin"/><Relationship Id="rId10" Type="http://schemas.openxmlformats.org/officeDocument/2006/relationships/image" Target="../media/image98.wmf"/><Relationship Id="rId4" Type="http://schemas.openxmlformats.org/officeDocument/2006/relationships/image" Target="../media/image80.wmf"/><Relationship Id="rId9" Type="http://schemas.openxmlformats.org/officeDocument/2006/relationships/oleObject" Target="../embeddings/oleObject147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oleObject" Target="../embeddings/oleObject154.bin"/><Relationship Id="rId18" Type="http://schemas.openxmlformats.org/officeDocument/2006/relationships/image" Target="../media/image80.wmf"/><Relationship Id="rId3" Type="http://schemas.openxmlformats.org/officeDocument/2006/relationships/oleObject" Target="../embeddings/oleObject149.bin"/><Relationship Id="rId21" Type="http://schemas.openxmlformats.org/officeDocument/2006/relationships/oleObject" Target="../embeddings/oleObject158.bin"/><Relationship Id="rId7" Type="http://schemas.openxmlformats.org/officeDocument/2006/relationships/oleObject" Target="../embeddings/oleObject151.bin"/><Relationship Id="rId12" Type="http://schemas.openxmlformats.org/officeDocument/2006/relationships/image" Target="../media/image102.wmf"/><Relationship Id="rId17" Type="http://schemas.openxmlformats.org/officeDocument/2006/relationships/oleObject" Target="../embeddings/oleObject156.bin"/><Relationship Id="rId2" Type="http://schemas.openxmlformats.org/officeDocument/2006/relationships/image" Target="../media/image37.png"/><Relationship Id="rId16" Type="http://schemas.openxmlformats.org/officeDocument/2006/relationships/image" Target="../media/image77.wmf"/><Relationship Id="rId20" Type="http://schemas.openxmlformats.org/officeDocument/2006/relationships/image" Target="../media/image104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0.wmf"/><Relationship Id="rId11" Type="http://schemas.openxmlformats.org/officeDocument/2006/relationships/oleObject" Target="../embeddings/oleObject153.bin"/><Relationship Id="rId5" Type="http://schemas.openxmlformats.org/officeDocument/2006/relationships/oleObject" Target="../embeddings/oleObject150.bin"/><Relationship Id="rId15" Type="http://schemas.openxmlformats.org/officeDocument/2006/relationships/oleObject" Target="../embeddings/oleObject155.bin"/><Relationship Id="rId10" Type="http://schemas.openxmlformats.org/officeDocument/2006/relationships/image" Target="../media/image101.wmf"/><Relationship Id="rId19" Type="http://schemas.openxmlformats.org/officeDocument/2006/relationships/oleObject" Target="../embeddings/oleObject157.bin"/><Relationship Id="rId4" Type="http://schemas.openxmlformats.org/officeDocument/2006/relationships/image" Target="../media/image72.wmf"/><Relationship Id="rId9" Type="http://schemas.openxmlformats.org/officeDocument/2006/relationships/oleObject" Target="../embeddings/oleObject152.bin"/><Relationship Id="rId14" Type="http://schemas.openxmlformats.org/officeDocument/2006/relationships/image" Target="../media/image103.wmf"/><Relationship Id="rId22" Type="http://schemas.openxmlformats.org/officeDocument/2006/relationships/image" Target="../media/image75.wmf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64.bin"/><Relationship Id="rId18" Type="http://schemas.openxmlformats.org/officeDocument/2006/relationships/image" Target="../media/image102.wmf"/><Relationship Id="rId26" Type="http://schemas.openxmlformats.org/officeDocument/2006/relationships/image" Target="../media/image103.wmf"/><Relationship Id="rId3" Type="http://schemas.openxmlformats.org/officeDocument/2006/relationships/oleObject" Target="../embeddings/oleObject159.bin"/><Relationship Id="rId21" Type="http://schemas.openxmlformats.org/officeDocument/2006/relationships/oleObject" Target="../embeddings/oleObject168.bin"/><Relationship Id="rId34" Type="http://schemas.openxmlformats.org/officeDocument/2006/relationships/image" Target="../media/image108.wmf"/><Relationship Id="rId7" Type="http://schemas.openxmlformats.org/officeDocument/2006/relationships/oleObject" Target="../embeddings/oleObject161.bin"/><Relationship Id="rId12" Type="http://schemas.openxmlformats.org/officeDocument/2006/relationships/image" Target="../media/image77.wmf"/><Relationship Id="rId17" Type="http://schemas.openxmlformats.org/officeDocument/2006/relationships/oleObject" Target="../embeddings/oleObject166.bin"/><Relationship Id="rId25" Type="http://schemas.openxmlformats.org/officeDocument/2006/relationships/oleObject" Target="../embeddings/oleObject170.bin"/><Relationship Id="rId33" Type="http://schemas.openxmlformats.org/officeDocument/2006/relationships/oleObject" Target="../embeddings/oleObject174.bin"/><Relationship Id="rId2" Type="http://schemas.openxmlformats.org/officeDocument/2006/relationships/image" Target="../media/image37.png"/><Relationship Id="rId16" Type="http://schemas.openxmlformats.org/officeDocument/2006/relationships/image" Target="../media/image75.wmf"/><Relationship Id="rId20" Type="http://schemas.openxmlformats.org/officeDocument/2006/relationships/image" Target="../media/image80.wmf"/><Relationship Id="rId29" Type="http://schemas.openxmlformats.org/officeDocument/2006/relationships/oleObject" Target="../embeddings/oleObject172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0.wmf"/><Relationship Id="rId11" Type="http://schemas.openxmlformats.org/officeDocument/2006/relationships/oleObject" Target="../embeddings/oleObject163.bin"/><Relationship Id="rId24" Type="http://schemas.openxmlformats.org/officeDocument/2006/relationships/image" Target="../media/image46.wmf"/><Relationship Id="rId32" Type="http://schemas.openxmlformats.org/officeDocument/2006/relationships/image" Target="../media/image107.wmf"/><Relationship Id="rId5" Type="http://schemas.openxmlformats.org/officeDocument/2006/relationships/oleObject" Target="../embeddings/oleObject160.bin"/><Relationship Id="rId15" Type="http://schemas.openxmlformats.org/officeDocument/2006/relationships/oleObject" Target="../embeddings/oleObject165.bin"/><Relationship Id="rId23" Type="http://schemas.openxmlformats.org/officeDocument/2006/relationships/oleObject" Target="../embeddings/oleObject169.bin"/><Relationship Id="rId28" Type="http://schemas.openxmlformats.org/officeDocument/2006/relationships/image" Target="../media/image105.wmf"/><Relationship Id="rId36" Type="http://schemas.openxmlformats.org/officeDocument/2006/relationships/image" Target="../media/image109.wmf"/><Relationship Id="rId10" Type="http://schemas.openxmlformats.org/officeDocument/2006/relationships/image" Target="../media/image101.wmf"/><Relationship Id="rId19" Type="http://schemas.openxmlformats.org/officeDocument/2006/relationships/oleObject" Target="../embeddings/oleObject167.bin"/><Relationship Id="rId31" Type="http://schemas.openxmlformats.org/officeDocument/2006/relationships/oleObject" Target="../embeddings/oleObject173.bin"/><Relationship Id="rId4" Type="http://schemas.openxmlformats.org/officeDocument/2006/relationships/image" Target="../media/image72.wmf"/><Relationship Id="rId9" Type="http://schemas.openxmlformats.org/officeDocument/2006/relationships/oleObject" Target="../embeddings/oleObject162.bin"/><Relationship Id="rId14" Type="http://schemas.openxmlformats.org/officeDocument/2006/relationships/image" Target="../media/image104.wmf"/><Relationship Id="rId22" Type="http://schemas.openxmlformats.org/officeDocument/2006/relationships/image" Target="../media/image45.wmf"/><Relationship Id="rId27" Type="http://schemas.openxmlformats.org/officeDocument/2006/relationships/oleObject" Target="../embeddings/oleObject171.bin"/><Relationship Id="rId30" Type="http://schemas.openxmlformats.org/officeDocument/2006/relationships/image" Target="../media/image106.wmf"/><Relationship Id="rId35" Type="http://schemas.openxmlformats.org/officeDocument/2006/relationships/oleObject" Target="../embeddings/oleObject175.bin"/><Relationship Id="rId8" Type="http://schemas.openxmlformats.org/officeDocument/2006/relationships/image" Target="../media/image34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wmf"/><Relationship Id="rId13" Type="http://schemas.openxmlformats.org/officeDocument/2006/relationships/oleObject" Target="../embeddings/oleObject181.bin"/><Relationship Id="rId18" Type="http://schemas.openxmlformats.org/officeDocument/2006/relationships/image" Target="../media/image109.wmf"/><Relationship Id="rId26" Type="http://schemas.openxmlformats.org/officeDocument/2006/relationships/image" Target="../media/image113.wmf"/><Relationship Id="rId3" Type="http://schemas.openxmlformats.org/officeDocument/2006/relationships/image" Target="../media/image84.wmf"/><Relationship Id="rId21" Type="http://schemas.openxmlformats.org/officeDocument/2006/relationships/oleObject" Target="../embeddings/oleObject185.bin"/><Relationship Id="rId7" Type="http://schemas.openxmlformats.org/officeDocument/2006/relationships/oleObject" Target="../embeddings/oleObject178.bin"/><Relationship Id="rId12" Type="http://schemas.openxmlformats.org/officeDocument/2006/relationships/image" Target="../media/image77.wmf"/><Relationship Id="rId17" Type="http://schemas.openxmlformats.org/officeDocument/2006/relationships/oleObject" Target="../embeddings/oleObject183.bin"/><Relationship Id="rId25" Type="http://schemas.openxmlformats.org/officeDocument/2006/relationships/oleObject" Target="../embeddings/oleObject187.bin"/><Relationship Id="rId2" Type="http://schemas.openxmlformats.org/officeDocument/2006/relationships/oleObject" Target="../embeddings/oleObject176.bin"/><Relationship Id="rId16" Type="http://schemas.openxmlformats.org/officeDocument/2006/relationships/image" Target="../media/image46.wmf"/><Relationship Id="rId20" Type="http://schemas.openxmlformats.org/officeDocument/2006/relationships/image" Target="../media/image80.wmf"/><Relationship Id="rId29" Type="http://schemas.openxmlformats.org/officeDocument/2006/relationships/oleObject" Target="../embeddings/oleObject189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oleObject" Target="../embeddings/oleObject180.bin"/><Relationship Id="rId24" Type="http://schemas.openxmlformats.org/officeDocument/2006/relationships/image" Target="../media/image112.wmf"/><Relationship Id="rId5" Type="http://schemas.openxmlformats.org/officeDocument/2006/relationships/image" Target="../media/image110.wmf"/><Relationship Id="rId15" Type="http://schemas.openxmlformats.org/officeDocument/2006/relationships/oleObject" Target="../embeddings/oleObject182.bin"/><Relationship Id="rId23" Type="http://schemas.openxmlformats.org/officeDocument/2006/relationships/oleObject" Target="../embeddings/oleObject186.bin"/><Relationship Id="rId28" Type="http://schemas.openxmlformats.org/officeDocument/2006/relationships/image" Target="../media/image114.wmf"/><Relationship Id="rId10" Type="http://schemas.openxmlformats.org/officeDocument/2006/relationships/image" Target="../media/image34.wmf"/><Relationship Id="rId19" Type="http://schemas.openxmlformats.org/officeDocument/2006/relationships/oleObject" Target="../embeddings/oleObject184.bin"/><Relationship Id="rId4" Type="http://schemas.openxmlformats.org/officeDocument/2006/relationships/oleObject" Target="../embeddings/oleObject177.bin"/><Relationship Id="rId9" Type="http://schemas.openxmlformats.org/officeDocument/2006/relationships/oleObject" Target="../embeddings/oleObject179.bin"/><Relationship Id="rId14" Type="http://schemas.openxmlformats.org/officeDocument/2006/relationships/image" Target="../media/image75.wmf"/><Relationship Id="rId22" Type="http://schemas.openxmlformats.org/officeDocument/2006/relationships/image" Target="../media/image108.wmf"/><Relationship Id="rId27" Type="http://schemas.openxmlformats.org/officeDocument/2006/relationships/oleObject" Target="../embeddings/oleObject188.bin"/><Relationship Id="rId30" Type="http://schemas.openxmlformats.org/officeDocument/2006/relationships/image" Target="../media/image115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3" Type="http://schemas.openxmlformats.org/officeDocument/2006/relationships/oleObject" Target="../embeddings/oleObject190.bin"/><Relationship Id="rId7" Type="http://schemas.openxmlformats.org/officeDocument/2006/relationships/oleObject" Target="../embeddings/oleObject192.bin"/><Relationship Id="rId12" Type="http://schemas.openxmlformats.org/officeDocument/2006/relationships/image" Target="../media/image117.wmf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wmf"/><Relationship Id="rId11" Type="http://schemas.openxmlformats.org/officeDocument/2006/relationships/oleObject" Target="../embeddings/oleObject194.bin"/><Relationship Id="rId5" Type="http://schemas.openxmlformats.org/officeDocument/2006/relationships/oleObject" Target="../embeddings/oleObject191.bin"/><Relationship Id="rId10" Type="http://schemas.openxmlformats.org/officeDocument/2006/relationships/image" Target="../media/image116.wmf"/><Relationship Id="rId4" Type="http://schemas.openxmlformats.org/officeDocument/2006/relationships/image" Target="../media/image80.wmf"/><Relationship Id="rId9" Type="http://schemas.openxmlformats.org/officeDocument/2006/relationships/oleObject" Target="../embeddings/oleObject193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13" Type="http://schemas.openxmlformats.org/officeDocument/2006/relationships/oleObject" Target="../embeddings/oleObject200.bin"/><Relationship Id="rId18" Type="http://schemas.openxmlformats.org/officeDocument/2006/relationships/image" Target="../media/image120.wmf"/><Relationship Id="rId3" Type="http://schemas.openxmlformats.org/officeDocument/2006/relationships/oleObject" Target="../embeddings/oleObject195.bin"/><Relationship Id="rId21" Type="http://schemas.openxmlformats.org/officeDocument/2006/relationships/oleObject" Target="../embeddings/oleObject204.bin"/><Relationship Id="rId7" Type="http://schemas.openxmlformats.org/officeDocument/2006/relationships/oleObject" Target="../embeddings/oleObject197.bin"/><Relationship Id="rId12" Type="http://schemas.openxmlformats.org/officeDocument/2006/relationships/image" Target="../media/image80.wmf"/><Relationship Id="rId17" Type="http://schemas.openxmlformats.org/officeDocument/2006/relationships/oleObject" Target="../embeddings/oleObject202.bin"/><Relationship Id="rId2" Type="http://schemas.openxmlformats.org/officeDocument/2006/relationships/image" Target="../media/image37.png"/><Relationship Id="rId16" Type="http://schemas.openxmlformats.org/officeDocument/2006/relationships/image" Target="../media/image119.wmf"/><Relationship Id="rId20" Type="http://schemas.openxmlformats.org/officeDocument/2006/relationships/image" Target="../media/image45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199.bin"/><Relationship Id="rId5" Type="http://schemas.openxmlformats.org/officeDocument/2006/relationships/oleObject" Target="../embeddings/oleObject196.bin"/><Relationship Id="rId15" Type="http://schemas.openxmlformats.org/officeDocument/2006/relationships/oleObject" Target="../embeddings/oleObject201.bin"/><Relationship Id="rId10" Type="http://schemas.openxmlformats.org/officeDocument/2006/relationships/image" Target="../media/image76.wmf"/><Relationship Id="rId19" Type="http://schemas.openxmlformats.org/officeDocument/2006/relationships/oleObject" Target="../embeddings/oleObject203.bin"/><Relationship Id="rId4" Type="http://schemas.openxmlformats.org/officeDocument/2006/relationships/image" Target="../media/image118.wmf"/><Relationship Id="rId9" Type="http://schemas.openxmlformats.org/officeDocument/2006/relationships/oleObject" Target="../embeddings/oleObject198.bin"/><Relationship Id="rId14" Type="http://schemas.openxmlformats.org/officeDocument/2006/relationships/image" Target="../media/image77.wmf"/><Relationship Id="rId22" Type="http://schemas.openxmlformats.org/officeDocument/2006/relationships/image" Target="../media/image46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8.bin"/><Relationship Id="rId13" Type="http://schemas.openxmlformats.org/officeDocument/2006/relationships/oleObject" Target="../embeddings/oleObject210.bin"/><Relationship Id="rId18" Type="http://schemas.openxmlformats.org/officeDocument/2006/relationships/image" Target="../media/image80.wmf"/><Relationship Id="rId26" Type="http://schemas.openxmlformats.org/officeDocument/2006/relationships/image" Target="../media/image46.wmf"/><Relationship Id="rId3" Type="http://schemas.openxmlformats.org/officeDocument/2006/relationships/image" Target="../media/image121.wmf"/><Relationship Id="rId21" Type="http://schemas.openxmlformats.org/officeDocument/2006/relationships/oleObject" Target="../embeddings/oleObject214.bin"/><Relationship Id="rId7" Type="http://schemas.openxmlformats.org/officeDocument/2006/relationships/image" Target="../media/image75.wmf"/><Relationship Id="rId12" Type="http://schemas.openxmlformats.org/officeDocument/2006/relationships/image" Target="../media/image37.png"/><Relationship Id="rId17" Type="http://schemas.openxmlformats.org/officeDocument/2006/relationships/oleObject" Target="../embeddings/oleObject212.bin"/><Relationship Id="rId25" Type="http://schemas.openxmlformats.org/officeDocument/2006/relationships/oleObject" Target="../embeddings/oleObject216.bin"/><Relationship Id="rId2" Type="http://schemas.openxmlformats.org/officeDocument/2006/relationships/oleObject" Target="../embeddings/oleObject205.bin"/><Relationship Id="rId16" Type="http://schemas.openxmlformats.org/officeDocument/2006/relationships/image" Target="../media/image76.wmf"/><Relationship Id="rId20" Type="http://schemas.openxmlformats.org/officeDocument/2006/relationships/image" Target="../media/image119.wmf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207.bin"/><Relationship Id="rId11" Type="http://schemas.openxmlformats.org/officeDocument/2006/relationships/image" Target="../media/image77.wmf"/><Relationship Id="rId24" Type="http://schemas.openxmlformats.org/officeDocument/2006/relationships/image" Target="../media/image45.wmf"/><Relationship Id="rId5" Type="http://schemas.openxmlformats.org/officeDocument/2006/relationships/image" Target="../media/image122.wmf"/><Relationship Id="rId15" Type="http://schemas.openxmlformats.org/officeDocument/2006/relationships/oleObject" Target="../embeddings/oleObject211.bin"/><Relationship Id="rId23" Type="http://schemas.openxmlformats.org/officeDocument/2006/relationships/oleObject" Target="../embeddings/oleObject215.bin"/><Relationship Id="rId28" Type="http://schemas.openxmlformats.org/officeDocument/2006/relationships/image" Target="../media/image124.wmf"/><Relationship Id="rId10" Type="http://schemas.openxmlformats.org/officeDocument/2006/relationships/oleObject" Target="../embeddings/oleObject209.bin"/><Relationship Id="rId19" Type="http://schemas.openxmlformats.org/officeDocument/2006/relationships/oleObject" Target="../embeddings/oleObject213.bin"/><Relationship Id="rId4" Type="http://schemas.openxmlformats.org/officeDocument/2006/relationships/oleObject" Target="../embeddings/oleObject206.bin"/><Relationship Id="rId9" Type="http://schemas.openxmlformats.org/officeDocument/2006/relationships/image" Target="../media/image123.wmf"/><Relationship Id="rId14" Type="http://schemas.openxmlformats.org/officeDocument/2006/relationships/image" Target="../media/image34.wmf"/><Relationship Id="rId22" Type="http://schemas.openxmlformats.org/officeDocument/2006/relationships/image" Target="../media/image120.wmf"/><Relationship Id="rId27" Type="http://schemas.openxmlformats.org/officeDocument/2006/relationships/oleObject" Target="../embeddings/oleObject217.bin"/></Relationships>
</file>

<file path=ppt/slides/_rels/slide3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23.bin"/><Relationship Id="rId18" Type="http://schemas.openxmlformats.org/officeDocument/2006/relationships/oleObject" Target="../embeddings/oleObject226.bin"/><Relationship Id="rId26" Type="http://schemas.openxmlformats.org/officeDocument/2006/relationships/oleObject" Target="../embeddings/oleObject230.bin"/><Relationship Id="rId3" Type="http://schemas.openxmlformats.org/officeDocument/2006/relationships/oleObject" Target="../embeddings/oleObject218.bin"/><Relationship Id="rId21" Type="http://schemas.openxmlformats.org/officeDocument/2006/relationships/image" Target="../media/image34.wmf"/><Relationship Id="rId7" Type="http://schemas.openxmlformats.org/officeDocument/2006/relationships/oleObject" Target="../embeddings/oleObject220.bin"/><Relationship Id="rId12" Type="http://schemas.openxmlformats.org/officeDocument/2006/relationships/image" Target="../media/image123.wmf"/><Relationship Id="rId17" Type="http://schemas.openxmlformats.org/officeDocument/2006/relationships/oleObject" Target="../embeddings/oleObject225.bin"/><Relationship Id="rId25" Type="http://schemas.openxmlformats.org/officeDocument/2006/relationships/image" Target="../media/image77.wmf"/><Relationship Id="rId33" Type="http://schemas.openxmlformats.org/officeDocument/2006/relationships/image" Target="../media/image84.wmf"/><Relationship Id="rId2" Type="http://schemas.openxmlformats.org/officeDocument/2006/relationships/image" Target="../media/image37.png"/><Relationship Id="rId16" Type="http://schemas.openxmlformats.org/officeDocument/2006/relationships/image" Target="../media/image125.wmf"/><Relationship Id="rId20" Type="http://schemas.openxmlformats.org/officeDocument/2006/relationships/oleObject" Target="../embeddings/oleObject227.bin"/><Relationship Id="rId29" Type="http://schemas.openxmlformats.org/officeDocument/2006/relationships/image" Target="../media/image127.w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wmf"/><Relationship Id="rId11" Type="http://schemas.openxmlformats.org/officeDocument/2006/relationships/oleObject" Target="../embeddings/oleObject222.bin"/><Relationship Id="rId24" Type="http://schemas.openxmlformats.org/officeDocument/2006/relationships/oleObject" Target="../embeddings/oleObject229.bin"/><Relationship Id="rId32" Type="http://schemas.openxmlformats.org/officeDocument/2006/relationships/oleObject" Target="../embeddings/oleObject233.bin"/><Relationship Id="rId5" Type="http://schemas.openxmlformats.org/officeDocument/2006/relationships/oleObject" Target="../embeddings/oleObject219.bin"/><Relationship Id="rId15" Type="http://schemas.openxmlformats.org/officeDocument/2006/relationships/oleObject" Target="../embeddings/oleObject224.bin"/><Relationship Id="rId23" Type="http://schemas.openxmlformats.org/officeDocument/2006/relationships/image" Target="../media/image80.wmf"/><Relationship Id="rId28" Type="http://schemas.openxmlformats.org/officeDocument/2006/relationships/oleObject" Target="../embeddings/oleObject231.bin"/><Relationship Id="rId10" Type="http://schemas.openxmlformats.org/officeDocument/2006/relationships/image" Target="../media/image46.wmf"/><Relationship Id="rId19" Type="http://schemas.openxmlformats.org/officeDocument/2006/relationships/image" Target="../media/image126.wmf"/><Relationship Id="rId31" Type="http://schemas.openxmlformats.org/officeDocument/2006/relationships/image" Target="../media/image128.wmf"/><Relationship Id="rId4" Type="http://schemas.openxmlformats.org/officeDocument/2006/relationships/image" Target="../media/image118.wmf"/><Relationship Id="rId9" Type="http://schemas.openxmlformats.org/officeDocument/2006/relationships/oleObject" Target="../embeddings/oleObject221.bin"/><Relationship Id="rId14" Type="http://schemas.openxmlformats.org/officeDocument/2006/relationships/image" Target="../media/image76.wmf"/><Relationship Id="rId22" Type="http://schemas.openxmlformats.org/officeDocument/2006/relationships/oleObject" Target="../embeddings/oleObject228.bin"/><Relationship Id="rId27" Type="http://schemas.openxmlformats.org/officeDocument/2006/relationships/image" Target="../media/image119.wmf"/><Relationship Id="rId30" Type="http://schemas.openxmlformats.org/officeDocument/2006/relationships/oleObject" Target="../embeddings/oleObject232.bin"/><Relationship Id="rId8" Type="http://schemas.openxmlformats.org/officeDocument/2006/relationships/image" Target="../media/image120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7.bin"/><Relationship Id="rId3" Type="http://schemas.openxmlformats.org/officeDocument/2006/relationships/image" Target="../media/image80.wmf"/><Relationship Id="rId7" Type="http://schemas.openxmlformats.org/officeDocument/2006/relationships/image" Target="../media/image129.wmf"/><Relationship Id="rId12" Type="http://schemas.openxmlformats.org/officeDocument/2006/relationships/image" Target="../media/image37.png"/><Relationship Id="rId2" Type="http://schemas.openxmlformats.org/officeDocument/2006/relationships/oleObject" Target="../embeddings/oleObject234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236.bin"/><Relationship Id="rId11" Type="http://schemas.openxmlformats.org/officeDocument/2006/relationships/image" Target="../media/image119.wmf"/><Relationship Id="rId5" Type="http://schemas.openxmlformats.org/officeDocument/2006/relationships/image" Target="../media/image77.wmf"/><Relationship Id="rId10" Type="http://schemas.openxmlformats.org/officeDocument/2006/relationships/oleObject" Target="../embeddings/oleObject238.bin"/><Relationship Id="rId4" Type="http://schemas.openxmlformats.org/officeDocument/2006/relationships/oleObject" Target="../embeddings/oleObject235.bin"/><Relationship Id="rId9" Type="http://schemas.openxmlformats.org/officeDocument/2006/relationships/image" Target="../media/image130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5.png"/><Relationship Id="rId5" Type="http://schemas.openxmlformats.org/officeDocument/2006/relationships/image" Target="../media/image134.png"/><Relationship Id="rId4" Type="http://schemas.openxmlformats.org/officeDocument/2006/relationships/image" Target="../media/image133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3" Type="http://schemas.openxmlformats.org/officeDocument/2006/relationships/image" Target="../media/image137.png"/><Relationship Id="rId7" Type="http://schemas.openxmlformats.org/officeDocument/2006/relationships/image" Target="../media/image141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0.png"/><Relationship Id="rId5" Type="http://schemas.openxmlformats.org/officeDocument/2006/relationships/image" Target="../media/image139.png"/><Relationship Id="rId4" Type="http://schemas.openxmlformats.org/officeDocument/2006/relationships/image" Target="../media/image138.png"/><Relationship Id="rId9" Type="http://schemas.openxmlformats.org/officeDocument/2006/relationships/image" Target="../media/image14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7.png"/><Relationship Id="rId4" Type="http://schemas.openxmlformats.org/officeDocument/2006/relationships/image" Target="../media/image14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7" Type="http://schemas.openxmlformats.org/officeDocument/2006/relationships/image" Target="../media/image153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2.png"/><Relationship Id="rId5" Type="http://schemas.openxmlformats.org/officeDocument/2006/relationships/image" Target="../media/image151.png"/><Relationship Id="rId4" Type="http://schemas.openxmlformats.org/officeDocument/2006/relationships/image" Target="../media/image150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155.png"/><Relationship Id="rId7" Type="http://schemas.openxmlformats.org/officeDocument/2006/relationships/image" Target="../media/image159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8.png"/><Relationship Id="rId5" Type="http://schemas.openxmlformats.org/officeDocument/2006/relationships/image" Target="../media/image157.png"/><Relationship Id="rId4" Type="http://schemas.openxmlformats.org/officeDocument/2006/relationships/image" Target="../media/image156.png"/><Relationship Id="rId9" Type="http://schemas.openxmlformats.org/officeDocument/2006/relationships/image" Target="../media/image161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png"/><Relationship Id="rId3" Type="http://schemas.openxmlformats.org/officeDocument/2006/relationships/image" Target="../media/image163.png"/><Relationship Id="rId7" Type="http://schemas.openxmlformats.org/officeDocument/2006/relationships/image" Target="../media/image166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5.png"/><Relationship Id="rId5" Type="http://schemas.openxmlformats.org/officeDocument/2006/relationships/image" Target="../media/image164.png"/><Relationship Id="rId10" Type="http://schemas.openxmlformats.org/officeDocument/2006/relationships/image" Target="../media/image169.png"/><Relationship Id="rId4" Type="http://schemas.openxmlformats.org/officeDocument/2006/relationships/image" Target="../media/image161.png"/><Relationship Id="rId9" Type="http://schemas.openxmlformats.org/officeDocument/2006/relationships/image" Target="../media/image16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3.png"/><Relationship Id="rId4" Type="http://schemas.openxmlformats.org/officeDocument/2006/relationships/image" Target="../media/image172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3" Type="http://schemas.openxmlformats.org/officeDocument/2006/relationships/image" Target="../media/image175.png"/><Relationship Id="rId7" Type="http://schemas.openxmlformats.org/officeDocument/2006/relationships/image" Target="../media/image179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8.png"/><Relationship Id="rId5" Type="http://schemas.openxmlformats.org/officeDocument/2006/relationships/image" Target="../media/image177.png"/><Relationship Id="rId4" Type="http://schemas.openxmlformats.org/officeDocument/2006/relationships/image" Target="../media/image176.png"/><Relationship Id="rId9" Type="http://schemas.openxmlformats.org/officeDocument/2006/relationships/image" Target="../media/image181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png"/><Relationship Id="rId3" Type="http://schemas.openxmlformats.org/officeDocument/2006/relationships/image" Target="../media/image183.png"/><Relationship Id="rId7" Type="http://schemas.openxmlformats.org/officeDocument/2006/relationships/image" Target="../media/image187.png"/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6.png"/><Relationship Id="rId5" Type="http://schemas.openxmlformats.org/officeDocument/2006/relationships/image" Target="../media/image185.png"/><Relationship Id="rId4" Type="http://schemas.openxmlformats.org/officeDocument/2006/relationships/image" Target="../media/image184.png"/><Relationship Id="rId9" Type="http://schemas.openxmlformats.org/officeDocument/2006/relationships/image" Target="../media/image18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wmf"/><Relationship Id="rId2" Type="http://schemas.openxmlformats.org/officeDocument/2006/relationships/oleObject" Target="../embeddings/oleObject239.bin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wmf"/><Relationship Id="rId2" Type="http://schemas.openxmlformats.org/officeDocument/2006/relationships/oleObject" Target="../embeddings/oleObject240.bin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wmf"/><Relationship Id="rId2" Type="http://schemas.openxmlformats.org/officeDocument/2006/relationships/oleObject" Target="../embeddings/oleObject241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5.png"/><Relationship Id="rId4" Type="http://schemas.openxmlformats.org/officeDocument/2006/relationships/image" Target="../media/image19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6.png"/><Relationship Id="rId4" Type="http://schemas.openxmlformats.org/officeDocument/2006/relationships/image" Target="../media/image19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8.jpeg"/><Relationship Id="rId2" Type="http://schemas.openxmlformats.org/officeDocument/2006/relationships/image" Target="../media/image19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9.jpe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5.bin"/><Relationship Id="rId3" Type="http://schemas.openxmlformats.org/officeDocument/2006/relationships/image" Target="../media/image200.wmf"/><Relationship Id="rId7" Type="http://schemas.openxmlformats.org/officeDocument/2006/relationships/image" Target="../media/image202.wmf"/><Relationship Id="rId2" Type="http://schemas.openxmlformats.org/officeDocument/2006/relationships/oleObject" Target="../embeddings/oleObject242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44.bin"/><Relationship Id="rId5" Type="http://schemas.openxmlformats.org/officeDocument/2006/relationships/image" Target="../media/image201.wmf"/><Relationship Id="rId4" Type="http://schemas.openxmlformats.org/officeDocument/2006/relationships/oleObject" Target="../embeddings/oleObject243.bin"/><Relationship Id="rId9" Type="http://schemas.openxmlformats.org/officeDocument/2006/relationships/image" Target="../media/image203.w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png"/><Relationship Id="rId7" Type="http://schemas.openxmlformats.org/officeDocument/2006/relationships/image" Target="../media/image120.png"/><Relationship Id="rId2" Type="http://schemas.openxmlformats.org/officeDocument/2006/relationships/image" Target="../media/image204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5" Type="http://schemas.openxmlformats.org/officeDocument/2006/relationships/image" Target="../media/image100.png"/><Relationship Id="rId4" Type="http://schemas.openxmlformats.org/officeDocument/2006/relationships/image" Target="../media/image9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png"/><Relationship Id="rId7" Type="http://schemas.openxmlformats.org/officeDocument/2006/relationships/image" Target="../media/image1810.png"/><Relationship Id="rId2" Type="http://schemas.openxmlformats.org/officeDocument/2006/relationships/image" Target="../media/image206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10.png"/><Relationship Id="rId5" Type="http://schemas.openxmlformats.org/officeDocument/2006/relationships/image" Target="../media/image1610.png"/><Relationship Id="rId4" Type="http://schemas.openxmlformats.org/officeDocument/2006/relationships/image" Target="../media/image151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emf"/><Relationship Id="rId2" Type="http://schemas.openxmlformats.org/officeDocument/2006/relationships/oleObject" Target="../embeddings/oleObject246.bin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9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9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png"/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png"/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png"/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png"/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png"/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png"/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png"/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png"/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png"/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wmf"/><Relationship Id="rId2" Type="http://schemas.openxmlformats.org/officeDocument/2006/relationships/oleObject" Target="../embeddings/oleObject247.bin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wmf"/><Relationship Id="rId2" Type="http://schemas.openxmlformats.org/officeDocument/2006/relationships/oleObject" Target="../embeddings/oleObject248.bin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wmf"/><Relationship Id="rId3" Type="http://schemas.openxmlformats.org/officeDocument/2006/relationships/image" Target="../media/image219.png"/><Relationship Id="rId7" Type="http://schemas.openxmlformats.org/officeDocument/2006/relationships/oleObject" Target="../embeddings/oleObject250.bin"/><Relationship Id="rId2" Type="http://schemas.openxmlformats.org/officeDocument/2006/relationships/image" Target="../media/image2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1.wmf"/><Relationship Id="rId5" Type="http://schemas.openxmlformats.org/officeDocument/2006/relationships/oleObject" Target="../embeddings/oleObject249.bin"/><Relationship Id="rId4" Type="http://schemas.openxmlformats.org/officeDocument/2006/relationships/image" Target="../media/image220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1.bin"/><Relationship Id="rId2" Type="http://schemas.openxmlformats.org/officeDocument/2006/relationships/image" Target="../media/image2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4.wmf"/><Relationship Id="rId5" Type="http://schemas.openxmlformats.org/officeDocument/2006/relationships/oleObject" Target="../embeddings/oleObject252.bin"/><Relationship Id="rId4" Type="http://schemas.openxmlformats.org/officeDocument/2006/relationships/image" Target="../media/image223.wmf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8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6.png"/><Relationship Id="rId2" Type="http://schemas.openxmlformats.org/officeDocument/2006/relationships/image" Target="../media/image225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3.bin"/><Relationship Id="rId2" Type="http://schemas.openxmlformats.org/officeDocument/2006/relationships/image" Target="../media/image22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9.wmf"/><Relationship Id="rId5" Type="http://schemas.openxmlformats.org/officeDocument/2006/relationships/oleObject" Target="../embeddings/oleObject254.bin"/><Relationship Id="rId4" Type="http://schemas.openxmlformats.org/officeDocument/2006/relationships/image" Target="../media/image228.wmf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wmf"/><Relationship Id="rId2" Type="http://schemas.openxmlformats.org/officeDocument/2006/relationships/oleObject" Target="../embeddings/oleObject255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1.wmf"/><Relationship Id="rId4" Type="http://schemas.openxmlformats.org/officeDocument/2006/relationships/oleObject" Target="../embeddings/oleObject256.bin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4.wmf"/><Relationship Id="rId3" Type="http://schemas.openxmlformats.org/officeDocument/2006/relationships/oleObject" Target="../embeddings/oleObject257.bin"/><Relationship Id="rId7" Type="http://schemas.openxmlformats.org/officeDocument/2006/relationships/oleObject" Target="../embeddings/oleObject259.bin"/><Relationship Id="rId2" Type="http://schemas.openxmlformats.org/officeDocument/2006/relationships/image" Target="../media/image22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3.wmf"/><Relationship Id="rId5" Type="http://schemas.openxmlformats.org/officeDocument/2006/relationships/oleObject" Target="../embeddings/oleObject258.bin"/><Relationship Id="rId10" Type="http://schemas.openxmlformats.org/officeDocument/2006/relationships/image" Target="../media/image235.wmf"/><Relationship Id="rId4" Type="http://schemas.openxmlformats.org/officeDocument/2006/relationships/image" Target="../media/image232.wmf"/><Relationship Id="rId9" Type="http://schemas.openxmlformats.org/officeDocument/2006/relationships/oleObject" Target="../embeddings/oleObject260.bin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6.wmf"/><Relationship Id="rId2" Type="http://schemas.openxmlformats.org/officeDocument/2006/relationships/oleObject" Target="../embeddings/oleObject261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7.wmf"/><Relationship Id="rId4" Type="http://schemas.openxmlformats.org/officeDocument/2006/relationships/oleObject" Target="../embeddings/oleObject262.bin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8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3.bin"/><Relationship Id="rId2" Type="http://schemas.openxmlformats.org/officeDocument/2006/relationships/image" Target="../media/image2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0.wmf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2.png"/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3.png"/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4.png"/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6.png"/><Relationship Id="rId2" Type="http://schemas.openxmlformats.org/officeDocument/2006/relationships/image" Target="../media/image2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1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4.bin"/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7.wmf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wmf"/><Relationship Id="rId3" Type="http://schemas.openxmlformats.org/officeDocument/2006/relationships/oleObject" Target="../embeddings/oleObject265.bin"/><Relationship Id="rId7" Type="http://schemas.openxmlformats.org/officeDocument/2006/relationships/oleObject" Target="../embeddings/oleObject267.bin"/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9.wmf"/><Relationship Id="rId5" Type="http://schemas.openxmlformats.org/officeDocument/2006/relationships/oleObject" Target="../embeddings/oleObject266.bin"/><Relationship Id="rId4" Type="http://schemas.openxmlformats.org/officeDocument/2006/relationships/image" Target="../media/image248.wmf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3.wmf"/><Relationship Id="rId13" Type="http://schemas.openxmlformats.org/officeDocument/2006/relationships/oleObject" Target="../embeddings/oleObject273.bin"/><Relationship Id="rId18" Type="http://schemas.openxmlformats.org/officeDocument/2006/relationships/image" Target="../media/image258.wmf"/><Relationship Id="rId3" Type="http://schemas.openxmlformats.org/officeDocument/2006/relationships/oleObject" Target="../embeddings/oleObject268.bin"/><Relationship Id="rId21" Type="http://schemas.openxmlformats.org/officeDocument/2006/relationships/oleObject" Target="../embeddings/oleObject277.bin"/><Relationship Id="rId7" Type="http://schemas.openxmlformats.org/officeDocument/2006/relationships/oleObject" Target="../embeddings/oleObject270.bin"/><Relationship Id="rId12" Type="http://schemas.openxmlformats.org/officeDocument/2006/relationships/image" Target="../media/image255.wmf"/><Relationship Id="rId17" Type="http://schemas.openxmlformats.org/officeDocument/2006/relationships/oleObject" Target="../embeddings/oleObject275.bin"/><Relationship Id="rId2" Type="http://schemas.openxmlformats.org/officeDocument/2006/relationships/image" Target="../media/image214.png"/><Relationship Id="rId16" Type="http://schemas.openxmlformats.org/officeDocument/2006/relationships/image" Target="../media/image257.wmf"/><Relationship Id="rId20" Type="http://schemas.openxmlformats.org/officeDocument/2006/relationships/image" Target="../media/image259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2.wmf"/><Relationship Id="rId11" Type="http://schemas.openxmlformats.org/officeDocument/2006/relationships/oleObject" Target="../embeddings/oleObject272.bin"/><Relationship Id="rId5" Type="http://schemas.openxmlformats.org/officeDocument/2006/relationships/oleObject" Target="../embeddings/oleObject269.bin"/><Relationship Id="rId15" Type="http://schemas.openxmlformats.org/officeDocument/2006/relationships/oleObject" Target="../embeddings/oleObject274.bin"/><Relationship Id="rId10" Type="http://schemas.openxmlformats.org/officeDocument/2006/relationships/image" Target="../media/image254.wmf"/><Relationship Id="rId19" Type="http://schemas.openxmlformats.org/officeDocument/2006/relationships/oleObject" Target="../embeddings/oleObject276.bin"/><Relationship Id="rId4" Type="http://schemas.openxmlformats.org/officeDocument/2006/relationships/image" Target="../media/image251.wmf"/><Relationship Id="rId9" Type="http://schemas.openxmlformats.org/officeDocument/2006/relationships/oleObject" Target="../embeddings/oleObject271.bin"/><Relationship Id="rId14" Type="http://schemas.openxmlformats.org/officeDocument/2006/relationships/image" Target="../media/image256.wmf"/><Relationship Id="rId22" Type="http://schemas.openxmlformats.org/officeDocument/2006/relationships/image" Target="../media/image260.wmf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3.wmf"/><Relationship Id="rId13" Type="http://schemas.openxmlformats.org/officeDocument/2006/relationships/oleObject" Target="../embeddings/oleObject283.bin"/><Relationship Id="rId18" Type="http://schemas.openxmlformats.org/officeDocument/2006/relationships/image" Target="../media/image268.wmf"/><Relationship Id="rId26" Type="http://schemas.openxmlformats.org/officeDocument/2006/relationships/image" Target="../media/image272.wmf"/><Relationship Id="rId3" Type="http://schemas.openxmlformats.org/officeDocument/2006/relationships/oleObject" Target="../embeddings/oleObject278.bin"/><Relationship Id="rId21" Type="http://schemas.openxmlformats.org/officeDocument/2006/relationships/oleObject" Target="../embeddings/oleObject287.bin"/><Relationship Id="rId7" Type="http://schemas.openxmlformats.org/officeDocument/2006/relationships/oleObject" Target="../embeddings/oleObject280.bin"/><Relationship Id="rId12" Type="http://schemas.openxmlformats.org/officeDocument/2006/relationships/image" Target="../media/image265.wmf"/><Relationship Id="rId17" Type="http://schemas.openxmlformats.org/officeDocument/2006/relationships/oleObject" Target="../embeddings/oleObject285.bin"/><Relationship Id="rId25" Type="http://schemas.openxmlformats.org/officeDocument/2006/relationships/oleObject" Target="../embeddings/oleObject289.bin"/><Relationship Id="rId2" Type="http://schemas.openxmlformats.org/officeDocument/2006/relationships/image" Target="../media/image214.png"/><Relationship Id="rId16" Type="http://schemas.openxmlformats.org/officeDocument/2006/relationships/image" Target="../media/image267.wmf"/><Relationship Id="rId20" Type="http://schemas.openxmlformats.org/officeDocument/2006/relationships/image" Target="../media/image269.wmf"/><Relationship Id="rId29" Type="http://schemas.openxmlformats.org/officeDocument/2006/relationships/oleObject" Target="../embeddings/oleObject291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2.wmf"/><Relationship Id="rId11" Type="http://schemas.openxmlformats.org/officeDocument/2006/relationships/oleObject" Target="../embeddings/oleObject282.bin"/><Relationship Id="rId24" Type="http://schemas.openxmlformats.org/officeDocument/2006/relationships/image" Target="../media/image271.wmf"/><Relationship Id="rId32" Type="http://schemas.openxmlformats.org/officeDocument/2006/relationships/image" Target="../media/image275.wmf"/><Relationship Id="rId5" Type="http://schemas.openxmlformats.org/officeDocument/2006/relationships/oleObject" Target="../embeddings/oleObject279.bin"/><Relationship Id="rId15" Type="http://schemas.openxmlformats.org/officeDocument/2006/relationships/oleObject" Target="../embeddings/oleObject284.bin"/><Relationship Id="rId23" Type="http://schemas.openxmlformats.org/officeDocument/2006/relationships/oleObject" Target="../embeddings/oleObject288.bin"/><Relationship Id="rId28" Type="http://schemas.openxmlformats.org/officeDocument/2006/relationships/image" Target="../media/image273.wmf"/><Relationship Id="rId10" Type="http://schemas.openxmlformats.org/officeDocument/2006/relationships/image" Target="../media/image264.wmf"/><Relationship Id="rId19" Type="http://schemas.openxmlformats.org/officeDocument/2006/relationships/oleObject" Target="../embeddings/oleObject286.bin"/><Relationship Id="rId31" Type="http://schemas.openxmlformats.org/officeDocument/2006/relationships/oleObject" Target="../embeddings/oleObject292.bin"/><Relationship Id="rId4" Type="http://schemas.openxmlformats.org/officeDocument/2006/relationships/image" Target="../media/image261.wmf"/><Relationship Id="rId9" Type="http://schemas.openxmlformats.org/officeDocument/2006/relationships/oleObject" Target="../embeddings/oleObject281.bin"/><Relationship Id="rId14" Type="http://schemas.openxmlformats.org/officeDocument/2006/relationships/image" Target="../media/image266.wmf"/><Relationship Id="rId22" Type="http://schemas.openxmlformats.org/officeDocument/2006/relationships/image" Target="../media/image270.wmf"/><Relationship Id="rId27" Type="http://schemas.openxmlformats.org/officeDocument/2006/relationships/oleObject" Target="../embeddings/oleObject290.bin"/><Relationship Id="rId30" Type="http://schemas.openxmlformats.org/officeDocument/2006/relationships/image" Target="../media/image274.wmf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3.wmf"/><Relationship Id="rId13" Type="http://schemas.openxmlformats.org/officeDocument/2006/relationships/oleObject" Target="../embeddings/oleObject298.bin"/><Relationship Id="rId18" Type="http://schemas.openxmlformats.org/officeDocument/2006/relationships/image" Target="../media/image277.wmf"/><Relationship Id="rId26" Type="http://schemas.openxmlformats.org/officeDocument/2006/relationships/image" Target="../media/image272.wmf"/><Relationship Id="rId3" Type="http://schemas.openxmlformats.org/officeDocument/2006/relationships/oleObject" Target="../embeddings/oleObject293.bin"/><Relationship Id="rId21" Type="http://schemas.openxmlformats.org/officeDocument/2006/relationships/oleObject" Target="../embeddings/oleObject302.bin"/><Relationship Id="rId7" Type="http://schemas.openxmlformats.org/officeDocument/2006/relationships/oleObject" Target="../embeddings/oleObject295.bin"/><Relationship Id="rId12" Type="http://schemas.openxmlformats.org/officeDocument/2006/relationships/image" Target="../media/image265.wmf"/><Relationship Id="rId17" Type="http://schemas.openxmlformats.org/officeDocument/2006/relationships/oleObject" Target="../embeddings/oleObject300.bin"/><Relationship Id="rId25" Type="http://schemas.openxmlformats.org/officeDocument/2006/relationships/oleObject" Target="../embeddings/oleObject304.bin"/><Relationship Id="rId2" Type="http://schemas.openxmlformats.org/officeDocument/2006/relationships/image" Target="../media/image214.png"/><Relationship Id="rId16" Type="http://schemas.openxmlformats.org/officeDocument/2006/relationships/image" Target="../media/image276.wmf"/><Relationship Id="rId20" Type="http://schemas.openxmlformats.org/officeDocument/2006/relationships/image" Target="../media/image278.wmf"/><Relationship Id="rId29" Type="http://schemas.openxmlformats.org/officeDocument/2006/relationships/oleObject" Target="../embeddings/oleObject306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2.wmf"/><Relationship Id="rId11" Type="http://schemas.openxmlformats.org/officeDocument/2006/relationships/oleObject" Target="../embeddings/oleObject297.bin"/><Relationship Id="rId24" Type="http://schemas.openxmlformats.org/officeDocument/2006/relationships/image" Target="../media/image271.wmf"/><Relationship Id="rId32" Type="http://schemas.openxmlformats.org/officeDocument/2006/relationships/image" Target="../media/image280.wmf"/><Relationship Id="rId5" Type="http://schemas.openxmlformats.org/officeDocument/2006/relationships/oleObject" Target="../embeddings/oleObject294.bin"/><Relationship Id="rId15" Type="http://schemas.openxmlformats.org/officeDocument/2006/relationships/oleObject" Target="../embeddings/oleObject299.bin"/><Relationship Id="rId23" Type="http://schemas.openxmlformats.org/officeDocument/2006/relationships/oleObject" Target="../embeddings/oleObject303.bin"/><Relationship Id="rId28" Type="http://schemas.openxmlformats.org/officeDocument/2006/relationships/image" Target="../media/image279.wmf"/><Relationship Id="rId10" Type="http://schemas.openxmlformats.org/officeDocument/2006/relationships/image" Target="../media/image264.wmf"/><Relationship Id="rId19" Type="http://schemas.openxmlformats.org/officeDocument/2006/relationships/oleObject" Target="../embeddings/oleObject301.bin"/><Relationship Id="rId31" Type="http://schemas.openxmlformats.org/officeDocument/2006/relationships/oleObject" Target="../embeddings/oleObject307.bin"/><Relationship Id="rId4" Type="http://schemas.openxmlformats.org/officeDocument/2006/relationships/image" Target="../media/image261.wmf"/><Relationship Id="rId9" Type="http://schemas.openxmlformats.org/officeDocument/2006/relationships/oleObject" Target="../embeddings/oleObject296.bin"/><Relationship Id="rId14" Type="http://schemas.openxmlformats.org/officeDocument/2006/relationships/image" Target="../media/image266.wmf"/><Relationship Id="rId22" Type="http://schemas.openxmlformats.org/officeDocument/2006/relationships/image" Target="../media/image270.wmf"/><Relationship Id="rId27" Type="http://schemas.openxmlformats.org/officeDocument/2006/relationships/oleObject" Target="../embeddings/oleObject305.bin"/><Relationship Id="rId30" Type="http://schemas.openxmlformats.org/officeDocument/2006/relationships/image" Target="../media/image274.wmf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1.emf"/><Relationship Id="rId2" Type="http://schemas.openxmlformats.org/officeDocument/2006/relationships/oleObject" Target="../embeddings/oleObject30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2.emf"/><Relationship Id="rId4" Type="http://schemas.openxmlformats.org/officeDocument/2006/relationships/oleObject" Target="../embeddings/oleObject309.bin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3.bin"/><Relationship Id="rId13" Type="http://schemas.openxmlformats.org/officeDocument/2006/relationships/image" Target="../media/image288.emf"/><Relationship Id="rId18" Type="http://schemas.openxmlformats.org/officeDocument/2006/relationships/oleObject" Target="../embeddings/oleObject318.bin"/><Relationship Id="rId3" Type="http://schemas.openxmlformats.org/officeDocument/2006/relationships/image" Target="../media/image283.emf"/><Relationship Id="rId21" Type="http://schemas.openxmlformats.org/officeDocument/2006/relationships/image" Target="../media/image292.emf"/><Relationship Id="rId7" Type="http://schemas.openxmlformats.org/officeDocument/2006/relationships/image" Target="../media/image285.emf"/><Relationship Id="rId12" Type="http://schemas.openxmlformats.org/officeDocument/2006/relationships/oleObject" Target="../embeddings/oleObject315.bin"/><Relationship Id="rId17" Type="http://schemas.openxmlformats.org/officeDocument/2006/relationships/image" Target="../media/image290.emf"/><Relationship Id="rId2" Type="http://schemas.openxmlformats.org/officeDocument/2006/relationships/oleObject" Target="../embeddings/oleObject310.bin"/><Relationship Id="rId16" Type="http://schemas.openxmlformats.org/officeDocument/2006/relationships/oleObject" Target="../embeddings/oleObject317.bin"/><Relationship Id="rId20" Type="http://schemas.openxmlformats.org/officeDocument/2006/relationships/oleObject" Target="../embeddings/oleObject31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12.bin"/><Relationship Id="rId11" Type="http://schemas.openxmlformats.org/officeDocument/2006/relationships/image" Target="../media/image287.emf"/><Relationship Id="rId5" Type="http://schemas.openxmlformats.org/officeDocument/2006/relationships/image" Target="../media/image284.emf"/><Relationship Id="rId15" Type="http://schemas.openxmlformats.org/officeDocument/2006/relationships/image" Target="../media/image289.emf"/><Relationship Id="rId10" Type="http://schemas.openxmlformats.org/officeDocument/2006/relationships/oleObject" Target="../embeddings/oleObject314.bin"/><Relationship Id="rId19" Type="http://schemas.openxmlformats.org/officeDocument/2006/relationships/image" Target="../media/image291.emf"/><Relationship Id="rId4" Type="http://schemas.openxmlformats.org/officeDocument/2006/relationships/oleObject" Target="../embeddings/oleObject311.bin"/><Relationship Id="rId9" Type="http://schemas.openxmlformats.org/officeDocument/2006/relationships/image" Target="../media/image286.emf"/><Relationship Id="rId14" Type="http://schemas.openxmlformats.org/officeDocument/2006/relationships/oleObject" Target="../embeddings/oleObject316.bin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3.bin"/><Relationship Id="rId3" Type="http://schemas.openxmlformats.org/officeDocument/2006/relationships/image" Target="../media/image293.emf"/><Relationship Id="rId7" Type="http://schemas.openxmlformats.org/officeDocument/2006/relationships/image" Target="../media/image295.emf"/><Relationship Id="rId2" Type="http://schemas.openxmlformats.org/officeDocument/2006/relationships/oleObject" Target="../embeddings/oleObject32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22.bin"/><Relationship Id="rId11" Type="http://schemas.openxmlformats.org/officeDocument/2006/relationships/image" Target="../media/image297.emf"/><Relationship Id="rId5" Type="http://schemas.openxmlformats.org/officeDocument/2006/relationships/image" Target="../media/image294.emf"/><Relationship Id="rId10" Type="http://schemas.openxmlformats.org/officeDocument/2006/relationships/oleObject" Target="../embeddings/oleObject324.bin"/><Relationship Id="rId4" Type="http://schemas.openxmlformats.org/officeDocument/2006/relationships/oleObject" Target="../embeddings/oleObject321.bin"/><Relationship Id="rId9" Type="http://schemas.openxmlformats.org/officeDocument/2006/relationships/image" Target="../media/image296.emf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8.emf"/><Relationship Id="rId2" Type="http://schemas.openxmlformats.org/officeDocument/2006/relationships/oleObject" Target="../embeddings/oleObject325.bin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5.png"/><Relationship Id="rId3" Type="http://schemas.openxmlformats.org/officeDocument/2006/relationships/image" Target="../media/image300.png"/><Relationship Id="rId7" Type="http://schemas.openxmlformats.org/officeDocument/2006/relationships/image" Target="../media/image304.png"/><Relationship Id="rId2" Type="http://schemas.openxmlformats.org/officeDocument/2006/relationships/image" Target="../media/image29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3.png"/><Relationship Id="rId5" Type="http://schemas.openxmlformats.org/officeDocument/2006/relationships/image" Target="../media/image302.png"/><Relationship Id="rId10" Type="http://schemas.openxmlformats.org/officeDocument/2006/relationships/image" Target="../media/image307.png"/><Relationship Id="rId4" Type="http://schemas.openxmlformats.org/officeDocument/2006/relationships/image" Target="../media/image301.png"/><Relationship Id="rId9" Type="http://schemas.openxmlformats.org/officeDocument/2006/relationships/image" Target="../media/image306.png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4.png"/><Relationship Id="rId3" Type="http://schemas.openxmlformats.org/officeDocument/2006/relationships/image" Target="../media/image309.png"/><Relationship Id="rId7" Type="http://schemas.openxmlformats.org/officeDocument/2006/relationships/image" Target="../media/image313.png"/><Relationship Id="rId12" Type="http://schemas.openxmlformats.org/officeDocument/2006/relationships/image" Target="../media/image318.png"/><Relationship Id="rId2" Type="http://schemas.openxmlformats.org/officeDocument/2006/relationships/image" Target="../media/image30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2.png"/><Relationship Id="rId11" Type="http://schemas.openxmlformats.org/officeDocument/2006/relationships/image" Target="../media/image317.png"/><Relationship Id="rId5" Type="http://schemas.openxmlformats.org/officeDocument/2006/relationships/image" Target="../media/image311.png"/><Relationship Id="rId10" Type="http://schemas.openxmlformats.org/officeDocument/2006/relationships/image" Target="../media/image316.png"/><Relationship Id="rId4" Type="http://schemas.openxmlformats.org/officeDocument/2006/relationships/image" Target="../media/image310.png"/><Relationship Id="rId9" Type="http://schemas.openxmlformats.org/officeDocument/2006/relationships/image" Target="../media/image315.png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2.wmf"/><Relationship Id="rId13" Type="http://schemas.openxmlformats.org/officeDocument/2006/relationships/oleObject" Target="../embeddings/oleObject331.bin"/><Relationship Id="rId18" Type="http://schemas.openxmlformats.org/officeDocument/2006/relationships/image" Target="../media/image327.wmf"/><Relationship Id="rId3" Type="http://schemas.openxmlformats.org/officeDocument/2006/relationships/oleObject" Target="../embeddings/oleObject326.bin"/><Relationship Id="rId7" Type="http://schemas.openxmlformats.org/officeDocument/2006/relationships/oleObject" Target="../embeddings/oleObject328.bin"/><Relationship Id="rId12" Type="http://schemas.openxmlformats.org/officeDocument/2006/relationships/image" Target="../media/image324.wmf"/><Relationship Id="rId17" Type="http://schemas.openxmlformats.org/officeDocument/2006/relationships/oleObject" Target="../embeddings/oleObject333.bin"/><Relationship Id="rId2" Type="http://schemas.openxmlformats.org/officeDocument/2006/relationships/image" Target="../media/image319.png"/><Relationship Id="rId16" Type="http://schemas.openxmlformats.org/officeDocument/2006/relationships/image" Target="../media/image326.wmf"/><Relationship Id="rId20" Type="http://schemas.openxmlformats.org/officeDocument/2006/relationships/image" Target="../media/image328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21.wmf"/><Relationship Id="rId11" Type="http://schemas.openxmlformats.org/officeDocument/2006/relationships/oleObject" Target="../embeddings/oleObject330.bin"/><Relationship Id="rId5" Type="http://schemas.openxmlformats.org/officeDocument/2006/relationships/oleObject" Target="../embeddings/oleObject327.bin"/><Relationship Id="rId15" Type="http://schemas.openxmlformats.org/officeDocument/2006/relationships/oleObject" Target="../embeddings/oleObject332.bin"/><Relationship Id="rId10" Type="http://schemas.openxmlformats.org/officeDocument/2006/relationships/image" Target="../media/image323.wmf"/><Relationship Id="rId19" Type="http://schemas.openxmlformats.org/officeDocument/2006/relationships/oleObject" Target="../embeddings/oleObject334.bin"/><Relationship Id="rId4" Type="http://schemas.openxmlformats.org/officeDocument/2006/relationships/image" Target="../media/image320.wmf"/><Relationship Id="rId9" Type="http://schemas.openxmlformats.org/officeDocument/2006/relationships/oleObject" Target="../embeddings/oleObject329.bin"/><Relationship Id="rId14" Type="http://schemas.openxmlformats.org/officeDocument/2006/relationships/image" Target="../media/image325.wmf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6.bin"/><Relationship Id="rId3" Type="http://schemas.openxmlformats.org/officeDocument/2006/relationships/image" Target="../media/image330.png"/><Relationship Id="rId7" Type="http://schemas.openxmlformats.org/officeDocument/2006/relationships/image" Target="../media/image333.wmf"/><Relationship Id="rId2" Type="http://schemas.openxmlformats.org/officeDocument/2006/relationships/image" Target="../media/image329.png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35.bin"/><Relationship Id="rId5" Type="http://schemas.openxmlformats.org/officeDocument/2006/relationships/image" Target="../media/image332.png"/><Relationship Id="rId4" Type="http://schemas.openxmlformats.org/officeDocument/2006/relationships/image" Target="../media/image331.png"/><Relationship Id="rId9" Type="http://schemas.openxmlformats.org/officeDocument/2006/relationships/image" Target="../media/image334.wmf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2.png"/><Relationship Id="rId2" Type="http://schemas.openxmlformats.org/officeDocument/2006/relationships/image" Target="../media/image32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5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6.png"/><Relationship Id="rId2" Type="http://schemas.openxmlformats.org/officeDocument/2006/relationships/image" Target="../media/image33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39552" y="2420888"/>
            <a:ext cx="80648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j-lt"/>
              </a:rPr>
              <a:t>Lecture-3</a:t>
            </a:r>
          </a:p>
          <a:p>
            <a:pPr algn="ctr"/>
            <a:r>
              <a:rPr lang="en-GB" sz="28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j-lt"/>
              </a:rPr>
              <a:t>Block Diagram Representation of Control Systems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34888" y="126876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/>
              <a:t>Control Systems (CS)</a:t>
            </a:r>
            <a:endParaRPr lang="en-GB" sz="5400" dirty="0"/>
          </a:p>
        </p:txBody>
      </p:sp>
    </p:spTree>
    <p:extLst>
      <p:ext uri="{BB962C8B-B14F-4D97-AF65-F5344CB8AC3E}">
        <p14:creationId xmlns:p14="http://schemas.microsoft.com/office/powerpoint/2010/main" val="911621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Canonical Form</a:t>
            </a:r>
          </a:p>
          <a:p>
            <a:r>
              <a:rPr lang="en-US" dirty="0"/>
              <a:t>Reduction of complicated Block diagrams</a:t>
            </a:r>
          </a:p>
          <a:p>
            <a:r>
              <a:rPr lang="en-US" dirty="0"/>
              <a:t>Examples of Block Diagram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252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-12636"/>
            <a:ext cx="8229600" cy="777340"/>
          </a:xfrm>
        </p:spPr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-36512" y="810800"/>
            <a:ext cx="4905405" cy="3770328"/>
          </a:xfrm>
        </p:spPr>
        <p:txBody>
          <a:bodyPr>
            <a:normAutofit/>
          </a:bodyPr>
          <a:lstStyle/>
          <a:p>
            <a:pPr algn="just"/>
            <a:r>
              <a:rPr lang="en-GB" sz="2400" dirty="0"/>
              <a:t>A Block Diagram is a shorthand pictorial representation of the cause-and-effect relationship of a system.</a:t>
            </a:r>
          </a:p>
          <a:p>
            <a:pPr algn="just"/>
            <a:endParaRPr lang="en-GB" sz="1000" dirty="0"/>
          </a:p>
          <a:p>
            <a:pPr algn="just"/>
            <a:endParaRPr lang="en-GB" sz="200" dirty="0"/>
          </a:p>
          <a:p>
            <a:pPr algn="just"/>
            <a:r>
              <a:rPr lang="en-GB" sz="2400" dirty="0"/>
              <a:t>For the operations of addition and subtraction the block becomes a small circle, called a summing point.</a:t>
            </a:r>
          </a:p>
          <a:p>
            <a:pPr algn="just"/>
            <a:endParaRPr lang="en-GB" sz="2400" dirty="0"/>
          </a:p>
        </p:txBody>
      </p:sp>
      <p:grpSp>
        <p:nvGrpSpPr>
          <p:cNvPr id="13" name="Group 12"/>
          <p:cNvGrpSpPr/>
          <p:nvPr/>
        </p:nvGrpSpPr>
        <p:grpSpPr>
          <a:xfrm>
            <a:off x="5076056" y="993128"/>
            <a:ext cx="3960440" cy="864096"/>
            <a:chOff x="2445679" y="5085184"/>
            <a:chExt cx="4242459" cy="864096"/>
          </a:xfrm>
        </p:grpSpPr>
        <p:sp>
          <p:nvSpPr>
            <p:cNvPr id="5" name="Rectangle 4"/>
            <p:cNvSpPr/>
            <p:nvPr/>
          </p:nvSpPr>
          <p:spPr>
            <a:xfrm>
              <a:off x="3779912" y="5085184"/>
              <a:ext cx="1584176" cy="86409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graphicFrame>
          <p:nvGraphicFramePr>
            <p:cNvPr id="7" name="Object 6"/>
            <p:cNvGraphicFramePr>
              <a:graphicFrameLocks noChangeAspect="1"/>
            </p:cNvGraphicFramePr>
            <p:nvPr/>
          </p:nvGraphicFramePr>
          <p:xfrm>
            <a:off x="4355976" y="5157192"/>
            <a:ext cx="360040" cy="7200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77480" imgH="355320" progId="Equation.3">
                    <p:embed/>
                  </p:oleObj>
                </mc:Choice>
                <mc:Fallback>
                  <p:oleObj name="Equation" r:id="rId2" imgW="177480" imgH="355320" progId="Equation.3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55976" y="5157192"/>
                          <a:ext cx="360040" cy="7200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9" name="Straight Arrow Connector 8"/>
            <p:cNvCxnSpPr/>
            <p:nvPr/>
          </p:nvCxnSpPr>
          <p:spPr>
            <a:xfrm>
              <a:off x="2771800" y="5529632"/>
              <a:ext cx="100811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>
              <a:off x="5364088" y="5555420"/>
              <a:ext cx="100811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75780" name="Object 4"/>
            <p:cNvGraphicFramePr>
              <a:graphicFrameLocks noChangeAspect="1"/>
            </p:cNvGraphicFramePr>
            <p:nvPr/>
          </p:nvGraphicFramePr>
          <p:xfrm>
            <a:off x="2445679" y="5416111"/>
            <a:ext cx="231775" cy="257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14120" imgH="126720" progId="Equation.3">
                    <p:embed/>
                  </p:oleObj>
                </mc:Choice>
                <mc:Fallback>
                  <p:oleObj name="Equation" r:id="rId4" imgW="114120" imgH="126720" progId="Equation.3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5679" y="5416111"/>
                          <a:ext cx="231775" cy="2571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5781" name="Object 5"/>
            <p:cNvGraphicFramePr>
              <a:graphicFrameLocks noChangeAspect="1"/>
            </p:cNvGraphicFramePr>
            <p:nvPr/>
          </p:nvGraphicFramePr>
          <p:xfrm>
            <a:off x="6430963" y="5419725"/>
            <a:ext cx="257175" cy="307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26720" imgH="152280" progId="Equation.3">
                    <p:embed/>
                  </p:oleObj>
                </mc:Choice>
                <mc:Fallback>
                  <p:oleObj name="Equation" r:id="rId6" imgW="126720" imgH="152280" progId="Equation.3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30963" y="5419725"/>
                          <a:ext cx="257175" cy="3079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</a:t>
            </a:fld>
            <a:endParaRPr lang="en-GB"/>
          </a:p>
        </p:txBody>
      </p:sp>
      <p:grpSp>
        <p:nvGrpSpPr>
          <p:cNvPr id="20" name="Group 19"/>
          <p:cNvGrpSpPr/>
          <p:nvPr/>
        </p:nvGrpSpPr>
        <p:grpSpPr>
          <a:xfrm>
            <a:off x="5386894" y="2420888"/>
            <a:ext cx="3649602" cy="1943406"/>
            <a:chOff x="3459972" y="4591230"/>
            <a:chExt cx="3649602" cy="1943406"/>
          </a:xfrm>
        </p:grpSpPr>
        <p:sp>
          <p:nvSpPr>
            <p:cNvPr id="6" name="Oval 5"/>
            <p:cNvSpPr/>
            <p:nvPr/>
          </p:nvSpPr>
          <p:spPr>
            <a:xfrm>
              <a:off x="4571999" y="5337212"/>
              <a:ext cx="432048" cy="43204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>
              <a:off x="3459972" y="5553236"/>
              <a:ext cx="109728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endCxn id="6" idx="4"/>
            </p:cNvCxnSpPr>
            <p:nvPr/>
          </p:nvCxnSpPr>
          <p:spPr>
            <a:xfrm flipV="1">
              <a:off x="4788023" y="5769260"/>
              <a:ext cx="0" cy="64807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endCxn id="6" idx="0"/>
            </p:cNvCxnSpPr>
            <p:nvPr/>
          </p:nvCxnSpPr>
          <p:spPr>
            <a:xfrm>
              <a:off x="4788023" y="4761148"/>
              <a:ext cx="0" cy="5760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6" idx="6"/>
            </p:cNvCxnSpPr>
            <p:nvPr/>
          </p:nvCxnSpPr>
          <p:spPr>
            <a:xfrm>
              <a:off x="5004047" y="5553236"/>
              <a:ext cx="93610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3537777" y="5241034"/>
                  <a:ext cx="3679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7777" y="5241034"/>
                  <a:ext cx="367986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t="-8333" r="-21311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4788024" y="4591230"/>
                  <a:ext cx="3679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8024" y="4591230"/>
                  <a:ext cx="367986" cy="369332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t="-8197" r="-2166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4722305" y="6165304"/>
                  <a:ext cx="35375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/>
                          </a:rPr>
                          <m:t>𝑧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2305" y="6165304"/>
                  <a:ext cx="353751" cy="369332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t="-8197" r="-2069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/>
                <p:cNvSpPr txBox="1"/>
                <p:nvPr/>
              </p:nvSpPr>
              <p:spPr>
                <a:xfrm>
                  <a:off x="4225771" y="5241034"/>
                  <a:ext cx="41069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/>
                          </a:rPr>
                          <m:t>+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5771" y="5241034"/>
                  <a:ext cx="410690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t="-8333" r="-19118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4749246" y="5633771"/>
                  <a:ext cx="41069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/>
                          </a:rPr>
                          <m:t>−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9246" y="5633771"/>
                  <a:ext cx="410690" cy="369332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 t="-8197" r="-1911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4798702" y="5024102"/>
                  <a:ext cx="41069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/>
                          </a:rPr>
                          <m:t>+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98702" y="5024102"/>
                  <a:ext cx="410690" cy="369332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t="-8197" r="-1911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/>
                <p:cNvSpPr txBox="1"/>
                <p:nvPr/>
              </p:nvSpPr>
              <p:spPr>
                <a:xfrm>
                  <a:off x="5940151" y="5376981"/>
                  <a:ext cx="11694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  <m:r>
                          <a:rPr lang="en-US" b="0" i="1" smtClean="0">
                            <a:latin typeface="Cambria Math"/>
                          </a:rPr>
                          <m:t>+</m:t>
                        </m:r>
                        <m:r>
                          <a:rPr lang="en-US" b="0" i="1" smtClean="0">
                            <a:latin typeface="Cambria Math"/>
                          </a:rPr>
                          <m:t>𝑦</m:t>
                        </m:r>
                        <m:r>
                          <a:rPr lang="en-US" b="0" i="1" smtClean="0">
                            <a:latin typeface="Cambria Math"/>
                          </a:rPr>
                          <m:t>−</m:t>
                        </m:r>
                        <m:r>
                          <a:rPr lang="en-US" b="0" i="1" smtClean="0">
                            <a:latin typeface="Cambria Math"/>
                          </a:rPr>
                          <m:t>𝑧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7" name="Text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0151" y="5376981"/>
                  <a:ext cx="1169423" cy="369332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 t="-8197" r="-628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699892" y="5517232"/>
            <a:ext cx="3919012" cy="1248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" name="Picture 3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5236396" y="5445224"/>
            <a:ext cx="3766079" cy="11673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"/>
          <p:cNvSpPr/>
          <p:nvPr/>
        </p:nvSpPr>
        <p:spPr>
          <a:xfrm>
            <a:off x="35496" y="4409817"/>
            <a:ext cx="862230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GB" sz="2400" dirty="0"/>
              <a:t>In order to have the same signal or variable be an input to more than one block or summing point, a </a:t>
            </a:r>
            <a:r>
              <a:rPr lang="en-GB" sz="2400" dirty="0" err="1"/>
              <a:t>takeoff</a:t>
            </a:r>
            <a:r>
              <a:rPr lang="en-GB" sz="2400" dirty="0"/>
              <a:t> point is used.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GB" dirty="0"/>
              <a:t>Example-1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1124744"/>
                <a:ext cx="8640960" cy="4525963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GB" sz="2400" dirty="0"/>
                  <a:t>Consider the following equations in which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400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400" b="0" i="1" dirty="0" smtClean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sz="2400" dirty="0"/>
                  <a:t>, are variables,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400" i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400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2400" i="1" dirty="0"/>
                  <a:t> are </a:t>
                </a:r>
                <a:r>
                  <a:rPr lang="en-GB" sz="2400" dirty="0"/>
                  <a:t>general coefficients or mathematical operators.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1124744"/>
                <a:ext cx="8640960" cy="4525963"/>
              </a:xfrm>
              <a:blipFill rotWithShape="1">
                <a:blip r:embed="rId3"/>
                <a:stretch>
                  <a:fillRect l="-917" t="-1078" r="-1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2987824" y="2348880"/>
          <a:ext cx="3316662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66680" imgH="190440" progId="Equation.3">
                  <p:embed/>
                </p:oleObj>
              </mc:Choice>
              <mc:Fallback>
                <p:oleObj name="Equation" r:id="rId4" imgW="1066680" imgH="1904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824" y="2348880"/>
                        <a:ext cx="3316662" cy="5040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</a:t>
            </a:fld>
            <a:endParaRPr lang="en-GB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131840" y="3547027"/>
            <a:ext cx="4143229" cy="2448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GB" dirty="0"/>
              <a:t>Example-2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124744"/>
            <a:ext cx="8640960" cy="4525963"/>
          </a:xfrm>
        </p:spPr>
        <p:txBody>
          <a:bodyPr>
            <a:normAutofit/>
          </a:bodyPr>
          <a:lstStyle/>
          <a:p>
            <a:pPr algn="just"/>
            <a:r>
              <a:rPr lang="en-GB" sz="2400" dirty="0"/>
              <a:t>Draw the Block Diagrams of the following equations.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683568" y="2204864"/>
          <a:ext cx="5329238" cy="190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14320" imgH="723600" progId="Equation.3">
                  <p:embed/>
                </p:oleObj>
              </mc:Choice>
              <mc:Fallback>
                <p:oleObj name="Equation" r:id="rId2" imgW="1714320" imgH="723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2204864"/>
                        <a:ext cx="5329238" cy="1909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5</a:t>
            </a:fld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305800" cy="578328"/>
          </a:xfrm>
        </p:spPr>
        <p:txBody>
          <a:bodyPr>
            <a:normAutofit fontScale="90000"/>
          </a:bodyPr>
          <a:lstStyle/>
          <a:p>
            <a:r>
              <a:rPr lang="en-GB" sz="3600" dirty="0">
                <a:solidFill>
                  <a:srgbClr val="FF0000"/>
                </a:solidFill>
              </a:rPr>
              <a:t>Canonical Form </a:t>
            </a:r>
            <a:r>
              <a:rPr lang="en-GB" sz="3600" dirty="0"/>
              <a:t>of A Feedback Control System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692696"/>
            <a:ext cx="3765814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965"/>
          <a:stretch/>
        </p:blipFill>
        <p:spPr bwMode="auto">
          <a:xfrm>
            <a:off x="200288" y="2780928"/>
            <a:ext cx="6015161" cy="398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0136" y="4581128"/>
            <a:ext cx="1190625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8464" y="5301208"/>
            <a:ext cx="1228725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9595" y="6043766"/>
            <a:ext cx="1219200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6</a:t>
            </a:fld>
            <a:endParaRPr lang="en-GB"/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35" b="70600"/>
          <a:stretch/>
        </p:blipFill>
        <p:spPr bwMode="auto">
          <a:xfrm>
            <a:off x="200288" y="3212976"/>
            <a:ext cx="6015161" cy="575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962" b="50089"/>
          <a:stretch/>
        </p:blipFill>
        <p:spPr bwMode="auto">
          <a:xfrm>
            <a:off x="200288" y="3933056"/>
            <a:ext cx="6015161" cy="5613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 r="11630" b="30536"/>
          <a:stretch/>
        </p:blipFill>
        <p:spPr bwMode="auto">
          <a:xfrm>
            <a:off x="200288" y="4581128"/>
            <a:ext cx="5315609" cy="6447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464" r="25884" b="15268"/>
          <a:stretch/>
        </p:blipFill>
        <p:spPr bwMode="auto">
          <a:xfrm>
            <a:off x="200289" y="5373216"/>
            <a:ext cx="4458176" cy="5057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84147" r="47382" b="-2744"/>
          <a:stretch/>
        </p:blipFill>
        <p:spPr bwMode="auto">
          <a:xfrm>
            <a:off x="197637" y="5981326"/>
            <a:ext cx="3164995" cy="616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50563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305800" cy="924712"/>
          </a:xfrm>
        </p:spPr>
        <p:txBody>
          <a:bodyPr>
            <a:normAutofit/>
          </a:bodyPr>
          <a:lstStyle/>
          <a:p>
            <a:r>
              <a:rPr lang="en-GB" sz="4000" dirty="0"/>
              <a:t>Characteristic Equation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963" y="1124744"/>
            <a:ext cx="903649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 algn="just">
              <a:buFont typeface="Arial" pitchFamily="34" charset="0"/>
              <a:buChar char="•"/>
            </a:pPr>
            <a:r>
              <a:rPr lang="en-GB" sz="2400" dirty="0"/>
              <a:t>The control ratio is the closed loop transfer function of the system.</a:t>
            </a:r>
          </a:p>
          <a:p>
            <a:pPr marL="182563" indent="-182563" algn="just">
              <a:buFont typeface="Arial" pitchFamily="34" charset="0"/>
              <a:buChar char="•"/>
            </a:pPr>
            <a:endParaRPr lang="en-GB" sz="2400" dirty="0"/>
          </a:p>
          <a:p>
            <a:pPr marL="182563" indent="-182563" algn="just">
              <a:buFont typeface="Arial" pitchFamily="34" charset="0"/>
              <a:buChar char="•"/>
            </a:pPr>
            <a:endParaRPr lang="en-GB" sz="2400" dirty="0"/>
          </a:p>
          <a:p>
            <a:pPr marL="182563" indent="-182563" algn="just">
              <a:buFont typeface="Arial" pitchFamily="34" charset="0"/>
              <a:buChar char="•"/>
            </a:pPr>
            <a:endParaRPr lang="en-GB" sz="2400" dirty="0"/>
          </a:p>
          <a:p>
            <a:pPr marL="182563" indent="-182563" algn="just">
              <a:buFont typeface="Arial" pitchFamily="34" charset="0"/>
              <a:buChar char="•"/>
            </a:pPr>
            <a:endParaRPr lang="en-GB" sz="2400" dirty="0"/>
          </a:p>
          <a:p>
            <a:pPr marL="182563" indent="-182563" algn="just">
              <a:buFont typeface="Arial" pitchFamily="34" charset="0"/>
              <a:buChar char="•"/>
            </a:pPr>
            <a:endParaRPr lang="en-GB" sz="2400" dirty="0"/>
          </a:p>
          <a:p>
            <a:pPr marL="182563" indent="-182563" algn="just">
              <a:buFont typeface="Arial" pitchFamily="34" charset="0"/>
              <a:buChar char="•"/>
            </a:pPr>
            <a:r>
              <a:rPr lang="en-GB" sz="2400" dirty="0"/>
              <a:t>The denominator of closed loop transfer function determines the characteristic equation of the system.</a:t>
            </a:r>
          </a:p>
          <a:p>
            <a:pPr marL="182563" indent="-182563" algn="just">
              <a:buFont typeface="Arial" pitchFamily="34" charset="0"/>
              <a:buChar char="•"/>
            </a:pPr>
            <a:endParaRPr lang="en-GB" sz="2400" dirty="0"/>
          </a:p>
          <a:p>
            <a:pPr marL="182563" indent="-182563" algn="just">
              <a:buFont typeface="Arial" pitchFamily="34" charset="0"/>
              <a:buChar char="•"/>
            </a:pPr>
            <a:r>
              <a:rPr lang="en-GB" sz="2400" dirty="0"/>
              <a:t>Which is determined as:</a:t>
            </a:r>
          </a:p>
        </p:txBody>
      </p:sp>
      <p:graphicFrame>
        <p:nvGraphicFramePr>
          <p:cNvPr id="97282" name="Object 2"/>
          <p:cNvGraphicFramePr>
            <a:graphicFrameLocks noChangeAspect="1"/>
          </p:cNvGraphicFramePr>
          <p:nvPr/>
        </p:nvGraphicFramePr>
        <p:xfrm>
          <a:off x="2771800" y="2067694"/>
          <a:ext cx="3181350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3000" imgH="355320" progId="Equation.3">
                  <p:embed/>
                </p:oleObj>
              </mc:Choice>
              <mc:Fallback>
                <p:oleObj name="Equation" r:id="rId2" imgW="1143000" imgH="3553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2067694"/>
                        <a:ext cx="3181350" cy="8572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3" name="Object 3"/>
          <p:cNvGraphicFramePr>
            <a:graphicFrameLocks noChangeAspect="1"/>
          </p:cNvGraphicFramePr>
          <p:nvPr/>
        </p:nvGraphicFramePr>
        <p:xfrm>
          <a:off x="3131840" y="5445224"/>
          <a:ext cx="2544763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" imgH="177480" progId="Equation.3">
                  <p:embed/>
                </p:oleObj>
              </mc:Choice>
              <mc:Fallback>
                <p:oleObj name="Equation" r:id="rId4" imgW="914400" imgH="1774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840" y="5445224"/>
                        <a:ext cx="2544763" cy="4286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6228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648072"/>
          </a:xfrm>
        </p:spPr>
        <p:txBody>
          <a:bodyPr>
            <a:normAutofit fontScale="90000"/>
          </a:bodyPr>
          <a:lstStyle/>
          <a:p>
            <a:r>
              <a:rPr lang="en-GB" sz="4000" dirty="0"/>
              <a:t>Example-3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-144016" y="771083"/>
            <a:ext cx="4572000" cy="6186309"/>
          </a:xfrm>
          <a:prstGeom prst="rect">
            <a:avLst/>
          </a:prstGeom>
        </p:spPr>
        <p:txBody>
          <a:bodyPr>
            <a:spAutoFit/>
          </a:bodyPr>
          <a:lstStyle/>
          <a:p>
            <a:pPr marL="633413" lvl="1" indent="-366713" algn="just">
              <a:buFont typeface="+mj-lt"/>
              <a:buAutoNum type="arabicPeriod"/>
            </a:pPr>
            <a:r>
              <a:rPr lang="en-GB" dirty="0"/>
              <a:t>Open loop transfer function</a:t>
            </a:r>
          </a:p>
          <a:p>
            <a:pPr marL="633413" lvl="1" indent="-366713" algn="just">
              <a:lnSpc>
                <a:spcPct val="300000"/>
              </a:lnSpc>
              <a:buFont typeface="+mj-lt"/>
              <a:buAutoNum type="arabicPeriod"/>
            </a:pPr>
            <a:r>
              <a:rPr lang="en-GB" dirty="0"/>
              <a:t>Feed Forward Transfer function</a:t>
            </a:r>
          </a:p>
          <a:p>
            <a:pPr marL="633413" lvl="1" indent="-366713" algn="just">
              <a:lnSpc>
                <a:spcPct val="300000"/>
              </a:lnSpc>
              <a:buFont typeface="+mj-lt"/>
              <a:buAutoNum type="arabicPeriod"/>
            </a:pPr>
            <a:r>
              <a:rPr lang="en-GB" dirty="0"/>
              <a:t>control ratio</a:t>
            </a:r>
          </a:p>
          <a:p>
            <a:pPr marL="633413" lvl="1" indent="-366713" algn="just">
              <a:lnSpc>
                <a:spcPct val="300000"/>
              </a:lnSpc>
              <a:buFont typeface="+mj-lt"/>
              <a:buAutoNum type="arabicPeriod"/>
            </a:pPr>
            <a:r>
              <a:rPr lang="en-GB" dirty="0"/>
              <a:t>feedback ratio</a:t>
            </a:r>
          </a:p>
          <a:p>
            <a:pPr marL="633413" lvl="1" indent="-366713" algn="just">
              <a:lnSpc>
                <a:spcPct val="300000"/>
              </a:lnSpc>
              <a:buFont typeface="+mj-lt"/>
              <a:buAutoNum type="arabicPeriod"/>
            </a:pPr>
            <a:r>
              <a:rPr lang="en-GB" dirty="0"/>
              <a:t>error ratio</a:t>
            </a:r>
          </a:p>
          <a:p>
            <a:pPr marL="633413" lvl="1" indent="-366713" algn="just">
              <a:lnSpc>
                <a:spcPct val="300000"/>
              </a:lnSpc>
              <a:buFont typeface="+mj-lt"/>
              <a:buAutoNum type="arabicPeriod"/>
            </a:pPr>
            <a:r>
              <a:rPr lang="en-GB" dirty="0"/>
              <a:t>closed loop transfer function</a:t>
            </a:r>
          </a:p>
          <a:p>
            <a:pPr marL="633413" lvl="1" indent="-366713" algn="just">
              <a:lnSpc>
                <a:spcPct val="300000"/>
              </a:lnSpc>
              <a:buFont typeface="+mj-lt"/>
              <a:buAutoNum type="arabicPeriod"/>
            </a:pPr>
            <a:r>
              <a:rPr lang="en-GB" dirty="0"/>
              <a:t>characteristic equation </a:t>
            </a:r>
          </a:p>
          <a:p>
            <a:pPr marL="633413" lvl="1" indent="-366713" algn="just">
              <a:lnSpc>
                <a:spcPct val="300000"/>
              </a:lnSpc>
              <a:buFont typeface="+mj-lt"/>
              <a:buAutoNum type="arabicPeriod"/>
            </a:pPr>
            <a:r>
              <a:rPr lang="en-GB" dirty="0"/>
              <a:t>closed loop poles and zeros if K=10.   </a:t>
            </a:r>
          </a:p>
        </p:txBody>
      </p:sp>
      <p:pic>
        <p:nvPicPr>
          <p:cNvPr id="2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70114" y="2420888"/>
            <a:ext cx="4057862" cy="1296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013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4479955"/>
              </p:ext>
            </p:extLst>
          </p:nvPr>
        </p:nvGraphicFramePr>
        <p:xfrm>
          <a:off x="3563938" y="774700"/>
          <a:ext cx="1198562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47640" imgH="203040" progId="Equation.3">
                  <p:embed/>
                </p:oleObj>
              </mc:Choice>
              <mc:Fallback>
                <p:oleObj name="Equation" r:id="rId3" imgW="647640" imgH="203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774700"/>
                        <a:ext cx="1198562" cy="37623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3090993"/>
              </p:ext>
            </p:extLst>
          </p:nvPr>
        </p:nvGraphicFramePr>
        <p:xfrm>
          <a:off x="3889375" y="1474788"/>
          <a:ext cx="628650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30120" imgH="203040" progId="Equation.3">
                  <p:embed/>
                </p:oleObj>
              </mc:Choice>
              <mc:Fallback>
                <p:oleObj name="Equation" r:id="rId5" imgW="330120" imgH="203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9375" y="1474788"/>
                        <a:ext cx="628650" cy="38576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2" name="Object 6"/>
          <p:cNvGraphicFramePr>
            <a:graphicFrameLocks noChangeAspect="1"/>
          </p:cNvGraphicFramePr>
          <p:nvPr/>
        </p:nvGraphicFramePr>
        <p:xfrm>
          <a:off x="1854768" y="2134794"/>
          <a:ext cx="2455905" cy="661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43000" imgH="355320" progId="Equation.3">
                  <p:embed/>
                </p:oleObj>
              </mc:Choice>
              <mc:Fallback>
                <p:oleObj name="Equation" r:id="rId7" imgW="1143000" imgH="35532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4768" y="2134794"/>
                        <a:ext cx="2455905" cy="661771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3" name="Object 7"/>
          <p:cNvGraphicFramePr>
            <a:graphicFrameLocks noChangeAspect="1"/>
          </p:cNvGraphicFramePr>
          <p:nvPr/>
        </p:nvGraphicFramePr>
        <p:xfrm>
          <a:off x="2055056" y="2999584"/>
          <a:ext cx="2427163" cy="6618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30040" imgH="355320" progId="Equation.3">
                  <p:embed/>
                </p:oleObj>
              </mc:Choice>
              <mc:Fallback>
                <p:oleObj name="Equation" r:id="rId9" imgW="1130040" imgH="35532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5056" y="2999584"/>
                        <a:ext cx="2427163" cy="661821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4" name="Object 8"/>
          <p:cNvGraphicFramePr>
            <a:graphicFrameLocks noChangeAspect="1"/>
          </p:cNvGraphicFramePr>
          <p:nvPr/>
        </p:nvGraphicFramePr>
        <p:xfrm>
          <a:off x="1723152" y="3805648"/>
          <a:ext cx="2501198" cy="67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143000" imgH="355320" progId="Equation.3">
                  <p:embed/>
                </p:oleObj>
              </mc:Choice>
              <mc:Fallback>
                <p:oleObj name="Equation" r:id="rId11" imgW="1143000" imgH="35532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3152" y="3805648"/>
                        <a:ext cx="2501198" cy="67431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5" name="Object 9"/>
          <p:cNvGraphicFramePr>
            <a:graphicFrameLocks noChangeAspect="1"/>
          </p:cNvGraphicFramePr>
          <p:nvPr/>
        </p:nvGraphicFramePr>
        <p:xfrm>
          <a:off x="3395072" y="4606006"/>
          <a:ext cx="2429271" cy="6553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143000" imgH="355320" progId="Equation.3">
                  <p:embed/>
                </p:oleObj>
              </mc:Choice>
              <mc:Fallback>
                <p:oleObj name="Equation" r:id="rId13" imgW="1143000" imgH="35532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5072" y="4606006"/>
                        <a:ext cx="2429271" cy="655311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6" name="Object 10"/>
          <p:cNvGraphicFramePr>
            <a:graphicFrameLocks noChangeAspect="1"/>
          </p:cNvGraphicFramePr>
          <p:nvPr/>
        </p:nvGraphicFramePr>
        <p:xfrm>
          <a:off x="2760344" y="5603308"/>
          <a:ext cx="2136775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914400" imgH="177480" progId="Equation.3">
                  <p:embed/>
                </p:oleObj>
              </mc:Choice>
              <mc:Fallback>
                <p:oleObj name="Equation" r:id="rId15" imgW="914400" imgH="17748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0344" y="5603308"/>
                        <a:ext cx="2136775" cy="36036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8" name="Object 12"/>
          <p:cNvGraphicFramePr>
            <a:graphicFrameLocks noChangeAspect="1"/>
          </p:cNvGraphicFramePr>
          <p:nvPr/>
        </p:nvGraphicFramePr>
        <p:xfrm>
          <a:off x="6807584" y="2018644"/>
          <a:ext cx="541338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91960" imgH="177480" progId="Equation.3">
                  <p:embed/>
                </p:oleObj>
              </mc:Choice>
              <mc:Fallback>
                <p:oleObj name="Equation" r:id="rId17" imgW="291960" imgH="17748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7584" y="2018644"/>
                        <a:ext cx="541338" cy="32861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9" name="Object 13"/>
          <p:cNvGraphicFramePr>
            <a:graphicFrameLocks noChangeAspect="1"/>
          </p:cNvGraphicFramePr>
          <p:nvPr/>
        </p:nvGraphicFramePr>
        <p:xfrm>
          <a:off x="6809252" y="3773304"/>
          <a:ext cx="563563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304560" imgH="177480" progId="Equation.3">
                  <p:embed/>
                </p:oleObj>
              </mc:Choice>
              <mc:Fallback>
                <p:oleObj name="Equation" r:id="rId19" imgW="304560" imgH="17748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9252" y="3773304"/>
                        <a:ext cx="563563" cy="32861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8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4200" dirty="0"/>
              <a:t>Reduction of Complicated Block Diagrams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7504" y="1600200"/>
            <a:ext cx="8579296" cy="4525963"/>
          </a:xfrm>
        </p:spPr>
        <p:txBody>
          <a:bodyPr>
            <a:normAutofit/>
          </a:bodyPr>
          <a:lstStyle/>
          <a:p>
            <a:pPr algn="just"/>
            <a:r>
              <a:rPr lang="en-US" sz="2600" dirty="0"/>
              <a:t>The block diagram of a practical control system is often quite complicated.</a:t>
            </a:r>
          </a:p>
          <a:p>
            <a:pPr algn="just"/>
            <a:endParaRPr lang="en-US" sz="2600" dirty="0"/>
          </a:p>
          <a:p>
            <a:pPr algn="just"/>
            <a:r>
              <a:rPr lang="en-US" sz="2600" dirty="0"/>
              <a:t>It may include several feedback or feedforward loops, and multiple inputs.</a:t>
            </a:r>
          </a:p>
          <a:p>
            <a:pPr algn="just"/>
            <a:endParaRPr lang="en-US" sz="2600" dirty="0"/>
          </a:p>
          <a:p>
            <a:pPr algn="just"/>
            <a:r>
              <a:rPr lang="en-US" sz="2600" dirty="0"/>
              <a:t>By means of systematic block diagram reduction, every multiple loop linear feedback system may be reduced to canonical form.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1111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467544" y="260648"/>
            <a:ext cx="36115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Arial" pitchFamily="34" charset="0"/>
                <a:ea typeface="宋体" pitchFamily="2" charset="-122"/>
              </a:rPr>
              <a:t>Reduction techniques</a:t>
            </a:r>
          </a:p>
        </p:txBody>
      </p:sp>
      <p:grpSp>
        <p:nvGrpSpPr>
          <p:cNvPr id="75" name="Group 74"/>
          <p:cNvGrpSpPr/>
          <p:nvPr/>
        </p:nvGrpSpPr>
        <p:grpSpPr>
          <a:xfrm>
            <a:off x="682625" y="1119188"/>
            <a:ext cx="7927975" cy="1765919"/>
            <a:chOff x="682625" y="1119188"/>
            <a:chExt cx="7927975" cy="1765919"/>
          </a:xfrm>
        </p:grpSpPr>
        <p:sp>
          <p:nvSpPr>
            <p:cNvPr id="24580" name="Line 4"/>
            <p:cNvSpPr>
              <a:spLocks noChangeShapeType="1"/>
            </p:cNvSpPr>
            <p:nvPr/>
          </p:nvSpPr>
          <p:spPr bwMode="auto">
            <a:xfrm>
              <a:off x="685800" y="2580307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4582" name="Line 6"/>
            <p:cNvSpPr>
              <a:spLocks noChangeShapeType="1"/>
            </p:cNvSpPr>
            <p:nvPr/>
          </p:nvSpPr>
          <p:spPr bwMode="auto">
            <a:xfrm>
              <a:off x="1981200" y="2580307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4586" name="Rectangle 10"/>
            <p:cNvSpPr>
              <a:spLocks noChangeArrowheads="1"/>
            </p:cNvSpPr>
            <p:nvPr/>
          </p:nvSpPr>
          <p:spPr bwMode="auto">
            <a:xfrm>
              <a:off x="2590800" y="2351707"/>
              <a:ext cx="685800" cy="457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24587" name="Object 11"/>
            <p:cNvGraphicFramePr>
              <a:graphicFrameLocks noChangeAspect="1"/>
            </p:cNvGraphicFramePr>
            <p:nvPr/>
          </p:nvGraphicFramePr>
          <p:xfrm>
            <a:off x="2714625" y="2351707"/>
            <a:ext cx="457200" cy="485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03040" imgH="215640" progId="Equation.3">
                    <p:embed/>
                  </p:oleObj>
                </mc:Choice>
                <mc:Fallback>
                  <p:oleObj name="Equation" r:id="rId2" imgW="203040" imgH="215640" progId="Equation.3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4625" y="2351707"/>
                          <a:ext cx="457200" cy="4857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" name="Group 12"/>
            <p:cNvGrpSpPr>
              <a:grpSpLocks/>
            </p:cNvGrpSpPr>
            <p:nvPr/>
          </p:nvGrpSpPr>
          <p:grpSpPr bwMode="auto">
            <a:xfrm>
              <a:off x="1295400" y="2351707"/>
              <a:ext cx="685800" cy="485775"/>
              <a:chOff x="1776" y="1440"/>
              <a:chExt cx="432" cy="306"/>
            </a:xfrm>
          </p:grpSpPr>
          <p:sp>
            <p:nvSpPr>
              <p:cNvPr id="24589" name="Rectangle 13"/>
              <p:cNvSpPr>
                <a:spLocks noChangeArrowheads="1"/>
              </p:cNvSpPr>
              <p:nvPr/>
            </p:nvSpPr>
            <p:spPr bwMode="auto">
              <a:xfrm>
                <a:off x="1776" y="1440"/>
                <a:ext cx="432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graphicFrame>
            <p:nvGraphicFramePr>
              <p:cNvPr id="24590" name="Object 14"/>
              <p:cNvGraphicFramePr>
                <a:graphicFrameLocks noChangeAspect="1"/>
              </p:cNvGraphicFramePr>
              <p:nvPr/>
            </p:nvGraphicFramePr>
            <p:xfrm>
              <a:off x="1872" y="1440"/>
              <a:ext cx="252" cy="3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77480" imgH="215640" progId="Equation.3">
                      <p:embed/>
                    </p:oleObj>
                  </mc:Choice>
                  <mc:Fallback>
                    <p:oleObj name="Equation" r:id="rId4" imgW="177480" imgH="215640" progId="Equation.3">
                      <p:embed/>
                      <p:pic>
                        <p:nvPicPr>
                          <p:cNvPr id="0" name="Picture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72" y="1440"/>
                            <a:ext cx="252" cy="30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4592" name="Rectangle 16"/>
            <p:cNvSpPr>
              <a:spLocks noChangeArrowheads="1"/>
            </p:cNvSpPr>
            <p:nvPr/>
          </p:nvSpPr>
          <p:spPr bwMode="auto">
            <a:xfrm>
              <a:off x="6629400" y="2385045"/>
              <a:ext cx="1143000" cy="4572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24593" name="Object 17"/>
            <p:cNvGraphicFramePr>
              <a:graphicFrameLocks noChangeAspect="1"/>
            </p:cNvGraphicFramePr>
            <p:nvPr/>
          </p:nvGraphicFramePr>
          <p:xfrm>
            <a:off x="6824663" y="2385045"/>
            <a:ext cx="795337" cy="5000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42720" imgH="215640" progId="Equation.3">
                    <p:embed/>
                  </p:oleObj>
                </mc:Choice>
                <mc:Fallback>
                  <p:oleObj name="Equation" r:id="rId6" imgW="342720" imgH="215640" progId="Equation.3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24663" y="2385045"/>
                          <a:ext cx="795337" cy="5000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4" name="Line 18"/>
            <p:cNvSpPr>
              <a:spLocks noChangeShapeType="1"/>
            </p:cNvSpPr>
            <p:nvPr/>
          </p:nvSpPr>
          <p:spPr bwMode="auto">
            <a:xfrm>
              <a:off x="3276600" y="2580307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4595" name="AutoShape 19"/>
            <p:cNvSpPr>
              <a:spLocks noChangeArrowheads="1"/>
            </p:cNvSpPr>
            <p:nvPr/>
          </p:nvSpPr>
          <p:spPr bwMode="auto">
            <a:xfrm>
              <a:off x="4267200" y="2504107"/>
              <a:ext cx="1143000" cy="228600"/>
            </a:xfrm>
            <a:prstGeom prst="leftRightArrow">
              <a:avLst>
                <a:gd name="adj1" fmla="val 50000"/>
                <a:gd name="adj2" fmla="val 10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4597" name="Line 21"/>
            <p:cNvSpPr>
              <a:spLocks noChangeShapeType="1"/>
            </p:cNvSpPr>
            <p:nvPr/>
          </p:nvSpPr>
          <p:spPr bwMode="auto">
            <a:xfrm>
              <a:off x="7772400" y="2656507"/>
              <a:ext cx="838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4671" name="Line 95"/>
            <p:cNvSpPr>
              <a:spLocks noChangeShapeType="1"/>
            </p:cNvSpPr>
            <p:nvPr/>
          </p:nvSpPr>
          <p:spPr bwMode="auto">
            <a:xfrm>
              <a:off x="5715000" y="2656507"/>
              <a:ext cx="91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4691" name="Rectangle 115"/>
            <p:cNvSpPr>
              <a:spLocks noChangeArrowheads="1"/>
            </p:cNvSpPr>
            <p:nvPr/>
          </p:nvSpPr>
          <p:spPr bwMode="auto">
            <a:xfrm>
              <a:off x="682625" y="1119188"/>
              <a:ext cx="4155305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200" dirty="0">
                  <a:solidFill>
                    <a:srgbClr val="333399"/>
                  </a:solidFill>
                  <a:latin typeface="Arial" pitchFamily="34" charset="0"/>
                  <a:ea typeface="宋体" pitchFamily="2" charset="-122"/>
                </a:rPr>
                <a:t>1. Combining blocks in cascade</a:t>
              </a:r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683568" y="3646185"/>
            <a:ext cx="7864475" cy="2303095"/>
            <a:chOff x="683568" y="3646185"/>
            <a:chExt cx="7864475" cy="2303095"/>
          </a:xfrm>
        </p:grpSpPr>
        <p:grpSp>
          <p:nvGrpSpPr>
            <p:cNvPr id="7" name="Group 96"/>
            <p:cNvGrpSpPr>
              <a:grpSpLocks/>
            </p:cNvGrpSpPr>
            <p:nvPr/>
          </p:nvGrpSpPr>
          <p:grpSpPr bwMode="auto">
            <a:xfrm>
              <a:off x="1836093" y="4744367"/>
              <a:ext cx="685800" cy="485775"/>
              <a:chOff x="1776" y="1440"/>
              <a:chExt cx="432" cy="306"/>
            </a:xfrm>
          </p:grpSpPr>
          <p:sp>
            <p:nvSpPr>
              <p:cNvPr id="24673" name="Rectangle 97"/>
              <p:cNvSpPr>
                <a:spLocks noChangeArrowheads="1"/>
              </p:cNvSpPr>
              <p:nvPr/>
            </p:nvSpPr>
            <p:spPr bwMode="auto">
              <a:xfrm>
                <a:off x="1776" y="1440"/>
                <a:ext cx="432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graphicFrame>
            <p:nvGraphicFramePr>
              <p:cNvPr id="24674" name="Object 98"/>
              <p:cNvGraphicFramePr>
                <a:graphicFrameLocks noChangeAspect="1"/>
              </p:cNvGraphicFramePr>
              <p:nvPr/>
            </p:nvGraphicFramePr>
            <p:xfrm>
              <a:off x="1872" y="1440"/>
              <a:ext cx="252" cy="3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77480" imgH="215640" progId="Equation.3">
                      <p:embed/>
                    </p:oleObj>
                  </mc:Choice>
                  <mc:Fallback>
                    <p:oleObj name="Equation" r:id="rId4" imgW="177480" imgH="215640" progId="Equation.3">
                      <p:embed/>
                      <p:pic>
                        <p:nvPicPr>
                          <p:cNvPr id="0" name="Picture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72" y="1440"/>
                            <a:ext cx="252" cy="30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8" name="Group 103"/>
            <p:cNvGrpSpPr>
              <a:grpSpLocks/>
            </p:cNvGrpSpPr>
            <p:nvPr/>
          </p:nvGrpSpPr>
          <p:grpSpPr bwMode="auto">
            <a:xfrm>
              <a:off x="1836093" y="5463505"/>
              <a:ext cx="685800" cy="485775"/>
              <a:chOff x="2290" y="1842"/>
              <a:chExt cx="432" cy="306"/>
            </a:xfrm>
          </p:grpSpPr>
          <p:sp>
            <p:nvSpPr>
              <p:cNvPr id="24678" name="Rectangle 102"/>
              <p:cNvSpPr>
                <a:spLocks noChangeArrowheads="1"/>
              </p:cNvSpPr>
              <p:nvPr/>
            </p:nvSpPr>
            <p:spPr bwMode="auto">
              <a:xfrm>
                <a:off x="2290" y="1842"/>
                <a:ext cx="432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graphicFrame>
            <p:nvGraphicFramePr>
              <p:cNvPr id="24677" name="Object 101"/>
              <p:cNvGraphicFramePr>
                <a:graphicFrameLocks noChangeAspect="1"/>
              </p:cNvGraphicFramePr>
              <p:nvPr/>
            </p:nvGraphicFramePr>
            <p:xfrm>
              <a:off x="2381" y="1842"/>
              <a:ext cx="288" cy="3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203040" imgH="215640" progId="Equation.3">
                      <p:embed/>
                    </p:oleObj>
                  </mc:Choice>
                  <mc:Fallback>
                    <p:oleObj name="Equation" r:id="rId2" imgW="203040" imgH="215640" progId="Equation.3">
                      <p:embed/>
                      <p:pic>
                        <p:nvPicPr>
                          <p:cNvPr id="0" name="Picture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81" y="1842"/>
                            <a:ext cx="288" cy="30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4680" name="Line 104"/>
            <p:cNvSpPr>
              <a:spLocks noChangeShapeType="1"/>
            </p:cNvSpPr>
            <p:nvPr/>
          </p:nvSpPr>
          <p:spPr bwMode="auto">
            <a:xfrm>
              <a:off x="683568" y="4960267"/>
              <a:ext cx="1152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4681" name="Line 105"/>
            <p:cNvSpPr>
              <a:spLocks noChangeShapeType="1"/>
            </p:cNvSpPr>
            <p:nvPr/>
          </p:nvSpPr>
          <p:spPr bwMode="auto">
            <a:xfrm>
              <a:off x="1259831" y="5679405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4682" name="Line 106"/>
            <p:cNvSpPr>
              <a:spLocks noChangeShapeType="1"/>
            </p:cNvSpPr>
            <p:nvPr/>
          </p:nvSpPr>
          <p:spPr bwMode="auto">
            <a:xfrm>
              <a:off x="1259831" y="4960267"/>
              <a:ext cx="0" cy="7191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4683" name="Line 107"/>
            <p:cNvSpPr>
              <a:spLocks noChangeShapeType="1"/>
            </p:cNvSpPr>
            <p:nvPr/>
          </p:nvSpPr>
          <p:spPr bwMode="auto">
            <a:xfrm flipV="1">
              <a:off x="2555231" y="4960267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4684" name="Line 108"/>
            <p:cNvSpPr>
              <a:spLocks noChangeShapeType="1"/>
            </p:cNvSpPr>
            <p:nvPr/>
          </p:nvSpPr>
          <p:spPr bwMode="auto">
            <a:xfrm flipV="1">
              <a:off x="3131493" y="5104730"/>
              <a:ext cx="0" cy="5746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4685" name="Line 109"/>
            <p:cNvSpPr>
              <a:spLocks noChangeShapeType="1"/>
            </p:cNvSpPr>
            <p:nvPr/>
          </p:nvSpPr>
          <p:spPr bwMode="auto">
            <a:xfrm flipH="1">
              <a:off x="2527095" y="5679405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4686" name="AutoShape 110"/>
            <p:cNvSpPr>
              <a:spLocks noChangeArrowheads="1"/>
            </p:cNvSpPr>
            <p:nvPr/>
          </p:nvSpPr>
          <p:spPr bwMode="auto">
            <a:xfrm>
              <a:off x="4212581" y="5176167"/>
              <a:ext cx="1143000" cy="228600"/>
            </a:xfrm>
            <a:prstGeom prst="leftRightArrow">
              <a:avLst>
                <a:gd name="adj1" fmla="val 50000"/>
                <a:gd name="adj2" fmla="val 10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4687" name="Rectangle 111"/>
            <p:cNvSpPr>
              <a:spLocks noChangeArrowheads="1"/>
            </p:cNvSpPr>
            <p:nvPr/>
          </p:nvSpPr>
          <p:spPr bwMode="auto">
            <a:xfrm>
              <a:off x="6566843" y="5049167"/>
              <a:ext cx="1143000" cy="4572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24688" name="Object 112"/>
            <p:cNvGraphicFramePr>
              <a:graphicFrameLocks noChangeAspect="1"/>
            </p:cNvGraphicFramePr>
            <p:nvPr/>
          </p:nvGraphicFramePr>
          <p:xfrm>
            <a:off x="6600181" y="5049167"/>
            <a:ext cx="1119187" cy="5000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482400" imgH="215640" progId="Equation.3">
                    <p:embed/>
                  </p:oleObj>
                </mc:Choice>
                <mc:Fallback>
                  <p:oleObj name="Equation" r:id="rId8" imgW="482400" imgH="215640" progId="Equation.3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00181" y="5049167"/>
                          <a:ext cx="1119187" cy="5000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89" name="Line 113"/>
            <p:cNvSpPr>
              <a:spLocks noChangeShapeType="1"/>
            </p:cNvSpPr>
            <p:nvPr/>
          </p:nvSpPr>
          <p:spPr bwMode="auto">
            <a:xfrm>
              <a:off x="7709843" y="5320630"/>
              <a:ext cx="838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4690" name="Line 114"/>
            <p:cNvSpPr>
              <a:spLocks noChangeShapeType="1"/>
            </p:cNvSpPr>
            <p:nvPr/>
          </p:nvSpPr>
          <p:spPr bwMode="auto">
            <a:xfrm>
              <a:off x="5652443" y="5320630"/>
              <a:ext cx="91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pic>
          <p:nvPicPr>
            <p:cNvPr id="24692" name="Picture 116" descr="untitled"/>
            <p:cNvPicPr>
              <a:picLocks noChangeAspect="1" noChangeArrowheads="1"/>
            </p:cNvPicPr>
            <p:nvPr/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2987031" y="4815805"/>
              <a:ext cx="304800" cy="304800"/>
            </a:xfrm>
            <a:prstGeom prst="rect">
              <a:avLst/>
            </a:prstGeom>
            <a:noFill/>
          </p:spPr>
        </p:pic>
        <p:grpSp>
          <p:nvGrpSpPr>
            <p:cNvPr id="9" name="Group 117"/>
            <p:cNvGrpSpPr>
              <a:grpSpLocks/>
            </p:cNvGrpSpPr>
            <p:nvPr/>
          </p:nvGrpSpPr>
          <p:grpSpPr bwMode="auto">
            <a:xfrm>
              <a:off x="3204518" y="5104730"/>
              <a:ext cx="152400" cy="152400"/>
              <a:chOff x="1344" y="1660"/>
              <a:chExt cx="96" cy="96"/>
            </a:xfrm>
          </p:grpSpPr>
          <p:sp>
            <p:nvSpPr>
              <p:cNvPr id="24694" name="Line 118"/>
              <p:cNvSpPr>
                <a:spLocks noChangeShapeType="1"/>
              </p:cNvSpPr>
              <p:nvPr/>
            </p:nvSpPr>
            <p:spPr bwMode="auto">
              <a:xfrm>
                <a:off x="1344" y="170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4695" name="Line 119"/>
              <p:cNvSpPr>
                <a:spLocks noChangeShapeType="1"/>
              </p:cNvSpPr>
              <p:nvPr/>
            </p:nvSpPr>
            <p:spPr bwMode="auto">
              <a:xfrm flipV="1">
                <a:off x="1392" y="166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10" name="Group 120"/>
            <p:cNvGrpSpPr>
              <a:grpSpLocks/>
            </p:cNvGrpSpPr>
            <p:nvPr/>
          </p:nvGrpSpPr>
          <p:grpSpPr bwMode="auto">
            <a:xfrm>
              <a:off x="2844156" y="4744367"/>
              <a:ext cx="152400" cy="152400"/>
              <a:chOff x="1344" y="1660"/>
              <a:chExt cx="96" cy="96"/>
            </a:xfrm>
          </p:grpSpPr>
          <p:sp>
            <p:nvSpPr>
              <p:cNvPr id="24697" name="Line 121"/>
              <p:cNvSpPr>
                <a:spLocks noChangeShapeType="1"/>
              </p:cNvSpPr>
              <p:nvPr/>
            </p:nvSpPr>
            <p:spPr bwMode="auto">
              <a:xfrm>
                <a:off x="1344" y="170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4698" name="Line 122"/>
              <p:cNvSpPr>
                <a:spLocks noChangeShapeType="1"/>
              </p:cNvSpPr>
              <p:nvPr/>
            </p:nvSpPr>
            <p:spPr bwMode="auto">
              <a:xfrm flipV="1">
                <a:off x="1392" y="166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24699" name="Line 123"/>
            <p:cNvSpPr>
              <a:spLocks noChangeShapeType="1"/>
            </p:cNvSpPr>
            <p:nvPr/>
          </p:nvSpPr>
          <p:spPr bwMode="auto">
            <a:xfrm>
              <a:off x="3275956" y="4960267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73" name="Rectangle 115"/>
            <p:cNvSpPr>
              <a:spLocks noChangeArrowheads="1"/>
            </p:cNvSpPr>
            <p:nvPr/>
          </p:nvSpPr>
          <p:spPr bwMode="auto">
            <a:xfrm>
              <a:off x="683568" y="3646185"/>
              <a:ext cx="4092787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200" dirty="0">
                  <a:solidFill>
                    <a:srgbClr val="333399"/>
                  </a:solidFill>
                  <a:latin typeface="Arial" pitchFamily="34" charset="0"/>
                  <a:ea typeface="宋体" pitchFamily="2" charset="-122"/>
                </a:rPr>
                <a:t>2. Combining blocks in parallel</a:t>
              </a: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10</a:t>
            </a:fld>
            <a:endParaRPr lang="en-GB"/>
          </a:p>
        </p:txBody>
      </p:sp>
    </p:spTree>
  </p:cSld>
  <p:clrMapOvr>
    <a:masterClrMapping/>
  </p:clrMapOvr>
  <p:transition advTm="14691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457200" y="457200"/>
            <a:ext cx="36115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>
                <a:latin typeface="Arial" pitchFamily="34" charset="0"/>
                <a:ea typeface="宋体" pitchFamily="2" charset="-122"/>
              </a:rPr>
              <a:t>Reduction techniques</a:t>
            </a:r>
          </a:p>
        </p:txBody>
      </p:sp>
      <p:grpSp>
        <p:nvGrpSpPr>
          <p:cNvPr id="73" name="Group 72"/>
          <p:cNvGrpSpPr/>
          <p:nvPr/>
        </p:nvGrpSpPr>
        <p:grpSpPr>
          <a:xfrm>
            <a:off x="539552" y="1772816"/>
            <a:ext cx="8270949" cy="1905397"/>
            <a:chOff x="539552" y="1772816"/>
            <a:chExt cx="8270949" cy="1905397"/>
          </a:xfrm>
        </p:grpSpPr>
        <p:sp>
          <p:nvSpPr>
            <p:cNvPr id="24598" name="Text Box 22"/>
            <p:cNvSpPr txBox="1">
              <a:spLocks noChangeArrowheads="1"/>
            </p:cNvSpPr>
            <p:nvPr/>
          </p:nvSpPr>
          <p:spPr bwMode="auto">
            <a:xfrm>
              <a:off x="539552" y="1772816"/>
              <a:ext cx="7561263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dirty="0">
                  <a:solidFill>
                    <a:srgbClr val="333399"/>
                  </a:solidFill>
                  <a:latin typeface="Arial" pitchFamily="34" charset="0"/>
                  <a:ea typeface="宋体" pitchFamily="2" charset="-122"/>
                </a:rPr>
                <a:t>3. Moving a summing point behind a block</a:t>
              </a:r>
            </a:p>
          </p:txBody>
        </p:sp>
        <p:sp>
          <p:nvSpPr>
            <p:cNvPr id="24599" name="Line 23"/>
            <p:cNvSpPr>
              <a:spLocks noChangeShapeType="1"/>
            </p:cNvSpPr>
            <p:nvPr/>
          </p:nvSpPr>
          <p:spPr bwMode="auto">
            <a:xfrm>
              <a:off x="580901" y="2687613"/>
              <a:ext cx="914400" cy="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3" name="Group 24"/>
            <p:cNvGrpSpPr>
              <a:grpSpLocks/>
            </p:cNvGrpSpPr>
            <p:nvPr/>
          </p:nvGrpSpPr>
          <p:grpSpPr bwMode="auto">
            <a:xfrm>
              <a:off x="1266701" y="2459013"/>
              <a:ext cx="152400" cy="152400"/>
              <a:chOff x="1344" y="1660"/>
              <a:chExt cx="96" cy="96"/>
            </a:xfrm>
          </p:grpSpPr>
          <p:sp>
            <p:nvSpPr>
              <p:cNvPr id="24601" name="Line 25"/>
              <p:cNvSpPr>
                <a:spLocks noChangeShapeType="1"/>
              </p:cNvSpPr>
              <p:nvPr/>
            </p:nvSpPr>
            <p:spPr bwMode="auto">
              <a:xfrm>
                <a:off x="1344" y="170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4602" name="Line 26"/>
              <p:cNvSpPr>
                <a:spLocks noChangeShapeType="1"/>
              </p:cNvSpPr>
              <p:nvPr/>
            </p:nvSpPr>
            <p:spPr bwMode="auto">
              <a:xfrm flipV="1">
                <a:off x="1392" y="166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</p:grpSp>
        <p:pic>
          <p:nvPicPr>
            <p:cNvPr id="24603" name="Picture 27" descr="untitled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95301" y="2568551"/>
              <a:ext cx="304800" cy="304800"/>
            </a:xfrm>
            <a:prstGeom prst="rect">
              <a:avLst/>
            </a:prstGeom>
            <a:noFill/>
          </p:spPr>
        </p:pic>
        <p:sp>
          <p:nvSpPr>
            <p:cNvPr id="24604" name="Line 28"/>
            <p:cNvSpPr>
              <a:spLocks noChangeShapeType="1"/>
            </p:cNvSpPr>
            <p:nvPr/>
          </p:nvSpPr>
          <p:spPr bwMode="auto">
            <a:xfrm>
              <a:off x="1723901" y="2949551"/>
              <a:ext cx="152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4605" name="Line 29"/>
            <p:cNvSpPr>
              <a:spLocks noChangeShapeType="1"/>
            </p:cNvSpPr>
            <p:nvPr/>
          </p:nvSpPr>
          <p:spPr bwMode="auto">
            <a:xfrm flipH="1">
              <a:off x="1647701" y="3373413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4606" name="Line 30"/>
            <p:cNvSpPr>
              <a:spLocks noChangeShapeType="1"/>
            </p:cNvSpPr>
            <p:nvPr/>
          </p:nvSpPr>
          <p:spPr bwMode="auto">
            <a:xfrm flipV="1">
              <a:off x="1647701" y="2797151"/>
              <a:ext cx="0" cy="576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4607" name="Rectangle 31"/>
            <p:cNvSpPr>
              <a:spLocks noChangeArrowheads="1"/>
            </p:cNvSpPr>
            <p:nvPr/>
          </p:nvSpPr>
          <p:spPr bwMode="auto">
            <a:xfrm>
              <a:off x="2257301" y="2492351"/>
              <a:ext cx="6858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24608" name="Object 32"/>
            <p:cNvGraphicFramePr>
              <a:graphicFrameLocks noChangeAspect="1"/>
            </p:cNvGraphicFramePr>
            <p:nvPr/>
          </p:nvGraphicFramePr>
          <p:xfrm>
            <a:off x="2438276" y="2525688"/>
            <a:ext cx="428625" cy="542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90440" imgH="241200" progId="Equation.3">
                    <p:embed/>
                  </p:oleObj>
                </mc:Choice>
                <mc:Fallback>
                  <p:oleObj name="Equation" r:id="rId3" imgW="19044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38276" y="2525688"/>
                          <a:ext cx="428625" cy="5429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10" name="Line 34"/>
            <p:cNvSpPr>
              <a:spLocks noChangeShapeType="1"/>
            </p:cNvSpPr>
            <p:nvPr/>
          </p:nvSpPr>
          <p:spPr bwMode="auto">
            <a:xfrm>
              <a:off x="1800101" y="2687613"/>
              <a:ext cx="457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4611" name="Line 35"/>
            <p:cNvSpPr>
              <a:spLocks noChangeShapeType="1"/>
            </p:cNvSpPr>
            <p:nvPr/>
          </p:nvSpPr>
          <p:spPr bwMode="auto">
            <a:xfrm>
              <a:off x="2943101" y="2687613"/>
              <a:ext cx="685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4612" name="AutoShape 36"/>
            <p:cNvSpPr>
              <a:spLocks noChangeArrowheads="1"/>
            </p:cNvSpPr>
            <p:nvPr/>
          </p:nvSpPr>
          <p:spPr bwMode="auto">
            <a:xfrm>
              <a:off x="4162301" y="2611413"/>
              <a:ext cx="1143000" cy="228600"/>
            </a:xfrm>
            <a:prstGeom prst="leftRightArrow">
              <a:avLst>
                <a:gd name="adj1" fmla="val 50000"/>
                <a:gd name="adj2" fmla="val 10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4613" name="Line 37"/>
            <p:cNvSpPr>
              <a:spLocks noChangeShapeType="1"/>
            </p:cNvSpPr>
            <p:nvPr/>
          </p:nvSpPr>
          <p:spPr bwMode="auto">
            <a:xfrm>
              <a:off x="5533901" y="2687613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4" name="Group 38"/>
            <p:cNvGrpSpPr>
              <a:grpSpLocks/>
            </p:cNvGrpSpPr>
            <p:nvPr/>
          </p:nvGrpSpPr>
          <p:grpSpPr bwMode="auto">
            <a:xfrm>
              <a:off x="6981701" y="2425676"/>
              <a:ext cx="152400" cy="152400"/>
              <a:chOff x="1344" y="1660"/>
              <a:chExt cx="96" cy="96"/>
            </a:xfrm>
          </p:grpSpPr>
          <p:sp>
            <p:nvSpPr>
              <p:cNvPr id="24615" name="Line 39"/>
              <p:cNvSpPr>
                <a:spLocks noChangeShapeType="1"/>
              </p:cNvSpPr>
              <p:nvPr/>
            </p:nvSpPr>
            <p:spPr bwMode="auto">
              <a:xfrm>
                <a:off x="1344" y="170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4616" name="Line 40"/>
              <p:cNvSpPr>
                <a:spLocks noChangeShapeType="1"/>
              </p:cNvSpPr>
              <p:nvPr/>
            </p:nvSpPr>
            <p:spPr bwMode="auto">
              <a:xfrm flipV="1">
                <a:off x="1392" y="166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</p:grpSp>
        <p:pic>
          <p:nvPicPr>
            <p:cNvPr id="24617" name="Picture 41" descr="untitled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210301" y="2535213"/>
              <a:ext cx="304800" cy="304800"/>
            </a:xfrm>
            <a:prstGeom prst="rect">
              <a:avLst/>
            </a:prstGeom>
            <a:noFill/>
          </p:spPr>
        </p:pic>
        <p:sp>
          <p:nvSpPr>
            <p:cNvPr id="24618" name="Line 42"/>
            <p:cNvSpPr>
              <a:spLocks noChangeShapeType="1"/>
            </p:cNvSpPr>
            <p:nvPr/>
          </p:nvSpPr>
          <p:spPr bwMode="auto">
            <a:xfrm>
              <a:off x="7438901" y="2916213"/>
              <a:ext cx="152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4619" name="Line 43"/>
            <p:cNvSpPr>
              <a:spLocks noChangeShapeType="1"/>
            </p:cNvSpPr>
            <p:nvPr/>
          </p:nvSpPr>
          <p:spPr bwMode="auto">
            <a:xfrm flipH="1">
              <a:off x="7362701" y="3373413"/>
              <a:ext cx="381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4620" name="Line 44"/>
            <p:cNvSpPr>
              <a:spLocks noChangeShapeType="1"/>
            </p:cNvSpPr>
            <p:nvPr/>
          </p:nvSpPr>
          <p:spPr bwMode="auto">
            <a:xfrm flipV="1">
              <a:off x="7362701" y="2797151"/>
              <a:ext cx="0" cy="576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4624" name="Line 48"/>
            <p:cNvSpPr>
              <a:spLocks noChangeShapeType="1"/>
            </p:cNvSpPr>
            <p:nvPr/>
          </p:nvSpPr>
          <p:spPr bwMode="auto">
            <a:xfrm>
              <a:off x="6753101" y="2687613"/>
              <a:ext cx="457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grpSp>
          <p:nvGrpSpPr>
            <p:cNvPr id="5" name="Group 50"/>
            <p:cNvGrpSpPr>
              <a:grpSpLocks/>
            </p:cNvGrpSpPr>
            <p:nvPr/>
          </p:nvGrpSpPr>
          <p:grpSpPr bwMode="auto">
            <a:xfrm>
              <a:off x="6067301" y="2459013"/>
              <a:ext cx="685800" cy="576263"/>
              <a:chOff x="4704" y="2037"/>
              <a:chExt cx="432" cy="363"/>
            </a:xfrm>
          </p:grpSpPr>
          <p:sp>
            <p:nvSpPr>
              <p:cNvPr id="24627" name="Rectangle 51"/>
              <p:cNvSpPr>
                <a:spLocks noChangeArrowheads="1"/>
              </p:cNvSpPr>
              <p:nvPr/>
            </p:nvSpPr>
            <p:spPr bwMode="auto">
              <a:xfrm>
                <a:off x="4704" y="2037"/>
                <a:ext cx="432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graphicFrame>
            <p:nvGraphicFramePr>
              <p:cNvPr id="24628" name="Object 52"/>
              <p:cNvGraphicFramePr>
                <a:graphicFrameLocks noChangeAspect="1"/>
              </p:cNvGraphicFramePr>
              <p:nvPr/>
            </p:nvGraphicFramePr>
            <p:xfrm>
              <a:off x="4800" y="2058"/>
              <a:ext cx="270" cy="34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" imgW="190440" imgH="241200" progId="Equation.3">
                      <p:embed/>
                    </p:oleObj>
                  </mc:Choice>
                  <mc:Fallback>
                    <p:oleObj name="Equation" r:id="rId5" imgW="190440" imgH="2412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00" y="2058"/>
                            <a:ext cx="270" cy="34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6" name="Group 94"/>
            <p:cNvGrpSpPr>
              <a:grpSpLocks/>
            </p:cNvGrpSpPr>
            <p:nvPr/>
          </p:nvGrpSpPr>
          <p:grpSpPr bwMode="auto">
            <a:xfrm>
              <a:off x="7743701" y="3101951"/>
              <a:ext cx="685800" cy="576262"/>
              <a:chOff x="4944" y="2565"/>
              <a:chExt cx="432" cy="363"/>
            </a:xfrm>
            <a:solidFill>
              <a:schemeClr val="tx2">
                <a:lumMod val="20000"/>
                <a:lumOff val="80000"/>
              </a:schemeClr>
            </a:solidFill>
          </p:grpSpPr>
          <p:sp>
            <p:nvSpPr>
              <p:cNvPr id="24630" name="Rectangle 54"/>
              <p:cNvSpPr>
                <a:spLocks noChangeArrowheads="1"/>
              </p:cNvSpPr>
              <p:nvPr/>
            </p:nvSpPr>
            <p:spPr bwMode="auto">
              <a:xfrm>
                <a:off x="4944" y="2565"/>
                <a:ext cx="432" cy="288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graphicFrame>
            <p:nvGraphicFramePr>
              <p:cNvPr id="24631" name="Object 55"/>
              <p:cNvGraphicFramePr>
                <a:graphicFrameLocks noChangeAspect="1"/>
              </p:cNvGraphicFramePr>
              <p:nvPr/>
            </p:nvGraphicFramePr>
            <p:xfrm>
              <a:off x="5040" y="2586"/>
              <a:ext cx="270" cy="34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" imgW="190440" imgH="241200" progId="Equation.3">
                      <p:embed/>
                    </p:oleObj>
                  </mc:Choice>
                  <mc:Fallback>
                    <p:oleObj name="Equation" r:id="rId5" imgW="190440" imgH="2412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40" y="2586"/>
                            <a:ext cx="270" cy="34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4632" name="Line 56"/>
            <p:cNvSpPr>
              <a:spLocks noChangeShapeType="1"/>
            </p:cNvSpPr>
            <p:nvPr/>
          </p:nvSpPr>
          <p:spPr bwMode="auto">
            <a:xfrm>
              <a:off x="7515101" y="2687613"/>
              <a:ext cx="685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4633" name="Line 57"/>
            <p:cNvSpPr>
              <a:spLocks noChangeShapeType="1"/>
            </p:cNvSpPr>
            <p:nvPr/>
          </p:nvSpPr>
          <p:spPr bwMode="auto">
            <a:xfrm flipH="1">
              <a:off x="8429501" y="3373413"/>
              <a:ext cx="381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36" name="Text Box 181"/>
          <p:cNvSpPr txBox="1">
            <a:spLocks noChangeArrowheads="1"/>
          </p:cNvSpPr>
          <p:nvPr/>
        </p:nvSpPr>
        <p:spPr bwMode="auto">
          <a:xfrm>
            <a:off x="467544" y="4149080"/>
            <a:ext cx="748823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333399"/>
                </a:solidFill>
                <a:latin typeface="Arial" pitchFamily="34" charset="0"/>
                <a:ea typeface="宋体" pitchFamily="2" charset="-122"/>
              </a:rPr>
              <a:t>4. Moving a summing point ahead of a block</a:t>
            </a:r>
          </a:p>
        </p:txBody>
      </p:sp>
      <p:sp>
        <p:nvSpPr>
          <p:cNvPr id="37" name="Line 182"/>
          <p:cNvSpPr>
            <a:spLocks noChangeShapeType="1"/>
          </p:cNvSpPr>
          <p:nvPr/>
        </p:nvSpPr>
        <p:spPr bwMode="auto">
          <a:xfrm>
            <a:off x="877888" y="513968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GB"/>
          </a:p>
        </p:txBody>
      </p:sp>
      <p:grpSp>
        <p:nvGrpSpPr>
          <p:cNvPr id="38" name="Group 183"/>
          <p:cNvGrpSpPr>
            <a:grpSpLocks/>
          </p:cNvGrpSpPr>
          <p:nvPr/>
        </p:nvGrpSpPr>
        <p:grpSpPr bwMode="auto">
          <a:xfrm>
            <a:off x="2782888" y="4911080"/>
            <a:ext cx="152400" cy="152400"/>
            <a:chOff x="1344" y="1660"/>
            <a:chExt cx="96" cy="96"/>
          </a:xfrm>
        </p:grpSpPr>
        <p:sp>
          <p:nvSpPr>
            <p:cNvPr id="39" name="Line 184"/>
            <p:cNvSpPr>
              <a:spLocks noChangeShapeType="1"/>
            </p:cNvSpPr>
            <p:nvPr/>
          </p:nvSpPr>
          <p:spPr bwMode="auto">
            <a:xfrm>
              <a:off x="1344" y="170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0" name="Line 185"/>
            <p:cNvSpPr>
              <a:spLocks noChangeShapeType="1"/>
            </p:cNvSpPr>
            <p:nvPr/>
          </p:nvSpPr>
          <p:spPr bwMode="auto">
            <a:xfrm flipV="1">
              <a:off x="1392" y="166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</p:grpSp>
      <p:pic>
        <p:nvPicPr>
          <p:cNvPr id="41" name="Picture 186" descr="untitle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35288" y="5020617"/>
            <a:ext cx="304800" cy="304800"/>
          </a:xfrm>
          <a:prstGeom prst="rect">
            <a:avLst/>
          </a:prstGeom>
          <a:noFill/>
        </p:spPr>
      </p:pic>
      <p:sp>
        <p:nvSpPr>
          <p:cNvPr id="42" name="Line 187"/>
          <p:cNvSpPr>
            <a:spLocks noChangeShapeType="1"/>
          </p:cNvSpPr>
          <p:nvPr/>
        </p:nvSpPr>
        <p:spPr bwMode="auto">
          <a:xfrm>
            <a:off x="2859088" y="5401617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43" name="Line 188"/>
          <p:cNvSpPr>
            <a:spLocks noChangeShapeType="1"/>
          </p:cNvSpPr>
          <p:nvPr/>
        </p:nvSpPr>
        <p:spPr bwMode="auto">
          <a:xfrm flipV="1">
            <a:off x="3087688" y="5325417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44" name="Line 189"/>
          <p:cNvSpPr>
            <a:spLocks noChangeShapeType="1"/>
          </p:cNvSpPr>
          <p:nvPr/>
        </p:nvSpPr>
        <p:spPr bwMode="auto">
          <a:xfrm>
            <a:off x="2173288" y="513968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45" name="Line 190"/>
          <p:cNvSpPr>
            <a:spLocks noChangeShapeType="1"/>
          </p:cNvSpPr>
          <p:nvPr/>
        </p:nvSpPr>
        <p:spPr bwMode="auto">
          <a:xfrm>
            <a:off x="3240088" y="513968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grpSp>
        <p:nvGrpSpPr>
          <p:cNvPr id="46" name="Group 191"/>
          <p:cNvGrpSpPr>
            <a:grpSpLocks/>
          </p:cNvGrpSpPr>
          <p:nvPr/>
        </p:nvGrpSpPr>
        <p:grpSpPr bwMode="auto">
          <a:xfrm>
            <a:off x="1487488" y="4911080"/>
            <a:ext cx="685800" cy="576262"/>
            <a:chOff x="816" y="3408"/>
            <a:chExt cx="432" cy="363"/>
          </a:xfrm>
        </p:grpSpPr>
        <p:sp>
          <p:nvSpPr>
            <p:cNvPr id="47" name="Rectangle 192"/>
            <p:cNvSpPr>
              <a:spLocks noChangeArrowheads="1"/>
            </p:cNvSpPr>
            <p:nvPr/>
          </p:nvSpPr>
          <p:spPr bwMode="auto">
            <a:xfrm>
              <a:off x="816" y="3408"/>
              <a:ext cx="432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48" name="Object 2"/>
            <p:cNvGraphicFramePr>
              <a:graphicFrameLocks noChangeAspect="1"/>
            </p:cNvGraphicFramePr>
            <p:nvPr/>
          </p:nvGraphicFramePr>
          <p:xfrm>
            <a:off x="930" y="3429"/>
            <a:ext cx="270" cy="3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90440" imgH="241200" progId="Equation.3">
                    <p:embed/>
                  </p:oleObj>
                </mc:Choice>
                <mc:Fallback>
                  <p:oleObj name="Equation" r:id="rId7" imgW="19044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0" y="3429"/>
                          <a:ext cx="270" cy="34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9" name="AutoShape 194"/>
          <p:cNvSpPr>
            <a:spLocks noChangeArrowheads="1"/>
          </p:cNvSpPr>
          <p:nvPr/>
        </p:nvSpPr>
        <p:spPr bwMode="auto">
          <a:xfrm>
            <a:off x="4459288" y="5063480"/>
            <a:ext cx="1143000" cy="228600"/>
          </a:xfrm>
          <a:prstGeom prst="leftRight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grpSp>
        <p:nvGrpSpPr>
          <p:cNvPr id="50" name="Group 211"/>
          <p:cNvGrpSpPr>
            <a:grpSpLocks/>
          </p:cNvGrpSpPr>
          <p:nvPr/>
        </p:nvGrpSpPr>
        <p:grpSpPr bwMode="auto">
          <a:xfrm>
            <a:off x="5830888" y="4987280"/>
            <a:ext cx="3048000" cy="1152525"/>
            <a:chOff x="3559" y="647"/>
            <a:chExt cx="1920" cy="726"/>
          </a:xfrm>
        </p:grpSpPr>
        <p:sp>
          <p:nvSpPr>
            <p:cNvPr id="51" name="Line 195"/>
            <p:cNvSpPr>
              <a:spLocks noChangeShapeType="1"/>
            </p:cNvSpPr>
            <p:nvPr/>
          </p:nvSpPr>
          <p:spPr bwMode="auto">
            <a:xfrm>
              <a:off x="3559" y="791"/>
              <a:ext cx="576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52" name="Group 196"/>
            <p:cNvGrpSpPr>
              <a:grpSpLocks/>
            </p:cNvGrpSpPr>
            <p:nvPr/>
          </p:nvGrpSpPr>
          <p:grpSpPr bwMode="auto">
            <a:xfrm>
              <a:off x="3991" y="647"/>
              <a:ext cx="96" cy="96"/>
              <a:chOff x="1344" y="1660"/>
              <a:chExt cx="96" cy="96"/>
            </a:xfrm>
          </p:grpSpPr>
          <p:sp>
            <p:nvSpPr>
              <p:cNvPr id="65" name="Line 197"/>
              <p:cNvSpPr>
                <a:spLocks noChangeShapeType="1"/>
              </p:cNvSpPr>
              <p:nvPr/>
            </p:nvSpPr>
            <p:spPr bwMode="auto">
              <a:xfrm>
                <a:off x="1344" y="170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66" name="Line 198"/>
              <p:cNvSpPr>
                <a:spLocks noChangeShapeType="1"/>
              </p:cNvSpPr>
              <p:nvPr/>
            </p:nvSpPr>
            <p:spPr bwMode="auto">
              <a:xfrm flipV="1">
                <a:off x="1392" y="166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</p:grpSp>
        <p:pic>
          <p:nvPicPr>
            <p:cNvPr id="53" name="Picture 199" descr="untitled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135" y="716"/>
              <a:ext cx="192" cy="192"/>
            </a:xfrm>
            <a:prstGeom prst="rect">
              <a:avLst/>
            </a:prstGeom>
            <a:noFill/>
          </p:spPr>
        </p:pic>
        <p:sp>
          <p:nvSpPr>
            <p:cNvPr id="54" name="Line 200"/>
            <p:cNvSpPr>
              <a:spLocks noChangeShapeType="1"/>
            </p:cNvSpPr>
            <p:nvPr/>
          </p:nvSpPr>
          <p:spPr bwMode="auto">
            <a:xfrm>
              <a:off x="4279" y="95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5" name="Line 201"/>
            <p:cNvSpPr>
              <a:spLocks noChangeShapeType="1"/>
            </p:cNvSpPr>
            <p:nvPr/>
          </p:nvSpPr>
          <p:spPr bwMode="auto">
            <a:xfrm flipH="1">
              <a:off x="4231" y="1223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6" name="Line 202"/>
            <p:cNvSpPr>
              <a:spLocks noChangeShapeType="1"/>
            </p:cNvSpPr>
            <p:nvPr/>
          </p:nvSpPr>
          <p:spPr bwMode="auto">
            <a:xfrm flipV="1">
              <a:off x="4231" y="860"/>
              <a:ext cx="0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57" name="Rectangle 203"/>
            <p:cNvSpPr>
              <a:spLocks noChangeArrowheads="1"/>
            </p:cNvSpPr>
            <p:nvPr/>
          </p:nvSpPr>
          <p:spPr bwMode="auto">
            <a:xfrm>
              <a:off x="4615" y="668"/>
              <a:ext cx="432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58" name="Object 0"/>
            <p:cNvGraphicFramePr>
              <a:graphicFrameLocks noChangeAspect="1"/>
            </p:cNvGraphicFramePr>
            <p:nvPr/>
          </p:nvGraphicFramePr>
          <p:xfrm>
            <a:off x="4729" y="689"/>
            <a:ext cx="270" cy="3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90440" imgH="241200" progId="Equation.3">
                    <p:embed/>
                  </p:oleObj>
                </mc:Choice>
                <mc:Fallback>
                  <p:oleObj name="Equation" r:id="rId9" imgW="19044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29" y="689"/>
                          <a:ext cx="270" cy="34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9" name="Line 205"/>
            <p:cNvSpPr>
              <a:spLocks noChangeShapeType="1"/>
            </p:cNvSpPr>
            <p:nvPr/>
          </p:nvSpPr>
          <p:spPr bwMode="auto">
            <a:xfrm>
              <a:off x="4327" y="791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60" name="Line 206"/>
            <p:cNvSpPr>
              <a:spLocks noChangeShapeType="1"/>
            </p:cNvSpPr>
            <p:nvPr/>
          </p:nvSpPr>
          <p:spPr bwMode="auto">
            <a:xfrm>
              <a:off x="5047" y="791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61" name="Rectangle 207"/>
            <p:cNvSpPr>
              <a:spLocks noChangeArrowheads="1"/>
            </p:cNvSpPr>
            <p:nvPr/>
          </p:nvSpPr>
          <p:spPr bwMode="auto">
            <a:xfrm>
              <a:off x="4615" y="1031"/>
              <a:ext cx="384" cy="31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62" name="Object 1"/>
            <p:cNvGraphicFramePr>
              <a:graphicFrameLocks noChangeAspect="1"/>
            </p:cNvGraphicFramePr>
            <p:nvPr/>
          </p:nvGraphicFramePr>
          <p:xfrm>
            <a:off x="4750" y="1079"/>
            <a:ext cx="152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228600" imgH="444240" progId="Equation.3">
                    <p:embed/>
                  </p:oleObj>
                </mc:Choice>
                <mc:Fallback>
                  <p:oleObj name="Equation" r:id="rId11" imgW="228600" imgH="4442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0" y="1079"/>
                          <a:ext cx="152" cy="29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3" name="Line 209"/>
            <p:cNvSpPr>
              <a:spLocks noChangeShapeType="1"/>
            </p:cNvSpPr>
            <p:nvPr/>
          </p:nvSpPr>
          <p:spPr bwMode="auto">
            <a:xfrm flipH="1">
              <a:off x="5047" y="1223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64" name="Line 210"/>
            <p:cNvSpPr>
              <a:spLocks noChangeShapeType="1"/>
            </p:cNvSpPr>
            <p:nvPr/>
          </p:nvSpPr>
          <p:spPr bwMode="auto">
            <a:xfrm flipH="1">
              <a:off x="4999" y="1223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718107756"/>
      </p:ext>
    </p:extLst>
  </p:cSld>
  <p:clrMapOvr>
    <a:masterClrMapping/>
  </p:clrMapOvr>
  <p:transition advTm="14691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 animBg="1"/>
      <p:bldP spid="42" grpId="0" animBg="1"/>
      <p:bldP spid="43" grpId="0" animBg="1"/>
      <p:bldP spid="44" grpId="0" animBg="1"/>
      <p:bldP spid="45" grpId="0" animBg="1"/>
      <p:bldP spid="4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17" name="Text Box 17"/>
          <p:cNvSpPr txBox="1">
            <a:spLocks noChangeArrowheads="1"/>
          </p:cNvSpPr>
          <p:nvPr/>
        </p:nvSpPr>
        <p:spPr bwMode="auto">
          <a:xfrm>
            <a:off x="754856" y="3768726"/>
            <a:ext cx="684053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333399"/>
                </a:solidFill>
                <a:latin typeface="Arial" pitchFamily="34" charset="0"/>
                <a:ea typeface="宋体" pitchFamily="2" charset="-122"/>
              </a:rPr>
              <a:t>6. Moving a pickoff point ahead of a block</a:t>
            </a:r>
          </a:p>
        </p:txBody>
      </p:sp>
      <p:sp>
        <p:nvSpPr>
          <p:cNvPr id="25677" name="Line 77"/>
          <p:cNvSpPr>
            <a:spLocks noChangeShapeType="1"/>
          </p:cNvSpPr>
          <p:nvPr/>
        </p:nvSpPr>
        <p:spPr bwMode="auto">
          <a:xfrm>
            <a:off x="1007268" y="4803776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GB"/>
          </a:p>
        </p:txBody>
      </p:sp>
      <p:grpSp>
        <p:nvGrpSpPr>
          <p:cNvPr id="2" name="Group 86"/>
          <p:cNvGrpSpPr>
            <a:grpSpLocks/>
          </p:cNvGrpSpPr>
          <p:nvPr/>
        </p:nvGrpSpPr>
        <p:grpSpPr bwMode="auto">
          <a:xfrm>
            <a:off x="1769268" y="4575176"/>
            <a:ext cx="685800" cy="576262"/>
            <a:chOff x="4704" y="2037"/>
            <a:chExt cx="432" cy="363"/>
          </a:xfrm>
        </p:grpSpPr>
        <p:sp>
          <p:nvSpPr>
            <p:cNvPr id="25687" name="Rectangle 87"/>
            <p:cNvSpPr>
              <a:spLocks noChangeArrowheads="1"/>
            </p:cNvSpPr>
            <p:nvPr/>
          </p:nvSpPr>
          <p:spPr bwMode="auto">
            <a:xfrm>
              <a:off x="4704" y="2037"/>
              <a:ext cx="432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32776" name="Object 8"/>
            <p:cNvGraphicFramePr>
              <a:graphicFrameLocks noChangeAspect="1"/>
            </p:cNvGraphicFramePr>
            <p:nvPr/>
          </p:nvGraphicFramePr>
          <p:xfrm>
            <a:off x="4800" y="2058"/>
            <a:ext cx="270" cy="3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90440" imgH="241200" progId="Equation.3">
                    <p:embed/>
                  </p:oleObj>
                </mc:Choice>
                <mc:Fallback>
                  <p:oleObj name="Equation" r:id="rId2" imgW="19044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0" y="2058"/>
                          <a:ext cx="270" cy="34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692" name="Line 92"/>
          <p:cNvSpPr>
            <a:spLocks noChangeShapeType="1"/>
          </p:cNvSpPr>
          <p:nvPr/>
        </p:nvSpPr>
        <p:spPr bwMode="auto">
          <a:xfrm>
            <a:off x="2455068" y="4803776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5693" name="Line 93"/>
          <p:cNvSpPr>
            <a:spLocks noChangeShapeType="1"/>
          </p:cNvSpPr>
          <p:nvPr/>
        </p:nvSpPr>
        <p:spPr bwMode="auto">
          <a:xfrm flipH="1">
            <a:off x="2455068" y="5337176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25694" name="Line 94"/>
          <p:cNvSpPr>
            <a:spLocks noChangeShapeType="1"/>
          </p:cNvSpPr>
          <p:nvPr/>
        </p:nvSpPr>
        <p:spPr bwMode="auto">
          <a:xfrm flipV="1">
            <a:off x="2836068" y="4803776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5695" name="Line 95"/>
          <p:cNvSpPr>
            <a:spLocks noChangeShapeType="1"/>
          </p:cNvSpPr>
          <p:nvPr/>
        </p:nvSpPr>
        <p:spPr bwMode="auto">
          <a:xfrm flipH="1">
            <a:off x="2150268" y="5337176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5696" name="AutoShape 96"/>
          <p:cNvSpPr>
            <a:spLocks noChangeArrowheads="1"/>
          </p:cNvSpPr>
          <p:nvPr/>
        </p:nvSpPr>
        <p:spPr bwMode="auto">
          <a:xfrm>
            <a:off x="3674268" y="4727576"/>
            <a:ext cx="1143000" cy="228600"/>
          </a:xfrm>
          <a:prstGeom prst="leftRight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5697" name="Line 97"/>
          <p:cNvSpPr>
            <a:spLocks noChangeShapeType="1"/>
          </p:cNvSpPr>
          <p:nvPr/>
        </p:nvSpPr>
        <p:spPr bwMode="auto">
          <a:xfrm>
            <a:off x="5274468" y="4794251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GB"/>
          </a:p>
        </p:txBody>
      </p:sp>
      <p:grpSp>
        <p:nvGrpSpPr>
          <p:cNvPr id="3" name="Group 98"/>
          <p:cNvGrpSpPr>
            <a:grpSpLocks/>
          </p:cNvGrpSpPr>
          <p:nvPr/>
        </p:nvGrpSpPr>
        <p:grpSpPr bwMode="auto">
          <a:xfrm>
            <a:off x="6798468" y="4532313"/>
            <a:ext cx="685800" cy="576263"/>
            <a:chOff x="4704" y="2037"/>
            <a:chExt cx="432" cy="363"/>
          </a:xfrm>
        </p:grpSpPr>
        <p:sp>
          <p:nvSpPr>
            <p:cNvPr id="25699" name="Rectangle 99"/>
            <p:cNvSpPr>
              <a:spLocks noChangeArrowheads="1"/>
            </p:cNvSpPr>
            <p:nvPr/>
          </p:nvSpPr>
          <p:spPr bwMode="auto">
            <a:xfrm>
              <a:off x="4704" y="2037"/>
              <a:ext cx="432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32775" name="Object 7"/>
            <p:cNvGraphicFramePr>
              <a:graphicFrameLocks noChangeAspect="1"/>
            </p:cNvGraphicFramePr>
            <p:nvPr/>
          </p:nvGraphicFramePr>
          <p:xfrm>
            <a:off x="4800" y="2058"/>
            <a:ext cx="270" cy="3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90440" imgH="241200" progId="Equation.3">
                    <p:embed/>
                  </p:oleObj>
                </mc:Choice>
                <mc:Fallback>
                  <p:oleObj name="Equation" r:id="rId2" imgW="19044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0" y="2058"/>
                          <a:ext cx="270" cy="34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701" name="Line 101"/>
          <p:cNvSpPr>
            <a:spLocks noChangeShapeType="1"/>
          </p:cNvSpPr>
          <p:nvPr/>
        </p:nvSpPr>
        <p:spPr bwMode="auto">
          <a:xfrm>
            <a:off x="7484268" y="4794251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5702" name="Line 102"/>
          <p:cNvSpPr>
            <a:spLocks noChangeShapeType="1"/>
          </p:cNvSpPr>
          <p:nvPr/>
        </p:nvSpPr>
        <p:spPr bwMode="auto">
          <a:xfrm flipH="1">
            <a:off x="6036468" y="5327651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25703" name="Line 103"/>
          <p:cNvSpPr>
            <a:spLocks noChangeShapeType="1"/>
          </p:cNvSpPr>
          <p:nvPr/>
        </p:nvSpPr>
        <p:spPr bwMode="auto">
          <a:xfrm flipV="1">
            <a:off x="6417468" y="4794251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5704" name="Line 104"/>
          <p:cNvSpPr>
            <a:spLocks noChangeShapeType="1"/>
          </p:cNvSpPr>
          <p:nvPr/>
        </p:nvSpPr>
        <p:spPr bwMode="auto">
          <a:xfrm flipH="1">
            <a:off x="5350668" y="5327651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5710" name="Line 110"/>
          <p:cNvSpPr>
            <a:spLocks noChangeShapeType="1"/>
          </p:cNvSpPr>
          <p:nvPr/>
        </p:nvSpPr>
        <p:spPr bwMode="auto">
          <a:xfrm>
            <a:off x="2444606" y="178445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GB"/>
          </a:p>
        </p:txBody>
      </p:sp>
      <p:grpSp>
        <p:nvGrpSpPr>
          <p:cNvPr id="4" name="Group 111"/>
          <p:cNvGrpSpPr>
            <a:grpSpLocks/>
          </p:cNvGrpSpPr>
          <p:nvPr/>
        </p:nvGrpSpPr>
        <p:grpSpPr bwMode="auto">
          <a:xfrm>
            <a:off x="1758806" y="1555850"/>
            <a:ext cx="685800" cy="576262"/>
            <a:chOff x="4704" y="2037"/>
            <a:chExt cx="432" cy="363"/>
          </a:xfrm>
        </p:grpSpPr>
        <p:sp>
          <p:nvSpPr>
            <p:cNvPr id="25712" name="Rectangle 112"/>
            <p:cNvSpPr>
              <a:spLocks noChangeArrowheads="1"/>
            </p:cNvSpPr>
            <p:nvPr/>
          </p:nvSpPr>
          <p:spPr bwMode="auto">
            <a:xfrm>
              <a:off x="4704" y="2037"/>
              <a:ext cx="432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32774" name="Object 6"/>
            <p:cNvGraphicFramePr>
              <a:graphicFrameLocks noChangeAspect="1"/>
            </p:cNvGraphicFramePr>
            <p:nvPr/>
          </p:nvGraphicFramePr>
          <p:xfrm>
            <a:off x="4800" y="2058"/>
            <a:ext cx="270" cy="3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90440" imgH="241200" progId="Equation.3">
                    <p:embed/>
                  </p:oleObj>
                </mc:Choice>
                <mc:Fallback>
                  <p:oleObj name="Equation" r:id="rId2" imgW="19044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0" y="2058"/>
                          <a:ext cx="270" cy="34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714" name="Line 114"/>
          <p:cNvSpPr>
            <a:spLocks noChangeShapeType="1"/>
          </p:cNvSpPr>
          <p:nvPr/>
        </p:nvSpPr>
        <p:spPr bwMode="auto">
          <a:xfrm>
            <a:off x="920606" y="178445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5716" name="Line 116"/>
          <p:cNvSpPr>
            <a:spLocks noChangeShapeType="1"/>
          </p:cNvSpPr>
          <p:nvPr/>
        </p:nvSpPr>
        <p:spPr bwMode="auto">
          <a:xfrm flipV="1">
            <a:off x="1454006" y="178445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5717" name="Line 117"/>
          <p:cNvSpPr>
            <a:spLocks noChangeShapeType="1"/>
          </p:cNvSpPr>
          <p:nvPr/>
        </p:nvSpPr>
        <p:spPr bwMode="auto">
          <a:xfrm flipH="1">
            <a:off x="1073006" y="231785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5718" name="AutoShape 118"/>
          <p:cNvSpPr>
            <a:spLocks noChangeArrowheads="1"/>
          </p:cNvSpPr>
          <p:nvPr/>
        </p:nvSpPr>
        <p:spPr bwMode="auto">
          <a:xfrm>
            <a:off x="3663806" y="1708250"/>
            <a:ext cx="1143000" cy="228600"/>
          </a:xfrm>
          <a:prstGeom prst="leftRight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grpSp>
        <p:nvGrpSpPr>
          <p:cNvPr id="5" name="Group 120"/>
          <p:cNvGrpSpPr>
            <a:grpSpLocks/>
          </p:cNvGrpSpPr>
          <p:nvPr/>
        </p:nvGrpSpPr>
        <p:grpSpPr bwMode="auto">
          <a:xfrm>
            <a:off x="6330806" y="1512987"/>
            <a:ext cx="685800" cy="576263"/>
            <a:chOff x="4704" y="2037"/>
            <a:chExt cx="432" cy="363"/>
          </a:xfrm>
        </p:grpSpPr>
        <p:sp>
          <p:nvSpPr>
            <p:cNvPr id="25721" name="Rectangle 121"/>
            <p:cNvSpPr>
              <a:spLocks noChangeArrowheads="1"/>
            </p:cNvSpPr>
            <p:nvPr/>
          </p:nvSpPr>
          <p:spPr bwMode="auto">
            <a:xfrm>
              <a:off x="4704" y="2037"/>
              <a:ext cx="432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32773" name="Object 5"/>
            <p:cNvGraphicFramePr>
              <a:graphicFrameLocks noChangeAspect="1"/>
            </p:cNvGraphicFramePr>
            <p:nvPr/>
          </p:nvGraphicFramePr>
          <p:xfrm>
            <a:off x="4800" y="2058"/>
            <a:ext cx="270" cy="3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90440" imgH="241200" progId="Equation.3">
                    <p:embed/>
                  </p:oleObj>
                </mc:Choice>
                <mc:Fallback>
                  <p:oleObj name="Equation" r:id="rId2" imgW="19044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0" y="2058"/>
                          <a:ext cx="270" cy="34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723" name="Line 123"/>
          <p:cNvSpPr>
            <a:spLocks noChangeShapeType="1"/>
          </p:cNvSpPr>
          <p:nvPr/>
        </p:nvSpPr>
        <p:spPr bwMode="auto">
          <a:xfrm>
            <a:off x="7016606" y="1741587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5724" name="Line 124"/>
          <p:cNvSpPr>
            <a:spLocks noChangeShapeType="1"/>
          </p:cNvSpPr>
          <p:nvPr/>
        </p:nvSpPr>
        <p:spPr bwMode="auto">
          <a:xfrm flipH="1">
            <a:off x="7016606" y="2427387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25725" name="Line 125"/>
          <p:cNvSpPr>
            <a:spLocks noChangeShapeType="1"/>
          </p:cNvSpPr>
          <p:nvPr/>
        </p:nvSpPr>
        <p:spPr bwMode="auto">
          <a:xfrm flipV="1">
            <a:off x="7397606" y="1741587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grpSp>
        <p:nvGrpSpPr>
          <p:cNvPr id="6" name="Group 127"/>
          <p:cNvGrpSpPr>
            <a:grpSpLocks/>
          </p:cNvGrpSpPr>
          <p:nvPr/>
        </p:nvGrpSpPr>
        <p:grpSpPr bwMode="auto">
          <a:xfrm>
            <a:off x="6407006" y="2189262"/>
            <a:ext cx="609600" cy="542925"/>
            <a:chOff x="4608" y="3840"/>
            <a:chExt cx="384" cy="342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5728" name="Rectangle 128"/>
            <p:cNvSpPr>
              <a:spLocks noChangeArrowheads="1"/>
            </p:cNvSpPr>
            <p:nvPr/>
          </p:nvSpPr>
          <p:spPr bwMode="auto">
            <a:xfrm>
              <a:off x="4608" y="3840"/>
              <a:ext cx="384" cy="315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32772" name="Object 4"/>
            <p:cNvGraphicFramePr>
              <a:graphicFrameLocks noChangeAspect="1"/>
            </p:cNvGraphicFramePr>
            <p:nvPr/>
          </p:nvGraphicFramePr>
          <p:xfrm>
            <a:off x="4743" y="3888"/>
            <a:ext cx="152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28600" imgH="444240" progId="Equation.3">
                    <p:embed/>
                  </p:oleObj>
                </mc:Choice>
                <mc:Fallback>
                  <p:oleObj name="Equation" r:id="rId4" imgW="228600" imgH="4442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3" y="3888"/>
                          <a:ext cx="152" cy="29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130"/>
          <p:cNvGrpSpPr>
            <a:grpSpLocks/>
          </p:cNvGrpSpPr>
          <p:nvPr/>
        </p:nvGrpSpPr>
        <p:grpSpPr bwMode="auto">
          <a:xfrm>
            <a:off x="5579268" y="5065713"/>
            <a:ext cx="685800" cy="576263"/>
            <a:chOff x="4944" y="2565"/>
            <a:chExt cx="432" cy="363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5731" name="Rectangle 131"/>
            <p:cNvSpPr>
              <a:spLocks noChangeArrowheads="1"/>
            </p:cNvSpPr>
            <p:nvPr/>
          </p:nvSpPr>
          <p:spPr bwMode="auto">
            <a:xfrm>
              <a:off x="4944" y="2565"/>
              <a:ext cx="432" cy="28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32771" name="Object 3"/>
            <p:cNvGraphicFramePr>
              <a:graphicFrameLocks noChangeAspect="1"/>
            </p:cNvGraphicFramePr>
            <p:nvPr/>
          </p:nvGraphicFramePr>
          <p:xfrm>
            <a:off x="5040" y="2586"/>
            <a:ext cx="270" cy="3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90440" imgH="241200" progId="Equation.3">
                    <p:embed/>
                  </p:oleObj>
                </mc:Choice>
                <mc:Fallback>
                  <p:oleObj name="Equation" r:id="rId6" imgW="19044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0" y="2586"/>
                          <a:ext cx="270" cy="34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733" name="Line 133"/>
          <p:cNvSpPr>
            <a:spLocks noChangeShapeType="1"/>
          </p:cNvSpPr>
          <p:nvPr/>
        </p:nvSpPr>
        <p:spPr bwMode="auto">
          <a:xfrm>
            <a:off x="5340206" y="1741587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5734" name="Line 134"/>
          <p:cNvSpPr>
            <a:spLocks noChangeShapeType="1"/>
          </p:cNvSpPr>
          <p:nvPr/>
        </p:nvSpPr>
        <p:spPr bwMode="auto">
          <a:xfrm flipH="1">
            <a:off x="5568806" y="2427387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5812" name="Rectangle 212"/>
          <p:cNvSpPr>
            <a:spLocks noChangeArrowheads="1"/>
          </p:cNvSpPr>
          <p:nvPr/>
        </p:nvSpPr>
        <p:spPr bwMode="auto">
          <a:xfrm>
            <a:off x="855519" y="836712"/>
            <a:ext cx="434830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333399"/>
                </a:solidFill>
                <a:latin typeface="Arial" pitchFamily="34" charset="0"/>
                <a:ea typeface="宋体" pitchFamily="2" charset="-122"/>
              </a:rPr>
              <a:t>5. Moving a pickoff point behind a block</a:t>
            </a:r>
            <a:endParaRPr lang="zh-CN" altLang="en-US" dirty="0">
              <a:solidFill>
                <a:srgbClr val="333399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21479"/>
      </p:ext>
    </p:extLst>
  </p:cSld>
  <p:clrMapOvr>
    <a:masterClrMapping/>
  </p:clrMapOvr>
  <p:transition advTm="16953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17" grpId="0"/>
      <p:bldP spid="25677" grpId="0" animBg="1"/>
      <p:bldP spid="25692" grpId="0" animBg="1"/>
      <p:bldP spid="25693" grpId="0" animBg="1"/>
      <p:bldP spid="25694" grpId="0" animBg="1"/>
      <p:bldP spid="25695" grpId="0" animBg="1"/>
      <p:bldP spid="25696" grpId="0" animBg="1"/>
      <p:bldP spid="25697" grpId="0" animBg="1"/>
      <p:bldP spid="25701" grpId="0" animBg="1"/>
      <p:bldP spid="25702" grpId="0" animBg="1"/>
      <p:bldP spid="25703" grpId="0" animBg="1"/>
      <p:bldP spid="2570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Text Box 4"/>
          <p:cNvSpPr txBox="1">
            <a:spLocks noChangeArrowheads="1"/>
          </p:cNvSpPr>
          <p:nvPr/>
        </p:nvSpPr>
        <p:spPr bwMode="auto">
          <a:xfrm>
            <a:off x="611188" y="476250"/>
            <a:ext cx="5743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333399"/>
                </a:solidFill>
                <a:latin typeface="Arial" pitchFamily="34" charset="0"/>
                <a:ea typeface="宋体" pitchFamily="2" charset="-122"/>
              </a:rPr>
              <a:t>7. Eliminating a feedback loop</a:t>
            </a:r>
          </a:p>
        </p:txBody>
      </p:sp>
      <p:sp>
        <p:nvSpPr>
          <p:cNvPr id="28677" name="AutoShape 5"/>
          <p:cNvSpPr>
            <a:spLocks noChangeArrowheads="1"/>
          </p:cNvSpPr>
          <p:nvPr/>
        </p:nvSpPr>
        <p:spPr bwMode="auto">
          <a:xfrm>
            <a:off x="4081463" y="1238250"/>
            <a:ext cx="1143000" cy="228600"/>
          </a:xfrm>
          <a:prstGeom prst="leftRight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8678" name="Line 6"/>
          <p:cNvSpPr>
            <a:spLocks noChangeShapeType="1"/>
          </p:cNvSpPr>
          <p:nvPr/>
        </p:nvSpPr>
        <p:spPr bwMode="auto">
          <a:xfrm>
            <a:off x="623888" y="131445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GB"/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1004888" y="1085850"/>
            <a:ext cx="152400" cy="152400"/>
            <a:chOff x="1344" y="1660"/>
            <a:chExt cx="96" cy="96"/>
          </a:xfrm>
        </p:grpSpPr>
        <p:sp>
          <p:nvSpPr>
            <p:cNvPr id="28680" name="Line 8"/>
            <p:cNvSpPr>
              <a:spLocks noChangeShapeType="1"/>
            </p:cNvSpPr>
            <p:nvPr/>
          </p:nvSpPr>
          <p:spPr bwMode="auto">
            <a:xfrm>
              <a:off x="1344" y="170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8681" name="Line 9"/>
            <p:cNvSpPr>
              <a:spLocks noChangeShapeType="1"/>
            </p:cNvSpPr>
            <p:nvPr/>
          </p:nvSpPr>
          <p:spPr bwMode="auto">
            <a:xfrm flipV="1">
              <a:off x="1392" y="166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</p:grpSp>
      <p:pic>
        <p:nvPicPr>
          <p:cNvPr id="28682" name="Picture 10" descr="untitle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33488" y="1195388"/>
            <a:ext cx="304800" cy="304800"/>
          </a:xfrm>
          <a:prstGeom prst="rect">
            <a:avLst/>
          </a:prstGeom>
          <a:noFill/>
        </p:spPr>
      </p:pic>
      <p:sp>
        <p:nvSpPr>
          <p:cNvPr id="28683" name="Line 11"/>
          <p:cNvSpPr>
            <a:spLocks noChangeShapeType="1"/>
          </p:cNvSpPr>
          <p:nvPr/>
        </p:nvSpPr>
        <p:spPr bwMode="auto">
          <a:xfrm>
            <a:off x="1414463" y="169545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28684" name="Line 12"/>
          <p:cNvSpPr>
            <a:spLocks noChangeShapeType="1"/>
          </p:cNvSpPr>
          <p:nvPr/>
        </p:nvSpPr>
        <p:spPr bwMode="auto">
          <a:xfrm flipH="1">
            <a:off x="1385888" y="200025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28685" name="Line 13"/>
          <p:cNvSpPr>
            <a:spLocks noChangeShapeType="1"/>
          </p:cNvSpPr>
          <p:nvPr/>
        </p:nvSpPr>
        <p:spPr bwMode="auto">
          <a:xfrm flipV="1">
            <a:off x="1385888" y="1423988"/>
            <a:ext cx="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8686" name="Rectangle 14"/>
          <p:cNvSpPr>
            <a:spLocks noChangeArrowheads="1"/>
          </p:cNvSpPr>
          <p:nvPr/>
        </p:nvSpPr>
        <p:spPr bwMode="auto">
          <a:xfrm>
            <a:off x="1995488" y="1119188"/>
            <a:ext cx="6858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graphicFrame>
        <p:nvGraphicFramePr>
          <p:cNvPr id="28687" name="Object 15"/>
          <p:cNvGraphicFramePr>
            <a:graphicFrameLocks noChangeAspect="1"/>
          </p:cNvGraphicFramePr>
          <p:nvPr/>
        </p:nvGraphicFramePr>
        <p:xfrm>
          <a:off x="2176463" y="1152525"/>
          <a:ext cx="42862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0440" imgH="241200" progId="Equation.3">
                  <p:embed/>
                </p:oleObj>
              </mc:Choice>
              <mc:Fallback>
                <p:oleObj name="Equation" r:id="rId3" imgW="19044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6463" y="1152525"/>
                        <a:ext cx="428625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8" name="Line 16"/>
          <p:cNvSpPr>
            <a:spLocks noChangeShapeType="1"/>
          </p:cNvSpPr>
          <p:nvPr/>
        </p:nvSpPr>
        <p:spPr bwMode="auto">
          <a:xfrm>
            <a:off x="1538288" y="131445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8689" name="Line 17"/>
          <p:cNvSpPr>
            <a:spLocks noChangeShapeType="1"/>
          </p:cNvSpPr>
          <p:nvPr/>
        </p:nvSpPr>
        <p:spPr bwMode="auto">
          <a:xfrm flipV="1">
            <a:off x="2681288" y="1314450"/>
            <a:ext cx="1171575" cy="9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8690" name="Rectangle 18"/>
          <p:cNvSpPr>
            <a:spLocks noChangeArrowheads="1"/>
          </p:cNvSpPr>
          <p:nvPr/>
        </p:nvSpPr>
        <p:spPr bwMode="auto">
          <a:xfrm>
            <a:off x="1995488" y="1695450"/>
            <a:ext cx="609600" cy="5000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graphicFrame>
        <p:nvGraphicFramePr>
          <p:cNvPr id="28691" name="Object 19"/>
          <p:cNvGraphicFramePr>
            <a:graphicFrameLocks noChangeAspect="1"/>
          </p:cNvGraphicFramePr>
          <p:nvPr/>
        </p:nvGraphicFramePr>
        <p:xfrm>
          <a:off x="2100263" y="1762125"/>
          <a:ext cx="396875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7480" imgH="164880" progId="Equation.3">
                  <p:embed/>
                </p:oleObj>
              </mc:Choice>
              <mc:Fallback>
                <p:oleObj name="Equation" r:id="rId5" imgW="177480" imgH="164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0263" y="1762125"/>
                        <a:ext cx="396875" cy="366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92" name="Line 20"/>
          <p:cNvSpPr>
            <a:spLocks noChangeShapeType="1"/>
          </p:cNvSpPr>
          <p:nvPr/>
        </p:nvSpPr>
        <p:spPr bwMode="auto">
          <a:xfrm flipH="1">
            <a:off x="2681288" y="200025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28693" name="Line 21"/>
          <p:cNvSpPr>
            <a:spLocks noChangeShapeType="1"/>
          </p:cNvSpPr>
          <p:nvPr/>
        </p:nvSpPr>
        <p:spPr bwMode="auto">
          <a:xfrm flipH="1">
            <a:off x="2605088" y="200025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8733" name="Line 61"/>
          <p:cNvSpPr>
            <a:spLocks noChangeShapeType="1"/>
          </p:cNvSpPr>
          <p:nvPr/>
        </p:nvSpPr>
        <p:spPr bwMode="auto">
          <a:xfrm flipV="1">
            <a:off x="3333318" y="131445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8734" name="Rectangle 62"/>
          <p:cNvSpPr>
            <a:spLocks noChangeArrowheads="1"/>
          </p:cNvSpPr>
          <p:nvPr/>
        </p:nvSpPr>
        <p:spPr bwMode="auto">
          <a:xfrm>
            <a:off x="6291263" y="1085850"/>
            <a:ext cx="1600200" cy="76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graphicFrame>
        <p:nvGraphicFramePr>
          <p:cNvPr id="28735" name="Object 63"/>
          <p:cNvGraphicFramePr>
            <a:graphicFrameLocks noChangeAspect="1"/>
          </p:cNvGraphicFramePr>
          <p:nvPr/>
        </p:nvGraphicFramePr>
        <p:xfrm>
          <a:off x="6691313" y="1085850"/>
          <a:ext cx="896937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95000" imgH="393480" progId="Equation.3">
                  <p:embed/>
                </p:oleObj>
              </mc:Choice>
              <mc:Fallback>
                <p:oleObj name="Equation" r:id="rId7" imgW="4950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1313" y="1085850"/>
                        <a:ext cx="896937" cy="71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36" name="Line 64"/>
          <p:cNvSpPr>
            <a:spLocks noChangeShapeType="1"/>
          </p:cNvSpPr>
          <p:nvPr/>
        </p:nvSpPr>
        <p:spPr bwMode="auto">
          <a:xfrm>
            <a:off x="5376863" y="139065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8737" name="Line 65"/>
          <p:cNvSpPr>
            <a:spLocks noChangeShapeType="1"/>
          </p:cNvSpPr>
          <p:nvPr/>
        </p:nvSpPr>
        <p:spPr bwMode="auto">
          <a:xfrm>
            <a:off x="7891463" y="139065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grpSp>
        <p:nvGrpSpPr>
          <p:cNvPr id="3" name="Group 66"/>
          <p:cNvGrpSpPr>
            <a:grpSpLocks/>
          </p:cNvGrpSpPr>
          <p:nvPr/>
        </p:nvGrpSpPr>
        <p:grpSpPr bwMode="auto">
          <a:xfrm>
            <a:off x="1414463" y="1466850"/>
            <a:ext cx="152400" cy="152400"/>
            <a:chOff x="1344" y="1660"/>
            <a:chExt cx="96" cy="96"/>
          </a:xfrm>
        </p:grpSpPr>
        <p:sp>
          <p:nvSpPr>
            <p:cNvPr id="28739" name="Line 67"/>
            <p:cNvSpPr>
              <a:spLocks noChangeShapeType="1"/>
            </p:cNvSpPr>
            <p:nvPr/>
          </p:nvSpPr>
          <p:spPr bwMode="auto">
            <a:xfrm>
              <a:off x="1344" y="170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8740" name="Line 68"/>
            <p:cNvSpPr>
              <a:spLocks noChangeShapeType="1"/>
            </p:cNvSpPr>
            <p:nvPr/>
          </p:nvSpPr>
          <p:spPr bwMode="auto">
            <a:xfrm flipV="1">
              <a:off x="1392" y="166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</p:grpSp>
      <p:sp>
        <p:nvSpPr>
          <p:cNvPr id="28741" name="Text Box 69"/>
          <p:cNvSpPr txBox="1">
            <a:spLocks noChangeArrowheads="1"/>
          </p:cNvSpPr>
          <p:nvPr/>
        </p:nvSpPr>
        <p:spPr bwMode="auto">
          <a:xfrm>
            <a:off x="611188" y="4797425"/>
            <a:ext cx="727233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333399"/>
                </a:solidFill>
                <a:latin typeface="Arial" pitchFamily="34" charset="0"/>
                <a:ea typeface="宋体" pitchFamily="2" charset="-122"/>
              </a:rPr>
              <a:t>8. Swap with two neighboring summing points</a:t>
            </a:r>
          </a:p>
        </p:txBody>
      </p:sp>
      <p:grpSp>
        <p:nvGrpSpPr>
          <p:cNvPr id="4" name="Group 70"/>
          <p:cNvGrpSpPr>
            <a:grpSpLocks/>
          </p:cNvGrpSpPr>
          <p:nvPr/>
        </p:nvGrpSpPr>
        <p:grpSpPr bwMode="auto">
          <a:xfrm>
            <a:off x="1101725" y="5407025"/>
            <a:ext cx="7162800" cy="990600"/>
            <a:chOff x="624" y="3552"/>
            <a:chExt cx="4512" cy="624"/>
          </a:xfrm>
        </p:grpSpPr>
        <p:grpSp>
          <p:nvGrpSpPr>
            <p:cNvPr id="5" name="Group 71"/>
            <p:cNvGrpSpPr>
              <a:grpSpLocks/>
            </p:cNvGrpSpPr>
            <p:nvPr/>
          </p:nvGrpSpPr>
          <p:grpSpPr bwMode="auto">
            <a:xfrm>
              <a:off x="624" y="3552"/>
              <a:ext cx="1632" cy="624"/>
              <a:chOff x="624" y="3552"/>
              <a:chExt cx="1632" cy="624"/>
            </a:xfrm>
          </p:grpSpPr>
          <p:grpSp>
            <p:nvGrpSpPr>
              <p:cNvPr id="6" name="Group 72"/>
              <p:cNvGrpSpPr>
                <a:grpSpLocks/>
              </p:cNvGrpSpPr>
              <p:nvPr/>
            </p:nvGrpSpPr>
            <p:grpSpPr bwMode="auto">
              <a:xfrm>
                <a:off x="1008" y="3552"/>
                <a:ext cx="96" cy="96"/>
                <a:chOff x="1344" y="1660"/>
                <a:chExt cx="96" cy="96"/>
              </a:xfrm>
            </p:grpSpPr>
            <p:sp>
              <p:nvSpPr>
                <p:cNvPr id="28745" name="Line 73"/>
                <p:cNvSpPr>
                  <a:spLocks noChangeShapeType="1"/>
                </p:cNvSpPr>
                <p:nvPr/>
              </p:nvSpPr>
              <p:spPr bwMode="auto">
                <a:xfrm>
                  <a:off x="1344" y="17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28746" name="Line 74"/>
                <p:cNvSpPr>
                  <a:spLocks noChangeShapeType="1"/>
                </p:cNvSpPr>
                <p:nvPr/>
              </p:nvSpPr>
              <p:spPr bwMode="auto">
                <a:xfrm flipV="1">
                  <a:off x="1392" y="166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GB"/>
                </a:p>
              </p:txBody>
            </p:sp>
          </p:grpSp>
          <p:pic>
            <p:nvPicPr>
              <p:cNvPr id="28747" name="Picture 75" descr="untitled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1104" y="3621"/>
                <a:ext cx="192" cy="192"/>
              </a:xfrm>
              <a:prstGeom prst="rect">
                <a:avLst/>
              </a:prstGeom>
              <a:noFill/>
            </p:spPr>
          </p:pic>
          <p:sp>
            <p:nvSpPr>
              <p:cNvPr id="28748" name="Line 76"/>
              <p:cNvSpPr>
                <a:spLocks noChangeShapeType="1"/>
              </p:cNvSpPr>
              <p:nvPr/>
            </p:nvSpPr>
            <p:spPr bwMode="auto">
              <a:xfrm>
                <a:off x="1056" y="3861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8749" name="Line 77"/>
              <p:cNvSpPr>
                <a:spLocks noChangeShapeType="1"/>
              </p:cNvSpPr>
              <p:nvPr/>
            </p:nvSpPr>
            <p:spPr bwMode="auto">
              <a:xfrm flipV="1">
                <a:off x="1200" y="3813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8750" name="Line 78"/>
              <p:cNvSpPr>
                <a:spLocks noChangeShapeType="1"/>
              </p:cNvSpPr>
              <p:nvPr/>
            </p:nvSpPr>
            <p:spPr bwMode="auto">
              <a:xfrm>
                <a:off x="624" y="3696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8751" name="Line 79"/>
              <p:cNvSpPr>
                <a:spLocks noChangeShapeType="1"/>
              </p:cNvSpPr>
              <p:nvPr/>
            </p:nvSpPr>
            <p:spPr bwMode="auto">
              <a:xfrm>
                <a:off x="1296" y="3696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7" name="Group 80"/>
              <p:cNvGrpSpPr>
                <a:grpSpLocks/>
              </p:cNvGrpSpPr>
              <p:nvPr/>
            </p:nvGrpSpPr>
            <p:grpSpPr bwMode="auto">
              <a:xfrm>
                <a:off x="1536" y="3552"/>
                <a:ext cx="96" cy="96"/>
                <a:chOff x="1344" y="1660"/>
                <a:chExt cx="96" cy="96"/>
              </a:xfrm>
            </p:grpSpPr>
            <p:sp>
              <p:nvSpPr>
                <p:cNvPr id="28753" name="Line 81"/>
                <p:cNvSpPr>
                  <a:spLocks noChangeShapeType="1"/>
                </p:cNvSpPr>
                <p:nvPr/>
              </p:nvSpPr>
              <p:spPr bwMode="auto">
                <a:xfrm>
                  <a:off x="1344" y="17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28754" name="Line 82"/>
                <p:cNvSpPr>
                  <a:spLocks noChangeShapeType="1"/>
                </p:cNvSpPr>
                <p:nvPr/>
              </p:nvSpPr>
              <p:spPr bwMode="auto">
                <a:xfrm flipV="1">
                  <a:off x="1392" y="166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GB"/>
                </a:p>
              </p:txBody>
            </p:sp>
          </p:grpSp>
          <p:pic>
            <p:nvPicPr>
              <p:cNvPr id="28755" name="Picture 83" descr="untitled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1632" y="3621"/>
                <a:ext cx="192" cy="192"/>
              </a:xfrm>
              <a:prstGeom prst="rect">
                <a:avLst/>
              </a:prstGeom>
              <a:noFill/>
            </p:spPr>
          </p:pic>
          <p:sp>
            <p:nvSpPr>
              <p:cNvPr id="28756" name="Line 84"/>
              <p:cNvSpPr>
                <a:spLocks noChangeShapeType="1"/>
              </p:cNvSpPr>
              <p:nvPr/>
            </p:nvSpPr>
            <p:spPr bwMode="auto">
              <a:xfrm>
                <a:off x="1584" y="3861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8757" name="Line 85"/>
              <p:cNvSpPr>
                <a:spLocks noChangeShapeType="1"/>
              </p:cNvSpPr>
              <p:nvPr/>
            </p:nvSpPr>
            <p:spPr bwMode="auto">
              <a:xfrm flipV="1">
                <a:off x="1728" y="3813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8758" name="Line 86"/>
              <p:cNvSpPr>
                <a:spLocks noChangeShapeType="1"/>
              </p:cNvSpPr>
              <p:nvPr/>
            </p:nvSpPr>
            <p:spPr bwMode="auto">
              <a:xfrm>
                <a:off x="1824" y="3696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graphicFrame>
            <p:nvGraphicFramePr>
              <p:cNvPr id="28759" name="Object 87"/>
              <p:cNvGraphicFramePr>
                <a:graphicFrameLocks noChangeAspect="1"/>
              </p:cNvGraphicFramePr>
              <p:nvPr/>
            </p:nvGraphicFramePr>
            <p:xfrm>
              <a:off x="912" y="3744"/>
              <a:ext cx="133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9" imgW="152280" imgH="164880" progId="Equation.3">
                      <p:embed/>
                    </p:oleObj>
                  </mc:Choice>
                  <mc:Fallback>
                    <p:oleObj name="Equation" r:id="rId9" imgW="152280" imgH="1648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12" y="3744"/>
                            <a:ext cx="133" cy="14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00FF99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8760" name="Object 88"/>
              <p:cNvGraphicFramePr>
                <a:graphicFrameLocks noChangeAspect="1"/>
              </p:cNvGraphicFramePr>
              <p:nvPr/>
            </p:nvGraphicFramePr>
            <p:xfrm>
              <a:off x="1787" y="3744"/>
              <a:ext cx="133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152280" imgH="164880" progId="Equation.3">
                      <p:embed/>
                    </p:oleObj>
                  </mc:Choice>
                  <mc:Fallback>
                    <p:oleObj name="Equation" r:id="rId11" imgW="152280" imgH="1648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87" y="3744"/>
                            <a:ext cx="133" cy="14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hlink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8" name="Group 89"/>
            <p:cNvGrpSpPr>
              <a:grpSpLocks/>
            </p:cNvGrpSpPr>
            <p:nvPr/>
          </p:nvGrpSpPr>
          <p:grpSpPr bwMode="auto">
            <a:xfrm>
              <a:off x="3888" y="3552"/>
              <a:ext cx="96" cy="96"/>
              <a:chOff x="1344" y="1660"/>
              <a:chExt cx="96" cy="96"/>
            </a:xfrm>
          </p:grpSpPr>
          <p:sp>
            <p:nvSpPr>
              <p:cNvPr id="28762" name="Line 90"/>
              <p:cNvSpPr>
                <a:spLocks noChangeShapeType="1"/>
              </p:cNvSpPr>
              <p:nvPr/>
            </p:nvSpPr>
            <p:spPr bwMode="auto">
              <a:xfrm>
                <a:off x="1344" y="170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8763" name="Line 91"/>
              <p:cNvSpPr>
                <a:spLocks noChangeShapeType="1"/>
              </p:cNvSpPr>
              <p:nvPr/>
            </p:nvSpPr>
            <p:spPr bwMode="auto">
              <a:xfrm flipV="1">
                <a:off x="1392" y="166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</p:grpSp>
        <p:pic>
          <p:nvPicPr>
            <p:cNvPr id="28764" name="Picture 92" descr="untitled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984" y="3621"/>
              <a:ext cx="192" cy="192"/>
            </a:xfrm>
            <a:prstGeom prst="rect">
              <a:avLst/>
            </a:prstGeom>
            <a:noFill/>
          </p:spPr>
        </p:pic>
        <p:sp>
          <p:nvSpPr>
            <p:cNvPr id="28765" name="Line 93"/>
            <p:cNvSpPr>
              <a:spLocks noChangeShapeType="1"/>
            </p:cNvSpPr>
            <p:nvPr/>
          </p:nvSpPr>
          <p:spPr bwMode="auto">
            <a:xfrm>
              <a:off x="3936" y="3861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8766" name="Line 94"/>
            <p:cNvSpPr>
              <a:spLocks noChangeShapeType="1"/>
            </p:cNvSpPr>
            <p:nvPr/>
          </p:nvSpPr>
          <p:spPr bwMode="auto">
            <a:xfrm flipV="1">
              <a:off x="4080" y="3813"/>
              <a:ext cx="0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8767" name="Line 95"/>
            <p:cNvSpPr>
              <a:spLocks noChangeShapeType="1"/>
            </p:cNvSpPr>
            <p:nvPr/>
          </p:nvSpPr>
          <p:spPr bwMode="auto">
            <a:xfrm>
              <a:off x="3504" y="369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8768" name="Line 96"/>
            <p:cNvSpPr>
              <a:spLocks noChangeShapeType="1"/>
            </p:cNvSpPr>
            <p:nvPr/>
          </p:nvSpPr>
          <p:spPr bwMode="auto">
            <a:xfrm>
              <a:off x="4176" y="369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grpSp>
          <p:nvGrpSpPr>
            <p:cNvPr id="9" name="Group 97"/>
            <p:cNvGrpSpPr>
              <a:grpSpLocks/>
            </p:cNvGrpSpPr>
            <p:nvPr/>
          </p:nvGrpSpPr>
          <p:grpSpPr bwMode="auto">
            <a:xfrm>
              <a:off x="4416" y="3552"/>
              <a:ext cx="96" cy="96"/>
              <a:chOff x="1344" y="1660"/>
              <a:chExt cx="96" cy="96"/>
            </a:xfrm>
          </p:grpSpPr>
          <p:sp>
            <p:nvSpPr>
              <p:cNvPr id="28770" name="Line 98"/>
              <p:cNvSpPr>
                <a:spLocks noChangeShapeType="1"/>
              </p:cNvSpPr>
              <p:nvPr/>
            </p:nvSpPr>
            <p:spPr bwMode="auto">
              <a:xfrm>
                <a:off x="1344" y="170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8771" name="Line 99"/>
              <p:cNvSpPr>
                <a:spLocks noChangeShapeType="1"/>
              </p:cNvSpPr>
              <p:nvPr/>
            </p:nvSpPr>
            <p:spPr bwMode="auto">
              <a:xfrm flipV="1">
                <a:off x="1392" y="166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</p:grpSp>
        <p:pic>
          <p:nvPicPr>
            <p:cNvPr id="28772" name="Picture 100" descr="untitled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512" y="3621"/>
              <a:ext cx="192" cy="192"/>
            </a:xfrm>
            <a:prstGeom prst="rect">
              <a:avLst/>
            </a:prstGeom>
            <a:noFill/>
          </p:spPr>
        </p:pic>
        <p:sp>
          <p:nvSpPr>
            <p:cNvPr id="28773" name="Line 101"/>
            <p:cNvSpPr>
              <a:spLocks noChangeShapeType="1"/>
            </p:cNvSpPr>
            <p:nvPr/>
          </p:nvSpPr>
          <p:spPr bwMode="auto">
            <a:xfrm>
              <a:off x="4464" y="3861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8774" name="Line 102"/>
            <p:cNvSpPr>
              <a:spLocks noChangeShapeType="1"/>
            </p:cNvSpPr>
            <p:nvPr/>
          </p:nvSpPr>
          <p:spPr bwMode="auto">
            <a:xfrm flipV="1">
              <a:off x="4608" y="3813"/>
              <a:ext cx="0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28775" name="Line 103"/>
            <p:cNvSpPr>
              <a:spLocks noChangeShapeType="1"/>
            </p:cNvSpPr>
            <p:nvPr/>
          </p:nvSpPr>
          <p:spPr bwMode="auto">
            <a:xfrm>
              <a:off x="4704" y="369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graphicFrame>
          <p:nvGraphicFramePr>
            <p:cNvPr id="28776" name="Object 104"/>
            <p:cNvGraphicFramePr>
              <a:graphicFrameLocks noChangeAspect="1"/>
            </p:cNvGraphicFramePr>
            <p:nvPr/>
          </p:nvGraphicFramePr>
          <p:xfrm>
            <a:off x="4656" y="3744"/>
            <a:ext cx="133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52280" imgH="164880" progId="Equation.3">
                    <p:embed/>
                  </p:oleObj>
                </mc:Choice>
                <mc:Fallback>
                  <p:oleObj name="Equation" r:id="rId9" imgW="15228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3744"/>
                          <a:ext cx="133" cy="1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77" name="Object 105"/>
            <p:cNvGraphicFramePr>
              <a:graphicFrameLocks noChangeAspect="1"/>
            </p:cNvGraphicFramePr>
            <p:nvPr/>
          </p:nvGraphicFramePr>
          <p:xfrm>
            <a:off x="3840" y="3744"/>
            <a:ext cx="133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52280" imgH="164880" progId="Equation.3">
                    <p:embed/>
                  </p:oleObj>
                </mc:Choice>
                <mc:Fallback>
                  <p:oleObj name="Equation" r:id="rId11" imgW="15228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3744"/>
                          <a:ext cx="133" cy="1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78" name="AutoShape 106"/>
            <p:cNvSpPr>
              <a:spLocks noChangeArrowheads="1"/>
            </p:cNvSpPr>
            <p:nvPr/>
          </p:nvSpPr>
          <p:spPr bwMode="auto">
            <a:xfrm>
              <a:off x="2544" y="3696"/>
              <a:ext cx="720" cy="144"/>
            </a:xfrm>
            <a:prstGeom prst="leftRightArrow">
              <a:avLst>
                <a:gd name="adj1" fmla="val 50000"/>
                <a:gd name="adj2" fmla="val 10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28809" name="AutoShape 137"/>
          <p:cNvSpPr>
            <a:spLocks noChangeArrowheads="1"/>
          </p:cNvSpPr>
          <p:nvPr/>
        </p:nvSpPr>
        <p:spPr bwMode="auto">
          <a:xfrm>
            <a:off x="4067175" y="3141663"/>
            <a:ext cx="1143000" cy="228600"/>
          </a:xfrm>
          <a:prstGeom prst="leftRight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8810" name="Line 138"/>
          <p:cNvSpPr>
            <a:spLocks noChangeShapeType="1"/>
          </p:cNvSpPr>
          <p:nvPr/>
        </p:nvSpPr>
        <p:spPr bwMode="auto">
          <a:xfrm>
            <a:off x="609600" y="3217863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GB"/>
          </a:p>
        </p:txBody>
      </p:sp>
      <p:grpSp>
        <p:nvGrpSpPr>
          <p:cNvPr id="10" name="Group 139"/>
          <p:cNvGrpSpPr>
            <a:grpSpLocks/>
          </p:cNvGrpSpPr>
          <p:nvPr/>
        </p:nvGrpSpPr>
        <p:grpSpPr bwMode="auto">
          <a:xfrm>
            <a:off x="990600" y="2989263"/>
            <a:ext cx="152400" cy="152400"/>
            <a:chOff x="1344" y="1660"/>
            <a:chExt cx="96" cy="96"/>
          </a:xfrm>
        </p:grpSpPr>
        <p:sp>
          <p:nvSpPr>
            <p:cNvPr id="28812" name="Line 140"/>
            <p:cNvSpPr>
              <a:spLocks noChangeShapeType="1"/>
            </p:cNvSpPr>
            <p:nvPr/>
          </p:nvSpPr>
          <p:spPr bwMode="auto">
            <a:xfrm>
              <a:off x="1344" y="170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8813" name="Line 141"/>
            <p:cNvSpPr>
              <a:spLocks noChangeShapeType="1"/>
            </p:cNvSpPr>
            <p:nvPr/>
          </p:nvSpPr>
          <p:spPr bwMode="auto">
            <a:xfrm flipV="1">
              <a:off x="1392" y="166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</p:grpSp>
      <p:pic>
        <p:nvPicPr>
          <p:cNvPr id="28814" name="Picture 142" descr="untitle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3098800"/>
            <a:ext cx="304800" cy="304800"/>
          </a:xfrm>
          <a:prstGeom prst="rect">
            <a:avLst/>
          </a:prstGeom>
          <a:noFill/>
        </p:spPr>
      </p:pic>
      <p:sp>
        <p:nvSpPr>
          <p:cNvPr id="28815" name="Line 143"/>
          <p:cNvSpPr>
            <a:spLocks noChangeShapeType="1"/>
          </p:cNvSpPr>
          <p:nvPr/>
        </p:nvSpPr>
        <p:spPr bwMode="auto">
          <a:xfrm>
            <a:off x="1400175" y="3598863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28817" name="Line 145"/>
          <p:cNvSpPr>
            <a:spLocks noChangeShapeType="1"/>
          </p:cNvSpPr>
          <p:nvPr/>
        </p:nvSpPr>
        <p:spPr bwMode="auto">
          <a:xfrm flipV="1">
            <a:off x="1371600" y="3327400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8818" name="Rectangle 146"/>
          <p:cNvSpPr>
            <a:spLocks noChangeArrowheads="1"/>
          </p:cNvSpPr>
          <p:nvPr/>
        </p:nvSpPr>
        <p:spPr bwMode="auto">
          <a:xfrm>
            <a:off x="1981200" y="3022600"/>
            <a:ext cx="6858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graphicFrame>
        <p:nvGraphicFramePr>
          <p:cNvPr id="28819" name="Object 147"/>
          <p:cNvGraphicFramePr>
            <a:graphicFrameLocks noChangeAspect="1"/>
          </p:cNvGraphicFramePr>
          <p:nvPr/>
        </p:nvGraphicFramePr>
        <p:xfrm>
          <a:off x="2162175" y="3055938"/>
          <a:ext cx="42862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0440" imgH="241200" progId="Equation.3">
                  <p:embed/>
                </p:oleObj>
              </mc:Choice>
              <mc:Fallback>
                <p:oleObj name="Equation" r:id="rId3" imgW="19044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2175" y="3055938"/>
                        <a:ext cx="428625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820" name="Line 148"/>
          <p:cNvSpPr>
            <a:spLocks noChangeShapeType="1"/>
          </p:cNvSpPr>
          <p:nvPr/>
        </p:nvSpPr>
        <p:spPr bwMode="auto">
          <a:xfrm>
            <a:off x="1524000" y="321786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8821" name="Line 149"/>
          <p:cNvSpPr>
            <a:spLocks noChangeShapeType="1"/>
          </p:cNvSpPr>
          <p:nvPr/>
        </p:nvSpPr>
        <p:spPr bwMode="auto">
          <a:xfrm flipV="1">
            <a:off x="2667000" y="3217863"/>
            <a:ext cx="1171575" cy="9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graphicFrame>
        <p:nvGraphicFramePr>
          <p:cNvPr id="28823" name="Object 151"/>
          <p:cNvGraphicFramePr>
            <a:graphicFrameLocks noChangeAspect="1"/>
          </p:cNvGraphicFramePr>
          <p:nvPr/>
        </p:nvGraphicFramePr>
        <p:xfrm>
          <a:off x="1979613" y="3933825"/>
          <a:ext cx="849312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80880" imgH="164880" progId="Equation.3">
                  <p:embed/>
                </p:oleObj>
              </mc:Choice>
              <mc:Fallback>
                <p:oleObj name="Equation" r:id="rId13" imgW="380880" imgH="164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3933825"/>
                        <a:ext cx="849312" cy="366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826" name="Line 154"/>
          <p:cNvSpPr>
            <a:spLocks noChangeShapeType="1"/>
          </p:cNvSpPr>
          <p:nvPr/>
        </p:nvSpPr>
        <p:spPr bwMode="auto">
          <a:xfrm flipV="1">
            <a:off x="3275013" y="32131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8827" name="Rectangle 155"/>
          <p:cNvSpPr>
            <a:spLocks noChangeArrowheads="1"/>
          </p:cNvSpPr>
          <p:nvPr/>
        </p:nvSpPr>
        <p:spPr bwMode="auto">
          <a:xfrm>
            <a:off x="6276975" y="2989263"/>
            <a:ext cx="1600200" cy="76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graphicFrame>
        <p:nvGraphicFramePr>
          <p:cNvPr id="28828" name="Object 156"/>
          <p:cNvGraphicFramePr>
            <a:graphicFrameLocks noChangeAspect="1"/>
          </p:cNvGraphicFramePr>
          <p:nvPr/>
        </p:nvGraphicFramePr>
        <p:xfrm>
          <a:off x="6791325" y="2989263"/>
          <a:ext cx="668338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68280" imgH="393480" progId="Equation.3">
                  <p:embed/>
                </p:oleObj>
              </mc:Choice>
              <mc:Fallback>
                <p:oleObj name="Equation" r:id="rId15" imgW="3682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1325" y="2989263"/>
                        <a:ext cx="668338" cy="71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829" name="Line 157"/>
          <p:cNvSpPr>
            <a:spLocks noChangeShapeType="1"/>
          </p:cNvSpPr>
          <p:nvPr/>
        </p:nvSpPr>
        <p:spPr bwMode="auto">
          <a:xfrm>
            <a:off x="5362575" y="3294063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8830" name="Line 158"/>
          <p:cNvSpPr>
            <a:spLocks noChangeShapeType="1"/>
          </p:cNvSpPr>
          <p:nvPr/>
        </p:nvSpPr>
        <p:spPr bwMode="auto">
          <a:xfrm>
            <a:off x="7877175" y="3294063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grpSp>
        <p:nvGrpSpPr>
          <p:cNvPr id="11" name="Group 159"/>
          <p:cNvGrpSpPr>
            <a:grpSpLocks/>
          </p:cNvGrpSpPr>
          <p:nvPr/>
        </p:nvGrpSpPr>
        <p:grpSpPr bwMode="auto">
          <a:xfrm>
            <a:off x="1400175" y="3370263"/>
            <a:ext cx="152400" cy="152400"/>
            <a:chOff x="1344" y="1660"/>
            <a:chExt cx="96" cy="96"/>
          </a:xfrm>
        </p:grpSpPr>
        <p:sp>
          <p:nvSpPr>
            <p:cNvPr id="28832" name="Line 160"/>
            <p:cNvSpPr>
              <a:spLocks noChangeShapeType="1"/>
            </p:cNvSpPr>
            <p:nvPr/>
          </p:nvSpPr>
          <p:spPr bwMode="auto">
            <a:xfrm>
              <a:off x="1344" y="170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8833" name="Line 161"/>
            <p:cNvSpPr>
              <a:spLocks noChangeShapeType="1"/>
            </p:cNvSpPr>
            <p:nvPr/>
          </p:nvSpPr>
          <p:spPr bwMode="auto">
            <a:xfrm flipV="1">
              <a:off x="1392" y="166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</p:grpSp>
      <p:sp>
        <p:nvSpPr>
          <p:cNvPr id="28835" name="Line 163"/>
          <p:cNvSpPr>
            <a:spLocks noChangeShapeType="1"/>
          </p:cNvSpPr>
          <p:nvPr/>
        </p:nvSpPr>
        <p:spPr bwMode="auto">
          <a:xfrm flipH="1">
            <a:off x="1401188" y="3902365"/>
            <a:ext cx="187452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8808941"/>
      </p:ext>
    </p:extLst>
  </p:cSld>
  <p:clrMapOvr>
    <a:masterClrMapping/>
  </p:clrMapOvr>
  <p:transition advTm="16953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4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305800" cy="506320"/>
          </a:xfrm>
        </p:spPr>
        <p:txBody>
          <a:bodyPr>
            <a:normAutofit fontScale="90000"/>
          </a:bodyPr>
          <a:lstStyle/>
          <a:p>
            <a:r>
              <a:rPr lang="en-GB" sz="2800" dirty="0"/>
              <a:t>Example-4: Reduce the Block Diagram to </a:t>
            </a:r>
            <a:r>
              <a:rPr lang="en-GB" sz="2800" dirty="0">
                <a:solidFill>
                  <a:srgbClr val="FF0000"/>
                </a:solidFill>
              </a:rPr>
              <a:t>Canonical Form</a:t>
            </a:r>
            <a:r>
              <a:rPr lang="en-GB" sz="2800" dirty="0"/>
              <a:t>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" y="1124744"/>
            <a:ext cx="7391400" cy="256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8403" y="4653136"/>
            <a:ext cx="5495925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5784676"/>
            <a:ext cx="5810250" cy="102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4" name="TextBox 3"/>
          <p:cNvSpPr txBox="1"/>
          <p:nvPr/>
        </p:nvSpPr>
        <p:spPr>
          <a:xfrm>
            <a:off x="179512" y="4077072"/>
            <a:ext cx="4087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Combine all cascade block using rule-1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879" y="5301208"/>
            <a:ext cx="4156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Combine all parallel block using rule-2</a:t>
            </a:r>
          </a:p>
        </p:txBody>
      </p:sp>
    </p:spTree>
    <p:extLst>
      <p:ext uri="{BB962C8B-B14F-4D97-AF65-F5344CB8AC3E}">
        <p14:creationId xmlns:p14="http://schemas.microsoft.com/office/powerpoint/2010/main" val="2111794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305800" cy="506320"/>
          </a:xfrm>
        </p:spPr>
        <p:txBody>
          <a:bodyPr>
            <a:normAutofit fontScale="90000"/>
          </a:bodyPr>
          <a:lstStyle/>
          <a:p>
            <a:r>
              <a:rPr lang="en-GB" sz="2800" dirty="0"/>
              <a:t>Example-4: Reduce the Block Diagram to </a:t>
            </a:r>
            <a:r>
              <a:rPr lang="en-GB" sz="2800" dirty="0">
                <a:solidFill>
                  <a:srgbClr val="FF0000"/>
                </a:solidFill>
              </a:rPr>
              <a:t>Canonical Form</a:t>
            </a:r>
            <a:r>
              <a:rPr lang="en-GB" sz="2800" dirty="0"/>
              <a:t>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" y="908720"/>
            <a:ext cx="7391400" cy="256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15</a:t>
            </a:fld>
            <a:endParaRPr lang="en-GB"/>
          </a:p>
        </p:txBody>
      </p:sp>
      <p:grpSp>
        <p:nvGrpSpPr>
          <p:cNvPr id="8" name="Group 7"/>
          <p:cNvGrpSpPr/>
          <p:nvPr/>
        </p:nvGrpSpPr>
        <p:grpSpPr>
          <a:xfrm>
            <a:off x="1007352" y="4323159"/>
            <a:ext cx="7391400" cy="2562225"/>
            <a:chOff x="1007352" y="4323159"/>
            <a:chExt cx="7391400" cy="2562225"/>
          </a:xfrm>
        </p:grpSpPr>
        <p:pic>
          <p:nvPicPr>
            <p:cNvPr id="9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7352" y="4323159"/>
              <a:ext cx="7391400" cy="2562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Rectangle 5"/>
            <p:cNvSpPr/>
            <p:nvPr/>
          </p:nvSpPr>
          <p:spPr>
            <a:xfrm>
              <a:off x="3203848" y="4827215"/>
              <a:ext cx="1656184" cy="777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364088" y="4408927"/>
              <a:ext cx="2088232" cy="12811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3643436" y="5015688"/>
                  <a:ext cx="77700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3436" y="5015688"/>
                  <a:ext cx="777008" cy="400110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7692" r="-11811" b="-2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6019700" y="4855826"/>
                  <a:ext cx="1096839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9700" y="4855826"/>
                  <a:ext cx="1096839" cy="400110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7692" r="-8333" b="-2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Down Arrow 10"/>
          <p:cNvSpPr/>
          <p:nvPr/>
        </p:nvSpPr>
        <p:spPr>
          <a:xfrm>
            <a:off x="4699428" y="3540220"/>
            <a:ext cx="216024" cy="93798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8759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305800" cy="708688"/>
          </a:xfrm>
        </p:spPr>
        <p:txBody>
          <a:bodyPr>
            <a:normAutofit/>
          </a:bodyPr>
          <a:lstStyle/>
          <a:p>
            <a:r>
              <a:rPr lang="en-GB" sz="2800" dirty="0"/>
              <a:t>Example-4: Continue.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359" y="1484784"/>
            <a:ext cx="6096000" cy="1171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782"/>
          <a:stretch/>
        </p:blipFill>
        <p:spPr bwMode="auto">
          <a:xfrm>
            <a:off x="2243839" y="3356991"/>
            <a:ext cx="4653345" cy="145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200025" y="816097"/>
            <a:ext cx="4855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Eliminate all minor feedback loops using rule-7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2852936"/>
            <a:ext cx="9277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After the elimination of minor feedback loop the block diagram is reduced to as shown below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094" y="4814316"/>
            <a:ext cx="5416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Again blocks are in cascade are removed using rule-1</a:t>
            </a:r>
          </a:p>
        </p:txBody>
      </p:sp>
      <p:pic>
        <p:nvPicPr>
          <p:cNvPr id="16" name="Picture 7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484" r="-1888"/>
          <a:stretch/>
        </p:blipFill>
        <p:spPr bwMode="auto">
          <a:xfrm>
            <a:off x="2996216" y="5194977"/>
            <a:ext cx="3532909" cy="145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01011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854968"/>
          </a:xfrm>
        </p:spPr>
        <p:txBody>
          <a:bodyPr/>
          <a:lstStyle/>
          <a:p>
            <a:r>
              <a:rPr lang="en-GB" dirty="0"/>
              <a:t>Example-5 (Home Work)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96" y="764704"/>
            <a:ext cx="8640960" cy="4525963"/>
          </a:xfrm>
        </p:spPr>
        <p:txBody>
          <a:bodyPr>
            <a:normAutofit/>
          </a:bodyPr>
          <a:lstStyle/>
          <a:p>
            <a:pPr algn="just"/>
            <a:r>
              <a:rPr lang="en-GB" sz="2400" dirty="0"/>
              <a:t>For the system represented by the following block diagram determine: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GB" sz="2000" dirty="0"/>
              <a:t>Open loop transfer function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GB" sz="2000" dirty="0"/>
              <a:t>Feed Forward Transfer function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GB" sz="2000" dirty="0"/>
              <a:t>control ratio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GB" sz="2000" dirty="0"/>
              <a:t>feedback ratio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GB" sz="2000" dirty="0"/>
              <a:t>error ratio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GB" sz="2000" dirty="0"/>
              <a:t>closed loop transfer function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GB" sz="2000" dirty="0"/>
              <a:t>characteristic equation 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GB" sz="2000" dirty="0"/>
              <a:t>closed loop poles and zeros if K=100.   </a:t>
            </a:r>
          </a:p>
        </p:txBody>
      </p:sp>
      <p:pic>
        <p:nvPicPr>
          <p:cNvPr id="1034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664" y="4648200"/>
            <a:ext cx="6524625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17</a:t>
            </a:fld>
            <a:endParaRPr lang="en-GB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9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8839200" cy="1143000"/>
          </a:xfrm>
        </p:spPr>
        <p:txBody>
          <a:bodyPr/>
          <a:lstStyle/>
          <a:p>
            <a:pPr eaLnBrk="1" hangingPunct="1"/>
            <a:r>
              <a:rPr lang="en-US" dirty="0"/>
              <a:t>Example-6</a:t>
            </a:r>
          </a:p>
        </p:txBody>
      </p:sp>
      <p:sp>
        <p:nvSpPr>
          <p:cNvPr id="5130" name="Rectangle 3"/>
          <p:cNvSpPr>
            <a:spLocks noChangeArrowheads="1"/>
          </p:cNvSpPr>
          <p:nvPr/>
        </p:nvSpPr>
        <p:spPr bwMode="auto">
          <a:xfrm>
            <a:off x="3581400" y="2743200"/>
            <a:ext cx="762000" cy="10668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122" name="Object 4"/>
          <p:cNvGraphicFramePr>
            <a:graphicFrameLocks noChangeAspect="1"/>
          </p:cNvGraphicFramePr>
          <p:nvPr/>
        </p:nvGraphicFramePr>
        <p:xfrm>
          <a:off x="228600" y="2667000"/>
          <a:ext cx="39052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80" imgH="164880" progId="Equation.3">
                  <p:embed/>
                </p:oleObj>
              </mc:Choice>
              <mc:Fallback>
                <p:oleObj name="Equation" r:id="rId2" imgW="152280" imgH="1648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667000"/>
                        <a:ext cx="390525" cy="425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838200" y="2819400"/>
            <a:ext cx="914400" cy="914400"/>
            <a:chOff x="768" y="2352"/>
            <a:chExt cx="672" cy="672"/>
          </a:xfrm>
        </p:grpSpPr>
        <p:sp>
          <p:nvSpPr>
            <p:cNvPr id="5166" name="Oval 6"/>
            <p:cNvSpPr>
              <a:spLocks noChangeArrowheads="1"/>
            </p:cNvSpPr>
            <p:nvPr/>
          </p:nvSpPr>
          <p:spPr bwMode="auto">
            <a:xfrm rot="2721666">
              <a:off x="768" y="2352"/>
              <a:ext cx="672" cy="67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7" name="Line 7"/>
            <p:cNvSpPr>
              <a:spLocks noChangeShapeType="1"/>
            </p:cNvSpPr>
            <p:nvPr/>
          </p:nvSpPr>
          <p:spPr bwMode="auto">
            <a:xfrm rot="2721666">
              <a:off x="1104" y="2352"/>
              <a:ext cx="0" cy="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68" name="Line 8"/>
            <p:cNvSpPr>
              <a:spLocks noChangeShapeType="1"/>
            </p:cNvSpPr>
            <p:nvPr/>
          </p:nvSpPr>
          <p:spPr bwMode="auto">
            <a:xfrm rot="2721666">
              <a:off x="768" y="2688"/>
              <a:ext cx="6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69" name="Text Box 9"/>
            <p:cNvSpPr txBox="1">
              <a:spLocks noChangeArrowheads="1"/>
            </p:cNvSpPr>
            <p:nvPr/>
          </p:nvSpPr>
          <p:spPr bwMode="auto">
            <a:xfrm>
              <a:off x="992" y="2592"/>
              <a:ext cx="288" cy="3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800"/>
                <a:t>_</a:t>
              </a:r>
            </a:p>
          </p:txBody>
        </p:sp>
        <p:sp>
          <p:nvSpPr>
            <p:cNvPr id="5170" name="Text Box 10"/>
            <p:cNvSpPr txBox="1">
              <a:spLocks noChangeArrowheads="1"/>
            </p:cNvSpPr>
            <p:nvPr/>
          </p:nvSpPr>
          <p:spPr bwMode="auto">
            <a:xfrm>
              <a:off x="784" y="2520"/>
              <a:ext cx="288" cy="3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800"/>
                <a:t>+</a:t>
              </a:r>
            </a:p>
          </p:txBody>
        </p:sp>
      </p:grpSp>
      <p:sp>
        <p:nvSpPr>
          <p:cNvPr id="5132" name="Line 11"/>
          <p:cNvSpPr>
            <a:spLocks noChangeShapeType="1"/>
          </p:cNvSpPr>
          <p:nvPr/>
        </p:nvSpPr>
        <p:spPr bwMode="auto">
          <a:xfrm>
            <a:off x="228600" y="3276600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5133" name="Line 12"/>
          <p:cNvSpPr>
            <a:spLocks noChangeShapeType="1"/>
          </p:cNvSpPr>
          <p:nvPr/>
        </p:nvSpPr>
        <p:spPr bwMode="auto">
          <a:xfrm rot="-5400000">
            <a:off x="495300" y="4533900"/>
            <a:ext cx="1600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5134" name="Line 13"/>
          <p:cNvSpPr>
            <a:spLocks noChangeShapeType="1"/>
          </p:cNvSpPr>
          <p:nvPr/>
        </p:nvSpPr>
        <p:spPr bwMode="auto">
          <a:xfrm>
            <a:off x="2667000" y="4495800"/>
            <a:ext cx="2209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4800600" y="2540000"/>
            <a:ext cx="914400" cy="1193800"/>
            <a:chOff x="3024" y="1600"/>
            <a:chExt cx="576" cy="752"/>
          </a:xfrm>
        </p:grpSpPr>
        <p:sp>
          <p:nvSpPr>
            <p:cNvPr id="5161" name="Oval 15"/>
            <p:cNvSpPr>
              <a:spLocks noChangeArrowheads="1"/>
            </p:cNvSpPr>
            <p:nvPr/>
          </p:nvSpPr>
          <p:spPr bwMode="auto">
            <a:xfrm rot="2721666">
              <a:off x="3024" y="1776"/>
              <a:ext cx="576" cy="57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2" name="Line 16"/>
            <p:cNvSpPr>
              <a:spLocks noChangeShapeType="1"/>
            </p:cNvSpPr>
            <p:nvPr/>
          </p:nvSpPr>
          <p:spPr bwMode="auto">
            <a:xfrm rot="2721666">
              <a:off x="3312" y="1776"/>
              <a:ext cx="0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63" name="Line 17"/>
            <p:cNvSpPr>
              <a:spLocks noChangeShapeType="1"/>
            </p:cNvSpPr>
            <p:nvPr/>
          </p:nvSpPr>
          <p:spPr bwMode="auto">
            <a:xfrm rot="2721666">
              <a:off x="3024" y="2064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64" name="Text Box 18"/>
            <p:cNvSpPr txBox="1">
              <a:spLocks noChangeArrowheads="1"/>
            </p:cNvSpPr>
            <p:nvPr/>
          </p:nvSpPr>
          <p:spPr bwMode="auto">
            <a:xfrm>
              <a:off x="3200" y="1600"/>
              <a:ext cx="24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800"/>
                <a:t>_</a:t>
              </a:r>
            </a:p>
          </p:txBody>
        </p:sp>
        <p:sp>
          <p:nvSpPr>
            <p:cNvPr id="5165" name="Text Box 19"/>
            <p:cNvSpPr txBox="1">
              <a:spLocks noChangeArrowheads="1"/>
            </p:cNvSpPr>
            <p:nvPr/>
          </p:nvSpPr>
          <p:spPr bwMode="auto">
            <a:xfrm>
              <a:off x="3030" y="1896"/>
              <a:ext cx="24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800"/>
                <a:t>+</a:t>
              </a:r>
            </a:p>
          </p:txBody>
        </p:sp>
      </p:grpSp>
      <p:sp>
        <p:nvSpPr>
          <p:cNvPr id="5136" name="Line 20"/>
          <p:cNvSpPr>
            <a:spLocks noChangeShapeType="1"/>
          </p:cNvSpPr>
          <p:nvPr/>
        </p:nvSpPr>
        <p:spPr bwMode="auto">
          <a:xfrm>
            <a:off x="1752600" y="3276600"/>
            <a:ext cx="457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5137" name="Line 21"/>
          <p:cNvSpPr>
            <a:spLocks noChangeShapeType="1"/>
          </p:cNvSpPr>
          <p:nvPr/>
        </p:nvSpPr>
        <p:spPr bwMode="auto">
          <a:xfrm>
            <a:off x="3124200" y="3276600"/>
            <a:ext cx="457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5138" name="Rectangle 22"/>
          <p:cNvSpPr>
            <a:spLocks noChangeArrowheads="1"/>
          </p:cNvSpPr>
          <p:nvPr/>
        </p:nvSpPr>
        <p:spPr bwMode="auto">
          <a:xfrm>
            <a:off x="6172200" y="2743200"/>
            <a:ext cx="762000" cy="10668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39" name="Rectangle 23"/>
          <p:cNvSpPr>
            <a:spLocks noChangeArrowheads="1"/>
          </p:cNvSpPr>
          <p:nvPr/>
        </p:nvSpPr>
        <p:spPr bwMode="auto">
          <a:xfrm>
            <a:off x="7543800" y="2743200"/>
            <a:ext cx="762000" cy="10668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40" name="Line 24"/>
          <p:cNvSpPr>
            <a:spLocks noChangeShapeType="1"/>
          </p:cNvSpPr>
          <p:nvPr/>
        </p:nvSpPr>
        <p:spPr bwMode="auto">
          <a:xfrm>
            <a:off x="4343400" y="3276600"/>
            <a:ext cx="457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5141" name="Line 25"/>
          <p:cNvSpPr>
            <a:spLocks noChangeShapeType="1"/>
          </p:cNvSpPr>
          <p:nvPr/>
        </p:nvSpPr>
        <p:spPr bwMode="auto">
          <a:xfrm>
            <a:off x="6934200" y="3276600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5142" name="Line 26"/>
          <p:cNvSpPr>
            <a:spLocks noChangeShapeType="1"/>
          </p:cNvSpPr>
          <p:nvPr/>
        </p:nvSpPr>
        <p:spPr bwMode="auto">
          <a:xfrm>
            <a:off x="5715000" y="3276600"/>
            <a:ext cx="457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5143" name="Line 27"/>
          <p:cNvSpPr>
            <a:spLocks noChangeShapeType="1"/>
          </p:cNvSpPr>
          <p:nvPr/>
        </p:nvSpPr>
        <p:spPr bwMode="auto">
          <a:xfrm>
            <a:off x="8305800" y="3276600"/>
            <a:ext cx="685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123" name="Object 28"/>
          <p:cNvGraphicFramePr>
            <a:graphicFrameLocks noChangeAspect="1"/>
          </p:cNvGraphicFramePr>
          <p:nvPr/>
        </p:nvGraphicFramePr>
        <p:xfrm>
          <a:off x="3733800" y="3048000"/>
          <a:ext cx="455613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7480" imgH="215640" progId="Equation.3">
                  <p:embed/>
                </p:oleObj>
              </mc:Choice>
              <mc:Fallback>
                <p:oleObj name="Equation" r:id="rId4" imgW="177480" imgH="21564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3048000"/>
                        <a:ext cx="455613" cy="555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29"/>
          <p:cNvGraphicFramePr>
            <a:graphicFrameLocks noChangeAspect="1"/>
          </p:cNvGraphicFramePr>
          <p:nvPr/>
        </p:nvGraphicFramePr>
        <p:xfrm>
          <a:off x="6292850" y="3048000"/>
          <a:ext cx="5207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3040" imgH="215640" progId="Equation.3">
                  <p:embed/>
                </p:oleObj>
              </mc:Choice>
              <mc:Fallback>
                <p:oleObj name="Equation" r:id="rId6" imgW="203040" imgH="21564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2850" y="3048000"/>
                        <a:ext cx="520700" cy="555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5" name="Object 30"/>
          <p:cNvGraphicFramePr>
            <a:graphicFrameLocks noChangeAspect="1"/>
          </p:cNvGraphicFramePr>
          <p:nvPr/>
        </p:nvGraphicFramePr>
        <p:xfrm>
          <a:off x="7635875" y="3032125"/>
          <a:ext cx="488950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0440" imgH="228600" progId="Equation.3">
                  <p:embed/>
                </p:oleObj>
              </mc:Choice>
              <mc:Fallback>
                <p:oleObj name="Equation" r:id="rId8" imgW="190440" imgH="22860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5875" y="3032125"/>
                        <a:ext cx="488950" cy="588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44" name="Line 31"/>
          <p:cNvSpPr>
            <a:spLocks noChangeShapeType="1"/>
          </p:cNvSpPr>
          <p:nvPr/>
        </p:nvSpPr>
        <p:spPr bwMode="auto">
          <a:xfrm rot="-5400000">
            <a:off x="2286000" y="4114800"/>
            <a:ext cx="762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5145" name="Rectangle 32"/>
          <p:cNvSpPr>
            <a:spLocks noChangeArrowheads="1"/>
          </p:cNvSpPr>
          <p:nvPr/>
        </p:nvSpPr>
        <p:spPr bwMode="auto">
          <a:xfrm>
            <a:off x="4876800" y="3962400"/>
            <a:ext cx="762000" cy="10668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126" name="Object 33"/>
          <p:cNvGraphicFramePr>
            <a:graphicFrameLocks noChangeAspect="1"/>
          </p:cNvGraphicFramePr>
          <p:nvPr/>
        </p:nvGraphicFramePr>
        <p:xfrm>
          <a:off x="4997450" y="4267200"/>
          <a:ext cx="5207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3040" imgH="215640" progId="Equation.3">
                  <p:embed/>
                </p:oleObj>
              </mc:Choice>
              <mc:Fallback>
                <p:oleObj name="Equation" r:id="rId10" imgW="203040" imgH="21564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7450" y="4267200"/>
                        <a:ext cx="520700" cy="555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46" name="Line 34"/>
          <p:cNvSpPr>
            <a:spLocks noChangeShapeType="1"/>
          </p:cNvSpPr>
          <p:nvPr/>
        </p:nvSpPr>
        <p:spPr bwMode="auto">
          <a:xfrm>
            <a:off x="5638800" y="4495800"/>
            <a:ext cx="1447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5147" name="Line 35"/>
          <p:cNvSpPr>
            <a:spLocks noChangeShapeType="1"/>
          </p:cNvSpPr>
          <p:nvPr/>
        </p:nvSpPr>
        <p:spPr bwMode="auto">
          <a:xfrm rot="-5400000">
            <a:off x="6477000" y="3886200"/>
            <a:ext cx="1219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5148" name="Line 36"/>
          <p:cNvSpPr>
            <a:spLocks noChangeShapeType="1"/>
          </p:cNvSpPr>
          <p:nvPr/>
        </p:nvSpPr>
        <p:spPr bwMode="auto">
          <a:xfrm>
            <a:off x="1295400" y="5334000"/>
            <a:ext cx="7239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5149" name="Line 37"/>
          <p:cNvSpPr>
            <a:spLocks noChangeShapeType="1"/>
          </p:cNvSpPr>
          <p:nvPr/>
        </p:nvSpPr>
        <p:spPr bwMode="auto">
          <a:xfrm rot="-5400000">
            <a:off x="7505700" y="4305300"/>
            <a:ext cx="20574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5150" name="Line 38"/>
          <p:cNvSpPr>
            <a:spLocks noChangeShapeType="1"/>
          </p:cNvSpPr>
          <p:nvPr/>
        </p:nvSpPr>
        <p:spPr bwMode="auto">
          <a:xfrm rot="-5400000">
            <a:off x="7848600" y="2590800"/>
            <a:ext cx="1371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5151" name="Rectangle 39"/>
          <p:cNvSpPr>
            <a:spLocks noChangeArrowheads="1"/>
          </p:cNvSpPr>
          <p:nvPr/>
        </p:nvSpPr>
        <p:spPr bwMode="auto">
          <a:xfrm>
            <a:off x="6400800" y="1371600"/>
            <a:ext cx="762000" cy="10668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127" name="Object 40"/>
          <p:cNvGraphicFramePr>
            <a:graphicFrameLocks noChangeAspect="1"/>
          </p:cNvGraphicFramePr>
          <p:nvPr/>
        </p:nvGraphicFramePr>
        <p:xfrm>
          <a:off x="6489700" y="1676400"/>
          <a:ext cx="585788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28600" imgH="215640" progId="Equation.3">
                  <p:embed/>
                </p:oleObj>
              </mc:Choice>
              <mc:Fallback>
                <p:oleObj name="Equation" r:id="rId12" imgW="228600" imgH="21564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9700" y="1676400"/>
                        <a:ext cx="585788" cy="555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52" name="Line 41"/>
          <p:cNvSpPr>
            <a:spLocks noChangeShapeType="1"/>
          </p:cNvSpPr>
          <p:nvPr/>
        </p:nvSpPr>
        <p:spPr bwMode="auto">
          <a:xfrm>
            <a:off x="7162800" y="1905000"/>
            <a:ext cx="1371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5153" name="Line 42"/>
          <p:cNvSpPr>
            <a:spLocks noChangeShapeType="1"/>
          </p:cNvSpPr>
          <p:nvPr/>
        </p:nvSpPr>
        <p:spPr bwMode="auto">
          <a:xfrm>
            <a:off x="5257800" y="1905000"/>
            <a:ext cx="1143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5154" name="Line 43"/>
          <p:cNvSpPr>
            <a:spLocks noChangeShapeType="1"/>
          </p:cNvSpPr>
          <p:nvPr/>
        </p:nvSpPr>
        <p:spPr bwMode="auto">
          <a:xfrm rot="-5400000" flipH="1" flipV="1">
            <a:off x="4800600" y="2362200"/>
            <a:ext cx="9144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4"/>
          <p:cNvGrpSpPr>
            <a:grpSpLocks/>
          </p:cNvGrpSpPr>
          <p:nvPr/>
        </p:nvGrpSpPr>
        <p:grpSpPr bwMode="auto">
          <a:xfrm>
            <a:off x="2209800" y="2819400"/>
            <a:ext cx="914400" cy="963613"/>
            <a:chOff x="1392" y="1776"/>
            <a:chExt cx="576" cy="607"/>
          </a:xfrm>
        </p:grpSpPr>
        <p:sp>
          <p:nvSpPr>
            <p:cNvPr id="5156" name="Oval 45"/>
            <p:cNvSpPr>
              <a:spLocks noChangeArrowheads="1"/>
            </p:cNvSpPr>
            <p:nvPr/>
          </p:nvSpPr>
          <p:spPr bwMode="auto">
            <a:xfrm rot="2721666">
              <a:off x="1392" y="1776"/>
              <a:ext cx="576" cy="57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7" name="Line 46"/>
            <p:cNvSpPr>
              <a:spLocks noChangeShapeType="1"/>
            </p:cNvSpPr>
            <p:nvPr/>
          </p:nvSpPr>
          <p:spPr bwMode="auto">
            <a:xfrm rot="2721666">
              <a:off x="1680" y="1776"/>
              <a:ext cx="0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58" name="Line 47"/>
            <p:cNvSpPr>
              <a:spLocks noChangeShapeType="1"/>
            </p:cNvSpPr>
            <p:nvPr/>
          </p:nvSpPr>
          <p:spPr bwMode="auto">
            <a:xfrm rot="2721666">
              <a:off x="1392" y="2064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59" name="Text Box 48"/>
            <p:cNvSpPr txBox="1">
              <a:spLocks noChangeArrowheads="1"/>
            </p:cNvSpPr>
            <p:nvPr/>
          </p:nvSpPr>
          <p:spPr bwMode="auto">
            <a:xfrm>
              <a:off x="1406" y="1920"/>
              <a:ext cx="24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800"/>
                <a:t>+</a:t>
              </a:r>
            </a:p>
          </p:txBody>
        </p:sp>
        <p:sp>
          <p:nvSpPr>
            <p:cNvPr id="5160" name="Text Box 49"/>
            <p:cNvSpPr txBox="1">
              <a:spLocks noChangeArrowheads="1"/>
            </p:cNvSpPr>
            <p:nvPr/>
          </p:nvSpPr>
          <p:spPr bwMode="auto">
            <a:xfrm>
              <a:off x="1558" y="2056"/>
              <a:ext cx="24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800"/>
                <a:t>+</a:t>
              </a:r>
            </a:p>
          </p:txBody>
        </p:sp>
      </p:grpSp>
      <p:graphicFrame>
        <p:nvGraphicFramePr>
          <p:cNvPr id="5128" name="Object 50"/>
          <p:cNvGraphicFramePr>
            <a:graphicFrameLocks noChangeAspect="1"/>
          </p:cNvGraphicFramePr>
          <p:nvPr/>
        </p:nvGraphicFramePr>
        <p:xfrm>
          <a:off x="8610600" y="2574925"/>
          <a:ext cx="3905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2280" imgH="177480" progId="Equation.3">
                  <p:embed/>
                </p:oleObj>
              </mc:Choice>
              <mc:Fallback>
                <p:oleObj name="Equation" r:id="rId14" imgW="152280" imgH="177480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0600" y="2574925"/>
                        <a:ext cx="39052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18</a:t>
            </a:fld>
            <a:endParaRPr lang="en-GB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8839200" cy="1143000"/>
          </a:xfrm>
        </p:spPr>
        <p:txBody>
          <a:bodyPr/>
          <a:lstStyle/>
          <a:p>
            <a:r>
              <a:rPr lang="en-US" dirty="0"/>
              <a:t>Example-6</a:t>
            </a:r>
          </a:p>
        </p:txBody>
      </p:sp>
      <p:sp>
        <p:nvSpPr>
          <p:cNvPr id="6154" name="Rectangle 3"/>
          <p:cNvSpPr>
            <a:spLocks noChangeArrowheads="1"/>
          </p:cNvSpPr>
          <p:nvPr/>
        </p:nvSpPr>
        <p:spPr bwMode="auto">
          <a:xfrm>
            <a:off x="4953000" y="2743200"/>
            <a:ext cx="762000" cy="10668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146" name="Object 4"/>
          <p:cNvGraphicFramePr>
            <a:graphicFrameLocks noChangeAspect="1"/>
          </p:cNvGraphicFramePr>
          <p:nvPr/>
        </p:nvGraphicFramePr>
        <p:xfrm>
          <a:off x="228600" y="2667000"/>
          <a:ext cx="39052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80" imgH="164880" progId="Equation.3">
                  <p:embed/>
                </p:oleObj>
              </mc:Choice>
              <mc:Fallback>
                <p:oleObj name="Equation" r:id="rId2" imgW="152280" imgH="1648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667000"/>
                        <a:ext cx="390525" cy="425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838200" y="2819400"/>
            <a:ext cx="914400" cy="914400"/>
            <a:chOff x="768" y="2352"/>
            <a:chExt cx="672" cy="672"/>
          </a:xfrm>
        </p:grpSpPr>
        <p:sp>
          <p:nvSpPr>
            <p:cNvPr id="6189" name="Oval 6"/>
            <p:cNvSpPr>
              <a:spLocks noChangeArrowheads="1"/>
            </p:cNvSpPr>
            <p:nvPr/>
          </p:nvSpPr>
          <p:spPr bwMode="auto">
            <a:xfrm rot="2721666">
              <a:off x="768" y="2352"/>
              <a:ext cx="672" cy="67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90" name="Line 7"/>
            <p:cNvSpPr>
              <a:spLocks noChangeShapeType="1"/>
            </p:cNvSpPr>
            <p:nvPr/>
          </p:nvSpPr>
          <p:spPr bwMode="auto">
            <a:xfrm rot="2721666">
              <a:off x="1104" y="2352"/>
              <a:ext cx="0" cy="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91" name="Line 8"/>
            <p:cNvSpPr>
              <a:spLocks noChangeShapeType="1"/>
            </p:cNvSpPr>
            <p:nvPr/>
          </p:nvSpPr>
          <p:spPr bwMode="auto">
            <a:xfrm rot="2721666">
              <a:off x="768" y="2688"/>
              <a:ext cx="6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92" name="Text Box 9"/>
            <p:cNvSpPr txBox="1">
              <a:spLocks noChangeArrowheads="1"/>
            </p:cNvSpPr>
            <p:nvPr/>
          </p:nvSpPr>
          <p:spPr bwMode="auto">
            <a:xfrm>
              <a:off x="992" y="2592"/>
              <a:ext cx="288" cy="3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800"/>
                <a:t>_</a:t>
              </a:r>
            </a:p>
          </p:txBody>
        </p:sp>
        <p:sp>
          <p:nvSpPr>
            <p:cNvPr id="6193" name="Text Box 10"/>
            <p:cNvSpPr txBox="1">
              <a:spLocks noChangeArrowheads="1"/>
            </p:cNvSpPr>
            <p:nvPr/>
          </p:nvSpPr>
          <p:spPr bwMode="auto">
            <a:xfrm>
              <a:off x="784" y="2520"/>
              <a:ext cx="288" cy="3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800"/>
                <a:t>+</a:t>
              </a:r>
            </a:p>
          </p:txBody>
        </p:sp>
      </p:grpSp>
      <p:sp>
        <p:nvSpPr>
          <p:cNvPr id="6156" name="Line 11"/>
          <p:cNvSpPr>
            <a:spLocks noChangeShapeType="1"/>
          </p:cNvSpPr>
          <p:nvPr/>
        </p:nvSpPr>
        <p:spPr bwMode="auto">
          <a:xfrm>
            <a:off x="228600" y="3276600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6157" name="Line 12"/>
          <p:cNvSpPr>
            <a:spLocks noChangeShapeType="1"/>
          </p:cNvSpPr>
          <p:nvPr/>
        </p:nvSpPr>
        <p:spPr bwMode="auto">
          <a:xfrm rot="-5400000">
            <a:off x="495300" y="4533900"/>
            <a:ext cx="1600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6158" name="Line 13"/>
          <p:cNvSpPr>
            <a:spLocks noChangeShapeType="1"/>
          </p:cNvSpPr>
          <p:nvPr/>
        </p:nvSpPr>
        <p:spPr bwMode="auto">
          <a:xfrm>
            <a:off x="2667000" y="4495800"/>
            <a:ext cx="2209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6159" name="Oval 14"/>
          <p:cNvSpPr>
            <a:spLocks noChangeArrowheads="1"/>
          </p:cNvSpPr>
          <p:nvPr/>
        </p:nvSpPr>
        <p:spPr bwMode="auto">
          <a:xfrm rot="2721666">
            <a:off x="3581400" y="2794000"/>
            <a:ext cx="914400" cy="9144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60" name="Line 15"/>
          <p:cNvSpPr>
            <a:spLocks noChangeShapeType="1"/>
          </p:cNvSpPr>
          <p:nvPr/>
        </p:nvSpPr>
        <p:spPr bwMode="auto">
          <a:xfrm rot="2721666">
            <a:off x="4038600" y="2794000"/>
            <a:ext cx="0" cy="914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61" name="Line 16"/>
          <p:cNvSpPr>
            <a:spLocks noChangeShapeType="1"/>
          </p:cNvSpPr>
          <p:nvPr/>
        </p:nvSpPr>
        <p:spPr bwMode="auto">
          <a:xfrm rot="2721666">
            <a:off x="3581400" y="3251200"/>
            <a:ext cx="9144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62" name="Text Box 17"/>
          <p:cNvSpPr txBox="1">
            <a:spLocks noChangeArrowheads="1"/>
          </p:cNvSpPr>
          <p:nvPr/>
        </p:nvSpPr>
        <p:spPr bwMode="auto">
          <a:xfrm>
            <a:off x="3860800" y="2514600"/>
            <a:ext cx="3921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FF0000"/>
                </a:solidFill>
              </a:rPr>
              <a:t>_</a:t>
            </a:r>
          </a:p>
        </p:txBody>
      </p:sp>
      <p:sp>
        <p:nvSpPr>
          <p:cNvPr id="6163" name="Text Box 18"/>
          <p:cNvSpPr txBox="1">
            <a:spLocks noChangeArrowheads="1"/>
          </p:cNvSpPr>
          <p:nvPr/>
        </p:nvSpPr>
        <p:spPr bwMode="auto">
          <a:xfrm>
            <a:off x="3590925" y="2984500"/>
            <a:ext cx="3921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6164" name="Line 19"/>
          <p:cNvSpPr>
            <a:spLocks noChangeShapeType="1"/>
          </p:cNvSpPr>
          <p:nvPr/>
        </p:nvSpPr>
        <p:spPr bwMode="auto">
          <a:xfrm>
            <a:off x="1752600" y="3276600"/>
            <a:ext cx="457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6165" name="Line 20"/>
          <p:cNvSpPr>
            <a:spLocks noChangeShapeType="1"/>
          </p:cNvSpPr>
          <p:nvPr/>
        </p:nvSpPr>
        <p:spPr bwMode="auto">
          <a:xfrm>
            <a:off x="3124200" y="3276600"/>
            <a:ext cx="457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6166" name="Rectangle 21"/>
          <p:cNvSpPr>
            <a:spLocks noChangeArrowheads="1"/>
          </p:cNvSpPr>
          <p:nvPr/>
        </p:nvSpPr>
        <p:spPr bwMode="auto">
          <a:xfrm>
            <a:off x="6172200" y="2743200"/>
            <a:ext cx="762000" cy="10668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67" name="Rectangle 22"/>
          <p:cNvSpPr>
            <a:spLocks noChangeArrowheads="1"/>
          </p:cNvSpPr>
          <p:nvPr/>
        </p:nvSpPr>
        <p:spPr bwMode="auto">
          <a:xfrm>
            <a:off x="7543800" y="2743200"/>
            <a:ext cx="762000" cy="10668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68" name="Line 23"/>
          <p:cNvSpPr>
            <a:spLocks noChangeShapeType="1"/>
          </p:cNvSpPr>
          <p:nvPr/>
        </p:nvSpPr>
        <p:spPr bwMode="auto">
          <a:xfrm>
            <a:off x="4495800" y="3276600"/>
            <a:ext cx="457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6169" name="Line 24"/>
          <p:cNvSpPr>
            <a:spLocks noChangeShapeType="1"/>
          </p:cNvSpPr>
          <p:nvPr/>
        </p:nvSpPr>
        <p:spPr bwMode="auto">
          <a:xfrm>
            <a:off x="6934200" y="3276600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6170" name="Line 25"/>
          <p:cNvSpPr>
            <a:spLocks noChangeShapeType="1"/>
          </p:cNvSpPr>
          <p:nvPr/>
        </p:nvSpPr>
        <p:spPr bwMode="auto">
          <a:xfrm>
            <a:off x="5715000" y="3276600"/>
            <a:ext cx="457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6171" name="Line 26"/>
          <p:cNvSpPr>
            <a:spLocks noChangeShapeType="1"/>
          </p:cNvSpPr>
          <p:nvPr/>
        </p:nvSpPr>
        <p:spPr bwMode="auto">
          <a:xfrm>
            <a:off x="8305800" y="3276600"/>
            <a:ext cx="685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147" name="Object 27"/>
          <p:cNvGraphicFramePr>
            <a:graphicFrameLocks noChangeAspect="1"/>
          </p:cNvGraphicFramePr>
          <p:nvPr/>
        </p:nvGraphicFramePr>
        <p:xfrm>
          <a:off x="5105400" y="3048000"/>
          <a:ext cx="455613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7480" imgH="215640" progId="Equation.3">
                  <p:embed/>
                </p:oleObj>
              </mc:Choice>
              <mc:Fallback>
                <p:oleObj name="Equation" r:id="rId4" imgW="177480" imgH="21564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3048000"/>
                        <a:ext cx="455613" cy="555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" name="Object 28"/>
          <p:cNvGraphicFramePr>
            <a:graphicFrameLocks noChangeAspect="1"/>
          </p:cNvGraphicFramePr>
          <p:nvPr/>
        </p:nvGraphicFramePr>
        <p:xfrm>
          <a:off x="6292850" y="3048000"/>
          <a:ext cx="5207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3040" imgH="215640" progId="Equation.3">
                  <p:embed/>
                </p:oleObj>
              </mc:Choice>
              <mc:Fallback>
                <p:oleObj name="Equation" r:id="rId6" imgW="203040" imgH="21564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2850" y="3048000"/>
                        <a:ext cx="520700" cy="555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29"/>
          <p:cNvGraphicFramePr>
            <a:graphicFrameLocks noChangeAspect="1"/>
          </p:cNvGraphicFramePr>
          <p:nvPr/>
        </p:nvGraphicFramePr>
        <p:xfrm>
          <a:off x="7635875" y="3032125"/>
          <a:ext cx="488950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0440" imgH="228600" progId="Equation.3">
                  <p:embed/>
                </p:oleObj>
              </mc:Choice>
              <mc:Fallback>
                <p:oleObj name="Equation" r:id="rId8" imgW="190440" imgH="22860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5875" y="3032125"/>
                        <a:ext cx="488950" cy="588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72" name="Line 30"/>
          <p:cNvSpPr>
            <a:spLocks noChangeShapeType="1"/>
          </p:cNvSpPr>
          <p:nvPr/>
        </p:nvSpPr>
        <p:spPr bwMode="auto">
          <a:xfrm rot="-5400000">
            <a:off x="2286000" y="4114800"/>
            <a:ext cx="762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6173" name="Rectangle 31"/>
          <p:cNvSpPr>
            <a:spLocks noChangeArrowheads="1"/>
          </p:cNvSpPr>
          <p:nvPr/>
        </p:nvSpPr>
        <p:spPr bwMode="auto">
          <a:xfrm>
            <a:off x="4876800" y="3962400"/>
            <a:ext cx="762000" cy="10668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150" name="Object 32"/>
          <p:cNvGraphicFramePr>
            <a:graphicFrameLocks noChangeAspect="1"/>
          </p:cNvGraphicFramePr>
          <p:nvPr/>
        </p:nvGraphicFramePr>
        <p:xfrm>
          <a:off x="4997450" y="4267200"/>
          <a:ext cx="5207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3040" imgH="215640" progId="Equation.3">
                  <p:embed/>
                </p:oleObj>
              </mc:Choice>
              <mc:Fallback>
                <p:oleObj name="Equation" r:id="rId10" imgW="203040" imgH="21564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7450" y="4267200"/>
                        <a:ext cx="520700" cy="555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74" name="Line 33"/>
          <p:cNvSpPr>
            <a:spLocks noChangeShapeType="1"/>
          </p:cNvSpPr>
          <p:nvPr/>
        </p:nvSpPr>
        <p:spPr bwMode="auto">
          <a:xfrm>
            <a:off x="5638800" y="4495800"/>
            <a:ext cx="1447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6175" name="Line 34"/>
          <p:cNvSpPr>
            <a:spLocks noChangeShapeType="1"/>
          </p:cNvSpPr>
          <p:nvPr/>
        </p:nvSpPr>
        <p:spPr bwMode="auto">
          <a:xfrm rot="-5400000">
            <a:off x="6477000" y="3886200"/>
            <a:ext cx="1219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6176" name="Line 35"/>
          <p:cNvSpPr>
            <a:spLocks noChangeShapeType="1"/>
          </p:cNvSpPr>
          <p:nvPr/>
        </p:nvSpPr>
        <p:spPr bwMode="auto">
          <a:xfrm>
            <a:off x="1295400" y="5334000"/>
            <a:ext cx="7239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6177" name="Line 36"/>
          <p:cNvSpPr>
            <a:spLocks noChangeShapeType="1"/>
          </p:cNvSpPr>
          <p:nvPr/>
        </p:nvSpPr>
        <p:spPr bwMode="auto">
          <a:xfrm rot="-5400000">
            <a:off x="7505700" y="4305300"/>
            <a:ext cx="20574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6178" name="Line 37"/>
          <p:cNvSpPr>
            <a:spLocks noChangeShapeType="1"/>
          </p:cNvSpPr>
          <p:nvPr/>
        </p:nvSpPr>
        <p:spPr bwMode="auto">
          <a:xfrm rot="-5400000">
            <a:off x="7848600" y="2590800"/>
            <a:ext cx="1371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6179" name="Rectangle 38"/>
          <p:cNvSpPr>
            <a:spLocks noChangeArrowheads="1"/>
          </p:cNvSpPr>
          <p:nvPr/>
        </p:nvSpPr>
        <p:spPr bwMode="auto">
          <a:xfrm>
            <a:off x="6400800" y="1371600"/>
            <a:ext cx="762000" cy="1066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151" name="Object 39"/>
          <p:cNvGraphicFramePr>
            <a:graphicFrameLocks noChangeAspect="1"/>
          </p:cNvGraphicFramePr>
          <p:nvPr/>
        </p:nvGraphicFramePr>
        <p:xfrm>
          <a:off x="6477000" y="1346200"/>
          <a:ext cx="684213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400" imgH="431640" progId="Equation.3">
                  <p:embed/>
                </p:oleObj>
              </mc:Choice>
              <mc:Fallback>
                <p:oleObj name="Equation" r:id="rId12" imgW="266400" imgH="43164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1346200"/>
                        <a:ext cx="684213" cy="1111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80" name="Line 40"/>
          <p:cNvSpPr>
            <a:spLocks noChangeShapeType="1"/>
          </p:cNvSpPr>
          <p:nvPr/>
        </p:nvSpPr>
        <p:spPr bwMode="auto">
          <a:xfrm>
            <a:off x="7162800" y="1905000"/>
            <a:ext cx="1371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6181" name="Line 41"/>
          <p:cNvSpPr>
            <a:spLocks noChangeShapeType="1"/>
          </p:cNvSpPr>
          <p:nvPr/>
        </p:nvSpPr>
        <p:spPr bwMode="auto">
          <a:xfrm>
            <a:off x="4038600" y="1905000"/>
            <a:ext cx="2362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6182" name="Line 42"/>
          <p:cNvSpPr>
            <a:spLocks noChangeShapeType="1"/>
          </p:cNvSpPr>
          <p:nvPr/>
        </p:nvSpPr>
        <p:spPr bwMode="auto">
          <a:xfrm rot="-5400000" flipH="1" flipV="1">
            <a:off x="3581400" y="2336800"/>
            <a:ext cx="9144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43"/>
          <p:cNvGrpSpPr>
            <a:grpSpLocks/>
          </p:cNvGrpSpPr>
          <p:nvPr/>
        </p:nvGrpSpPr>
        <p:grpSpPr bwMode="auto">
          <a:xfrm>
            <a:off x="2209800" y="2819400"/>
            <a:ext cx="914400" cy="963613"/>
            <a:chOff x="1392" y="1776"/>
            <a:chExt cx="576" cy="607"/>
          </a:xfrm>
        </p:grpSpPr>
        <p:sp>
          <p:nvSpPr>
            <p:cNvPr id="6184" name="Oval 44"/>
            <p:cNvSpPr>
              <a:spLocks noChangeArrowheads="1"/>
            </p:cNvSpPr>
            <p:nvPr/>
          </p:nvSpPr>
          <p:spPr bwMode="auto">
            <a:xfrm rot="2721666">
              <a:off x="1392" y="1776"/>
              <a:ext cx="576" cy="57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5" name="Line 45"/>
            <p:cNvSpPr>
              <a:spLocks noChangeShapeType="1"/>
            </p:cNvSpPr>
            <p:nvPr/>
          </p:nvSpPr>
          <p:spPr bwMode="auto">
            <a:xfrm rot="2721666">
              <a:off x="1680" y="1776"/>
              <a:ext cx="0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86" name="Line 46"/>
            <p:cNvSpPr>
              <a:spLocks noChangeShapeType="1"/>
            </p:cNvSpPr>
            <p:nvPr/>
          </p:nvSpPr>
          <p:spPr bwMode="auto">
            <a:xfrm rot="2721666">
              <a:off x="1392" y="2064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87" name="Text Box 47"/>
            <p:cNvSpPr txBox="1">
              <a:spLocks noChangeArrowheads="1"/>
            </p:cNvSpPr>
            <p:nvPr/>
          </p:nvSpPr>
          <p:spPr bwMode="auto">
            <a:xfrm>
              <a:off x="1406" y="1920"/>
              <a:ext cx="24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800"/>
                <a:t>+</a:t>
              </a:r>
            </a:p>
          </p:txBody>
        </p:sp>
        <p:sp>
          <p:nvSpPr>
            <p:cNvPr id="6188" name="Text Box 48"/>
            <p:cNvSpPr txBox="1">
              <a:spLocks noChangeArrowheads="1"/>
            </p:cNvSpPr>
            <p:nvPr/>
          </p:nvSpPr>
          <p:spPr bwMode="auto">
            <a:xfrm>
              <a:off x="1558" y="2056"/>
              <a:ext cx="24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800"/>
                <a:t>+</a:t>
              </a:r>
            </a:p>
          </p:txBody>
        </p:sp>
      </p:grpSp>
      <p:graphicFrame>
        <p:nvGraphicFramePr>
          <p:cNvPr id="6152" name="Object 49"/>
          <p:cNvGraphicFramePr>
            <a:graphicFrameLocks noChangeAspect="1"/>
          </p:cNvGraphicFramePr>
          <p:nvPr/>
        </p:nvGraphicFramePr>
        <p:xfrm>
          <a:off x="8610600" y="2574925"/>
          <a:ext cx="3905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2280" imgH="177480" progId="Equation.3">
                  <p:embed/>
                </p:oleObj>
              </mc:Choice>
              <mc:Fallback>
                <p:oleObj name="Equation" r:id="rId14" imgW="152280" imgH="17748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0600" y="2574925"/>
                        <a:ext cx="39052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19</a:t>
            </a:fld>
            <a:endParaRPr lang="en-GB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8839200" cy="1143000"/>
          </a:xfrm>
        </p:spPr>
        <p:txBody>
          <a:bodyPr/>
          <a:lstStyle/>
          <a:p>
            <a:r>
              <a:rPr lang="en-US" dirty="0"/>
              <a:t>Example-6</a:t>
            </a:r>
          </a:p>
        </p:txBody>
      </p:sp>
      <p:graphicFrame>
        <p:nvGraphicFramePr>
          <p:cNvPr id="7170" name="Object 3"/>
          <p:cNvGraphicFramePr>
            <a:graphicFrameLocks noChangeAspect="1"/>
          </p:cNvGraphicFramePr>
          <p:nvPr/>
        </p:nvGraphicFramePr>
        <p:xfrm>
          <a:off x="228600" y="2667000"/>
          <a:ext cx="39052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80" imgH="164880" progId="Equation.3">
                  <p:embed/>
                </p:oleObj>
              </mc:Choice>
              <mc:Fallback>
                <p:oleObj name="Equation" r:id="rId2" imgW="152280" imgH="1648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667000"/>
                        <a:ext cx="390525" cy="425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838200" y="2819400"/>
            <a:ext cx="914400" cy="914400"/>
            <a:chOff x="768" y="2352"/>
            <a:chExt cx="672" cy="672"/>
          </a:xfrm>
        </p:grpSpPr>
        <p:sp>
          <p:nvSpPr>
            <p:cNvPr id="7210" name="Oval 5"/>
            <p:cNvSpPr>
              <a:spLocks noChangeArrowheads="1"/>
            </p:cNvSpPr>
            <p:nvPr/>
          </p:nvSpPr>
          <p:spPr bwMode="auto">
            <a:xfrm rot="2721666">
              <a:off x="768" y="2352"/>
              <a:ext cx="672" cy="67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1" name="Line 6"/>
            <p:cNvSpPr>
              <a:spLocks noChangeShapeType="1"/>
            </p:cNvSpPr>
            <p:nvPr/>
          </p:nvSpPr>
          <p:spPr bwMode="auto">
            <a:xfrm rot="2721666">
              <a:off x="1104" y="2352"/>
              <a:ext cx="0" cy="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12" name="Line 7"/>
            <p:cNvSpPr>
              <a:spLocks noChangeShapeType="1"/>
            </p:cNvSpPr>
            <p:nvPr/>
          </p:nvSpPr>
          <p:spPr bwMode="auto">
            <a:xfrm rot="2721666">
              <a:off x="768" y="2688"/>
              <a:ext cx="6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13" name="Text Box 8"/>
            <p:cNvSpPr txBox="1">
              <a:spLocks noChangeArrowheads="1"/>
            </p:cNvSpPr>
            <p:nvPr/>
          </p:nvSpPr>
          <p:spPr bwMode="auto">
            <a:xfrm>
              <a:off x="992" y="2592"/>
              <a:ext cx="288" cy="3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800"/>
                <a:t>_</a:t>
              </a:r>
            </a:p>
          </p:txBody>
        </p:sp>
        <p:sp>
          <p:nvSpPr>
            <p:cNvPr id="7214" name="Text Box 9"/>
            <p:cNvSpPr txBox="1">
              <a:spLocks noChangeArrowheads="1"/>
            </p:cNvSpPr>
            <p:nvPr/>
          </p:nvSpPr>
          <p:spPr bwMode="auto">
            <a:xfrm>
              <a:off x="784" y="2520"/>
              <a:ext cx="288" cy="3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800"/>
                <a:t>+</a:t>
              </a:r>
            </a:p>
          </p:txBody>
        </p:sp>
      </p:grpSp>
      <p:sp>
        <p:nvSpPr>
          <p:cNvPr id="7178" name="Line 10"/>
          <p:cNvSpPr>
            <a:spLocks noChangeShapeType="1"/>
          </p:cNvSpPr>
          <p:nvPr/>
        </p:nvSpPr>
        <p:spPr bwMode="auto">
          <a:xfrm>
            <a:off x="228600" y="3276600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7179" name="Line 11"/>
          <p:cNvSpPr>
            <a:spLocks noChangeShapeType="1"/>
          </p:cNvSpPr>
          <p:nvPr/>
        </p:nvSpPr>
        <p:spPr bwMode="auto">
          <a:xfrm rot="-5400000">
            <a:off x="495300" y="4533900"/>
            <a:ext cx="1600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7180" name="Line 12"/>
          <p:cNvSpPr>
            <a:spLocks noChangeShapeType="1"/>
          </p:cNvSpPr>
          <p:nvPr/>
        </p:nvSpPr>
        <p:spPr bwMode="auto">
          <a:xfrm>
            <a:off x="2667000" y="4495800"/>
            <a:ext cx="2209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7181" name="Oval 13"/>
          <p:cNvSpPr>
            <a:spLocks noChangeArrowheads="1"/>
          </p:cNvSpPr>
          <p:nvPr/>
        </p:nvSpPr>
        <p:spPr bwMode="auto">
          <a:xfrm rot="2721666">
            <a:off x="3581400" y="2794000"/>
            <a:ext cx="914400" cy="914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82" name="Line 14"/>
          <p:cNvSpPr>
            <a:spLocks noChangeShapeType="1"/>
          </p:cNvSpPr>
          <p:nvPr/>
        </p:nvSpPr>
        <p:spPr bwMode="auto">
          <a:xfrm rot="2721666">
            <a:off x="4038600" y="279400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83" name="Line 15"/>
          <p:cNvSpPr>
            <a:spLocks noChangeShapeType="1"/>
          </p:cNvSpPr>
          <p:nvPr/>
        </p:nvSpPr>
        <p:spPr bwMode="auto">
          <a:xfrm rot="2721666">
            <a:off x="3581400" y="3251200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84" name="Text Box 16"/>
          <p:cNvSpPr txBox="1">
            <a:spLocks noChangeArrowheads="1"/>
          </p:cNvSpPr>
          <p:nvPr/>
        </p:nvSpPr>
        <p:spPr bwMode="auto">
          <a:xfrm>
            <a:off x="3860800" y="2514600"/>
            <a:ext cx="3921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/>
              <a:t>_</a:t>
            </a:r>
          </a:p>
        </p:txBody>
      </p:sp>
      <p:sp>
        <p:nvSpPr>
          <p:cNvPr id="7185" name="Text Box 17"/>
          <p:cNvSpPr txBox="1">
            <a:spLocks noChangeArrowheads="1"/>
          </p:cNvSpPr>
          <p:nvPr/>
        </p:nvSpPr>
        <p:spPr bwMode="auto">
          <a:xfrm>
            <a:off x="3590925" y="2984500"/>
            <a:ext cx="3921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/>
              <a:t>+</a:t>
            </a:r>
          </a:p>
        </p:txBody>
      </p:sp>
      <p:sp>
        <p:nvSpPr>
          <p:cNvPr id="7186" name="Line 18"/>
          <p:cNvSpPr>
            <a:spLocks noChangeShapeType="1"/>
          </p:cNvSpPr>
          <p:nvPr/>
        </p:nvSpPr>
        <p:spPr bwMode="auto">
          <a:xfrm>
            <a:off x="1752600" y="3276600"/>
            <a:ext cx="457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7187" name="Line 19"/>
          <p:cNvSpPr>
            <a:spLocks noChangeShapeType="1"/>
          </p:cNvSpPr>
          <p:nvPr/>
        </p:nvSpPr>
        <p:spPr bwMode="auto">
          <a:xfrm>
            <a:off x="3124200" y="3276600"/>
            <a:ext cx="457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7188" name="Rectangle 20"/>
          <p:cNvSpPr>
            <a:spLocks noChangeArrowheads="1"/>
          </p:cNvSpPr>
          <p:nvPr/>
        </p:nvSpPr>
        <p:spPr bwMode="auto">
          <a:xfrm>
            <a:off x="5257800" y="2743200"/>
            <a:ext cx="1295400" cy="1066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89" name="Rectangle 21"/>
          <p:cNvSpPr>
            <a:spLocks noChangeArrowheads="1"/>
          </p:cNvSpPr>
          <p:nvPr/>
        </p:nvSpPr>
        <p:spPr bwMode="auto">
          <a:xfrm>
            <a:off x="7543800" y="2743200"/>
            <a:ext cx="762000" cy="10668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90" name="Line 22"/>
          <p:cNvSpPr>
            <a:spLocks noChangeShapeType="1"/>
          </p:cNvSpPr>
          <p:nvPr/>
        </p:nvSpPr>
        <p:spPr bwMode="auto">
          <a:xfrm>
            <a:off x="4495800" y="3276600"/>
            <a:ext cx="762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7191" name="Line 23"/>
          <p:cNvSpPr>
            <a:spLocks noChangeShapeType="1"/>
          </p:cNvSpPr>
          <p:nvPr/>
        </p:nvSpPr>
        <p:spPr bwMode="auto">
          <a:xfrm>
            <a:off x="6553200" y="3276600"/>
            <a:ext cx="990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7192" name="Line 24"/>
          <p:cNvSpPr>
            <a:spLocks noChangeShapeType="1"/>
          </p:cNvSpPr>
          <p:nvPr/>
        </p:nvSpPr>
        <p:spPr bwMode="auto">
          <a:xfrm>
            <a:off x="8305800" y="3276600"/>
            <a:ext cx="685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7171" name="Object 25"/>
          <p:cNvGraphicFramePr>
            <a:graphicFrameLocks noChangeAspect="1"/>
          </p:cNvGraphicFramePr>
          <p:nvPr/>
        </p:nvGraphicFramePr>
        <p:xfrm>
          <a:off x="5486400" y="3048000"/>
          <a:ext cx="87947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20" imgH="215640" progId="Equation.3">
                  <p:embed/>
                </p:oleObj>
              </mc:Choice>
              <mc:Fallback>
                <p:oleObj name="Equation" r:id="rId4" imgW="342720" imgH="21564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3048000"/>
                        <a:ext cx="879475" cy="555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26"/>
          <p:cNvGraphicFramePr>
            <a:graphicFrameLocks noChangeAspect="1"/>
          </p:cNvGraphicFramePr>
          <p:nvPr/>
        </p:nvGraphicFramePr>
        <p:xfrm>
          <a:off x="7635875" y="3032125"/>
          <a:ext cx="488950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0440" imgH="228600" progId="Equation.3">
                  <p:embed/>
                </p:oleObj>
              </mc:Choice>
              <mc:Fallback>
                <p:oleObj name="Equation" r:id="rId6" imgW="190440" imgH="2286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5875" y="3032125"/>
                        <a:ext cx="488950" cy="588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3" name="Line 27"/>
          <p:cNvSpPr>
            <a:spLocks noChangeShapeType="1"/>
          </p:cNvSpPr>
          <p:nvPr/>
        </p:nvSpPr>
        <p:spPr bwMode="auto">
          <a:xfrm rot="-5400000">
            <a:off x="2286000" y="4114800"/>
            <a:ext cx="762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7194" name="Rectangle 28"/>
          <p:cNvSpPr>
            <a:spLocks noChangeArrowheads="1"/>
          </p:cNvSpPr>
          <p:nvPr/>
        </p:nvSpPr>
        <p:spPr bwMode="auto">
          <a:xfrm>
            <a:off x="4876800" y="3962400"/>
            <a:ext cx="762000" cy="10668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173" name="Object 29"/>
          <p:cNvGraphicFramePr>
            <a:graphicFrameLocks noChangeAspect="1"/>
          </p:cNvGraphicFramePr>
          <p:nvPr/>
        </p:nvGraphicFramePr>
        <p:xfrm>
          <a:off x="4997450" y="4267200"/>
          <a:ext cx="5207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3040" imgH="215640" progId="Equation.3">
                  <p:embed/>
                </p:oleObj>
              </mc:Choice>
              <mc:Fallback>
                <p:oleObj name="Equation" r:id="rId8" imgW="203040" imgH="21564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7450" y="4267200"/>
                        <a:ext cx="520700" cy="555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5" name="Line 30"/>
          <p:cNvSpPr>
            <a:spLocks noChangeShapeType="1"/>
          </p:cNvSpPr>
          <p:nvPr/>
        </p:nvSpPr>
        <p:spPr bwMode="auto">
          <a:xfrm>
            <a:off x="5638800" y="4495800"/>
            <a:ext cx="1447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7196" name="Line 31"/>
          <p:cNvSpPr>
            <a:spLocks noChangeShapeType="1"/>
          </p:cNvSpPr>
          <p:nvPr/>
        </p:nvSpPr>
        <p:spPr bwMode="auto">
          <a:xfrm rot="-5400000">
            <a:off x="6477000" y="3886200"/>
            <a:ext cx="1219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7197" name="Line 32"/>
          <p:cNvSpPr>
            <a:spLocks noChangeShapeType="1"/>
          </p:cNvSpPr>
          <p:nvPr/>
        </p:nvSpPr>
        <p:spPr bwMode="auto">
          <a:xfrm>
            <a:off x="1295400" y="5334000"/>
            <a:ext cx="7239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7198" name="Line 33"/>
          <p:cNvSpPr>
            <a:spLocks noChangeShapeType="1"/>
          </p:cNvSpPr>
          <p:nvPr/>
        </p:nvSpPr>
        <p:spPr bwMode="auto">
          <a:xfrm rot="-5400000">
            <a:off x="7505700" y="4305300"/>
            <a:ext cx="20574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7199" name="Line 34"/>
          <p:cNvSpPr>
            <a:spLocks noChangeShapeType="1"/>
          </p:cNvSpPr>
          <p:nvPr/>
        </p:nvSpPr>
        <p:spPr bwMode="auto">
          <a:xfrm rot="-5400000">
            <a:off x="7848600" y="2590800"/>
            <a:ext cx="1371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7200" name="Rectangle 35"/>
          <p:cNvSpPr>
            <a:spLocks noChangeArrowheads="1"/>
          </p:cNvSpPr>
          <p:nvPr/>
        </p:nvSpPr>
        <p:spPr bwMode="auto">
          <a:xfrm>
            <a:off x="6400800" y="1371600"/>
            <a:ext cx="762000" cy="10668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174" name="Object 36"/>
          <p:cNvGraphicFramePr>
            <a:graphicFrameLocks noChangeAspect="1"/>
          </p:cNvGraphicFramePr>
          <p:nvPr/>
        </p:nvGraphicFramePr>
        <p:xfrm>
          <a:off x="6477000" y="1346200"/>
          <a:ext cx="684213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6400" imgH="431640" progId="Equation.3">
                  <p:embed/>
                </p:oleObj>
              </mc:Choice>
              <mc:Fallback>
                <p:oleObj name="Equation" r:id="rId10" imgW="266400" imgH="43164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1346200"/>
                        <a:ext cx="684213" cy="1111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01" name="Line 37"/>
          <p:cNvSpPr>
            <a:spLocks noChangeShapeType="1"/>
          </p:cNvSpPr>
          <p:nvPr/>
        </p:nvSpPr>
        <p:spPr bwMode="auto">
          <a:xfrm>
            <a:off x="7162800" y="1905000"/>
            <a:ext cx="1371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7202" name="Line 38"/>
          <p:cNvSpPr>
            <a:spLocks noChangeShapeType="1"/>
          </p:cNvSpPr>
          <p:nvPr/>
        </p:nvSpPr>
        <p:spPr bwMode="auto">
          <a:xfrm>
            <a:off x="4038600" y="1905000"/>
            <a:ext cx="2362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7203" name="Line 39"/>
          <p:cNvSpPr>
            <a:spLocks noChangeShapeType="1"/>
          </p:cNvSpPr>
          <p:nvPr/>
        </p:nvSpPr>
        <p:spPr bwMode="auto">
          <a:xfrm rot="-5400000" flipH="1" flipV="1">
            <a:off x="3581400" y="2336800"/>
            <a:ext cx="9144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40"/>
          <p:cNvGrpSpPr>
            <a:grpSpLocks/>
          </p:cNvGrpSpPr>
          <p:nvPr/>
        </p:nvGrpSpPr>
        <p:grpSpPr bwMode="auto">
          <a:xfrm>
            <a:off x="2209800" y="2819400"/>
            <a:ext cx="914400" cy="963613"/>
            <a:chOff x="1392" y="1776"/>
            <a:chExt cx="576" cy="607"/>
          </a:xfrm>
        </p:grpSpPr>
        <p:sp>
          <p:nvSpPr>
            <p:cNvPr id="7205" name="Oval 41"/>
            <p:cNvSpPr>
              <a:spLocks noChangeArrowheads="1"/>
            </p:cNvSpPr>
            <p:nvPr/>
          </p:nvSpPr>
          <p:spPr bwMode="auto">
            <a:xfrm rot="2721666">
              <a:off x="1392" y="1776"/>
              <a:ext cx="576" cy="57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6" name="Line 42"/>
            <p:cNvSpPr>
              <a:spLocks noChangeShapeType="1"/>
            </p:cNvSpPr>
            <p:nvPr/>
          </p:nvSpPr>
          <p:spPr bwMode="auto">
            <a:xfrm rot="2721666">
              <a:off x="1680" y="1776"/>
              <a:ext cx="0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07" name="Line 43"/>
            <p:cNvSpPr>
              <a:spLocks noChangeShapeType="1"/>
            </p:cNvSpPr>
            <p:nvPr/>
          </p:nvSpPr>
          <p:spPr bwMode="auto">
            <a:xfrm rot="2721666">
              <a:off x="1392" y="2064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08" name="Text Box 44"/>
            <p:cNvSpPr txBox="1">
              <a:spLocks noChangeArrowheads="1"/>
            </p:cNvSpPr>
            <p:nvPr/>
          </p:nvSpPr>
          <p:spPr bwMode="auto">
            <a:xfrm>
              <a:off x="1406" y="1920"/>
              <a:ext cx="24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800"/>
                <a:t>+</a:t>
              </a:r>
            </a:p>
          </p:txBody>
        </p:sp>
        <p:sp>
          <p:nvSpPr>
            <p:cNvPr id="7209" name="Text Box 45"/>
            <p:cNvSpPr txBox="1">
              <a:spLocks noChangeArrowheads="1"/>
            </p:cNvSpPr>
            <p:nvPr/>
          </p:nvSpPr>
          <p:spPr bwMode="auto">
            <a:xfrm>
              <a:off x="1558" y="2056"/>
              <a:ext cx="24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800"/>
                <a:t>+</a:t>
              </a:r>
            </a:p>
          </p:txBody>
        </p:sp>
      </p:grpSp>
      <p:graphicFrame>
        <p:nvGraphicFramePr>
          <p:cNvPr id="7175" name="Object 46"/>
          <p:cNvGraphicFramePr>
            <a:graphicFrameLocks noChangeAspect="1"/>
          </p:cNvGraphicFramePr>
          <p:nvPr/>
        </p:nvGraphicFramePr>
        <p:xfrm>
          <a:off x="8610600" y="2574925"/>
          <a:ext cx="3905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2280" imgH="177480" progId="Equation.3">
                  <p:embed/>
                </p:oleObj>
              </mc:Choice>
              <mc:Fallback>
                <p:oleObj name="Equation" r:id="rId12" imgW="152280" imgH="177480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0600" y="2574925"/>
                        <a:ext cx="39052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20</a:t>
            </a:fld>
            <a:endParaRPr lang="en-GB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8839200" cy="1143000"/>
          </a:xfrm>
        </p:spPr>
        <p:txBody>
          <a:bodyPr/>
          <a:lstStyle/>
          <a:p>
            <a:r>
              <a:rPr lang="en-US" dirty="0"/>
              <a:t>Example-6</a:t>
            </a:r>
          </a:p>
        </p:txBody>
      </p:sp>
      <p:graphicFrame>
        <p:nvGraphicFramePr>
          <p:cNvPr id="8194" name="Object 3"/>
          <p:cNvGraphicFramePr>
            <a:graphicFrameLocks noChangeAspect="1"/>
          </p:cNvGraphicFramePr>
          <p:nvPr/>
        </p:nvGraphicFramePr>
        <p:xfrm>
          <a:off x="228600" y="2667000"/>
          <a:ext cx="39052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80" imgH="164880" progId="Equation.3">
                  <p:embed/>
                </p:oleObj>
              </mc:Choice>
              <mc:Fallback>
                <p:oleObj name="Equation" r:id="rId2" imgW="152280" imgH="1648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667000"/>
                        <a:ext cx="390525" cy="425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838200" y="2819400"/>
            <a:ext cx="914400" cy="914400"/>
            <a:chOff x="768" y="2352"/>
            <a:chExt cx="672" cy="672"/>
          </a:xfrm>
        </p:grpSpPr>
        <p:sp>
          <p:nvSpPr>
            <p:cNvPr id="8233" name="Oval 5"/>
            <p:cNvSpPr>
              <a:spLocks noChangeArrowheads="1"/>
            </p:cNvSpPr>
            <p:nvPr/>
          </p:nvSpPr>
          <p:spPr bwMode="auto">
            <a:xfrm rot="2721666">
              <a:off x="768" y="2352"/>
              <a:ext cx="672" cy="67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34" name="Line 6"/>
            <p:cNvSpPr>
              <a:spLocks noChangeShapeType="1"/>
            </p:cNvSpPr>
            <p:nvPr/>
          </p:nvSpPr>
          <p:spPr bwMode="auto">
            <a:xfrm rot="2721666">
              <a:off x="1104" y="2352"/>
              <a:ext cx="0" cy="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35" name="Line 7"/>
            <p:cNvSpPr>
              <a:spLocks noChangeShapeType="1"/>
            </p:cNvSpPr>
            <p:nvPr/>
          </p:nvSpPr>
          <p:spPr bwMode="auto">
            <a:xfrm rot="2721666">
              <a:off x="768" y="2688"/>
              <a:ext cx="6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36" name="Text Box 8"/>
            <p:cNvSpPr txBox="1">
              <a:spLocks noChangeArrowheads="1"/>
            </p:cNvSpPr>
            <p:nvPr/>
          </p:nvSpPr>
          <p:spPr bwMode="auto">
            <a:xfrm>
              <a:off x="992" y="2592"/>
              <a:ext cx="288" cy="3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800"/>
                <a:t>_</a:t>
              </a:r>
            </a:p>
          </p:txBody>
        </p:sp>
        <p:sp>
          <p:nvSpPr>
            <p:cNvPr id="8237" name="Text Box 9"/>
            <p:cNvSpPr txBox="1">
              <a:spLocks noChangeArrowheads="1"/>
            </p:cNvSpPr>
            <p:nvPr/>
          </p:nvSpPr>
          <p:spPr bwMode="auto">
            <a:xfrm>
              <a:off x="784" y="2520"/>
              <a:ext cx="288" cy="3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800"/>
                <a:t>+</a:t>
              </a:r>
            </a:p>
          </p:txBody>
        </p:sp>
      </p:grpSp>
      <p:sp>
        <p:nvSpPr>
          <p:cNvPr id="8202" name="Line 10"/>
          <p:cNvSpPr>
            <a:spLocks noChangeShapeType="1"/>
          </p:cNvSpPr>
          <p:nvPr/>
        </p:nvSpPr>
        <p:spPr bwMode="auto">
          <a:xfrm>
            <a:off x="228600" y="3276600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8203" name="Line 11"/>
          <p:cNvSpPr>
            <a:spLocks noChangeShapeType="1"/>
          </p:cNvSpPr>
          <p:nvPr/>
        </p:nvSpPr>
        <p:spPr bwMode="auto">
          <a:xfrm rot="-5400000">
            <a:off x="495300" y="4533900"/>
            <a:ext cx="1600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8204" name="Line 12"/>
          <p:cNvSpPr>
            <a:spLocks noChangeShapeType="1"/>
          </p:cNvSpPr>
          <p:nvPr/>
        </p:nvSpPr>
        <p:spPr bwMode="auto">
          <a:xfrm>
            <a:off x="4038600" y="4495800"/>
            <a:ext cx="838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8205" name="Oval 13"/>
          <p:cNvSpPr>
            <a:spLocks noChangeArrowheads="1"/>
          </p:cNvSpPr>
          <p:nvPr/>
        </p:nvSpPr>
        <p:spPr bwMode="auto">
          <a:xfrm rot="2721666">
            <a:off x="2209800" y="2819400"/>
            <a:ext cx="914400" cy="9144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206" name="Line 14"/>
          <p:cNvSpPr>
            <a:spLocks noChangeShapeType="1"/>
          </p:cNvSpPr>
          <p:nvPr/>
        </p:nvSpPr>
        <p:spPr bwMode="auto">
          <a:xfrm rot="2721666">
            <a:off x="2667000" y="2819400"/>
            <a:ext cx="0" cy="914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7" name="Line 15"/>
          <p:cNvSpPr>
            <a:spLocks noChangeShapeType="1"/>
          </p:cNvSpPr>
          <p:nvPr/>
        </p:nvSpPr>
        <p:spPr bwMode="auto">
          <a:xfrm rot="2721666">
            <a:off x="2209800" y="3276600"/>
            <a:ext cx="9144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8" name="Text Box 16"/>
          <p:cNvSpPr txBox="1">
            <a:spLocks noChangeArrowheads="1"/>
          </p:cNvSpPr>
          <p:nvPr/>
        </p:nvSpPr>
        <p:spPr bwMode="auto">
          <a:xfrm>
            <a:off x="2489200" y="2552700"/>
            <a:ext cx="3921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/>
              <a:t>_</a:t>
            </a:r>
          </a:p>
        </p:txBody>
      </p:sp>
      <p:sp>
        <p:nvSpPr>
          <p:cNvPr id="8209" name="Text Box 17"/>
          <p:cNvSpPr txBox="1">
            <a:spLocks noChangeArrowheads="1"/>
          </p:cNvSpPr>
          <p:nvPr/>
        </p:nvSpPr>
        <p:spPr bwMode="auto">
          <a:xfrm>
            <a:off x="2219325" y="3009900"/>
            <a:ext cx="3921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/>
              <a:t>+</a:t>
            </a:r>
          </a:p>
        </p:txBody>
      </p:sp>
      <p:sp>
        <p:nvSpPr>
          <p:cNvPr id="8210" name="Line 18"/>
          <p:cNvSpPr>
            <a:spLocks noChangeShapeType="1"/>
          </p:cNvSpPr>
          <p:nvPr/>
        </p:nvSpPr>
        <p:spPr bwMode="auto">
          <a:xfrm>
            <a:off x="1752600" y="3276600"/>
            <a:ext cx="457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8211" name="Line 19"/>
          <p:cNvSpPr>
            <a:spLocks noChangeShapeType="1"/>
          </p:cNvSpPr>
          <p:nvPr/>
        </p:nvSpPr>
        <p:spPr bwMode="auto">
          <a:xfrm>
            <a:off x="3124200" y="3276600"/>
            <a:ext cx="457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8212" name="Rectangle 20"/>
          <p:cNvSpPr>
            <a:spLocks noChangeArrowheads="1"/>
          </p:cNvSpPr>
          <p:nvPr/>
        </p:nvSpPr>
        <p:spPr bwMode="auto">
          <a:xfrm>
            <a:off x="5257800" y="2743200"/>
            <a:ext cx="1295400" cy="10668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213" name="Rectangle 21"/>
          <p:cNvSpPr>
            <a:spLocks noChangeArrowheads="1"/>
          </p:cNvSpPr>
          <p:nvPr/>
        </p:nvSpPr>
        <p:spPr bwMode="auto">
          <a:xfrm>
            <a:off x="7543800" y="2743200"/>
            <a:ext cx="762000" cy="10668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214" name="Line 22"/>
          <p:cNvSpPr>
            <a:spLocks noChangeShapeType="1"/>
          </p:cNvSpPr>
          <p:nvPr/>
        </p:nvSpPr>
        <p:spPr bwMode="auto">
          <a:xfrm>
            <a:off x="4495800" y="3276600"/>
            <a:ext cx="762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8215" name="Line 23"/>
          <p:cNvSpPr>
            <a:spLocks noChangeShapeType="1"/>
          </p:cNvSpPr>
          <p:nvPr/>
        </p:nvSpPr>
        <p:spPr bwMode="auto">
          <a:xfrm>
            <a:off x="6553200" y="3276600"/>
            <a:ext cx="990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8216" name="Line 24"/>
          <p:cNvSpPr>
            <a:spLocks noChangeShapeType="1"/>
          </p:cNvSpPr>
          <p:nvPr/>
        </p:nvSpPr>
        <p:spPr bwMode="auto">
          <a:xfrm>
            <a:off x="8305800" y="3276600"/>
            <a:ext cx="685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8195" name="Object 25"/>
          <p:cNvGraphicFramePr>
            <a:graphicFrameLocks noChangeAspect="1"/>
          </p:cNvGraphicFramePr>
          <p:nvPr/>
        </p:nvGraphicFramePr>
        <p:xfrm>
          <a:off x="5486400" y="3048000"/>
          <a:ext cx="87947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20" imgH="215640" progId="Equation.3">
                  <p:embed/>
                </p:oleObj>
              </mc:Choice>
              <mc:Fallback>
                <p:oleObj name="Equation" r:id="rId4" imgW="342720" imgH="21564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3048000"/>
                        <a:ext cx="879475" cy="555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Object 26"/>
          <p:cNvGraphicFramePr>
            <a:graphicFrameLocks noChangeAspect="1"/>
          </p:cNvGraphicFramePr>
          <p:nvPr/>
        </p:nvGraphicFramePr>
        <p:xfrm>
          <a:off x="7635875" y="3032125"/>
          <a:ext cx="488950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0440" imgH="228600" progId="Equation.3">
                  <p:embed/>
                </p:oleObj>
              </mc:Choice>
              <mc:Fallback>
                <p:oleObj name="Equation" r:id="rId6" imgW="190440" imgH="2286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5875" y="3032125"/>
                        <a:ext cx="488950" cy="588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7" name="Line 27"/>
          <p:cNvSpPr>
            <a:spLocks noChangeShapeType="1"/>
          </p:cNvSpPr>
          <p:nvPr/>
        </p:nvSpPr>
        <p:spPr bwMode="auto">
          <a:xfrm rot="-5400000">
            <a:off x="3657600" y="4114800"/>
            <a:ext cx="762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8218" name="Rectangle 28"/>
          <p:cNvSpPr>
            <a:spLocks noChangeArrowheads="1"/>
          </p:cNvSpPr>
          <p:nvPr/>
        </p:nvSpPr>
        <p:spPr bwMode="auto">
          <a:xfrm>
            <a:off x="4876800" y="3962400"/>
            <a:ext cx="762000" cy="1066800"/>
          </a:xfrm>
          <a:prstGeom prst="rect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8197" name="Object 29"/>
          <p:cNvGraphicFramePr>
            <a:graphicFrameLocks noChangeAspect="1"/>
          </p:cNvGraphicFramePr>
          <p:nvPr/>
        </p:nvGraphicFramePr>
        <p:xfrm>
          <a:off x="4997450" y="4267200"/>
          <a:ext cx="5207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3040" imgH="215640" progId="Equation.3">
                  <p:embed/>
                </p:oleObj>
              </mc:Choice>
              <mc:Fallback>
                <p:oleObj name="Equation" r:id="rId8" imgW="203040" imgH="21564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7450" y="4267200"/>
                        <a:ext cx="520700" cy="555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9" name="Line 30"/>
          <p:cNvSpPr>
            <a:spLocks noChangeShapeType="1"/>
          </p:cNvSpPr>
          <p:nvPr/>
        </p:nvSpPr>
        <p:spPr bwMode="auto">
          <a:xfrm>
            <a:off x="5638800" y="4495800"/>
            <a:ext cx="1447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8220" name="Line 31"/>
          <p:cNvSpPr>
            <a:spLocks noChangeShapeType="1"/>
          </p:cNvSpPr>
          <p:nvPr/>
        </p:nvSpPr>
        <p:spPr bwMode="auto">
          <a:xfrm rot="-5400000">
            <a:off x="6477000" y="3886200"/>
            <a:ext cx="1219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8221" name="Line 32"/>
          <p:cNvSpPr>
            <a:spLocks noChangeShapeType="1"/>
          </p:cNvSpPr>
          <p:nvPr/>
        </p:nvSpPr>
        <p:spPr bwMode="auto">
          <a:xfrm>
            <a:off x="1295400" y="5334000"/>
            <a:ext cx="7239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8222" name="Line 33"/>
          <p:cNvSpPr>
            <a:spLocks noChangeShapeType="1"/>
          </p:cNvSpPr>
          <p:nvPr/>
        </p:nvSpPr>
        <p:spPr bwMode="auto">
          <a:xfrm rot="-5400000">
            <a:off x="7505700" y="4305300"/>
            <a:ext cx="20574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8223" name="Line 34"/>
          <p:cNvSpPr>
            <a:spLocks noChangeShapeType="1"/>
          </p:cNvSpPr>
          <p:nvPr/>
        </p:nvSpPr>
        <p:spPr bwMode="auto">
          <a:xfrm rot="-5400000">
            <a:off x="7848600" y="2590800"/>
            <a:ext cx="1371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8224" name="Rectangle 35"/>
          <p:cNvSpPr>
            <a:spLocks noChangeArrowheads="1"/>
          </p:cNvSpPr>
          <p:nvPr/>
        </p:nvSpPr>
        <p:spPr bwMode="auto">
          <a:xfrm>
            <a:off x="6400800" y="1371600"/>
            <a:ext cx="762000" cy="10668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8198" name="Object 36"/>
          <p:cNvGraphicFramePr>
            <a:graphicFrameLocks noChangeAspect="1"/>
          </p:cNvGraphicFramePr>
          <p:nvPr/>
        </p:nvGraphicFramePr>
        <p:xfrm>
          <a:off x="6477000" y="1346200"/>
          <a:ext cx="684213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6400" imgH="431640" progId="Equation.3">
                  <p:embed/>
                </p:oleObj>
              </mc:Choice>
              <mc:Fallback>
                <p:oleObj name="Equation" r:id="rId10" imgW="266400" imgH="43164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1346200"/>
                        <a:ext cx="684213" cy="1111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25" name="Line 37"/>
          <p:cNvSpPr>
            <a:spLocks noChangeShapeType="1"/>
          </p:cNvSpPr>
          <p:nvPr/>
        </p:nvSpPr>
        <p:spPr bwMode="auto">
          <a:xfrm>
            <a:off x="7162800" y="1905000"/>
            <a:ext cx="1371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8226" name="Line 38"/>
          <p:cNvSpPr>
            <a:spLocks noChangeShapeType="1"/>
          </p:cNvSpPr>
          <p:nvPr/>
        </p:nvSpPr>
        <p:spPr bwMode="auto">
          <a:xfrm>
            <a:off x="2667000" y="1905000"/>
            <a:ext cx="3733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8227" name="Line 39"/>
          <p:cNvSpPr>
            <a:spLocks noChangeShapeType="1"/>
          </p:cNvSpPr>
          <p:nvPr/>
        </p:nvSpPr>
        <p:spPr bwMode="auto">
          <a:xfrm rot="-5400000" flipH="1" flipV="1">
            <a:off x="2209800" y="2362200"/>
            <a:ext cx="9144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8228" name="Oval 40"/>
          <p:cNvSpPr>
            <a:spLocks noChangeArrowheads="1"/>
          </p:cNvSpPr>
          <p:nvPr/>
        </p:nvSpPr>
        <p:spPr bwMode="auto">
          <a:xfrm rot="2721666">
            <a:off x="3581400" y="2819400"/>
            <a:ext cx="914400" cy="9144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229" name="Line 41"/>
          <p:cNvSpPr>
            <a:spLocks noChangeShapeType="1"/>
          </p:cNvSpPr>
          <p:nvPr/>
        </p:nvSpPr>
        <p:spPr bwMode="auto">
          <a:xfrm rot="2721666">
            <a:off x="4038600" y="2819400"/>
            <a:ext cx="0" cy="914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30" name="Line 42"/>
          <p:cNvSpPr>
            <a:spLocks noChangeShapeType="1"/>
          </p:cNvSpPr>
          <p:nvPr/>
        </p:nvSpPr>
        <p:spPr bwMode="auto">
          <a:xfrm rot="2721666">
            <a:off x="3581400" y="3276600"/>
            <a:ext cx="9144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31" name="Text Box 43"/>
          <p:cNvSpPr txBox="1">
            <a:spLocks noChangeArrowheads="1"/>
          </p:cNvSpPr>
          <p:nvPr/>
        </p:nvSpPr>
        <p:spPr bwMode="auto">
          <a:xfrm>
            <a:off x="3603625" y="3048000"/>
            <a:ext cx="3921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/>
              <a:t>+</a:t>
            </a:r>
          </a:p>
        </p:txBody>
      </p:sp>
      <p:sp>
        <p:nvSpPr>
          <p:cNvPr id="8232" name="Text Box 44"/>
          <p:cNvSpPr txBox="1">
            <a:spLocks noChangeArrowheads="1"/>
          </p:cNvSpPr>
          <p:nvPr/>
        </p:nvSpPr>
        <p:spPr bwMode="auto">
          <a:xfrm>
            <a:off x="3844925" y="3263900"/>
            <a:ext cx="3921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/>
              <a:t>+</a:t>
            </a:r>
          </a:p>
        </p:txBody>
      </p:sp>
      <p:graphicFrame>
        <p:nvGraphicFramePr>
          <p:cNvPr id="8199" name="Object 45"/>
          <p:cNvGraphicFramePr>
            <a:graphicFrameLocks noChangeAspect="1"/>
          </p:cNvGraphicFramePr>
          <p:nvPr/>
        </p:nvGraphicFramePr>
        <p:xfrm>
          <a:off x="8610600" y="2574925"/>
          <a:ext cx="3905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2280" imgH="177480" progId="Equation.3">
                  <p:embed/>
                </p:oleObj>
              </mc:Choice>
              <mc:Fallback>
                <p:oleObj name="Equation" r:id="rId12" imgW="152280" imgH="177480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0600" y="2574925"/>
                        <a:ext cx="39052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21</a:t>
            </a:fld>
            <a:endParaRPr lang="en-GB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8839200" cy="1143000"/>
          </a:xfrm>
        </p:spPr>
        <p:txBody>
          <a:bodyPr/>
          <a:lstStyle/>
          <a:p>
            <a:r>
              <a:rPr lang="en-US" dirty="0"/>
              <a:t>Example-6</a:t>
            </a:r>
          </a:p>
        </p:txBody>
      </p:sp>
      <p:graphicFrame>
        <p:nvGraphicFramePr>
          <p:cNvPr id="9218" name="Object 3"/>
          <p:cNvGraphicFramePr>
            <a:graphicFrameLocks noChangeAspect="1"/>
          </p:cNvGraphicFramePr>
          <p:nvPr/>
        </p:nvGraphicFramePr>
        <p:xfrm>
          <a:off x="228600" y="2667000"/>
          <a:ext cx="39052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80" imgH="164880" progId="Equation.3">
                  <p:embed/>
                </p:oleObj>
              </mc:Choice>
              <mc:Fallback>
                <p:oleObj name="Equation" r:id="rId2" imgW="152280" imgH="1648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667000"/>
                        <a:ext cx="390525" cy="425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838200" y="2819400"/>
            <a:ext cx="914400" cy="914400"/>
            <a:chOff x="768" y="2352"/>
            <a:chExt cx="672" cy="672"/>
          </a:xfrm>
        </p:grpSpPr>
        <p:sp>
          <p:nvSpPr>
            <p:cNvPr id="9245" name="Oval 5"/>
            <p:cNvSpPr>
              <a:spLocks noChangeArrowheads="1"/>
            </p:cNvSpPr>
            <p:nvPr/>
          </p:nvSpPr>
          <p:spPr bwMode="auto">
            <a:xfrm rot="2721666">
              <a:off x="768" y="2352"/>
              <a:ext cx="672" cy="67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6" name="Line 6"/>
            <p:cNvSpPr>
              <a:spLocks noChangeShapeType="1"/>
            </p:cNvSpPr>
            <p:nvPr/>
          </p:nvSpPr>
          <p:spPr bwMode="auto">
            <a:xfrm rot="2721666">
              <a:off x="1104" y="2352"/>
              <a:ext cx="0" cy="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47" name="Line 7"/>
            <p:cNvSpPr>
              <a:spLocks noChangeShapeType="1"/>
            </p:cNvSpPr>
            <p:nvPr/>
          </p:nvSpPr>
          <p:spPr bwMode="auto">
            <a:xfrm rot="2721666">
              <a:off x="768" y="2688"/>
              <a:ext cx="6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48" name="Text Box 8"/>
            <p:cNvSpPr txBox="1">
              <a:spLocks noChangeArrowheads="1"/>
            </p:cNvSpPr>
            <p:nvPr/>
          </p:nvSpPr>
          <p:spPr bwMode="auto">
            <a:xfrm>
              <a:off x="992" y="2592"/>
              <a:ext cx="288" cy="3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800"/>
                <a:t>_</a:t>
              </a:r>
            </a:p>
          </p:txBody>
        </p:sp>
        <p:sp>
          <p:nvSpPr>
            <p:cNvPr id="9249" name="Text Box 9"/>
            <p:cNvSpPr txBox="1">
              <a:spLocks noChangeArrowheads="1"/>
            </p:cNvSpPr>
            <p:nvPr/>
          </p:nvSpPr>
          <p:spPr bwMode="auto">
            <a:xfrm>
              <a:off x="784" y="2520"/>
              <a:ext cx="288" cy="3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800"/>
                <a:t>+</a:t>
              </a:r>
            </a:p>
          </p:txBody>
        </p:sp>
      </p:grpSp>
      <p:sp>
        <p:nvSpPr>
          <p:cNvPr id="9225" name="Line 10"/>
          <p:cNvSpPr>
            <a:spLocks noChangeShapeType="1"/>
          </p:cNvSpPr>
          <p:nvPr/>
        </p:nvSpPr>
        <p:spPr bwMode="auto">
          <a:xfrm>
            <a:off x="228600" y="3276600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9226" name="Line 11"/>
          <p:cNvSpPr>
            <a:spLocks noChangeShapeType="1"/>
          </p:cNvSpPr>
          <p:nvPr/>
        </p:nvSpPr>
        <p:spPr bwMode="auto">
          <a:xfrm rot="-5400000">
            <a:off x="495300" y="4533900"/>
            <a:ext cx="1600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9227" name="Oval 12"/>
          <p:cNvSpPr>
            <a:spLocks noChangeArrowheads="1"/>
          </p:cNvSpPr>
          <p:nvPr/>
        </p:nvSpPr>
        <p:spPr bwMode="auto">
          <a:xfrm rot="2721666">
            <a:off x="2209800" y="2819400"/>
            <a:ext cx="914400" cy="914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28" name="Line 13"/>
          <p:cNvSpPr>
            <a:spLocks noChangeShapeType="1"/>
          </p:cNvSpPr>
          <p:nvPr/>
        </p:nvSpPr>
        <p:spPr bwMode="auto">
          <a:xfrm rot="2721666">
            <a:off x="2667000" y="281940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29" name="Line 14"/>
          <p:cNvSpPr>
            <a:spLocks noChangeShapeType="1"/>
          </p:cNvSpPr>
          <p:nvPr/>
        </p:nvSpPr>
        <p:spPr bwMode="auto">
          <a:xfrm rot="2721666">
            <a:off x="2209800" y="3276600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30" name="Text Box 15"/>
          <p:cNvSpPr txBox="1">
            <a:spLocks noChangeArrowheads="1"/>
          </p:cNvSpPr>
          <p:nvPr/>
        </p:nvSpPr>
        <p:spPr bwMode="auto">
          <a:xfrm>
            <a:off x="2489200" y="2552700"/>
            <a:ext cx="3921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/>
              <a:t>_</a:t>
            </a:r>
          </a:p>
        </p:txBody>
      </p:sp>
      <p:sp>
        <p:nvSpPr>
          <p:cNvPr id="9231" name="Text Box 16"/>
          <p:cNvSpPr txBox="1">
            <a:spLocks noChangeArrowheads="1"/>
          </p:cNvSpPr>
          <p:nvPr/>
        </p:nvSpPr>
        <p:spPr bwMode="auto">
          <a:xfrm>
            <a:off x="2219325" y="3009900"/>
            <a:ext cx="3921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/>
              <a:t>+</a:t>
            </a:r>
          </a:p>
        </p:txBody>
      </p:sp>
      <p:sp>
        <p:nvSpPr>
          <p:cNvPr id="9232" name="Line 17"/>
          <p:cNvSpPr>
            <a:spLocks noChangeShapeType="1"/>
          </p:cNvSpPr>
          <p:nvPr/>
        </p:nvSpPr>
        <p:spPr bwMode="auto">
          <a:xfrm>
            <a:off x="1752600" y="3276600"/>
            <a:ext cx="457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9233" name="Rectangle 18"/>
          <p:cNvSpPr>
            <a:spLocks noChangeArrowheads="1"/>
          </p:cNvSpPr>
          <p:nvPr/>
        </p:nvSpPr>
        <p:spPr bwMode="auto">
          <a:xfrm>
            <a:off x="3962400" y="2743200"/>
            <a:ext cx="2590800" cy="11430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34" name="Rectangle 19"/>
          <p:cNvSpPr>
            <a:spLocks noChangeArrowheads="1"/>
          </p:cNvSpPr>
          <p:nvPr/>
        </p:nvSpPr>
        <p:spPr bwMode="auto">
          <a:xfrm>
            <a:off x="7543800" y="2743200"/>
            <a:ext cx="762000" cy="10668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35" name="Line 20"/>
          <p:cNvSpPr>
            <a:spLocks noChangeShapeType="1"/>
          </p:cNvSpPr>
          <p:nvPr/>
        </p:nvSpPr>
        <p:spPr bwMode="auto">
          <a:xfrm>
            <a:off x="3200400" y="3276600"/>
            <a:ext cx="762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9236" name="Line 21"/>
          <p:cNvSpPr>
            <a:spLocks noChangeShapeType="1"/>
          </p:cNvSpPr>
          <p:nvPr/>
        </p:nvSpPr>
        <p:spPr bwMode="auto">
          <a:xfrm>
            <a:off x="6553200" y="3276600"/>
            <a:ext cx="990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9237" name="Line 22"/>
          <p:cNvSpPr>
            <a:spLocks noChangeShapeType="1"/>
          </p:cNvSpPr>
          <p:nvPr/>
        </p:nvSpPr>
        <p:spPr bwMode="auto">
          <a:xfrm>
            <a:off x="8305800" y="3276600"/>
            <a:ext cx="685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9219" name="Object 23"/>
          <p:cNvGraphicFramePr>
            <a:graphicFrameLocks noChangeAspect="1"/>
          </p:cNvGraphicFramePr>
          <p:nvPr/>
        </p:nvGraphicFramePr>
        <p:xfrm>
          <a:off x="4343400" y="2743200"/>
          <a:ext cx="1857375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23600" imgH="431640" progId="Equation.3">
                  <p:embed/>
                </p:oleObj>
              </mc:Choice>
              <mc:Fallback>
                <p:oleObj name="Equation" r:id="rId4" imgW="723600" imgH="43164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2743200"/>
                        <a:ext cx="1857375" cy="1111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0" name="Object 24"/>
          <p:cNvGraphicFramePr>
            <a:graphicFrameLocks noChangeAspect="1"/>
          </p:cNvGraphicFramePr>
          <p:nvPr/>
        </p:nvGraphicFramePr>
        <p:xfrm>
          <a:off x="7635875" y="3032125"/>
          <a:ext cx="488950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0440" imgH="228600" progId="Equation.3">
                  <p:embed/>
                </p:oleObj>
              </mc:Choice>
              <mc:Fallback>
                <p:oleObj name="Equation" r:id="rId6" imgW="190440" imgH="2286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5875" y="3032125"/>
                        <a:ext cx="488950" cy="588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8" name="Line 25"/>
          <p:cNvSpPr>
            <a:spLocks noChangeShapeType="1"/>
          </p:cNvSpPr>
          <p:nvPr/>
        </p:nvSpPr>
        <p:spPr bwMode="auto">
          <a:xfrm>
            <a:off x="1295400" y="5334000"/>
            <a:ext cx="7239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9239" name="Line 26"/>
          <p:cNvSpPr>
            <a:spLocks noChangeShapeType="1"/>
          </p:cNvSpPr>
          <p:nvPr/>
        </p:nvSpPr>
        <p:spPr bwMode="auto">
          <a:xfrm rot="-5400000">
            <a:off x="7505700" y="4305300"/>
            <a:ext cx="20574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9240" name="Line 27"/>
          <p:cNvSpPr>
            <a:spLocks noChangeShapeType="1"/>
          </p:cNvSpPr>
          <p:nvPr/>
        </p:nvSpPr>
        <p:spPr bwMode="auto">
          <a:xfrm rot="-5400000">
            <a:off x="7848600" y="2590800"/>
            <a:ext cx="1371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9241" name="Rectangle 28"/>
          <p:cNvSpPr>
            <a:spLocks noChangeArrowheads="1"/>
          </p:cNvSpPr>
          <p:nvPr/>
        </p:nvSpPr>
        <p:spPr bwMode="auto">
          <a:xfrm>
            <a:off x="6400800" y="1371600"/>
            <a:ext cx="762000" cy="10668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9221" name="Object 29"/>
          <p:cNvGraphicFramePr>
            <a:graphicFrameLocks noChangeAspect="1"/>
          </p:cNvGraphicFramePr>
          <p:nvPr/>
        </p:nvGraphicFramePr>
        <p:xfrm>
          <a:off x="6477000" y="1346200"/>
          <a:ext cx="684213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400" imgH="431640" progId="Equation.3">
                  <p:embed/>
                </p:oleObj>
              </mc:Choice>
              <mc:Fallback>
                <p:oleObj name="Equation" r:id="rId8" imgW="266400" imgH="43164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1346200"/>
                        <a:ext cx="684213" cy="1111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2" name="Line 30"/>
          <p:cNvSpPr>
            <a:spLocks noChangeShapeType="1"/>
          </p:cNvSpPr>
          <p:nvPr/>
        </p:nvSpPr>
        <p:spPr bwMode="auto">
          <a:xfrm>
            <a:off x="7162800" y="1905000"/>
            <a:ext cx="1371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9243" name="Line 31"/>
          <p:cNvSpPr>
            <a:spLocks noChangeShapeType="1"/>
          </p:cNvSpPr>
          <p:nvPr/>
        </p:nvSpPr>
        <p:spPr bwMode="auto">
          <a:xfrm>
            <a:off x="2667000" y="1905000"/>
            <a:ext cx="3733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9244" name="Line 32"/>
          <p:cNvSpPr>
            <a:spLocks noChangeShapeType="1"/>
          </p:cNvSpPr>
          <p:nvPr/>
        </p:nvSpPr>
        <p:spPr bwMode="auto">
          <a:xfrm rot="-5400000" flipH="1" flipV="1">
            <a:off x="2209800" y="2362200"/>
            <a:ext cx="9144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9222" name="Object 33"/>
          <p:cNvGraphicFramePr>
            <a:graphicFrameLocks noChangeAspect="1"/>
          </p:cNvGraphicFramePr>
          <p:nvPr/>
        </p:nvGraphicFramePr>
        <p:xfrm>
          <a:off x="8610600" y="2574925"/>
          <a:ext cx="3905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2280" imgH="177480" progId="Equation.3">
                  <p:embed/>
                </p:oleObj>
              </mc:Choice>
              <mc:Fallback>
                <p:oleObj name="Equation" r:id="rId10" imgW="152280" imgH="17748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0600" y="2574925"/>
                        <a:ext cx="39052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22</a:t>
            </a:fld>
            <a:endParaRPr lang="en-GB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8839200" cy="1143000"/>
          </a:xfrm>
        </p:spPr>
        <p:txBody>
          <a:bodyPr/>
          <a:lstStyle/>
          <a:p>
            <a:r>
              <a:rPr lang="en-US" dirty="0"/>
              <a:t>Example-6</a:t>
            </a:r>
          </a:p>
        </p:txBody>
      </p:sp>
      <p:graphicFrame>
        <p:nvGraphicFramePr>
          <p:cNvPr id="10242" name="Object 3"/>
          <p:cNvGraphicFramePr>
            <a:graphicFrameLocks noChangeAspect="1"/>
          </p:cNvGraphicFramePr>
          <p:nvPr/>
        </p:nvGraphicFramePr>
        <p:xfrm>
          <a:off x="228600" y="2667000"/>
          <a:ext cx="39052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80" imgH="164880" progId="Equation.3">
                  <p:embed/>
                </p:oleObj>
              </mc:Choice>
              <mc:Fallback>
                <p:oleObj name="Equation" r:id="rId2" imgW="152280" imgH="1648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667000"/>
                        <a:ext cx="390525" cy="425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838200" y="2819400"/>
            <a:ext cx="914400" cy="914400"/>
            <a:chOff x="768" y="2352"/>
            <a:chExt cx="672" cy="672"/>
          </a:xfrm>
        </p:grpSpPr>
        <p:sp>
          <p:nvSpPr>
            <p:cNvPr id="10266" name="Oval 5"/>
            <p:cNvSpPr>
              <a:spLocks noChangeArrowheads="1"/>
            </p:cNvSpPr>
            <p:nvPr/>
          </p:nvSpPr>
          <p:spPr bwMode="auto">
            <a:xfrm rot="2721666">
              <a:off x="768" y="2352"/>
              <a:ext cx="672" cy="67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7" name="Line 6"/>
            <p:cNvSpPr>
              <a:spLocks noChangeShapeType="1"/>
            </p:cNvSpPr>
            <p:nvPr/>
          </p:nvSpPr>
          <p:spPr bwMode="auto">
            <a:xfrm rot="2721666">
              <a:off x="1104" y="2352"/>
              <a:ext cx="0" cy="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68" name="Line 7"/>
            <p:cNvSpPr>
              <a:spLocks noChangeShapeType="1"/>
            </p:cNvSpPr>
            <p:nvPr/>
          </p:nvSpPr>
          <p:spPr bwMode="auto">
            <a:xfrm rot="2721666">
              <a:off x="768" y="2688"/>
              <a:ext cx="6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69" name="Text Box 8"/>
            <p:cNvSpPr txBox="1">
              <a:spLocks noChangeArrowheads="1"/>
            </p:cNvSpPr>
            <p:nvPr/>
          </p:nvSpPr>
          <p:spPr bwMode="auto">
            <a:xfrm>
              <a:off x="992" y="2592"/>
              <a:ext cx="288" cy="3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800"/>
                <a:t>_</a:t>
              </a:r>
            </a:p>
          </p:txBody>
        </p:sp>
        <p:sp>
          <p:nvSpPr>
            <p:cNvPr id="10270" name="Text Box 9"/>
            <p:cNvSpPr txBox="1">
              <a:spLocks noChangeArrowheads="1"/>
            </p:cNvSpPr>
            <p:nvPr/>
          </p:nvSpPr>
          <p:spPr bwMode="auto">
            <a:xfrm>
              <a:off x="784" y="2520"/>
              <a:ext cx="288" cy="3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800"/>
                <a:t>+</a:t>
              </a:r>
            </a:p>
          </p:txBody>
        </p:sp>
      </p:grpSp>
      <p:sp>
        <p:nvSpPr>
          <p:cNvPr id="10248" name="Line 10"/>
          <p:cNvSpPr>
            <a:spLocks noChangeShapeType="1"/>
          </p:cNvSpPr>
          <p:nvPr/>
        </p:nvSpPr>
        <p:spPr bwMode="auto">
          <a:xfrm>
            <a:off x="228600" y="3276600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10249" name="Line 11"/>
          <p:cNvSpPr>
            <a:spLocks noChangeShapeType="1"/>
          </p:cNvSpPr>
          <p:nvPr/>
        </p:nvSpPr>
        <p:spPr bwMode="auto">
          <a:xfrm rot="-5400000">
            <a:off x="495300" y="4533900"/>
            <a:ext cx="1600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10250" name="Oval 12"/>
          <p:cNvSpPr>
            <a:spLocks noChangeArrowheads="1"/>
          </p:cNvSpPr>
          <p:nvPr/>
        </p:nvSpPr>
        <p:spPr bwMode="auto">
          <a:xfrm rot="2721666">
            <a:off x="2209800" y="2819400"/>
            <a:ext cx="914400" cy="914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1" name="Line 13"/>
          <p:cNvSpPr>
            <a:spLocks noChangeShapeType="1"/>
          </p:cNvSpPr>
          <p:nvPr/>
        </p:nvSpPr>
        <p:spPr bwMode="auto">
          <a:xfrm rot="2721666">
            <a:off x="2667000" y="281940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52" name="Line 14"/>
          <p:cNvSpPr>
            <a:spLocks noChangeShapeType="1"/>
          </p:cNvSpPr>
          <p:nvPr/>
        </p:nvSpPr>
        <p:spPr bwMode="auto">
          <a:xfrm rot="2721666">
            <a:off x="2209800" y="3276600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53" name="Text Box 15"/>
          <p:cNvSpPr txBox="1">
            <a:spLocks noChangeArrowheads="1"/>
          </p:cNvSpPr>
          <p:nvPr/>
        </p:nvSpPr>
        <p:spPr bwMode="auto">
          <a:xfrm>
            <a:off x="2489200" y="2552700"/>
            <a:ext cx="3921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/>
              <a:t>_</a:t>
            </a:r>
          </a:p>
        </p:txBody>
      </p:sp>
      <p:sp>
        <p:nvSpPr>
          <p:cNvPr id="10254" name="Text Box 16"/>
          <p:cNvSpPr txBox="1">
            <a:spLocks noChangeArrowheads="1"/>
          </p:cNvSpPr>
          <p:nvPr/>
        </p:nvSpPr>
        <p:spPr bwMode="auto">
          <a:xfrm>
            <a:off x="2219325" y="3009900"/>
            <a:ext cx="3921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/>
              <a:t>+</a:t>
            </a:r>
          </a:p>
        </p:txBody>
      </p:sp>
      <p:sp>
        <p:nvSpPr>
          <p:cNvPr id="10255" name="Line 17"/>
          <p:cNvSpPr>
            <a:spLocks noChangeShapeType="1"/>
          </p:cNvSpPr>
          <p:nvPr/>
        </p:nvSpPr>
        <p:spPr bwMode="auto">
          <a:xfrm>
            <a:off x="1752600" y="3276600"/>
            <a:ext cx="457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10256" name="Rectangle 18"/>
          <p:cNvSpPr>
            <a:spLocks noChangeArrowheads="1"/>
          </p:cNvSpPr>
          <p:nvPr/>
        </p:nvSpPr>
        <p:spPr bwMode="auto">
          <a:xfrm>
            <a:off x="3962400" y="2743200"/>
            <a:ext cx="2590800" cy="11430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7" name="Line 19"/>
          <p:cNvSpPr>
            <a:spLocks noChangeShapeType="1"/>
          </p:cNvSpPr>
          <p:nvPr/>
        </p:nvSpPr>
        <p:spPr bwMode="auto">
          <a:xfrm>
            <a:off x="3200400" y="3276600"/>
            <a:ext cx="762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10258" name="Line 20"/>
          <p:cNvSpPr>
            <a:spLocks noChangeShapeType="1"/>
          </p:cNvSpPr>
          <p:nvPr/>
        </p:nvSpPr>
        <p:spPr bwMode="auto">
          <a:xfrm>
            <a:off x="6553200" y="3276600"/>
            <a:ext cx="24384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0243" name="Object 21"/>
          <p:cNvGraphicFramePr>
            <a:graphicFrameLocks noChangeAspect="1"/>
          </p:cNvGraphicFramePr>
          <p:nvPr/>
        </p:nvGraphicFramePr>
        <p:xfrm>
          <a:off x="4343400" y="2743200"/>
          <a:ext cx="1857375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23600" imgH="431640" progId="Equation.3">
                  <p:embed/>
                </p:oleObj>
              </mc:Choice>
              <mc:Fallback>
                <p:oleObj name="Equation" r:id="rId4" imgW="723600" imgH="43164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2743200"/>
                        <a:ext cx="1857375" cy="1111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9" name="Line 22"/>
          <p:cNvSpPr>
            <a:spLocks noChangeShapeType="1"/>
          </p:cNvSpPr>
          <p:nvPr/>
        </p:nvSpPr>
        <p:spPr bwMode="auto">
          <a:xfrm>
            <a:off x="1295400" y="5334000"/>
            <a:ext cx="7239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10260" name="Line 23"/>
          <p:cNvSpPr>
            <a:spLocks noChangeShapeType="1"/>
          </p:cNvSpPr>
          <p:nvPr/>
        </p:nvSpPr>
        <p:spPr bwMode="auto">
          <a:xfrm rot="-5400000">
            <a:off x="7505700" y="4305300"/>
            <a:ext cx="20574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10261" name="Line 24"/>
          <p:cNvSpPr>
            <a:spLocks noChangeShapeType="1"/>
          </p:cNvSpPr>
          <p:nvPr/>
        </p:nvSpPr>
        <p:spPr bwMode="auto">
          <a:xfrm rot="-5400000">
            <a:off x="7848600" y="2590800"/>
            <a:ext cx="1371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10262" name="Rectangle 25"/>
          <p:cNvSpPr>
            <a:spLocks noChangeArrowheads="1"/>
          </p:cNvSpPr>
          <p:nvPr/>
        </p:nvSpPr>
        <p:spPr bwMode="auto">
          <a:xfrm>
            <a:off x="6400800" y="1371600"/>
            <a:ext cx="762000" cy="10668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244" name="Object 26"/>
          <p:cNvGraphicFramePr>
            <a:graphicFrameLocks noChangeAspect="1"/>
          </p:cNvGraphicFramePr>
          <p:nvPr/>
        </p:nvGraphicFramePr>
        <p:xfrm>
          <a:off x="6477000" y="1346200"/>
          <a:ext cx="684213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6400" imgH="431640" progId="Equation.3">
                  <p:embed/>
                </p:oleObj>
              </mc:Choice>
              <mc:Fallback>
                <p:oleObj name="Equation" r:id="rId6" imgW="266400" imgH="43164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1346200"/>
                        <a:ext cx="684213" cy="1111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3" name="Line 27"/>
          <p:cNvSpPr>
            <a:spLocks noChangeShapeType="1"/>
          </p:cNvSpPr>
          <p:nvPr/>
        </p:nvSpPr>
        <p:spPr bwMode="auto">
          <a:xfrm>
            <a:off x="7162800" y="1905000"/>
            <a:ext cx="1371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10264" name="Line 28"/>
          <p:cNvSpPr>
            <a:spLocks noChangeShapeType="1"/>
          </p:cNvSpPr>
          <p:nvPr/>
        </p:nvSpPr>
        <p:spPr bwMode="auto">
          <a:xfrm>
            <a:off x="2667000" y="1905000"/>
            <a:ext cx="3733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10265" name="Line 29"/>
          <p:cNvSpPr>
            <a:spLocks noChangeShapeType="1"/>
          </p:cNvSpPr>
          <p:nvPr/>
        </p:nvSpPr>
        <p:spPr bwMode="auto">
          <a:xfrm rot="-5400000" flipH="1" flipV="1">
            <a:off x="2209800" y="2362200"/>
            <a:ext cx="9144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0245" name="Object 30"/>
          <p:cNvGraphicFramePr>
            <a:graphicFrameLocks noChangeAspect="1"/>
          </p:cNvGraphicFramePr>
          <p:nvPr/>
        </p:nvGraphicFramePr>
        <p:xfrm>
          <a:off x="8610600" y="2574925"/>
          <a:ext cx="3905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2280" imgH="177480" progId="Equation.3">
                  <p:embed/>
                </p:oleObj>
              </mc:Choice>
              <mc:Fallback>
                <p:oleObj name="Equation" r:id="rId8" imgW="152280" imgH="17748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0600" y="2574925"/>
                        <a:ext cx="39052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23</a:t>
            </a:fld>
            <a:endParaRPr lang="en-GB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8839200" cy="1143000"/>
          </a:xfrm>
        </p:spPr>
        <p:txBody>
          <a:bodyPr/>
          <a:lstStyle/>
          <a:p>
            <a:r>
              <a:rPr lang="en-US" dirty="0"/>
              <a:t>Example-6</a:t>
            </a:r>
          </a:p>
        </p:txBody>
      </p:sp>
      <p:graphicFrame>
        <p:nvGraphicFramePr>
          <p:cNvPr id="11266" name="Object 3"/>
          <p:cNvGraphicFramePr>
            <a:graphicFrameLocks noChangeAspect="1"/>
          </p:cNvGraphicFramePr>
          <p:nvPr/>
        </p:nvGraphicFramePr>
        <p:xfrm>
          <a:off x="228600" y="2454275"/>
          <a:ext cx="39052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80" imgH="164880" progId="Equation.3">
                  <p:embed/>
                </p:oleObj>
              </mc:Choice>
              <mc:Fallback>
                <p:oleObj name="Equation" r:id="rId2" imgW="152280" imgH="1648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454275"/>
                        <a:ext cx="390525" cy="425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838200" y="2606675"/>
            <a:ext cx="914400" cy="914400"/>
            <a:chOff x="768" y="2352"/>
            <a:chExt cx="672" cy="672"/>
          </a:xfrm>
        </p:grpSpPr>
        <p:sp>
          <p:nvSpPr>
            <p:cNvPr id="11278" name="Oval 5"/>
            <p:cNvSpPr>
              <a:spLocks noChangeArrowheads="1"/>
            </p:cNvSpPr>
            <p:nvPr/>
          </p:nvSpPr>
          <p:spPr bwMode="auto">
            <a:xfrm rot="2721666">
              <a:off x="768" y="2352"/>
              <a:ext cx="672" cy="67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79" name="Line 6"/>
            <p:cNvSpPr>
              <a:spLocks noChangeShapeType="1"/>
            </p:cNvSpPr>
            <p:nvPr/>
          </p:nvSpPr>
          <p:spPr bwMode="auto">
            <a:xfrm rot="2721666">
              <a:off x="1104" y="2352"/>
              <a:ext cx="0" cy="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80" name="Line 7"/>
            <p:cNvSpPr>
              <a:spLocks noChangeShapeType="1"/>
            </p:cNvSpPr>
            <p:nvPr/>
          </p:nvSpPr>
          <p:spPr bwMode="auto">
            <a:xfrm rot="2721666">
              <a:off x="768" y="2688"/>
              <a:ext cx="6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81" name="Text Box 8"/>
            <p:cNvSpPr txBox="1">
              <a:spLocks noChangeArrowheads="1"/>
            </p:cNvSpPr>
            <p:nvPr/>
          </p:nvSpPr>
          <p:spPr bwMode="auto">
            <a:xfrm>
              <a:off x="992" y="2592"/>
              <a:ext cx="288" cy="3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800"/>
                <a:t>_</a:t>
              </a:r>
            </a:p>
          </p:txBody>
        </p:sp>
        <p:sp>
          <p:nvSpPr>
            <p:cNvPr id="11282" name="Text Box 9"/>
            <p:cNvSpPr txBox="1">
              <a:spLocks noChangeArrowheads="1"/>
            </p:cNvSpPr>
            <p:nvPr/>
          </p:nvSpPr>
          <p:spPr bwMode="auto">
            <a:xfrm>
              <a:off x="784" y="2520"/>
              <a:ext cx="288" cy="3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800"/>
                <a:t>+</a:t>
              </a:r>
            </a:p>
          </p:txBody>
        </p:sp>
      </p:grpSp>
      <p:sp>
        <p:nvSpPr>
          <p:cNvPr id="11271" name="Line 10"/>
          <p:cNvSpPr>
            <a:spLocks noChangeShapeType="1"/>
          </p:cNvSpPr>
          <p:nvPr/>
        </p:nvSpPr>
        <p:spPr bwMode="auto">
          <a:xfrm>
            <a:off x="228600" y="3063875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11272" name="Line 11"/>
          <p:cNvSpPr>
            <a:spLocks noChangeShapeType="1"/>
          </p:cNvSpPr>
          <p:nvPr/>
        </p:nvSpPr>
        <p:spPr bwMode="auto">
          <a:xfrm rot="-5400000">
            <a:off x="495300" y="4321175"/>
            <a:ext cx="1600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11273" name="Rectangle 12"/>
          <p:cNvSpPr>
            <a:spLocks noChangeArrowheads="1"/>
          </p:cNvSpPr>
          <p:nvPr/>
        </p:nvSpPr>
        <p:spPr bwMode="auto">
          <a:xfrm>
            <a:off x="2971800" y="2454275"/>
            <a:ext cx="3810000" cy="11430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74" name="Line 13"/>
          <p:cNvSpPr>
            <a:spLocks noChangeShapeType="1"/>
          </p:cNvSpPr>
          <p:nvPr/>
        </p:nvSpPr>
        <p:spPr bwMode="auto">
          <a:xfrm>
            <a:off x="1752600" y="3063875"/>
            <a:ext cx="12192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11275" name="Line 14"/>
          <p:cNvSpPr>
            <a:spLocks noChangeShapeType="1"/>
          </p:cNvSpPr>
          <p:nvPr/>
        </p:nvSpPr>
        <p:spPr bwMode="auto">
          <a:xfrm>
            <a:off x="6781800" y="3063875"/>
            <a:ext cx="2209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267" name="Object 15"/>
          <p:cNvGraphicFramePr>
            <a:graphicFrameLocks noChangeAspect="1"/>
          </p:cNvGraphicFramePr>
          <p:nvPr/>
        </p:nvGraphicFramePr>
        <p:xfrm>
          <a:off x="3124200" y="2454275"/>
          <a:ext cx="3486150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58640" imgH="431640" progId="Equation.3">
                  <p:embed/>
                </p:oleObj>
              </mc:Choice>
              <mc:Fallback>
                <p:oleObj name="Equation" r:id="rId4" imgW="1358640" imgH="43164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454275"/>
                        <a:ext cx="3486150" cy="1111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6" name="Line 16"/>
          <p:cNvSpPr>
            <a:spLocks noChangeShapeType="1"/>
          </p:cNvSpPr>
          <p:nvPr/>
        </p:nvSpPr>
        <p:spPr bwMode="auto">
          <a:xfrm>
            <a:off x="1295400" y="5121275"/>
            <a:ext cx="6781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en-US"/>
          </a:p>
        </p:txBody>
      </p:sp>
      <p:sp>
        <p:nvSpPr>
          <p:cNvPr id="11277" name="Line 17"/>
          <p:cNvSpPr>
            <a:spLocks noChangeShapeType="1"/>
          </p:cNvSpPr>
          <p:nvPr/>
        </p:nvSpPr>
        <p:spPr bwMode="auto">
          <a:xfrm rot="-5400000">
            <a:off x="7048500" y="4092575"/>
            <a:ext cx="20574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268" name="Object 18"/>
          <p:cNvGraphicFramePr>
            <a:graphicFrameLocks noChangeAspect="1"/>
          </p:cNvGraphicFramePr>
          <p:nvPr/>
        </p:nvGraphicFramePr>
        <p:xfrm>
          <a:off x="8610600" y="2362200"/>
          <a:ext cx="3905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2280" imgH="177480" progId="Equation.3">
                  <p:embed/>
                </p:oleObj>
              </mc:Choice>
              <mc:Fallback>
                <p:oleObj name="Equation" r:id="rId6" imgW="152280" imgH="17748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0600" y="2362200"/>
                        <a:ext cx="39052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24</a:t>
            </a:fld>
            <a:endParaRPr lang="en-GB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" name="Text Box 122"/>
          <p:cNvSpPr txBox="1">
            <a:spLocks noChangeArrowheads="1"/>
          </p:cNvSpPr>
          <p:nvPr/>
        </p:nvSpPr>
        <p:spPr bwMode="auto">
          <a:xfrm>
            <a:off x="539750" y="333375"/>
            <a:ext cx="3657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latin typeface="Arial" pitchFamily="34" charset="0"/>
                <a:ea typeface="宋体" pitchFamily="2" charset="-122"/>
              </a:rPr>
              <a:t>Example 7</a:t>
            </a:r>
          </a:p>
        </p:txBody>
      </p:sp>
      <p:sp>
        <p:nvSpPr>
          <p:cNvPr id="3195" name="Rectangle 123"/>
          <p:cNvSpPr>
            <a:spLocks noChangeArrowheads="1"/>
          </p:cNvSpPr>
          <p:nvPr/>
        </p:nvSpPr>
        <p:spPr bwMode="auto">
          <a:xfrm>
            <a:off x="1403350" y="1125538"/>
            <a:ext cx="63373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333399"/>
                </a:solidFill>
                <a:latin typeface="Arial" pitchFamily="34" charset="0"/>
                <a:ea typeface="宋体" pitchFamily="2" charset="-122"/>
              </a:rPr>
              <a:t>Find the transfer function of the following block diagram</a:t>
            </a:r>
            <a:endParaRPr lang="zh-CN" altLang="en-US" dirty="0">
              <a:solidFill>
                <a:srgbClr val="333399"/>
              </a:solidFill>
              <a:latin typeface="Arial" pitchFamily="34" charset="0"/>
              <a:ea typeface="宋体" pitchFamily="2" charset="-122"/>
            </a:endParaRPr>
          </a:p>
        </p:txBody>
      </p:sp>
      <p:grpSp>
        <p:nvGrpSpPr>
          <p:cNvPr id="2" name="Group 130"/>
          <p:cNvGrpSpPr>
            <a:grpSpLocks/>
          </p:cNvGrpSpPr>
          <p:nvPr/>
        </p:nvGrpSpPr>
        <p:grpSpPr bwMode="auto">
          <a:xfrm>
            <a:off x="130175" y="2605088"/>
            <a:ext cx="8905875" cy="3200400"/>
            <a:chOff x="82" y="1641"/>
            <a:chExt cx="5610" cy="2016"/>
          </a:xfrm>
        </p:grpSpPr>
        <p:sp>
          <p:nvSpPr>
            <p:cNvPr id="3080" name="Line 8"/>
            <p:cNvSpPr>
              <a:spLocks noChangeShapeType="1"/>
            </p:cNvSpPr>
            <p:nvPr/>
          </p:nvSpPr>
          <p:spPr bwMode="auto">
            <a:xfrm>
              <a:off x="370" y="2293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82" name="Line 10"/>
            <p:cNvSpPr>
              <a:spLocks noChangeShapeType="1"/>
            </p:cNvSpPr>
            <p:nvPr/>
          </p:nvSpPr>
          <p:spPr bwMode="auto">
            <a:xfrm flipV="1">
              <a:off x="802" y="2313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84" name="Line 12"/>
            <p:cNvSpPr>
              <a:spLocks noChangeShapeType="1"/>
            </p:cNvSpPr>
            <p:nvPr/>
          </p:nvSpPr>
          <p:spPr bwMode="auto">
            <a:xfrm>
              <a:off x="1474" y="2313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86" name="Line 14"/>
            <p:cNvSpPr>
              <a:spLocks noChangeShapeType="1"/>
            </p:cNvSpPr>
            <p:nvPr/>
          </p:nvSpPr>
          <p:spPr bwMode="auto">
            <a:xfrm>
              <a:off x="2194" y="2313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90" name="Line 18"/>
            <p:cNvSpPr>
              <a:spLocks noChangeShapeType="1"/>
            </p:cNvSpPr>
            <p:nvPr/>
          </p:nvSpPr>
          <p:spPr bwMode="auto">
            <a:xfrm flipV="1">
              <a:off x="4690" y="2313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93" name="Line 21"/>
            <p:cNvSpPr>
              <a:spLocks noChangeShapeType="1"/>
            </p:cNvSpPr>
            <p:nvPr/>
          </p:nvSpPr>
          <p:spPr bwMode="auto">
            <a:xfrm flipV="1">
              <a:off x="2722" y="2361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94" name="Line 22"/>
            <p:cNvSpPr>
              <a:spLocks noChangeShapeType="1"/>
            </p:cNvSpPr>
            <p:nvPr/>
          </p:nvSpPr>
          <p:spPr bwMode="auto">
            <a:xfrm>
              <a:off x="5266" y="2293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96" name="Line 24"/>
            <p:cNvSpPr>
              <a:spLocks noChangeShapeType="1"/>
            </p:cNvSpPr>
            <p:nvPr/>
          </p:nvSpPr>
          <p:spPr bwMode="auto">
            <a:xfrm flipV="1">
              <a:off x="1378" y="2389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98" name="Line 26"/>
            <p:cNvSpPr>
              <a:spLocks noChangeShapeType="1"/>
            </p:cNvSpPr>
            <p:nvPr/>
          </p:nvSpPr>
          <p:spPr bwMode="auto">
            <a:xfrm>
              <a:off x="1138" y="2457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3" name="Group 55"/>
            <p:cNvGrpSpPr>
              <a:grpSpLocks/>
            </p:cNvGrpSpPr>
            <p:nvPr/>
          </p:nvGrpSpPr>
          <p:grpSpPr bwMode="auto">
            <a:xfrm>
              <a:off x="658" y="2121"/>
              <a:ext cx="96" cy="96"/>
              <a:chOff x="1344" y="1660"/>
              <a:chExt cx="96" cy="96"/>
            </a:xfrm>
          </p:grpSpPr>
          <p:sp>
            <p:nvSpPr>
              <p:cNvPr id="3099" name="Line 27"/>
              <p:cNvSpPr>
                <a:spLocks noChangeShapeType="1"/>
              </p:cNvSpPr>
              <p:nvPr/>
            </p:nvSpPr>
            <p:spPr bwMode="auto">
              <a:xfrm>
                <a:off x="1344" y="170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100" name="Line 28"/>
              <p:cNvSpPr>
                <a:spLocks noChangeShapeType="1"/>
              </p:cNvSpPr>
              <p:nvPr/>
            </p:nvSpPr>
            <p:spPr bwMode="auto">
              <a:xfrm flipV="1">
                <a:off x="1392" y="166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</p:grpSp>
        <p:pic>
          <p:nvPicPr>
            <p:cNvPr id="3125" name="Picture 53" descr="untitled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802" y="2217"/>
              <a:ext cx="192" cy="192"/>
            </a:xfrm>
            <a:prstGeom prst="rect">
              <a:avLst/>
            </a:prstGeom>
            <a:noFill/>
          </p:spPr>
        </p:pic>
        <p:pic>
          <p:nvPicPr>
            <p:cNvPr id="3126" name="Picture 54" descr="untitled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282" y="2217"/>
              <a:ext cx="192" cy="192"/>
            </a:xfrm>
            <a:prstGeom prst="rect">
              <a:avLst/>
            </a:prstGeom>
            <a:noFill/>
          </p:spPr>
        </p:pic>
        <p:grpSp>
          <p:nvGrpSpPr>
            <p:cNvPr id="4" name="Group 56"/>
            <p:cNvGrpSpPr>
              <a:grpSpLocks/>
            </p:cNvGrpSpPr>
            <p:nvPr/>
          </p:nvGrpSpPr>
          <p:grpSpPr bwMode="auto">
            <a:xfrm>
              <a:off x="1090" y="2121"/>
              <a:ext cx="96" cy="96"/>
              <a:chOff x="1344" y="1660"/>
              <a:chExt cx="96" cy="96"/>
            </a:xfrm>
          </p:grpSpPr>
          <p:sp>
            <p:nvSpPr>
              <p:cNvPr id="3129" name="Line 57"/>
              <p:cNvSpPr>
                <a:spLocks noChangeShapeType="1"/>
              </p:cNvSpPr>
              <p:nvPr/>
            </p:nvSpPr>
            <p:spPr bwMode="auto">
              <a:xfrm>
                <a:off x="1344" y="170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130" name="Line 58"/>
              <p:cNvSpPr>
                <a:spLocks noChangeShapeType="1"/>
              </p:cNvSpPr>
              <p:nvPr/>
            </p:nvSpPr>
            <p:spPr bwMode="auto">
              <a:xfrm flipV="1">
                <a:off x="1392" y="166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3131" name="Line 59"/>
            <p:cNvSpPr>
              <a:spLocks noChangeShapeType="1"/>
            </p:cNvSpPr>
            <p:nvPr/>
          </p:nvSpPr>
          <p:spPr bwMode="auto">
            <a:xfrm>
              <a:off x="658" y="2457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132" name="Line 60"/>
            <p:cNvSpPr>
              <a:spLocks noChangeShapeType="1"/>
            </p:cNvSpPr>
            <p:nvPr/>
          </p:nvSpPr>
          <p:spPr bwMode="auto">
            <a:xfrm flipH="1">
              <a:off x="898" y="3657"/>
              <a:ext cx="43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133" name="Line 61"/>
            <p:cNvSpPr>
              <a:spLocks noChangeShapeType="1"/>
            </p:cNvSpPr>
            <p:nvPr/>
          </p:nvSpPr>
          <p:spPr bwMode="auto">
            <a:xfrm flipV="1">
              <a:off x="5266" y="3321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134" name="Line 62"/>
            <p:cNvSpPr>
              <a:spLocks noChangeShapeType="1"/>
            </p:cNvSpPr>
            <p:nvPr/>
          </p:nvSpPr>
          <p:spPr bwMode="auto">
            <a:xfrm flipV="1">
              <a:off x="898" y="2361"/>
              <a:ext cx="0" cy="12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pic>
          <p:nvPicPr>
            <p:cNvPr id="3137" name="Picture 65" descr="untitled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930" y="2217"/>
              <a:ext cx="192" cy="192"/>
            </a:xfrm>
            <a:prstGeom prst="rect">
              <a:avLst/>
            </a:prstGeom>
            <a:noFill/>
          </p:spPr>
        </p:pic>
        <p:sp>
          <p:nvSpPr>
            <p:cNvPr id="3138" name="Line 66"/>
            <p:cNvSpPr>
              <a:spLocks noChangeShapeType="1"/>
            </p:cNvSpPr>
            <p:nvPr/>
          </p:nvSpPr>
          <p:spPr bwMode="auto">
            <a:xfrm>
              <a:off x="1378" y="3321"/>
              <a:ext cx="24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pic>
          <p:nvPicPr>
            <p:cNvPr id="3140" name="Picture 68" descr="untitled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626" y="2217"/>
              <a:ext cx="192" cy="192"/>
            </a:xfrm>
            <a:prstGeom prst="rect">
              <a:avLst/>
            </a:prstGeom>
            <a:noFill/>
          </p:spPr>
        </p:pic>
        <p:sp>
          <p:nvSpPr>
            <p:cNvPr id="3141" name="Line 69"/>
            <p:cNvSpPr>
              <a:spLocks noChangeShapeType="1"/>
            </p:cNvSpPr>
            <p:nvPr/>
          </p:nvSpPr>
          <p:spPr bwMode="auto">
            <a:xfrm>
              <a:off x="2818" y="2313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142" name="Rectangle 70"/>
            <p:cNvSpPr>
              <a:spLocks noChangeArrowheads="1"/>
            </p:cNvSpPr>
            <p:nvPr/>
          </p:nvSpPr>
          <p:spPr bwMode="auto">
            <a:xfrm>
              <a:off x="3202" y="2169"/>
              <a:ext cx="43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143" name="Line 71"/>
            <p:cNvSpPr>
              <a:spLocks noChangeShapeType="1"/>
            </p:cNvSpPr>
            <p:nvPr/>
          </p:nvSpPr>
          <p:spPr bwMode="auto">
            <a:xfrm>
              <a:off x="2722" y="2889"/>
              <a:ext cx="2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grpSp>
          <p:nvGrpSpPr>
            <p:cNvPr id="5" name="Group 72"/>
            <p:cNvGrpSpPr>
              <a:grpSpLocks/>
            </p:cNvGrpSpPr>
            <p:nvPr/>
          </p:nvGrpSpPr>
          <p:grpSpPr bwMode="auto">
            <a:xfrm>
              <a:off x="2530" y="2121"/>
              <a:ext cx="96" cy="96"/>
              <a:chOff x="1344" y="1660"/>
              <a:chExt cx="96" cy="96"/>
            </a:xfrm>
          </p:grpSpPr>
          <p:sp>
            <p:nvSpPr>
              <p:cNvPr id="3145" name="Line 73"/>
              <p:cNvSpPr>
                <a:spLocks noChangeShapeType="1"/>
              </p:cNvSpPr>
              <p:nvPr/>
            </p:nvSpPr>
            <p:spPr bwMode="auto">
              <a:xfrm>
                <a:off x="1344" y="170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146" name="Line 74"/>
              <p:cNvSpPr>
                <a:spLocks noChangeShapeType="1"/>
              </p:cNvSpPr>
              <p:nvPr/>
            </p:nvSpPr>
            <p:spPr bwMode="auto">
              <a:xfrm flipV="1">
                <a:off x="1392" y="166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3147" name="Line 75"/>
            <p:cNvSpPr>
              <a:spLocks noChangeShapeType="1"/>
            </p:cNvSpPr>
            <p:nvPr/>
          </p:nvSpPr>
          <p:spPr bwMode="auto">
            <a:xfrm>
              <a:off x="2578" y="2457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148" name="Rectangle 76"/>
            <p:cNvSpPr>
              <a:spLocks noChangeArrowheads="1"/>
            </p:cNvSpPr>
            <p:nvPr/>
          </p:nvSpPr>
          <p:spPr bwMode="auto">
            <a:xfrm>
              <a:off x="4162" y="2169"/>
              <a:ext cx="43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149" name="Line 77"/>
            <p:cNvSpPr>
              <a:spLocks noChangeShapeType="1"/>
            </p:cNvSpPr>
            <p:nvPr/>
          </p:nvSpPr>
          <p:spPr bwMode="auto">
            <a:xfrm>
              <a:off x="3634" y="2313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150" name="Line 78"/>
            <p:cNvSpPr>
              <a:spLocks noChangeShapeType="1"/>
            </p:cNvSpPr>
            <p:nvPr/>
          </p:nvSpPr>
          <p:spPr bwMode="auto">
            <a:xfrm>
              <a:off x="3858" y="2313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153" name="Freeform 81"/>
            <p:cNvSpPr>
              <a:spLocks/>
            </p:cNvSpPr>
            <p:nvPr/>
          </p:nvSpPr>
          <p:spPr bwMode="auto">
            <a:xfrm>
              <a:off x="3858" y="2793"/>
              <a:ext cx="112" cy="24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6" y="48"/>
                </a:cxn>
                <a:cxn ang="0">
                  <a:pos x="96" y="192"/>
                </a:cxn>
                <a:cxn ang="0">
                  <a:pos x="0" y="240"/>
                </a:cxn>
              </a:cxnLst>
              <a:rect l="0" t="0" r="r" b="b"/>
              <a:pathLst>
                <a:path w="112" h="240">
                  <a:moveTo>
                    <a:pt x="0" y="0"/>
                  </a:moveTo>
                  <a:cubicBezTo>
                    <a:pt x="40" y="8"/>
                    <a:pt x="80" y="16"/>
                    <a:pt x="96" y="48"/>
                  </a:cubicBezTo>
                  <a:cubicBezTo>
                    <a:pt x="112" y="80"/>
                    <a:pt x="112" y="160"/>
                    <a:pt x="96" y="192"/>
                  </a:cubicBezTo>
                  <a:cubicBezTo>
                    <a:pt x="80" y="224"/>
                    <a:pt x="40" y="232"/>
                    <a:pt x="0" y="24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154" name="Line 82"/>
            <p:cNvSpPr>
              <a:spLocks noChangeShapeType="1"/>
            </p:cNvSpPr>
            <p:nvPr/>
          </p:nvSpPr>
          <p:spPr bwMode="auto">
            <a:xfrm>
              <a:off x="3858" y="3033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155" name="Rectangle 83"/>
            <p:cNvSpPr>
              <a:spLocks noChangeArrowheads="1"/>
            </p:cNvSpPr>
            <p:nvPr/>
          </p:nvSpPr>
          <p:spPr bwMode="auto">
            <a:xfrm>
              <a:off x="2098" y="3177"/>
              <a:ext cx="384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156" name="Rectangle 84"/>
            <p:cNvSpPr>
              <a:spLocks noChangeArrowheads="1"/>
            </p:cNvSpPr>
            <p:nvPr/>
          </p:nvSpPr>
          <p:spPr bwMode="auto">
            <a:xfrm>
              <a:off x="4162" y="2745"/>
              <a:ext cx="384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157" name="Line 85"/>
            <p:cNvSpPr>
              <a:spLocks noChangeShapeType="1"/>
            </p:cNvSpPr>
            <p:nvPr/>
          </p:nvSpPr>
          <p:spPr bwMode="auto">
            <a:xfrm>
              <a:off x="4594" y="2313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158" name="Line 86"/>
            <p:cNvSpPr>
              <a:spLocks noChangeShapeType="1"/>
            </p:cNvSpPr>
            <p:nvPr/>
          </p:nvSpPr>
          <p:spPr bwMode="auto">
            <a:xfrm>
              <a:off x="3826" y="2313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grpSp>
          <p:nvGrpSpPr>
            <p:cNvPr id="6" name="Group 87"/>
            <p:cNvGrpSpPr>
              <a:grpSpLocks/>
            </p:cNvGrpSpPr>
            <p:nvPr/>
          </p:nvGrpSpPr>
          <p:grpSpPr bwMode="auto">
            <a:xfrm>
              <a:off x="4738" y="2121"/>
              <a:ext cx="96" cy="96"/>
              <a:chOff x="1344" y="1660"/>
              <a:chExt cx="96" cy="96"/>
            </a:xfrm>
          </p:grpSpPr>
          <p:sp>
            <p:nvSpPr>
              <p:cNvPr id="3160" name="Line 88"/>
              <p:cNvSpPr>
                <a:spLocks noChangeShapeType="1"/>
              </p:cNvSpPr>
              <p:nvPr/>
            </p:nvSpPr>
            <p:spPr bwMode="auto">
              <a:xfrm>
                <a:off x="1344" y="170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161" name="Line 89"/>
              <p:cNvSpPr>
                <a:spLocks noChangeShapeType="1"/>
              </p:cNvSpPr>
              <p:nvPr/>
            </p:nvSpPr>
            <p:spPr bwMode="auto">
              <a:xfrm flipV="1">
                <a:off x="1392" y="166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" name="Group 90"/>
            <p:cNvGrpSpPr>
              <a:grpSpLocks/>
            </p:cNvGrpSpPr>
            <p:nvPr/>
          </p:nvGrpSpPr>
          <p:grpSpPr bwMode="auto">
            <a:xfrm>
              <a:off x="4834" y="1977"/>
              <a:ext cx="96" cy="96"/>
              <a:chOff x="1344" y="1660"/>
              <a:chExt cx="96" cy="96"/>
            </a:xfrm>
          </p:grpSpPr>
          <p:sp>
            <p:nvSpPr>
              <p:cNvPr id="3163" name="Line 91"/>
              <p:cNvSpPr>
                <a:spLocks noChangeShapeType="1"/>
              </p:cNvSpPr>
              <p:nvPr/>
            </p:nvSpPr>
            <p:spPr bwMode="auto">
              <a:xfrm>
                <a:off x="1344" y="170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164" name="Line 92"/>
              <p:cNvSpPr>
                <a:spLocks noChangeShapeType="1"/>
              </p:cNvSpPr>
              <p:nvPr/>
            </p:nvSpPr>
            <p:spPr bwMode="auto">
              <a:xfrm flipV="1">
                <a:off x="1392" y="166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3165" name="Line 93"/>
            <p:cNvSpPr>
              <a:spLocks noChangeShapeType="1"/>
            </p:cNvSpPr>
            <p:nvPr/>
          </p:nvSpPr>
          <p:spPr bwMode="auto">
            <a:xfrm flipV="1">
              <a:off x="2962" y="1785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166" name="Line 94"/>
            <p:cNvSpPr>
              <a:spLocks noChangeShapeType="1"/>
            </p:cNvSpPr>
            <p:nvPr/>
          </p:nvSpPr>
          <p:spPr bwMode="auto">
            <a:xfrm>
              <a:off x="2962" y="1785"/>
              <a:ext cx="20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167" name="Line 95"/>
            <p:cNvSpPr>
              <a:spLocks noChangeShapeType="1"/>
            </p:cNvSpPr>
            <p:nvPr/>
          </p:nvSpPr>
          <p:spPr bwMode="auto">
            <a:xfrm>
              <a:off x="4978" y="1785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3168" name="Rectangle 96"/>
            <p:cNvSpPr>
              <a:spLocks noChangeArrowheads="1"/>
            </p:cNvSpPr>
            <p:nvPr/>
          </p:nvSpPr>
          <p:spPr bwMode="auto">
            <a:xfrm>
              <a:off x="3778" y="1641"/>
              <a:ext cx="384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3171" name="Object 99"/>
            <p:cNvGraphicFramePr>
              <a:graphicFrameLocks noChangeAspect="1"/>
            </p:cNvGraphicFramePr>
            <p:nvPr/>
          </p:nvGraphicFramePr>
          <p:xfrm>
            <a:off x="3298" y="2169"/>
            <a:ext cx="288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03040" imgH="215640" progId="Equation.3">
                    <p:embed/>
                  </p:oleObj>
                </mc:Choice>
                <mc:Fallback>
                  <p:oleObj name="Equation" r:id="rId3" imgW="203040" imgH="215640" progId="Equation.3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8" y="2169"/>
                          <a:ext cx="288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2" name="Object 100"/>
            <p:cNvGraphicFramePr>
              <a:graphicFrameLocks noChangeAspect="1"/>
            </p:cNvGraphicFramePr>
            <p:nvPr/>
          </p:nvGraphicFramePr>
          <p:xfrm>
            <a:off x="4276" y="2169"/>
            <a:ext cx="270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90440" imgH="228600" progId="Equation.3">
                    <p:embed/>
                  </p:oleObj>
                </mc:Choice>
                <mc:Fallback>
                  <p:oleObj name="Equation" r:id="rId5" imgW="190440" imgH="228600" progId="Equation.3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6" y="2169"/>
                          <a:ext cx="270" cy="32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3" name="Rectangle 101"/>
            <p:cNvSpPr>
              <a:spLocks noChangeArrowheads="1"/>
            </p:cNvSpPr>
            <p:nvPr/>
          </p:nvSpPr>
          <p:spPr bwMode="auto">
            <a:xfrm>
              <a:off x="1906" y="2169"/>
              <a:ext cx="43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3174" name="Object 102"/>
            <p:cNvGraphicFramePr>
              <a:graphicFrameLocks noChangeAspect="1"/>
            </p:cNvGraphicFramePr>
            <p:nvPr/>
          </p:nvGraphicFramePr>
          <p:xfrm>
            <a:off x="2002" y="2169"/>
            <a:ext cx="252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77480" imgH="215640" progId="Equation.3">
                    <p:embed/>
                  </p:oleObj>
                </mc:Choice>
                <mc:Fallback>
                  <p:oleObj name="Equation" r:id="rId7" imgW="177480" imgH="215640" progId="Equation.3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2" y="2169"/>
                          <a:ext cx="252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5" name="Object 103"/>
            <p:cNvGraphicFramePr>
              <a:graphicFrameLocks noChangeAspect="1"/>
            </p:cNvGraphicFramePr>
            <p:nvPr/>
          </p:nvGraphicFramePr>
          <p:xfrm>
            <a:off x="3874" y="1641"/>
            <a:ext cx="288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203040" imgH="215640" progId="Equation.3">
                    <p:embed/>
                  </p:oleObj>
                </mc:Choice>
                <mc:Fallback>
                  <p:oleObj name="Equation" r:id="rId9" imgW="203040" imgH="215640" progId="Equation.3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74" y="1641"/>
                          <a:ext cx="288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7" name="Object 105"/>
            <p:cNvGraphicFramePr>
              <a:graphicFrameLocks noChangeAspect="1"/>
            </p:cNvGraphicFramePr>
            <p:nvPr/>
          </p:nvGraphicFramePr>
          <p:xfrm>
            <a:off x="2164" y="3177"/>
            <a:ext cx="288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203040" imgH="215640" progId="Equation.3">
                    <p:embed/>
                  </p:oleObj>
                </mc:Choice>
                <mc:Fallback>
                  <p:oleObj name="Equation" r:id="rId11" imgW="203040" imgH="215640" progId="Equation.3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4" y="3177"/>
                          <a:ext cx="288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8" name="Object 106"/>
            <p:cNvGraphicFramePr>
              <a:graphicFrameLocks noChangeAspect="1"/>
            </p:cNvGraphicFramePr>
            <p:nvPr/>
          </p:nvGraphicFramePr>
          <p:xfrm>
            <a:off x="4210" y="2745"/>
            <a:ext cx="324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228600" imgH="215640" progId="Equation.3">
                    <p:embed/>
                  </p:oleObj>
                </mc:Choice>
                <mc:Fallback>
                  <p:oleObj name="Equation" r:id="rId13" imgW="228600" imgH="215640" progId="Equation.3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10" y="2745"/>
                          <a:ext cx="324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81" name="Object 109"/>
            <p:cNvGraphicFramePr>
              <a:graphicFrameLocks noChangeAspect="1"/>
            </p:cNvGraphicFramePr>
            <p:nvPr/>
          </p:nvGraphicFramePr>
          <p:xfrm>
            <a:off x="5242" y="1977"/>
            <a:ext cx="45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317160" imgH="203040" progId="Equation.3">
                    <p:embed/>
                  </p:oleObj>
                </mc:Choice>
                <mc:Fallback>
                  <p:oleObj name="Equation" r:id="rId15" imgW="317160" imgH="203040" progId="Equation.3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42" y="1977"/>
                          <a:ext cx="450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8" name="Group 125"/>
            <p:cNvGrpSpPr>
              <a:grpSpLocks noChangeAspect="1"/>
            </p:cNvGrpSpPr>
            <p:nvPr/>
          </p:nvGrpSpPr>
          <p:grpSpPr bwMode="auto">
            <a:xfrm>
              <a:off x="82" y="1977"/>
              <a:ext cx="450" cy="288"/>
              <a:chOff x="82" y="1977"/>
              <a:chExt cx="450" cy="288"/>
            </a:xfrm>
          </p:grpSpPr>
          <p:sp>
            <p:nvSpPr>
              <p:cNvPr id="3196" name="AutoShape 124"/>
              <p:cNvSpPr>
                <a:spLocks noChangeAspect="1" noChangeArrowheads="1" noTextEdit="1"/>
              </p:cNvSpPr>
              <p:nvPr/>
            </p:nvSpPr>
            <p:spPr bwMode="auto">
              <a:xfrm>
                <a:off x="82" y="1977"/>
                <a:ext cx="45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98" name="Rectangle 126"/>
              <p:cNvSpPr>
                <a:spLocks noChangeArrowheads="1"/>
              </p:cNvSpPr>
              <p:nvPr/>
            </p:nvSpPr>
            <p:spPr bwMode="auto">
              <a:xfrm>
                <a:off x="432" y="1983"/>
                <a:ext cx="159" cy="2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700">
                    <a:solidFill>
                      <a:srgbClr val="000000"/>
                    </a:solidFill>
                    <a:ea typeface="宋体" pitchFamily="2" charset="-122"/>
                  </a:rPr>
                  <a:t>)</a:t>
                </a:r>
                <a:endParaRPr lang="en-US" altLang="zh-CN">
                  <a:ea typeface="宋体" pitchFamily="2" charset="-122"/>
                </a:endParaRPr>
              </a:p>
            </p:txBody>
          </p:sp>
          <p:sp>
            <p:nvSpPr>
              <p:cNvPr id="3199" name="Rectangle 127"/>
              <p:cNvSpPr>
                <a:spLocks noChangeArrowheads="1"/>
              </p:cNvSpPr>
              <p:nvPr/>
            </p:nvSpPr>
            <p:spPr bwMode="auto">
              <a:xfrm>
                <a:off x="260" y="1983"/>
                <a:ext cx="159" cy="2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700">
                    <a:solidFill>
                      <a:srgbClr val="000000"/>
                    </a:solidFill>
                    <a:ea typeface="宋体" pitchFamily="2" charset="-122"/>
                  </a:rPr>
                  <a:t>(</a:t>
                </a:r>
                <a:endParaRPr lang="en-US" altLang="zh-CN">
                  <a:ea typeface="宋体" pitchFamily="2" charset="-122"/>
                </a:endParaRPr>
              </a:p>
            </p:txBody>
          </p:sp>
          <p:sp>
            <p:nvSpPr>
              <p:cNvPr id="3200" name="Rectangle 128"/>
              <p:cNvSpPr>
                <a:spLocks noChangeArrowheads="1"/>
              </p:cNvSpPr>
              <p:nvPr/>
            </p:nvSpPr>
            <p:spPr bwMode="auto">
              <a:xfrm>
                <a:off x="341" y="1983"/>
                <a:ext cx="170" cy="2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700" i="1">
                    <a:solidFill>
                      <a:srgbClr val="000000"/>
                    </a:solidFill>
                    <a:ea typeface="宋体" pitchFamily="2" charset="-122"/>
                  </a:rPr>
                  <a:t>s</a:t>
                </a:r>
                <a:endParaRPr lang="en-US" altLang="zh-CN">
                  <a:ea typeface="宋体" pitchFamily="2" charset="-122"/>
                </a:endParaRPr>
              </a:p>
            </p:txBody>
          </p:sp>
          <p:sp>
            <p:nvSpPr>
              <p:cNvPr id="3201" name="Rectangle 129"/>
              <p:cNvSpPr>
                <a:spLocks noChangeArrowheads="1"/>
              </p:cNvSpPr>
              <p:nvPr/>
            </p:nvSpPr>
            <p:spPr bwMode="auto">
              <a:xfrm>
                <a:off x="121" y="1983"/>
                <a:ext cx="219" cy="2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700" i="1">
                    <a:solidFill>
                      <a:srgbClr val="000000"/>
                    </a:solidFill>
                    <a:ea typeface="宋体" pitchFamily="2" charset="-122"/>
                  </a:rPr>
                  <a:t>R</a:t>
                </a:r>
                <a:endParaRPr lang="en-US" altLang="zh-CN">
                  <a:ea typeface="宋体" pitchFamily="2" charset="-122"/>
                </a:endParaRPr>
              </a:p>
            </p:txBody>
          </p:sp>
        </p:grpSp>
      </p:grp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25</a:t>
            </a:fld>
            <a:endParaRPr lang="en-GB"/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22"/>
          <p:cNvGrpSpPr>
            <a:grpSpLocks/>
          </p:cNvGrpSpPr>
          <p:nvPr/>
        </p:nvGrpSpPr>
        <p:grpSpPr bwMode="auto">
          <a:xfrm>
            <a:off x="381000" y="3733805"/>
            <a:ext cx="5573713" cy="503238"/>
            <a:chOff x="240" y="2352"/>
            <a:chExt cx="3511" cy="317"/>
          </a:xfrm>
        </p:grpSpPr>
        <p:sp>
          <p:nvSpPr>
            <p:cNvPr id="4099" name="Text Box 3"/>
            <p:cNvSpPr txBox="1">
              <a:spLocks noChangeArrowheads="1"/>
            </p:cNvSpPr>
            <p:nvPr/>
          </p:nvSpPr>
          <p:spPr bwMode="auto">
            <a:xfrm>
              <a:off x="240" y="2381"/>
              <a:ext cx="351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dirty="0">
                  <a:solidFill>
                    <a:srgbClr val="333399"/>
                  </a:solidFill>
                  <a:latin typeface="Arial" pitchFamily="34" charset="0"/>
                  <a:ea typeface="宋体" pitchFamily="2" charset="-122"/>
                </a:rPr>
                <a:t>1. </a:t>
              </a:r>
              <a:r>
                <a:rPr lang="en-US" altLang="zh-CN" dirty="0">
                  <a:solidFill>
                    <a:srgbClr val="333399"/>
                  </a:solidFill>
                  <a:latin typeface="Arial" pitchFamily="34" charset="0"/>
                  <a:ea typeface="宋体" pitchFamily="2" charset="-122"/>
                </a:rPr>
                <a:t>Moving pickoff point A ahead of block</a:t>
              </a:r>
            </a:p>
          </p:txBody>
        </p:sp>
        <p:grpSp>
          <p:nvGrpSpPr>
            <p:cNvPr id="3" name="Group 107"/>
            <p:cNvGrpSpPr>
              <a:grpSpLocks/>
            </p:cNvGrpSpPr>
            <p:nvPr/>
          </p:nvGrpSpPr>
          <p:grpSpPr bwMode="auto">
            <a:xfrm>
              <a:off x="2915" y="2352"/>
              <a:ext cx="432" cy="306"/>
              <a:chOff x="2629" y="589"/>
              <a:chExt cx="432" cy="306"/>
            </a:xfrm>
          </p:grpSpPr>
          <p:sp>
            <p:nvSpPr>
              <p:cNvPr id="4168" name="Rectangle 72"/>
              <p:cNvSpPr>
                <a:spLocks noChangeArrowheads="1"/>
              </p:cNvSpPr>
              <p:nvPr/>
            </p:nvSpPr>
            <p:spPr bwMode="auto">
              <a:xfrm>
                <a:off x="2629" y="589"/>
                <a:ext cx="432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graphicFrame>
            <p:nvGraphicFramePr>
              <p:cNvPr id="4169" name="Object 73"/>
              <p:cNvGraphicFramePr>
                <a:graphicFrameLocks noChangeAspect="1"/>
              </p:cNvGraphicFramePr>
              <p:nvPr/>
            </p:nvGraphicFramePr>
            <p:xfrm>
              <a:off x="2725" y="589"/>
              <a:ext cx="288" cy="3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203040" imgH="215640" progId="Equation.3">
                      <p:embed/>
                    </p:oleObj>
                  </mc:Choice>
                  <mc:Fallback>
                    <p:oleObj name="Equation" r:id="rId2" imgW="203040" imgH="215640" progId="Equation.3">
                      <p:embed/>
                      <p:pic>
                        <p:nvPicPr>
                          <p:cNvPr id="0" name="Picture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25" y="589"/>
                            <a:ext cx="288" cy="30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4191" name="Text Box 95"/>
          <p:cNvSpPr txBox="1">
            <a:spLocks noChangeArrowheads="1"/>
          </p:cNvSpPr>
          <p:nvPr/>
        </p:nvSpPr>
        <p:spPr bwMode="auto">
          <a:xfrm>
            <a:off x="395288" y="4506913"/>
            <a:ext cx="308289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333399"/>
                </a:solidFill>
                <a:latin typeface="Arial" pitchFamily="34" charset="0"/>
                <a:ea typeface="宋体" pitchFamily="2" charset="-122"/>
              </a:rPr>
              <a:t>2. </a:t>
            </a:r>
            <a:r>
              <a:rPr lang="en-US" altLang="zh-CN" dirty="0">
                <a:solidFill>
                  <a:srgbClr val="333399"/>
                </a:solidFill>
                <a:latin typeface="Arial" pitchFamily="34" charset="0"/>
                <a:ea typeface="宋体" pitchFamily="2" charset="-122"/>
              </a:rPr>
              <a:t>Eliminate loop </a:t>
            </a:r>
            <a:r>
              <a:rPr lang="en-US" altLang="zh-CN" dirty="0">
                <a:solidFill>
                  <a:srgbClr val="3333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</a:t>
            </a:r>
            <a:r>
              <a:rPr lang="en-US" altLang="zh-CN" dirty="0">
                <a:solidFill>
                  <a:srgbClr val="333399"/>
                </a:solidFill>
                <a:latin typeface="Arial" pitchFamily="34" charset="0"/>
                <a:ea typeface="宋体" pitchFamily="2" charset="-122"/>
              </a:rPr>
              <a:t> &amp; simplify</a:t>
            </a:r>
          </a:p>
        </p:txBody>
      </p:sp>
      <p:grpSp>
        <p:nvGrpSpPr>
          <p:cNvPr id="4" name="Group 117"/>
          <p:cNvGrpSpPr>
            <a:grpSpLocks/>
          </p:cNvGrpSpPr>
          <p:nvPr/>
        </p:nvGrpSpPr>
        <p:grpSpPr bwMode="auto">
          <a:xfrm>
            <a:off x="2057400" y="5257800"/>
            <a:ext cx="3886200" cy="914400"/>
            <a:chOff x="1296" y="3312"/>
            <a:chExt cx="2448" cy="576"/>
          </a:xfrm>
        </p:grpSpPr>
        <p:sp>
          <p:nvSpPr>
            <p:cNvPr id="4193" name="Line 97"/>
            <p:cNvSpPr>
              <a:spLocks noChangeShapeType="1"/>
            </p:cNvSpPr>
            <p:nvPr/>
          </p:nvSpPr>
          <p:spPr bwMode="auto">
            <a:xfrm>
              <a:off x="1296" y="3504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grpSp>
          <p:nvGrpSpPr>
            <p:cNvPr id="5" name="Group 106"/>
            <p:cNvGrpSpPr>
              <a:grpSpLocks/>
            </p:cNvGrpSpPr>
            <p:nvPr/>
          </p:nvGrpSpPr>
          <p:grpSpPr bwMode="auto">
            <a:xfrm>
              <a:off x="2064" y="3351"/>
              <a:ext cx="1008" cy="324"/>
              <a:chOff x="2064" y="3351"/>
              <a:chExt cx="1008" cy="324"/>
            </a:xfrm>
          </p:grpSpPr>
          <p:sp>
            <p:nvSpPr>
              <p:cNvPr id="4194" name="Rectangle 98"/>
              <p:cNvSpPr>
                <a:spLocks noChangeArrowheads="1"/>
              </p:cNvSpPr>
              <p:nvPr/>
            </p:nvSpPr>
            <p:spPr bwMode="auto">
              <a:xfrm>
                <a:off x="2064" y="3360"/>
                <a:ext cx="100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graphicFrame>
            <p:nvGraphicFramePr>
              <p:cNvPr id="4195" name="Object 99"/>
              <p:cNvGraphicFramePr>
                <a:graphicFrameLocks noChangeAspect="1"/>
              </p:cNvGraphicFramePr>
              <p:nvPr/>
            </p:nvGraphicFramePr>
            <p:xfrm>
              <a:off x="2160" y="3351"/>
              <a:ext cx="783" cy="3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647640" imgH="228600" progId="Equation.3">
                      <p:embed/>
                    </p:oleObj>
                  </mc:Choice>
                  <mc:Fallback>
                    <p:oleObj name="Equation" r:id="rId4" imgW="647640" imgH="228600" progId="Equation.3">
                      <p:embed/>
                      <p:pic>
                        <p:nvPicPr>
                          <p:cNvPr id="0" name="Picture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60" y="3351"/>
                            <a:ext cx="783" cy="32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196" name="Line 100"/>
            <p:cNvSpPr>
              <a:spLocks noChangeShapeType="1"/>
            </p:cNvSpPr>
            <p:nvPr/>
          </p:nvSpPr>
          <p:spPr bwMode="auto">
            <a:xfrm>
              <a:off x="3072" y="3504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4197" name="Line 101"/>
            <p:cNvSpPr>
              <a:spLocks noChangeShapeType="1"/>
            </p:cNvSpPr>
            <p:nvPr/>
          </p:nvSpPr>
          <p:spPr bwMode="auto">
            <a:xfrm>
              <a:off x="1680" y="3504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graphicFrame>
          <p:nvGraphicFramePr>
            <p:cNvPr id="4198" name="Object 102"/>
            <p:cNvGraphicFramePr>
              <a:graphicFrameLocks noChangeAspect="1"/>
            </p:cNvGraphicFramePr>
            <p:nvPr/>
          </p:nvGraphicFramePr>
          <p:xfrm>
            <a:off x="1584" y="3312"/>
            <a:ext cx="133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52280" imgH="164880" progId="Equation.3">
                    <p:embed/>
                  </p:oleObj>
                </mc:Choice>
                <mc:Fallback>
                  <p:oleObj name="Equation" r:id="rId6" imgW="152280" imgH="164880" progId="Equation.3">
                    <p:embed/>
                    <p:pic>
                      <p:nvPicPr>
                        <p:cNvPr id="0" name="Picture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4" y="3312"/>
                          <a:ext cx="133" cy="144"/>
                        </a:xfrm>
                        <a:prstGeom prst="rect">
                          <a:avLst/>
                        </a:prstGeom>
                        <a:solidFill>
                          <a:srgbClr val="CCFFCC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16" name="Line 120"/>
          <p:cNvSpPr>
            <a:spLocks noChangeShapeType="1"/>
          </p:cNvSpPr>
          <p:nvPr/>
        </p:nvSpPr>
        <p:spPr bwMode="auto">
          <a:xfrm>
            <a:off x="381000" y="141605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4217" name="Line 121"/>
          <p:cNvSpPr>
            <a:spLocks noChangeShapeType="1"/>
          </p:cNvSpPr>
          <p:nvPr/>
        </p:nvSpPr>
        <p:spPr bwMode="auto">
          <a:xfrm flipV="1">
            <a:off x="1066800" y="1447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4218" name="Line 122"/>
          <p:cNvSpPr>
            <a:spLocks noChangeShapeType="1"/>
          </p:cNvSpPr>
          <p:nvPr/>
        </p:nvSpPr>
        <p:spPr bwMode="auto">
          <a:xfrm>
            <a:off x="2133600" y="1447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4219" name="Line 123"/>
          <p:cNvSpPr>
            <a:spLocks noChangeShapeType="1"/>
          </p:cNvSpPr>
          <p:nvPr/>
        </p:nvSpPr>
        <p:spPr bwMode="auto">
          <a:xfrm>
            <a:off x="3276600" y="1447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4220" name="Line 124"/>
          <p:cNvSpPr>
            <a:spLocks noChangeShapeType="1"/>
          </p:cNvSpPr>
          <p:nvPr/>
        </p:nvSpPr>
        <p:spPr bwMode="auto">
          <a:xfrm flipV="1">
            <a:off x="7239000" y="14478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4221" name="Line 125"/>
          <p:cNvSpPr>
            <a:spLocks noChangeShapeType="1"/>
          </p:cNvSpPr>
          <p:nvPr/>
        </p:nvSpPr>
        <p:spPr bwMode="auto">
          <a:xfrm flipV="1">
            <a:off x="4114800" y="1524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4222" name="Line 126"/>
          <p:cNvSpPr>
            <a:spLocks noChangeShapeType="1"/>
          </p:cNvSpPr>
          <p:nvPr/>
        </p:nvSpPr>
        <p:spPr bwMode="auto">
          <a:xfrm>
            <a:off x="8153400" y="141605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4223" name="Line 127"/>
          <p:cNvSpPr>
            <a:spLocks noChangeShapeType="1"/>
          </p:cNvSpPr>
          <p:nvPr/>
        </p:nvSpPr>
        <p:spPr bwMode="auto">
          <a:xfrm flipV="1">
            <a:off x="1981200" y="1568450"/>
            <a:ext cx="0" cy="9461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4224" name="Line 128"/>
          <p:cNvSpPr>
            <a:spLocks noChangeShapeType="1"/>
          </p:cNvSpPr>
          <p:nvPr/>
        </p:nvSpPr>
        <p:spPr bwMode="auto">
          <a:xfrm>
            <a:off x="1600200" y="1676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GB"/>
          </a:p>
        </p:txBody>
      </p:sp>
      <p:grpSp>
        <p:nvGrpSpPr>
          <p:cNvPr id="6" name="Group 129"/>
          <p:cNvGrpSpPr>
            <a:grpSpLocks/>
          </p:cNvGrpSpPr>
          <p:nvPr/>
        </p:nvGrpSpPr>
        <p:grpSpPr bwMode="auto">
          <a:xfrm>
            <a:off x="838200" y="1143000"/>
            <a:ext cx="152400" cy="152400"/>
            <a:chOff x="1344" y="1660"/>
            <a:chExt cx="96" cy="96"/>
          </a:xfrm>
        </p:grpSpPr>
        <p:sp>
          <p:nvSpPr>
            <p:cNvPr id="4226" name="Line 130"/>
            <p:cNvSpPr>
              <a:spLocks noChangeShapeType="1"/>
            </p:cNvSpPr>
            <p:nvPr/>
          </p:nvSpPr>
          <p:spPr bwMode="auto">
            <a:xfrm>
              <a:off x="1344" y="170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227" name="Line 131"/>
            <p:cNvSpPr>
              <a:spLocks noChangeShapeType="1"/>
            </p:cNvSpPr>
            <p:nvPr/>
          </p:nvSpPr>
          <p:spPr bwMode="auto">
            <a:xfrm flipV="1">
              <a:off x="1392" y="166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</p:grpSp>
      <p:pic>
        <p:nvPicPr>
          <p:cNvPr id="4228" name="Picture 132" descr="untitled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066800" y="1295400"/>
            <a:ext cx="304800" cy="304800"/>
          </a:xfrm>
          <a:prstGeom prst="rect">
            <a:avLst/>
          </a:prstGeom>
          <a:noFill/>
        </p:spPr>
      </p:pic>
      <p:pic>
        <p:nvPicPr>
          <p:cNvPr id="4229" name="Picture 133" descr="untitled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828800" y="1295400"/>
            <a:ext cx="304800" cy="304800"/>
          </a:xfrm>
          <a:prstGeom prst="rect">
            <a:avLst/>
          </a:prstGeom>
          <a:noFill/>
        </p:spPr>
      </p:pic>
      <p:grpSp>
        <p:nvGrpSpPr>
          <p:cNvPr id="7" name="Group 134"/>
          <p:cNvGrpSpPr>
            <a:grpSpLocks/>
          </p:cNvGrpSpPr>
          <p:nvPr/>
        </p:nvGrpSpPr>
        <p:grpSpPr bwMode="auto">
          <a:xfrm>
            <a:off x="1524000" y="1143000"/>
            <a:ext cx="152400" cy="152400"/>
            <a:chOff x="1344" y="1660"/>
            <a:chExt cx="96" cy="96"/>
          </a:xfrm>
        </p:grpSpPr>
        <p:sp>
          <p:nvSpPr>
            <p:cNvPr id="4231" name="Line 135"/>
            <p:cNvSpPr>
              <a:spLocks noChangeShapeType="1"/>
            </p:cNvSpPr>
            <p:nvPr/>
          </p:nvSpPr>
          <p:spPr bwMode="auto">
            <a:xfrm>
              <a:off x="1344" y="170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232" name="Line 136"/>
            <p:cNvSpPr>
              <a:spLocks noChangeShapeType="1"/>
            </p:cNvSpPr>
            <p:nvPr/>
          </p:nvSpPr>
          <p:spPr bwMode="auto">
            <a:xfrm flipV="1">
              <a:off x="1392" y="166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</p:grpSp>
      <p:sp>
        <p:nvSpPr>
          <p:cNvPr id="4233" name="Line 137"/>
          <p:cNvSpPr>
            <a:spLocks noChangeShapeType="1"/>
          </p:cNvSpPr>
          <p:nvPr/>
        </p:nvSpPr>
        <p:spPr bwMode="auto">
          <a:xfrm>
            <a:off x="838200" y="1676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4234" name="Line 138"/>
          <p:cNvSpPr>
            <a:spLocks noChangeShapeType="1"/>
          </p:cNvSpPr>
          <p:nvPr/>
        </p:nvSpPr>
        <p:spPr bwMode="auto">
          <a:xfrm flipH="1">
            <a:off x="1219200" y="3048000"/>
            <a:ext cx="69342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4235" name="Line 139"/>
          <p:cNvSpPr>
            <a:spLocks noChangeShapeType="1"/>
          </p:cNvSpPr>
          <p:nvPr/>
        </p:nvSpPr>
        <p:spPr bwMode="auto">
          <a:xfrm flipV="1">
            <a:off x="1219200" y="15240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pic>
        <p:nvPicPr>
          <p:cNvPr id="4236" name="Picture 140" descr="untitled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620000" y="1295400"/>
            <a:ext cx="304800" cy="304800"/>
          </a:xfrm>
          <a:prstGeom prst="rect">
            <a:avLst/>
          </a:prstGeom>
          <a:noFill/>
        </p:spPr>
      </p:pic>
      <p:sp>
        <p:nvSpPr>
          <p:cNvPr id="4237" name="Line 141"/>
          <p:cNvSpPr>
            <a:spLocks noChangeShapeType="1"/>
          </p:cNvSpPr>
          <p:nvPr/>
        </p:nvSpPr>
        <p:spPr bwMode="auto">
          <a:xfrm>
            <a:off x="1981200" y="2514600"/>
            <a:ext cx="2667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pic>
        <p:nvPicPr>
          <p:cNvPr id="4238" name="Picture 142" descr="untitled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962400" y="1295400"/>
            <a:ext cx="304800" cy="304800"/>
          </a:xfrm>
          <a:prstGeom prst="rect">
            <a:avLst/>
          </a:prstGeom>
          <a:noFill/>
        </p:spPr>
      </p:pic>
      <p:sp>
        <p:nvSpPr>
          <p:cNvPr id="4239" name="Line 143"/>
          <p:cNvSpPr>
            <a:spLocks noChangeShapeType="1"/>
          </p:cNvSpPr>
          <p:nvPr/>
        </p:nvSpPr>
        <p:spPr bwMode="auto">
          <a:xfrm>
            <a:off x="4267200" y="14478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4240" name="Line 144"/>
          <p:cNvSpPr>
            <a:spLocks noChangeShapeType="1"/>
          </p:cNvSpPr>
          <p:nvPr/>
        </p:nvSpPr>
        <p:spPr bwMode="auto">
          <a:xfrm>
            <a:off x="4114800" y="2028825"/>
            <a:ext cx="403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grpSp>
        <p:nvGrpSpPr>
          <p:cNvPr id="8" name="Group 145"/>
          <p:cNvGrpSpPr>
            <a:grpSpLocks/>
          </p:cNvGrpSpPr>
          <p:nvPr/>
        </p:nvGrpSpPr>
        <p:grpSpPr bwMode="auto">
          <a:xfrm>
            <a:off x="3810000" y="1143000"/>
            <a:ext cx="152400" cy="152400"/>
            <a:chOff x="1344" y="1660"/>
            <a:chExt cx="96" cy="96"/>
          </a:xfrm>
        </p:grpSpPr>
        <p:sp>
          <p:nvSpPr>
            <p:cNvPr id="4242" name="Line 146"/>
            <p:cNvSpPr>
              <a:spLocks noChangeShapeType="1"/>
            </p:cNvSpPr>
            <p:nvPr/>
          </p:nvSpPr>
          <p:spPr bwMode="auto">
            <a:xfrm>
              <a:off x="1344" y="170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243" name="Line 147"/>
            <p:cNvSpPr>
              <a:spLocks noChangeShapeType="1"/>
            </p:cNvSpPr>
            <p:nvPr/>
          </p:nvSpPr>
          <p:spPr bwMode="auto">
            <a:xfrm flipV="1">
              <a:off x="1392" y="166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</p:grpSp>
      <p:sp>
        <p:nvSpPr>
          <p:cNvPr id="4244" name="Line 148"/>
          <p:cNvSpPr>
            <a:spLocks noChangeShapeType="1"/>
          </p:cNvSpPr>
          <p:nvPr/>
        </p:nvSpPr>
        <p:spPr bwMode="auto">
          <a:xfrm>
            <a:off x="3886200" y="1676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4245" name="Line 149"/>
          <p:cNvSpPr>
            <a:spLocks noChangeShapeType="1"/>
          </p:cNvSpPr>
          <p:nvPr/>
        </p:nvSpPr>
        <p:spPr bwMode="auto">
          <a:xfrm>
            <a:off x="5562600" y="1447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4246" name="Line 150"/>
          <p:cNvSpPr>
            <a:spLocks noChangeShapeType="1"/>
          </p:cNvSpPr>
          <p:nvPr/>
        </p:nvSpPr>
        <p:spPr bwMode="auto">
          <a:xfrm>
            <a:off x="7086600" y="14478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4247" name="Line 151"/>
          <p:cNvSpPr>
            <a:spLocks noChangeShapeType="1"/>
          </p:cNvSpPr>
          <p:nvPr/>
        </p:nvSpPr>
        <p:spPr bwMode="auto">
          <a:xfrm>
            <a:off x="5943600" y="1447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grpSp>
        <p:nvGrpSpPr>
          <p:cNvPr id="9" name="Group 152"/>
          <p:cNvGrpSpPr>
            <a:grpSpLocks/>
          </p:cNvGrpSpPr>
          <p:nvPr/>
        </p:nvGrpSpPr>
        <p:grpSpPr bwMode="auto">
          <a:xfrm>
            <a:off x="7391400" y="1219200"/>
            <a:ext cx="152400" cy="152400"/>
            <a:chOff x="1344" y="1660"/>
            <a:chExt cx="96" cy="96"/>
          </a:xfrm>
        </p:grpSpPr>
        <p:sp>
          <p:nvSpPr>
            <p:cNvPr id="4249" name="Line 153"/>
            <p:cNvSpPr>
              <a:spLocks noChangeShapeType="1"/>
            </p:cNvSpPr>
            <p:nvPr/>
          </p:nvSpPr>
          <p:spPr bwMode="auto">
            <a:xfrm>
              <a:off x="1344" y="170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250" name="Line 154"/>
            <p:cNvSpPr>
              <a:spLocks noChangeShapeType="1"/>
            </p:cNvSpPr>
            <p:nvPr/>
          </p:nvSpPr>
          <p:spPr bwMode="auto">
            <a:xfrm flipV="1">
              <a:off x="1392" y="166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10" name="Group 155"/>
          <p:cNvGrpSpPr>
            <a:grpSpLocks/>
          </p:cNvGrpSpPr>
          <p:nvPr/>
        </p:nvGrpSpPr>
        <p:grpSpPr bwMode="auto">
          <a:xfrm>
            <a:off x="7467600" y="990600"/>
            <a:ext cx="152400" cy="152400"/>
            <a:chOff x="1344" y="1660"/>
            <a:chExt cx="96" cy="96"/>
          </a:xfrm>
        </p:grpSpPr>
        <p:sp>
          <p:nvSpPr>
            <p:cNvPr id="4252" name="Line 156"/>
            <p:cNvSpPr>
              <a:spLocks noChangeShapeType="1"/>
            </p:cNvSpPr>
            <p:nvPr/>
          </p:nvSpPr>
          <p:spPr bwMode="auto">
            <a:xfrm>
              <a:off x="1344" y="170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253" name="Line 157"/>
            <p:cNvSpPr>
              <a:spLocks noChangeShapeType="1"/>
            </p:cNvSpPr>
            <p:nvPr/>
          </p:nvSpPr>
          <p:spPr bwMode="auto">
            <a:xfrm flipV="1">
              <a:off x="1392" y="166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</p:grpSp>
      <p:sp>
        <p:nvSpPr>
          <p:cNvPr id="4254" name="Line 158"/>
          <p:cNvSpPr>
            <a:spLocks noChangeShapeType="1"/>
          </p:cNvSpPr>
          <p:nvPr/>
        </p:nvSpPr>
        <p:spPr bwMode="auto">
          <a:xfrm flipV="1">
            <a:off x="4800600" y="914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4255" name="Line 159"/>
          <p:cNvSpPr>
            <a:spLocks noChangeShapeType="1"/>
          </p:cNvSpPr>
          <p:nvPr/>
        </p:nvSpPr>
        <p:spPr bwMode="auto">
          <a:xfrm>
            <a:off x="7696200" y="914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grpSp>
        <p:nvGrpSpPr>
          <p:cNvPr id="11" name="Group 160"/>
          <p:cNvGrpSpPr>
            <a:grpSpLocks/>
          </p:cNvGrpSpPr>
          <p:nvPr/>
        </p:nvGrpSpPr>
        <p:grpSpPr bwMode="auto">
          <a:xfrm>
            <a:off x="2819400" y="1219200"/>
            <a:ext cx="685800" cy="485775"/>
            <a:chOff x="1776" y="1440"/>
            <a:chExt cx="432" cy="306"/>
          </a:xfrm>
        </p:grpSpPr>
        <p:sp>
          <p:nvSpPr>
            <p:cNvPr id="4257" name="Rectangle 161"/>
            <p:cNvSpPr>
              <a:spLocks noChangeArrowheads="1"/>
            </p:cNvSpPr>
            <p:nvPr/>
          </p:nvSpPr>
          <p:spPr bwMode="auto">
            <a:xfrm>
              <a:off x="1776" y="1440"/>
              <a:ext cx="432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4258" name="Object 162"/>
            <p:cNvGraphicFramePr>
              <a:graphicFrameLocks noChangeAspect="1"/>
            </p:cNvGraphicFramePr>
            <p:nvPr/>
          </p:nvGraphicFramePr>
          <p:xfrm>
            <a:off x="1872" y="1440"/>
            <a:ext cx="252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77480" imgH="215640" progId="Equation.3">
                    <p:embed/>
                  </p:oleObj>
                </mc:Choice>
                <mc:Fallback>
                  <p:oleObj name="Equation" r:id="rId9" imgW="177480" imgH="215640" progId="Equation.3">
                    <p:embed/>
                    <p:pic>
                      <p:nvPicPr>
                        <p:cNvPr id="0" name="Picture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1440"/>
                          <a:ext cx="252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Group 163"/>
          <p:cNvGrpSpPr>
            <a:grpSpLocks/>
          </p:cNvGrpSpPr>
          <p:nvPr/>
        </p:nvGrpSpPr>
        <p:grpSpPr bwMode="auto">
          <a:xfrm>
            <a:off x="6629400" y="1800225"/>
            <a:ext cx="685800" cy="485775"/>
            <a:chOff x="4176" y="1806"/>
            <a:chExt cx="432" cy="306"/>
          </a:xfrm>
        </p:grpSpPr>
        <p:sp>
          <p:nvSpPr>
            <p:cNvPr id="4260" name="Rectangle 164"/>
            <p:cNvSpPr>
              <a:spLocks noChangeArrowheads="1"/>
            </p:cNvSpPr>
            <p:nvPr/>
          </p:nvSpPr>
          <p:spPr bwMode="auto">
            <a:xfrm>
              <a:off x="4176" y="1806"/>
              <a:ext cx="432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4261" name="Object 165"/>
            <p:cNvGraphicFramePr>
              <a:graphicFrameLocks noChangeAspect="1"/>
            </p:cNvGraphicFramePr>
            <p:nvPr/>
          </p:nvGraphicFramePr>
          <p:xfrm>
            <a:off x="4236" y="1806"/>
            <a:ext cx="324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228600" imgH="215640" progId="Equation.3">
                    <p:embed/>
                  </p:oleObj>
                </mc:Choice>
                <mc:Fallback>
                  <p:oleObj name="Equation" r:id="rId11" imgW="228600" imgH="215640" progId="Equation.3">
                    <p:embed/>
                    <p:pic>
                      <p:nvPicPr>
                        <p:cNvPr id="0" name="Picture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36" y="1806"/>
                          <a:ext cx="324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262" name="Object 166"/>
          <p:cNvGraphicFramePr>
            <a:graphicFrameLocks noChangeAspect="1"/>
          </p:cNvGraphicFramePr>
          <p:nvPr/>
        </p:nvGraphicFramePr>
        <p:xfrm>
          <a:off x="8201025" y="990600"/>
          <a:ext cx="7143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17160" imgH="203040" progId="Equation.3">
                  <p:embed/>
                </p:oleObj>
              </mc:Choice>
              <mc:Fallback>
                <p:oleObj name="Equation" r:id="rId13" imgW="317160" imgH="203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01025" y="990600"/>
                        <a:ext cx="71437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63" name="Line 167"/>
          <p:cNvSpPr>
            <a:spLocks noChangeShapeType="1"/>
          </p:cNvSpPr>
          <p:nvPr/>
        </p:nvSpPr>
        <p:spPr bwMode="auto">
          <a:xfrm>
            <a:off x="4800600" y="914400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grpSp>
        <p:nvGrpSpPr>
          <p:cNvPr id="13" name="Group 168"/>
          <p:cNvGrpSpPr>
            <a:grpSpLocks/>
          </p:cNvGrpSpPr>
          <p:nvPr/>
        </p:nvGrpSpPr>
        <p:grpSpPr bwMode="auto">
          <a:xfrm>
            <a:off x="6019800" y="657225"/>
            <a:ext cx="609600" cy="485775"/>
            <a:chOff x="3792" y="1086"/>
            <a:chExt cx="384" cy="306"/>
          </a:xfrm>
        </p:grpSpPr>
        <p:sp>
          <p:nvSpPr>
            <p:cNvPr id="4265" name="Rectangle 169"/>
            <p:cNvSpPr>
              <a:spLocks noChangeArrowheads="1"/>
            </p:cNvSpPr>
            <p:nvPr/>
          </p:nvSpPr>
          <p:spPr bwMode="auto">
            <a:xfrm>
              <a:off x="3792" y="1086"/>
              <a:ext cx="384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4266" name="Object 170"/>
            <p:cNvGraphicFramePr>
              <a:graphicFrameLocks noChangeAspect="1"/>
            </p:cNvGraphicFramePr>
            <p:nvPr/>
          </p:nvGraphicFramePr>
          <p:xfrm>
            <a:off x="3888" y="1086"/>
            <a:ext cx="288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203040" imgH="215640" progId="Equation.3">
                    <p:embed/>
                  </p:oleObj>
                </mc:Choice>
                <mc:Fallback>
                  <p:oleObj name="Equation" r:id="rId15" imgW="203040" imgH="215640" progId="Equation.3">
                    <p:embed/>
                    <p:pic>
                      <p:nvPicPr>
                        <p:cNvPr id="0" name="Picture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1086"/>
                          <a:ext cx="288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Group 171"/>
          <p:cNvGrpSpPr>
            <a:grpSpLocks/>
          </p:cNvGrpSpPr>
          <p:nvPr/>
        </p:nvGrpSpPr>
        <p:grpSpPr bwMode="auto">
          <a:xfrm>
            <a:off x="3124200" y="1447800"/>
            <a:ext cx="1676400" cy="1066800"/>
            <a:chOff x="2784" y="1584"/>
            <a:chExt cx="1056" cy="672"/>
          </a:xfrm>
        </p:grpSpPr>
        <p:grpSp>
          <p:nvGrpSpPr>
            <p:cNvPr id="15" name="Group 172"/>
            <p:cNvGrpSpPr>
              <a:grpSpLocks/>
            </p:cNvGrpSpPr>
            <p:nvPr/>
          </p:nvGrpSpPr>
          <p:grpSpPr bwMode="auto">
            <a:xfrm>
              <a:off x="3744" y="1584"/>
              <a:ext cx="96" cy="672"/>
              <a:chOff x="3744" y="1584"/>
              <a:chExt cx="96" cy="672"/>
            </a:xfrm>
          </p:grpSpPr>
          <p:sp>
            <p:nvSpPr>
              <p:cNvPr id="4269" name="Freeform 173"/>
              <p:cNvSpPr>
                <a:spLocks/>
              </p:cNvSpPr>
              <p:nvPr/>
            </p:nvSpPr>
            <p:spPr bwMode="auto">
              <a:xfrm>
                <a:off x="3744" y="1824"/>
                <a:ext cx="96" cy="24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6" y="48"/>
                  </a:cxn>
                  <a:cxn ang="0">
                    <a:pos x="96" y="192"/>
                  </a:cxn>
                  <a:cxn ang="0">
                    <a:pos x="0" y="240"/>
                  </a:cxn>
                </a:cxnLst>
                <a:rect l="0" t="0" r="r" b="b"/>
                <a:pathLst>
                  <a:path w="112" h="240">
                    <a:moveTo>
                      <a:pt x="0" y="0"/>
                    </a:moveTo>
                    <a:cubicBezTo>
                      <a:pt x="40" y="8"/>
                      <a:pt x="80" y="16"/>
                      <a:pt x="96" y="48"/>
                    </a:cubicBezTo>
                    <a:cubicBezTo>
                      <a:pt x="112" y="80"/>
                      <a:pt x="112" y="160"/>
                      <a:pt x="96" y="192"/>
                    </a:cubicBezTo>
                    <a:cubicBezTo>
                      <a:pt x="80" y="224"/>
                      <a:pt x="40" y="232"/>
                      <a:pt x="0" y="24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70" name="Line 174"/>
              <p:cNvSpPr>
                <a:spLocks noChangeShapeType="1"/>
              </p:cNvSpPr>
              <p:nvPr/>
            </p:nvSpPr>
            <p:spPr bwMode="auto">
              <a:xfrm>
                <a:off x="3744" y="206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71" name="Line 175"/>
              <p:cNvSpPr>
                <a:spLocks noChangeShapeType="1"/>
              </p:cNvSpPr>
              <p:nvPr/>
            </p:nvSpPr>
            <p:spPr bwMode="auto">
              <a:xfrm flipV="1">
                <a:off x="3744" y="158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4272" name="Line 176"/>
            <p:cNvSpPr>
              <a:spLocks noChangeShapeType="1"/>
            </p:cNvSpPr>
            <p:nvPr/>
          </p:nvSpPr>
          <p:spPr bwMode="auto">
            <a:xfrm>
              <a:off x="2784" y="2256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6" name="Group 177"/>
          <p:cNvGrpSpPr>
            <a:grpSpLocks/>
          </p:cNvGrpSpPr>
          <p:nvPr/>
        </p:nvGrpSpPr>
        <p:grpSpPr bwMode="auto">
          <a:xfrm>
            <a:off x="5105400" y="1219200"/>
            <a:ext cx="685800" cy="485775"/>
            <a:chOff x="3216" y="1440"/>
            <a:chExt cx="432" cy="306"/>
          </a:xfrm>
        </p:grpSpPr>
        <p:sp>
          <p:nvSpPr>
            <p:cNvPr id="4274" name="Rectangle 178"/>
            <p:cNvSpPr>
              <a:spLocks noChangeArrowheads="1"/>
            </p:cNvSpPr>
            <p:nvPr/>
          </p:nvSpPr>
          <p:spPr bwMode="auto">
            <a:xfrm>
              <a:off x="3216" y="1440"/>
              <a:ext cx="432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4275" name="Object 179"/>
            <p:cNvGraphicFramePr>
              <a:graphicFrameLocks noChangeAspect="1"/>
            </p:cNvGraphicFramePr>
            <p:nvPr/>
          </p:nvGraphicFramePr>
          <p:xfrm>
            <a:off x="3312" y="1440"/>
            <a:ext cx="288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03040" imgH="215640" progId="Equation.3">
                    <p:embed/>
                  </p:oleObj>
                </mc:Choice>
                <mc:Fallback>
                  <p:oleObj name="Equation" r:id="rId2" imgW="203040" imgH="215640" progId="Equation.3">
                    <p:embed/>
                    <p:pic>
                      <p:nvPicPr>
                        <p:cNvPr id="0" name="Picture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1440"/>
                          <a:ext cx="288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Group 180"/>
          <p:cNvGrpSpPr>
            <a:grpSpLocks/>
          </p:cNvGrpSpPr>
          <p:nvPr/>
        </p:nvGrpSpPr>
        <p:grpSpPr bwMode="auto">
          <a:xfrm>
            <a:off x="2438400" y="2286000"/>
            <a:ext cx="609600" cy="485775"/>
            <a:chOff x="2016" y="2112"/>
            <a:chExt cx="384" cy="306"/>
          </a:xfrm>
        </p:grpSpPr>
        <p:sp>
          <p:nvSpPr>
            <p:cNvPr id="4277" name="Rectangle 181"/>
            <p:cNvSpPr>
              <a:spLocks noChangeArrowheads="1"/>
            </p:cNvSpPr>
            <p:nvPr/>
          </p:nvSpPr>
          <p:spPr bwMode="auto">
            <a:xfrm>
              <a:off x="2016" y="2112"/>
              <a:ext cx="384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4278" name="Object 182"/>
            <p:cNvGraphicFramePr>
              <a:graphicFrameLocks noChangeAspect="1"/>
            </p:cNvGraphicFramePr>
            <p:nvPr/>
          </p:nvGraphicFramePr>
          <p:xfrm>
            <a:off x="2082" y="2112"/>
            <a:ext cx="288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203040" imgH="215640" progId="Equation.3">
                    <p:embed/>
                  </p:oleObj>
                </mc:Choice>
                <mc:Fallback>
                  <p:oleObj name="Equation" r:id="rId17" imgW="203040" imgH="215640" progId="Equation.3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2" y="2112"/>
                          <a:ext cx="288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279" name="Object 183"/>
          <p:cNvGraphicFramePr>
            <a:graphicFrameLocks noChangeAspect="1"/>
          </p:cNvGraphicFramePr>
          <p:nvPr/>
        </p:nvGraphicFramePr>
        <p:xfrm>
          <a:off x="6172200" y="1219200"/>
          <a:ext cx="211138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52280" imgH="164880" progId="Equation.3">
                  <p:embed/>
                </p:oleObj>
              </mc:Choice>
              <mc:Fallback>
                <p:oleObj name="Equation" r:id="rId19" imgW="152280" imgH="1648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1219200"/>
                        <a:ext cx="211138" cy="228600"/>
                      </a:xfrm>
                      <a:prstGeom prst="rect">
                        <a:avLst/>
                      </a:prstGeom>
                      <a:solidFill>
                        <a:srgbClr val="00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80" name="Object 184"/>
          <p:cNvGraphicFramePr>
            <a:graphicFrameLocks noChangeAspect="1"/>
          </p:cNvGraphicFramePr>
          <p:nvPr/>
        </p:nvGraphicFramePr>
        <p:xfrm>
          <a:off x="4495800" y="1219200"/>
          <a:ext cx="211138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2280" imgH="164880" progId="Equation.3">
                  <p:embed/>
                </p:oleObj>
              </mc:Choice>
              <mc:Fallback>
                <p:oleObj name="Equation" r:id="rId6" imgW="152280" imgH="1648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1219200"/>
                        <a:ext cx="211138" cy="228600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Group 185"/>
          <p:cNvGrpSpPr>
            <a:grpSpLocks/>
          </p:cNvGrpSpPr>
          <p:nvPr/>
        </p:nvGrpSpPr>
        <p:grpSpPr bwMode="auto">
          <a:xfrm>
            <a:off x="6629400" y="1219200"/>
            <a:ext cx="685800" cy="514350"/>
            <a:chOff x="4176" y="1440"/>
            <a:chExt cx="432" cy="324"/>
          </a:xfrm>
        </p:grpSpPr>
        <p:sp>
          <p:nvSpPr>
            <p:cNvPr id="4282" name="Rectangle 186"/>
            <p:cNvSpPr>
              <a:spLocks noChangeArrowheads="1"/>
            </p:cNvSpPr>
            <p:nvPr/>
          </p:nvSpPr>
          <p:spPr bwMode="auto">
            <a:xfrm>
              <a:off x="4176" y="1440"/>
              <a:ext cx="432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4283" name="Object 187"/>
            <p:cNvGraphicFramePr>
              <a:graphicFrameLocks noChangeAspect="1"/>
            </p:cNvGraphicFramePr>
            <p:nvPr/>
          </p:nvGraphicFramePr>
          <p:xfrm>
            <a:off x="4290" y="1440"/>
            <a:ext cx="270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190440" imgH="228600" progId="Equation.3">
                    <p:embed/>
                  </p:oleObj>
                </mc:Choice>
                <mc:Fallback>
                  <p:oleObj name="Equation" r:id="rId21" imgW="190440" imgH="228600" progId="Equation.3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90" y="1440"/>
                          <a:ext cx="270" cy="32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Group 188"/>
          <p:cNvGrpSpPr>
            <a:grpSpLocks/>
          </p:cNvGrpSpPr>
          <p:nvPr/>
        </p:nvGrpSpPr>
        <p:grpSpPr bwMode="auto">
          <a:xfrm>
            <a:off x="3352800" y="2286000"/>
            <a:ext cx="609600" cy="485775"/>
            <a:chOff x="2112" y="2112"/>
            <a:chExt cx="384" cy="30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4285" name="Rectangle 189"/>
            <p:cNvSpPr>
              <a:spLocks noChangeArrowheads="1"/>
            </p:cNvSpPr>
            <p:nvPr/>
          </p:nvSpPr>
          <p:spPr bwMode="auto">
            <a:xfrm>
              <a:off x="2112" y="2112"/>
              <a:ext cx="384" cy="28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4286" name="Object 190"/>
            <p:cNvGraphicFramePr>
              <a:graphicFrameLocks noChangeAspect="1"/>
            </p:cNvGraphicFramePr>
            <p:nvPr/>
          </p:nvGraphicFramePr>
          <p:xfrm>
            <a:off x="2178" y="2112"/>
            <a:ext cx="288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203040" imgH="215640" progId="Equation.3">
                    <p:embed/>
                  </p:oleObj>
                </mc:Choice>
                <mc:Fallback>
                  <p:oleObj name="Equation" r:id="rId23" imgW="203040" imgH="215640" progId="Equation.3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78" y="2112"/>
                          <a:ext cx="288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287" name="Object 191"/>
          <p:cNvGraphicFramePr>
            <a:graphicFrameLocks noChangeAspect="1"/>
          </p:cNvGraphicFramePr>
          <p:nvPr/>
        </p:nvGraphicFramePr>
        <p:xfrm>
          <a:off x="76200" y="990600"/>
          <a:ext cx="7143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317160" imgH="203040" progId="Equation.3">
                  <p:embed/>
                </p:oleObj>
              </mc:Choice>
              <mc:Fallback>
                <p:oleObj name="Equation" r:id="rId25" imgW="317160" imgH="2030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990600"/>
                        <a:ext cx="71437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Group 192"/>
          <p:cNvGrpSpPr>
            <a:grpSpLocks/>
          </p:cNvGrpSpPr>
          <p:nvPr/>
        </p:nvGrpSpPr>
        <p:grpSpPr bwMode="auto">
          <a:xfrm>
            <a:off x="4343400" y="161925"/>
            <a:ext cx="3886200" cy="1743075"/>
            <a:chOff x="2736" y="774"/>
            <a:chExt cx="2448" cy="1098"/>
          </a:xfrm>
        </p:grpSpPr>
        <p:sp>
          <p:nvSpPr>
            <p:cNvPr id="4289" name="Oval 193"/>
            <p:cNvSpPr>
              <a:spLocks noChangeArrowheads="1"/>
            </p:cNvSpPr>
            <p:nvPr/>
          </p:nvSpPr>
          <p:spPr bwMode="auto">
            <a:xfrm>
              <a:off x="2736" y="1056"/>
              <a:ext cx="2448" cy="816"/>
            </a:xfrm>
            <a:prstGeom prst="ellipse">
              <a:avLst/>
            </a:prstGeom>
            <a:noFill/>
            <a:ln w="9525">
              <a:solidFill>
                <a:srgbClr val="FF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4290" name="Object 194"/>
            <p:cNvGraphicFramePr>
              <a:graphicFrameLocks noChangeAspect="1"/>
            </p:cNvGraphicFramePr>
            <p:nvPr/>
          </p:nvGraphicFramePr>
          <p:xfrm>
            <a:off x="4566" y="774"/>
            <a:ext cx="180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126720" imgH="164880" progId="Equation.3">
                    <p:embed/>
                  </p:oleObj>
                </mc:Choice>
                <mc:Fallback>
                  <p:oleObj name="Equation" r:id="rId27" imgW="126720" imgH="164880" progId="Equation.3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6" y="774"/>
                          <a:ext cx="180" cy="234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00FF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91" name="Line 195"/>
          <p:cNvSpPr>
            <a:spLocks noChangeShapeType="1"/>
          </p:cNvSpPr>
          <p:nvPr/>
        </p:nvSpPr>
        <p:spPr bwMode="auto">
          <a:xfrm>
            <a:off x="4648200" y="251460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4292" name="Line 196"/>
          <p:cNvSpPr>
            <a:spLocks noChangeShapeType="1"/>
          </p:cNvSpPr>
          <p:nvPr/>
        </p:nvSpPr>
        <p:spPr bwMode="auto">
          <a:xfrm flipV="1">
            <a:off x="6324600" y="14478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grpSp>
        <p:nvGrpSpPr>
          <p:cNvPr id="21" name="Group 197"/>
          <p:cNvGrpSpPr>
            <a:grpSpLocks/>
          </p:cNvGrpSpPr>
          <p:nvPr/>
        </p:nvGrpSpPr>
        <p:grpSpPr bwMode="auto">
          <a:xfrm>
            <a:off x="6248400" y="2438400"/>
            <a:ext cx="228600" cy="228600"/>
            <a:chOff x="4080" y="2112"/>
            <a:chExt cx="144" cy="144"/>
          </a:xfrm>
        </p:grpSpPr>
        <p:sp>
          <p:nvSpPr>
            <p:cNvPr id="4294" name="Line 198"/>
            <p:cNvSpPr>
              <a:spLocks noChangeShapeType="1"/>
            </p:cNvSpPr>
            <p:nvPr/>
          </p:nvSpPr>
          <p:spPr bwMode="auto">
            <a:xfrm>
              <a:off x="4080" y="2112"/>
              <a:ext cx="144" cy="96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4295" name="Line 199"/>
            <p:cNvSpPr>
              <a:spLocks noChangeShapeType="1"/>
            </p:cNvSpPr>
            <p:nvPr/>
          </p:nvSpPr>
          <p:spPr bwMode="auto">
            <a:xfrm flipV="1">
              <a:off x="4080" y="2112"/>
              <a:ext cx="96" cy="144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317" name="Text Box 221"/>
          <p:cNvSpPr txBox="1">
            <a:spLocks noChangeArrowheads="1"/>
          </p:cNvSpPr>
          <p:nvPr/>
        </p:nvSpPr>
        <p:spPr bwMode="auto">
          <a:xfrm>
            <a:off x="539750" y="3211513"/>
            <a:ext cx="1371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/>
            <a:r>
              <a:rPr lang="en-US" altLang="zh-CN">
                <a:solidFill>
                  <a:srgbClr val="FF3300"/>
                </a:solidFill>
                <a:latin typeface="Arial" pitchFamily="34" charset="0"/>
                <a:ea typeface="宋体" pitchFamily="2" charset="-122"/>
              </a:rPr>
              <a:t>Solution:</a:t>
            </a: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26</a:t>
            </a:fld>
            <a:endParaRPr lang="en-GB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1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04"/>
          <p:cNvGrpSpPr>
            <a:grpSpLocks/>
          </p:cNvGrpSpPr>
          <p:nvPr/>
        </p:nvGrpSpPr>
        <p:grpSpPr bwMode="auto">
          <a:xfrm>
            <a:off x="395288" y="3141663"/>
            <a:ext cx="6856412" cy="514350"/>
            <a:chOff x="249" y="1979"/>
            <a:chExt cx="4319" cy="324"/>
          </a:xfrm>
        </p:grpSpPr>
        <p:sp>
          <p:nvSpPr>
            <p:cNvPr id="5204" name="Text Box 84"/>
            <p:cNvSpPr txBox="1">
              <a:spLocks noChangeArrowheads="1"/>
            </p:cNvSpPr>
            <p:nvPr/>
          </p:nvSpPr>
          <p:spPr bwMode="auto">
            <a:xfrm>
              <a:off x="249" y="1979"/>
              <a:ext cx="334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rgbClr val="333399"/>
                  </a:solidFill>
                  <a:latin typeface="Arial" pitchFamily="34" charset="0"/>
                  <a:ea typeface="宋体" pitchFamily="2" charset="-122"/>
                </a:rPr>
                <a:t>3. </a:t>
              </a:r>
              <a:r>
                <a:rPr lang="en-US" altLang="zh-CN">
                  <a:solidFill>
                    <a:srgbClr val="333399"/>
                  </a:solidFill>
                  <a:latin typeface="Arial" pitchFamily="34" charset="0"/>
                  <a:ea typeface="宋体" pitchFamily="2" charset="-122"/>
                </a:rPr>
                <a:t>Moving pickoff point B behind block</a:t>
              </a:r>
            </a:p>
          </p:txBody>
        </p:sp>
        <p:grpSp>
          <p:nvGrpSpPr>
            <p:cNvPr id="3" name="Group 85"/>
            <p:cNvGrpSpPr>
              <a:grpSpLocks/>
            </p:cNvGrpSpPr>
            <p:nvPr/>
          </p:nvGrpSpPr>
          <p:grpSpPr bwMode="auto">
            <a:xfrm>
              <a:off x="3560" y="1979"/>
              <a:ext cx="1008" cy="324"/>
              <a:chOff x="2064" y="3351"/>
              <a:chExt cx="1008" cy="324"/>
            </a:xfrm>
          </p:grpSpPr>
          <p:sp>
            <p:nvSpPr>
              <p:cNvPr id="5206" name="Rectangle 86"/>
              <p:cNvSpPr>
                <a:spLocks noChangeArrowheads="1"/>
              </p:cNvSpPr>
              <p:nvPr/>
            </p:nvSpPr>
            <p:spPr bwMode="auto">
              <a:xfrm>
                <a:off x="2064" y="3360"/>
                <a:ext cx="100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graphicFrame>
            <p:nvGraphicFramePr>
              <p:cNvPr id="33813" name="Object 2069"/>
              <p:cNvGraphicFramePr>
                <a:graphicFrameLocks noChangeAspect="1"/>
              </p:cNvGraphicFramePr>
              <p:nvPr/>
            </p:nvGraphicFramePr>
            <p:xfrm>
              <a:off x="2160" y="3351"/>
              <a:ext cx="783" cy="3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647640" imgH="228600" progId="Equation.3">
                      <p:embed/>
                    </p:oleObj>
                  </mc:Choice>
                  <mc:Fallback>
                    <p:oleObj name="Equation" r:id="rId2" imgW="647640" imgH="228600" progId="Equation.3">
                      <p:embed/>
                      <p:pic>
                        <p:nvPicPr>
                          <p:cNvPr id="0" name="Picture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60" y="3351"/>
                            <a:ext cx="783" cy="32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5129" name="Line 9"/>
          <p:cNvSpPr>
            <a:spLocks noChangeShapeType="1"/>
          </p:cNvSpPr>
          <p:nvPr/>
        </p:nvSpPr>
        <p:spPr bwMode="auto">
          <a:xfrm>
            <a:off x="609600" y="103505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5130" name="Line 10"/>
          <p:cNvSpPr>
            <a:spLocks noChangeShapeType="1"/>
          </p:cNvSpPr>
          <p:nvPr/>
        </p:nvSpPr>
        <p:spPr bwMode="auto">
          <a:xfrm flipV="1">
            <a:off x="1295400" y="1066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5131" name="Line 11"/>
          <p:cNvSpPr>
            <a:spLocks noChangeShapeType="1"/>
          </p:cNvSpPr>
          <p:nvPr/>
        </p:nvSpPr>
        <p:spPr bwMode="auto">
          <a:xfrm>
            <a:off x="2362200" y="1066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5132" name="Line 12"/>
          <p:cNvSpPr>
            <a:spLocks noChangeShapeType="1"/>
          </p:cNvSpPr>
          <p:nvPr/>
        </p:nvSpPr>
        <p:spPr bwMode="auto">
          <a:xfrm>
            <a:off x="3505200" y="1066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5133" name="Line 13"/>
          <p:cNvSpPr>
            <a:spLocks noChangeShapeType="1"/>
          </p:cNvSpPr>
          <p:nvPr/>
        </p:nvSpPr>
        <p:spPr bwMode="auto">
          <a:xfrm flipV="1">
            <a:off x="7315200" y="10668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5134" name="Line 14"/>
          <p:cNvSpPr>
            <a:spLocks noChangeShapeType="1"/>
          </p:cNvSpPr>
          <p:nvPr/>
        </p:nvSpPr>
        <p:spPr bwMode="auto">
          <a:xfrm flipV="1">
            <a:off x="4343400" y="11430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5135" name="Line 15"/>
          <p:cNvSpPr>
            <a:spLocks noChangeShapeType="1"/>
          </p:cNvSpPr>
          <p:nvPr/>
        </p:nvSpPr>
        <p:spPr bwMode="auto">
          <a:xfrm>
            <a:off x="8458200" y="1066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5136" name="Line 16"/>
          <p:cNvSpPr>
            <a:spLocks noChangeShapeType="1"/>
          </p:cNvSpPr>
          <p:nvPr/>
        </p:nvSpPr>
        <p:spPr bwMode="auto">
          <a:xfrm flipV="1">
            <a:off x="2209800" y="1187450"/>
            <a:ext cx="0" cy="9461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5137" name="Line 17"/>
          <p:cNvSpPr>
            <a:spLocks noChangeShapeType="1"/>
          </p:cNvSpPr>
          <p:nvPr/>
        </p:nvSpPr>
        <p:spPr bwMode="auto">
          <a:xfrm>
            <a:off x="1828800" y="1295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GB"/>
          </a:p>
        </p:txBody>
      </p: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1066800" y="762000"/>
            <a:ext cx="152400" cy="152400"/>
            <a:chOff x="1344" y="1660"/>
            <a:chExt cx="96" cy="96"/>
          </a:xfrm>
        </p:grpSpPr>
        <p:sp>
          <p:nvSpPr>
            <p:cNvPr id="5139" name="Line 19"/>
            <p:cNvSpPr>
              <a:spLocks noChangeShapeType="1"/>
            </p:cNvSpPr>
            <p:nvPr/>
          </p:nvSpPr>
          <p:spPr bwMode="auto">
            <a:xfrm>
              <a:off x="1344" y="170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140" name="Line 20"/>
            <p:cNvSpPr>
              <a:spLocks noChangeShapeType="1"/>
            </p:cNvSpPr>
            <p:nvPr/>
          </p:nvSpPr>
          <p:spPr bwMode="auto">
            <a:xfrm flipV="1">
              <a:off x="1392" y="166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</p:grpSp>
      <p:pic>
        <p:nvPicPr>
          <p:cNvPr id="5141" name="Picture 21" descr="untitled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95400" y="914400"/>
            <a:ext cx="304800" cy="304800"/>
          </a:xfrm>
          <a:prstGeom prst="rect">
            <a:avLst/>
          </a:prstGeom>
          <a:noFill/>
        </p:spPr>
      </p:pic>
      <p:pic>
        <p:nvPicPr>
          <p:cNvPr id="5142" name="Picture 22" descr="untitled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57400" y="914400"/>
            <a:ext cx="304800" cy="304800"/>
          </a:xfrm>
          <a:prstGeom prst="rect">
            <a:avLst/>
          </a:prstGeom>
          <a:noFill/>
        </p:spPr>
      </p:pic>
      <p:grpSp>
        <p:nvGrpSpPr>
          <p:cNvPr id="5" name="Group 23"/>
          <p:cNvGrpSpPr>
            <a:grpSpLocks/>
          </p:cNvGrpSpPr>
          <p:nvPr/>
        </p:nvGrpSpPr>
        <p:grpSpPr bwMode="auto">
          <a:xfrm>
            <a:off x="1752600" y="762000"/>
            <a:ext cx="152400" cy="152400"/>
            <a:chOff x="1344" y="1660"/>
            <a:chExt cx="96" cy="96"/>
          </a:xfrm>
        </p:grpSpPr>
        <p:sp>
          <p:nvSpPr>
            <p:cNvPr id="5144" name="Line 24"/>
            <p:cNvSpPr>
              <a:spLocks noChangeShapeType="1"/>
            </p:cNvSpPr>
            <p:nvPr/>
          </p:nvSpPr>
          <p:spPr bwMode="auto">
            <a:xfrm>
              <a:off x="1344" y="170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145" name="Line 25"/>
            <p:cNvSpPr>
              <a:spLocks noChangeShapeType="1"/>
            </p:cNvSpPr>
            <p:nvPr/>
          </p:nvSpPr>
          <p:spPr bwMode="auto">
            <a:xfrm flipV="1">
              <a:off x="1392" y="166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</p:grpSp>
      <p:sp>
        <p:nvSpPr>
          <p:cNvPr id="5146" name="Line 26"/>
          <p:cNvSpPr>
            <a:spLocks noChangeShapeType="1"/>
          </p:cNvSpPr>
          <p:nvPr/>
        </p:nvSpPr>
        <p:spPr bwMode="auto">
          <a:xfrm>
            <a:off x="1066800" y="1295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5147" name="Line 27"/>
          <p:cNvSpPr>
            <a:spLocks noChangeShapeType="1"/>
          </p:cNvSpPr>
          <p:nvPr/>
        </p:nvSpPr>
        <p:spPr bwMode="auto">
          <a:xfrm flipH="1">
            <a:off x="1447800" y="2667000"/>
            <a:ext cx="7010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5148" name="Line 28"/>
          <p:cNvSpPr>
            <a:spLocks noChangeShapeType="1"/>
          </p:cNvSpPr>
          <p:nvPr/>
        </p:nvSpPr>
        <p:spPr bwMode="auto">
          <a:xfrm flipV="1">
            <a:off x="1447800" y="11430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5150" name="Line 30"/>
          <p:cNvSpPr>
            <a:spLocks noChangeShapeType="1"/>
          </p:cNvSpPr>
          <p:nvPr/>
        </p:nvSpPr>
        <p:spPr bwMode="auto">
          <a:xfrm>
            <a:off x="2209800" y="2133600"/>
            <a:ext cx="2438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pic>
        <p:nvPicPr>
          <p:cNvPr id="5151" name="Picture 31" descr="untitled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91000" y="914400"/>
            <a:ext cx="304800" cy="304800"/>
          </a:xfrm>
          <a:prstGeom prst="rect">
            <a:avLst/>
          </a:prstGeom>
          <a:noFill/>
        </p:spPr>
      </p:pic>
      <p:sp>
        <p:nvSpPr>
          <p:cNvPr id="5152" name="Line 32"/>
          <p:cNvSpPr>
            <a:spLocks noChangeShapeType="1"/>
          </p:cNvSpPr>
          <p:nvPr/>
        </p:nvSpPr>
        <p:spPr bwMode="auto">
          <a:xfrm>
            <a:off x="4419600" y="10668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GB"/>
          </a:p>
        </p:txBody>
      </p:sp>
      <p:grpSp>
        <p:nvGrpSpPr>
          <p:cNvPr id="6" name="Group 34"/>
          <p:cNvGrpSpPr>
            <a:grpSpLocks/>
          </p:cNvGrpSpPr>
          <p:nvPr/>
        </p:nvGrpSpPr>
        <p:grpSpPr bwMode="auto">
          <a:xfrm>
            <a:off x="4038600" y="762000"/>
            <a:ext cx="152400" cy="152400"/>
            <a:chOff x="1344" y="1660"/>
            <a:chExt cx="96" cy="96"/>
          </a:xfrm>
        </p:grpSpPr>
        <p:sp>
          <p:nvSpPr>
            <p:cNvPr id="5155" name="Line 35"/>
            <p:cNvSpPr>
              <a:spLocks noChangeShapeType="1"/>
            </p:cNvSpPr>
            <p:nvPr/>
          </p:nvSpPr>
          <p:spPr bwMode="auto">
            <a:xfrm>
              <a:off x="1344" y="170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156" name="Line 36"/>
            <p:cNvSpPr>
              <a:spLocks noChangeShapeType="1"/>
            </p:cNvSpPr>
            <p:nvPr/>
          </p:nvSpPr>
          <p:spPr bwMode="auto">
            <a:xfrm flipV="1">
              <a:off x="1392" y="166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</p:grpSp>
      <p:sp>
        <p:nvSpPr>
          <p:cNvPr id="5157" name="Line 37"/>
          <p:cNvSpPr>
            <a:spLocks noChangeShapeType="1"/>
          </p:cNvSpPr>
          <p:nvPr/>
        </p:nvSpPr>
        <p:spPr bwMode="auto">
          <a:xfrm>
            <a:off x="4114800" y="1295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GB"/>
          </a:p>
        </p:txBody>
      </p:sp>
      <p:grpSp>
        <p:nvGrpSpPr>
          <p:cNvPr id="7" name="Group 49"/>
          <p:cNvGrpSpPr>
            <a:grpSpLocks/>
          </p:cNvGrpSpPr>
          <p:nvPr/>
        </p:nvGrpSpPr>
        <p:grpSpPr bwMode="auto">
          <a:xfrm>
            <a:off x="3048000" y="838200"/>
            <a:ext cx="685800" cy="485775"/>
            <a:chOff x="1776" y="1440"/>
            <a:chExt cx="432" cy="306"/>
          </a:xfrm>
        </p:grpSpPr>
        <p:sp>
          <p:nvSpPr>
            <p:cNvPr id="5170" name="Rectangle 50"/>
            <p:cNvSpPr>
              <a:spLocks noChangeArrowheads="1"/>
            </p:cNvSpPr>
            <p:nvPr/>
          </p:nvSpPr>
          <p:spPr bwMode="auto">
            <a:xfrm>
              <a:off x="1776" y="1440"/>
              <a:ext cx="432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33812" name="Object 2068"/>
            <p:cNvGraphicFramePr>
              <a:graphicFrameLocks noChangeAspect="1"/>
            </p:cNvGraphicFramePr>
            <p:nvPr/>
          </p:nvGraphicFramePr>
          <p:xfrm>
            <a:off x="1872" y="1440"/>
            <a:ext cx="252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77480" imgH="215640" progId="Equation.3">
                    <p:embed/>
                  </p:oleObj>
                </mc:Choice>
                <mc:Fallback>
                  <p:oleObj name="Equation" r:id="rId5" imgW="177480" imgH="215640" progId="Equation.3">
                    <p:embed/>
                    <p:pic>
                      <p:nvPicPr>
                        <p:cNvPr id="0" name="Picture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1440"/>
                          <a:ext cx="252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3792" name="Object 2048"/>
          <p:cNvGraphicFramePr>
            <a:graphicFrameLocks noChangeAspect="1"/>
          </p:cNvGraphicFramePr>
          <p:nvPr/>
        </p:nvGraphicFramePr>
        <p:xfrm>
          <a:off x="4572000" y="762000"/>
          <a:ext cx="211138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2280" imgH="164880" progId="Equation.3">
                  <p:embed/>
                </p:oleObj>
              </mc:Choice>
              <mc:Fallback>
                <p:oleObj name="Equation" r:id="rId7" imgW="152280" imgH="1648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762000"/>
                        <a:ext cx="211138" cy="228600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3" name="Object 2049"/>
          <p:cNvGraphicFramePr>
            <a:graphicFrameLocks noChangeAspect="1"/>
          </p:cNvGraphicFramePr>
          <p:nvPr/>
        </p:nvGraphicFramePr>
        <p:xfrm>
          <a:off x="304800" y="533400"/>
          <a:ext cx="7143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17160" imgH="203040" progId="Equation.3">
                  <p:embed/>
                </p:oleObj>
              </mc:Choice>
              <mc:Fallback>
                <p:oleObj name="Equation" r:id="rId9" imgW="317160" imgH="203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533400"/>
                        <a:ext cx="71437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145"/>
          <p:cNvGrpSpPr>
            <a:grpSpLocks/>
          </p:cNvGrpSpPr>
          <p:nvPr/>
        </p:nvGrpSpPr>
        <p:grpSpPr bwMode="auto">
          <a:xfrm>
            <a:off x="2209800" y="1066800"/>
            <a:ext cx="2438400" cy="1066800"/>
            <a:chOff x="1392" y="672"/>
            <a:chExt cx="1920" cy="672"/>
          </a:xfrm>
        </p:grpSpPr>
        <p:sp>
          <p:nvSpPr>
            <p:cNvPr id="5251" name="Line 131"/>
            <p:cNvSpPr>
              <a:spLocks noChangeShapeType="1"/>
            </p:cNvSpPr>
            <p:nvPr/>
          </p:nvSpPr>
          <p:spPr bwMode="auto">
            <a:xfrm>
              <a:off x="3312" y="864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5252" name="Line 132"/>
            <p:cNvSpPr>
              <a:spLocks noChangeShapeType="1"/>
            </p:cNvSpPr>
            <p:nvPr/>
          </p:nvSpPr>
          <p:spPr bwMode="auto">
            <a:xfrm flipV="1">
              <a:off x="3312" y="67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5253" name="Line 133"/>
            <p:cNvSpPr>
              <a:spLocks noChangeShapeType="1"/>
            </p:cNvSpPr>
            <p:nvPr/>
          </p:nvSpPr>
          <p:spPr bwMode="auto">
            <a:xfrm>
              <a:off x="1392" y="1344"/>
              <a:ext cx="19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9" name="Group 218"/>
          <p:cNvGrpSpPr>
            <a:grpSpLocks/>
          </p:cNvGrpSpPr>
          <p:nvPr/>
        </p:nvGrpSpPr>
        <p:grpSpPr bwMode="auto">
          <a:xfrm>
            <a:off x="2667000" y="1905000"/>
            <a:ext cx="1143000" cy="533400"/>
            <a:chOff x="1680" y="1200"/>
            <a:chExt cx="720" cy="33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5260" name="Rectangle 140"/>
            <p:cNvSpPr>
              <a:spLocks noChangeArrowheads="1"/>
            </p:cNvSpPr>
            <p:nvPr/>
          </p:nvSpPr>
          <p:spPr bwMode="auto">
            <a:xfrm>
              <a:off x="1680" y="1200"/>
              <a:ext cx="720" cy="336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33811" name="Object 2067"/>
            <p:cNvGraphicFramePr>
              <a:graphicFrameLocks noChangeAspect="1"/>
            </p:cNvGraphicFramePr>
            <p:nvPr/>
          </p:nvGraphicFramePr>
          <p:xfrm>
            <a:off x="1782" y="1200"/>
            <a:ext cx="522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368280" imgH="215640" progId="Equation.3">
                    <p:embed/>
                  </p:oleObj>
                </mc:Choice>
                <mc:Fallback>
                  <p:oleObj name="Equation" r:id="rId11" imgW="368280" imgH="215640" progId="Equation.3">
                    <p:embed/>
                    <p:pic>
                      <p:nvPicPr>
                        <p:cNvPr id="0" name="Picture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2" y="1200"/>
                          <a:ext cx="522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266" name="Line 146"/>
          <p:cNvSpPr>
            <a:spLocks noChangeShapeType="1"/>
          </p:cNvSpPr>
          <p:nvPr/>
        </p:nvSpPr>
        <p:spPr bwMode="auto">
          <a:xfrm>
            <a:off x="4343400" y="1981200"/>
            <a:ext cx="411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grpSp>
        <p:nvGrpSpPr>
          <p:cNvPr id="10" name="Group 147"/>
          <p:cNvGrpSpPr>
            <a:grpSpLocks/>
          </p:cNvGrpSpPr>
          <p:nvPr/>
        </p:nvGrpSpPr>
        <p:grpSpPr bwMode="auto">
          <a:xfrm>
            <a:off x="6324600" y="1800225"/>
            <a:ext cx="685800" cy="409575"/>
            <a:chOff x="4176" y="1806"/>
            <a:chExt cx="432" cy="306"/>
          </a:xfrm>
        </p:grpSpPr>
        <p:sp>
          <p:nvSpPr>
            <p:cNvPr id="5268" name="Rectangle 148"/>
            <p:cNvSpPr>
              <a:spLocks noChangeArrowheads="1"/>
            </p:cNvSpPr>
            <p:nvPr/>
          </p:nvSpPr>
          <p:spPr bwMode="auto">
            <a:xfrm>
              <a:off x="4176" y="1806"/>
              <a:ext cx="432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33810" name="Object 2066"/>
            <p:cNvGraphicFramePr>
              <a:graphicFrameLocks noChangeAspect="1"/>
            </p:cNvGraphicFramePr>
            <p:nvPr/>
          </p:nvGraphicFramePr>
          <p:xfrm>
            <a:off x="4236" y="1806"/>
            <a:ext cx="324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228600" imgH="215640" progId="Equation.3">
                    <p:embed/>
                  </p:oleObj>
                </mc:Choice>
                <mc:Fallback>
                  <p:oleObj name="Equation" r:id="rId13" imgW="228600" imgH="215640" progId="Equation.3">
                    <p:embed/>
                    <p:pic>
                      <p:nvPicPr>
                        <p:cNvPr id="0" name="Picture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36" y="1806"/>
                          <a:ext cx="324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3794" name="Object 2050"/>
          <p:cNvGraphicFramePr>
            <a:graphicFrameLocks noChangeAspect="1"/>
          </p:cNvGraphicFramePr>
          <p:nvPr/>
        </p:nvGraphicFramePr>
        <p:xfrm>
          <a:off x="8353425" y="609600"/>
          <a:ext cx="7143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17160" imgH="203040" progId="Equation.3">
                  <p:embed/>
                </p:oleObj>
              </mc:Choice>
              <mc:Fallback>
                <p:oleObj name="Equation" r:id="rId15" imgW="317160" imgH="2030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3425" y="609600"/>
                        <a:ext cx="71437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195"/>
          <p:cNvGrpSpPr>
            <a:grpSpLocks/>
          </p:cNvGrpSpPr>
          <p:nvPr/>
        </p:nvGrpSpPr>
        <p:grpSpPr bwMode="auto">
          <a:xfrm>
            <a:off x="5105400" y="4572000"/>
            <a:ext cx="3048000" cy="1066800"/>
            <a:chOff x="1392" y="672"/>
            <a:chExt cx="1920" cy="672"/>
          </a:xfrm>
        </p:grpSpPr>
        <p:sp>
          <p:nvSpPr>
            <p:cNvPr id="5316" name="Line 196"/>
            <p:cNvSpPr>
              <a:spLocks noChangeShapeType="1"/>
            </p:cNvSpPr>
            <p:nvPr/>
          </p:nvSpPr>
          <p:spPr bwMode="auto">
            <a:xfrm>
              <a:off x="3312" y="864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5317" name="Line 197"/>
            <p:cNvSpPr>
              <a:spLocks noChangeShapeType="1"/>
            </p:cNvSpPr>
            <p:nvPr/>
          </p:nvSpPr>
          <p:spPr bwMode="auto">
            <a:xfrm flipV="1">
              <a:off x="3312" y="67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5318" name="Line 198"/>
            <p:cNvSpPr>
              <a:spLocks noChangeShapeType="1"/>
            </p:cNvSpPr>
            <p:nvPr/>
          </p:nvSpPr>
          <p:spPr bwMode="auto">
            <a:xfrm>
              <a:off x="1392" y="1344"/>
              <a:ext cx="19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2" name="Group 275"/>
          <p:cNvGrpSpPr>
            <a:grpSpLocks/>
          </p:cNvGrpSpPr>
          <p:nvPr/>
        </p:nvGrpSpPr>
        <p:grpSpPr bwMode="auto">
          <a:xfrm>
            <a:off x="5638800" y="5410200"/>
            <a:ext cx="1828800" cy="514350"/>
            <a:chOff x="3552" y="3408"/>
            <a:chExt cx="1152" cy="324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5330" name="Rectangle 210"/>
            <p:cNvSpPr>
              <a:spLocks noChangeArrowheads="1"/>
            </p:cNvSpPr>
            <p:nvPr/>
          </p:nvSpPr>
          <p:spPr bwMode="auto">
            <a:xfrm>
              <a:off x="3552" y="3417"/>
              <a:ext cx="1152" cy="28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33809" name="Object 2065"/>
            <p:cNvGraphicFramePr>
              <a:graphicFrameLocks noChangeAspect="1"/>
            </p:cNvGraphicFramePr>
            <p:nvPr/>
          </p:nvGraphicFramePr>
          <p:xfrm>
            <a:off x="3600" y="3408"/>
            <a:ext cx="1075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888840" imgH="228600" progId="Equation.3">
                    <p:embed/>
                  </p:oleObj>
                </mc:Choice>
                <mc:Fallback>
                  <p:oleObj name="Equation" r:id="rId17" imgW="888840" imgH="228600" progId="Equation.3">
                    <p:embed/>
                    <p:pic>
                      <p:nvPicPr>
                        <p:cNvPr id="0" name="Picture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0" y="3408"/>
                          <a:ext cx="1075" cy="32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Group 216"/>
          <p:cNvGrpSpPr>
            <a:grpSpLocks/>
          </p:cNvGrpSpPr>
          <p:nvPr/>
        </p:nvGrpSpPr>
        <p:grpSpPr bwMode="auto">
          <a:xfrm>
            <a:off x="3810000" y="3657600"/>
            <a:ext cx="4495800" cy="1752600"/>
            <a:chOff x="2400" y="2304"/>
            <a:chExt cx="2832" cy="1104"/>
          </a:xfrm>
        </p:grpSpPr>
        <p:sp>
          <p:nvSpPr>
            <p:cNvPr id="5333" name="Oval 213"/>
            <p:cNvSpPr>
              <a:spLocks noChangeArrowheads="1"/>
            </p:cNvSpPr>
            <p:nvPr/>
          </p:nvSpPr>
          <p:spPr bwMode="auto">
            <a:xfrm>
              <a:off x="2400" y="2544"/>
              <a:ext cx="2832" cy="864"/>
            </a:xfrm>
            <a:prstGeom prst="ellipse">
              <a:avLst/>
            </a:prstGeom>
            <a:noFill/>
            <a:ln w="9525">
              <a:solidFill>
                <a:srgbClr val="FF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33808" name="Object 2064"/>
            <p:cNvGraphicFramePr>
              <a:graphicFrameLocks noChangeAspect="1"/>
            </p:cNvGraphicFramePr>
            <p:nvPr/>
          </p:nvGraphicFramePr>
          <p:xfrm>
            <a:off x="4593" y="2304"/>
            <a:ext cx="234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164880" imgH="164880" progId="Equation.3">
                    <p:embed/>
                  </p:oleObj>
                </mc:Choice>
                <mc:Fallback>
                  <p:oleObj name="Equation" r:id="rId19" imgW="164880" imgH="164880" progId="Equation.3">
                    <p:embed/>
                    <p:pic>
                      <p:nvPicPr>
                        <p:cNvPr id="0" name="Picture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93" y="2304"/>
                          <a:ext cx="234" cy="234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00FF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Group 276"/>
          <p:cNvGrpSpPr>
            <a:grpSpLocks/>
          </p:cNvGrpSpPr>
          <p:nvPr/>
        </p:nvGrpSpPr>
        <p:grpSpPr bwMode="auto">
          <a:xfrm>
            <a:off x="5029200" y="4876800"/>
            <a:ext cx="228600" cy="228600"/>
            <a:chOff x="4080" y="2112"/>
            <a:chExt cx="144" cy="144"/>
          </a:xfrm>
        </p:grpSpPr>
        <p:sp>
          <p:nvSpPr>
            <p:cNvPr id="5397" name="Line 277"/>
            <p:cNvSpPr>
              <a:spLocks noChangeShapeType="1"/>
            </p:cNvSpPr>
            <p:nvPr/>
          </p:nvSpPr>
          <p:spPr bwMode="auto">
            <a:xfrm>
              <a:off x="4080" y="2112"/>
              <a:ext cx="144" cy="96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5398" name="Line 278"/>
            <p:cNvSpPr>
              <a:spLocks noChangeShapeType="1"/>
            </p:cNvSpPr>
            <p:nvPr/>
          </p:nvSpPr>
          <p:spPr bwMode="auto">
            <a:xfrm flipV="1">
              <a:off x="4080" y="2112"/>
              <a:ext cx="96" cy="144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5" name="Group 326"/>
          <p:cNvGrpSpPr>
            <a:grpSpLocks/>
          </p:cNvGrpSpPr>
          <p:nvPr/>
        </p:nvGrpSpPr>
        <p:grpSpPr bwMode="auto">
          <a:xfrm>
            <a:off x="228600" y="4038600"/>
            <a:ext cx="8791575" cy="2133600"/>
            <a:chOff x="144" y="2544"/>
            <a:chExt cx="5538" cy="1344"/>
          </a:xfrm>
        </p:grpSpPr>
        <p:sp>
          <p:nvSpPr>
            <p:cNvPr id="5400" name="Line 280"/>
            <p:cNvSpPr>
              <a:spLocks noChangeShapeType="1"/>
            </p:cNvSpPr>
            <p:nvPr/>
          </p:nvSpPr>
          <p:spPr bwMode="auto">
            <a:xfrm>
              <a:off x="354" y="2860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401" name="Line 281"/>
            <p:cNvSpPr>
              <a:spLocks noChangeShapeType="1"/>
            </p:cNvSpPr>
            <p:nvPr/>
          </p:nvSpPr>
          <p:spPr bwMode="auto">
            <a:xfrm flipV="1">
              <a:off x="786" y="2880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402" name="Line 282"/>
            <p:cNvSpPr>
              <a:spLocks noChangeShapeType="1"/>
            </p:cNvSpPr>
            <p:nvPr/>
          </p:nvSpPr>
          <p:spPr bwMode="auto">
            <a:xfrm>
              <a:off x="1458" y="2880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403" name="Line 283"/>
            <p:cNvSpPr>
              <a:spLocks noChangeShapeType="1"/>
            </p:cNvSpPr>
            <p:nvPr/>
          </p:nvSpPr>
          <p:spPr bwMode="auto">
            <a:xfrm>
              <a:off x="2178" y="2880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404" name="Line 284"/>
            <p:cNvSpPr>
              <a:spLocks noChangeShapeType="1"/>
            </p:cNvSpPr>
            <p:nvPr/>
          </p:nvSpPr>
          <p:spPr bwMode="auto">
            <a:xfrm flipV="1">
              <a:off x="4512" y="2880"/>
              <a:ext cx="83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405" name="Line 285"/>
            <p:cNvSpPr>
              <a:spLocks noChangeShapeType="1"/>
            </p:cNvSpPr>
            <p:nvPr/>
          </p:nvSpPr>
          <p:spPr bwMode="auto">
            <a:xfrm flipV="1">
              <a:off x="2706" y="292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406" name="Line 286"/>
            <p:cNvSpPr>
              <a:spLocks noChangeShapeType="1"/>
            </p:cNvSpPr>
            <p:nvPr/>
          </p:nvSpPr>
          <p:spPr bwMode="auto">
            <a:xfrm>
              <a:off x="5136" y="2880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407" name="Line 287"/>
            <p:cNvSpPr>
              <a:spLocks noChangeShapeType="1"/>
            </p:cNvSpPr>
            <p:nvPr/>
          </p:nvSpPr>
          <p:spPr bwMode="auto">
            <a:xfrm flipV="1">
              <a:off x="1362" y="2956"/>
              <a:ext cx="0" cy="5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408" name="Line 288"/>
            <p:cNvSpPr>
              <a:spLocks noChangeShapeType="1"/>
            </p:cNvSpPr>
            <p:nvPr/>
          </p:nvSpPr>
          <p:spPr bwMode="auto">
            <a:xfrm>
              <a:off x="1122" y="3024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16" name="Group 289"/>
            <p:cNvGrpSpPr>
              <a:grpSpLocks/>
            </p:cNvGrpSpPr>
            <p:nvPr/>
          </p:nvGrpSpPr>
          <p:grpSpPr bwMode="auto">
            <a:xfrm>
              <a:off x="642" y="2688"/>
              <a:ext cx="96" cy="96"/>
              <a:chOff x="1344" y="1660"/>
              <a:chExt cx="96" cy="96"/>
            </a:xfrm>
          </p:grpSpPr>
          <p:sp>
            <p:nvSpPr>
              <p:cNvPr id="5410" name="Line 290"/>
              <p:cNvSpPr>
                <a:spLocks noChangeShapeType="1"/>
              </p:cNvSpPr>
              <p:nvPr/>
            </p:nvSpPr>
            <p:spPr bwMode="auto">
              <a:xfrm>
                <a:off x="1344" y="170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5411" name="Line 291"/>
              <p:cNvSpPr>
                <a:spLocks noChangeShapeType="1"/>
              </p:cNvSpPr>
              <p:nvPr/>
            </p:nvSpPr>
            <p:spPr bwMode="auto">
              <a:xfrm flipV="1">
                <a:off x="1392" y="166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</p:grpSp>
        <p:pic>
          <p:nvPicPr>
            <p:cNvPr id="5412" name="Picture 292" descr="untitled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786" y="2784"/>
              <a:ext cx="192" cy="192"/>
            </a:xfrm>
            <a:prstGeom prst="rect">
              <a:avLst/>
            </a:prstGeom>
            <a:noFill/>
          </p:spPr>
        </p:pic>
        <p:pic>
          <p:nvPicPr>
            <p:cNvPr id="5413" name="Picture 293" descr="untitled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266" y="2784"/>
              <a:ext cx="192" cy="192"/>
            </a:xfrm>
            <a:prstGeom prst="rect">
              <a:avLst/>
            </a:prstGeom>
            <a:noFill/>
          </p:spPr>
        </p:pic>
        <p:grpSp>
          <p:nvGrpSpPr>
            <p:cNvPr id="17" name="Group 294"/>
            <p:cNvGrpSpPr>
              <a:grpSpLocks/>
            </p:cNvGrpSpPr>
            <p:nvPr/>
          </p:nvGrpSpPr>
          <p:grpSpPr bwMode="auto">
            <a:xfrm>
              <a:off x="1074" y="2688"/>
              <a:ext cx="96" cy="96"/>
              <a:chOff x="1344" y="1660"/>
              <a:chExt cx="96" cy="96"/>
            </a:xfrm>
          </p:grpSpPr>
          <p:sp>
            <p:nvSpPr>
              <p:cNvPr id="5415" name="Line 295"/>
              <p:cNvSpPr>
                <a:spLocks noChangeShapeType="1"/>
              </p:cNvSpPr>
              <p:nvPr/>
            </p:nvSpPr>
            <p:spPr bwMode="auto">
              <a:xfrm>
                <a:off x="1344" y="170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5416" name="Line 296"/>
              <p:cNvSpPr>
                <a:spLocks noChangeShapeType="1"/>
              </p:cNvSpPr>
              <p:nvPr/>
            </p:nvSpPr>
            <p:spPr bwMode="auto">
              <a:xfrm flipV="1">
                <a:off x="1392" y="166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5417" name="Line 297"/>
            <p:cNvSpPr>
              <a:spLocks noChangeShapeType="1"/>
            </p:cNvSpPr>
            <p:nvPr/>
          </p:nvSpPr>
          <p:spPr bwMode="auto">
            <a:xfrm>
              <a:off x="642" y="3024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418" name="Line 298"/>
            <p:cNvSpPr>
              <a:spLocks noChangeShapeType="1"/>
            </p:cNvSpPr>
            <p:nvPr/>
          </p:nvSpPr>
          <p:spPr bwMode="auto">
            <a:xfrm flipH="1">
              <a:off x="882" y="3888"/>
              <a:ext cx="42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419" name="Line 299"/>
            <p:cNvSpPr>
              <a:spLocks noChangeShapeType="1"/>
            </p:cNvSpPr>
            <p:nvPr/>
          </p:nvSpPr>
          <p:spPr bwMode="auto">
            <a:xfrm flipV="1">
              <a:off x="882" y="2928"/>
              <a:ext cx="0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5420" name="Line 300"/>
            <p:cNvSpPr>
              <a:spLocks noChangeShapeType="1"/>
            </p:cNvSpPr>
            <p:nvPr/>
          </p:nvSpPr>
          <p:spPr bwMode="auto">
            <a:xfrm>
              <a:off x="1362" y="3552"/>
              <a:ext cx="4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pic>
          <p:nvPicPr>
            <p:cNvPr id="5421" name="Picture 301" descr="untitled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610" y="2784"/>
              <a:ext cx="192" cy="192"/>
            </a:xfrm>
            <a:prstGeom prst="rect">
              <a:avLst/>
            </a:prstGeom>
            <a:noFill/>
          </p:spPr>
        </p:pic>
        <p:sp>
          <p:nvSpPr>
            <p:cNvPr id="5422" name="Line 302"/>
            <p:cNvSpPr>
              <a:spLocks noChangeShapeType="1"/>
            </p:cNvSpPr>
            <p:nvPr/>
          </p:nvSpPr>
          <p:spPr bwMode="auto">
            <a:xfrm>
              <a:off x="2784" y="2880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18" name="Group 303"/>
            <p:cNvGrpSpPr>
              <a:grpSpLocks/>
            </p:cNvGrpSpPr>
            <p:nvPr/>
          </p:nvGrpSpPr>
          <p:grpSpPr bwMode="auto">
            <a:xfrm>
              <a:off x="2514" y="2688"/>
              <a:ext cx="96" cy="96"/>
              <a:chOff x="1344" y="1660"/>
              <a:chExt cx="96" cy="96"/>
            </a:xfrm>
          </p:grpSpPr>
          <p:sp>
            <p:nvSpPr>
              <p:cNvPr id="5424" name="Line 304"/>
              <p:cNvSpPr>
                <a:spLocks noChangeShapeType="1"/>
              </p:cNvSpPr>
              <p:nvPr/>
            </p:nvSpPr>
            <p:spPr bwMode="auto">
              <a:xfrm>
                <a:off x="1344" y="170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5425" name="Line 305"/>
              <p:cNvSpPr>
                <a:spLocks noChangeShapeType="1"/>
              </p:cNvSpPr>
              <p:nvPr/>
            </p:nvSpPr>
            <p:spPr bwMode="auto">
              <a:xfrm flipV="1">
                <a:off x="1392" y="166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5426" name="Line 306"/>
            <p:cNvSpPr>
              <a:spLocks noChangeShapeType="1"/>
            </p:cNvSpPr>
            <p:nvPr/>
          </p:nvSpPr>
          <p:spPr bwMode="auto">
            <a:xfrm>
              <a:off x="2562" y="3024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19" name="Group 307"/>
            <p:cNvGrpSpPr>
              <a:grpSpLocks/>
            </p:cNvGrpSpPr>
            <p:nvPr/>
          </p:nvGrpSpPr>
          <p:grpSpPr bwMode="auto">
            <a:xfrm>
              <a:off x="1872" y="2736"/>
              <a:ext cx="432" cy="306"/>
              <a:chOff x="1776" y="1440"/>
              <a:chExt cx="432" cy="306"/>
            </a:xfrm>
          </p:grpSpPr>
          <p:sp>
            <p:nvSpPr>
              <p:cNvPr id="5428" name="Rectangle 308"/>
              <p:cNvSpPr>
                <a:spLocks noChangeArrowheads="1"/>
              </p:cNvSpPr>
              <p:nvPr/>
            </p:nvSpPr>
            <p:spPr bwMode="auto">
              <a:xfrm>
                <a:off x="1776" y="1440"/>
                <a:ext cx="432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graphicFrame>
            <p:nvGraphicFramePr>
              <p:cNvPr id="33807" name="Object 2063"/>
              <p:cNvGraphicFramePr>
                <a:graphicFrameLocks noChangeAspect="1"/>
              </p:cNvGraphicFramePr>
              <p:nvPr/>
            </p:nvGraphicFramePr>
            <p:xfrm>
              <a:off x="1872" y="1440"/>
              <a:ext cx="252" cy="3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" imgW="177480" imgH="215640" progId="Equation.3">
                      <p:embed/>
                    </p:oleObj>
                  </mc:Choice>
                  <mc:Fallback>
                    <p:oleObj name="Equation" r:id="rId5" imgW="177480" imgH="215640" progId="Equation.3">
                      <p:embed/>
                      <p:pic>
                        <p:nvPicPr>
                          <p:cNvPr id="0" name="Picture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72" y="1440"/>
                            <a:ext cx="252" cy="30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3800" name="Object 2056"/>
            <p:cNvGraphicFramePr>
              <a:graphicFrameLocks noChangeAspect="1"/>
            </p:cNvGraphicFramePr>
            <p:nvPr/>
          </p:nvGraphicFramePr>
          <p:xfrm>
            <a:off x="3149" y="2688"/>
            <a:ext cx="133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52280" imgH="164880" progId="Equation.3">
                    <p:embed/>
                  </p:oleObj>
                </mc:Choice>
                <mc:Fallback>
                  <p:oleObj name="Equation" r:id="rId7" imgW="152280" imgH="164880" progId="Equation.3">
                    <p:embed/>
                    <p:pic>
                      <p:nvPicPr>
                        <p:cNvPr id="0" name="Picture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49" y="2688"/>
                          <a:ext cx="133" cy="144"/>
                        </a:xfrm>
                        <a:prstGeom prst="rect">
                          <a:avLst/>
                        </a:prstGeom>
                        <a:solidFill>
                          <a:srgbClr val="CCFFCC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01" name="Object 2057"/>
            <p:cNvGraphicFramePr>
              <a:graphicFrameLocks noChangeAspect="1"/>
            </p:cNvGraphicFramePr>
            <p:nvPr/>
          </p:nvGraphicFramePr>
          <p:xfrm>
            <a:off x="144" y="2544"/>
            <a:ext cx="45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317160" imgH="203040" progId="Equation.3">
                    <p:embed/>
                  </p:oleObj>
                </mc:Choice>
                <mc:Fallback>
                  <p:oleObj name="Equation" r:id="rId9" imgW="317160" imgH="203040" progId="Equation.3">
                    <p:embed/>
                    <p:pic>
                      <p:nvPicPr>
                        <p:cNvPr id="0" name="Picture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" y="2544"/>
                          <a:ext cx="450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02" name="Object 2058"/>
            <p:cNvGraphicFramePr>
              <a:graphicFrameLocks noChangeAspect="1"/>
            </p:cNvGraphicFramePr>
            <p:nvPr/>
          </p:nvGraphicFramePr>
          <p:xfrm>
            <a:off x="5058" y="2688"/>
            <a:ext cx="133" cy="1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152280" imgH="177480" progId="Equation.3">
                    <p:embed/>
                  </p:oleObj>
                </mc:Choice>
                <mc:Fallback>
                  <p:oleObj name="Equation" r:id="rId21" imgW="152280" imgH="177480" progId="Equation.3">
                    <p:embed/>
                    <p:pic>
                      <p:nvPicPr>
                        <p:cNvPr id="0" name="Picture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58" y="2688"/>
                          <a:ext cx="133" cy="155"/>
                        </a:xfrm>
                        <a:prstGeom prst="rect">
                          <a:avLst/>
                        </a:prstGeom>
                        <a:solidFill>
                          <a:srgbClr val="CCFF66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0" name="Group 313"/>
            <p:cNvGrpSpPr>
              <a:grpSpLocks/>
            </p:cNvGrpSpPr>
            <p:nvPr/>
          </p:nvGrpSpPr>
          <p:grpSpPr bwMode="auto">
            <a:xfrm>
              <a:off x="3504" y="2736"/>
              <a:ext cx="1008" cy="324"/>
              <a:chOff x="2064" y="3351"/>
              <a:chExt cx="1008" cy="324"/>
            </a:xfrm>
          </p:grpSpPr>
          <p:sp>
            <p:nvSpPr>
              <p:cNvPr id="5434" name="Rectangle 314"/>
              <p:cNvSpPr>
                <a:spLocks noChangeArrowheads="1"/>
              </p:cNvSpPr>
              <p:nvPr/>
            </p:nvSpPr>
            <p:spPr bwMode="auto">
              <a:xfrm>
                <a:off x="2064" y="3360"/>
                <a:ext cx="100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graphicFrame>
            <p:nvGraphicFramePr>
              <p:cNvPr id="33806" name="Object 2062"/>
              <p:cNvGraphicFramePr>
                <a:graphicFrameLocks noChangeAspect="1"/>
              </p:cNvGraphicFramePr>
              <p:nvPr/>
            </p:nvGraphicFramePr>
            <p:xfrm>
              <a:off x="2160" y="3351"/>
              <a:ext cx="783" cy="3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3" imgW="647640" imgH="228600" progId="Equation.3">
                      <p:embed/>
                    </p:oleObj>
                  </mc:Choice>
                  <mc:Fallback>
                    <p:oleObj name="Equation" r:id="rId23" imgW="647640" imgH="228600" progId="Equation.3">
                      <p:embed/>
                      <p:pic>
                        <p:nvPicPr>
                          <p:cNvPr id="0" name="Picture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60" y="3351"/>
                            <a:ext cx="783" cy="32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436" name="Line 316"/>
            <p:cNvSpPr>
              <a:spLocks noChangeShapeType="1"/>
            </p:cNvSpPr>
            <p:nvPr/>
          </p:nvSpPr>
          <p:spPr bwMode="auto">
            <a:xfrm>
              <a:off x="2706" y="3264"/>
              <a:ext cx="2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grpSp>
          <p:nvGrpSpPr>
            <p:cNvPr id="21" name="Group 317"/>
            <p:cNvGrpSpPr>
              <a:grpSpLocks/>
            </p:cNvGrpSpPr>
            <p:nvPr/>
          </p:nvGrpSpPr>
          <p:grpSpPr bwMode="auto">
            <a:xfrm>
              <a:off x="3792" y="3102"/>
              <a:ext cx="432" cy="258"/>
              <a:chOff x="4176" y="1806"/>
              <a:chExt cx="432" cy="306"/>
            </a:xfrm>
          </p:grpSpPr>
          <p:sp>
            <p:nvSpPr>
              <p:cNvPr id="5438" name="Rectangle 318"/>
              <p:cNvSpPr>
                <a:spLocks noChangeArrowheads="1"/>
              </p:cNvSpPr>
              <p:nvPr/>
            </p:nvSpPr>
            <p:spPr bwMode="auto">
              <a:xfrm>
                <a:off x="4176" y="1806"/>
                <a:ext cx="432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graphicFrame>
            <p:nvGraphicFramePr>
              <p:cNvPr id="33805" name="Object 2061"/>
              <p:cNvGraphicFramePr>
                <a:graphicFrameLocks noChangeAspect="1"/>
              </p:cNvGraphicFramePr>
              <p:nvPr/>
            </p:nvGraphicFramePr>
            <p:xfrm>
              <a:off x="4236" y="1806"/>
              <a:ext cx="324" cy="3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228600" imgH="215640" progId="Equation.3">
                      <p:embed/>
                    </p:oleObj>
                  </mc:Choice>
                  <mc:Fallback>
                    <p:oleObj name="Equation" r:id="rId13" imgW="228600" imgH="215640" progId="Equation.3">
                      <p:embed/>
                      <p:pic>
                        <p:nvPicPr>
                          <p:cNvPr id="0" name="Picture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36" y="1806"/>
                            <a:ext cx="324" cy="30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3803" name="Object 2059"/>
            <p:cNvGraphicFramePr>
              <a:graphicFrameLocks noChangeAspect="1"/>
            </p:cNvGraphicFramePr>
            <p:nvPr/>
          </p:nvGraphicFramePr>
          <p:xfrm>
            <a:off x="5232" y="2544"/>
            <a:ext cx="45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317160" imgH="203040" progId="Equation.3">
                    <p:embed/>
                  </p:oleObj>
                </mc:Choice>
                <mc:Fallback>
                  <p:oleObj name="Equation" r:id="rId15" imgW="317160" imgH="203040" progId="Equation.3">
                    <p:embed/>
                    <p:pic>
                      <p:nvPicPr>
                        <p:cNvPr id="0" name="Picture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2" y="2544"/>
                          <a:ext cx="450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41" name="Line 321"/>
            <p:cNvSpPr>
              <a:spLocks noChangeShapeType="1"/>
            </p:cNvSpPr>
            <p:nvPr/>
          </p:nvSpPr>
          <p:spPr bwMode="auto">
            <a:xfrm>
              <a:off x="3216" y="2880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grpSp>
          <p:nvGrpSpPr>
            <p:cNvPr id="22" name="Group 322"/>
            <p:cNvGrpSpPr>
              <a:grpSpLocks/>
            </p:cNvGrpSpPr>
            <p:nvPr/>
          </p:nvGrpSpPr>
          <p:grpSpPr bwMode="auto">
            <a:xfrm>
              <a:off x="1824" y="3360"/>
              <a:ext cx="720" cy="336"/>
              <a:chOff x="1824" y="3360"/>
              <a:chExt cx="720" cy="336"/>
            </a:xfrm>
          </p:grpSpPr>
          <p:sp>
            <p:nvSpPr>
              <p:cNvPr id="5443" name="Rectangle 323"/>
              <p:cNvSpPr>
                <a:spLocks noChangeArrowheads="1"/>
              </p:cNvSpPr>
              <p:nvPr/>
            </p:nvSpPr>
            <p:spPr bwMode="auto">
              <a:xfrm>
                <a:off x="1824" y="3360"/>
                <a:ext cx="720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graphicFrame>
            <p:nvGraphicFramePr>
              <p:cNvPr id="33804" name="Object 2060"/>
              <p:cNvGraphicFramePr>
                <a:graphicFrameLocks noChangeAspect="1"/>
              </p:cNvGraphicFramePr>
              <p:nvPr/>
            </p:nvGraphicFramePr>
            <p:xfrm>
              <a:off x="1926" y="3360"/>
              <a:ext cx="522" cy="3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368280" imgH="215640" progId="Equation.3">
                      <p:embed/>
                    </p:oleObj>
                  </mc:Choice>
                  <mc:Fallback>
                    <p:oleObj name="Equation" r:id="rId11" imgW="368280" imgH="215640" progId="Equation.3">
                      <p:embed/>
                      <p:pic>
                        <p:nvPicPr>
                          <p:cNvPr id="0" name="Picture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26" y="3360"/>
                            <a:ext cx="522" cy="30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445" name="Line 325"/>
            <p:cNvSpPr>
              <a:spLocks noChangeShapeType="1"/>
            </p:cNvSpPr>
            <p:nvPr/>
          </p:nvSpPr>
          <p:spPr bwMode="auto">
            <a:xfrm>
              <a:off x="2544" y="3552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3" name="Group 371"/>
          <p:cNvGrpSpPr>
            <a:grpSpLocks/>
          </p:cNvGrpSpPr>
          <p:nvPr/>
        </p:nvGrpSpPr>
        <p:grpSpPr bwMode="auto">
          <a:xfrm>
            <a:off x="4953000" y="295275"/>
            <a:ext cx="3124200" cy="1076325"/>
            <a:chOff x="2928" y="414"/>
            <a:chExt cx="1968" cy="678"/>
          </a:xfrm>
        </p:grpSpPr>
        <p:pic>
          <p:nvPicPr>
            <p:cNvPr id="5492" name="Picture 372" descr="untitled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704" y="816"/>
              <a:ext cx="192" cy="192"/>
            </a:xfrm>
            <a:prstGeom prst="rect">
              <a:avLst/>
            </a:prstGeom>
            <a:noFill/>
          </p:spPr>
        </p:pic>
        <p:sp>
          <p:nvSpPr>
            <p:cNvPr id="5493" name="Line 373"/>
            <p:cNvSpPr>
              <a:spLocks noChangeShapeType="1"/>
            </p:cNvSpPr>
            <p:nvPr/>
          </p:nvSpPr>
          <p:spPr bwMode="auto">
            <a:xfrm>
              <a:off x="2928" y="912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494" name="Line 374"/>
            <p:cNvSpPr>
              <a:spLocks noChangeShapeType="1"/>
            </p:cNvSpPr>
            <p:nvPr/>
          </p:nvSpPr>
          <p:spPr bwMode="auto">
            <a:xfrm>
              <a:off x="3504" y="912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5495" name="Line 375"/>
            <p:cNvSpPr>
              <a:spLocks noChangeShapeType="1"/>
            </p:cNvSpPr>
            <p:nvPr/>
          </p:nvSpPr>
          <p:spPr bwMode="auto">
            <a:xfrm>
              <a:off x="4368" y="91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5496" name="Line 376"/>
            <p:cNvSpPr>
              <a:spLocks noChangeShapeType="1"/>
            </p:cNvSpPr>
            <p:nvPr/>
          </p:nvSpPr>
          <p:spPr bwMode="auto">
            <a:xfrm>
              <a:off x="3648" y="91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grpSp>
          <p:nvGrpSpPr>
            <p:cNvPr id="24" name="Group 377"/>
            <p:cNvGrpSpPr>
              <a:grpSpLocks/>
            </p:cNvGrpSpPr>
            <p:nvPr/>
          </p:nvGrpSpPr>
          <p:grpSpPr bwMode="auto">
            <a:xfrm>
              <a:off x="4656" y="768"/>
              <a:ext cx="96" cy="96"/>
              <a:chOff x="1344" y="1660"/>
              <a:chExt cx="96" cy="96"/>
            </a:xfrm>
          </p:grpSpPr>
          <p:sp>
            <p:nvSpPr>
              <p:cNvPr id="5498" name="Line 378"/>
              <p:cNvSpPr>
                <a:spLocks noChangeShapeType="1"/>
              </p:cNvSpPr>
              <p:nvPr/>
            </p:nvSpPr>
            <p:spPr bwMode="auto">
              <a:xfrm>
                <a:off x="1344" y="170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5499" name="Line 379"/>
              <p:cNvSpPr>
                <a:spLocks noChangeShapeType="1"/>
              </p:cNvSpPr>
              <p:nvPr/>
            </p:nvSpPr>
            <p:spPr bwMode="auto">
              <a:xfrm flipV="1">
                <a:off x="1392" y="166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25" name="Group 380"/>
            <p:cNvGrpSpPr>
              <a:grpSpLocks/>
            </p:cNvGrpSpPr>
            <p:nvPr/>
          </p:nvGrpSpPr>
          <p:grpSpPr bwMode="auto">
            <a:xfrm>
              <a:off x="4608" y="624"/>
              <a:ext cx="96" cy="96"/>
              <a:chOff x="1344" y="1660"/>
              <a:chExt cx="96" cy="96"/>
            </a:xfrm>
          </p:grpSpPr>
          <p:sp>
            <p:nvSpPr>
              <p:cNvPr id="5501" name="Line 381"/>
              <p:cNvSpPr>
                <a:spLocks noChangeShapeType="1"/>
              </p:cNvSpPr>
              <p:nvPr/>
            </p:nvSpPr>
            <p:spPr bwMode="auto">
              <a:xfrm>
                <a:off x="1344" y="170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5502" name="Line 382"/>
              <p:cNvSpPr>
                <a:spLocks noChangeShapeType="1"/>
              </p:cNvSpPr>
              <p:nvPr/>
            </p:nvSpPr>
            <p:spPr bwMode="auto">
              <a:xfrm flipV="1">
                <a:off x="1392" y="166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5503" name="Line 383"/>
            <p:cNvSpPr>
              <a:spLocks noChangeShapeType="1"/>
            </p:cNvSpPr>
            <p:nvPr/>
          </p:nvSpPr>
          <p:spPr bwMode="auto">
            <a:xfrm flipV="1">
              <a:off x="3024" y="576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5504" name="Line 384"/>
            <p:cNvSpPr>
              <a:spLocks noChangeShapeType="1"/>
            </p:cNvSpPr>
            <p:nvPr/>
          </p:nvSpPr>
          <p:spPr bwMode="auto">
            <a:xfrm>
              <a:off x="4752" y="57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5505" name="Line 385"/>
            <p:cNvSpPr>
              <a:spLocks noChangeShapeType="1"/>
            </p:cNvSpPr>
            <p:nvPr/>
          </p:nvSpPr>
          <p:spPr bwMode="auto">
            <a:xfrm>
              <a:off x="3024" y="576"/>
              <a:ext cx="17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grpSp>
          <p:nvGrpSpPr>
            <p:cNvPr id="26" name="Group 386"/>
            <p:cNvGrpSpPr>
              <a:grpSpLocks/>
            </p:cNvGrpSpPr>
            <p:nvPr/>
          </p:nvGrpSpPr>
          <p:grpSpPr bwMode="auto">
            <a:xfrm>
              <a:off x="3792" y="414"/>
              <a:ext cx="384" cy="306"/>
              <a:chOff x="3792" y="1086"/>
              <a:chExt cx="384" cy="306"/>
            </a:xfrm>
          </p:grpSpPr>
          <p:sp>
            <p:nvSpPr>
              <p:cNvPr id="5507" name="Rectangle 387"/>
              <p:cNvSpPr>
                <a:spLocks noChangeArrowheads="1"/>
              </p:cNvSpPr>
              <p:nvPr/>
            </p:nvSpPr>
            <p:spPr bwMode="auto">
              <a:xfrm>
                <a:off x="3792" y="1086"/>
                <a:ext cx="384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graphicFrame>
            <p:nvGraphicFramePr>
              <p:cNvPr id="33799" name="Object 2055"/>
              <p:cNvGraphicFramePr>
                <a:graphicFrameLocks noChangeAspect="1"/>
              </p:cNvGraphicFramePr>
              <p:nvPr/>
            </p:nvGraphicFramePr>
            <p:xfrm>
              <a:off x="3888" y="1086"/>
              <a:ext cx="288" cy="3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4" imgW="203040" imgH="215640" progId="Equation.3">
                      <p:embed/>
                    </p:oleObj>
                  </mc:Choice>
                  <mc:Fallback>
                    <p:oleObj name="Equation" r:id="rId24" imgW="203040" imgH="215640" progId="Equation.3">
                      <p:embed/>
                      <p:pic>
                        <p:nvPicPr>
                          <p:cNvPr id="0" name="Picture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88" y="1086"/>
                            <a:ext cx="288" cy="30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7" name="Group 389"/>
            <p:cNvGrpSpPr>
              <a:grpSpLocks/>
            </p:cNvGrpSpPr>
            <p:nvPr/>
          </p:nvGrpSpPr>
          <p:grpSpPr bwMode="auto">
            <a:xfrm>
              <a:off x="3216" y="768"/>
              <a:ext cx="432" cy="306"/>
              <a:chOff x="3216" y="1440"/>
              <a:chExt cx="432" cy="306"/>
            </a:xfrm>
          </p:grpSpPr>
          <p:sp>
            <p:nvSpPr>
              <p:cNvPr id="5510" name="Rectangle 390"/>
              <p:cNvSpPr>
                <a:spLocks noChangeArrowheads="1"/>
              </p:cNvSpPr>
              <p:nvPr/>
            </p:nvSpPr>
            <p:spPr bwMode="auto">
              <a:xfrm>
                <a:off x="3216" y="1440"/>
                <a:ext cx="432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graphicFrame>
            <p:nvGraphicFramePr>
              <p:cNvPr id="33798" name="Object 2054"/>
              <p:cNvGraphicFramePr>
                <a:graphicFrameLocks noChangeAspect="1"/>
              </p:cNvGraphicFramePr>
              <p:nvPr/>
            </p:nvGraphicFramePr>
            <p:xfrm>
              <a:off x="3312" y="1440"/>
              <a:ext cx="288" cy="3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6" imgW="203040" imgH="215640" progId="Equation.3">
                      <p:embed/>
                    </p:oleObj>
                  </mc:Choice>
                  <mc:Fallback>
                    <p:oleObj name="Equation" r:id="rId26" imgW="203040" imgH="215640" progId="Equation.3">
                      <p:embed/>
                      <p:pic>
                        <p:nvPicPr>
                          <p:cNvPr id="0" name="Picture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12" y="1440"/>
                            <a:ext cx="288" cy="30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3796" name="Object 2052"/>
            <p:cNvGraphicFramePr>
              <a:graphicFrameLocks noChangeAspect="1"/>
            </p:cNvGraphicFramePr>
            <p:nvPr/>
          </p:nvGraphicFramePr>
          <p:xfrm>
            <a:off x="3792" y="768"/>
            <a:ext cx="133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152280" imgH="164880" progId="Equation.3">
                    <p:embed/>
                  </p:oleObj>
                </mc:Choice>
                <mc:Fallback>
                  <p:oleObj name="Equation" r:id="rId28" imgW="152280" imgH="164880" progId="Equation.3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768"/>
                          <a:ext cx="133" cy="144"/>
                        </a:xfrm>
                        <a:prstGeom prst="rect">
                          <a:avLst/>
                        </a:prstGeom>
                        <a:solidFill>
                          <a:srgbClr val="00FF99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8" name="Group 393"/>
            <p:cNvGrpSpPr>
              <a:grpSpLocks/>
            </p:cNvGrpSpPr>
            <p:nvPr/>
          </p:nvGrpSpPr>
          <p:grpSpPr bwMode="auto">
            <a:xfrm>
              <a:off x="4080" y="768"/>
              <a:ext cx="432" cy="324"/>
              <a:chOff x="4176" y="1440"/>
              <a:chExt cx="432" cy="324"/>
            </a:xfrm>
          </p:grpSpPr>
          <p:sp>
            <p:nvSpPr>
              <p:cNvPr id="5514" name="Rectangle 394"/>
              <p:cNvSpPr>
                <a:spLocks noChangeArrowheads="1"/>
              </p:cNvSpPr>
              <p:nvPr/>
            </p:nvSpPr>
            <p:spPr bwMode="auto">
              <a:xfrm>
                <a:off x="4176" y="1440"/>
                <a:ext cx="432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graphicFrame>
            <p:nvGraphicFramePr>
              <p:cNvPr id="33797" name="Object 2053"/>
              <p:cNvGraphicFramePr>
                <a:graphicFrameLocks noChangeAspect="1"/>
              </p:cNvGraphicFramePr>
              <p:nvPr/>
            </p:nvGraphicFramePr>
            <p:xfrm>
              <a:off x="4290" y="1440"/>
              <a:ext cx="270" cy="3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0" imgW="190440" imgH="228600" progId="Equation.3">
                      <p:embed/>
                    </p:oleObj>
                  </mc:Choice>
                  <mc:Fallback>
                    <p:oleObj name="Equation" r:id="rId30" imgW="190440" imgH="228600" progId="Equation.3">
                      <p:embed/>
                      <p:pic>
                        <p:nvPicPr>
                          <p:cNvPr id="0" name="Picture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90" y="1440"/>
                            <a:ext cx="270" cy="32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5520" name="Rectangle 400"/>
          <p:cNvSpPr>
            <a:spLocks noChangeArrowheads="1"/>
          </p:cNvSpPr>
          <p:nvPr/>
        </p:nvSpPr>
        <p:spPr bwMode="auto">
          <a:xfrm>
            <a:off x="5029200" y="304800"/>
            <a:ext cx="3124200" cy="1066800"/>
          </a:xfrm>
          <a:prstGeom prst="rect">
            <a:avLst/>
          </a:prstGeom>
          <a:noFill/>
          <a:ln w="9525">
            <a:solidFill>
              <a:srgbClr val="FF00FF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grpSp>
        <p:nvGrpSpPr>
          <p:cNvPr id="29" name="Group 401"/>
          <p:cNvGrpSpPr>
            <a:grpSpLocks/>
          </p:cNvGrpSpPr>
          <p:nvPr/>
        </p:nvGrpSpPr>
        <p:grpSpPr bwMode="auto">
          <a:xfrm>
            <a:off x="4953000" y="228600"/>
            <a:ext cx="3276600" cy="1295400"/>
            <a:chOff x="3120" y="144"/>
            <a:chExt cx="1968" cy="960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5522" name="Rectangle 402"/>
            <p:cNvSpPr>
              <a:spLocks noChangeArrowheads="1"/>
            </p:cNvSpPr>
            <p:nvPr/>
          </p:nvSpPr>
          <p:spPr bwMode="auto">
            <a:xfrm>
              <a:off x="3120" y="144"/>
              <a:ext cx="1968" cy="96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33795" name="Object 2051"/>
            <p:cNvGraphicFramePr>
              <a:graphicFrameLocks noChangeAspect="1"/>
            </p:cNvGraphicFramePr>
            <p:nvPr/>
          </p:nvGraphicFramePr>
          <p:xfrm>
            <a:off x="3552" y="432"/>
            <a:ext cx="1152" cy="4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647640" imgH="228600" progId="Equation.3">
                    <p:embed/>
                  </p:oleObj>
                </mc:Choice>
                <mc:Fallback>
                  <p:oleObj name="Equation" r:id="rId23" imgW="647640" imgH="228600" progId="Equation.3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432"/>
                          <a:ext cx="1152" cy="4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" name="Slide Number Placeholder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27</a:t>
            </a:fld>
            <a:endParaRPr lang="en-GB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1" name="Text Box 7"/>
          <p:cNvSpPr txBox="1">
            <a:spLocks noChangeArrowheads="1"/>
          </p:cNvSpPr>
          <p:nvPr/>
        </p:nvSpPr>
        <p:spPr bwMode="auto">
          <a:xfrm>
            <a:off x="228600" y="379413"/>
            <a:ext cx="27765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333399"/>
                </a:solidFill>
                <a:latin typeface="Arial" pitchFamily="34" charset="0"/>
                <a:ea typeface="宋体" pitchFamily="2" charset="-122"/>
              </a:rPr>
              <a:t>4. </a:t>
            </a:r>
            <a:r>
              <a:rPr lang="en-US" altLang="zh-CN">
                <a:solidFill>
                  <a:srgbClr val="333399"/>
                </a:solidFill>
                <a:latin typeface="Arial" pitchFamily="34" charset="0"/>
                <a:ea typeface="宋体" pitchFamily="2" charset="-122"/>
              </a:rPr>
              <a:t>Eliminate loop III</a:t>
            </a:r>
          </a:p>
        </p:txBody>
      </p:sp>
      <p:sp>
        <p:nvSpPr>
          <p:cNvPr id="6207" name="AutoShape 63"/>
          <p:cNvSpPr>
            <a:spLocks noChangeArrowheads="1"/>
          </p:cNvSpPr>
          <p:nvPr/>
        </p:nvSpPr>
        <p:spPr bwMode="auto">
          <a:xfrm>
            <a:off x="4495800" y="3276600"/>
            <a:ext cx="381000" cy="457200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grpSp>
        <p:nvGrpSpPr>
          <p:cNvPr id="2" name="Group 99"/>
          <p:cNvGrpSpPr>
            <a:grpSpLocks/>
          </p:cNvGrpSpPr>
          <p:nvPr/>
        </p:nvGrpSpPr>
        <p:grpSpPr bwMode="auto">
          <a:xfrm>
            <a:off x="228600" y="3810000"/>
            <a:ext cx="8791575" cy="1371600"/>
            <a:chOff x="126" y="2496"/>
            <a:chExt cx="5538" cy="864"/>
          </a:xfrm>
        </p:grpSpPr>
        <p:sp>
          <p:nvSpPr>
            <p:cNvPr id="6208" name="Line 64"/>
            <p:cNvSpPr>
              <a:spLocks noChangeShapeType="1"/>
            </p:cNvSpPr>
            <p:nvPr/>
          </p:nvSpPr>
          <p:spPr bwMode="auto">
            <a:xfrm>
              <a:off x="336" y="281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6211" name="Line 67"/>
            <p:cNvSpPr>
              <a:spLocks noChangeShapeType="1"/>
            </p:cNvSpPr>
            <p:nvPr/>
          </p:nvSpPr>
          <p:spPr bwMode="auto">
            <a:xfrm flipV="1">
              <a:off x="4032" y="2832"/>
              <a:ext cx="12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6212" name="Line 68"/>
            <p:cNvSpPr>
              <a:spLocks noChangeShapeType="1"/>
            </p:cNvSpPr>
            <p:nvPr/>
          </p:nvSpPr>
          <p:spPr bwMode="auto">
            <a:xfrm>
              <a:off x="5088" y="2832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3" name="Group 71"/>
            <p:cNvGrpSpPr>
              <a:grpSpLocks/>
            </p:cNvGrpSpPr>
            <p:nvPr/>
          </p:nvGrpSpPr>
          <p:grpSpPr bwMode="auto">
            <a:xfrm>
              <a:off x="624" y="2640"/>
              <a:ext cx="96" cy="96"/>
              <a:chOff x="1344" y="1660"/>
              <a:chExt cx="96" cy="96"/>
            </a:xfrm>
          </p:grpSpPr>
          <p:sp>
            <p:nvSpPr>
              <p:cNvPr id="6216" name="Line 72"/>
              <p:cNvSpPr>
                <a:spLocks noChangeShapeType="1"/>
              </p:cNvSpPr>
              <p:nvPr/>
            </p:nvSpPr>
            <p:spPr bwMode="auto">
              <a:xfrm>
                <a:off x="1344" y="170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6217" name="Line 73"/>
              <p:cNvSpPr>
                <a:spLocks noChangeShapeType="1"/>
              </p:cNvSpPr>
              <p:nvPr/>
            </p:nvSpPr>
            <p:spPr bwMode="auto">
              <a:xfrm flipV="1">
                <a:off x="1392" y="166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</p:grpSp>
        <p:pic>
          <p:nvPicPr>
            <p:cNvPr id="6218" name="Picture 74" descr="untitled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68" y="2736"/>
              <a:ext cx="192" cy="192"/>
            </a:xfrm>
            <a:prstGeom prst="rect">
              <a:avLst/>
            </a:prstGeom>
            <a:noFill/>
          </p:spPr>
        </p:pic>
        <p:sp>
          <p:nvSpPr>
            <p:cNvPr id="6223" name="Line 79"/>
            <p:cNvSpPr>
              <a:spLocks noChangeShapeType="1"/>
            </p:cNvSpPr>
            <p:nvPr/>
          </p:nvSpPr>
          <p:spPr bwMode="auto">
            <a:xfrm>
              <a:off x="624" y="297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6224" name="Line 80"/>
            <p:cNvSpPr>
              <a:spLocks noChangeShapeType="1"/>
            </p:cNvSpPr>
            <p:nvPr/>
          </p:nvSpPr>
          <p:spPr bwMode="auto">
            <a:xfrm flipH="1">
              <a:off x="864" y="3360"/>
              <a:ext cx="42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6225" name="Line 81"/>
            <p:cNvSpPr>
              <a:spLocks noChangeShapeType="1"/>
            </p:cNvSpPr>
            <p:nvPr/>
          </p:nvSpPr>
          <p:spPr bwMode="auto">
            <a:xfrm flipV="1">
              <a:off x="864" y="2880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6227" name="Line 83"/>
            <p:cNvSpPr>
              <a:spLocks noChangeShapeType="1"/>
            </p:cNvSpPr>
            <p:nvPr/>
          </p:nvSpPr>
          <p:spPr bwMode="auto">
            <a:xfrm>
              <a:off x="960" y="2832"/>
              <a:ext cx="26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graphicFrame>
          <p:nvGraphicFramePr>
            <p:cNvPr id="34826" name="Object 1034"/>
            <p:cNvGraphicFramePr>
              <a:graphicFrameLocks noChangeAspect="1"/>
            </p:cNvGraphicFramePr>
            <p:nvPr/>
          </p:nvGraphicFramePr>
          <p:xfrm>
            <a:off x="126" y="2496"/>
            <a:ext cx="45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317160" imgH="203040" progId="Equation.3">
                    <p:embed/>
                  </p:oleObj>
                </mc:Choice>
                <mc:Fallback>
                  <p:oleObj name="Equation" r:id="rId3" imgW="317160" imgH="203040" progId="Equation.3">
                    <p:embed/>
                    <p:pic>
                      <p:nvPicPr>
                        <p:cNvPr id="0" name="Picture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" y="2496"/>
                          <a:ext cx="450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33" name="Rectangle 89"/>
            <p:cNvSpPr>
              <a:spLocks noChangeArrowheads="1"/>
            </p:cNvSpPr>
            <p:nvPr/>
          </p:nvSpPr>
          <p:spPr bwMode="auto">
            <a:xfrm>
              <a:off x="1824" y="2496"/>
              <a:ext cx="2448" cy="7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34827" name="Object 1035"/>
            <p:cNvGraphicFramePr>
              <a:graphicFrameLocks noChangeAspect="1"/>
            </p:cNvGraphicFramePr>
            <p:nvPr/>
          </p:nvGraphicFramePr>
          <p:xfrm>
            <a:off x="1965" y="2544"/>
            <a:ext cx="2211" cy="5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790640" imgH="431640" progId="Equation.3">
                    <p:embed/>
                  </p:oleObj>
                </mc:Choice>
                <mc:Fallback>
                  <p:oleObj name="Equation" r:id="rId5" imgW="1790640" imgH="431640" progId="Equation.3">
                    <p:embed/>
                    <p:pic>
                      <p:nvPicPr>
                        <p:cNvPr id="0" name="Picture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5" y="2544"/>
                          <a:ext cx="2211" cy="58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28" name="Object 1036"/>
            <p:cNvGraphicFramePr>
              <a:graphicFrameLocks noChangeAspect="1"/>
            </p:cNvGraphicFramePr>
            <p:nvPr/>
          </p:nvGraphicFramePr>
          <p:xfrm>
            <a:off x="5214" y="2496"/>
            <a:ext cx="45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317160" imgH="203040" progId="Equation.3">
                    <p:embed/>
                  </p:oleObj>
                </mc:Choice>
                <mc:Fallback>
                  <p:oleObj name="Equation" r:id="rId7" imgW="317160" imgH="203040" progId="Equation.3">
                    <p:embed/>
                    <p:pic>
                      <p:nvPicPr>
                        <p:cNvPr id="0" name="Picture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4" y="2496"/>
                          <a:ext cx="450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4816" name="Object 1024"/>
          <p:cNvGraphicFramePr>
            <a:graphicFrameLocks noChangeAspect="1"/>
          </p:cNvGraphicFramePr>
          <p:nvPr/>
        </p:nvGraphicFramePr>
        <p:xfrm>
          <a:off x="1636713" y="5640388"/>
          <a:ext cx="6084887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908080" imgH="380880" progId="Equation.3">
                  <p:embed/>
                </p:oleObj>
              </mc:Choice>
              <mc:Fallback>
                <p:oleObj name="Equation" r:id="rId9" imgW="2908080" imgH="3808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6713" y="5640388"/>
                        <a:ext cx="6084887" cy="758825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23" name="Rectangle 179"/>
          <p:cNvSpPr>
            <a:spLocks noChangeArrowheads="1"/>
          </p:cNvSpPr>
          <p:nvPr/>
        </p:nvSpPr>
        <p:spPr bwMode="auto">
          <a:xfrm>
            <a:off x="4343400" y="1143000"/>
            <a:ext cx="2971800" cy="1066800"/>
          </a:xfrm>
          <a:prstGeom prst="rect">
            <a:avLst/>
          </a:prstGeom>
          <a:noFill/>
          <a:ln w="9525">
            <a:solidFill>
              <a:srgbClr val="FF00FF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grpSp>
        <p:nvGrpSpPr>
          <p:cNvPr id="4" name="Group 239"/>
          <p:cNvGrpSpPr>
            <a:grpSpLocks/>
          </p:cNvGrpSpPr>
          <p:nvPr/>
        </p:nvGrpSpPr>
        <p:grpSpPr bwMode="auto">
          <a:xfrm>
            <a:off x="152400" y="990600"/>
            <a:ext cx="8915400" cy="2133600"/>
            <a:chOff x="96" y="624"/>
            <a:chExt cx="5616" cy="1344"/>
          </a:xfrm>
        </p:grpSpPr>
        <p:graphicFrame>
          <p:nvGraphicFramePr>
            <p:cNvPr id="34818" name="Object 1026"/>
            <p:cNvGraphicFramePr>
              <a:graphicFrameLocks noChangeAspect="1"/>
            </p:cNvGraphicFramePr>
            <p:nvPr/>
          </p:nvGraphicFramePr>
          <p:xfrm>
            <a:off x="96" y="624"/>
            <a:ext cx="45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317160" imgH="203040" progId="Equation.3">
                    <p:embed/>
                  </p:oleObj>
                </mc:Choice>
                <mc:Fallback>
                  <p:oleObj name="Equation" r:id="rId3" imgW="317160" imgH="203040" progId="Equation.3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" y="624"/>
                          <a:ext cx="450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385" name="Line 241"/>
            <p:cNvSpPr>
              <a:spLocks noChangeShapeType="1"/>
            </p:cNvSpPr>
            <p:nvPr/>
          </p:nvSpPr>
          <p:spPr bwMode="auto">
            <a:xfrm>
              <a:off x="354" y="940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6386" name="Line 242"/>
            <p:cNvSpPr>
              <a:spLocks noChangeShapeType="1"/>
            </p:cNvSpPr>
            <p:nvPr/>
          </p:nvSpPr>
          <p:spPr bwMode="auto">
            <a:xfrm flipV="1">
              <a:off x="786" y="960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6387" name="Line 243"/>
            <p:cNvSpPr>
              <a:spLocks noChangeShapeType="1"/>
            </p:cNvSpPr>
            <p:nvPr/>
          </p:nvSpPr>
          <p:spPr bwMode="auto">
            <a:xfrm>
              <a:off x="1458" y="960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6388" name="Line 244"/>
            <p:cNvSpPr>
              <a:spLocks noChangeShapeType="1"/>
            </p:cNvSpPr>
            <p:nvPr/>
          </p:nvSpPr>
          <p:spPr bwMode="auto">
            <a:xfrm flipV="1">
              <a:off x="4512" y="960"/>
              <a:ext cx="83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6389" name="Line 245"/>
            <p:cNvSpPr>
              <a:spLocks noChangeShapeType="1"/>
            </p:cNvSpPr>
            <p:nvPr/>
          </p:nvSpPr>
          <p:spPr bwMode="auto">
            <a:xfrm>
              <a:off x="5136" y="960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6390" name="Line 246"/>
            <p:cNvSpPr>
              <a:spLocks noChangeShapeType="1"/>
            </p:cNvSpPr>
            <p:nvPr/>
          </p:nvSpPr>
          <p:spPr bwMode="auto">
            <a:xfrm flipV="1">
              <a:off x="1362" y="1036"/>
              <a:ext cx="0" cy="5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6391" name="Line 247"/>
            <p:cNvSpPr>
              <a:spLocks noChangeShapeType="1"/>
            </p:cNvSpPr>
            <p:nvPr/>
          </p:nvSpPr>
          <p:spPr bwMode="auto">
            <a:xfrm>
              <a:off x="1122" y="1104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5" name="Group 248"/>
            <p:cNvGrpSpPr>
              <a:grpSpLocks/>
            </p:cNvGrpSpPr>
            <p:nvPr/>
          </p:nvGrpSpPr>
          <p:grpSpPr bwMode="auto">
            <a:xfrm>
              <a:off x="642" y="768"/>
              <a:ext cx="96" cy="96"/>
              <a:chOff x="1344" y="1660"/>
              <a:chExt cx="96" cy="96"/>
            </a:xfrm>
          </p:grpSpPr>
          <p:sp>
            <p:nvSpPr>
              <p:cNvPr id="6393" name="Line 249"/>
              <p:cNvSpPr>
                <a:spLocks noChangeShapeType="1"/>
              </p:cNvSpPr>
              <p:nvPr/>
            </p:nvSpPr>
            <p:spPr bwMode="auto">
              <a:xfrm>
                <a:off x="1344" y="170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6394" name="Line 250"/>
              <p:cNvSpPr>
                <a:spLocks noChangeShapeType="1"/>
              </p:cNvSpPr>
              <p:nvPr/>
            </p:nvSpPr>
            <p:spPr bwMode="auto">
              <a:xfrm flipV="1">
                <a:off x="1392" y="166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</p:grpSp>
        <p:pic>
          <p:nvPicPr>
            <p:cNvPr id="6395" name="Picture 251" descr="untitled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86" y="864"/>
              <a:ext cx="192" cy="192"/>
            </a:xfrm>
            <a:prstGeom prst="rect">
              <a:avLst/>
            </a:prstGeom>
            <a:noFill/>
          </p:spPr>
        </p:pic>
        <p:pic>
          <p:nvPicPr>
            <p:cNvPr id="6396" name="Picture 252" descr="untitled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266" y="864"/>
              <a:ext cx="192" cy="192"/>
            </a:xfrm>
            <a:prstGeom prst="rect">
              <a:avLst/>
            </a:prstGeom>
            <a:noFill/>
          </p:spPr>
        </p:pic>
        <p:grpSp>
          <p:nvGrpSpPr>
            <p:cNvPr id="6" name="Group 253"/>
            <p:cNvGrpSpPr>
              <a:grpSpLocks/>
            </p:cNvGrpSpPr>
            <p:nvPr/>
          </p:nvGrpSpPr>
          <p:grpSpPr bwMode="auto">
            <a:xfrm>
              <a:off x="1074" y="768"/>
              <a:ext cx="96" cy="96"/>
              <a:chOff x="1344" y="1660"/>
              <a:chExt cx="96" cy="96"/>
            </a:xfrm>
          </p:grpSpPr>
          <p:sp>
            <p:nvSpPr>
              <p:cNvPr id="6398" name="Line 254"/>
              <p:cNvSpPr>
                <a:spLocks noChangeShapeType="1"/>
              </p:cNvSpPr>
              <p:nvPr/>
            </p:nvSpPr>
            <p:spPr bwMode="auto">
              <a:xfrm>
                <a:off x="1344" y="170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6399" name="Line 255"/>
              <p:cNvSpPr>
                <a:spLocks noChangeShapeType="1"/>
              </p:cNvSpPr>
              <p:nvPr/>
            </p:nvSpPr>
            <p:spPr bwMode="auto">
              <a:xfrm flipV="1">
                <a:off x="1392" y="166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6400" name="Line 256"/>
            <p:cNvSpPr>
              <a:spLocks noChangeShapeType="1"/>
            </p:cNvSpPr>
            <p:nvPr/>
          </p:nvSpPr>
          <p:spPr bwMode="auto">
            <a:xfrm>
              <a:off x="642" y="1104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6401" name="Line 257"/>
            <p:cNvSpPr>
              <a:spLocks noChangeShapeType="1"/>
            </p:cNvSpPr>
            <p:nvPr/>
          </p:nvSpPr>
          <p:spPr bwMode="auto">
            <a:xfrm flipH="1">
              <a:off x="882" y="1968"/>
              <a:ext cx="42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6402" name="Line 258"/>
            <p:cNvSpPr>
              <a:spLocks noChangeShapeType="1"/>
            </p:cNvSpPr>
            <p:nvPr/>
          </p:nvSpPr>
          <p:spPr bwMode="auto">
            <a:xfrm flipV="1">
              <a:off x="882" y="1008"/>
              <a:ext cx="0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6403" name="Line 259"/>
            <p:cNvSpPr>
              <a:spLocks noChangeShapeType="1"/>
            </p:cNvSpPr>
            <p:nvPr/>
          </p:nvSpPr>
          <p:spPr bwMode="auto">
            <a:xfrm>
              <a:off x="1362" y="1632"/>
              <a:ext cx="18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6404" name="Line 260"/>
            <p:cNvSpPr>
              <a:spLocks noChangeShapeType="1"/>
            </p:cNvSpPr>
            <p:nvPr/>
          </p:nvSpPr>
          <p:spPr bwMode="auto">
            <a:xfrm>
              <a:off x="1536" y="960"/>
              <a:ext cx="131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7" name="Group 261"/>
            <p:cNvGrpSpPr>
              <a:grpSpLocks/>
            </p:cNvGrpSpPr>
            <p:nvPr/>
          </p:nvGrpSpPr>
          <p:grpSpPr bwMode="auto">
            <a:xfrm>
              <a:off x="1872" y="816"/>
              <a:ext cx="432" cy="306"/>
              <a:chOff x="1776" y="1440"/>
              <a:chExt cx="432" cy="306"/>
            </a:xfrm>
          </p:grpSpPr>
          <p:sp>
            <p:nvSpPr>
              <p:cNvPr id="6406" name="Rectangle 262"/>
              <p:cNvSpPr>
                <a:spLocks noChangeArrowheads="1"/>
              </p:cNvSpPr>
              <p:nvPr/>
            </p:nvSpPr>
            <p:spPr bwMode="auto">
              <a:xfrm>
                <a:off x="1776" y="1440"/>
                <a:ext cx="432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graphicFrame>
            <p:nvGraphicFramePr>
              <p:cNvPr id="34825" name="Object 1033"/>
              <p:cNvGraphicFramePr>
                <a:graphicFrameLocks noChangeAspect="1"/>
              </p:cNvGraphicFramePr>
              <p:nvPr/>
            </p:nvGraphicFramePr>
            <p:xfrm>
              <a:off x="1872" y="1440"/>
              <a:ext cx="252" cy="3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177480" imgH="215640" progId="Equation.3">
                      <p:embed/>
                    </p:oleObj>
                  </mc:Choice>
                  <mc:Fallback>
                    <p:oleObj name="Equation" r:id="rId11" imgW="177480" imgH="215640" progId="Equation.3">
                      <p:embed/>
                      <p:pic>
                        <p:nvPicPr>
                          <p:cNvPr id="0" name="Picture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72" y="1440"/>
                            <a:ext cx="252" cy="30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4819" name="Object 1027"/>
            <p:cNvGraphicFramePr>
              <a:graphicFrameLocks noChangeAspect="1"/>
            </p:cNvGraphicFramePr>
            <p:nvPr/>
          </p:nvGraphicFramePr>
          <p:xfrm>
            <a:off x="5058" y="763"/>
            <a:ext cx="133" cy="1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52280" imgH="177480" progId="Equation.3">
                    <p:embed/>
                  </p:oleObj>
                </mc:Choice>
                <mc:Fallback>
                  <p:oleObj name="Equation" r:id="rId13" imgW="152280" imgH="177480" progId="Equation.3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58" y="763"/>
                          <a:ext cx="133" cy="155"/>
                        </a:xfrm>
                        <a:prstGeom prst="rect">
                          <a:avLst/>
                        </a:prstGeom>
                        <a:solidFill>
                          <a:srgbClr val="CCFF66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8" name="Group 265"/>
            <p:cNvGrpSpPr>
              <a:grpSpLocks/>
            </p:cNvGrpSpPr>
            <p:nvPr/>
          </p:nvGrpSpPr>
          <p:grpSpPr bwMode="auto">
            <a:xfrm>
              <a:off x="3216" y="960"/>
              <a:ext cx="1920" cy="672"/>
              <a:chOff x="1392" y="672"/>
              <a:chExt cx="1920" cy="672"/>
            </a:xfrm>
          </p:grpSpPr>
          <p:sp>
            <p:nvSpPr>
              <p:cNvPr id="6410" name="Line 266"/>
              <p:cNvSpPr>
                <a:spLocks noChangeShapeType="1"/>
              </p:cNvSpPr>
              <p:nvPr/>
            </p:nvSpPr>
            <p:spPr bwMode="auto">
              <a:xfrm>
                <a:off x="3312" y="864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411" name="Line 267"/>
              <p:cNvSpPr>
                <a:spLocks noChangeShapeType="1"/>
              </p:cNvSpPr>
              <p:nvPr/>
            </p:nvSpPr>
            <p:spPr bwMode="auto">
              <a:xfrm flipV="1">
                <a:off x="3312" y="67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412" name="Line 268"/>
              <p:cNvSpPr>
                <a:spLocks noChangeShapeType="1"/>
              </p:cNvSpPr>
              <p:nvPr/>
            </p:nvSpPr>
            <p:spPr bwMode="auto">
              <a:xfrm>
                <a:off x="1392" y="1344"/>
                <a:ext cx="19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6413" name="Rectangle 269"/>
            <p:cNvSpPr>
              <a:spLocks noChangeArrowheads="1"/>
            </p:cNvSpPr>
            <p:nvPr/>
          </p:nvSpPr>
          <p:spPr bwMode="auto">
            <a:xfrm>
              <a:off x="2640" y="1440"/>
              <a:ext cx="1152" cy="48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34820" name="Object 1028"/>
            <p:cNvGraphicFramePr>
              <a:graphicFrameLocks noChangeAspect="1"/>
            </p:cNvGraphicFramePr>
            <p:nvPr/>
          </p:nvGraphicFramePr>
          <p:xfrm>
            <a:off x="2832" y="1411"/>
            <a:ext cx="768" cy="5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698400" imgH="431640" progId="Equation.3">
                    <p:embed/>
                  </p:oleObj>
                </mc:Choice>
                <mc:Fallback>
                  <p:oleObj name="Equation" r:id="rId15" imgW="698400" imgH="431640" progId="Equation.3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2" y="1411"/>
                          <a:ext cx="768" cy="55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21" name="Object 1029"/>
            <p:cNvGraphicFramePr>
              <a:graphicFrameLocks noChangeAspect="1"/>
            </p:cNvGraphicFramePr>
            <p:nvPr/>
          </p:nvGraphicFramePr>
          <p:xfrm>
            <a:off x="5262" y="624"/>
            <a:ext cx="45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317160" imgH="203040" progId="Equation.3">
                    <p:embed/>
                  </p:oleObj>
                </mc:Choice>
                <mc:Fallback>
                  <p:oleObj name="Equation" r:id="rId7" imgW="317160" imgH="203040" progId="Equation.3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62" y="624"/>
                          <a:ext cx="450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" name="Group 272"/>
            <p:cNvGrpSpPr>
              <a:grpSpLocks/>
            </p:cNvGrpSpPr>
            <p:nvPr/>
          </p:nvGrpSpPr>
          <p:grpSpPr bwMode="auto">
            <a:xfrm>
              <a:off x="2736" y="768"/>
              <a:ext cx="1920" cy="576"/>
              <a:chOff x="1344" y="3024"/>
              <a:chExt cx="1920" cy="576"/>
            </a:xfrm>
          </p:grpSpPr>
          <p:sp>
            <p:nvSpPr>
              <p:cNvPr id="6417" name="Line 273"/>
              <p:cNvSpPr>
                <a:spLocks noChangeShapeType="1"/>
              </p:cNvSpPr>
              <p:nvPr/>
            </p:nvSpPr>
            <p:spPr bwMode="auto">
              <a:xfrm flipV="1">
                <a:off x="1536" y="326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pic>
            <p:nvPicPr>
              <p:cNvPr id="6418" name="Picture 274" descr="untitled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1440" y="3120"/>
                <a:ext cx="192" cy="192"/>
              </a:xfrm>
              <a:prstGeom prst="rect">
                <a:avLst/>
              </a:prstGeom>
              <a:noFill/>
            </p:spPr>
          </p:pic>
          <p:sp>
            <p:nvSpPr>
              <p:cNvPr id="6419" name="Line 275"/>
              <p:cNvSpPr>
                <a:spLocks noChangeShapeType="1"/>
              </p:cNvSpPr>
              <p:nvPr/>
            </p:nvSpPr>
            <p:spPr bwMode="auto">
              <a:xfrm>
                <a:off x="1632" y="3216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grpSp>
            <p:nvGrpSpPr>
              <p:cNvPr id="10" name="Group 276"/>
              <p:cNvGrpSpPr>
                <a:grpSpLocks/>
              </p:cNvGrpSpPr>
              <p:nvPr/>
            </p:nvGrpSpPr>
            <p:grpSpPr bwMode="auto">
              <a:xfrm>
                <a:off x="1344" y="3024"/>
                <a:ext cx="96" cy="96"/>
                <a:chOff x="1344" y="1660"/>
                <a:chExt cx="96" cy="96"/>
              </a:xfrm>
            </p:grpSpPr>
            <p:sp>
              <p:nvSpPr>
                <p:cNvPr id="6421" name="Line 277"/>
                <p:cNvSpPr>
                  <a:spLocks noChangeShapeType="1"/>
                </p:cNvSpPr>
                <p:nvPr/>
              </p:nvSpPr>
              <p:spPr bwMode="auto">
                <a:xfrm>
                  <a:off x="1344" y="17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6422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1392" y="166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GB"/>
                </a:p>
              </p:txBody>
            </p:sp>
          </p:grpSp>
          <p:sp>
            <p:nvSpPr>
              <p:cNvPr id="6423" name="Line 279"/>
              <p:cNvSpPr>
                <a:spLocks noChangeShapeType="1"/>
              </p:cNvSpPr>
              <p:nvPr/>
            </p:nvSpPr>
            <p:spPr bwMode="auto">
              <a:xfrm>
                <a:off x="1392" y="3360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6424" name="Line 280"/>
              <p:cNvSpPr>
                <a:spLocks noChangeShapeType="1"/>
              </p:cNvSpPr>
              <p:nvPr/>
            </p:nvSpPr>
            <p:spPr bwMode="auto">
              <a:xfrm>
                <a:off x="2448" y="3216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425" name="Rectangle 281"/>
              <p:cNvSpPr>
                <a:spLocks noChangeArrowheads="1"/>
              </p:cNvSpPr>
              <p:nvPr/>
            </p:nvSpPr>
            <p:spPr bwMode="auto">
              <a:xfrm>
                <a:off x="1824" y="3024"/>
                <a:ext cx="1056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graphicFrame>
            <p:nvGraphicFramePr>
              <p:cNvPr id="34823" name="Object 1031"/>
              <p:cNvGraphicFramePr>
                <a:graphicFrameLocks noChangeAspect="1"/>
              </p:cNvGraphicFramePr>
              <p:nvPr/>
            </p:nvGraphicFramePr>
            <p:xfrm>
              <a:off x="1914" y="3036"/>
              <a:ext cx="878" cy="31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7" imgW="647640" imgH="228600" progId="Equation.3">
                      <p:embed/>
                    </p:oleObj>
                  </mc:Choice>
                  <mc:Fallback>
                    <p:oleObj name="Equation" r:id="rId17" imgW="647640" imgH="228600" progId="Equation.3">
                      <p:embed/>
                      <p:pic>
                        <p:nvPicPr>
                          <p:cNvPr id="0" name="Picture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14" y="3036"/>
                            <a:ext cx="878" cy="31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427" name="Line 283"/>
              <p:cNvSpPr>
                <a:spLocks noChangeShapeType="1"/>
              </p:cNvSpPr>
              <p:nvPr/>
            </p:nvSpPr>
            <p:spPr bwMode="auto">
              <a:xfrm>
                <a:off x="1536" y="3504"/>
                <a:ext cx="15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11" name="Group 284"/>
              <p:cNvGrpSpPr>
                <a:grpSpLocks/>
              </p:cNvGrpSpPr>
              <p:nvPr/>
            </p:nvGrpSpPr>
            <p:grpSpPr bwMode="auto">
              <a:xfrm>
                <a:off x="2112" y="3360"/>
                <a:ext cx="336" cy="240"/>
                <a:chOff x="4176" y="1806"/>
                <a:chExt cx="432" cy="306"/>
              </a:xfrm>
            </p:grpSpPr>
            <p:sp>
              <p:nvSpPr>
                <p:cNvPr id="6429" name="Rectangle 285"/>
                <p:cNvSpPr>
                  <a:spLocks noChangeArrowheads="1"/>
                </p:cNvSpPr>
                <p:nvPr/>
              </p:nvSpPr>
              <p:spPr bwMode="auto">
                <a:xfrm>
                  <a:off x="4176" y="1806"/>
                  <a:ext cx="432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graphicFrame>
              <p:nvGraphicFramePr>
                <p:cNvPr id="34824" name="Object 1032"/>
                <p:cNvGraphicFramePr>
                  <a:graphicFrameLocks noChangeAspect="1"/>
                </p:cNvGraphicFramePr>
                <p:nvPr/>
              </p:nvGraphicFramePr>
              <p:xfrm>
                <a:off x="4236" y="1806"/>
                <a:ext cx="324" cy="30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9" imgW="228600" imgH="215640" progId="Equation.3">
                        <p:embed/>
                      </p:oleObj>
                    </mc:Choice>
                    <mc:Fallback>
                      <p:oleObj name="Equation" r:id="rId19" imgW="228600" imgH="215640" progId="Equation.3">
                        <p:embed/>
                        <p:pic>
                          <p:nvPicPr>
                            <p:cNvPr id="0" name="Picture 1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236" y="1806"/>
                              <a:ext cx="324" cy="306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6431" name="Line 287"/>
              <p:cNvSpPr>
                <a:spLocks noChangeShapeType="1"/>
              </p:cNvSpPr>
              <p:nvPr/>
            </p:nvSpPr>
            <p:spPr bwMode="auto">
              <a:xfrm flipV="1">
                <a:off x="3120" y="3216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432" name="Line 288"/>
              <p:cNvSpPr>
                <a:spLocks noChangeShapeType="1"/>
              </p:cNvSpPr>
              <p:nvPr/>
            </p:nvSpPr>
            <p:spPr bwMode="auto">
              <a:xfrm>
                <a:off x="2880" y="3216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</p:grpSp>
        <p:graphicFrame>
          <p:nvGraphicFramePr>
            <p:cNvPr id="34822" name="Object 1030"/>
            <p:cNvGraphicFramePr>
              <a:graphicFrameLocks noChangeAspect="1"/>
            </p:cNvGraphicFramePr>
            <p:nvPr/>
          </p:nvGraphicFramePr>
          <p:xfrm>
            <a:off x="4416" y="768"/>
            <a:ext cx="133" cy="1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152280" imgH="177480" progId="Equation.3">
                    <p:embed/>
                  </p:oleObj>
                </mc:Choice>
                <mc:Fallback>
                  <p:oleObj name="Equation" r:id="rId21" imgW="152280" imgH="177480" progId="Equation.3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6" y="768"/>
                          <a:ext cx="133" cy="155"/>
                        </a:xfrm>
                        <a:prstGeom prst="rect">
                          <a:avLst/>
                        </a:prstGeom>
                        <a:solidFill>
                          <a:srgbClr val="CCFF66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Group 290"/>
          <p:cNvGrpSpPr>
            <a:grpSpLocks/>
          </p:cNvGrpSpPr>
          <p:nvPr/>
        </p:nvGrpSpPr>
        <p:grpSpPr bwMode="auto">
          <a:xfrm>
            <a:off x="4267200" y="1066800"/>
            <a:ext cx="3048000" cy="1143000"/>
            <a:chOff x="2976" y="672"/>
            <a:chExt cx="1680" cy="57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6435" name="Rectangle 291"/>
            <p:cNvSpPr>
              <a:spLocks noChangeArrowheads="1"/>
            </p:cNvSpPr>
            <p:nvPr/>
          </p:nvSpPr>
          <p:spPr bwMode="auto">
            <a:xfrm>
              <a:off x="2976" y="672"/>
              <a:ext cx="1680" cy="576"/>
            </a:xfrm>
            <a:prstGeom prst="rect">
              <a:avLst/>
            </a:prstGeom>
            <a:grpFill/>
            <a:ln w="9525">
              <a:solidFill>
                <a:schemeClr val="accent1">
                  <a:lumMod val="20000"/>
                  <a:lumOff val="8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34817" name="Object 1025"/>
            <p:cNvGraphicFramePr>
              <a:graphicFrameLocks noChangeAspect="1"/>
            </p:cNvGraphicFramePr>
            <p:nvPr/>
          </p:nvGraphicFramePr>
          <p:xfrm>
            <a:off x="3188" y="733"/>
            <a:ext cx="1276" cy="5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168200" imgH="431640" progId="Equation.3">
                    <p:embed/>
                  </p:oleObj>
                </mc:Choice>
                <mc:Fallback>
                  <p:oleObj name="Equation" r:id="rId22" imgW="1168200" imgH="431640" progId="Equation.3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88" y="733"/>
                          <a:ext cx="1276" cy="51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28</a:t>
            </a:fld>
            <a:endParaRPr lang="en-GB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6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4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07" grpId="0" animBg="1"/>
      <p:bldP spid="632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2"/>
          <p:cNvGrpSpPr>
            <a:grpSpLocks/>
          </p:cNvGrpSpPr>
          <p:nvPr/>
        </p:nvGrpSpPr>
        <p:grpSpPr bwMode="auto">
          <a:xfrm>
            <a:off x="539750" y="2603500"/>
            <a:ext cx="8153400" cy="2481263"/>
            <a:chOff x="340" y="1640"/>
            <a:chExt cx="5136" cy="1563"/>
          </a:xfrm>
        </p:grpSpPr>
        <p:sp>
          <p:nvSpPr>
            <p:cNvPr id="7172" name="Line 4"/>
            <p:cNvSpPr>
              <a:spLocks noChangeShapeType="1"/>
            </p:cNvSpPr>
            <p:nvPr/>
          </p:nvSpPr>
          <p:spPr bwMode="auto">
            <a:xfrm>
              <a:off x="724" y="190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7174" name="Line 6"/>
            <p:cNvSpPr>
              <a:spLocks noChangeShapeType="1"/>
            </p:cNvSpPr>
            <p:nvPr/>
          </p:nvSpPr>
          <p:spPr bwMode="auto">
            <a:xfrm>
              <a:off x="1348" y="192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7175" name="Line 7"/>
            <p:cNvSpPr>
              <a:spLocks noChangeShapeType="1"/>
            </p:cNvSpPr>
            <p:nvPr/>
          </p:nvSpPr>
          <p:spPr bwMode="auto">
            <a:xfrm>
              <a:off x="2212" y="1928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7176" name="Line 8"/>
            <p:cNvSpPr>
              <a:spLocks noChangeShapeType="1"/>
            </p:cNvSpPr>
            <p:nvPr/>
          </p:nvSpPr>
          <p:spPr bwMode="auto">
            <a:xfrm flipV="1">
              <a:off x="4180" y="1928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7177" name="Line 9"/>
            <p:cNvSpPr>
              <a:spLocks noChangeShapeType="1"/>
            </p:cNvSpPr>
            <p:nvPr/>
          </p:nvSpPr>
          <p:spPr bwMode="auto">
            <a:xfrm flipV="1">
              <a:off x="3076" y="2024"/>
              <a:ext cx="0" cy="4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7178" name="Line 10"/>
            <p:cNvSpPr>
              <a:spLocks noChangeShapeType="1"/>
            </p:cNvSpPr>
            <p:nvPr/>
          </p:nvSpPr>
          <p:spPr bwMode="auto">
            <a:xfrm>
              <a:off x="4708" y="1935"/>
              <a:ext cx="0" cy="10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3" name="Group 13"/>
            <p:cNvGrpSpPr>
              <a:grpSpLocks/>
            </p:cNvGrpSpPr>
            <p:nvPr/>
          </p:nvGrpSpPr>
          <p:grpSpPr bwMode="auto">
            <a:xfrm>
              <a:off x="1012" y="1763"/>
              <a:ext cx="96" cy="96"/>
              <a:chOff x="1344" y="1660"/>
              <a:chExt cx="96" cy="96"/>
            </a:xfrm>
          </p:grpSpPr>
          <p:sp>
            <p:nvSpPr>
              <p:cNvPr id="7182" name="Line 14"/>
              <p:cNvSpPr>
                <a:spLocks noChangeShapeType="1"/>
              </p:cNvSpPr>
              <p:nvPr/>
            </p:nvSpPr>
            <p:spPr bwMode="auto">
              <a:xfrm>
                <a:off x="1344" y="170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7183" name="Line 15"/>
              <p:cNvSpPr>
                <a:spLocks noChangeShapeType="1"/>
              </p:cNvSpPr>
              <p:nvPr/>
            </p:nvSpPr>
            <p:spPr bwMode="auto">
              <a:xfrm flipV="1">
                <a:off x="1392" y="166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</p:grpSp>
        <p:pic>
          <p:nvPicPr>
            <p:cNvPr id="7184" name="Picture 16" descr="untitled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156" y="1832"/>
              <a:ext cx="192" cy="192"/>
            </a:xfrm>
            <a:prstGeom prst="rect">
              <a:avLst/>
            </a:prstGeom>
            <a:noFill/>
          </p:spPr>
        </p:pic>
        <p:sp>
          <p:nvSpPr>
            <p:cNvPr id="7189" name="Line 21"/>
            <p:cNvSpPr>
              <a:spLocks noChangeShapeType="1"/>
            </p:cNvSpPr>
            <p:nvPr/>
          </p:nvSpPr>
          <p:spPr bwMode="auto">
            <a:xfrm>
              <a:off x="1108" y="2072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7190" name="Line 22"/>
            <p:cNvSpPr>
              <a:spLocks noChangeShapeType="1"/>
            </p:cNvSpPr>
            <p:nvPr/>
          </p:nvSpPr>
          <p:spPr bwMode="auto">
            <a:xfrm flipH="1">
              <a:off x="1252" y="3032"/>
              <a:ext cx="34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7192" name="Line 24"/>
            <p:cNvSpPr>
              <a:spLocks noChangeShapeType="1"/>
            </p:cNvSpPr>
            <p:nvPr/>
          </p:nvSpPr>
          <p:spPr bwMode="auto">
            <a:xfrm flipV="1">
              <a:off x="1252" y="1976"/>
              <a:ext cx="0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pic>
          <p:nvPicPr>
            <p:cNvPr id="7195" name="Picture 27" descr="untitled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980" y="1832"/>
              <a:ext cx="192" cy="192"/>
            </a:xfrm>
            <a:prstGeom prst="rect">
              <a:avLst/>
            </a:prstGeom>
            <a:noFill/>
          </p:spPr>
        </p:pic>
        <p:sp>
          <p:nvSpPr>
            <p:cNvPr id="7196" name="Line 28"/>
            <p:cNvSpPr>
              <a:spLocks noChangeShapeType="1"/>
            </p:cNvSpPr>
            <p:nvPr/>
          </p:nvSpPr>
          <p:spPr bwMode="auto">
            <a:xfrm>
              <a:off x="3172" y="1928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7197" name="Rectangle 29"/>
            <p:cNvSpPr>
              <a:spLocks noChangeArrowheads="1"/>
            </p:cNvSpPr>
            <p:nvPr/>
          </p:nvSpPr>
          <p:spPr bwMode="auto">
            <a:xfrm>
              <a:off x="3748" y="1784"/>
              <a:ext cx="43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198" name="Line 30"/>
            <p:cNvSpPr>
              <a:spLocks noChangeShapeType="1"/>
            </p:cNvSpPr>
            <p:nvPr/>
          </p:nvSpPr>
          <p:spPr bwMode="auto">
            <a:xfrm>
              <a:off x="3076" y="2483"/>
              <a:ext cx="16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grpSp>
          <p:nvGrpSpPr>
            <p:cNvPr id="4" name="Group 31"/>
            <p:cNvGrpSpPr>
              <a:grpSpLocks/>
            </p:cNvGrpSpPr>
            <p:nvPr/>
          </p:nvGrpSpPr>
          <p:grpSpPr bwMode="auto">
            <a:xfrm>
              <a:off x="2884" y="1811"/>
              <a:ext cx="96" cy="96"/>
              <a:chOff x="1344" y="1660"/>
              <a:chExt cx="96" cy="96"/>
            </a:xfrm>
          </p:grpSpPr>
          <p:sp>
            <p:nvSpPr>
              <p:cNvPr id="7200" name="Line 32"/>
              <p:cNvSpPr>
                <a:spLocks noChangeShapeType="1"/>
              </p:cNvSpPr>
              <p:nvPr/>
            </p:nvSpPr>
            <p:spPr bwMode="auto">
              <a:xfrm>
                <a:off x="1344" y="170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7201" name="Line 33"/>
              <p:cNvSpPr>
                <a:spLocks noChangeShapeType="1"/>
              </p:cNvSpPr>
              <p:nvPr/>
            </p:nvSpPr>
            <p:spPr bwMode="auto">
              <a:xfrm flipV="1">
                <a:off x="1392" y="166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7202" name="Line 34"/>
            <p:cNvSpPr>
              <a:spLocks noChangeShapeType="1"/>
            </p:cNvSpPr>
            <p:nvPr/>
          </p:nvSpPr>
          <p:spPr bwMode="auto">
            <a:xfrm>
              <a:off x="2932" y="2072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graphicFrame>
          <p:nvGraphicFramePr>
            <p:cNvPr id="35840" name="Object 1024"/>
            <p:cNvGraphicFramePr>
              <a:graphicFrameLocks noChangeAspect="1"/>
            </p:cNvGraphicFramePr>
            <p:nvPr/>
          </p:nvGraphicFramePr>
          <p:xfrm>
            <a:off x="3844" y="1784"/>
            <a:ext cx="288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03040" imgH="215640" progId="Equation.3">
                    <p:embed/>
                  </p:oleObj>
                </mc:Choice>
                <mc:Fallback>
                  <p:oleObj name="Equation" r:id="rId3" imgW="203040" imgH="215640" progId="Equation.3">
                    <p:embed/>
                    <p:pic>
                      <p:nvPicPr>
                        <p:cNvPr id="0" name="Object 10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4" y="1784"/>
                          <a:ext cx="288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24" name="Rectangle 56"/>
            <p:cNvSpPr>
              <a:spLocks noChangeArrowheads="1"/>
            </p:cNvSpPr>
            <p:nvPr/>
          </p:nvSpPr>
          <p:spPr bwMode="auto">
            <a:xfrm>
              <a:off x="1780" y="1784"/>
              <a:ext cx="43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35841" name="Object 1025"/>
            <p:cNvGraphicFramePr>
              <a:graphicFrameLocks noChangeAspect="1"/>
            </p:cNvGraphicFramePr>
            <p:nvPr/>
          </p:nvGraphicFramePr>
          <p:xfrm>
            <a:off x="1876" y="1784"/>
            <a:ext cx="252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77480" imgH="215640" progId="Equation.3">
                    <p:embed/>
                  </p:oleObj>
                </mc:Choice>
                <mc:Fallback>
                  <p:oleObj name="Equation" r:id="rId5" imgW="177480" imgH="215640" progId="Equation.3">
                    <p:embed/>
                    <p:pic>
                      <p:nvPicPr>
                        <p:cNvPr id="0" name="Object 10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6" y="1784"/>
                          <a:ext cx="252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" name="Group 72"/>
            <p:cNvGrpSpPr>
              <a:grpSpLocks/>
            </p:cNvGrpSpPr>
            <p:nvPr/>
          </p:nvGrpSpPr>
          <p:grpSpPr bwMode="auto">
            <a:xfrm>
              <a:off x="1780" y="2408"/>
              <a:ext cx="384" cy="306"/>
              <a:chOff x="2016" y="2448"/>
              <a:chExt cx="384" cy="306"/>
            </a:xfrm>
          </p:grpSpPr>
          <p:sp>
            <p:nvSpPr>
              <p:cNvPr id="7208" name="Rectangle 40"/>
              <p:cNvSpPr>
                <a:spLocks noChangeArrowheads="1"/>
              </p:cNvSpPr>
              <p:nvPr/>
            </p:nvSpPr>
            <p:spPr bwMode="auto">
              <a:xfrm>
                <a:off x="2016" y="2448"/>
                <a:ext cx="384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graphicFrame>
            <p:nvGraphicFramePr>
              <p:cNvPr id="35846" name="Object 1030"/>
              <p:cNvGraphicFramePr>
                <a:graphicFrameLocks noChangeAspect="1"/>
              </p:cNvGraphicFramePr>
              <p:nvPr/>
            </p:nvGraphicFramePr>
            <p:xfrm>
              <a:off x="2082" y="2448"/>
              <a:ext cx="288" cy="3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7" imgW="203040" imgH="215640" progId="Equation.3">
                      <p:embed/>
                    </p:oleObj>
                  </mc:Choice>
                  <mc:Fallback>
                    <p:oleObj name="Equation" r:id="rId7" imgW="203040" imgH="215640" progId="Equation.3">
                      <p:embed/>
                      <p:pic>
                        <p:nvPicPr>
                          <p:cNvPr id="0" name="Object 103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82" y="2448"/>
                            <a:ext cx="288" cy="30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6" name="Group 77"/>
            <p:cNvGrpSpPr>
              <a:grpSpLocks/>
            </p:cNvGrpSpPr>
            <p:nvPr/>
          </p:nvGrpSpPr>
          <p:grpSpPr bwMode="auto">
            <a:xfrm>
              <a:off x="3796" y="2339"/>
              <a:ext cx="384" cy="306"/>
              <a:chOff x="4080" y="2016"/>
              <a:chExt cx="384" cy="306"/>
            </a:xfrm>
          </p:grpSpPr>
          <p:sp>
            <p:nvSpPr>
              <p:cNvPr id="7209" name="Rectangle 41"/>
              <p:cNvSpPr>
                <a:spLocks noChangeArrowheads="1"/>
              </p:cNvSpPr>
              <p:nvPr/>
            </p:nvSpPr>
            <p:spPr bwMode="auto">
              <a:xfrm>
                <a:off x="4080" y="2016"/>
                <a:ext cx="384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graphicFrame>
            <p:nvGraphicFramePr>
              <p:cNvPr id="35845" name="Object 1029"/>
              <p:cNvGraphicFramePr>
                <a:graphicFrameLocks noChangeAspect="1"/>
              </p:cNvGraphicFramePr>
              <p:nvPr/>
            </p:nvGraphicFramePr>
            <p:xfrm>
              <a:off x="4128" y="2016"/>
              <a:ext cx="324" cy="3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9" imgW="228600" imgH="215640" progId="Equation.3">
                      <p:embed/>
                    </p:oleObj>
                  </mc:Choice>
                  <mc:Fallback>
                    <p:oleObj name="Equation" r:id="rId9" imgW="228600" imgH="215640" progId="Equation.3">
                      <p:embed/>
                      <p:pic>
                        <p:nvPicPr>
                          <p:cNvPr id="0" name="Object 102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28" y="2016"/>
                            <a:ext cx="324" cy="30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5842" name="Object 1026"/>
            <p:cNvGraphicFramePr>
              <a:graphicFrameLocks noChangeAspect="1"/>
            </p:cNvGraphicFramePr>
            <p:nvPr/>
          </p:nvGraphicFramePr>
          <p:xfrm>
            <a:off x="340" y="1640"/>
            <a:ext cx="45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317160" imgH="203040" progId="Equation.3">
                    <p:embed/>
                  </p:oleObj>
                </mc:Choice>
                <mc:Fallback>
                  <p:oleObj name="Equation" r:id="rId11" imgW="317160" imgH="203040" progId="Equation.3">
                    <p:embed/>
                    <p:pic>
                      <p:nvPicPr>
                        <p:cNvPr id="0" name="Object 10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" y="1640"/>
                          <a:ext cx="450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43" name="Object 1027"/>
            <p:cNvGraphicFramePr>
              <a:graphicFrameLocks noChangeAspect="1"/>
            </p:cNvGraphicFramePr>
            <p:nvPr/>
          </p:nvGraphicFramePr>
          <p:xfrm>
            <a:off x="5026" y="1640"/>
            <a:ext cx="45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317160" imgH="203040" progId="Equation.3">
                    <p:embed/>
                  </p:oleObj>
                </mc:Choice>
                <mc:Fallback>
                  <p:oleObj name="Equation" r:id="rId13" imgW="317160" imgH="203040" progId="Equation.3">
                    <p:embed/>
                    <p:pic>
                      <p:nvPicPr>
                        <p:cNvPr id="0" name="Object 10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26" y="1640"/>
                          <a:ext cx="450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7233" name="Picture 65" descr="untitled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156" y="2456"/>
              <a:ext cx="192" cy="192"/>
            </a:xfrm>
            <a:prstGeom prst="rect">
              <a:avLst/>
            </a:prstGeom>
            <a:noFill/>
          </p:spPr>
        </p:pic>
        <p:grpSp>
          <p:nvGrpSpPr>
            <p:cNvPr id="7" name="Group 66"/>
            <p:cNvGrpSpPr>
              <a:grpSpLocks/>
            </p:cNvGrpSpPr>
            <p:nvPr/>
          </p:nvGrpSpPr>
          <p:grpSpPr bwMode="auto">
            <a:xfrm>
              <a:off x="1108" y="2696"/>
              <a:ext cx="96" cy="96"/>
              <a:chOff x="1344" y="1660"/>
              <a:chExt cx="96" cy="96"/>
            </a:xfrm>
          </p:grpSpPr>
          <p:sp>
            <p:nvSpPr>
              <p:cNvPr id="7235" name="Line 67"/>
              <p:cNvSpPr>
                <a:spLocks noChangeShapeType="1"/>
              </p:cNvSpPr>
              <p:nvPr/>
            </p:nvSpPr>
            <p:spPr bwMode="auto">
              <a:xfrm>
                <a:off x="1344" y="170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7236" name="Line 68"/>
              <p:cNvSpPr>
                <a:spLocks noChangeShapeType="1"/>
              </p:cNvSpPr>
              <p:nvPr/>
            </p:nvSpPr>
            <p:spPr bwMode="auto">
              <a:xfrm flipV="1">
                <a:off x="1392" y="166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8" name="Group 69"/>
            <p:cNvGrpSpPr>
              <a:grpSpLocks/>
            </p:cNvGrpSpPr>
            <p:nvPr/>
          </p:nvGrpSpPr>
          <p:grpSpPr bwMode="auto">
            <a:xfrm>
              <a:off x="1348" y="2600"/>
              <a:ext cx="96" cy="96"/>
              <a:chOff x="1344" y="1660"/>
              <a:chExt cx="96" cy="96"/>
            </a:xfrm>
          </p:grpSpPr>
          <p:sp>
            <p:nvSpPr>
              <p:cNvPr id="7238" name="Line 70"/>
              <p:cNvSpPr>
                <a:spLocks noChangeShapeType="1"/>
              </p:cNvSpPr>
              <p:nvPr/>
            </p:nvSpPr>
            <p:spPr bwMode="auto">
              <a:xfrm>
                <a:off x="1344" y="170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7239" name="Line 71"/>
              <p:cNvSpPr>
                <a:spLocks noChangeShapeType="1"/>
              </p:cNvSpPr>
              <p:nvPr/>
            </p:nvSpPr>
            <p:spPr bwMode="auto">
              <a:xfrm flipV="1">
                <a:off x="1392" y="166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7241" name="Line 73"/>
            <p:cNvSpPr>
              <a:spLocks noChangeShapeType="1"/>
            </p:cNvSpPr>
            <p:nvPr/>
          </p:nvSpPr>
          <p:spPr bwMode="auto">
            <a:xfrm flipH="1">
              <a:off x="1348" y="255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7242" name="Line 74"/>
            <p:cNvSpPr>
              <a:spLocks noChangeShapeType="1"/>
            </p:cNvSpPr>
            <p:nvPr/>
          </p:nvSpPr>
          <p:spPr bwMode="auto">
            <a:xfrm flipV="1">
              <a:off x="1252" y="264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7243" name="Line 75"/>
            <p:cNvSpPr>
              <a:spLocks noChangeShapeType="1"/>
            </p:cNvSpPr>
            <p:nvPr/>
          </p:nvSpPr>
          <p:spPr bwMode="auto">
            <a:xfrm>
              <a:off x="2164" y="2552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7244" name="Line 76"/>
            <p:cNvSpPr>
              <a:spLocks noChangeShapeType="1"/>
            </p:cNvSpPr>
            <p:nvPr/>
          </p:nvSpPr>
          <p:spPr bwMode="auto">
            <a:xfrm flipV="1">
              <a:off x="2548" y="1928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grpSp>
          <p:nvGrpSpPr>
            <p:cNvPr id="9" name="Group 81"/>
            <p:cNvGrpSpPr>
              <a:grpSpLocks/>
            </p:cNvGrpSpPr>
            <p:nvPr/>
          </p:nvGrpSpPr>
          <p:grpSpPr bwMode="auto">
            <a:xfrm>
              <a:off x="2692" y="2879"/>
              <a:ext cx="384" cy="324"/>
              <a:chOff x="2256" y="2535"/>
              <a:chExt cx="384" cy="324"/>
            </a:xfrm>
          </p:grpSpPr>
          <p:sp>
            <p:nvSpPr>
              <p:cNvPr id="7247" name="Rectangle 79"/>
              <p:cNvSpPr>
                <a:spLocks noChangeArrowheads="1"/>
              </p:cNvSpPr>
              <p:nvPr/>
            </p:nvSpPr>
            <p:spPr bwMode="auto">
              <a:xfrm>
                <a:off x="2256" y="2544"/>
                <a:ext cx="384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graphicFrame>
            <p:nvGraphicFramePr>
              <p:cNvPr id="35844" name="Object 1028"/>
              <p:cNvGraphicFramePr>
                <a:graphicFrameLocks noChangeAspect="1"/>
              </p:cNvGraphicFramePr>
              <p:nvPr/>
            </p:nvGraphicFramePr>
            <p:xfrm>
              <a:off x="2313" y="2535"/>
              <a:ext cx="306" cy="3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5" imgW="215640" imgH="228600" progId="Equation.3">
                      <p:embed/>
                    </p:oleObj>
                  </mc:Choice>
                  <mc:Fallback>
                    <p:oleObj name="Equation" r:id="rId15" imgW="215640" imgH="228600" progId="Equation.3">
                      <p:embed/>
                      <p:pic>
                        <p:nvPicPr>
                          <p:cNvPr id="0" name="Object 102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13" y="2535"/>
                            <a:ext cx="306" cy="32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7256" name="Line 88"/>
            <p:cNvSpPr>
              <a:spLocks noChangeShapeType="1"/>
            </p:cNvSpPr>
            <p:nvPr/>
          </p:nvSpPr>
          <p:spPr bwMode="auto">
            <a:xfrm flipH="1">
              <a:off x="4180" y="2483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51" name="Text Box 122"/>
          <p:cNvSpPr txBox="1">
            <a:spLocks noChangeArrowheads="1"/>
          </p:cNvSpPr>
          <p:nvPr/>
        </p:nvSpPr>
        <p:spPr bwMode="auto">
          <a:xfrm>
            <a:off x="1263650" y="333564"/>
            <a:ext cx="4953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latin typeface="Arial" pitchFamily="34" charset="0"/>
                <a:ea typeface="宋体" pitchFamily="2" charset="-122"/>
              </a:rPr>
              <a:t>Example 8  (class work)</a:t>
            </a:r>
          </a:p>
        </p:txBody>
      </p:sp>
      <p:sp>
        <p:nvSpPr>
          <p:cNvPr id="52" name="Rectangle 123"/>
          <p:cNvSpPr>
            <a:spLocks noChangeArrowheads="1"/>
          </p:cNvSpPr>
          <p:nvPr/>
        </p:nvSpPr>
        <p:spPr bwMode="auto">
          <a:xfrm>
            <a:off x="1403350" y="1125538"/>
            <a:ext cx="63373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>
                <a:solidFill>
                  <a:srgbClr val="333399"/>
                </a:solidFill>
                <a:latin typeface="Arial" pitchFamily="34" charset="0"/>
                <a:ea typeface="宋体" pitchFamily="2" charset="-122"/>
              </a:rPr>
              <a:t>Find the transfer function of the following block diagrams</a:t>
            </a:r>
            <a:endParaRPr lang="zh-CN" altLang="en-US">
              <a:solidFill>
                <a:srgbClr val="333399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29</a:t>
            </a:fld>
            <a:endParaRPr lang="en-GB"/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5" name="Text Box 63"/>
          <p:cNvSpPr txBox="1">
            <a:spLocks noChangeArrowheads="1"/>
          </p:cNvSpPr>
          <p:nvPr/>
        </p:nvSpPr>
        <p:spPr bwMode="auto">
          <a:xfrm>
            <a:off x="381000" y="455613"/>
            <a:ext cx="1371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/>
            <a:r>
              <a:rPr lang="en-US" altLang="zh-CN">
                <a:solidFill>
                  <a:srgbClr val="FF3300"/>
                </a:solidFill>
                <a:latin typeface="Arial" pitchFamily="34" charset="0"/>
                <a:ea typeface="宋体" pitchFamily="2" charset="-122"/>
              </a:rPr>
              <a:t>Solution:</a:t>
            </a:r>
          </a:p>
        </p:txBody>
      </p:sp>
      <p:sp>
        <p:nvSpPr>
          <p:cNvPr id="8256" name="Text Box 64"/>
          <p:cNvSpPr txBox="1">
            <a:spLocks noChangeArrowheads="1"/>
          </p:cNvSpPr>
          <p:nvPr/>
        </p:nvSpPr>
        <p:spPr bwMode="auto">
          <a:xfrm>
            <a:off x="377825" y="989013"/>
            <a:ext cx="2608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333399"/>
                </a:solidFill>
                <a:latin typeface="Arial" pitchFamily="34" charset="0"/>
                <a:ea typeface="宋体" pitchFamily="2" charset="-122"/>
              </a:rPr>
              <a:t>1. </a:t>
            </a:r>
            <a:r>
              <a:rPr lang="en-US" altLang="zh-CN">
                <a:solidFill>
                  <a:srgbClr val="333399"/>
                </a:solidFill>
                <a:latin typeface="Arial" pitchFamily="34" charset="0"/>
                <a:ea typeface="宋体" pitchFamily="2" charset="-122"/>
              </a:rPr>
              <a:t>Eliminate loop I</a:t>
            </a:r>
          </a:p>
        </p:txBody>
      </p:sp>
      <p:grpSp>
        <p:nvGrpSpPr>
          <p:cNvPr id="2" name="Group 308"/>
          <p:cNvGrpSpPr>
            <a:grpSpLocks/>
          </p:cNvGrpSpPr>
          <p:nvPr/>
        </p:nvGrpSpPr>
        <p:grpSpPr bwMode="auto">
          <a:xfrm>
            <a:off x="468313" y="3540126"/>
            <a:ext cx="5303838" cy="593725"/>
            <a:chOff x="295" y="2230"/>
            <a:chExt cx="3341" cy="374"/>
          </a:xfrm>
        </p:grpSpPr>
        <p:sp>
          <p:nvSpPr>
            <p:cNvPr id="8413" name="Text Box 221"/>
            <p:cNvSpPr txBox="1">
              <a:spLocks noChangeArrowheads="1"/>
            </p:cNvSpPr>
            <p:nvPr/>
          </p:nvSpPr>
          <p:spPr bwMode="auto">
            <a:xfrm>
              <a:off x="295" y="2252"/>
              <a:ext cx="334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rgbClr val="333399"/>
                  </a:solidFill>
                  <a:latin typeface="Arial" pitchFamily="34" charset="0"/>
                  <a:ea typeface="宋体" pitchFamily="2" charset="-122"/>
                </a:rPr>
                <a:t>2. </a:t>
              </a:r>
              <a:r>
                <a:rPr lang="en-US" altLang="zh-CN">
                  <a:solidFill>
                    <a:srgbClr val="333399"/>
                  </a:solidFill>
                  <a:latin typeface="Arial" pitchFamily="34" charset="0"/>
                  <a:ea typeface="宋体" pitchFamily="2" charset="-122"/>
                </a:rPr>
                <a:t>Moving pickoff point A behind block</a:t>
              </a:r>
            </a:p>
          </p:txBody>
        </p:sp>
        <p:graphicFrame>
          <p:nvGraphicFramePr>
            <p:cNvPr id="36886" name="Object 1046"/>
            <p:cNvGraphicFramePr>
              <a:graphicFrameLocks noChangeAspect="1"/>
            </p:cNvGraphicFramePr>
            <p:nvPr/>
          </p:nvGraphicFramePr>
          <p:xfrm>
            <a:off x="2925" y="2230"/>
            <a:ext cx="603" cy="3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545760" imgH="380880" progId="Equation.3">
                    <p:embed/>
                  </p:oleObj>
                </mc:Choice>
                <mc:Fallback>
                  <p:oleObj name="Equation" r:id="rId2" imgW="545760" imgH="380880" progId="Equation.3">
                    <p:embed/>
                    <p:pic>
                      <p:nvPicPr>
                        <p:cNvPr id="0" name="Picture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5" y="2230"/>
                          <a:ext cx="603" cy="374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249"/>
          <p:cNvGrpSpPr>
            <a:grpSpLocks/>
          </p:cNvGrpSpPr>
          <p:nvPr/>
        </p:nvGrpSpPr>
        <p:grpSpPr bwMode="auto">
          <a:xfrm>
            <a:off x="609600" y="4191000"/>
            <a:ext cx="7419975" cy="2538413"/>
            <a:chOff x="384" y="2640"/>
            <a:chExt cx="4674" cy="1599"/>
          </a:xfrm>
        </p:grpSpPr>
        <p:sp>
          <p:nvSpPr>
            <p:cNvPr id="8353" name="Line 161"/>
            <p:cNvSpPr>
              <a:spLocks noChangeShapeType="1"/>
            </p:cNvSpPr>
            <p:nvPr/>
          </p:nvSpPr>
          <p:spPr bwMode="auto">
            <a:xfrm>
              <a:off x="768" y="290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8354" name="Line 162"/>
            <p:cNvSpPr>
              <a:spLocks noChangeShapeType="1"/>
            </p:cNvSpPr>
            <p:nvPr/>
          </p:nvSpPr>
          <p:spPr bwMode="auto">
            <a:xfrm>
              <a:off x="1392" y="292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8355" name="Line 163"/>
            <p:cNvSpPr>
              <a:spLocks noChangeShapeType="1"/>
            </p:cNvSpPr>
            <p:nvPr/>
          </p:nvSpPr>
          <p:spPr bwMode="auto">
            <a:xfrm>
              <a:off x="4416" y="2928"/>
              <a:ext cx="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4" name="Group 164"/>
            <p:cNvGrpSpPr>
              <a:grpSpLocks/>
            </p:cNvGrpSpPr>
            <p:nvPr/>
          </p:nvGrpSpPr>
          <p:grpSpPr bwMode="auto">
            <a:xfrm>
              <a:off x="1056" y="2784"/>
              <a:ext cx="96" cy="96"/>
              <a:chOff x="1344" y="1660"/>
              <a:chExt cx="96" cy="96"/>
            </a:xfrm>
          </p:grpSpPr>
          <p:sp>
            <p:nvSpPr>
              <p:cNvPr id="8357" name="Line 165"/>
              <p:cNvSpPr>
                <a:spLocks noChangeShapeType="1"/>
              </p:cNvSpPr>
              <p:nvPr/>
            </p:nvSpPr>
            <p:spPr bwMode="auto">
              <a:xfrm>
                <a:off x="1344" y="170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8358" name="Line 166"/>
              <p:cNvSpPr>
                <a:spLocks noChangeShapeType="1"/>
              </p:cNvSpPr>
              <p:nvPr/>
            </p:nvSpPr>
            <p:spPr bwMode="auto">
              <a:xfrm flipV="1">
                <a:off x="1392" y="166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</p:grpSp>
        <p:pic>
          <p:nvPicPr>
            <p:cNvPr id="8359" name="Picture 167" descr="untitled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200" y="2832"/>
              <a:ext cx="192" cy="192"/>
            </a:xfrm>
            <a:prstGeom prst="rect">
              <a:avLst/>
            </a:prstGeom>
            <a:noFill/>
          </p:spPr>
        </p:pic>
        <p:sp>
          <p:nvSpPr>
            <p:cNvPr id="8360" name="Line 168"/>
            <p:cNvSpPr>
              <a:spLocks noChangeShapeType="1"/>
            </p:cNvSpPr>
            <p:nvPr/>
          </p:nvSpPr>
          <p:spPr bwMode="auto">
            <a:xfrm>
              <a:off x="1152" y="3072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8361" name="Line 169"/>
            <p:cNvSpPr>
              <a:spLocks noChangeShapeType="1"/>
            </p:cNvSpPr>
            <p:nvPr/>
          </p:nvSpPr>
          <p:spPr bwMode="auto">
            <a:xfrm flipH="1">
              <a:off x="1296" y="4032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8362" name="Line 170"/>
            <p:cNvSpPr>
              <a:spLocks noChangeShapeType="1"/>
            </p:cNvSpPr>
            <p:nvPr/>
          </p:nvSpPr>
          <p:spPr bwMode="auto">
            <a:xfrm flipV="1">
              <a:off x="1296" y="2976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8363" name="Rectangle 171"/>
            <p:cNvSpPr>
              <a:spLocks noChangeArrowheads="1"/>
            </p:cNvSpPr>
            <p:nvPr/>
          </p:nvSpPr>
          <p:spPr bwMode="auto">
            <a:xfrm>
              <a:off x="1824" y="2784"/>
              <a:ext cx="432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36877" name="Object 1037"/>
            <p:cNvGraphicFramePr>
              <a:graphicFrameLocks noChangeAspect="1"/>
            </p:cNvGraphicFramePr>
            <p:nvPr/>
          </p:nvGraphicFramePr>
          <p:xfrm>
            <a:off x="1920" y="2784"/>
            <a:ext cx="252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77480" imgH="215640" progId="Equation.3">
                    <p:embed/>
                  </p:oleObj>
                </mc:Choice>
                <mc:Fallback>
                  <p:oleObj name="Equation" r:id="rId5" imgW="177480" imgH="215640" progId="Equation.3">
                    <p:embed/>
                    <p:pic>
                      <p:nvPicPr>
                        <p:cNvPr id="0" name="Picture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2784"/>
                          <a:ext cx="252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" name="Group 215"/>
            <p:cNvGrpSpPr>
              <a:grpSpLocks/>
            </p:cNvGrpSpPr>
            <p:nvPr/>
          </p:nvGrpSpPr>
          <p:grpSpPr bwMode="auto">
            <a:xfrm>
              <a:off x="1824" y="3390"/>
              <a:ext cx="384" cy="306"/>
              <a:chOff x="1824" y="3408"/>
              <a:chExt cx="384" cy="306"/>
            </a:xfrm>
          </p:grpSpPr>
          <p:sp>
            <p:nvSpPr>
              <p:cNvPr id="8365" name="Rectangle 173"/>
              <p:cNvSpPr>
                <a:spLocks noChangeArrowheads="1"/>
              </p:cNvSpPr>
              <p:nvPr/>
            </p:nvSpPr>
            <p:spPr bwMode="auto">
              <a:xfrm>
                <a:off x="1824" y="3408"/>
                <a:ext cx="384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graphicFrame>
            <p:nvGraphicFramePr>
              <p:cNvPr id="36885" name="Object 1045"/>
              <p:cNvGraphicFramePr>
                <a:graphicFrameLocks noChangeAspect="1"/>
              </p:cNvGraphicFramePr>
              <p:nvPr/>
            </p:nvGraphicFramePr>
            <p:xfrm>
              <a:off x="1890" y="3408"/>
              <a:ext cx="288" cy="3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7" imgW="203040" imgH="215640" progId="Equation.3">
                      <p:embed/>
                    </p:oleObj>
                  </mc:Choice>
                  <mc:Fallback>
                    <p:oleObj name="Equation" r:id="rId7" imgW="203040" imgH="215640" progId="Equation.3">
                      <p:embed/>
                      <p:pic>
                        <p:nvPicPr>
                          <p:cNvPr id="0" name="Picture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90" y="3408"/>
                            <a:ext cx="288" cy="30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6878" name="Object 1038"/>
            <p:cNvGraphicFramePr>
              <a:graphicFrameLocks noChangeAspect="1"/>
            </p:cNvGraphicFramePr>
            <p:nvPr/>
          </p:nvGraphicFramePr>
          <p:xfrm>
            <a:off x="384" y="2640"/>
            <a:ext cx="45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317160" imgH="203040" progId="Equation.3">
                    <p:embed/>
                  </p:oleObj>
                </mc:Choice>
                <mc:Fallback>
                  <p:oleObj name="Equation" r:id="rId9" imgW="317160" imgH="203040" progId="Equation.3">
                    <p:embed/>
                    <p:pic>
                      <p:nvPicPr>
                        <p:cNvPr id="0" name="Picture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2640"/>
                          <a:ext cx="450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79" name="Object 1039"/>
            <p:cNvGraphicFramePr>
              <a:graphicFrameLocks noChangeAspect="1"/>
            </p:cNvGraphicFramePr>
            <p:nvPr/>
          </p:nvGraphicFramePr>
          <p:xfrm>
            <a:off x="4608" y="2640"/>
            <a:ext cx="45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317160" imgH="203040" progId="Equation.3">
                    <p:embed/>
                  </p:oleObj>
                </mc:Choice>
                <mc:Fallback>
                  <p:oleObj name="Equation" r:id="rId11" imgW="317160" imgH="203040" progId="Equation.3">
                    <p:embed/>
                    <p:pic>
                      <p:nvPicPr>
                        <p:cNvPr id="0" name="Picture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2640"/>
                          <a:ext cx="450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8369" name="Picture 177" descr="untitled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200" y="3456"/>
              <a:ext cx="192" cy="192"/>
            </a:xfrm>
            <a:prstGeom prst="rect">
              <a:avLst/>
            </a:prstGeom>
            <a:noFill/>
          </p:spPr>
        </p:pic>
        <p:grpSp>
          <p:nvGrpSpPr>
            <p:cNvPr id="6" name="Group 178"/>
            <p:cNvGrpSpPr>
              <a:grpSpLocks/>
            </p:cNvGrpSpPr>
            <p:nvPr/>
          </p:nvGrpSpPr>
          <p:grpSpPr bwMode="auto">
            <a:xfrm>
              <a:off x="1152" y="3648"/>
              <a:ext cx="96" cy="96"/>
              <a:chOff x="1344" y="1660"/>
              <a:chExt cx="96" cy="96"/>
            </a:xfrm>
          </p:grpSpPr>
          <p:sp>
            <p:nvSpPr>
              <p:cNvPr id="8371" name="Line 179"/>
              <p:cNvSpPr>
                <a:spLocks noChangeShapeType="1"/>
              </p:cNvSpPr>
              <p:nvPr/>
            </p:nvSpPr>
            <p:spPr bwMode="auto">
              <a:xfrm>
                <a:off x="1344" y="170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8372" name="Line 180"/>
              <p:cNvSpPr>
                <a:spLocks noChangeShapeType="1"/>
              </p:cNvSpPr>
              <p:nvPr/>
            </p:nvSpPr>
            <p:spPr bwMode="auto">
              <a:xfrm flipV="1">
                <a:off x="1392" y="166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" name="Group 181"/>
            <p:cNvGrpSpPr>
              <a:grpSpLocks/>
            </p:cNvGrpSpPr>
            <p:nvPr/>
          </p:nvGrpSpPr>
          <p:grpSpPr bwMode="auto">
            <a:xfrm>
              <a:off x="1392" y="3408"/>
              <a:ext cx="96" cy="96"/>
              <a:chOff x="1344" y="1660"/>
              <a:chExt cx="96" cy="96"/>
            </a:xfrm>
          </p:grpSpPr>
          <p:sp>
            <p:nvSpPr>
              <p:cNvPr id="8374" name="Line 182"/>
              <p:cNvSpPr>
                <a:spLocks noChangeShapeType="1"/>
              </p:cNvSpPr>
              <p:nvPr/>
            </p:nvSpPr>
            <p:spPr bwMode="auto">
              <a:xfrm>
                <a:off x="1344" y="170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8375" name="Line 183"/>
              <p:cNvSpPr>
                <a:spLocks noChangeShapeType="1"/>
              </p:cNvSpPr>
              <p:nvPr/>
            </p:nvSpPr>
            <p:spPr bwMode="auto">
              <a:xfrm flipV="1">
                <a:off x="1392" y="166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8376" name="Line 184"/>
            <p:cNvSpPr>
              <a:spLocks noChangeShapeType="1"/>
            </p:cNvSpPr>
            <p:nvPr/>
          </p:nvSpPr>
          <p:spPr bwMode="auto">
            <a:xfrm flipH="1">
              <a:off x="1392" y="355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8377" name="Line 185"/>
            <p:cNvSpPr>
              <a:spLocks noChangeShapeType="1"/>
            </p:cNvSpPr>
            <p:nvPr/>
          </p:nvSpPr>
          <p:spPr bwMode="auto">
            <a:xfrm flipV="1">
              <a:off x="1296" y="36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8378" name="Line 186"/>
            <p:cNvSpPr>
              <a:spLocks noChangeShapeType="1"/>
            </p:cNvSpPr>
            <p:nvPr/>
          </p:nvSpPr>
          <p:spPr bwMode="auto">
            <a:xfrm>
              <a:off x="2208" y="3552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8379" name="Line 187"/>
            <p:cNvSpPr>
              <a:spLocks noChangeShapeType="1"/>
            </p:cNvSpPr>
            <p:nvPr/>
          </p:nvSpPr>
          <p:spPr bwMode="auto">
            <a:xfrm flipV="1">
              <a:off x="4416" y="2928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grpSp>
          <p:nvGrpSpPr>
            <p:cNvPr id="8" name="Group 219"/>
            <p:cNvGrpSpPr>
              <a:grpSpLocks/>
            </p:cNvGrpSpPr>
            <p:nvPr/>
          </p:nvGrpSpPr>
          <p:grpSpPr bwMode="auto">
            <a:xfrm>
              <a:off x="2736" y="3888"/>
              <a:ext cx="384" cy="351"/>
              <a:chOff x="2736" y="3813"/>
              <a:chExt cx="384" cy="351"/>
            </a:xfrm>
          </p:grpSpPr>
          <p:sp>
            <p:nvSpPr>
              <p:cNvPr id="8380" name="Rectangle 188"/>
              <p:cNvSpPr>
                <a:spLocks noChangeArrowheads="1"/>
              </p:cNvSpPr>
              <p:nvPr/>
            </p:nvSpPr>
            <p:spPr bwMode="auto">
              <a:xfrm>
                <a:off x="2736" y="3813"/>
                <a:ext cx="384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graphicFrame>
            <p:nvGraphicFramePr>
              <p:cNvPr id="36884" name="Object 1044"/>
              <p:cNvGraphicFramePr>
                <a:graphicFrameLocks noChangeAspect="1"/>
              </p:cNvGraphicFramePr>
              <p:nvPr/>
            </p:nvGraphicFramePr>
            <p:xfrm>
              <a:off x="2793" y="3840"/>
              <a:ext cx="306" cy="3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215640" imgH="228600" progId="Equation.3">
                      <p:embed/>
                    </p:oleObj>
                  </mc:Choice>
                  <mc:Fallback>
                    <p:oleObj name="Equation" r:id="rId13" imgW="215640" imgH="228600" progId="Equation.3">
                      <p:embed/>
                      <p:pic>
                        <p:nvPicPr>
                          <p:cNvPr id="0" name="Picture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93" y="3840"/>
                            <a:ext cx="306" cy="32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8382" name="Line 190"/>
            <p:cNvSpPr>
              <a:spLocks noChangeShapeType="1"/>
            </p:cNvSpPr>
            <p:nvPr/>
          </p:nvSpPr>
          <p:spPr bwMode="auto">
            <a:xfrm>
              <a:off x="2256" y="2928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8384" name="Line 192"/>
            <p:cNvSpPr>
              <a:spLocks noChangeShapeType="1"/>
            </p:cNvSpPr>
            <p:nvPr/>
          </p:nvSpPr>
          <p:spPr bwMode="auto">
            <a:xfrm>
              <a:off x="4080" y="2928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graphicFrame>
          <p:nvGraphicFramePr>
            <p:cNvPr id="36880" name="Object 1040"/>
            <p:cNvGraphicFramePr>
              <a:graphicFrameLocks noChangeAspect="1"/>
            </p:cNvGraphicFramePr>
            <p:nvPr/>
          </p:nvGraphicFramePr>
          <p:xfrm>
            <a:off x="4368" y="2784"/>
            <a:ext cx="133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52280" imgH="164880" progId="Equation.3">
                    <p:embed/>
                  </p:oleObj>
                </mc:Choice>
                <mc:Fallback>
                  <p:oleObj name="Equation" r:id="rId15" imgW="152280" imgH="164880" progId="Equation.3">
                    <p:embed/>
                    <p:pic>
                      <p:nvPicPr>
                        <p:cNvPr id="0" name="Picture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2784"/>
                          <a:ext cx="133" cy="144"/>
                        </a:xfrm>
                        <a:prstGeom prst="rect">
                          <a:avLst/>
                        </a:prstGeom>
                        <a:solidFill>
                          <a:schemeClr val="hlink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81" name="Object 1041"/>
            <p:cNvGraphicFramePr>
              <a:graphicFrameLocks noChangeAspect="1"/>
            </p:cNvGraphicFramePr>
            <p:nvPr/>
          </p:nvGraphicFramePr>
          <p:xfrm>
            <a:off x="2507" y="2784"/>
            <a:ext cx="133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52280" imgH="164880" progId="Equation.3">
                    <p:embed/>
                  </p:oleObj>
                </mc:Choice>
                <mc:Fallback>
                  <p:oleObj name="Equation" r:id="rId17" imgW="152280" imgH="164880" progId="Equation.3">
                    <p:embed/>
                    <p:pic>
                      <p:nvPicPr>
                        <p:cNvPr id="0" name="Picture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07" y="2784"/>
                          <a:ext cx="133" cy="144"/>
                        </a:xfrm>
                        <a:prstGeom prst="rect">
                          <a:avLst/>
                        </a:prstGeom>
                        <a:solidFill>
                          <a:srgbClr val="00FF99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405" name="Rectangle 213"/>
            <p:cNvSpPr>
              <a:spLocks noChangeArrowheads="1"/>
            </p:cNvSpPr>
            <p:nvPr/>
          </p:nvSpPr>
          <p:spPr bwMode="auto">
            <a:xfrm>
              <a:off x="2880" y="2688"/>
              <a:ext cx="1200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36882" name="Object 1042"/>
            <p:cNvGraphicFramePr>
              <a:graphicFrameLocks noChangeAspect="1"/>
            </p:cNvGraphicFramePr>
            <p:nvPr/>
          </p:nvGraphicFramePr>
          <p:xfrm>
            <a:off x="3102" y="2688"/>
            <a:ext cx="784" cy="5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596880" imgH="431640" progId="Equation.3">
                    <p:embed/>
                  </p:oleObj>
                </mc:Choice>
                <mc:Fallback>
                  <p:oleObj name="Equation" r:id="rId19" imgW="596880" imgH="431640" progId="Equation.3">
                    <p:embed/>
                    <p:pic>
                      <p:nvPicPr>
                        <p:cNvPr id="0" name="Picture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2" y="2688"/>
                          <a:ext cx="784" cy="51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409" name="Rectangle 217"/>
            <p:cNvSpPr>
              <a:spLocks noChangeArrowheads="1"/>
            </p:cNvSpPr>
            <p:nvPr/>
          </p:nvSpPr>
          <p:spPr bwMode="auto">
            <a:xfrm>
              <a:off x="2592" y="3312"/>
              <a:ext cx="1200" cy="52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36883" name="Object 1043"/>
            <p:cNvGraphicFramePr>
              <a:graphicFrameLocks noChangeAspect="1"/>
            </p:cNvGraphicFramePr>
            <p:nvPr/>
          </p:nvGraphicFramePr>
          <p:xfrm>
            <a:off x="2814" y="3322"/>
            <a:ext cx="784" cy="5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596880" imgH="431640" progId="Equation.3">
                    <p:embed/>
                  </p:oleObj>
                </mc:Choice>
                <mc:Fallback>
                  <p:oleObj name="Equation" r:id="rId21" imgW="596880" imgH="431640" progId="Equation.3">
                    <p:embed/>
                    <p:pic>
                      <p:nvPicPr>
                        <p:cNvPr id="0" name="Picture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14" y="3322"/>
                          <a:ext cx="784" cy="51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412" name="Line 220"/>
            <p:cNvSpPr>
              <a:spLocks noChangeShapeType="1"/>
            </p:cNvSpPr>
            <p:nvPr/>
          </p:nvSpPr>
          <p:spPr bwMode="auto">
            <a:xfrm>
              <a:off x="3792" y="3552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8423" name="Line 231"/>
            <p:cNvSpPr>
              <a:spLocks noChangeShapeType="1"/>
            </p:cNvSpPr>
            <p:nvPr/>
          </p:nvSpPr>
          <p:spPr bwMode="auto">
            <a:xfrm>
              <a:off x="2784" y="292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8425" name="Line 233"/>
            <p:cNvSpPr>
              <a:spLocks noChangeShapeType="1"/>
            </p:cNvSpPr>
            <p:nvPr/>
          </p:nvSpPr>
          <p:spPr bwMode="auto">
            <a:xfrm flipH="1">
              <a:off x="3792" y="355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8426" name="Line 234"/>
            <p:cNvSpPr>
              <a:spLocks noChangeShapeType="1"/>
            </p:cNvSpPr>
            <p:nvPr/>
          </p:nvSpPr>
          <p:spPr bwMode="auto">
            <a:xfrm flipH="1">
              <a:off x="3120" y="403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9" name="Group 303"/>
          <p:cNvGrpSpPr>
            <a:grpSpLocks/>
          </p:cNvGrpSpPr>
          <p:nvPr/>
        </p:nvGrpSpPr>
        <p:grpSpPr bwMode="auto">
          <a:xfrm>
            <a:off x="609600" y="1524000"/>
            <a:ext cx="7419975" cy="1981200"/>
            <a:chOff x="384" y="960"/>
            <a:chExt cx="4674" cy="1248"/>
          </a:xfrm>
        </p:grpSpPr>
        <p:sp>
          <p:nvSpPr>
            <p:cNvPr id="8207" name="Line 15"/>
            <p:cNvSpPr>
              <a:spLocks noChangeShapeType="1"/>
            </p:cNvSpPr>
            <p:nvPr/>
          </p:nvSpPr>
          <p:spPr bwMode="auto">
            <a:xfrm>
              <a:off x="768" y="122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8208" name="Line 16"/>
            <p:cNvSpPr>
              <a:spLocks noChangeShapeType="1"/>
            </p:cNvSpPr>
            <p:nvPr/>
          </p:nvSpPr>
          <p:spPr bwMode="auto">
            <a:xfrm>
              <a:off x="1392" y="124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8212" name="Line 20"/>
            <p:cNvSpPr>
              <a:spLocks noChangeShapeType="1"/>
            </p:cNvSpPr>
            <p:nvPr/>
          </p:nvSpPr>
          <p:spPr bwMode="auto">
            <a:xfrm>
              <a:off x="4416" y="1248"/>
              <a:ext cx="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10" name="Group 21"/>
            <p:cNvGrpSpPr>
              <a:grpSpLocks/>
            </p:cNvGrpSpPr>
            <p:nvPr/>
          </p:nvGrpSpPr>
          <p:grpSpPr bwMode="auto">
            <a:xfrm>
              <a:off x="1056" y="1104"/>
              <a:ext cx="96" cy="96"/>
              <a:chOff x="1344" y="1660"/>
              <a:chExt cx="96" cy="96"/>
            </a:xfrm>
          </p:grpSpPr>
          <p:sp>
            <p:nvSpPr>
              <p:cNvPr id="8214" name="Line 22"/>
              <p:cNvSpPr>
                <a:spLocks noChangeShapeType="1"/>
              </p:cNvSpPr>
              <p:nvPr/>
            </p:nvSpPr>
            <p:spPr bwMode="auto">
              <a:xfrm>
                <a:off x="1344" y="170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8215" name="Line 23"/>
              <p:cNvSpPr>
                <a:spLocks noChangeShapeType="1"/>
              </p:cNvSpPr>
              <p:nvPr/>
            </p:nvSpPr>
            <p:spPr bwMode="auto">
              <a:xfrm flipV="1">
                <a:off x="1392" y="166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</p:grpSp>
        <p:pic>
          <p:nvPicPr>
            <p:cNvPr id="8216" name="Picture 24" descr="untitled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200" y="1152"/>
              <a:ext cx="192" cy="192"/>
            </a:xfrm>
            <a:prstGeom prst="rect">
              <a:avLst/>
            </a:prstGeom>
            <a:noFill/>
          </p:spPr>
        </p:pic>
        <p:sp>
          <p:nvSpPr>
            <p:cNvPr id="8217" name="Line 25"/>
            <p:cNvSpPr>
              <a:spLocks noChangeShapeType="1"/>
            </p:cNvSpPr>
            <p:nvPr/>
          </p:nvSpPr>
          <p:spPr bwMode="auto">
            <a:xfrm>
              <a:off x="1152" y="1392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8218" name="Line 26"/>
            <p:cNvSpPr>
              <a:spLocks noChangeShapeType="1"/>
            </p:cNvSpPr>
            <p:nvPr/>
          </p:nvSpPr>
          <p:spPr bwMode="auto">
            <a:xfrm flipH="1">
              <a:off x="1296" y="2064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8219" name="Line 27"/>
            <p:cNvSpPr>
              <a:spLocks noChangeShapeType="1"/>
            </p:cNvSpPr>
            <p:nvPr/>
          </p:nvSpPr>
          <p:spPr bwMode="auto">
            <a:xfrm flipV="1">
              <a:off x="1296" y="1296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8229" name="Rectangle 37"/>
            <p:cNvSpPr>
              <a:spLocks noChangeArrowheads="1"/>
            </p:cNvSpPr>
            <p:nvPr/>
          </p:nvSpPr>
          <p:spPr bwMode="auto">
            <a:xfrm>
              <a:off x="1824" y="1104"/>
              <a:ext cx="432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36868" name="Object 1028"/>
            <p:cNvGraphicFramePr>
              <a:graphicFrameLocks noChangeAspect="1"/>
            </p:cNvGraphicFramePr>
            <p:nvPr/>
          </p:nvGraphicFramePr>
          <p:xfrm>
            <a:off x="1920" y="1104"/>
            <a:ext cx="252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77480" imgH="215640" progId="Equation.3">
                    <p:embed/>
                  </p:oleObj>
                </mc:Choice>
                <mc:Fallback>
                  <p:oleObj name="Equation" r:id="rId5" imgW="177480" imgH="215640" progId="Equation.3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1104"/>
                          <a:ext cx="252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32" name="Rectangle 40"/>
            <p:cNvSpPr>
              <a:spLocks noChangeArrowheads="1"/>
            </p:cNvSpPr>
            <p:nvPr/>
          </p:nvSpPr>
          <p:spPr bwMode="auto">
            <a:xfrm>
              <a:off x="1824" y="1488"/>
              <a:ext cx="384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36869" name="Object 1029"/>
            <p:cNvGraphicFramePr>
              <a:graphicFrameLocks noChangeAspect="1"/>
            </p:cNvGraphicFramePr>
            <p:nvPr/>
          </p:nvGraphicFramePr>
          <p:xfrm>
            <a:off x="1890" y="1488"/>
            <a:ext cx="288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203040" imgH="215640" progId="Equation.3">
                    <p:embed/>
                  </p:oleObj>
                </mc:Choice>
                <mc:Fallback>
                  <p:oleObj name="Equation" r:id="rId7" imgW="203040" imgH="215640" progId="Equation.3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0" y="1488"/>
                          <a:ext cx="288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70" name="Object 1030"/>
            <p:cNvGraphicFramePr>
              <a:graphicFrameLocks noChangeAspect="1"/>
            </p:cNvGraphicFramePr>
            <p:nvPr/>
          </p:nvGraphicFramePr>
          <p:xfrm>
            <a:off x="384" y="960"/>
            <a:ext cx="45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317160" imgH="203040" progId="Equation.3">
                    <p:embed/>
                  </p:oleObj>
                </mc:Choice>
                <mc:Fallback>
                  <p:oleObj name="Equation" r:id="rId9" imgW="317160" imgH="203040" progId="Equation.3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960"/>
                          <a:ext cx="450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71" name="Object 1031"/>
            <p:cNvGraphicFramePr>
              <a:graphicFrameLocks noChangeAspect="1"/>
            </p:cNvGraphicFramePr>
            <p:nvPr/>
          </p:nvGraphicFramePr>
          <p:xfrm>
            <a:off x="4608" y="960"/>
            <a:ext cx="45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317160" imgH="203040" progId="Equation.3">
                    <p:embed/>
                  </p:oleObj>
                </mc:Choice>
                <mc:Fallback>
                  <p:oleObj name="Equation" r:id="rId11" imgW="317160" imgH="203040" progId="Equation.3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960"/>
                          <a:ext cx="450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8239" name="Picture 47" descr="untitled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200" y="1536"/>
              <a:ext cx="192" cy="192"/>
            </a:xfrm>
            <a:prstGeom prst="rect">
              <a:avLst/>
            </a:prstGeom>
            <a:noFill/>
          </p:spPr>
        </p:pic>
        <p:grpSp>
          <p:nvGrpSpPr>
            <p:cNvPr id="11" name="Group 48"/>
            <p:cNvGrpSpPr>
              <a:grpSpLocks/>
            </p:cNvGrpSpPr>
            <p:nvPr/>
          </p:nvGrpSpPr>
          <p:grpSpPr bwMode="auto">
            <a:xfrm>
              <a:off x="1152" y="1776"/>
              <a:ext cx="96" cy="96"/>
              <a:chOff x="1344" y="1660"/>
              <a:chExt cx="96" cy="96"/>
            </a:xfrm>
          </p:grpSpPr>
          <p:sp>
            <p:nvSpPr>
              <p:cNvPr id="8241" name="Line 49"/>
              <p:cNvSpPr>
                <a:spLocks noChangeShapeType="1"/>
              </p:cNvSpPr>
              <p:nvPr/>
            </p:nvSpPr>
            <p:spPr bwMode="auto">
              <a:xfrm>
                <a:off x="1344" y="170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8242" name="Line 50"/>
              <p:cNvSpPr>
                <a:spLocks noChangeShapeType="1"/>
              </p:cNvSpPr>
              <p:nvPr/>
            </p:nvSpPr>
            <p:spPr bwMode="auto">
              <a:xfrm flipV="1">
                <a:off x="1392" y="166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12" name="Group 51"/>
            <p:cNvGrpSpPr>
              <a:grpSpLocks/>
            </p:cNvGrpSpPr>
            <p:nvPr/>
          </p:nvGrpSpPr>
          <p:grpSpPr bwMode="auto">
            <a:xfrm>
              <a:off x="1392" y="1680"/>
              <a:ext cx="96" cy="96"/>
              <a:chOff x="1344" y="1660"/>
              <a:chExt cx="96" cy="96"/>
            </a:xfrm>
          </p:grpSpPr>
          <p:sp>
            <p:nvSpPr>
              <p:cNvPr id="8244" name="Line 52"/>
              <p:cNvSpPr>
                <a:spLocks noChangeShapeType="1"/>
              </p:cNvSpPr>
              <p:nvPr/>
            </p:nvSpPr>
            <p:spPr bwMode="auto">
              <a:xfrm>
                <a:off x="1344" y="170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8245" name="Line 53"/>
              <p:cNvSpPr>
                <a:spLocks noChangeShapeType="1"/>
              </p:cNvSpPr>
              <p:nvPr/>
            </p:nvSpPr>
            <p:spPr bwMode="auto">
              <a:xfrm flipV="1">
                <a:off x="1392" y="166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8246" name="Line 54"/>
            <p:cNvSpPr>
              <a:spLocks noChangeShapeType="1"/>
            </p:cNvSpPr>
            <p:nvPr/>
          </p:nvSpPr>
          <p:spPr bwMode="auto">
            <a:xfrm flipH="1">
              <a:off x="1392" y="163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8247" name="Line 55"/>
            <p:cNvSpPr>
              <a:spLocks noChangeShapeType="1"/>
            </p:cNvSpPr>
            <p:nvPr/>
          </p:nvSpPr>
          <p:spPr bwMode="auto">
            <a:xfrm flipV="1">
              <a:off x="1296" y="17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8248" name="Line 56"/>
            <p:cNvSpPr>
              <a:spLocks noChangeShapeType="1"/>
            </p:cNvSpPr>
            <p:nvPr/>
          </p:nvSpPr>
          <p:spPr bwMode="auto">
            <a:xfrm>
              <a:off x="2208" y="1632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8249" name="Line 57"/>
            <p:cNvSpPr>
              <a:spLocks noChangeShapeType="1"/>
            </p:cNvSpPr>
            <p:nvPr/>
          </p:nvSpPr>
          <p:spPr bwMode="auto">
            <a:xfrm flipV="1">
              <a:off x="2592" y="12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8251" name="Rectangle 59"/>
            <p:cNvSpPr>
              <a:spLocks noChangeArrowheads="1"/>
            </p:cNvSpPr>
            <p:nvPr/>
          </p:nvSpPr>
          <p:spPr bwMode="auto">
            <a:xfrm>
              <a:off x="2736" y="1893"/>
              <a:ext cx="384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36872" name="Object 1032"/>
            <p:cNvGraphicFramePr>
              <a:graphicFrameLocks noChangeAspect="1"/>
            </p:cNvGraphicFramePr>
            <p:nvPr/>
          </p:nvGraphicFramePr>
          <p:xfrm>
            <a:off x="2793" y="1884"/>
            <a:ext cx="306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215640" imgH="228600" progId="Equation.3">
                    <p:embed/>
                  </p:oleObj>
                </mc:Choice>
                <mc:Fallback>
                  <p:oleObj name="Equation" r:id="rId13" imgW="215640" imgH="228600" progId="Equation.3">
                    <p:embed/>
                    <p:pic>
                      <p:nvPicPr>
                        <p:cNvPr id="0" name="Picture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3" y="1884"/>
                          <a:ext cx="306" cy="32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57" name="Line 65"/>
            <p:cNvSpPr>
              <a:spLocks noChangeShapeType="1"/>
            </p:cNvSpPr>
            <p:nvPr/>
          </p:nvSpPr>
          <p:spPr bwMode="auto">
            <a:xfrm>
              <a:off x="2256" y="1248"/>
              <a:ext cx="1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8316" name="Line 124"/>
            <p:cNvSpPr>
              <a:spLocks noChangeShapeType="1"/>
            </p:cNvSpPr>
            <p:nvPr/>
          </p:nvSpPr>
          <p:spPr bwMode="auto">
            <a:xfrm>
              <a:off x="2784" y="1392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8328" name="Line 136"/>
            <p:cNvSpPr>
              <a:spLocks noChangeShapeType="1"/>
            </p:cNvSpPr>
            <p:nvPr/>
          </p:nvSpPr>
          <p:spPr bwMode="auto">
            <a:xfrm>
              <a:off x="3744" y="1248"/>
              <a:ext cx="11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grpSp>
          <p:nvGrpSpPr>
            <p:cNvPr id="13" name="Group 155"/>
            <p:cNvGrpSpPr>
              <a:grpSpLocks/>
            </p:cNvGrpSpPr>
            <p:nvPr/>
          </p:nvGrpSpPr>
          <p:grpSpPr bwMode="auto">
            <a:xfrm>
              <a:off x="2736" y="1056"/>
              <a:ext cx="1392" cy="690"/>
              <a:chOff x="2736" y="1296"/>
              <a:chExt cx="1392" cy="690"/>
            </a:xfrm>
          </p:grpSpPr>
          <p:sp>
            <p:nvSpPr>
              <p:cNvPr id="8308" name="Line 116"/>
              <p:cNvSpPr>
                <a:spLocks noChangeShapeType="1"/>
              </p:cNvSpPr>
              <p:nvPr/>
            </p:nvSpPr>
            <p:spPr bwMode="auto">
              <a:xfrm flipV="1">
                <a:off x="2928" y="158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pic>
            <p:nvPicPr>
              <p:cNvPr id="8309" name="Picture 117" descr="untitled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2832" y="1392"/>
                <a:ext cx="192" cy="192"/>
              </a:xfrm>
              <a:prstGeom prst="rect">
                <a:avLst/>
              </a:prstGeom>
              <a:noFill/>
            </p:spPr>
          </p:pic>
          <p:sp>
            <p:nvSpPr>
              <p:cNvPr id="8310" name="Line 118"/>
              <p:cNvSpPr>
                <a:spLocks noChangeShapeType="1"/>
              </p:cNvSpPr>
              <p:nvPr/>
            </p:nvSpPr>
            <p:spPr bwMode="auto">
              <a:xfrm>
                <a:off x="3024" y="1488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8311" name="Rectangle 119"/>
              <p:cNvSpPr>
                <a:spLocks noChangeArrowheads="1"/>
              </p:cNvSpPr>
              <p:nvPr/>
            </p:nvSpPr>
            <p:spPr bwMode="auto">
              <a:xfrm>
                <a:off x="3312" y="1344"/>
                <a:ext cx="432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grpSp>
            <p:nvGrpSpPr>
              <p:cNvPr id="14" name="Group 121"/>
              <p:cNvGrpSpPr>
                <a:grpSpLocks/>
              </p:cNvGrpSpPr>
              <p:nvPr/>
            </p:nvGrpSpPr>
            <p:grpSpPr bwMode="auto">
              <a:xfrm>
                <a:off x="2736" y="1296"/>
                <a:ext cx="96" cy="96"/>
                <a:chOff x="1344" y="1660"/>
                <a:chExt cx="96" cy="96"/>
              </a:xfrm>
            </p:grpSpPr>
            <p:sp>
              <p:nvSpPr>
                <p:cNvPr id="8314" name="Line 122"/>
                <p:cNvSpPr>
                  <a:spLocks noChangeShapeType="1"/>
                </p:cNvSpPr>
                <p:nvPr/>
              </p:nvSpPr>
              <p:spPr bwMode="auto">
                <a:xfrm>
                  <a:off x="1344" y="17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8315" name="Line 123"/>
                <p:cNvSpPr>
                  <a:spLocks noChangeShapeType="1"/>
                </p:cNvSpPr>
                <p:nvPr/>
              </p:nvSpPr>
              <p:spPr bwMode="auto">
                <a:xfrm flipV="1">
                  <a:off x="1392" y="166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GB"/>
                </a:p>
              </p:txBody>
            </p:sp>
          </p:grpSp>
          <p:graphicFrame>
            <p:nvGraphicFramePr>
              <p:cNvPr id="36875" name="Object 1035"/>
              <p:cNvGraphicFramePr>
                <a:graphicFrameLocks noChangeAspect="1"/>
              </p:cNvGraphicFramePr>
              <p:nvPr/>
            </p:nvGraphicFramePr>
            <p:xfrm>
              <a:off x="3408" y="1344"/>
              <a:ext cx="288" cy="3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3" imgW="203040" imgH="215640" progId="Equation.3">
                      <p:embed/>
                    </p:oleObj>
                  </mc:Choice>
                  <mc:Fallback>
                    <p:oleObj name="Equation" r:id="rId23" imgW="203040" imgH="215640" progId="Equation.3">
                      <p:embed/>
                      <p:pic>
                        <p:nvPicPr>
                          <p:cNvPr id="0" name="Picture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08" y="1344"/>
                            <a:ext cx="288" cy="30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335" name="Line 143"/>
              <p:cNvSpPr>
                <a:spLocks noChangeShapeType="1"/>
              </p:cNvSpPr>
              <p:nvPr/>
            </p:nvSpPr>
            <p:spPr bwMode="auto">
              <a:xfrm flipV="1">
                <a:off x="4128" y="1488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339" name="Line 147"/>
              <p:cNvSpPr>
                <a:spLocks noChangeShapeType="1"/>
              </p:cNvSpPr>
              <p:nvPr/>
            </p:nvSpPr>
            <p:spPr bwMode="auto">
              <a:xfrm>
                <a:off x="2928" y="1824"/>
                <a:ext cx="1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15" name="Group 152"/>
              <p:cNvGrpSpPr>
                <a:grpSpLocks/>
              </p:cNvGrpSpPr>
              <p:nvPr/>
            </p:nvGrpSpPr>
            <p:grpSpPr bwMode="auto">
              <a:xfrm>
                <a:off x="3360" y="1680"/>
                <a:ext cx="384" cy="306"/>
                <a:chOff x="3360" y="1680"/>
                <a:chExt cx="384" cy="306"/>
              </a:xfrm>
            </p:grpSpPr>
            <p:sp>
              <p:nvSpPr>
                <p:cNvPr id="8345" name="Rectangle 153"/>
                <p:cNvSpPr>
                  <a:spLocks noChangeArrowheads="1"/>
                </p:cNvSpPr>
                <p:nvPr/>
              </p:nvSpPr>
              <p:spPr bwMode="auto">
                <a:xfrm>
                  <a:off x="3360" y="1680"/>
                  <a:ext cx="384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graphicFrame>
              <p:nvGraphicFramePr>
                <p:cNvPr id="36876" name="Object 1036"/>
                <p:cNvGraphicFramePr>
                  <a:graphicFrameLocks noChangeAspect="1"/>
                </p:cNvGraphicFramePr>
                <p:nvPr/>
              </p:nvGraphicFramePr>
              <p:xfrm>
                <a:off x="3420" y="1680"/>
                <a:ext cx="324" cy="30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5" imgW="228600" imgH="215640" progId="Equation.3">
                        <p:embed/>
                      </p:oleObj>
                    </mc:Choice>
                    <mc:Fallback>
                      <p:oleObj name="Equation" r:id="rId25" imgW="228600" imgH="215640" progId="Equation.3">
                        <p:embed/>
                        <p:pic>
                          <p:nvPicPr>
                            <p:cNvPr id="0" name="Picture 1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420" y="1680"/>
                              <a:ext cx="324" cy="306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aphicFrame>
          <p:nvGraphicFramePr>
            <p:cNvPr id="36873" name="Object 1033"/>
            <p:cNvGraphicFramePr>
              <a:graphicFrameLocks noChangeAspect="1"/>
            </p:cNvGraphicFramePr>
            <p:nvPr/>
          </p:nvGraphicFramePr>
          <p:xfrm>
            <a:off x="4368" y="1104"/>
            <a:ext cx="133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152280" imgH="164880" progId="Equation.3">
                    <p:embed/>
                  </p:oleObj>
                </mc:Choice>
                <mc:Fallback>
                  <p:oleObj name="Equation" r:id="rId27" imgW="152280" imgH="164880" progId="Equation.3">
                    <p:embed/>
                    <p:pic>
                      <p:nvPicPr>
                        <p:cNvPr id="0" name="Picture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104"/>
                          <a:ext cx="133" cy="144"/>
                        </a:xfrm>
                        <a:prstGeom prst="rect">
                          <a:avLst/>
                        </a:prstGeom>
                        <a:solidFill>
                          <a:schemeClr val="hlink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74" name="Object 1034"/>
            <p:cNvGraphicFramePr>
              <a:graphicFrameLocks noChangeAspect="1"/>
            </p:cNvGraphicFramePr>
            <p:nvPr/>
          </p:nvGraphicFramePr>
          <p:xfrm>
            <a:off x="2507" y="1104"/>
            <a:ext cx="133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152280" imgH="164880" progId="Equation.3">
                    <p:embed/>
                  </p:oleObj>
                </mc:Choice>
                <mc:Fallback>
                  <p:oleObj name="Equation" r:id="rId28" imgW="152280" imgH="164880" progId="Equation.3">
                    <p:embed/>
                    <p:pic>
                      <p:nvPicPr>
                        <p:cNvPr id="0" name="Picture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07" y="1104"/>
                          <a:ext cx="133" cy="144"/>
                        </a:xfrm>
                        <a:prstGeom prst="rect">
                          <a:avLst/>
                        </a:prstGeom>
                        <a:solidFill>
                          <a:srgbClr val="00FF99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424" name="Line 232"/>
            <p:cNvSpPr>
              <a:spLocks noChangeShapeType="1"/>
            </p:cNvSpPr>
            <p:nvPr/>
          </p:nvSpPr>
          <p:spPr bwMode="auto">
            <a:xfrm>
              <a:off x="2640" y="124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8427" name="Line 235"/>
            <p:cNvSpPr>
              <a:spLocks noChangeShapeType="1"/>
            </p:cNvSpPr>
            <p:nvPr/>
          </p:nvSpPr>
          <p:spPr bwMode="auto">
            <a:xfrm flipH="1">
              <a:off x="3120" y="2064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6" name="Group 245"/>
          <p:cNvGrpSpPr>
            <a:grpSpLocks/>
          </p:cNvGrpSpPr>
          <p:nvPr/>
        </p:nvGrpSpPr>
        <p:grpSpPr bwMode="auto">
          <a:xfrm>
            <a:off x="1524000" y="5114925"/>
            <a:ext cx="6138863" cy="1514475"/>
            <a:chOff x="960" y="3222"/>
            <a:chExt cx="3867" cy="954"/>
          </a:xfrm>
        </p:grpSpPr>
        <p:sp>
          <p:nvSpPr>
            <p:cNvPr id="8422" name="Oval 230"/>
            <p:cNvSpPr>
              <a:spLocks noChangeArrowheads="1"/>
            </p:cNvSpPr>
            <p:nvPr/>
          </p:nvSpPr>
          <p:spPr bwMode="auto">
            <a:xfrm>
              <a:off x="960" y="3312"/>
              <a:ext cx="3840" cy="864"/>
            </a:xfrm>
            <a:prstGeom prst="ellipse">
              <a:avLst/>
            </a:prstGeom>
            <a:noFill/>
            <a:ln w="9525">
              <a:solidFill>
                <a:srgbClr val="FF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36867" name="Object 1027"/>
            <p:cNvGraphicFramePr>
              <a:graphicFrameLocks noChangeAspect="1"/>
            </p:cNvGraphicFramePr>
            <p:nvPr/>
          </p:nvGraphicFramePr>
          <p:xfrm>
            <a:off x="4593" y="3222"/>
            <a:ext cx="234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164880" imgH="164880" progId="Equation.3">
                    <p:embed/>
                  </p:oleObj>
                </mc:Choice>
                <mc:Fallback>
                  <p:oleObj name="Equation" r:id="rId29" imgW="164880" imgH="164880" progId="Equation.3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93" y="3222"/>
                          <a:ext cx="234" cy="234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00FF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Group 244"/>
          <p:cNvGrpSpPr>
            <a:grpSpLocks/>
          </p:cNvGrpSpPr>
          <p:nvPr/>
        </p:nvGrpSpPr>
        <p:grpSpPr bwMode="auto">
          <a:xfrm>
            <a:off x="4419600" y="1447800"/>
            <a:ext cx="2286000" cy="1219200"/>
            <a:chOff x="2784" y="912"/>
            <a:chExt cx="1440" cy="768"/>
          </a:xfrm>
        </p:grpSpPr>
        <p:sp>
          <p:nvSpPr>
            <p:cNvPr id="8418" name="Oval 226"/>
            <p:cNvSpPr>
              <a:spLocks noChangeArrowheads="1"/>
            </p:cNvSpPr>
            <p:nvPr/>
          </p:nvSpPr>
          <p:spPr bwMode="auto">
            <a:xfrm>
              <a:off x="2784" y="1056"/>
              <a:ext cx="1440" cy="624"/>
            </a:xfrm>
            <a:prstGeom prst="ellipse">
              <a:avLst/>
            </a:prstGeom>
            <a:noFill/>
            <a:ln w="9525">
              <a:solidFill>
                <a:srgbClr val="FF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36866" name="Object 1026"/>
            <p:cNvGraphicFramePr>
              <a:graphicFrameLocks noChangeAspect="1"/>
            </p:cNvGraphicFramePr>
            <p:nvPr/>
          </p:nvGraphicFramePr>
          <p:xfrm>
            <a:off x="3984" y="912"/>
            <a:ext cx="180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1" imgW="126720" imgH="164880" progId="Equation.3">
                    <p:embed/>
                  </p:oleObj>
                </mc:Choice>
                <mc:Fallback>
                  <p:oleObj name="Equation" r:id="rId31" imgW="126720" imgH="164880" progId="Equation.3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4" y="912"/>
                          <a:ext cx="180" cy="234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00FF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Group 246"/>
          <p:cNvGrpSpPr>
            <a:grpSpLocks/>
          </p:cNvGrpSpPr>
          <p:nvPr/>
        </p:nvGrpSpPr>
        <p:grpSpPr bwMode="auto">
          <a:xfrm>
            <a:off x="4343400" y="1371600"/>
            <a:ext cx="2362200" cy="1371600"/>
            <a:chOff x="2736" y="480"/>
            <a:chExt cx="1200" cy="720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8439" name="Rectangle 247"/>
            <p:cNvSpPr>
              <a:spLocks noChangeArrowheads="1"/>
            </p:cNvSpPr>
            <p:nvPr/>
          </p:nvSpPr>
          <p:spPr bwMode="auto">
            <a:xfrm>
              <a:off x="2736" y="480"/>
              <a:ext cx="1200" cy="72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36865" name="Object 1025"/>
            <p:cNvGraphicFramePr>
              <a:graphicFrameLocks noChangeAspect="1"/>
            </p:cNvGraphicFramePr>
            <p:nvPr/>
          </p:nvGraphicFramePr>
          <p:xfrm>
            <a:off x="2958" y="480"/>
            <a:ext cx="784" cy="7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3" imgW="596880" imgH="431640" progId="Equation.3">
                    <p:embed/>
                  </p:oleObj>
                </mc:Choice>
                <mc:Fallback>
                  <p:oleObj name="Equation" r:id="rId33" imgW="596880" imgH="431640" progId="Equation.3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8" y="480"/>
                          <a:ext cx="784" cy="7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497" name="Text Box 305"/>
          <p:cNvSpPr txBox="1">
            <a:spLocks noChangeArrowheads="1"/>
          </p:cNvSpPr>
          <p:nvPr/>
        </p:nvSpPr>
        <p:spPr bwMode="auto">
          <a:xfrm>
            <a:off x="6228184" y="6428184"/>
            <a:ext cx="26447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/>
            <a:r>
              <a:rPr lang="en-US" altLang="zh-CN" dirty="0">
                <a:solidFill>
                  <a:schemeClr val="accent2"/>
                </a:solidFill>
                <a:ea typeface="宋体" pitchFamily="2" charset="-122"/>
              </a:rPr>
              <a:t>Not a feedback loop</a:t>
            </a:r>
            <a:endParaRPr lang="en-US" altLang="zh-CN" b="1" dirty="0">
              <a:ea typeface="宋体" pitchFamily="2" charset="-122"/>
            </a:endParaRPr>
          </a:p>
        </p:txBody>
      </p:sp>
      <p:graphicFrame>
        <p:nvGraphicFramePr>
          <p:cNvPr id="36864" name="Object 1024"/>
          <p:cNvGraphicFramePr>
            <a:graphicFrameLocks noChangeAspect="1"/>
          </p:cNvGraphicFramePr>
          <p:nvPr/>
        </p:nvGraphicFramePr>
        <p:xfrm>
          <a:off x="7162800" y="5622925"/>
          <a:ext cx="1752600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206360" imgH="431640" progId="Equation.3">
                  <p:embed/>
                </p:oleObj>
              </mc:Choice>
              <mc:Fallback>
                <p:oleObj name="Equation" r:id="rId34" imgW="1206360" imgH="431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5622925"/>
                        <a:ext cx="1752600" cy="625475"/>
                      </a:xfrm>
                      <a:prstGeom prst="rect">
                        <a:avLst/>
                      </a:prstGeom>
                      <a:solidFill>
                        <a:srgbClr val="00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30</a:t>
            </a:fld>
            <a:endParaRPr lang="en-GB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6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56" grpId="0" autoUpdateAnimBg="0"/>
      <p:bldP spid="8497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7" name="Text Box 11"/>
          <p:cNvSpPr txBox="1">
            <a:spLocks noChangeArrowheads="1"/>
          </p:cNvSpPr>
          <p:nvPr/>
        </p:nvSpPr>
        <p:spPr bwMode="auto">
          <a:xfrm>
            <a:off x="377825" y="531813"/>
            <a:ext cx="269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333399"/>
                </a:solidFill>
                <a:latin typeface="Arial" pitchFamily="34" charset="0"/>
                <a:ea typeface="宋体" pitchFamily="2" charset="-122"/>
              </a:rPr>
              <a:t>3. </a:t>
            </a:r>
            <a:r>
              <a:rPr lang="en-US" altLang="zh-CN">
                <a:solidFill>
                  <a:srgbClr val="333399"/>
                </a:solidFill>
                <a:latin typeface="Arial" pitchFamily="34" charset="0"/>
                <a:ea typeface="宋体" pitchFamily="2" charset="-122"/>
              </a:rPr>
              <a:t>Eliminate loop II</a:t>
            </a:r>
          </a:p>
        </p:txBody>
      </p:sp>
      <p:grpSp>
        <p:nvGrpSpPr>
          <p:cNvPr id="2" name="Group 62"/>
          <p:cNvGrpSpPr>
            <a:grpSpLocks/>
          </p:cNvGrpSpPr>
          <p:nvPr/>
        </p:nvGrpSpPr>
        <p:grpSpPr bwMode="auto">
          <a:xfrm>
            <a:off x="609600" y="1143000"/>
            <a:ext cx="7696200" cy="2209800"/>
            <a:chOff x="384" y="720"/>
            <a:chExt cx="4848" cy="1392"/>
          </a:xfrm>
        </p:grpSpPr>
        <p:sp>
          <p:nvSpPr>
            <p:cNvPr id="9228" name="Line 12"/>
            <p:cNvSpPr>
              <a:spLocks noChangeShapeType="1"/>
            </p:cNvSpPr>
            <p:nvPr/>
          </p:nvSpPr>
          <p:spPr bwMode="auto">
            <a:xfrm>
              <a:off x="768" y="98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9229" name="Line 13"/>
            <p:cNvSpPr>
              <a:spLocks noChangeShapeType="1"/>
            </p:cNvSpPr>
            <p:nvPr/>
          </p:nvSpPr>
          <p:spPr bwMode="auto">
            <a:xfrm>
              <a:off x="1392" y="1008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9230" name="Line 14"/>
            <p:cNvSpPr>
              <a:spLocks noChangeShapeType="1"/>
            </p:cNvSpPr>
            <p:nvPr/>
          </p:nvSpPr>
          <p:spPr bwMode="auto">
            <a:xfrm>
              <a:off x="4656" y="1008"/>
              <a:ext cx="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3" name="Group 15"/>
            <p:cNvGrpSpPr>
              <a:grpSpLocks/>
            </p:cNvGrpSpPr>
            <p:nvPr/>
          </p:nvGrpSpPr>
          <p:grpSpPr bwMode="auto">
            <a:xfrm>
              <a:off x="1056" y="816"/>
              <a:ext cx="96" cy="96"/>
              <a:chOff x="1344" y="1660"/>
              <a:chExt cx="96" cy="96"/>
            </a:xfrm>
          </p:grpSpPr>
          <p:sp>
            <p:nvSpPr>
              <p:cNvPr id="9232" name="Line 16"/>
              <p:cNvSpPr>
                <a:spLocks noChangeShapeType="1"/>
              </p:cNvSpPr>
              <p:nvPr/>
            </p:nvSpPr>
            <p:spPr bwMode="auto">
              <a:xfrm>
                <a:off x="1344" y="170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9233" name="Line 17"/>
              <p:cNvSpPr>
                <a:spLocks noChangeShapeType="1"/>
              </p:cNvSpPr>
              <p:nvPr/>
            </p:nvSpPr>
            <p:spPr bwMode="auto">
              <a:xfrm flipV="1">
                <a:off x="1392" y="166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</p:grpSp>
        <p:pic>
          <p:nvPicPr>
            <p:cNvPr id="9234" name="Picture 18" descr="untitled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200" y="912"/>
              <a:ext cx="192" cy="192"/>
            </a:xfrm>
            <a:prstGeom prst="rect">
              <a:avLst/>
            </a:prstGeom>
            <a:noFill/>
          </p:spPr>
        </p:pic>
        <p:sp>
          <p:nvSpPr>
            <p:cNvPr id="9235" name="Line 19"/>
            <p:cNvSpPr>
              <a:spLocks noChangeShapeType="1"/>
            </p:cNvSpPr>
            <p:nvPr/>
          </p:nvSpPr>
          <p:spPr bwMode="auto">
            <a:xfrm>
              <a:off x="1056" y="1152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9237" name="Line 21"/>
            <p:cNvSpPr>
              <a:spLocks noChangeShapeType="1"/>
            </p:cNvSpPr>
            <p:nvPr/>
          </p:nvSpPr>
          <p:spPr bwMode="auto">
            <a:xfrm flipV="1">
              <a:off x="1296" y="1056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graphicFrame>
          <p:nvGraphicFramePr>
            <p:cNvPr id="37889" name="Object 1025"/>
            <p:cNvGraphicFramePr>
              <a:graphicFrameLocks noChangeAspect="1"/>
            </p:cNvGraphicFramePr>
            <p:nvPr/>
          </p:nvGraphicFramePr>
          <p:xfrm>
            <a:off x="384" y="720"/>
            <a:ext cx="45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317160" imgH="203040" progId="Equation.3">
                    <p:embed/>
                  </p:oleObj>
                </mc:Choice>
                <mc:Fallback>
                  <p:oleObj name="Equation" r:id="rId3" imgW="317160" imgH="203040" progId="Equation.3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720"/>
                          <a:ext cx="450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890" name="Object 1026"/>
            <p:cNvGraphicFramePr>
              <a:graphicFrameLocks noChangeAspect="1"/>
            </p:cNvGraphicFramePr>
            <p:nvPr/>
          </p:nvGraphicFramePr>
          <p:xfrm>
            <a:off x="4782" y="720"/>
            <a:ext cx="45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317160" imgH="203040" progId="Equation.3">
                    <p:embed/>
                  </p:oleObj>
                </mc:Choice>
                <mc:Fallback>
                  <p:oleObj name="Equation" r:id="rId5" imgW="317160" imgH="203040" progId="Equation.3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2" y="720"/>
                          <a:ext cx="450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60" name="Line 44"/>
            <p:cNvSpPr>
              <a:spLocks noChangeShapeType="1"/>
            </p:cNvSpPr>
            <p:nvPr/>
          </p:nvSpPr>
          <p:spPr bwMode="auto">
            <a:xfrm>
              <a:off x="3744" y="1008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9263" name="Rectangle 47"/>
            <p:cNvSpPr>
              <a:spLocks noChangeArrowheads="1"/>
            </p:cNvSpPr>
            <p:nvPr/>
          </p:nvSpPr>
          <p:spPr bwMode="auto">
            <a:xfrm>
              <a:off x="2544" y="768"/>
              <a:ext cx="1200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37891" name="Object 1027"/>
            <p:cNvGraphicFramePr>
              <a:graphicFrameLocks noChangeAspect="1"/>
            </p:cNvGraphicFramePr>
            <p:nvPr/>
          </p:nvGraphicFramePr>
          <p:xfrm>
            <a:off x="2768" y="768"/>
            <a:ext cx="784" cy="5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596880" imgH="431640" progId="Equation.3">
                    <p:embed/>
                  </p:oleObj>
                </mc:Choice>
                <mc:Fallback>
                  <p:oleObj name="Equation" r:id="rId7" imgW="596880" imgH="431640" progId="Equation.3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8" y="768"/>
                          <a:ext cx="784" cy="51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69" name="Rectangle 53"/>
            <p:cNvSpPr>
              <a:spLocks noChangeArrowheads="1"/>
            </p:cNvSpPr>
            <p:nvPr/>
          </p:nvSpPr>
          <p:spPr bwMode="auto">
            <a:xfrm>
              <a:off x="2256" y="1536"/>
              <a:ext cx="1680" cy="52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37892" name="Object 1028"/>
            <p:cNvGraphicFramePr>
              <a:graphicFrameLocks noChangeAspect="1"/>
            </p:cNvGraphicFramePr>
            <p:nvPr/>
          </p:nvGraphicFramePr>
          <p:xfrm>
            <a:off x="2304" y="1594"/>
            <a:ext cx="1585" cy="5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206360" imgH="431640" progId="Equation.3">
                    <p:embed/>
                  </p:oleObj>
                </mc:Choice>
                <mc:Fallback>
                  <p:oleObj name="Equation" r:id="rId9" imgW="1206360" imgH="431640" progId="Equation.3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1594"/>
                          <a:ext cx="1585" cy="51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72" name="Line 56"/>
            <p:cNvSpPr>
              <a:spLocks noChangeShapeType="1"/>
            </p:cNvSpPr>
            <p:nvPr/>
          </p:nvSpPr>
          <p:spPr bwMode="auto">
            <a:xfrm>
              <a:off x="1296" y="1824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9273" name="Line 57"/>
            <p:cNvSpPr>
              <a:spLocks noChangeShapeType="1"/>
            </p:cNvSpPr>
            <p:nvPr/>
          </p:nvSpPr>
          <p:spPr bwMode="auto">
            <a:xfrm>
              <a:off x="3936" y="1824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</p:grpSp>
      <p:graphicFrame>
        <p:nvGraphicFramePr>
          <p:cNvPr id="37888" name="Object 1024"/>
          <p:cNvGraphicFramePr>
            <a:graphicFrameLocks noChangeAspect="1"/>
          </p:cNvGraphicFramePr>
          <p:nvPr/>
        </p:nvGraphicFramePr>
        <p:xfrm>
          <a:off x="1268413" y="4244975"/>
          <a:ext cx="6529387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616120" imgH="380880" progId="Equation.3">
                  <p:embed/>
                </p:oleObj>
              </mc:Choice>
              <mc:Fallback>
                <p:oleObj name="Equation" r:id="rId11" imgW="2616120" imgH="3808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8413" y="4244975"/>
                        <a:ext cx="6529387" cy="1092200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79" name="AutoShape 63"/>
          <p:cNvSpPr>
            <a:spLocks noChangeArrowheads="1"/>
          </p:cNvSpPr>
          <p:nvPr/>
        </p:nvSpPr>
        <p:spPr bwMode="auto">
          <a:xfrm>
            <a:off x="4495800" y="3505200"/>
            <a:ext cx="381000" cy="457200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31</a:t>
            </a:fld>
            <a:endParaRPr lang="en-GB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9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7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7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8"/>
          <p:cNvGrpSpPr>
            <a:grpSpLocks/>
          </p:cNvGrpSpPr>
          <p:nvPr/>
        </p:nvGrpSpPr>
        <p:grpSpPr bwMode="auto">
          <a:xfrm>
            <a:off x="200025" y="1828800"/>
            <a:ext cx="8791575" cy="3657600"/>
            <a:chOff x="126" y="1152"/>
            <a:chExt cx="5538" cy="2304"/>
          </a:xfrm>
        </p:grpSpPr>
        <p:sp>
          <p:nvSpPr>
            <p:cNvPr id="10296" name="Line 56"/>
            <p:cNvSpPr>
              <a:spLocks noChangeShapeType="1"/>
            </p:cNvSpPr>
            <p:nvPr/>
          </p:nvSpPr>
          <p:spPr bwMode="auto">
            <a:xfrm>
              <a:off x="246" y="180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0298" name="Line 58"/>
            <p:cNvSpPr>
              <a:spLocks noChangeShapeType="1"/>
            </p:cNvSpPr>
            <p:nvPr/>
          </p:nvSpPr>
          <p:spPr bwMode="auto">
            <a:xfrm>
              <a:off x="864" y="182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0299" name="Line 59"/>
            <p:cNvSpPr>
              <a:spLocks noChangeShapeType="1"/>
            </p:cNvSpPr>
            <p:nvPr/>
          </p:nvSpPr>
          <p:spPr bwMode="auto">
            <a:xfrm>
              <a:off x="1584" y="182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0300" name="Line 60"/>
            <p:cNvSpPr>
              <a:spLocks noChangeShapeType="1"/>
            </p:cNvSpPr>
            <p:nvPr/>
          </p:nvSpPr>
          <p:spPr bwMode="auto">
            <a:xfrm flipV="1">
              <a:off x="4566" y="1824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0302" name="Line 62"/>
            <p:cNvSpPr>
              <a:spLocks noChangeShapeType="1"/>
            </p:cNvSpPr>
            <p:nvPr/>
          </p:nvSpPr>
          <p:spPr bwMode="auto">
            <a:xfrm>
              <a:off x="5142" y="1804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3" name="Group 65"/>
            <p:cNvGrpSpPr>
              <a:grpSpLocks/>
            </p:cNvGrpSpPr>
            <p:nvPr/>
          </p:nvGrpSpPr>
          <p:grpSpPr bwMode="auto">
            <a:xfrm>
              <a:off x="534" y="1632"/>
              <a:ext cx="96" cy="96"/>
              <a:chOff x="1344" y="1660"/>
              <a:chExt cx="96" cy="96"/>
            </a:xfrm>
          </p:grpSpPr>
          <p:sp>
            <p:nvSpPr>
              <p:cNvPr id="10306" name="Line 66"/>
              <p:cNvSpPr>
                <a:spLocks noChangeShapeType="1"/>
              </p:cNvSpPr>
              <p:nvPr/>
            </p:nvSpPr>
            <p:spPr bwMode="auto">
              <a:xfrm>
                <a:off x="1344" y="170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0307" name="Line 67"/>
              <p:cNvSpPr>
                <a:spLocks noChangeShapeType="1"/>
              </p:cNvSpPr>
              <p:nvPr/>
            </p:nvSpPr>
            <p:spPr bwMode="auto">
              <a:xfrm flipV="1">
                <a:off x="1392" y="166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</p:grpSp>
        <p:pic>
          <p:nvPicPr>
            <p:cNvPr id="10308" name="Picture 68" descr="untitled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78" y="1728"/>
              <a:ext cx="192" cy="192"/>
            </a:xfrm>
            <a:prstGeom prst="rect">
              <a:avLst/>
            </a:prstGeom>
            <a:noFill/>
          </p:spPr>
        </p:pic>
        <p:sp>
          <p:nvSpPr>
            <p:cNvPr id="10313" name="Line 73"/>
            <p:cNvSpPr>
              <a:spLocks noChangeShapeType="1"/>
            </p:cNvSpPr>
            <p:nvPr/>
          </p:nvSpPr>
          <p:spPr bwMode="auto">
            <a:xfrm>
              <a:off x="534" y="196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0314" name="Line 74"/>
            <p:cNvSpPr>
              <a:spLocks noChangeShapeType="1"/>
            </p:cNvSpPr>
            <p:nvPr/>
          </p:nvSpPr>
          <p:spPr bwMode="auto">
            <a:xfrm flipH="1">
              <a:off x="2112" y="3312"/>
              <a:ext cx="303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0315" name="Line 75"/>
            <p:cNvSpPr>
              <a:spLocks noChangeShapeType="1"/>
            </p:cNvSpPr>
            <p:nvPr/>
          </p:nvSpPr>
          <p:spPr bwMode="auto">
            <a:xfrm flipV="1">
              <a:off x="5136" y="2784"/>
              <a:ext cx="6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0316" name="Line 76"/>
            <p:cNvSpPr>
              <a:spLocks noChangeShapeType="1"/>
            </p:cNvSpPr>
            <p:nvPr/>
          </p:nvSpPr>
          <p:spPr bwMode="auto">
            <a:xfrm flipV="1">
              <a:off x="768" y="1872"/>
              <a:ext cx="6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0318" name="Line 78"/>
            <p:cNvSpPr>
              <a:spLocks noChangeShapeType="1"/>
            </p:cNvSpPr>
            <p:nvPr/>
          </p:nvSpPr>
          <p:spPr bwMode="auto">
            <a:xfrm>
              <a:off x="768" y="2832"/>
              <a:ext cx="35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pic>
          <p:nvPicPr>
            <p:cNvPr id="10319" name="Picture 79" descr="untitled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016" y="1728"/>
              <a:ext cx="192" cy="192"/>
            </a:xfrm>
            <a:prstGeom prst="rect">
              <a:avLst/>
            </a:prstGeom>
            <a:noFill/>
          </p:spPr>
        </p:pic>
        <p:sp>
          <p:nvSpPr>
            <p:cNvPr id="10320" name="Line 80"/>
            <p:cNvSpPr>
              <a:spLocks noChangeShapeType="1"/>
            </p:cNvSpPr>
            <p:nvPr/>
          </p:nvSpPr>
          <p:spPr bwMode="auto">
            <a:xfrm>
              <a:off x="2208" y="182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0322" name="Line 82"/>
            <p:cNvSpPr>
              <a:spLocks noChangeShapeType="1"/>
            </p:cNvSpPr>
            <p:nvPr/>
          </p:nvSpPr>
          <p:spPr bwMode="auto">
            <a:xfrm>
              <a:off x="2112" y="2400"/>
              <a:ext cx="22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grpSp>
          <p:nvGrpSpPr>
            <p:cNvPr id="4" name="Group 83"/>
            <p:cNvGrpSpPr>
              <a:grpSpLocks/>
            </p:cNvGrpSpPr>
            <p:nvPr/>
          </p:nvGrpSpPr>
          <p:grpSpPr bwMode="auto">
            <a:xfrm>
              <a:off x="1920" y="1632"/>
              <a:ext cx="96" cy="96"/>
              <a:chOff x="1344" y="1660"/>
              <a:chExt cx="96" cy="96"/>
            </a:xfrm>
          </p:grpSpPr>
          <p:sp>
            <p:nvSpPr>
              <p:cNvPr id="10324" name="Line 84"/>
              <p:cNvSpPr>
                <a:spLocks noChangeShapeType="1"/>
              </p:cNvSpPr>
              <p:nvPr/>
            </p:nvSpPr>
            <p:spPr bwMode="auto">
              <a:xfrm>
                <a:off x="1344" y="170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0325" name="Line 85"/>
              <p:cNvSpPr>
                <a:spLocks noChangeShapeType="1"/>
              </p:cNvSpPr>
              <p:nvPr/>
            </p:nvSpPr>
            <p:spPr bwMode="auto">
              <a:xfrm flipV="1">
                <a:off x="1392" y="166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10326" name="Line 86"/>
            <p:cNvSpPr>
              <a:spLocks noChangeShapeType="1"/>
            </p:cNvSpPr>
            <p:nvPr/>
          </p:nvSpPr>
          <p:spPr bwMode="auto">
            <a:xfrm>
              <a:off x="1968" y="196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0328" name="Line 88"/>
            <p:cNvSpPr>
              <a:spLocks noChangeShapeType="1"/>
            </p:cNvSpPr>
            <p:nvPr/>
          </p:nvSpPr>
          <p:spPr bwMode="auto">
            <a:xfrm>
              <a:off x="3312" y="182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0329" name="Line 89"/>
            <p:cNvSpPr>
              <a:spLocks noChangeShapeType="1"/>
            </p:cNvSpPr>
            <p:nvPr/>
          </p:nvSpPr>
          <p:spPr bwMode="auto">
            <a:xfrm>
              <a:off x="4320" y="1824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0333" name="Rectangle 93"/>
            <p:cNvSpPr>
              <a:spLocks noChangeArrowheads="1"/>
            </p:cNvSpPr>
            <p:nvPr/>
          </p:nvSpPr>
          <p:spPr bwMode="auto">
            <a:xfrm>
              <a:off x="3120" y="2256"/>
              <a:ext cx="384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35" name="Line 95"/>
            <p:cNvSpPr>
              <a:spLocks noChangeShapeType="1"/>
            </p:cNvSpPr>
            <p:nvPr/>
          </p:nvSpPr>
          <p:spPr bwMode="auto">
            <a:xfrm>
              <a:off x="4080" y="182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grpSp>
          <p:nvGrpSpPr>
            <p:cNvPr id="5" name="Group 114"/>
            <p:cNvGrpSpPr>
              <a:grpSpLocks/>
            </p:cNvGrpSpPr>
            <p:nvPr/>
          </p:nvGrpSpPr>
          <p:grpSpPr bwMode="auto">
            <a:xfrm>
              <a:off x="2448" y="1680"/>
              <a:ext cx="432" cy="306"/>
              <a:chOff x="3024" y="1680"/>
              <a:chExt cx="432" cy="306"/>
            </a:xfrm>
          </p:grpSpPr>
          <p:sp>
            <p:nvSpPr>
              <p:cNvPr id="10321" name="Rectangle 81"/>
              <p:cNvSpPr>
                <a:spLocks noChangeArrowheads="1"/>
              </p:cNvSpPr>
              <p:nvPr/>
            </p:nvSpPr>
            <p:spPr bwMode="auto">
              <a:xfrm>
                <a:off x="3024" y="1680"/>
                <a:ext cx="432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graphicFrame>
            <p:nvGraphicFramePr>
              <p:cNvPr id="38921" name="Object 1033"/>
              <p:cNvGraphicFramePr>
                <a:graphicFrameLocks noChangeAspect="1"/>
              </p:cNvGraphicFramePr>
              <p:nvPr/>
            </p:nvGraphicFramePr>
            <p:xfrm>
              <a:off x="3120" y="1680"/>
              <a:ext cx="288" cy="3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" imgW="203040" imgH="215640" progId="Equation.3">
                      <p:embed/>
                    </p:oleObj>
                  </mc:Choice>
                  <mc:Fallback>
                    <p:oleObj name="Equation" r:id="rId3" imgW="203040" imgH="215640" progId="Equation.3">
                      <p:embed/>
                      <p:pic>
                        <p:nvPicPr>
                          <p:cNvPr id="0" name="Picture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20" y="1680"/>
                            <a:ext cx="288" cy="30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6" name="Group 127"/>
            <p:cNvGrpSpPr>
              <a:grpSpLocks/>
            </p:cNvGrpSpPr>
            <p:nvPr/>
          </p:nvGrpSpPr>
          <p:grpSpPr bwMode="auto">
            <a:xfrm>
              <a:off x="4512" y="1680"/>
              <a:ext cx="432" cy="315"/>
              <a:chOff x="4038" y="1680"/>
              <a:chExt cx="432" cy="315"/>
            </a:xfrm>
          </p:grpSpPr>
          <p:sp>
            <p:nvSpPr>
              <p:cNvPr id="10327" name="Rectangle 87"/>
              <p:cNvSpPr>
                <a:spLocks noChangeArrowheads="1"/>
              </p:cNvSpPr>
              <p:nvPr/>
            </p:nvSpPr>
            <p:spPr bwMode="auto">
              <a:xfrm>
                <a:off x="4038" y="1680"/>
                <a:ext cx="432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graphicFrame>
            <p:nvGraphicFramePr>
              <p:cNvPr id="38920" name="Object 1032"/>
              <p:cNvGraphicFramePr>
                <a:graphicFrameLocks noChangeAspect="1"/>
              </p:cNvGraphicFramePr>
              <p:nvPr/>
            </p:nvGraphicFramePr>
            <p:xfrm>
              <a:off x="4143" y="1689"/>
              <a:ext cx="288" cy="3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" imgW="203040" imgH="215640" progId="Equation.3">
                      <p:embed/>
                    </p:oleObj>
                  </mc:Choice>
                  <mc:Fallback>
                    <p:oleObj name="Equation" r:id="rId5" imgW="203040" imgH="215640" progId="Equation.3">
                      <p:embed/>
                      <p:pic>
                        <p:nvPicPr>
                          <p:cNvPr id="0" name="Picture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43" y="1689"/>
                            <a:ext cx="288" cy="30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0347" name="Rectangle 107"/>
            <p:cNvSpPr>
              <a:spLocks noChangeArrowheads="1"/>
            </p:cNvSpPr>
            <p:nvPr/>
          </p:nvSpPr>
          <p:spPr bwMode="auto">
            <a:xfrm>
              <a:off x="1296" y="1680"/>
              <a:ext cx="43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38912" name="Object 1024"/>
            <p:cNvGraphicFramePr>
              <a:graphicFrameLocks noChangeAspect="1"/>
            </p:cNvGraphicFramePr>
            <p:nvPr/>
          </p:nvGraphicFramePr>
          <p:xfrm>
            <a:off x="1392" y="1680"/>
            <a:ext cx="252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77480" imgH="215640" progId="Equation.3">
                    <p:embed/>
                  </p:oleObj>
                </mc:Choice>
                <mc:Fallback>
                  <p:oleObj name="Equation" r:id="rId7" imgW="177480" imgH="215640" progId="Equation.3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1680"/>
                          <a:ext cx="252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44" name="Rectangle 104"/>
            <p:cNvSpPr>
              <a:spLocks noChangeArrowheads="1"/>
            </p:cNvSpPr>
            <p:nvPr/>
          </p:nvSpPr>
          <p:spPr bwMode="auto">
            <a:xfrm>
              <a:off x="3984" y="1152"/>
              <a:ext cx="384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38913" name="Object 1025"/>
            <p:cNvGraphicFramePr>
              <a:graphicFrameLocks noChangeAspect="1"/>
            </p:cNvGraphicFramePr>
            <p:nvPr/>
          </p:nvGraphicFramePr>
          <p:xfrm>
            <a:off x="4032" y="1152"/>
            <a:ext cx="324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228600" imgH="215640" progId="Equation.3">
                    <p:embed/>
                  </p:oleObj>
                </mc:Choice>
                <mc:Fallback>
                  <p:oleObj name="Equation" r:id="rId9" imgW="228600" imgH="215640" progId="Equation.3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1152"/>
                          <a:ext cx="324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32" name="Rectangle 92"/>
            <p:cNvSpPr>
              <a:spLocks noChangeArrowheads="1"/>
            </p:cNvSpPr>
            <p:nvPr/>
          </p:nvSpPr>
          <p:spPr bwMode="auto">
            <a:xfrm>
              <a:off x="3120" y="2688"/>
              <a:ext cx="384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38914" name="Object 1026"/>
            <p:cNvGraphicFramePr>
              <a:graphicFrameLocks noChangeAspect="1"/>
            </p:cNvGraphicFramePr>
            <p:nvPr/>
          </p:nvGraphicFramePr>
          <p:xfrm>
            <a:off x="3150" y="2688"/>
            <a:ext cx="324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228600" imgH="215640" progId="Equation.3">
                    <p:embed/>
                  </p:oleObj>
                </mc:Choice>
                <mc:Fallback>
                  <p:oleObj name="Equation" r:id="rId11" imgW="228600" imgH="215640" progId="Equation.3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0" y="2688"/>
                          <a:ext cx="324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15" name="Object 1027"/>
            <p:cNvGraphicFramePr>
              <a:graphicFrameLocks noChangeAspect="1"/>
            </p:cNvGraphicFramePr>
            <p:nvPr/>
          </p:nvGraphicFramePr>
          <p:xfrm>
            <a:off x="3177" y="2247"/>
            <a:ext cx="306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215640" imgH="228600" progId="Equation.3">
                    <p:embed/>
                  </p:oleObj>
                </mc:Choice>
                <mc:Fallback>
                  <p:oleObj name="Equation" r:id="rId13" imgW="215640" imgH="228600" progId="Equation.3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77" y="2247"/>
                          <a:ext cx="306" cy="32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16" name="Object 1028"/>
            <p:cNvGraphicFramePr>
              <a:graphicFrameLocks noChangeAspect="1"/>
            </p:cNvGraphicFramePr>
            <p:nvPr/>
          </p:nvGraphicFramePr>
          <p:xfrm>
            <a:off x="5214" y="1488"/>
            <a:ext cx="45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317160" imgH="203040" progId="Equation.3">
                    <p:embed/>
                  </p:oleObj>
                </mc:Choice>
                <mc:Fallback>
                  <p:oleObj name="Equation" r:id="rId15" imgW="317160" imgH="203040" progId="Equation.3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4" y="1488"/>
                          <a:ext cx="450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17" name="Object 1029"/>
            <p:cNvGraphicFramePr>
              <a:graphicFrameLocks noChangeAspect="1"/>
            </p:cNvGraphicFramePr>
            <p:nvPr/>
          </p:nvGraphicFramePr>
          <p:xfrm>
            <a:off x="126" y="1392"/>
            <a:ext cx="45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317160" imgH="203040" progId="Equation.3">
                    <p:embed/>
                  </p:oleObj>
                </mc:Choice>
                <mc:Fallback>
                  <p:oleObj name="Equation" r:id="rId17" imgW="317160" imgH="203040" progId="Equation.3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" y="1392"/>
                          <a:ext cx="450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55" name="Line 115"/>
            <p:cNvSpPr>
              <a:spLocks noChangeShapeType="1"/>
            </p:cNvSpPr>
            <p:nvPr/>
          </p:nvSpPr>
          <p:spPr bwMode="auto">
            <a:xfrm>
              <a:off x="2880" y="182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grpSp>
          <p:nvGrpSpPr>
            <p:cNvPr id="7" name="Group 116"/>
            <p:cNvGrpSpPr>
              <a:grpSpLocks/>
            </p:cNvGrpSpPr>
            <p:nvPr/>
          </p:nvGrpSpPr>
          <p:grpSpPr bwMode="auto">
            <a:xfrm>
              <a:off x="2928" y="1632"/>
              <a:ext cx="96" cy="96"/>
              <a:chOff x="1344" y="1660"/>
              <a:chExt cx="96" cy="96"/>
            </a:xfrm>
          </p:grpSpPr>
          <p:sp>
            <p:nvSpPr>
              <p:cNvPr id="10357" name="Line 117"/>
              <p:cNvSpPr>
                <a:spLocks noChangeShapeType="1"/>
              </p:cNvSpPr>
              <p:nvPr/>
            </p:nvSpPr>
            <p:spPr bwMode="auto">
              <a:xfrm>
                <a:off x="1344" y="170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0358" name="Line 118"/>
              <p:cNvSpPr>
                <a:spLocks noChangeShapeType="1"/>
              </p:cNvSpPr>
              <p:nvPr/>
            </p:nvSpPr>
            <p:spPr bwMode="auto">
              <a:xfrm flipV="1">
                <a:off x="1392" y="166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10362" name="Line 122"/>
            <p:cNvSpPr>
              <a:spLocks noChangeShapeType="1"/>
            </p:cNvSpPr>
            <p:nvPr/>
          </p:nvSpPr>
          <p:spPr bwMode="auto">
            <a:xfrm>
              <a:off x="3216" y="1296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pic>
          <p:nvPicPr>
            <p:cNvPr id="10363" name="Picture 123" descr="untitled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120" y="1728"/>
              <a:ext cx="192" cy="192"/>
            </a:xfrm>
            <a:prstGeom prst="rect">
              <a:avLst/>
            </a:prstGeom>
            <a:noFill/>
          </p:spPr>
        </p:pic>
        <p:sp>
          <p:nvSpPr>
            <p:cNvPr id="10364" name="Line 124"/>
            <p:cNvSpPr>
              <a:spLocks noChangeShapeType="1"/>
            </p:cNvSpPr>
            <p:nvPr/>
          </p:nvSpPr>
          <p:spPr bwMode="auto">
            <a:xfrm>
              <a:off x="3072" y="1584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8" name="Group 128"/>
            <p:cNvGrpSpPr>
              <a:grpSpLocks/>
            </p:cNvGrpSpPr>
            <p:nvPr/>
          </p:nvGrpSpPr>
          <p:grpSpPr bwMode="auto">
            <a:xfrm>
              <a:off x="3648" y="1680"/>
              <a:ext cx="432" cy="324"/>
              <a:chOff x="3360" y="1680"/>
              <a:chExt cx="432" cy="324"/>
            </a:xfrm>
          </p:grpSpPr>
          <p:sp>
            <p:nvSpPr>
              <p:cNvPr id="10365" name="Rectangle 125"/>
              <p:cNvSpPr>
                <a:spLocks noChangeArrowheads="1"/>
              </p:cNvSpPr>
              <p:nvPr/>
            </p:nvSpPr>
            <p:spPr bwMode="auto">
              <a:xfrm>
                <a:off x="3360" y="1680"/>
                <a:ext cx="432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graphicFrame>
            <p:nvGraphicFramePr>
              <p:cNvPr id="38919" name="Object 1031"/>
              <p:cNvGraphicFramePr>
                <a:graphicFrameLocks noChangeAspect="1"/>
              </p:cNvGraphicFramePr>
              <p:nvPr/>
            </p:nvGraphicFramePr>
            <p:xfrm>
              <a:off x="3474" y="1680"/>
              <a:ext cx="270" cy="3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9" imgW="190440" imgH="228600" progId="Equation.3">
                      <p:embed/>
                    </p:oleObj>
                  </mc:Choice>
                  <mc:Fallback>
                    <p:oleObj name="Equation" r:id="rId19" imgW="190440" imgH="228600" progId="Equation.3">
                      <p:embed/>
                      <p:pic>
                        <p:nvPicPr>
                          <p:cNvPr id="0" name="Picture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74" y="1680"/>
                            <a:ext cx="270" cy="32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0369" name="Line 129"/>
            <p:cNvSpPr>
              <a:spLocks noChangeShapeType="1"/>
            </p:cNvSpPr>
            <p:nvPr/>
          </p:nvSpPr>
          <p:spPr bwMode="auto">
            <a:xfrm>
              <a:off x="3216" y="1296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0370" name="Line 130"/>
            <p:cNvSpPr>
              <a:spLocks noChangeShapeType="1"/>
            </p:cNvSpPr>
            <p:nvPr/>
          </p:nvSpPr>
          <p:spPr bwMode="auto">
            <a:xfrm>
              <a:off x="4368" y="1296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0371" name="Line 131"/>
            <p:cNvSpPr>
              <a:spLocks noChangeShapeType="1"/>
            </p:cNvSpPr>
            <p:nvPr/>
          </p:nvSpPr>
          <p:spPr bwMode="auto">
            <a:xfrm flipV="1">
              <a:off x="5136" y="1296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pic>
          <p:nvPicPr>
            <p:cNvPr id="10374" name="Picture 134" descr="untitled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016" y="2736"/>
              <a:ext cx="192" cy="192"/>
            </a:xfrm>
            <a:prstGeom prst="rect">
              <a:avLst/>
            </a:prstGeom>
            <a:noFill/>
          </p:spPr>
        </p:pic>
        <p:grpSp>
          <p:nvGrpSpPr>
            <p:cNvPr id="9" name="Group 135"/>
            <p:cNvGrpSpPr>
              <a:grpSpLocks/>
            </p:cNvGrpSpPr>
            <p:nvPr/>
          </p:nvGrpSpPr>
          <p:grpSpPr bwMode="auto">
            <a:xfrm>
              <a:off x="2256" y="2640"/>
              <a:ext cx="96" cy="96"/>
              <a:chOff x="1344" y="1660"/>
              <a:chExt cx="96" cy="96"/>
            </a:xfrm>
          </p:grpSpPr>
          <p:sp>
            <p:nvSpPr>
              <p:cNvPr id="10376" name="Line 136"/>
              <p:cNvSpPr>
                <a:spLocks noChangeShapeType="1"/>
              </p:cNvSpPr>
              <p:nvPr/>
            </p:nvSpPr>
            <p:spPr bwMode="auto">
              <a:xfrm>
                <a:off x="1344" y="170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0377" name="Line 137"/>
              <p:cNvSpPr>
                <a:spLocks noChangeShapeType="1"/>
              </p:cNvSpPr>
              <p:nvPr/>
            </p:nvSpPr>
            <p:spPr bwMode="auto">
              <a:xfrm flipV="1">
                <a:off x="1392" y="166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10378" name="Line 138"/>
            <p:cNvSpPr>
              <a:spLocks noChangeShapeType="1"/>
            </p:cNvSpPr>
            <p:nvPr/>
          </p:nvSpPr>
          <p:spPr bwMode="auto">
            <a:xfrm>
              <a:off x="1872" y="297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0379" name="Line 139"/>
            <p:cNvSpPr>
              <a:spLocks noChangeShapeType="1"/>
            </p:cNvSpPr>
            <p:nvPr/>
          </p:nvSpPr>
          <p:spPr bwMode="auto">
            <a:xfrm flipV="1">
              <a:off x="2112" y="292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0380" name="Line 140"/>
            <p:cNvSpPr>
              <a:spLocks noChangeShapeType="1"/>
            </p:cNvSpPr>
            <p:nvPr/>
          </p:nvSpPr>
          <p:spPr bwMode="auto">
            <a:xfrm flipH="1">
              <a:off x="2208" y="283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grpSp>
          <p:nvGrpSpPr>
            <p:cNvPr id="10" name="Group 141"/>
            <p:cNvGrpSpPr>
              <a:grpSpLocks/>
            </p:cNvGrpSpPr>
            <p:nvPr/>
          </p:nvGrpSpPr>
          <p:grpSpPr bwMode="auto">
            <a:xfrm>
              <a:off x="3120" y="3150"/>
              <a:ext cx="384" cy="306"/>
              <a:chOff x="1974" y="2688"/>
              <a:chExt cx="384" cy="306"/>
            </a:xfrm>
          </p:grpSpPr>
          <p:sp>
            <p:nvSpPr>
              <p:cNvPr id="10382" name="Rectangle 142"/>
              <p:cNvSpPr>
                <a:spLocks noChangeArrowheads="1"/>
              </p:cNvSpPr>
              <p:nvPr/>
            </p:nvSpPr>
            <p:spPr bwMode="auto">
              <a:xfrm>
                <a:off x="1974" y="2688"/>
                <a:ext cx="384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graphicFrame>
            <p:nvGraphicFramePr>
              <p:cNvPr id="38918" name="Object 1030"/>
              <p:cNvGraphicFramePr>
                <a:graphicFrameLocks noChangeAspect="1"/>
              </p:cNvGraphicFramePr>
              <p:nvPr/>
            </p:nvGraphicFramePr>
            <p:xfrm>
              <a:off x="2016" y="2688"/>
              <a:ext cx="288" cy="3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1" imgW="203040" imgH="215640" progId="Equation.3">
                      <p:embed/>
                    </p:oleObj>
                  </mc:Choice>
                  <mc:Fallback>
                    <p:oleObj name="Equation" r:id="rId21" imgW="203040" imgH="215640" progId="Equation.3">
                      <p:embed/>
                      <p:pic>
                        <p:nvPicPr>
                          <p:cNvPr id="0" name="Picture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16" y="2688"/>
                            <a:ext cx="288" cy="30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0301" name="Line 61"/>
            <p:cNvSpPr>
              <a:spLocks noChangeShapeType="1"/>
            </p:cNvSpPr>
            <p:nvPr/>
          </p:nvSpPr>
          <p:spPr bwMode="auto">
            <a:xfrm flipH="1" flipV="1">
              <a:off x="2109" y="1933"/>
              <a:ext cx="3" cy="4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</p:grpSp>
      <p:sp>
        <p:nvSpPr>
          <p:cNvPr id="68" name="Text Box 122"/>
          <p:cNvSpPr txBox="1">
            <a:spLocks noChangeArrowheads="1"/>
          </p:cNvSpPr>
          <p:nvPr/>
        </p:nvSpPr>
        <p:spPr bwMode="auto">
          <a:xfrm>
            <a:off x="539750" y="333375"/>
            <a:ext cx="3657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latin typeface="Arial" pitchFamily="34" charset="0"/>
                <a:ea typeface="宋体" pitchFamily="2" charset="-122"/>
              </a:rPr>
              <a:t>Example 9</a:t>
            </a:r>
          </a:p>
        </p:txBody>
      </p:sp>
      <p:sp>
        <p:nvSpPr>
          <p:cNvPr id="69" name="Rectangle 123"/>
          <p:cNvSpPr>
            <a:spLocks noChangeArrowheads="1"/>
          </p:cNvSpPr>
          <p:nvPr/>
        </p:nvSpPr>
        <p:spPr bwMode="auto">
          <a:xfrm>
            <a:off x="1403350" y="1125538"/>
            <a:ext cx="63373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>
                <a:solidFill>
                  <a:srgbClr val="333399"/>
                </a:solidFill>
                <a:latin typeface="Arial" pitchFamily="34" charset="0"/>
                <a:ea typeface="宋体" pitchFamily="2" charset="-122"/>
              </a:rPr>
              <a:t>Find the transfer function of the following block diagrams</a:t>
            </a:r>
            <a:endParaRPr lang="zh-CN" altLang="en-US">
              <a:solidFill>
                <a:srgbClr val="333399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32</a:t>
            </a:fld>
            <a:endParaRPr lang="en-GB"/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2" name="Text Box 8"/>
          <p:cNvSpPr txBox="1">
            <a:spLocks noChangeArrowheads="1"/>
          </p:cNvSpPr>
          <p:nvPr/>
        </p:nvSpPr>
        <p:spPr bwMode="auto">
          <a:xfrm>
            <a:off x="381000" y="455613"/>
            <a:ext cx="1371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/>
            <a:r>
              <a:rPr lang="en-US" altLang="zh-CN">
                <a:solidFill>
                  <a:srgbClr val="FF3300"/>
                </a:solidFill>
                <a:latin typeface="Arial" pitchFamily="34" charset="0"/>
                <a:ea typeface="宋体" pitchFamily="2" charset="-122"/>
              </a:rPr>
              <a:t>Solution:</a:t>
            </a:r>
          </a:p>
        </p:txBody>
      </p:sp>
      <p:sp>
        <p:nvSpPr>
          <p:cNvPr id="11274" name="Line 10"/>
          <p:cNvSpPr>
            <a:spLocks noChangeShapeType="1"/>
          </p:cNvSpPr>
          <p:nvPr/>
        </p:nvSpPr>
        <p:spPr bwMode="auto">
          <a:xfrm>
            <a:off x="76200" y="278765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11275" name="Line 11"/>
          <p:cNvSpPr>
            <a:spLocks noChangeShapeType="1"/>
          </p:cNvSpPr>
          <p:nvPr/>
        </p:nvSpPr>
        <p:spPr bwMode="auto">
          <a:xfrm>
            <a:off x="1057275" y="28194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11276" name="Line 12"/>
          <p:cNvSpPr>
            <a:spLocks noChangeShapeType="1"/>
          </p:cNvSpPr>
          <p:nvPr/>
        </p:nvSpPr>
        <p:spPr bwMode="auto">
          <a:xfrm flipV="1">
            <a:off x="2438400" y="2819400"/>
            <a:ext cx="447675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11277" name="Line 13"/>
          <p:cNvSpPr>
            <a:spLocks noChangeShapeType="1"/>
          </p:cNvSpPr>
          <p:nvPr/>
        </p:nvSpPr>
        <p:spPr bwMode="auto">
          <a:xfrm flipV="1">
            <a:off x="7543800" y="28194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11278" name="Line 14"/>
          <p:cNvSpPr>
            <a:spLocks noChangeShapeType="1"/>
          </p:cNvSpPr>
          <p:nvPr/>
        </p:nvSpPr>
        <p:spPr bwMode="auto">
          <a:xfrm flipV="1">
            <a:off x="3038475" y="2997200"/>
            <a:ext cx="0" cy="71913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GB"/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533400" y="2514600"/>
            <a:ext cx="152400" cy="152400"/>
            <a:chOff x="1344" y="1660"/>
            <a:chExt cx="96" cy="96"/>
          </a:xfrm>
        </p:grpSpPr>
        <p:sp>
          <p:nvSpPr>
            <p:cNvPr id="11281" name="Line 17"/>
            <p:cNvSpPr>
              <a:spLocks noChangeShapeType="1"/>
            </p:cNvSpPr>
            <p:nvPr/>
          </p:nvSpPr>
          <p:spPr bwMode="auto">
            <a:xfrm>
              <a:off x="1344" y="170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1282" name="Line 18"/>
            <p:cNvSpPr>
              <a:spLocks noChangeShapeType="1"/>
            </p:cNvSpPr>
            <p:nvPr/>
          </p:nvSpPr>
          <p:spPr bwMode="auto">
            <a:xfrm flipV="1">
              <a:off x="1392" y="166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</p:grpSp>
      <p:pic>
        <p:nvPicPr>
          <p:cNvPr id="11283" name="Picture 19" descr="untitle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2667000"/>
            <a:ext cx="304800" cy="304800"/>
          </a:xfrm>
          <a:prstGeom prst="rect">
            <a:avLst/>
          </a:prstGeom>
          <a:noFill/>
        </p:spPr>
      </p:pic>
      <p:sp>
        <p:nvSpPr>
          <p:cNvPr id="11284" name="Line 20"/>
          <p:cNvSpPr>
            <a:spLocks noChangeShapeType="1"/>
          </p:cNvSpPr>
          <p:nvPr/>
        </p:nvSpPr>
        <p:spPr bwMode="auto">
          <a:xfrm>
            <a:off x="533400" y="3048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11285" name="Line 21"/>
          <p:cNvSpPr>
            <a:spLocks noChangeShapeType="1"/>
          </p:cNvSpPr>
          <p:nvPr/>
        </p:nvSpPr>
        <p:spPr bwMode="auto">
          <a:xfrm flipH="1">
            <a:off x="3038475" y="5181600"/>
            <a:ext cx="1609725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11287" name="Line 23"/>
          <p:cNvSpPr>
            <a:spLocks noChangeShapeType="1"/>
          </p:cNvSpPr>
          <p:nvPr/>
        </p:nvSpPr>
        <p:spPr bwMode="auto">
          <a:xfrm flipV="1">
            <a:off x="914400" y="2895600"/>
            <a:ext cx="9525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1288" name="Line 24"/>
          <p:cNvSpPr>
            <a:spLocks noChangeShapeType="1"/>
          </p:cNvSpPr>
          <p:nvPr/>
        </p:nvSpPr>
        <p:spPr bwMode="auto">
          <a:xfrm>
            <a:off x="914400" y="4419600"/>
            <a:ext cx="312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pic>
        <p:nvPicPr>
          <p:cNvPr id="11289" name="Picture 25" descr="untitle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86075" y="2667000"/>
            <a:ext cx="304800" cy="304800"/>
          </a:xfrm>
          <a:prstGeom prst="rect">
            <a:avLst/>
          </a:prstGeom>
          <a:noFill/>
        </p:spPr>
      </p:pic>
      <p:sp>
        <p:nvSpPr>
          <p:cNvPr id="11290" name="Line 26"/>
          <p:cNvSpPr>
            <a:spLocks noChangeShapeType="1"/>
          </p:cNvSpPr>
          <p:nvPr/>
        </p:nvSpPr>
        <p:spPr bwMode="auto">
          <a:xfrm>
            <a:off x="3190875" y="28194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11291" name="Line 27"/>
          <p:cNvSpPr>
            <a:spLocks noChangeShapeType="1"/>
          </p:cNvSpPr>
          <p:nvPr/>
        </p:nvSpPr>
        <p:spPr bwMode="auto">
          <a:xfrm>
            <a:off x="3038475" y="3733800"/>
            <a:ext cx="1076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2733675" y="2514600"/>
            <a:ext cx="152400" cy="152400"/>
            <a:chOff x="1344" y="1660"/>
            <a:chExt cx="96" cy="96"/>
          </a:xfrm>
        </p:grpSpPr>
        <p:sp>
          <p:nvSpPr>
            <p:cNvPr id="11293" name="Line 29"/>
            <p:cNvSpPr>
              <a:spLocks noChangeShapeType="1"/>
            </p:cNvSpPr>
            <p:nvPr/>
          </p:nvSpPr>
          <p:spPr bwMode="auto">
            <a:xfrm>
              <a:off x="1344" y="170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1294" name="Line 30"/>
            <p:cNvSpPr>
              <a:spLocks noChangeShapeType="1"/>
            </p:cNvSpPr>
            <p:nvPr/>
          </p:nvSpPr>
          <p:spPr bwMode="auto">
            <a:xfrm flipV="1">
              <a:off x="1392" y="166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</p:grpSp>
      <p:sp>
        <p:nvSpPr>
          <p:cNvPr id="11295" name="Line 31"/>
          <p:cNvSpPr>
            <a:spLocks noChangeShapeType="1"/>
          </p:cNvSpPr>
          <p:nvPr/>
        </p:nvSpPr>
        <p:spPr bwMode="auto">
          <a:xfrm>
            <a:off x="2809875" y="3048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11296" name="Line 32"/>
          <p:cNvSpPr>
            <a:spLocks noChangeShapeType="1"/>
          </p:cNvSpPr>
          <p:nvPr/>
        </p:nvSpPr>
        <p:spPr bwMode="auto">
          <a:xfrm>
            <a:off x="4943475" y="2819400"/>
            <a:ext cx="466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1299" name="Line 35"/>
          <p:cNvSpPr>
            <a:spLocks noChangeShapeType="1"/>
          </p:cNvSpPr>
          <p:nvPr/>
        </p:nvSpPr>
        <p:spPr bwMode="auto">
          <a:xfrm>
            <a:off x="6096000" y="2819400"/>
            <a:ext cx="7524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3571875" y="2590800"/>
            <a:ext cx="685800" cy="485775"/>
            <a:chOff x="3024" y="1680"/>
            <a:chExt cx="432" cy="306"/>
          </a:xfrm>
        </p:grpSpPr>
        <p:sp>
          <p:nvSpPr>
            <p:cNvPr id="11301" name="Rectangle 37"/>
            <p:cNvSpPr>
              <a:spLocks noChangeArrowheads="1"/>
            </p:cNvSpPr>
            <p:nvPr/>
          </p:nvSpPr>
          <p:spPr bwMode="auto">
            <a:xfrm>
              <a:off x="3024" y="1680"/>
              <a:ext cx="432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39953" name="Object 17"/>
            <p:cNvGraphicFramePr>
              <a:graphicFrameLocks noChangeAspect="1"/>
            </p:cNvGraphicFramePr>
            <p:nvPr/>
          </p:nvGraphicFramePr>
          <p:xfrm>
            <a:off x="3120" y="1680"/>
            <a:ext cx="288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03040" imgH="215640" progId="Equation.3">
                    <p:embed/>
                  </p:oleObj>
                </mc:Choice>
                <mc:Fallback>
                  <p:oleObj name="Equation" r:id="rId3" imgW="203040" imgH="215640" progId="Equation.3">
                    <p:embed/>
                    <p:pic>
                      <p:nvPicPr>
                        <p:cNvPr id="0" name="Picture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0" y="1680"/>
                          <a:ext cx="288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39"/>
          <p:cNvGrpSpPr>
            <a:grpSpLocks/>
          </p:cNvGrpSpPr>
          <p:nvPr/>
        </p:nvGrpSpPr>
        <p:grpSpPr bwMode="auto">
          <a:xfrm>
            <a:off x="6848475" y="2590800"/>
            <a:ext cx="685800" cy="500063"/>
            <a:chOff x="4038" y="1680"/>
            <a:chExt cx="432" cy="315"/>
          </a:xfrm>
        </p:grpSpPr>
        <p:sp>
          <p:nvSpPr>
            <p:cNvPr id="11304" name="Rectangle 40"/>
            <p:cNvSpPr>
              <a:spLocks noChangeArrowheads="1"/>
            </p:cNvSpPr>
            <p:nvPr/>
          </p:nvSpPr>
          <p:spPr bwMode="auto">
            <a:xfrm>
              <a:off x="4038" y="1680"/>
              <a:ext cx="432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39952" name="Object 16"/>
            <p:cNvGraphicFramePr>
              <a:graphicFrameLocks noChangeAspect="1"/>
            </p:cNvGraphicFramePr>
            <p:nvPr/>
          </p:nvGraphicFramePr>
          <p:xfrm>
            <a:off x="4143" y="1689"/>
            <a:ext cx="288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03040" imgH="215640" progId="Equation.3">
                    <p:embed/>
                  </p:oleObj>
                </mc:Choice>
                <mc:Fallback>
                  <p:oleObj name="Equation" r:id="rId5" imgW="203040" imgH="215640" progId="Equation.3">
                    <p:embed/>
                    <p:pic>
                      <p:nvPicPr>
                        <p:cNvPr id="0" name="Picture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3" y="1689"/>
                          <a:ext cx="288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306" name="Rectangle 42"/>
          <p:cNvSpPr>
            <a:spLocks noChangeArrowheads="1"/>
          </p:cNvSpPr>
          <p:nvPr/>
        </p:nvSpPr>
        <p:spPr bwMode="auto">
          <a:xfrm>
            <a:off x="1743075" y="2590800"/>
            <a:ext cx="6858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graphicFrame>
        <p:nvGraphicFramePr>
          <p:cNvPr id="39936" name="Object 0"/>
          <p:cNvGraphicFramePr>
            <a:graphicFrameLocks noChangeAspect="1"/>
          </p:cNvGraphicFramePr>
          <p:nvPr/>
        </p:nvGraphicFramePr>
        <p:xfrm>
          <a:off x="1895475" y="2590800"/>
          <a:ext cx="40005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7480" imgH="215640" progId="Equation.3">
                  <p:embed/>
                </p:oleObj>
              </mc:Choice>
              <mc:Fallback>
                <p:oleObj name="Equation" r:id="rId7" imgW="177480" imgH="215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5475" y="2590800"/>
                        <a:ext cx="400050" cy="485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08" name="Rectangle 44"/>
          <p:cNvSpPr>
            <a:spLocks noChangeArrowheads="1"/>
          </p:cNvSpPr>
          <p:nvPr/>
        </p:nvSpPr>
        <p:spPr bwMode="auto">
          <a:xfrm>
            <a:off x="6010275" y="1752600"/>
            <a:ext cx="6096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graphicFrame>
        <p:nvGraphicFramePr>
          <p:cNvPr id="39937" name="Object 1"/>
          <p:cNvGraphicFramePr>
            <a:graphicFrameLocks noChangeAspect="1"/>
          </p:cNvGraphicFramePr>
          <p:nvPr/>
        </p:nvGraphicFramePr>
        <p:xfrm>
          <a:off x="6086475" y="1752600"/>
          <a:ext cx="51435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28600" imgH="215640" progId="Equation.3">
                  <p:embed/>
                </p:oleObj>
              </mc:Choice>
              <mc:Fallback>
                <p:oleObj name="Equation" r:id="rId9" imgW="228600" imgH="215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6475" y="1752600"/>
                        <a:ext cx="514350" cy="485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38" name="Object 2"/>
          <p:cNvGraphicFramePr>
            <a:graphicFrameLocks noChangeAspect="1"/>
          </p:cNvGraphicFramePr>
          <p:nvPr/>
        </p:nvGraphicFramePr>
        <p:xfrm>
          <a:off x="8124825" y="2209800"/>
          <a:ext cx="7143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17160" imgH="203040" progId="Equation.3">
                  <p:embed/>
                </p:oleObj>
              </mc:Choice>
              <mc:Fallback>
                <p:oleObj name="Equation" r:id="rId11" imgW="317160" imgH="2030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4825" y="2209800"/>
                        <a:ext cx="71437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14" name="Line 50"/>
          <p:cNvSpPr>
            <a:spLocks noChangeShapeType="1"/>
          </p:cNvSpPr>
          <p:nvPr/>
        </p:nvSpPr>
        <p:spPr bwMode="auto">
          <a:xfrm>
            <a:off x="4257675" y="28194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grpSp>
        <p:nvGrpSpPr>
          <p:cNvPr id="6" name="Group 51"/>
          <p:cNvGrpSpPr>
            <a:grpSpLocks/>
          </p:cNvGrpSpPr>
          <p:nvPr/>
        </p:nvGrpSpPr>
        <p:grpSpPr bwMode="auto">
          <a:xfrm>
            <a:off x="4419600" y="2590800"/>
            <a:ext cx="152400" cy="152400"/>
            <a:chOff x="1344" y="1660"/>
            <a:chExt cx="96" cy="96"/>
          </a:xfrm>
        </p:grpSpPr>
        <p:sp>
          <p:nvSpPr>
            <p:cNvPr id="11316" name="Line 52"/>
            <p:cNvSpPr>
              <a:spLocks noChangeShapeType="1"/>
            </p:cNvSpPr>
            <p:nvPr/>
          </p:nvSpPr>
          <p:spPr bwMode="auto">
            <a:xfrm>
              <a:off x="1344" y="170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1317" name="Line 53"/>
            <p:cNvSpPr>
              <a:spLocks noChangeShapeType="1"/>
            </p:cNvSpPr>
            <p:nvPr/>
          </p:nvSpPr>
          <p:spPr bwMode="auto">
            <a:xfrm flipV="1">
              <a:off x="1392" y="166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</p:grpSp>
      <p:sp>
        <p:nvSpPr>
          <p:cNvPr id="11318" name="Line 54"/>
          <p:cNvSpPr>
            <a:spLocks noChangeShapeType="1"/>
          </p:cNvSpPr>
          <p:nvPr/>
        </p:nvSpPr>
        <p:spPr bwMode="auto">
          <a:xfrm>
            <a:off x="4791075" y="1981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pic>
        <p:nvPicPr>
          <p:cNvPr id="11319" name="Picture 55" descr="untitle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38675" y="2667000"/>
            <a:ext cx="304800" cy="304800"/>
          </a:xfrm>
          <a:prstGeom prst="rect">
            <a:avLst/>
          </a:prstGeom>
          <a:noFill/>
        </p:spPr>
      </p:pic>
      <p:sp>
        <p:nvSpPr>
          <p:cNvPr id="11320" name="Line 56"/>
          <p:cNvSpPr>
            <a:spLocks noChangeShapeType="1"/>
          </p:cNvSpPr>
          <p:nvPr/>
        </p:nvSpPr>
        <p:spPr bwMode="auto">
          <a:xfrm>
            <a:off x="4562475" y="2438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GB"/>
          </a:p>
        </p:txBody>
      </p:sp>
      <p:grpSp>
        <p:nvGrpSpPr>
          <p:cNvPr id="7" name="Group 57"/>
          <p:cNvGrpSpPr>
            <a:grpSpLocks/>
          </p:cNvGrpSpPr>
          <p:nvPr/>
        </p:nvGrpSpPr>
        <p:grpSpPr bwMode="auto">
          <a:xfrm>
            <a:off x="5410200" y="2590800"/>
            <a:ext cx="685800" cy="514350"/>
            <a:chOff x="3360" y="1680"/>
            <a:chExt cx="432" cy="324"/>
          </a:xfrm>
        </p:grpSpPr>
        <p:sp>
          <p:nvSpPr>
            <p:cNvPr id="11322" name="Rectangle 58"/>
            <p:cNvSpPr>
              <a:spLocks noChangeArrowheads="1"/>
            </p:cNvSpPr>
            <p:nvPr/>
          </p:nvSpPr>
          <p:spPr bwMode="auto">
            <a:xfrm>
              <a:off x="3360" y="1680"/>
              <a:ext cx="432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39951" name="Object 15"/>
            <p:cNvGraphicFramePr>
              <a:graphicFrameLocks noChangeAspect="1"/>
            </p:cNvGraphicFramePr>
            <p:nvPr/>
          </p:nvGraphicFramePr>
          <p:xfrm>
            <a:off x="3474" y="1680"/>
            <a:ext cx="270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90440" imgH="228600" progId="Equation.3">
                    <p:embed/>
                  </p:oleObj>
                </mc:Choice>
                <mc:Fallback>
                  <p:oleObj name="Equation" r:id="rId13" imgW="190440" imgH="228600" progId="Equation.3">
                    <p:embed/>
                    <p:pic>
                      <p:nvPicPr>
                        <p:cNvPr id="0" name="Picture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4" y="1680"/>
                          <a:ext cx="270" cy="32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324" name="Line 60"/>
          <p:cNvSpPr>
            <a:spLocks noChangeShapeType="1"/>
          </p:cNvSpPr>
          <p:nvPr/>
        </p:nvSpPr>
        <p:spPr bwMode="auto">
          <a:xfrm>
            <a:off x="4791075" y="19812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1325" name="Line 61"/>
          <p:cNvSpPr>
            <a:spLocks noChangeShapeType="1"/>
          </p:cNvSpPr>
          <p:nvPr/>
        </p:nvSpPr>
        <p:spPr bwMode="auto">
          <a:xfrm>
            <a:off x="6619875" y="1981200"/>
            <a:ext cx="1228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1326" name="Line 62"/>
          <p:cNvSpPr>
            <a:spLocks noChangeShapeType="1"/>
          </p:cNvSpPr>
          <p:nvPr/>
        </p:nvSpPr>
        <p:spPr bwMode="auto">
          <a:xfrm flipV="1">
            <a:off x="7848600" y="19812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pic>
        <p:nvPicPr>
          <p:cNvPr id="11327" name="Picture 63" descr="untitle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86075" y="4267200"/>
            <a:ext cx="304800" cy="304800"/>
          </a:xfrm>
          <a:prstGeom prst="rect">
            <a:avLst/>
          </a:prstGeom>
          <a:noFill/>
        </p:spPr>
      </p:pic>
      <p:grpSp>
        <p:nvGrpSpPr>
          <p:cNvPr id="8" name="Group 64"/>
          <p:cNvGrpSpPr>
            <a:grpSpLocks/>
          </p:cNvGrpSpPr>
          <p:nvPr/>
        </p:nvGrpSpPr>
        <p:grpSpPr bwMode="auto">
          <a:xfrm>
            <a:off x="3267075" y="4114800"/>
            <a:ext cx="152400" cy="152400"/>
            <a:chOff x="1344" y="1660"/>
            <a:chExt cx="96" cy="96"/>
          </a:xfrm>
        </p:grpSpPr>
        <p:sp>
          <p:nvSpPr>
            <p:cNvPr id="11329" name="Line 65"/>
            <p:cNvSpPr>
              <a:spLocks noChangeShapeType="1"/>
            </p:cNvSpPr>
            <p:nvPr/>
          </p:nvSpPr>
          <p:spPr bwMode="auto">
            <a:xfrm>
              <a:off x="1344" y="170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1330" name="Line 66"/>
            <p:cNvSpPr>
              <a:spLocks noChangeShapeType="1"/>
            </p:cNvSpPr>
            <p:nvPr/>
          </p:nvSpPr>
          <p:spPr bwMode="auto">
            <a:xfrm flipV="1">
              <a:off x="1392" y="166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</p:grpSp>
      <p:sp>
        <p:nvSpPr>
          <p:cNvPr id="11331" name="Line 67"/>
          <p:cNvSpPr>
            <a:spLocks noChangeShapeType="1"/>
          </p:cNvSpPr>
          <p:nvPr/>
        </p:nvSpPr>
        <p:spPr bwMode="auto">
          <a:xfrm>
            <a:off x="2657475" y="46482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11332" name="Line 68"/>
          <p:cNvSpPr>
            <a:spLocks noChangeShapeType="1"/>
          </p:cNvSpPr>
          <p:nvPr/>
        </p:nvSpPr>
        <p:spPr bwMode="auto">
          <a:xfrm flipV="1">
            <a:off x="3038475" y="4572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1333" name="Line 69"/>
          <p:cNvSpPr>
            <a:spLocks noChangeShapeType="1"/>
          </p:cNvSpPr>
          <p:nvPr/>
        </p:nvSpPr>
        <p:spPr bwMode="auto">
          <a:xfrm flipH="1">
            <a:off x="3190875" y="44196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grpSp>
        <p:nvGrpSpPr>
          <p:cNvPr id="9" name="Group 70"/>
          <p:cNvGrpSpPr>
            <a:grpSpLocks/>
          </p:cNvGrpSpPr>
          <p:nvPr/>
        </p:nvGrpSpPr>
        <p:grpSpPr bwMode="auto">
          <a:xfrm>
            <a:off x="4638675" y="4924425"/>
            <a:ext cx="609600" cy="485775"/>
            <a:chOff x="1974" y="2688"/>
            <a:chExt cx="384" cy="306"/>
          </a:xfrm>
        </p:grpSpPr>
        <p:sp>
          <p:nvSpPr>
            <p:cNvPr id="11335" name="Rectangle 71"/>
            <p:cNvSpPr>
              <a:spLocks noChangeArrowheads="1"/>
            </p:cNvSpPr>
            <p:nvPr/>
          </p:nvSpPr>
          <p:spPr bwMode="auto">
            <a:xfrm>
              <a:off x="1974" y="2688"/>
              <a:ext cx="384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39950" name="Object 14"/>
            <p:cNvGraphicFramePr>
              <a:graphicFrameLocks noChangeAspect="1"/>
            </p:cNvGraphicFramePr>
            <p:nvPr/>
          </p:nvGraphicFramePr>
          <p:xfrm>
            <a:off x="2016" y="2688"/>
            <a:ext cx="288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203040" imgH="215640" progId="Equation.3">
                    <p:embed/>
                  </p:oleObj>
                </mc:Choice>
                <mc:Fallback>
                  <p:oleObj name="Equation" r:id="rId15" imgW="203040" imgH="215640" progId="Equation.3">
                    <p:embed/>
                    <p:pic>
                      <p:nvPicPr>
                        <p:cNvPr id="0" name="Picture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2688"/>
                          <a:ext cx="288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337" name="Line 73"/>
          <p:cNvSpPr>
            <a:spLocks noChangeShapeType="1"/>
          </p:cNvSpPr>
          <p:nvPr/>
        </p:nvSpPr>
        <p:spPr bwMode="auto">
          <a:xfrm>
            <a:off x="7848600" y="2819400"/>
            <a:ext cx="0" cy="2362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1342" name="Rectangle 78"/>
          <p:cNvSpPr>
            <a:spLocks noChangeArrowheads="1"/>
          </p:cNvSpPr>
          <p:nvPr/>
        </p:nvSpPr>
        <p:spPr bwMode="auto">
          <a:xfrm>
            <a:off x="4038600" y="4191000"/>
            <a:ext cx="6096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graphicFrame>
        <p:nvGraphicFramePr>
          <p:cNvPr id="39939" name="Object 3"/>
          <p:cNvGraphicFramePr>
            <a:graphicFrameLocks noChangeAspect="1"/>
          </p:cNvGraphicFramePr>
          <p:nvPr/>
        </p:nvGraphicFramePr>
        <p:xfrm>
          <a:off x="4143375" y="4191000"/>
          <a:ext cx="51435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28600" imgH="215640" progId="Equation.3">
                  <p:embed/>
                </p:oleObj>
              </mc:Choice>
              <mc:Fallback>
                <p:oleObj name="Equation" r:id="rId17" imgW="228600" imgH="2156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3375" y="4191000"/>
                        <a:ext cx="514350" cy="485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44" name="Line 80"/>
          <p:cNvSpPr>
            <a:spLocks noChangeShapeType="1"/>
          </p:cNvSpPr>
          <p:nvPr/>
        </p:nvSpPr>
        <p:spPr bwMode="auto">
          <a:xfrm>
            <a:off x="4648200" y="37338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1346" name="Line 82"/>
          <p:cNvSpPr>
            <a:spLocks noChangeShapeType="1"/>
          </p:cNvSpPr>
          <p:nvPr/>
        </p:nvSpPr>
        <p:spPr bwMode="auto">
          <a:xfrm>
            <a:off x="5257800" y="5181600"/>
            <a:ext cx="259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graphicFrame>
        <p:nvGraphicFramePr>
          <p:cNvPr id="39940" name="Object 4"/>
          <p:cNvGraphicFramePr>
            <a:graphicFrameLocks noChangeAspect="1"/>
          </p:cNvGraphicFramePr>
          <p:nvPr/>
        </p:nvGraphicFramePr>
        <p:xfrm>
          <a:off x="76200" y="2057400"/>
          <a:ext cx="7143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317160" imgH="203040" progId="Equation.3">
                  <p:embed/>
                </p:oleObj>
              </mc:Choice>
              <mc:Fallback>
                <p:oleObj name="Equation" r:id="rId19" imgW="317160" imgH="2030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2057400"/>
                        <a:ext cx="71437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1" name="Object 5"/>
          <p:cNvGraphicFramePr>
            <a:graphicFrameLocks noChangeAspect="1"/>
          </p:cNvGraphicFramePr>
          <p:nvPr/>
        </p:nvGraphicFramePr>
        <p:xfrm>
          <a:off x="6418263" y="2590800"/>
          <a:ext cx="211137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52280" imgH="164880" progId="Equation.3">
                  <p:embed/>
                </p:oleObj>
              </mc:Choice>
              <mc:Fallback>
                <p:oleObj name="Equation" r:id="rId21" imgW="152280" imgH="16488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8263" y="2590800"/>
                        <a:ext cx="211137" cy="228600"/>
                      </a:xfrm>
                      <a:prstGeom prst="rect">
                        <a:avLst/>
                      </a:prstGeom>
                      <a:solidFill>
                        <a:srgbClr val="00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2" name="Object 6"/>
          <p:cNvGraphicFramePr>
            <a:graphicFrameLocks noChangeAspect="1"/>
          </p:cNvGraphicFramePr>
          <p:nvPr/>
        </p:nvGraphicFramePr>
        <p:xfrm>
          <a:off x="7772400" y="2590800"/>
          <a:ext cx="211138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52280" imgH="164880" progId="Equation.3">
                  <p:embed/>
                </p:oleObj>
              </mc:Choice>
              <mc:Fallback>
                <p:oleObj name="Equation" r:id="rId23" imgW="152280" imgH="16488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2590800"/>
                        <a:ext cx="211138" cy="228600"/>
                      </a:xfrm>
                      <a:prstGeom prst="rect">
                        <a:avLst/>
                      </a:prstGeom>
                      <a:solidFill>
                        <a:schemeClr val="hlink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87"/>
          <p:cNvGrpSpPr>
            <a:grpSpLocks/>
          </p:cNvGrpSpPr>
          <p:nvPr/>
        </p:nvGrpSpPr>
        <p:grpSpPr bwMode="auto">
          <a:xfrm>
            <a:off x="4038600" y="3490913"/>
            <a:ext cx="609600" cy="514350"/>
            <a:chOff x="2922" y="2199"/>
            <a:chExt cx="384" cy="324"/>
          </a:xfrm>
        </p:grpSpPr>
        <p:sp>
          <p:nvSpPr>
            <p:cNvPr id="11352" name="Rectangle 88"/>
            <p:cNvSpPr>
              <a:spLocks noChangeArrowheads="1"/>
            </p:cNvSpPr>
            <p:nvPr/>
          </p:nvSpPr>
          <p:spPr bwMode="auto">
            <a:xfrm>
              <a:off x="2922" y="2208"/>
              <a:ext cx="384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39949" name="Object 13"/>
            <p:cNvGraphicFramePr>
              <a:graphicFrameLocks noChangeAspect="1"/>
            </p:cNvGraphicFramePr>
            <p:nvPr/>
          </p:nvGraphicFramePr>
          <p:xfrm>
            <a:off x="2979" y="2199"/>
            <a:ext cx="306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215640" imgH="228600" progId="Equation.3">
                    <p:embed/>
                  </p:oleObj>
                </mc:Choice>
                <mc:Fallback>
                  <p:oleObj name="Equation" r:id="rId25" imgW="215640" imgH="228600" progId="Equation.3">
                    <p:embed/>
                    <p:pic>
                      <p:nvPicPr>
                        <p:cNvPr id="0" name="Picture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9" y="2199"/>
                          <a:ext cx="306" cy="32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91"/>
          <p:cNvGrpSpPr>
            <a:grpSpLocks/>
          </p:cNvGrpSpPr>
          <p:nvPr/>
        </p:nvGrpSpPr>
        <p:grpSpPr bwMode="auto">
          <a:xfrm>
            <a:off x="6553200" y="2819400"/>
            <a:ext cx="1295400" cy="1600200"/>
            <a:chOff x="3312" y="1776"/>
            <a:chExt cx="816" cy="1008"/>
          </a:xfrm>
        </p:grpSpPr>
        <p:sp>
          <p:nvSpPr>
            <p:cNvPr id="11297" name="Line 33"/>
            <p:cNvSpPr>
              <a:spLocks noChangeShapeType="1"/>
            </p:cNvSpPr>
            <p:nvPr/>
          </p:nvSpPr>
          <p:spPr bwMode="auto">
            <a:xfrm>
              <a:off x="4128" y="1776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1345" name="Line 81"/>
            <p:cNvSpPr>
              <a:spLocks noChangeShapeType="1"/>
            </p:cNvSpPr>
            <p:nvPr/>
          </p:nvSpPr>
          <p:spPr bwMode="auto">
            <a:xfrm>
              <a:off x="3312" y="2784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1354" name="Line 90"/>
            <p:cNvSpPr>
              <a:spLocks noChangeShapeType="1"/>
            </p:cNvSpPr>
            <p:nvPr/>
          </p:nvSpPr>
          <p:spPr bwMode="auto">
            <a:xfrm>
              <a:off x="3312" y="2352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1356" name="Line 92"/>
          <p:cNvSpPr>
            <a:spLocks noChangeShapeType="1"/>
          </p:cNvSpPr>
          <p:nvPr/>
        </p:nvSpPr>
        <p:spPr bwMode="auto">
          <a:xfrm>
            <a:off x="4648200" y="44196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grpSp>
        <p:nvGrpSpPr>
          <p:cNvPr id="12" name="Group 111"/>
          <p:cNvGrpSpPr>
            <a:grpSpLocks/>
          </p:cNvGrpSpPr>
          <p:nvPr/>
        </p:nvGrpSpPr>
        <p:grpSpPr bwMode="auto">
          <a:xfrm>
            <a:off x="5257800" y="3276600"/>
            <a:ext cx="838200" cy="838200"/>
            <a:chOff x="3744" y="2064"/>
            <a:chExt cx="528" cy="528"/>
          </a:xfrm>
        </p:grpSpPr>
        <p:sp>
          <p:nvSpPr>
            <p:cNvPr id="11358" name="Rectangle 94"/>
            <p:cNvSpPr>
              <a:spLocks noChangeArrowheads="1"/>
            </p:cNvSpPr>
            <p:nvPr/>
          </p:nvSpPr>
          <p:spPr bwMode="auto">
            <a:xfrm>
              <a:off x="3744" y="2112"/>
              <a:ext cx="528" cy="432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39948" name="Object 12"/>
            <p:cNvGraphicFramePr>
              <a:graphicFrameLocks noChangeAspect="1"/>
            </p:cNvGraphicFramePr>
            <p:nvPr/>
          </p:nvGraphicFramePr>
          <p:xfrm>
            <a:off x="3841" y="2064"/>
            <a:ext cx="421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241200" imgH="431640" progId="Equation.3">
                    <p:embed/>
                  </p:oleObj>
                </mc:Choice>
                <mc:Fallback>
                  <p:oleObj name="Equation" r:id="rId27" imgW="241200" imgH="431640" progId="Equation.3">
                    <p:embed/>
                    <p:pic>
                      <p:nvPicPr>
                        <p:cNvPr id="0" name="Picture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1" y="2064"/>
                          <a:ext cx="421" cy="5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Group 112"/>
          <p:cNvGrpSpPr>
            <a:grpSpLocks/>
          </p:cNvGrpSpPr>
          <p:nvPr/>
        </p:nvGrpSpPr>
        <p:grpSpPr bwMode="auto">
          <a:xfrm>
            <a:off x="5257800" y="4038600"/>
            <a:ext cx="838200" cy="838200"/>
            <a:chOff x="3744" y="2544"/>
            <a:chExt cx="528" cy="528"/>
          </a:xfrm>
        </p:grpSpPr>
        <p:sp>
          <p:nvSpPr>
            <p:cNvPr id="11366" name="Rectangle 102"/>
            <p:cNvSpPr>
              <a:spLocks noChangeArrowheads="1"/>
            </p:cNvSpPr>
            <p:nvPr/>
          </p:nvSpPr>
          <p:spPr bwMode="auto">
            <a:xfrm>
              <a:off x="3744" y="2592"/>
              <a:ext cx="528" cy="432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39947" name="Object 11"/>
            <p:cNvGraphicFramePr>
              <a:graphicFrameLocks noChangeAspect="1"/>
            </p:cNvGraphicFramePr>
            <p:nvPr/>
          </p:nvGraphicFramePr>
          <p:xfrm>
            <a:off x="3841" y="2544"/>
            <a:ext cx="421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241200" imgH="431640" progId="Equation.3">
                    <p:embed/>
                  </p:oleObj>
                </mc:Choice>
                <mc:Fallback>
                  <p:oleObj name="Equation" r:id="rId27" imgW="241200" imgH="431640" progId="Equation.3">
                    <p:embed/>
                    <p:pic>
                      <p:nvPicPr>
                        <p:cNvPr id="0" name="Picture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1" y="2544"/>
                          <a:ext cx="421" cy="5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Group 109"/>
          <p:cNvGrpSpPr>
            <a:grpSpLocks/>
          </p:cNvGrpSpPr>
          <p:nvPr/>
        </p:nvGrpSpPr>
        <p:grpSpPr bwMode="auto">
          <a:xfrm>
            <a:off x="4419600" y="1228725"/>
            <a:ext cx="3657600" cy="2047875"/>
            <a:chOff x="2784" y="774"/>
            <a:chExt cx="2304" cy="1290"/>
          </a:xfrm>
        </p:grpSpPr>
        <p:sp>
          <p:nvSpPr>
            <p:cNvPr id="11368" name="Oval 104"/>
            <p:cNvSpPr>
              <a:spLocks noChangeArrowheads="1"/>
            </p:cNvSpPr>
            <p:nvPr/>
          </p:nvSpPr>
          <p:spPr bwMode="auto">
            <a:xfrm>
              <a:off x="2784" y="1008"/>
              <a:ext cx="2304" cy="1056"/>
            </a:xfrm>
            <a:prstGeom prst="ellipse">
              <a:avLst/>
            </a:prstGeom>
            <a:noFill/>
            <a:ln w="9525">
              <a:solidFill>
                <a:srgbClr val="FF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39946" name="Object 10"/>
            <p:cNvGraphicFramePr>
              <a:graphicFrameLocks noChangeAspect="1"/>
            </p:cNvGraphicFramePr>
            <p:nvPr/>
          </p:nvGraphicFramePr>
          <p:xfrm>
            <a:off x="4620" y="774"/>
            <a:ext cx="180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126720" imgH="164880" progId="Equation.3">
                    <p:embed/>
                  </p:oleObj>
                </mc:Choice>
                <mc:Fallback>
                  <p:oleObj name="Equation" r:id="rId29" imgW="126720" imgH="164880" progId="Equation.3">
                    <p:embed/>
                    <p:pic>
                      <p:nvPicPr>
                        <p:cNvPr id="0" name="Picture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20" y="774"/>
                          <a:ext cx="180" cy="234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00FF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Group 124"/>
          <p:cNvGrpSpPr>
            <a:grpSpLocks/>
          </p:cNvGrpSpPr>
          <p:nvPr/>
        </p:nvGrpSpPr>
        <p:grpSpPr bwMode="auto">
          <a:xfrm>
            <a:off x="331788" y="981075"/>
            <a:ext cx="5853112" cy="503238"/>
            <a:chOff x="209" y="618"/>
            <a:chExt cx="3687" cy="317"/>
          </a:xfrm>
        </p:grpSpPr>
        <p:sp>
          <p:nvSpPr>
            <p:cNvPr id="11273" name="Text Box 9"/>
            <p:cNvSpPr txBox="1">
              <a:spLocks noChangeArrowheads="1"/>
            </p:cNvSpPr>
            <p:nvPr/>
          </p:nvSpPr>
          <p:spPr bwMode="auto">
            <a:xfrm>
              <a:off x="209" y="623"/>
              <a:ext cx="334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rgbClr val="333399"/>
                  </a:solidFill>
                  <a:latin typeface="Arial" pitchFamily="34" charset="0"/>
                  <a:ea typeface="宋体" pitchFamily="2" charset="-122"/>
                </a:rPr>
                <a:t>1. </a:t>
              </a:r>
              <a:r>
                <a:rPr lang="en-US" altLang="zh-CN">
                  <a:solidFill>
                    <a:srgbClr val="333399"/>
                  </a:solidFill>
                  <a:latin typeface="Arial" pitchFamily="34" charset="0"/>
                  <a:ea typeface="宋体" pitchFamily="2" charset="-122"/>
                </a:rPr>
                <a:t>Moving pickoff point A behind block</a:t>
              </a:r>
            </a:p>
          </p:txBody>
        </p:sp>
        <p:graphicFrame>
          <p:nvGraphicFramePr>
            <p:cNvPr id="39945" name="Object 9"/>
            <p:cNvGraphicFramePr>
              <a:graphicFrameLocks noChangeAspect="1"/>
            </p:cNvGraphicFramePr>
            <p:nvPr/>
          </p:nvGraphicFramePr>
          <p:xfrm>
            <a:off x="3560" y="618"/>
            <a:ext cx="336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1" imgW="203040" imgH="215640" progId="Equation.3">
                    <p:embed/>
                  </p:oleObj>
                </mc:Choice>
                <mc:Fallback>
                  <p:oleObj name="Equation" r:id="rId31" imgW="203040" imgH="215640" progId="Equation.3">
                    <p:embed/>
                    <p:pic>
                      <p:nvPicPr>
                        <p:cNvPr id="0" name="Picture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0" y="618"/>
                          <a:ext cx="336" cy="317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377" name="Line 113"/>
          <p:cNvSpPr>
            <a:spLocks noChangeShapeType="1"/>
          </p:cNvSpPr>
          <p:nvPr/>
        </p:nvSpPr>
        <p:spPr bwMode="auto">
          <a:xfrm>
            <a:off x="6553200" y="28194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grpSp>
        <p:nvGrpSpPr>
          <p:cNvPr id="16" name="Group 116"/>
          <p:cNvGrpSpPr>
            <a:grpSpLocks/>
          </p:cNvGrpSpPr>
          <p:nvPr/>
        </p:nvGrpSpPr>
        <p:grpSpPr bwMode="auto">
          <a:xfrm>
            <a:off x="6477000" y="3352800"/>
            <a:ext cx="228600" cy="228600"/>
            <a:chOff x="4080" y="2112"/>
            <a:chExt cx="144" cy="144"/>
          </a:xfrm>
        </p:grpSpPr>
        <p:sp>
          <p:nvSpPr>
            <p:cNvPr id="11378" name="Line 114"/>
            <p:cNvSpPr>
              <a:spLocks noChangeShapeType="1"/>
            </p:cNvSpPr>
            <p:nvPr/>
          </p:nvSpPr>
          <p:spPr bwMode="auto">
            <a:xfrm>
              <a:off x="4080" y="2112"/>
              <a:ext cx="144" cy="96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1379" name="Line 115"/>
            <p:cNvSpPr>
              <a:spLocks noChangeShapeType="1"/>
            </p:cNvSpPr>
            <p:nvPr/>
          </p:nvSpPr>
          <p:spPr bwMode="auto">
            <a:xfrm flipV="1">
              <a:off x="4080" y="2112"/>
              <a:ext cx="96" cy="144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7" name="Group 120"/>
          <p:cNvGrpSpPr>
            <a:grpSpLocks/>
          </p:cNvGrpSpPr>
          <p:nvPr/>
        </p:nvGrpSpPr>
        <p:grpSpPr bwMode="auto">
          <a:xfrm>
            <a:off x="4038600" y="3276600"/>
            <a:ext cx="2057400" cy="838200"/>
            <a:chOff x="2544" y="2064"/>
            <a:chExt cx="1296" cy="528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1382" name="Rectangle 118"/>
            <p:cNvSpPr>
              <a:spLocks noChangeArrowheads="1"/>
            </p:cNvSpPr>
            <p:nvPr/>
          </p:nvSpPr>
          <p:spPr bwMode="auto">
            <a:xfrm>
              <a:off x="2544" y="2064"/>
              <a:ext cx="1296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39944" name="Object 8"/>
            <p:cNvGraphicFramePr>
              <a:graphicFrameLocks noChangeAspect="1"/>
            </p:cNvGraphicFramePr>
            <p:nvPr/>
          </p:nvGraphicFramePr>
          <p:xfrm>
            <a:off x="3024" y="2064"/>
            <a:ext cx="384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3" imgW="253800" imgH="431640" progId="Equation.3">
                    <p:embed/>
                  </p:oleObj>
                </mc:Choice>
                <mc:Fallback>
                  <p:oleObj name="Equation" r:id="rId33" imgW="253800" imgH="431640" progId="Equation.3">
                    <p:embed/>
                    <p:pic>
                      <p:nvPicPr>
                        <p:cNvPr id="0" name="Picture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4" y="2064"/>
                          <a:ext cx="384" cy="5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Group 123"/>
          <p:cNvGrpSpPr>
            <a:grpSpLocks/>
          </p:cNvGrpSpPr>
          <p:nvPr/>
        </p:nvGrpSpPr>
        <p:grpSpPr bwMode="auto">
          <a:xfrm>
            <a:off x="4038600" y="4114800"/>
            <a:ext cx="2057400" cy="838200"/>
            <a:chOff x="2592" y="2832"/>
            <a:chExt cx="1296" cy="528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1385" name="Rectangle 121"/>
            <p:cNvSpPr>
              <a:spLocks noChangeArrowheads="1"/>
            </p:cNvSpPr>
            <p:nvPr/>
          </p:nvSpPr>
          <p:spPr bwMode="auto">
            <a:xfrm>
              <a:off x="2592" y="2832"/>
              <a:ext cx="1296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39943" name="Object 7"/>
            <p:cNvGraphicFramePr>
              <a:graphicFrameLocks noChangeAspect="1"/>
            </p:cNvGraphicFramePr>
            <p:nvPr/>
          </p:nvGraphicFramePr>
          <p:xfrm>
            <a:off x="3120" y="2832"/>
            <a:ext cx="384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5" imgW="266400" imgH="431640" progId="Equation.3">
                    <p:embed/>
                  </p:oleObj>
                </mc:Choice>
                <mc:Fallback>
                  <p:oleObj name="Equation" r:id="rId35" imgW="266400" imgH="431640" progId="Equation.3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0" y="2832"/>
                          <a:ext cx="384" cy="5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33</a:t>
            </a:fld>
            <a:endParaRPr lang="en-GB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2" name="Text Box 24"/>
          <p:cNvSpPr txBox="1">
            <a:spLocks noChangeArrowheads="1"/>
          </p:cNvSpPr>
          <p:nvPr/>
        </p:nvSpPr>
        <p:spPr bwMode="auto">
          <a:xfrm>
            <a:off x="304800" y="531813"/>
            <a:ext cx="44386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333399"/>
                </a:solidFill>
                <a:latin typeface="Arial" pitchFamily="34" charset="0"/>
                <a:ea typeface="宋体" pitchFamily="2" charset="-122"/>
              </a:rPr>
              <a:t>2. </a:t>
            </a:r>
            <a:r>
              <a:rPr lang="en-US" altLang="zh-CN">
                <a:solidFill>
                  <a:srgbClr val="333399"/>
                </a:solidFill>
                <a:latin typeface="Arial" pitchFamily="34" charset="0"/>
                <a:ea typeface="宋体" pitchFamily="2" charset="-122"/>
              </a:rPr>
              <a:t>Eliminate loop I and Simplify </a:t>
            </a:r>
          </a:p>
        </p:txBody>
      </p:sp>
      <p:grpSp>
        <p:nvGrpSpPr>
          <p:cNvPr id="2" name="Group 140"/>
          <p:cNvGrpSpPr>
            <a:grpSpLocks/>
          </p:cNvGrpSpPr>
          <p:nvPr/>
        </p:nvGrpSpPr>
        <p:grpSpPr bwMode="auto">
          <a:xfrm>
            <a:off x="2895600" y="1066800"/>
            <a:ext cx="5029200" cy="2133600"/>
            <a:chOff x="1824" y="1008"/>
            <a:chExt cx="3168" cy="1344"/>
          </a:xfrm>
        </p:grpSpPr>
        <p:graphicFrame>
          <p:nvGraphicFramePr>
            <p:cNvPr id="40973" name="Object 13"/>
            <p:cNvGraphicFramePr>
              <a:graphicFrameLocks noChangeAspect="1"/>
            </p:cNvGraphicFramePr>
            <p:nvPr/>
          </p:nvGraphicFramePr>
          <p:xfrm>
            <a:off x="4566" y="1110"/>
            <a:ext cx="234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64880" imgH="164880" progId="Equation.3">
                    <p:embed/>
                  </p:oleObj>
                </mc:Choice>
                <mc:Fallback>
                  <p:oleObj name="Equation" r:id="rId2" imgW="164880" imgH="164880" progId="Equation.3">
                    <p:embed/>
                    <p:pic>
                      <p:nvPicPr>
                        <p:cNvPr id="0" name="Picture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6" y="1110"/>
                          <a:ext cx="234" cy="234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00FF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405" name="Rectangle 117"/>
            <p:cNvSpPr>
              <a:spLocks noChangeArrowheads="1"/>
            </p:cNvSpPr>
            <p:nvPr/>
          </p:nvSpPr>
          <p:spPr bwMode="auto">
            <a:xfrm>
              <a:off x="1824" y="1008"/>
              <a:ext cx="3168" cy="1344"/>
            </a:xfrm>
            <a:prstGeom prst="rect">
              <a:avLst/>
            </a:prstGeom>
            <a:noFill/>
            <a:ln w="9525">
              <a:solidFill>
                <a:srgbClr val="FF00FF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3" name="Group 141"/>
          <p:cNvGrpSpPr>
            <a:grpSpLocks/>
          </p:cNvGrpSpPr>
          <p:nvPr/>
        </p:nvGrpSpPr>
        <p:grpSpPr bwMode="auto">
          <a:xfrm>
            <a:off x="2286000" y="3352800"/>
            <a:ext cx="6524625" cy="1524000"/>
            <a:chOff x="1440" y="2400"/>
            <a:chExt cx="4110" cy="960"/>
          </a:xfrm>
        </p:grpSpPr>
        <p:graphicFrame>
          <p:nvGraphicFramePr>
            <p:cNvPr id="40972" name="Object 12"/>
            <p:cNvGraphicFramePr>
              <a:graphicFrameLocks noChangeAspect="1"/>
            </p:cNvGraphicFramePr>
            <p:nvPr/>
          </p:nvGraphicFramePr>
          <p:xfrm>
            <a:off x="5244" y="2592"/>
            <a:ext cx="306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15640" imgH="164880" progId="Equation.3">
                    <p:embed/>
                  </p:oleObj>
                </mc:Choice>
                <mc:Fallback>
                  <p:oleObj name="Equation" r:id="rId4" imgW="215640" imgH="164880" progId="Equation.3">
                    <p:embed/>
                    <p:pic>
                      <p:nvPicPr>
                        <p:cNvPr id="0" name="Picture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44" y="2592"/>
                          <a:ext cx="306" cy="234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chemeClr val="accent2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406" name="Rectangle 118"/>
            <p:cNvSpPr>
              <a:spLocks noChangeArrowheads="1"/>
            </p:cNvSpPr>
            <p:nvPr/>
          </p:nvSpPr>
          <p:spPr bwMode="auto">
            <a:xfrm>
              <a:off x="1440" y="2400"/>
              <a:ext cx="3696" cy="960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12432" name="Line 144"/>
          <p:cNvSpPr>
            <a:spLocks noChangeShapeType="1"/>
          </p:cNvSpPr>
          <p:nvPr/>
        </p:nvSpPr>
        <p:spPr bwMode="auto">
          <a:xfrm>
            <a:off x="1209675" y="187325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12433" name="Line 145"/>
          <p:cNvSpPr>
            <a:spLocks noChangeShapeType="1"/>
          </p:cNvSpPr>
          <p:nvPr/>
        </p:nvSpPr>
        <p:spPr bwMode="auto">
          <a:xfrm flipV="1">
            <a:off x="2590800" y="1873250"/>
            <a:ext cx="447675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12434" name="Line 146"/>
          <p:cNvSpPr>
            <a:spLocks noChangeShapeType="1"/>
          </p:cNvSpPr>
          <p:nvPr/>
        </p:nvSpPr>
        <p:spPr bwMode="auto">
          <a:xfrm flipV="1">
            <a:off x="7696200" y="187325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12435" name="Line 147"/>
          <p:cNvSpPr>
            <a:spLocks noChangeShapeType="1"/>
          </p:cNvSpPr>
          <p:nvPr/>
        </p:nvSpPr>
        <p:spPr bwMode="auto">
          <a:xfrm flipV="1">
            <a:off x="3190875" y="2062163"/>
            <a:ext cx="0" cy="719137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GB"/>
          </a:p>
        </p:txBody>
      </p:sp>
      <p:grpSp>
        <p:nvGrpSpPr>
          <p:cNvPr id="4" name="Group 148"/>
          <p:cNvGrpSpPr>
            <a:grpSpLocks/>
          </p:cNvGrpSpPr>
          <p:nvPr/>
        </p:nvGrpSpPr>
        <p:grpSpPr bwMode="auto">
          <a:xfrm>
            <a:off x="685800" y="1568450"/>
            <a:ext cx="152400" cy="152400"/>
            <a:chOff x="1344" y="1660"/>
            <a:chExt cx="96" cy="96"/>
          </a:xfrm>
        </p:grpSpPr>
        <p:sp>
          <p:nvSpPr>
            <p:cNvPr id="12437" name="Line 149"/>
            <p:cNvSpPr>
              <a:spLocks noChangeShapeType="1"/>
            </p:cNvSpPr>
            <p:nvPr/>
          </p:nvSpPr>
          <p:spPr bwMode="auto">
            <a:xfrm>
              <a:off x="1344" y="170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2438" name="Line 150"/>
            <p:cNvSpPr>
              <a:spLocks noChangeShapeType="1"/>
            </p:cNvSpPr>
            <p:nvPr/>
          </p:nvSpPr>
          <p:spPr bwMode="auto">
            <a:xfrm flipV="1">
              <a:off x="1392" y="166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</p:grpSp>
      <p:pic>
        <p:nvPicPr>
          <p:cNvPr id="12439" name="Picture 151" descr="untitled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914400" y="1720850"/>
            <a:ext cx="304800" cy="304800"/>
          </a:xfrm>
          <a:prstGeom prst="rect">
            <a:avLst/>
          </a:prstGeom>
          <a:noFill/>
        </p:spPr>
      </p:pic>
      <p:sp>
        <p:nvSpPr>
          <p:cNvPr id="12440" name="Line 152"/>
          <p:cNvSpPr>
            <a:spLocks noChangeShapeType="1"/>
          </p:cNvSpPr>
          <p:nvPr/>
        </p:nvSpPr>
        <p:spPr bwMode="auto">
          <a:xfrm>
            <a:off x="685800" y="210185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12441" name="Line 153"/>
          <p:cNvSpPr>
            <a:spLocks noChangeShapeType="1"/>
          </p:cNvSpPr>
          <p:nvPr/>
        </p:nvSpPr>
        <p:spPr bwMode="auto">
          <a:xfrm flipH="1">
            <a:off x="3190875" y="4387850"/>
            <a:ext cx="1609725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12442" name="Line 154"/>
          <p:cNvSpPr>
            <a:spLocks noChangeShapeType="1"/>
          </p:cNvSpPr>
          <p:nvPr/>
        </p:nvSpPr>
        <p:spPr bwMode="auto">
          <a:xfrm flipV="1">
            <a:off x="1066800" y="1949450"/>
            <a:ext cx="9525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2443" name="Line 155"/>
          <p:cNvSpPr>
            <a:spLocks noChangeShapeType="1"/>
          </p:cNvSpPr>
          <p:nvPr/>
        </p:nvSpPr>
        <p:spPr bwMode="auto">
          <a:xfrm>
            <a:off x="1066800" y="3473450"/>
            <a:ext cx="3733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pic>
        <p:nvPicPr>
          <p:cNvPr id="12444" name="Picture 156" descr="untitled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038475" y="1720850"/>
            <a:ext cx="304800" cy="304800"/>
          </a:xfrm>
          <a:prstGeom prst="rect">
            <a:avLst/>
          </a:prstGeom>
          <a:noFill/>
        </p:spPr>
      </p:pic>
      <p:sp>
        <p:nvSpPr>
          <p:cNvPr id="12445" name="Line 157"/>
          <p:cNvSpPr>
            <a:spLocks noChangeShapeType="1"/>
          </p:cNvSpPr>
          <p:nvPr/>
        </p:nvSpPr>
        <p:spPr bwMode="auto">
          <a:xfrm>
            <a:off x="3276600" y="1873250"/>
            <a:ext cx="847725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12446" name="Line 158"/>
          <p:cNvSpPr>
            <a:spLocks noChangeShapeType="1"/>
          </p:cNvSpPr>
          <p:nvPr/>
        </p:nvSpPr>
        <p:spPr bwMode="auto">
          <a:xfrm>
            <a:off x="3190875" y="2787650"/>
            <a:ext cx="1609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grpSp>
        <p:nvGrpSpPr>
          <p:cNvPr id="5" name="Group 159"/>
          <p:cNvGrpSpPr>
            <a:grpSpLocks/>
          </p:cNvGrpSpPr>
          <p:nvPr/>
        </p:nvGrpSpPr>
        <p:grpSpPr bwMode="auto">
          <a:xfrm>
            <a:off x="2886075" y="1568450"/>
            <a:ext cx="152400" cy="152400"/>
            <a:chOff x="1344" y="1660"/>
            <a:chExt cx="96" cy="96"/>
          </a:xfrm>
        </p:grpSpPr>
        <p:sp>
          <p:nvSpPr>
            <p:cNvPr id="12448" name="Line 160"/>
            <p:cNvSpPr>
              <a:spLocks noChangeShapeType="1"/>
            </p:cNvSpPr>
            <p:nvPr/>
          </p:nvSpPr>
          <p:spPr bwMode="auto">
            <a:xfrm>
              <a:off x="1344" y="170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2449" name="Line 161"/>
            <p:cNvSpPr>
              <a:spLocks noChangeShapeType="1"/>
            </p:cNvSpPr>
            <p:nvPr/>
          </p:nvSpPr>
          <p:spPr bwMode="auto">
            <a:xfrm flipV="1">
              <a:off x="1392" y="166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</p:grpSp>
      <p:sp>
        <p:nvSpPr>
          <p:cNvPr id="12450" name="Line 162"/>
          <p:cNvSpPr>
            <a:spLocks noChangeShapeType="1"/>
          </p:cNvSpPr>
          <p:nvPr/>
        </p:nvSpPr>
        <p:spPr bwMode="auto">
          <a:xfrm>
            <a:off x="2962275" y="210185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12451" name="Rectangle 163"/>
          <p:cNvSpPr>
            <a:spLocks noChangeArrowheads="1"/>
          </p:cNvSpPr>
          <p:nvPr/>
        </p:nvSpPr>
        <p:spPr bwMode="auto">
          <a:xfrm>
            <a:off x="4105275" y="1339850"/>
            <a:ext cx="2143125" cy="990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graphicFrame>
        <p:nvGraphicFramePr>
          <p:cNvPr id="40960" name="Object 0"/>
          <p:cNvGraphicFramePr>
            <a:graphicFrameLocks noChangeAspect="1"/>
          </p:cNvGraphicFramePr>
          <p:nvPr/>
        </p:nvGraphicFramePr>
        <p:xfrm>
          <a:off x="4348163" y="1401763"/>
          <a:ext cx="1685925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49160" imgH="431640" progId="Equation.3">
                  <p:embed/>
                </p:oleObj>
              </mc:Choice>
              <mc:Fallback>
                <p:oleObj name="Equation" r:id="rId7" imgW="749160" imgH="431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8163" y="1401763"/>
                        <a:ext cx="1685925" cy="971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53" name="Rectangle 165"/>
          <p:cNvSpPr>
            <a:spLocks noChangeArrowheads="1"/>
          </p:cNvSpPr>
          <p:nvPr/>
        </p:nvSpPr>
        <p:spPr bwMode="auto">
          <a:xfrm>
            <a:off x="1895475" y="1644650"/>
            <a:ext cx="6858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graphicFrame>
        <p:nvGraphicFramePr>
          <p:cNvPr id="40961" name="Object 1"/>
          <p:cNvGraphicFramePr>
            <a:graphicFrameLocks noChangeAspect="1"/>
          </p:cNvGraphicFramePr>
          <p:nvPr/>
        </p:nvGraphicFramePr>
        <p:xfrm>
          <a:off x="2047875" y="1644650"/>
          <a:ext cx="40005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77480" imgH="215640" progId="Equation.3">
                  <p:embed/>
                </p:oleObj>
              </mc:Choice>
              <mc:Fallback>
                <p:oleObj name="Equation" r:id="rId9" imgW="177480" imgH="215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7875" y="1644650"/>
                        <a:ext cx="400050" cy="485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2" name="Object 2"/>
          <p:cNvGraphicFramePr>
            <a:graphicFrameLocks noChangeAspect="1"/>
          </p:cNvGraphicFramePr>
          <p:nvPr/>
        </p:nvGraphicFramePr>
        <p:xfrm>
          <a:off x="8277225" y="1263650"/>
          <a:ext cx="7143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17160" imgH="203040" progId="Equation.3">
                  <p:embed/>
                </p:oleObj>
              </mc:Choice>
              <mc:Fallback>
                <p:oleObj name="Equation" r:id="rId11" imgW="317160" imgH="2030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7225" y="1263650"/>
                        <a:ext cx="71437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456" name="Picture 168" descr="untitled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038475" y="3321050"/>
            <a:ext cx="304800" cy="304800"/>
          </a:xfrm>
          <a:prstGeom prst="rect">
            <a:avLst/>
          </a:prstGeom>
          <a:noFill/>
        </p:spPr>
      </p:pic>
      <p:grpSp>
        <p:nvGrpSpPr>
          <p:cNvPr id="6" name="Group 169"/>
          <p:cNvGrpSpPr>
            <a:grpSpLocks/>
          </p:cNvGrpSpPr>
          <p:nvPr/>
        </p:nvGrpSpPr>
        <p:grpSpPr bwMode="auto">
          <a:xfrm>
            <a:off x="3419475" y="3168650"/>
            <a:ext cx="152400" cy="152400"/>
            <a:chOff x="1344" y="1660"/>
            <a:chExt cx="96" cy="96"/>
          </a:xfrm>
        </p:grpSpPr>
        <p:sp>
          <p:nvSpPr>
            <p:cNvPr id="12458" name="Line 170"/>
            <p:cNvSpPr>
              <a:spLocks noChangeShapeType="1"/>
            </p:cNvSpPr>
            <p:nvPr/>
          </p:nvSpPr>
          <p:spPr bwMode="auto">
            <a:xfrm>
              <a:off x="1344" y="170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2459" name="Line 171"/>
            <p:cNvSpPr>
              <a:spLocks noChangeShapeType="1"/>
            </p:cNvSpPr>
            <p:nvPr/>
          </p:nvSpPr>
          <p:spPr bwMode="auto">
            <a:xfrm flipV="1">
              <a:off x="1392" y="166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</p:grpSp>
      <p:sp>
        <p:nvSpPr>
          <p:cNvPr id="12460" name="Line 172"/>
          <p:cNvSpPr>
            <a:spLocks noChangeShapeType="1"/>
          </p:cNvSpPr>
          <p:nvPr/>
        </p:nvSpPr>
        <p:spPr bwMode="auto">
          <a:xfrm>
            <a:off x="2809875" y="370205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12462" name="Line 174"/>
          <p:cNvSpPr>
            <a:spLocks noChangeShapeType="1"/>
          </p:cNvSpPr>
          <p:nvPr/>
        </p:nvSpPr>
        <p:spPr bwMode="auto">
          <a:xfrm flipH="1">
            <a:off x="3343275" y="347345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grpSp>
        <p:nvGrpSpPr>
          <p:cNvPr id="7" name="Group 175"/>
          <p:cNvGrpSpPr>
            <a:grpSpLocks/>
          </p:cNvGrpSpPr>
          <p:nvPr/>
        </p:nvGrpSpPr>
        <p:grpSpPr bwMode="auto">
          <a:xfrm>
            <a:off x="4800600" y="4206875"/>
            <a:ext cx="685800" cy="485775"/>
            <a:chOff x="1974" y="2688"/>
            <a:chExt cx="384" cy="306"/>
          </a:xfrm>
        </p:grpSpPr>
        <p:sp>
          <p:nvSpPr>
            <p:cNvPr id="12464" name="Rectangle 176"/>
            <p:cNvSpPr>
              <a:spLocks noChangeArrowheads="1"/>
            </p:cNvSpPr>
            <p:nvPr/>
          </p:nvSpPr>
          <p:spPr bwMode="auto">
            <a:xfrm>
              <a:off x="1974" y="2688"/>
              <a:ext cx="384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40971" name="Object 11"/>
            <p:cNvGraphicFramePr>
              <a:graphicFrameLocks noChangeAspect="1"/>
            </p:cNvGraphicFramePr>
            <p:nvPr/>
          </p:nvGraphicFramePr>
          <p:xfrm>
            <a:off x="2016" y="2688"/>
            <a:ext cx="288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203040" imgH="215640" progId="Equation.3">
                    <p:embed/>
                  </p:oleObj>
                </mc:Choice>
                <mc:Fallback>
                  <p:oleObj name="Equation" r:id="rId13" imgW="203040" imgH="215640" progId="Equation.3">
                    <p:embed/>
                    <p:pic>
                      <p:nvPicPr>
                        <p:cNvPr id="0" name="Picture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2688"/>
                          <a:ext cx="288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466" name="Line 178"/>
          <p:cNvSpPr>
            <a:spLocks noChangeShapeType="1"/>
          </p:cNvSpPr>
          <p:nvPr/>
        </p:nvSpPr>
        <p:spPr bwMode="auto">
          <a:xfrm>
            <a:off x="8001000" y="1873250"/>
            <a:ext cx="0" cy="2514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2467" name="Line 179"/>
          <p:cNvSpPr>
            <a:spLocks noChangeShapeType="1"/>
          </p:cNvSpPr>
          <p:nvPr/>
        </p:nvSpPr>
        <p:spPr bwMode="auto">
          <a:xfrm>
            <a:off x="4419600" y="278765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2468" name="Line 180"/>
          <p:cNvSpPr>
            <a:spLocks noChangeShapeType="1"/>
          </p:cNvSpPr>
          <p:nvPr/>
        </p:nvSpPr>
        <p:spPr bwMode="auto">
          <a:xfrm>
            <a:off x="5486400" y="438785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graphicFrame>
        <p:nvGraphicFramePr>
          <p:cNvPr id="40963" name="Object 3"/>
          <p:cNvGraphicFramePr>
            <a:graphicFrameLocks noChangeAspect="1"/>
          </p:cNvGraphicFramePr>
          <p:nvPr/>
        </p:nvGraphicFramePr>
        <p:xfrm>
          <a:off x="7924800" y="1644650"/>
          <a:ext cx="211138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52280" imgH="164880" progId="Equation.3">
                  <p:embed/>
                </p:oleObj>
              </mc:Choice>
              <mc:Fallback>
                <p:oleObj name="Equation" r:id="rId15" imgW="152280" imgH="1648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4800" y="1644650"/>
                        <a:ext cx="211138" cy="228600"/>
                      </a:xfrm>
                      <a:prstGeom prst="rect">
                        <a:avLst/>
                      </a:prstGeom>
                      <a:solidFill>
                        <a:schemeClr val="hlink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182"/>
          <p:cNvGrpSpPr>
            <a:grpSpLocks/>
          </p:cNvGrpSpPr>
          <p:nvPr/>
        </p:nvGrpSpPr>
        <p:grpSpPr bwMode="auto">
          <a:xfrm>
            <a:off x="6934200" y="1873250"/>
            <a:ext cx="1066800" cy="1600200"/>
            <a:chOff x="3312" y="1776"/>
            <a:chExt cx="816" cy="1008"/>
          </a:xfrm>
        </p:grpSpPr>
        <p:sp>
          <p:nvSpPr>
            <p:cNvPr id="12471" name="Line 183"/>
            <p:cNvSpPr>
              <a:spLocks noChangeShapeType="1"/>
            </p:cNvSpPr>
            <p:nvPr/>
          </p:nvSpPr>
          <p:spPr bwMode="auto">
            <a:xfrm>
              <a:off x="4128" y="1776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2472" name="Line 184"/>
            <p:cNvSpPr>
              <a:spLocks noChangeShapeType="1"/>
            </p:cNvSpPr>
            <p:nvPr/>
          </p:nvSpPr>
          <p:spPr bwMode="auto">
            <a:xfrm>
              <a:off x="3312" y="2784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2473" name="Line 185"/>
            <p:cNvSpPr>
              <a:spLocks noChangeShapeType="1"/>
            </p:cNvSpPr>
            <p:nvPr/>
          </p:nvSpPr>
          <p:spPr bwMode="auto">
            <a:xfrm>
              <a:off x="3312" y="2352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2474" name="Line 186"/>
          <p:cNvSpPr>
            <a:spLocks noChangeShapeType="1"/>
          </p:cNvSpPr>
          <p:nvPr/>
        </p:nvSpPr>
        <p:spPr bwMode="auto">
          <a:xfrm>
            <a:off x="4267200" y="347345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2475" name="Rectangle 187"/>
          <p:cNvSpPr>
            <a:spLocks noChangeArrowheads="1"/>
          </p:cNvSpPr>
          <p:nvPr/>
        </p:nvSpPr>
        <p:spPr bwMode="auto">
          <a:xfrm>
            <a:off x="4953000" y="3244850"/>
            <a:ext cx="838200" cy="76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graphicFrame>
        <p:nvGraphicFramePr>
          <p:cNvPr id="40964" name="Object 4"/>
          <p:cNvGraphicFramePr>
            <a:graphicFrameLocks noChangeAspect="1"/>
          </p:cNvGraphicFramePr>
          <p:nvPr/>
        </p:nvGraphicFramePr>
        <p:xfrm>
          <a:off x="5105400" y="3244850"/>
          <a:ext cx="609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400" imgH="431640" progId="Equation.3">
                  <p:embed/>
                </p:oleObj>
              </mc:Choice>
              <mc:Fallback>
                <p:oleObj name="Equation" r:id="rId17" imgW="266400" imgH="4316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3244850"/>
                        <a:ext cx="6096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77" name="Line 189"/>
          <p:cNvSpPr>
            <a:spLocks noChangeShapeType="1"/>
          </p:cNvSpPr>
          <p:nvPr/>
        </p:nvSpPr>
        <p:spPr bwMode="auto">
          <a:xfrm>
            <a:off x="228600" y="187325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GB"/>
          </a:p>
        </p:txBody>
      </p:sp>
      <p:graphicFrame>
        <p:nvGraphicFramePr>
          <p:cNvPr id="40965" name="Object 5"/>
          <p:cNvGraphicFramePr>
            <a:graphicFrameLocks noChangeAspect="1"/>
          </p:cNvGraphicFramePr>
          <p:nvPr/>
        </p:nvGraphicFramePr>
        <p:xfrm>
          <a:off x="228600" y="1143000"/>
          <a:ext cx="7143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317160" imgH="203040" progId="Equation.3">
                  <p:embed/>
                </p:oleObj>
              </mc:Choice>
              <mc:Fallback>
                <p:oleObj name="Equation" r:id="rId19" imgW="317160" imgH="2030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143000"/>
                        <a:ext cx="71437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79" name="Rectangle 191"/>
          <p:cNvSpPr>
            <a:spLocks noChangeArrowheads="1"/>
          </p:cNvSpPr>
          <p:nvPr/>
        </p:nvSpPr>
        <p:spPr bwMode="auto">
          <a:xfrm>
            <a:off x="5105400" y="2406650"/>
            <a:ext cx="914400" cy="76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graphicFrame>
        <p:nvGraphicFramePr>
          <p:cNvPr id="40966" name="Object 6"/>
          <p:cNvGraphicFramePr>
            <a:graphicFrameLocks noChangeAspect="1"/>
          </p:cNvGraphicFramePr>
          <p:nvPr/>
        </p:nvGraphicFramePr>
        <p:xfrm>
          <a:off x="5257800" y="2406650"/>
          <a:ext cx="609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53800" imgH="431640" progId="Equation.3">
                  <p:embed/>
                </p:oleObj>
              </mc:Choice>
              <mc:Fallback>
                <p:oleObj name="Equation" r:id="rId21" imgW="253800" imgH="43164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2406650"/>
                        <a:ext cx="6096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81" name="Line 193"/>
          <p:cNvSpPr>
            <a:spLocks noChangeShapeType="1"/>
          </p:cNvSpPr>
          <p:nvPr/>
        </p:nvSpPr>
        <p:spPr bwMode="auto">
          <a:xfrm>
            <a:off x="6248400" y="187325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2482" name="Line 194"/>
          <p:cNvSpPr>
            <a:spLocks noChangeShapeType="1"/>
          </p:cNvSpPr>
          <p:nvPr/>
        </p:nvSpPr>
        <p:spPr bwMode="auto">
          <a:xfrm>
            <a:off x="6019800" y="278765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2483" name="Line 195"/>
          <p:cNvSpPr>
            <a:spLocks noChangeShapeType="1"/>
          </p:cNvSpPr>
          <p:nvPr/>
        </p:nvSpPr>
        <p:spPr bwMode="auto">
          <a:xfrm>
            <a:off x="5791200" y="347345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2486" name="Line 198"/>
          <p:cNvSpPr>
            <a:spLocks noChangeShapeType="1"/>
          </p:cNvSpPr>
          <p:nvPr/>
        </p:nvSpPr>
        <p:spPr bwMode="auto">
          <a:xfrm flipV="1">
            <a:off x="3200400" y="362585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graphicFrame>
        <p:nvGraphicFramePr>
          <p:cNvPr id="40967" name="Object 7"/>
          <p:cNvGraphicFramePr>
            <a:graphicFrameLocks noChangeAspect="1"/>
          </p:cNvGraphicFramePr>
          <p:nvPr/>
        </p:nvGraphicFramePr>
        <p:xfrm>
          <a:off x="1112838" y="5154613"/>
          <a:ext cx="36512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64880" imgH="164880" progId="">
                  <p:embed/>
                </p:oleObj>
              </mc:Choice>
              <mc:Fallback>
                <p:oleObj name="Equation" r:id="rId23" imgW="164880" imgH="164880" progId="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2838" y="5154613"/>
                        <a:ext cx="365125" cy="3651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rgbClr val="FF00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214"/>
          <p:cNvGrpSpPr>
            <a:grpSpLocks/>
          </p:cNvGrpSpPr>
          <p:nvPr/>
        </p:nvGrpSpPr>
        <p:grpSpPr bwMode="auto">
          <a:xfrm>
            <a:off x="1371600" y="5638800"/>
            <a:ext cx="3124200" cy="914400"/>
            <a:chOff x="864" y="3552"/>
            <a:chExt cx="1968" cy="576"/>
          </a:xfrm>
        </p:grpSpPr>
        <p:sp>
          <p:nvSpPr>
            <p:cNvPr id="12492" name="Rectangle 204"/>
            <p:cNvSpPr>
              <a:spLocks noChangeArrowheads="1"/>
            </p:cNvSpPr>
            <p:nvPr/>
          </p:nvSpPr>
          <p:spPr bwMode="auto">
            <a:xfrm>
              <a:off x="864" y="3552"/>
              <a:ext cx="1968" cy="576"/>
            </a:xfrm>
            <a:prstGeom prst="rect">
              <a:avLst/>
            </a:prstGeom>
            <a:noFill/>
            <a:ln w="9525">
              <a:solidFill>
                <a:srgbClr val="FF00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40970" name="Object 10"/>
            <p:cNvGraphicFramePr>
              <a:graphicFrameLocks noChangeAspect="1"/>
            </p:cNvGraphicFramePr>
            <p:nvPr/>
          </p:nvGraphicFramePr>
          <p:xfrm>
            <a:off x="965" y="3610"/>
            <a:ext cx="1819" cy="5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1384200" imgH="431640" progId="Equation.3">
                    <p:embed/>
                  </p:oleObj>
                </mc:Choice>
                <mc:Fallback>
                  <p:oleObj name="Equation" r:id="rId25" imgW="1384200" imgH="431640" progId="Equation.3">
                    <p:embed/>
                    <p:pic>
                      <p:nvPicPr>
                        <p:cNvPr id="0" name="Picture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5" y="3610"/>
                          <a:ext cx="1819" cy="51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0968" name="Object 8"/>
          <p:cNvGraphicFramePr>
            <a:graphicFrameLocks noChangeAspect="1"/>
          </p:cNvGraphicFramePr>
          <p:nvPr/>
        </p:nvGraphicFramePr>
        <p:xfrm>
          <a:off x="5419725" y="5154613"/>
          <a:ext cx="477838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15640" imgH="164880" progId="">
                  <p:embed/>
                </p:oleObj>
              </mc:Choice>
              <mc:Fallback>
                <p:oleObj name="Equation" r:id="rId27" imgW="215640" imgH="164880" progId="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9725" y="5154613"/>
                        <a:ext cx="477838" cy="3651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208"/>
          <p:cNvGrpSpPr>
            <a:grpSpLocks/>
          </p:cNvGrpSpPr>
          <p:nvPr/>
        </p:nvGrpSpPr>
        <p:grpSpPr bwMode="auto">
          <a:xfrm>
            <a:off x="6324600" y="5721350"/>
            <a:ext cx="1676400" cy="831850"/>
            <a:chOff x="2544" y="2016"/>
            <a:chExt cx="1056" cy="524"/>
          </a:xfrm>
        </p:grpSpPr>
        <p:sp>
          <p:nvSpPr>
            <p:cNvPr id="12497" name="Rectangle 209"/>
            <p:cNvSpPr>
              <a:spLocks noChangeArrowheads="1"/>
            </p:cNvSpPr>
            <p:nvPr/>
          </p:nvSpPr>
          <p:spPr bwMode="auto">
            <a:xfrm>
              <a:off x="2544" y="2016"/>
              <a:ext cx="1056" cy="480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40969" name="Object 9"/>
            <p:cNvGraphicFramePr>
              <a:graphicFrameLocks noChangeAspect="1"/>
            </p:cNvGraphicFramePr>
            <p:nvPr/>
          </p:nvGraphicFramePr>
          <p:xfrm>
            <a:off x="2649" y="2074"/>
            <a:ext cx="855" cy="4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723600" imgH="431640" progId="Equation.3">
                    <p:embed/>
                  </p:oleObj>
                </mc:Choice>
                <mc:Fallback>
                  <p:oleObj name="Equation" r:id="rId29" imgW="723600" imgH="431640" progId="Equation.3">
                    <p:embed/>
                    <p:pic>
                      <p:nvPicPr>
                        <p:cNvPr id="0" name="Picture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9" y="2074"/>
                          <a:ext cx="855" cy="4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500" name="AutoShape 212"/>
          <p:cNvSpPr>
            <a:spLocks noChangeArrowheads="1"/>
          </p:cNvSpPr>
          <p:nvPr/>
        </p:nvSpPr>
        <p:spPr bwMode="auto">
          <a:xfrm>
            <a:off x="1981200" y="5181600"/>
            <a:ext cx="457200" cy="533400"/>
          </a:xfrm>
          <a:custGeom>
            <a:avLst/>
            <a:gdLst>
              <a:gd name="G0" fmla="+- 0 0 0"/>
              <a:gd name="G1" fmla="+- -11796480 0 0"/>
              <a:gd name="G2" fmla="+- 0 0 -11796480"/>
              <a:gd name="G3" fmla="+- 10800 0 0"/>
              <a:gd name="G4" fmla="+- 0 0 0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5400 0 0"/>
              <a:gd name="G9" fmla="+- 0 0 -11796480"/>
              <a:gd name="G10" fmla="+- 5400 0 2700"/>
              <a:gd name="G11" fmla="cos G10 0"/>
              <a:gd name="G12" fmla="sin G10 0"/>
              <a:gd name="G13" fmla="cos 13500 0"/>
              <a:gd name="G14" fmla="sin 13500 0"/>
              <a:gd name="G15" fmla="+- G11 10800 0"/>
              <a:gd name="G16" fmla="+- G12 10800 0"/>
              <a:gd name="G17" fmla="+- G13 10800 0"/>
              <a:gd name="G18" fmla="+- G14 10800 0"/>
              <a:gd name="G19" fmla="*/ 5400 1 2"/>
              <a:gd name="G20" fmla="+- G19 5400 0"/>
              <a:gd name="G21" fmla="cos G20 0"/>
              <a:gd name="G22" fmla="sin G20 0"/>
              <a:gd name="G23" fmla="+- G21 10800 0"/>
              <a:gd name="G24" fmla="+- G12 G23 G22"/>
              <a:gd name="G25" fmla="+- G22 G23 G11"/>
              <a:gd name="G26" fmla="cos 10800 0"/>
              <a:gd name="G27" fmla="sin 10800 0"/>
              <a:gd name="G28" fmla="cos 5400 0"/>
              <a:gd name="G29" fmla="sin 5400 0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11796480"/>
              <a:gd name="G36" fmla="sin G34 -11796480"/>
              <a:gd name="G37" fmla="+/ -11796480 0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5400 G39"/>
              <a:gd name="G43" fmla="sin 5400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0799 w 21600"/>
              <a:gd name="T5" fmla="*/ 0 h 21600"/>
              <a:gd name="T6" fmla="*/ 2700 w 21600"/>
              <a:gd name="T7" fmla="*/ 10800 h 21600"/>
              <a:gd name="T8" fmla="*/ 10799 w 21600"/>
              <a:gd name="T9" fmla="*/ 5400 h 21600"/>
              <a:gd name="T10" fmla="*/ 24300 w 21600"/>
              <a:gd name="T11" fmla="*/ 10800 h 21600"/>
              <a:gd name="T12" fmla="*/ 18900 w 21600"/>
              <a:gd name="T13" fmla="*/ 16200 h 21600"/>
              <a:gd name="T14" fmla="*/ 13500 w 21600"/>
              <a:gd name="T15" fmla="*/ 10800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6200" y="10800"/>
                </a:moveTo>
                <a:cubicBezTo>
                  <a:pt x="16200" y="7817"/>
                  <a:pt x="13782" y="5400"/>
                  <a:pt x="10800" y="5400"/>
                </a:cubicBezTo>
                <a:cubicBezTo>
                  <a:pt x="7817" y="5400"/>
                  <a:pt x="5400" y="7817"/>
                  <a:pt x="5400" y="10800"/>
                </a:cubicBezTo>
                <a:lnTo>
                  <a:pt x="0" y="10800"/>
                </a:lnTo>
                <a:cubicBezTo>
                  <a:pt x="0" y="4835"/>
                  <a:pt x="4835" y="0"/>
                  <a:pt x="10800" y="0"/>
                </a:cubicBezTo>
                <a:cubicBezTo>
                  <a:pt x="16764" y="0"/>
                  <a:pt x="21599" y="4835"/>
                  <a:pt x="21600" y="10799"/>
                </a:cubicBezTo>
                <a:lnTo>
                  <a:pt x="21600" y="10800"/>
                </a:lnTo>
                <a:lnTo>
                  <a:pt x="24300" y="10800"/>
                </a:lnTo>
                <a:lnTo>
                  <a:pt x="18900" y="16200"/>
                </a:lnTo>
                <a:lnTo>
                  <a:pt x="13500" y="10800"/>
                </a:lnTo>
                <a:lnTo>
                  <a:pt x="16200" y="10800"/>
                </a:lnTo>
                <a:close/>
              </a:path>
            </a:pathLst>
          </a:custGeom>
          <a:noFill/>
          <a:ln w="9525">
            <a:solidFill>
              <a:srgbClr val="FF00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2501" name="AutoShape 213"/>
          <p:cNvSpPr>
            <a:spLocks noChangeArrowheads="1"/>
          </p:cNvSpPr>
          <p:nvPr/>
        </p:nvSpPr>
        <p:spPr bwMode="auto">
          <a:xfrm>
            <a:off x="6400800" y="5181600"/>
            <a:ext cx="457200" cy="533400"/>
          </a:xfrm>
          <a:custGeom>
            <a:avLst/>
            <a:gdLst>
              <a:gd name="G0" fmla="+- 0 0 0"/>
              <a:gd name="G1" fmla="+- -11796480 0 0"/>
              <a:gd name="G2" fmla="+- 0 0 -11796480"/>
              <a:gd name="G3" fmla="+- 10800 0 0"/>
              <a:gd name="G4" fmla="+- 0 0 0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5400 0 0"/>
              <a:gd name="G9" fmla="+- 0 0 -11796480"/>
              <a:gd name="G10" fmla="+- 5400 0 2700"/>
              <a:gd name="G11" fmla="cos G10 0"/>
              <a:gd name="G12" fmla="sin G10 0"/>
              <a:gd name="G13" fmla="cos 13500 0"/>
              <a:gd name="G14" fmla="sin 13500 0"/>
              <a:gd name="G15" fmla="+- G11 10800 0"/>
              <a:gd name="G16" fmla="+- G12 10800 0"/>
              <a:gd name="G17" fmla="+- G13 10800 0"/>
              <a:gd name="G18" fmla="+- G14 10800 0"/>
              <a:gd name="G19" fmla="*/ 5400 1 2"/>
              <a:gd name="G20" fmla="+- G19 5400 0"/>
              <a:gd name="G21" fmla="cos G20 0"/>
              <a:gd name="G22" fmla="sin G20 0"/>
              <a:gd name="G23" fmla="+- G21 10800 0"/>
              <a:gd name="G24" fmla="+- G12 G23 G22"/>
              <a:gd name="G25" fmla="+- G22 G23 G11"/>
              <a:gd name="G26" fmla="cos 10800 0"/>
              <a:gd name="G27" fmla="sin 10800 0"/>
              <a:gd name="G28" fmla="cos 5400 0"/>
              <a:gd name="G29" fmla="sin 5400 0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11796480"/>
              <a:gd name="G36" fmla="sin G34 -11796480"/>
              <a:gd name="G37" fmla="+/ -11796480 0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5400 G39"/>
              <a:gd name="G43" fmla="sin 5400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0799 w 21600"/>
              <a:gd name="T5" fmla="*/ 0 h 21600"/>
              <a:gd name="T6" fmla="*/ 2700 w 21600"/>
              <a:gd name="T7" fmla="*/ 10800 h 21600"/>
              <a:gd name="T8" fmla="*/ 10799 w 21600"/>
              <a:gd name="T9" fmla="*/ 5400 h 21600"/>
              <a:gd name="T10" fmla="*/ 24300 w 21600"/>
              <a:gd name="T11" fmla="*/ 10800 h 21600"/>
              <a:gd name="T12" fmla="*/ 18900 w 21600"/>
              <a:gd name="T13" fmla="*/ 16200 h 21600"/>
              <a:gd name="T14" fmla="*/ 13500 w 21600"/>
              <a:gd name="T15" fmla="*/ 10800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6200" y="10800"/>
                </a:moveTo>
                <a:cubicBezTo>
                  <a:pt x="16200" y="7817"/>
                  <a:pt x="13782" y="5400"/>
                  <a:pt x="10800" y="5400"/>
                </a:cubicBezTo>
                <a:cubicBezTo>
                  <a:pt x="7817" y="5400"/>
                  <a:pt x="5400" y="7817"/>
                  <a:pt x="5400" y="10800"/>
                </a:cubicBezTo>
                <a:lnTo>
                  <a:pt x="0" y="10800"/>
                </a:lnTo>
                <a:cubicBezTo>
                  <a:pt x="0" y="4835"/>
                  <a:pt x="4835" y="0"/>
                  <a:pt x="10800" y="0"/>
                </a:cubicBezTo>
                <a:cubicBezTo>
                  <a:pt x="16764" y="0"/>
                  <a:pt x="21599" y="4835"/>
                  <a:pt x="21600" y="10799"/>
                </a:cubicBezTo>
                <a:lnTo>
                  <a:pt x="21600" y="10800"/>
                </a:lnTo>
                <a:lnTo>
                  <a:pt x="24300" y="10800"/>
                </a:lnTo>
                <a:lnTo>
                  <a:pt x="18900" y="16200"/>
                </a:lnTo>
                <a:lnTo>
                  <a:pt x="13500" y="10800"/>
                </a:lnTo>
                <a:lnTo>
                  <a:pt x="16200" y="10800"/>
                </a:lnTo>
                <a:close/>
              </a:path>
            </a:pathLst>
          </a:cu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2503" name="Text Box 215"/>
          <p:cNvSpPr txBox="1">
            <a:spLocks noChangeArrowheads="1"/>
          </p:cNvSpPr>
          <p:nvPr/>
        </p:nvSpPr>
        <p:spPr bwMode="auto">
          <a:xfrm>
            <a:off x="6997700" y="5105400"/>
            <a:ext cx="1816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/>
            <a:r>
              <a:rPr lang="en-US" altLang="zh-CN">
                <a:solidFill>
                  <a:schemeClr val="accent2"/>
                </a:solidFill>
                <a:ea typeface="宋体" pitchFamily="2" charset="-122"/>
              </a:rPr>
              <a:t>Not feedback</a:t>
            </a:r>
            <a:endParaRPr lang="en-US" altLang="zh-CN" b="1">
              <a:ea typeface="宋体" pitchFamily="2" charset="-122"/>
            </a:endParaRPr>
          </a:p>
        </p:txBody>
      </p:sp>
      <p:sp>
        <p:nvSpPr>
          <p:cNvPr id="12504" name="Text Box 216"/>
          <p:cNvSpPr txBox="1">
            <a:spLocks noChangeArrowheads="1"/>
          </p:cNvSpPr>
          <p:nvPr/>
        </p:nvSpPr>
        <p:spPr bwMode="auto">
          <a:xfrm>
            <a:off x="2654300" y="5105400"/>
            <a:ext cx="1282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/>
            <a:r>
              <a:rPr lang="en-US" altLang="zh-CN">
                <a:solidFill>
                  <a:srgbClr val="FF00FF"/>
                </a:solidFill>
                <a:ea typeface="宋体" pitchFamily="2" charset="-122"/>
              </a:rPr>
              <a:t>feedback</a:t>
            </a:r>
            <a:endParaRPr lang="en-US" altLang="zh-CN" b="1">
              <a:solidFill>
                <a:srgbClr val="FF00FF"/>
              </a:solidFill>
              <a:ea typeface="宋体" pitchFamily="2" charset="-122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34</a:t>
            </a:fld>
            <a:endParaRPr lang="en-GB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12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0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500"/>
                                        <p:tgtEl>
                                          <p:spTgt spid="12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00" grpId="0" animBg="1"/>
      <p:bldP spid="12501" grpId="0" animBg="1"/>
      <p:bldP spid="12503" grpId="0" autoUpdateAnimBg="0"/>
      <p:bldP spid="12504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609600" y="1600200"/>
            <a:ext cx="7696200" cy="2209800"/>
            <a:chOff x="384" y="1008"/>
            <a:chExt cx="4848" cy="1392"/>
          </a:xfrm>
        </p:grpSpPr>
        <p:sp>
          <p:nvSpPr>
            <p:cNvPr id="13316" name="Line 4"/>
            <p:cNvSpPr>
              <a:spLocks noChangeShapeType="1"/>
            </p:cNvSpPr>
            <p:nvPr/>
          </p:nvSpPr>
          <p:spPr bwMode="auto">
            <a:xfrm>
              <a:off x="768" y="127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3317" name="Line 5"/>
            <p:cNvSpPr>
              <a:spLocks noChangeShapeType="1"/>
            </p:cNvSpPr>
            <p:nvPr/>
          </p:nvSpPr>
          <p:spPr bwMode="auto">
            <a:xfrm>
              <a:off x="1392" y="1296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3318" name="Line 6"/>
            <p:cNvSpPr>
              <a:spLocks noChangeShapeType="1"/>
            </p:cNvSpPr>
            <p:nvPr/>
          </p:nvSpPr>
          <p:spPr bwMode="auto">
            <a:xfrm>
              <a:off x="4656" y="1296"/>
              <a:ext cx="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3" name="Group 7"/>
            <p:cNvGrpSpPr>
              <a:grpSpLocks/>
            </p:cNvGrpSpPr>
            <p:nvPr/>
          </p:nvGrpSpPr>
          <p:grpSpPr bwMode="auto">
            <a:xfrm>
              <a:off x="1056" y="1104"/>
              <a:ext cx="96" cy="96"/>
              <a:chOff x="1344" y="1660"/>
              <a:chExt cx="96" cy="96"/>
            </a:xfrm>
          </p:grpSpPr>
          <p:sp>
            <p:nvSpPr>
              <p:cNvPr id="13320" name="Line 8"/>
              <p:cNvSpPr>
                <a:spLocks noChangeShapeType="1"/>
              </p:cNvSpPr>
              <p:nvPr/>
            </p:nvSpPr>
            <p:spPr bwMode="auto">
              <a:xfrm>
                <a:off x="1344" y="170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3321" name="Line 9"/>
              <p:cNvSpPr>
                <a:spLocks noChangeShapeType="1"/>
              </p:cNvSpPr>
              <p:nvPr/>
            </p:nvSpPr>
            <p:spPr bwMode="auto">
              <a:xfrm flipV="1">
                <a:off x="1392" y="166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</p:grpSp>
        <p:pic>
          <p:nvPicPr>
            <p:cNvPr id="13322" name="Picture 10" descr="untitled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200" y="1200"/>
              <a:ext cx="192" cy="192"/>
            </a:xfrm>
            <a:prstGeom prst="rect">
              <a:avLst/>
            </a:prstGeom>
            <a:noFill/>
          </p:spPr>
        </p:pic>
        <p:sp>
          <p:nvSpPr>
            <p:cNvPr id="13323" name="Line 11"/>
            <p:cNvSpPr>
              <a:spLocks noChangeShapeType="1"/>
            </p:cNvSpPr>
            <p:nvPr/>
          </p:nvSpPr>
          <p:spPr bwMode="auto">
            <a:xfrm>
              <a:off x="1056" y="1440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3324" name="Line 12"/>
            <p:cNvSpPr>
              <a:spLocks noChangeShapeType="1"/>
            </p:cNvSpPr>
            <p:nvPr/>
          </p:nvSpPr>
          <p:spPr bwMode="auto">
            <a:xfrm flipV="1">
              <a:off x="1296" y="1344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graphicFrame>
          <p:nvGraphicFramePr>
            <p:cNvPr id="13325" name="Object 13"/>
            <p:cNvGraphicFramePr>
              <a:graphicFrameLocks noChangeAspect="1"/>
            </p:cNvGraphicFramePr>
            <p:nvPr/>
          </p:nvGraphicFramePr>
          <p:xfrm>
            <a:off x="384" y="1008"/>
            <a:ext cx="45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317160" imgH="203040" progId="Equation.3">
                    <p:embed/>
                  </p:oleObj>
                </mc:Choice>
                <mc:Fallback>
                  <p:oleObj name="Equation" r:id="rId3" imgW="317160" imgH="203040" progId="Equation.3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1008"/>
                          <a:ext cx="450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6" name="Object 14"/>
            <p:cNvGraphicFramePr>
              <a:graphicFrameLocks noChangeAspect="1"/>
            </p:cNvGraphicFramePr>
            <p:nvPr/>
          </p:nvGraphicFramePr>
          <p:xfrm>
            <a:off x="4782" y="1008"/>
            <a:ext cx="45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317160" imgH="203040" progId="Equation.3">
                    <p:embed/>
                  </p:oleObj>
                </mc:Choice>
                <mc:Fallback>
                  <p:oleObj name="Equation" r:id="rId5" imgW="317160" imgH="203040" progId="Equation.3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2" y="1008"/>
                          <a:ext cx="450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7" name="Line 15"/>
            <p:cNvSpPr>
              <a:spLocks noChangeShapeType="1"/>
            </p:cNvSpPr>
            <p:nvPr/>
          </p:nvSpPr>
          <p:spPr bwMode="auto">
            <a:xfrm>
              <a:off x="4176" y="1296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328" name="Rectangle 16"/>
            <p:cNvSpPr>
              <a:spLocks noChangeArrowheads="1"/>
            </p:cNvSpPr>
            <p:nvPr/>
          </p:nvSpPr>
          <p:spPr bwMode="auto">
            <a:xfrm>
              <a:off x="2208" y="1056"/>
              <a:ext cx="1968" cy="5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331" name="Rectangle 19"/>
            <p:cNvSpPr>
              <a:spLocks noChangeArrowheads="1"/>
            </p:cNvSpPr>
            <p:nvPr/>
          </p:nvSpPr>
          <p:spPr bwMode="auto">
            <a:xfrm>
              <a:off x="2544" y="1824"/>
              <a:ext cx="1152" cy="52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13332" name="Object 20"/>
            <p:cNvGraphicFramePr>
              <a:graphicFrameLocks noChangeAspect="1"/>
            </p:cNvGraphicFramePr>
            <p:nvPr/>
          </p:nvGraphicFramePr>
          <p:xfrm>
            <a:off x="2621" y="1882"/>
            <a:ext cx="951" cy="5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723600" imgH="431640" progId="Equation.3">
                    <p:embed/>
                  </p:oleObj>
                </mc:Choice>
                <mc:Fallback>
                  <p:oleObj name="Equation" r:id="rId7" imgW="723600" imgH="431640" progId="Equation.3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1" y="1882"/>
                          <a:ext cx="951" cy="51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3" name="Line 21"/>
            <p:cNvSpPr>
              <a:spLocks noChangeShapeType="1"/>
            </p:cNvSpPr>
            <p:nvPr/>
          </p:nvSpPr>
          <p:spPr bwMode="auto">
            <a:xfrm>
              <a:off x="1296" y="2112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334" name="Line 22"/>
            <p:cNvSpPr>
              <a:spLocks noChangeShapeType="1"/>
            </p:cNvSpPr>
            <p:nvPr/>
          </p:nvSpPr>
          <p:spPr bwMode="auto">
            <a:xfrm>
              <a:off x="3696" y="2112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graphicFrame>
          <p:nvGraphicFramePr>
            <p:cNvPr id="13335" name="Object 23"/>
            <p:cNvGraphicFramePr>
              <a:graphicFrameLocks noChangeAspect="1"/>
            </p:cNvGraphicFramePr>
            <p:nvPr/>
          </p:nvGraphicFramePr>
          <p:xfrm>
            <a:off x="2309" y="1104"/>
            <a:ext cx="1819" cy="5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384200" imgH="431640" progId="Equation.3">
                    <p:embed/>
                  </p:oleObj>
                </mc:Choice>
                <mc:Fallback>
                  <p:oleObj name="Equation" r:id="rId9" imgW="1384200" imgH="431640" progId="Equation.3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9" y="1104"/>
                          <a:ext cx="1819" cy="51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336" name="Text Box 24"/>
          <p:cNvSpPr txBox="1">
            <a:spLocks noChangeArrowheads="1"/>
          </p:cNvSpPr>
          <p:nvPr/>
        </p:nvSpPr>
        <p:spPr bwMode="auto">
          <a:xfrm>
            <a:off x="228600" y="684213"/>
            <a:ext cx="34004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333399"/>
                </a:solidFill>
                <a:latin typeface="Arial" pitchFamily="34" charset="0"/>
                <a:ea typeface="宋体" pitchFamily="2" charset="-122"/>
              </a:rPr>
              <a:t>3. </a:t>
            </a:r>
            <a:r>
              <a:rPr lang="en-US" altLang="zh-CN">
                <a:solidFill>
                  <a:srgbClr val="333399"/>
                </a:solidFill>
                <a:latin typeface="Arial" pitchFamily="34" charset="0"/>
                <a:ea typeface="宋体" pitchFamily="2" charset="-122"/>
              </a:rPr>
              <a:t>Eliminate loop II &amp; IIII</a:t>
            </a:r>
          </a:p>
        </p:txBody>
      </p:sp>
      <p:graphicFrame>
        <p:nvGraphicFramePr>
          <p:cNvPr id="13337" name="Object 25"/>
          <p:cNvGraphicFramePr>
            <a:graphicFrameLocks noChangeAspect="1"/>
          </p:cNvGraphicFramePr>
          <p:nvPr/>
        </p:nvGraphicFramePr>
        <p:xfrm>
          <a:off x="1031875" y="4764088"/>
          <a:ext cx="7077075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162240" imgH="380880" progId="Equation.3">
                  <p:embed/>
                </p:oleObj>
              </mc:Choice>
              <mc:Fallback>
                <p:oleObj name="Equation" r:id="rId11" imgW="3162240" imgH="3808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1875" y="4764088"/>
                        <a:ext cx="7077075" cy="979487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9" name="AutoShape 27"/>
          <p:cNvSpPr>
            <a:spLocks noChangeArrowheads="1"/>
          </p:cNvSpPr>
          <p:nvPr/>
        </p:nvSpPr>
        <p:spPr bwMode="auto">
          <a:xfrm>
            <a:off x="4495800" y="3962400"/>
            <a:ext cx="381000" cy="457200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35</a:t>
            </a:fld>
            <a:endParaRPr lang="en-GB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3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3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1"/>
          <p:cNvGrpSpPr>
            <a:grpSpLocks/>
          </p:cNvGrpSpPr>
          <p:nvPr/>
        </p:nvGrpSpPr>
        <p:grpSpPr bwMode="auto">
          <a:xfrm>
            <a:off x="611188" y="2081213"/>
            <a:ext cx="8153400" cy="3228975"/>
            <a:chOff x="385" y="1311"/>
            <a:chExt cx="5136" cy="2034"/>
          </a:xfrm>
        </p:grpSpPr>
        <p:sp>
          <p:nvSpPr>
            <p:cNvPr id="14339" name="Line 3"/>
            <p:cNvSpPr>
              <a:spLocks noChangeShapeType="1"/>
            </p:cNvSpPr>
            <p:nvPr/>
          </p:nvSpPr>
          <p:spPr bwMode="auto">
            <a:xfrm>
              <a:off x="625" y="2079"/>
              <a:ext cx="576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4342" name="Line 6"/>
            <p:cNvSpPr>
              <a:spLocks noChangeShapeType="1"/>
            </p:cNvSpPr>
            <p:nvPr/>
          </p:nvSpPr>
          <p:spPr bwMode="auto">
            <a:xfrm flipV="1">
              <a:off x="4225" y="2100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4343" name="Line 7"/>
            <p:cNvSpPr>
              <a:spLocks noChangeShapeType="1"/>
            </p:cNvSpPr>
            <p:nvPr/>
          </p:nvSpPr>
          <p:spPr bwMode="auto">
            <a:xfrm flipV="1">
              <a:off x="2545" y="2175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4344" name="Line 8"/>
            <p:cNvSpPr>
              <a:spLocks noChangeShapeType="1"/>
            </p:cNvSpPr>
            <p:nvPr/>
          </p:nvSpPr>
          <p:spPr bwMode="auto">
            <a:xfrm>
              <a:off x="4753" y="2080"/>
              <a:ext cx="0" cy="11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3" name="Group 9"/>
            <p:cNvGrpSpPr>
              <a:grpSpLocks/>
            </p:cNvGrpSpPr>
            <p:nvPr/>
          </p:nvGrpSpPr>
          <p:grpSpPr bwMode="auto">
            <a:xfrm>
              <a:off x="1057" y="1935"/>
              <a:ext cx="96" cy="96"/>
              <a:chOff x="1344" y="1660"/>
              <a:chExt cx="96" cy="96"/>
            </a:xfrm>
          </p:grpSpPr>
          <p:sp>
            <p:nvSpPr>
              <p:cNvPr id="14346" name="Line 10"/>
              <p:cNvSpPr>
                <a:spLocks noChangeShapeType="1"/>
              </p:cNvSpPr>
              <p:nvPr/>
            </p:nvSpPr>
            <p:spPr bwMode="auto">
              <a:xfrm>
                <a:off x="1344" y="170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4347" name="Line 11"/>
              <p:cNvSpPr>
                <a:spLocks noChangeShapeType="1"/>
              </p:cNvSpPr>
              <p:nvPr/>
            </p:nvSpPr>
            <p:spPr bwMode="auto">
              <a:xfrm flipV="1">
                <a:off x="1392" y="166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</p:grpSp>
        <p:pic>
          <p:nvPicPr>
            <p:cNvPr id="14348" name="Picture 12" descr="untitled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201" y="2004"/>
              <a:ext cx="192" cy="192"/>
            </a:xfrm>
            <a:prstGeom prst="rect">
              <a:avLst/>
            </a:prstGeom>
            <a:noFill/>
          </p:spPr>
        </p:pic>
        <p:sp>
          <p:nvSpPr>
            <p:cNvPr id="14349" name="Line 13"/>
            <p:cNvSpPr>
              <a:spLocks noChangeShapeType="1"/>
            </p:cNvSpPr>
            <p:nvPr/>
          </p:nvSpPr>
          <p:spPr bwMode="auto">
            <a:xfrm>
              <a:off x="1153" y="2244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4350" name="Line 14"/>
            <p:cNvSpPr>
              <a:spLocks noChangeShapeType="1"/>
            </p:cNvSpPr>
            <p:nvPr/>
          </p:nvSpPr>
          <p:spPr bwMode="auto">
            <a:xfrm flipH="1">
              <a:off x="1297" y="2703"/>
              <a:ext cx="23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4351" name="Line 15"/>
            <p:cNvSpPr>
              <a:spLocks noChangeShapeType="1"/>
            </p:cNvSpPr>
            <p:nvPr/>
          </p:nvSpPr>
          <p:spPr bwMode="auto">
            <a:xfrm flipV="1">
              <a:off x="1297" y="2148"/>
              <a:ext cx="0" cy="5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pic>
          <p:nvPicPr>
            <p:cNvPr id="14352" name="Picture 16" descr="untitled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449" y="1983"/>
              <a:ext cx="192" cy="192"/>
            </a:xfrm>
            <a:prstGeom prst="rect">
              <a:avLst/>
            </a:prstGeom>
            <a:noFill/>
          </p:spPr>
        </p:pic>
        <p:sp>
          <p:nvSpPr>
            <p:cNvPr id="14353" name="Line 17"/>
            <p:cNvSpPr>
              <a:spLocks noChangeShapeType="1"/>
            </p:cNvSpPr>
            <p:nvPr/>
          </p:nvSpPr>
          <p:spPr bwMode="auto">
            <a:xfrm>
              <a:off x="2641" y="2079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4354" name="Rectangle 18"/>
            <p:cNvSpPr>
              <a:spLocks noChangeArrowheads="1"/>
            </p:cNvSpPr>
            <p:nvPr/>
          </p:nvSpPr>
          <p:spPr bwMode="auto">
            <a:xfrm>
              <a:off x="3793" y="1935"/>
              <a:ext cx="43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55" name="Line 19"/>
            <p:cNvSpPr>
              <a:spLocks noChangeShapeType="1"/>
            </p:cNvSpPr>
            <p:nvPr/>
          </p:nvSpPr>
          <p:spPr bwMode="auto">
            <a:xfrm>
              <a:off x="3121" y="1455"/>
              <a:ext cx="12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grpSp>
          <p:nvGrpSpPr>
            <p:cNvPr id="4" name="Group 20"/>
            <p:cNvGrpSpPr>
              <a:grpSpLocks/>
            </p:cNvGrpSpPr>
            <p:nvPr/>
          </p:nvGrpSpPr>
          <p:grpSpPr bwMode="auto">
            <a:xfrm>
              <a:off x="2305" y="1983"/>
              <a:ext cx="96" cy="96"/>
              <a:chOff x="1344" y="1660"/>
              <a:chExt cx="96" cy="96"/>
            </a:xfrm>
          </p:grpSpPr>
          <p:sp>
            <p:nvSpPr>
              <p:cNvPr id="14357" name="Line 21"/>
              <p:cNvSpPr>
                <a:spLocks noChangeShapeType="1"/>
              </p:cNvSpPr>
              <p:nvPr/>
            </p:nvSpPr>
            <p:spPr bwMode="auto">
              <a:xfrm>
                <a:off x="1344" y="170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4358" name="Line 22"/>
              <p:cNvSpPr>
                <a:spLocks noChangeShapeType="1"/>
              </p:cNvSpPr>
              <p:nvPr/>
            </p:nvSpPr>
            <p:spPr bwMode="auto">
              <a:xfrm flipV="1">
                <a:off x="1392" y="166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14359" name="Line 23"/>
            <p:cNvSpPr>
              <a:spLocks noChangeShapeType="1"/>
            </p:cNvSpPr>
            <p:nvPr/>
          </p:nvSpPr>
          <p:spPr bwMode="auto">
            <a:xfrm>
              <a:off x="2593" y="2223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graphicFrame>
          <p:nvGraphicFramePr>
            <p:cNvPr id="41984" name="Object 2048"/>
            <p:cNvGraphicFramePr>
              <a:graphicFrameLocks noChangeAspect="1"/>
            </p:cNvGraphicFramePr>
            <p:nvPr/>
          </p:nvGraphicFramePr>
          <p:xfrm>
            <a:off x="3898" y="1926"/>
            <a:ext cx="270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90440" imgH="228600" progId="Equation.3">
                    <p:embed/>
                  </p:oleObj>
                </mc:Choice>
                <mc:Fallback>
                  <p:oleObj name="Equation" r:id="rId3" imgW="190440" imgH="228600" progId="Equation.3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98" y="1926"/>
                          <a:ext cx="270" cy="32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61" name="Rectangle 25"/>
            <p:cNvSpPr>
              <a:spLocks noChangeArrowheads="1"/>
            </p:cNvSpPr>
            <p:nvPr/>
          </p:nvSpPr>
          <p:spPr bwMode="auto">
            <a:xfrm>
              <a:off x="1681" y="1956"/>
              <a:ext cx="43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41985" name="Object 2049"/>
            <p:cNvGraphicFramePr>
              <a:graphicFrameLocks noChangeAspect="1"/>
            </p:cNvGraphicFramePr>
            <p:nvPr/>
          </p:nvGraphicFramePr>
          <p:xfrm>
            <a:off x="1765" y="1956"/>
            <a:ext cx="252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77480" imgH="215640" progId="Equation.3">
                    <p:embed/>
                  </p:oleObj>
                </mc:Choice>
                <mc:Fallback>
                  <p:oleObj name="Equation" r:id="rId5" imgW="177480" imgH="215640" progId="Equation.3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5" y="1956"/>
                          <a:ext cx="252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" name="Group 27"/>
            <p:cNvGrpSpPr>
              <a:grpSpLocks/>
            </p:cNvGrpSpPr>
            <p:nvPr/>
          </p:nvGrpSpPr>
          <p:grpSpPr bwMode="auto">
            <a:xfrm>
              <a:off x="2977" y="2580"/>
              <a:ext cx="384" cy="306"/>
              <a:chOff x="2016" y="2448"/>
              <a:chExt cx="384" cy="306"/>
            </a:xfrm>
          </p:grpSpPr>
          <p:sp>
            <p:nvSpPr>
              <p:cNvPr id="14364" name="Rectangle 28"/>
              <p:cNvSpPr>
                <a:spLocks noChangeArrowheads="1"/>
              </p:cNvSpPr>
              <p:nvPr/>
            </p:nvSpPr>
            <p:spPr bwMode="auto">
              <a:xfrm>
                <a:off x="2016" y="2448"/>
                <a:ext cx="384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graphicFrame>
            <p:nvGraphicFramePr>
              <p:cNvPr id="41993" name="Object 2057"/>
              <p:cNvGraphicFramePr>
                <a:graphicFrameLocks noChangeAspect="1"/>
              </p:cNvGraphicFramePr>
              <p:nvPr/>
            </p:nvGraphicFramePr>
            <p:xfrm>
              <a:off x="2082" y="2448"/>
              <a:ext cx="288" cy="3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7" imgW="203040" imgH="215640" progId="Equation.3">
                      <p:embed/>
                    </p:oleObj>
                  </mc:Choice>
                  <mc:Fallback>
                    <p:oleObj name="Equation" r:id="rId7" imgW="203040" imgH="215640" progId="Equation.3">
                      <p:embed/>
                      <p:pic>
                        <p:nvPicPr>
                          <p:cNvPr id="0" name="Picture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82" y="2448"/>
                            <a:ext cx="288" cy="30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6" name="Group 30"/>
            <p:cNvGrpSpPr>
              <a:grpSpLocks/>
            </p:cNvGrpSpPr>
            <p:nvPr/>
          </p:nvGrpSpPr>
          <p:grpSpPr bwMode="auto">
            <a:xfrm>
              <a:off x="3409" y="1311"/>
              <a:ext cx="384" cy="306"/>
              <a:chOff x="4080" y="2016"/>
              <a:chExt cx="384" cy="306"/>
            </a:xfrm>
          </p:grpSpPr>
          <p:sp>
            <p:nvSpPr>
              <p:cNvPr id="14367" name="Rectangle 31"/>
              <p:cNvSpPr>
                <a:spLocks noChangeArrowheads="1"/>
              </p:cNvSpPr>
              <p:nvPr/>
            </p:nvSpPr>
            <p:spPr bwMode="auto">
              <a:xfrm>
                <a:off x="4080" y="2016"/>
                <a:ext cx="384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graphicFrame>
            <p:nvGraphicFramePr>
              <p:cNvPr id="41992" name="Object 2056"/>
              <p:cNvGraphicFramePr>
                <a:graphicFrameLocks noChangeAspect="1"/>
              </p:cNvGraphicFramePr>
              <p:nvPr/>
            </p:nvGraphicFramePr>
            <p:xfrm>
              <a:off x="4128" y="2016"/>
              <a:ext cx="324" cy="3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9" imgW="228600" imgH="215640" progId="Equation.3">
                      <p:embed/>
                    </p:oleObj>
                  </mc:Choice>
                  <mc:Fallback>
                    <p:oleObj name="Equation" r:id="rId9" imgW="228600" imgH="215640" progId="Equation.3">
                      <p:embed/>
                      <p:pic>
                        <p:nvPicPr>
                          <p:cNvPr id="0" name="Picture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28" y="2016"/>
                            <a:ext cx="324" cy="30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41986" name="Object 2050"/>
            <p:cNvGraphicFramePr>
              <a:graphicFrameLocks noChangeAspect="1"/>
            </p:cNvGraphicFramePr>
            <p:nvPr/>
          </p:nvGraphicFramePr>
          <p:xfrm>
            <a:off x="385" y="1812"/>
            <a:ext cx="45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317160" imgH="203040" progId="Equation.3">
                    <p:embed/>
                  </p:oleObj>
                </mc:Choice>
                <mc:Fallback>
                  <p:oleObj name="Equation" r:id="rId11" imgW="317160" imgH="203040" progId="Equation.3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" y="1812"/>
                          <a:ext cx="450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987" name="Object 2051"/>
            <p:cNvGraphicFramePr>
              <a:graphicFrameLocks noChangeAspect="1"/>
            </p:cNvGraphicFramePr>
            <p:nvPr/>
          </p:nvGraphicFramePr>
          <p:xfrm>
            <a:off x="5071" y="1812"/>
            <a:ext cx="45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317160" imgH="203040" progId="Equation.3">
                    <p:embed/>
                  </p:oleObj>
                </mc:Choice>
                <mc:Fallback>
                  <p:oleObj name="Equation" r:id="rId13" imgW="317160" imgH="203040" progId="Equation.3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71" y="1812"/>
                          <a:ext cx="450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85" name="Line 49"/>
            <p:cNvSpPr>
              <a:spLocks noChangeShapeType="1"/>
            </p:cNvSpPr>
            <p:nvPr/>
          </p:nvSpPr>
          <p:spPr bwMode="auto">
            <a:xfrm>
              <a:off x="865" y="2079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4386" name="Line 50"/>
            <p:cNvSpPr>
              <a:spLocks noChangeShapeType="1"/>
            </p:cNvSpPr>
            <p:nvPr/>
          </p:nvSpPr>
          <p:spPr bwMode="auto">
            <a:xfrm>
              <a:off x="865" y="3210"/>
              <a:ext cx="15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4388" name="Rectangle 52"/>
            <p:cNvSpPr>
              <a:spLocks noChangeArrowheads="1"/>
            </p:cNvSpPr>
            <p:nvPr/>
          </p:nvSpPr>
          <p:spPr bwMode="auto">
            <a:xfrm>
              <a:off x="2449" y="3039"/>
              <a:ext cx="384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41988" name="Object 2052"/>
            <p:cNvGraphicFramePr>
              <a:graphicFrameLocks noChangeAspect="1"/>
            </p:cNvGraphicFramePr>
            <p:nvPr/>
          </p:nvGraphicFramePr>
          <p:xfrm>
            <a:off x="2515" y="3039"/>
            <a:ext cx="288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203040" imgH="215640" progId="Equation.3">
                    <p:embed/>
                  </p:oleObj>
                </mc:Choice>
                <mc:Fallback>
                  <p:oleObj name="Equation" r:id="rId15" imgW="203040" imgH="215640" progId="Equation.3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5" y="3039"/>
                          <a:ext cx="288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4390" name="Picture 54" descr="untitled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657" y="1983"/>
              <a:ext cx="192" cy="192"/>
            </a:xfrm>
            <a:prstGeom prst="rect">
              <a:avLst/>
            </a:prstGeom>
            <a:noFill/>
          </p:spPr>
        </p:pic>
        <p:grpSp>
          <p:nvGrpSpPr>
            <p:cNvPr id="7" name="Group 55"/>
            <p:cNvGrpSpPr>
              <a:grpSpLocks/>
            </p:cNvGrpSpPr>
            <p:nvPr/>
          </p:nvGrpSpPr>
          <p:grpSpPr bwMode="auto">
            <a:xfrm>
              <a:off x="4561" y="1935"/>
              <a:ext cx="96" cy="96"/>
              <a:chOff x="1344" y="1660"/>
              <a:chExt cx="96" cy="96"/>
            </a:xfrm>
          </p:grpSpPr>
          <p:sp>
            <p:nvSpPr>
              <p:cNvPr id="14392" name="Line 56"/>
              <p:cNvSpPr>
                <a:spLocks noChangeShapeType="1"/>
              </p:cNvSpPr>
              <p:nvPr/>
            </p:nvSpPr>
            <p:spPr bwMode="auto">
              <a:xfrm>
                <a:off x="1344" y="170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4393" name="Line 57"/>
              <p:cNvSpPr>
                <a:spLocks noChangeShapeType="1"/>
              </p:cNvSpPr>
              <p:nvPr/>
            </p:nvSpPr>
            <p:spPr bwMode="auto">
              <a:xfrm flipV="1">
                <a:off x="1392" y="166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14395" name="Line 59"/>
            <p:cNvSpPr>
              <a:spLocks noChangeShapeType="1"/>
            </p:cNvSpPr>
            <p:nvPr/>
          </p:nvSpPr>
          <p:spPr bwMode="auto">
            <a:xfrm flipV="1">
              <a:off x="4753" y="2175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grpSp>
          <p:nvGrpSpPr>
            <p:cNvPr id="8" name="Group 60"/>
            <p:cNvGrpSpPr>
              <a:grpSpLocks/>
            </p:cNvGrpSpPr>
            <p:nvPr/>
          </p:nvGrpSpPr>
          <p:grpSpPr bwMode="auto">
            <a:xfrm>
              <a:off x="4609" y="2175"/>
              <a:ext cx="96" cy="96"/>
              <a:chOff x="1344" y="1660"/>
              <a:chExt cx="96" cy="96"/>
            </a:xfrm>
          </p:grpSpPr>
          <p:sp>
            <p:nvSpPr>
              <p:cNvPr id="14397" name="Line 61"/>
              <p:cNvSpPr>
                <a:spLocks noChangeShapeType="1"/>
              </p:cNvSpPr>
              <p:nvPr/>
            </p:nvSpPr>
            <p:spPr bwMode="auto">
              <a:xfrm>
                <a:off x="1344" y="170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4398" name="Line 62"/>
              <p:cNvSpPr>
                <a:spLocks noChangeShapeType="1"/>
              </p:cNvSpPr>
              <p:nvPr/>
            </p:nvSpPr>
            <p:spPr bwMode="auto">
              <a:xfrm flipV="1">
                <a:off x="1392" y="166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14399" name="Line 63"/>
            <p:cNvSpPr>
              <a:spLocks noChangeShapeType="1"/>
            </p:cNvSpPr>
            <p:nvPr/>
          </p:nvSpPr>
          <p:spPr bwMode="auto">
            <a:xfrm>
              <a:off x="4417" y="1455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4400" name="Line 64"/>
            <p:cNvSpPr>
              <a:spLocks noChangeShapeType="1"/>
            </p:cNvSpPr>
            <p:nvPr/>
          </p:nvSpPr>
          <p:spPr bwMode="auto">
            <a:xfrm>
              <a:off x="1393" y="2079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4402" name="Line 66"/>
            <p:cNvSpPr>
              <a:spLocks noChangeShapeType="1"/>
            </p:cNvSpPr>
            <p:nvPr/>
          </p:nvSpPr>
          <p:spPr bwMode="auto">
            <a:xfrm>
              <a:off x="2113" y="2079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4403" name="Rectangle 67"/>
            <p:cNvSpPr>
              <a:spLocks noChangeArrowheads="1"/>
            </p:cNvSpPr>
            <p:nvPr/>
          </p:nvSpPr>
          <p:spPr bwMode="auto">
            <a:xfrm>
              <a:off x="3025" y="1944"/>
              <a:ext cx="43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41989" name="Object 2053"/>
            <p:cNvGraphicFramePr>
              <a:graphicFrameLocks noChangeAspect="1"/>
            </p:cNvGraphicFramePr>
            <p:nvPr/>
          </p:nvGraphicFramePr>
          <p:xfrm>
            <a:off x="3121" y="1944"/>
            <a:ext cx="288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203040" imgH="215640" progId="Equation.3">
                    <p:embed/>
                  </p:oleObj>
                </mc:Choice>
                <mc:Fallback>
                  <p:oleObj name="Equation" r:id="rId17" imgW="203040" imgH="215640" progId="Equation.3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1" y="1944"/>
                          <a:ext cx="288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405" name="Line 69"/>
            <p:cNvSpPr>
              <a:spLocks noChangeShapeType="1"/>
            </p:cNvSpPr>
            <p:nvPr/>
          </p:nvSpPr>
          <p:spPr bwMode="auto">
            <a:xfrm>
              <a:off x="2833" y="3183"/>
              <a:ext cx="19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4406" name="Line 70"/>
            <p:cNvSpPr>
              <a:spLocks noChangeShapeType="1"/>
            </p:cNvSpPr>
            <p:nvPr/>
          </p:nvSpPr>
          <p:spPr bwMode="auto">
            <a:xfrm>
              <a:off x="2545" y="1455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4407" name="Line 71"/>
            <p:cNvSpPr>
              <a:spLocks noChangeShapeType="1"/>
            </p:cNvSpPr>
            <p:nvPr/>
          </p:nvSpPr>
          <p:spPr bwMode="auto">
            <a:xfrm>
              <a:off x="2545" y="1455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4409" name="Line 73"/>
            <p:cNvSpPr>
              <a:spLocks noChangeShapeType="1"/>
            </p:cNvSpPr>
            <p:nvPr/>
          </p:nvSpPr>
          <p:spPr bwMode="auto">
            <a:xfrm flipH="1">
              <a:off x="3361" y="2703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4410" name="Line 74"/>
            <p:cNvSpPr>
              <a:spLocks noChangeShapeType="1"/>
            </p:cNvSpPr>
            <p:nvPr/>
          </p:nvSpPr>
          <p:spPr bwMode="auto">
            <a:xfrm>
              <a:off x="3457" y="2079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4411" name="Line 75"/>
            <p:cNvSpPr>
              <a:spLocks noChangeShapeType="1"/>
            </p:cNvSpPr>
            <p:nvPr/>
          </p:nvSpPr>
          <p:spPr bwMode="auto">
            <a:xfrm>
              <a:off x="3601" y="2079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4412" name="Line 76"/>
            <p:cNvSpPr>
              <a:spLocks noChangeShapeType="1"/>
            </p:cNvSpPr>
            <p:nvPr/>
          </p:nvSpPr>
          <p:spPr bwMode="auto">
            <a:xfrm>
              <a:off x="2593" y="1887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graphicFrame>
          <p:nvGraphicFramePr>
            <p:cNvPr id="41990" name="Object 2054"/>
            <p:cNvGraphicFramePr>
              <a:graphicFrameLocks noChangeAspect="1"/>
            </p:cNvGraphicFramePr>
            <p:nvPr/>
          </p:nvGraphicFramePr>
          <p:xfrm>
            <a:off x="3553" y="1935"/>
            <a:ext cx="133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152280" imgH="164880" progId="Equation.3">
                    <p:embed/>
                  </p:oleObj>
                </mc:Choice>
                <mc:Fallback>
                  <p:oleObj name="Equation" r:id="rId19" imgW="152280" imgH="164880" progId="Equation.3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3" y="1935"/>
                          <a:ext cx="133" cy="1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991" name="Object 2055"/>
            <p:cNvGraphicFramePr>
              <a:graphicFrameLocks noChangeAspect="1"/>
            </p:cNvGraphicFramePr>
            <p:nvPr/>
          </p:nvGraphicFramePr>
          <p:xfrm>
            <a:off x="4332" y="2127"/>
            <a:ext cx="133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152280" imgH="164880" progId="Equation.3">
                    <p:embed/>
                  </p:oleObj>
                </mc:Choice>
                <mc:Fallback>
                  <p:oleObj name="Equation" r:id="rId21" imgW="152280" imgH="164880" progId="Equation.3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2" y="2127"/>
                          <a:ext cx="133" cy="1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0" name="Text Box 122"/>
          <p:cNvSpPr txBox="1">
            <a:spLocks noChangeArrowheads="1"/>
          </p:cNvSpPr>
          <p:nvPr/>
        </p:nvSpPr>
        <p:spPr bwMode="auto">
          <a:xfrm>
            <a:off x="539750" y="333375"/>
            <a:ext cx="494823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latin typeface="Arial" pitchFamily="34" charset="0"/>
                <a:ea typeface="宋体" pitchFamily="2" charset="-122"/>
              </a:rPr>
              <a:t>Example 10  (Home Work)</a:t>
            </a:r>
          </a:p>
        </p:txBody>
      </p:sp>
      <p:sp>
        <p:nvSpPr>
          <p:cNvPr id="61" name="Rectangle 123"/>
          <p:cNvSpPr>
            <a:spLocks noChangeArrowheads="1"/>
          </p:cNvSpPr>
          <p:nvPr/>
        </p:nvSpPr>
        <p:spPr bwMode="auto">
          <a:xfrm>
            <a:off x="1403350" y="1125538"/>
            <a:ext cx="63373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>
                <a:solidFill>
                  <a:srgbClr val="333399"/>
                </a:solidFill>
                <a:latin typeface="Arial" pitchFamily="34" charset="0"/>
                <a:ea typeface="宋体" pitchFamily="2" charset="-122"/>
              </a:rPr>
              <a:t>Find the transfer function of the following block diagrams</a:t>
            </a:r>
            <a:endParaRPr lang="zh-CN" altLang="en-US">
              <a:solidFill>
                <a:srgbClr val="333399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36</a:t>
            </a:fld>
            <a:endParaRPr lang="en-GB"/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381000" y="455613"/>
            <a:ext cx="1371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/>
            <a:r>
              <a:rPr lang="en-US" altLang="zh-CN">
                <a:solidFill>
                  <a:srgbClr val="FF3300"/>
                </a:solidFill>
                <a:latin typeface="Arial" pitchFamily="34" charset="0"/>
                <a:ea typeface="宋体" pitchFamily="2" charset="-122"/>
              </a:rPr>
              <a:t>Solution:</a:t>
            </a:r>
          </a:p>
        </p:txBody>
      </p:sp>
      <p:grpSp>
        <p:nvGrpSpPr>
          <p:cNvPr id="2" name="Group 177"/>
          <p:cNvGrpSpPr>
            <a:grpSpLocks/>
          </p:cNvGrpSpPr>
          <p:nvPr/>
        </p:nvGrpSpPr>
        <p:grpSpPr bwMode="auto">
          <a:xfrm>
            <a:off x="331788" y="969963"/>
            <a:ext cx="5303838" cy="476250"/>
            <a:chOff x="209" y="611"/>
            <a:chExt cx="3341" cy="300"/>
          </a:xfrm>
        </p:grpSpPr>
        <p:sp>
          <p:nvSpPr>
            <p:cNvPr id="15365" name="Text Box 5"/>
            <p:cNvSpPr txBox="1">
              <a:spLocks noChangeArrowheads="1"/>
            </p:cNvSpPr>
            <p:nvPr/>
          </p:nvSpPr>
          <p:spPr bwMode="auto">
            <a:xfrm>
              <a:off x="209" y="623"/>
              <a:ext cx="334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rgbClr val="333399"/>
                  </a:solidFill>
                  <a:latin typeface="Arial" pitchFamily="34" charset="0"/>
                  <a:ea typeface="宋体" pitchFamily="2" charset="-122"/>
                </a:rPr>
                <a:t>1. </a:t>
              </a:r>
              <a:r>
                <a:rPr lang="en-US" altLang="zh-CN">
                  <a:solidFill>
                    <a:srgbClr val="333399"/>
                  </a:solidFill>
                  <a:latin typeface="Arial" pitchFamily="34" charset="0"/>
                  <a:ea typeface="宋体" pitchFamily="2" charset="-122"/>
                </a:rPr>
                <a:t>Moving pickoff point A behind block</a:t>
              </a:r>
            </a:p>
          </p:txBody>
        </p:sp>
        <p:graphicFrame>
          <p:nvGraphicFramePr>
            <p:cNvPr id="43022" name="Object 14"/>
            <p:cNvGraphicFramePr>
              <a:graphicFrameLocks noChangeAspect="1"/>
            </p:cNvGraphicFramePr>
            <p:nvPr/>
          </p:nvGraphicFramePr>
          <p:xfrm>
            <a:off x="2835" y="611"/>
            <a:ext cx="294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77480" imgH="190440" progId="Equation.3">
                    <p:embed/>
                  </p:oleObj>
                </mc:Choice>
                <mc:Fallback>
                  <p:oleObj name="Equation" r:id="rId2" imgW="177480" imgH="190440" progId="Equation.3">
                    <p:embed/>
                    <p:pic>
                      <p:nvPicPr>
                        <p:cNvPr id="0" name="Picture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5" y="611"/>
                          <a:ext cx="294" cy="279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75"/>
          <p:cNvGrpSpPr>
            <a:grpSpLocks/>
          </p:cNvGrpSpPr>
          <p:nvPr/>
        </p:nvGrpSpPr>
        <p:grpSpPr bwMode="auto">
          <a:xfrm>
            <a:off x="3200400" y="1219200"/>
            <a:ext cx="4214813" cy="3200400"/>
            <a:chOff x="2112" y="726"/>
            <a:chExt cx="2655" cy="2058"/>
          </a:xfrm>
        </p:grpSpPr>
        <p:sp>
          <p:nvSpPr>
            <p:cNvPr id="15433" name="Rectangle 73"/>
            <p:cNvSpPr>
              <a:spLocks noChangeArrowheads="1"/>
            </p:cNvSpPr>
            <p:nvPr/>
          </p:nvSpPr>
          <p:spPr bwMode="auto">
            <a:xfrm>
              <a:off x="2112" y="1008"/>
              <a:ext cx="2352" cy="1776"/>
            </a:xfrm>
            <a:prstGeom prst="rect">
              <a:avLst/>
            </a:prstGeom>
            <a:noFill/>
            <a:ln w="9525">
              <a:solidFill>
                <a:srgbClr val="FF00FF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43021" name="Object 13"/>
            <p:cNvGraphicFramePr>
              <a:graphicFrameLocks noChangeAspect="1"/>
            </p:cNvGraphicFramePr>
            <p:nvPr/>
          </p:nvGraphicFramePr>
          <p:xfrm>
            <a:off x="4587" y="726"/>
            <a:ext cx="180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26720" imgH="164880" progId="Equation.3">
                    <p:embed/>
                  </p:oleObj>
                </mc:Choice>
                <mc:Fallback>
                  <p:oleObj name="Equation" r:id="rId4" imgW="126720" imgH="164880" progId="Equation.3">
                    <p:embed/>
                    <p:pic>
                      <p:nvPicPr>
                        <p:cNvPr id="0" name="Picture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7" y="726"/>
                          <a:ext cx="180" cy="234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00FF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83"/>
          <p:cNvGrpSpPr>
            <a:grpSpLocks/>
          </p:cNvGrpSpPr>
          <p:nvPr/>
        </p:nvGrpSpPr>
        <p:grpSpPr bwMode="auto">
          <a:xfrm>
            <a:off x="3733800" y="4619625"/>
            <a:ext cx="609600" cy="485775"/>
            <a:chOff x="2016" y="2448"/>
            <a:chExt cx="384" cy="306"/>
          </a:xfrm>
        </p:grpSpPr>
        <p:sp>
          <p:nvSpPr>
            <p:cNvPr id="15444" name="Rectangle 84"/>
            <p:cNvSpPr>
              <a:spLocks noChangeArrowheads="1"/>
            </p:cNvSpPr>
            <p:nvPr/>
          </p:nvSpPr>
          <p:spPr bwMode="auto">
            <a:xfrm>
              <a:off x="2016" y="2448"/>
              <a:ext cx="384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43020" name="Object 12"/>
            <p:cNvGraphicFramePr>
              <a:graphicFrameLocks noChangeAspect="1"/>
            </p:cNvGraphicFramePr>
            <p:nvPr/>
          </p:nvGraphicFramePr>
          <p:xfrm>
            <a:off x="2082" y="2448"/>
            <a:ext cx="288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03040" imgH="215640" progId="Equation.3">
                    <p:embed/>
                  </p:oleObj>
                </mc:Choice>
                <mc:Fallback>
                  <p:oleObj name="Equation" r:id="rId6" imgW="203040" imgH="215640" progId="Equation.3">
                    <p:embed/>
                    <p:pic>
                      <p:nvPicPr>
                        <p:cNvPr id="0" name="Picture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2" y="2448"/>
                          <a:ext cx="288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447" name="Line 87"/>
          <p:cNvSpPr>
            <a:spLocks noChangeShapeType="1"/>
          </p:cNvSpPr>
          <p:nvPr/>
        </p:nvSpPr>
        <p:spPr bwMode="auto">
          <a:xfrm flipV="1">
            <a:off x="1752600" y="4800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5454" name="Line 94"/>
          <p:cNvSpPr>
            <a:spLocks noChangeShapeType="1"/>
          </p:cNvSpPr>
          <p:nvPr/>
        </p:nvSpPr>
        <p:spPr bwMode="auto">
          <a:xfrm flipH="1">
            <a:off x="5791200" y="48006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grpSp>
        <p:nvGrpSpPr>
          <p:cNvPr id="5" name="Group 95"/>
          <p:cNvGrpSpPr>
            <a:grpSpLocks/>
          </p:cNvGrpSpPr>
          <p:nvPr/>
        </p:nvGrpSpPr>
        <p:grpSpPr bwMode="auto">
          <a:xfrm>
            <a:off x="5029200" y="4438650"/>
            <a:ext cx="762000" cy="819150"/>
            <a:chOff x="3456" y="2220"/>
            <a:chExt cx="480" cy="51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5456" name="Rectangle 96"/>
            <p:cNvSpPr>
              <a:spLocks noChangeArrowheads="1"/>
            </p:cNvSpPr>
            <p:nvPr/>
          </p:nvSpPr>
          <p:spPr bwMode="auto">
            <a:xfrm>
              <a:off x="3456" y="2256"/>
              <a:ext cx="480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43019" name="Object 11"/>
            <p:cNvGraphicFramePr>
              <a:graphicFrameLocks noChangeAspect="1"/>
            </p:cNvGraphicFramePr>
            <p:nvPr/>
          </p:nvGraphicFramePr>
          <p:xfrm>
            <a:off x="3567" y="2220"/>
            <a:ext cx="273" cy="5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28600" imgH="431640" progId="Equation.3">
                    <p:embed/>
                  </p:oleObj>
                </mc:Choice>
                <mc:Fallback>
                  <p:oleObj name="Equation" r:id="rId8" imgW="228600" imgH="431640" progId="Equation.3">
                    <p:embed/>
                    <p:pic>
                      <p:nvPicPr>
                        <p:cNvPr id="0" name="Picture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7" y="2220"/>
                          <a:ext cx="273" cy="5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460" name="Line 100"/>
          <p:cNvSpPr>
            <a:spLocks noChangeShapeType="1"/>
          </p:cNvSpPr>
          <p:nvPr/>
        </p:nvSpPr>
        <p:spPr bwMode="auto">
          <a:xfrm>
            <a:off x="6705600" y="39624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5461" name="Line 101"/>
          <p:cNvSpPr>
            <a:spLocks noChangeShapeType="1"/>
          </p:cNvSpPr>
          <p:nvPr/>
        </p:nvSpPr>
        <p:spPr bwMode="auto">
          <a:xfrm flipV="1">
            <a:off x="1752600" y="39624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5463" name="Line 103"/>
          <p:cNvSpPr>
            <a:spLocks noChangeShapeType="1"/>
          </p:cNvSpPr>
          <p:nvPr/>
        </p:nvSpPr>
        <p:spPr bwMode="auto">
          <a:xfrm flipH="1">
            <a:off x="4343400" y="4800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grpSp>
        <p:nvGrpSpPr>
          <p:cNvPr id="6" name="Group 176"/>
          <p:cNvGrpSpPr>
            <a:grpSpLocks/>
          </p:cNvGrpSpPr>
          <p:nvPr/>
        </p:nvGrpSpPr>
        <p:grpSpPr bwMode="auto">
          <a:xfrm>
            <a:off x="304800" y="1828800"/>
            <a:ext cx="8029575" cy="3962400"/>
            <a:chOff x="192" y="1152"/>
            <a:chExt cx="5058" cy="2496"/>
          </a:xfrm>
        </p:grpSpPr>
        <p:graphicFrame>
          <p:nvGraphicFramePr>
            <p:cNvPr id="43008" name="Object 0"/>
            <p:cNvGraphicFramePr>
              <a:graphicFrameLocks noChangeAspect="1"/>
            </p:cNvGraphicFramePr>
            <p:nvPr/>
          </p:nvGraphicFramePr>
          <p:xfrm>
            <a:off x="4800" y="1635"/>
            <a:ext cx="45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17160" imgH="203040" progId="Equation.3">
                    <p:embed/>
                  </p:oleObj>
                </mc:Choice>
                <mc:Fallback>
                  <p:oleObj name="Equation" r:id="rId10" imgW="317160" imgH="203040" progId="Equation.3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0" y="1635"/>
                          <a:ext cx="450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7" name="Group 175"/>
            <p:cNvGrpSpPr>
              <a:grpSpLocks/>
            </p:cNvGrpSpPr>
            <p:nvPr/>
          </p:nvGrpSpPr>
          <p:grpSpPr bwMode="auto">
            <a:xfrm>
              <a:off x="192" y="1152"/>
              <a:ext cx="4800" cy="2496"/>
              <a:chOff x="192" y="1152"/>
              <a:chExt cx="4800" cy="2496"/>
            </a:xfrm>
          </p:grpSpPr>
          <p:sp>
            <p:nvSpPr>
              <p:cNvPr id="15469" name="Line 109"/>
              <p:cNvSpPr>
                <a:spLocks noChangeShapeType="1"/>
              </p:cNvSpPr>
              <p:nvPr/>
            </p:nvSpPr>
            <p:spPr bwMode="auto">
              <a:xfrm>
                <a:off x="432" y="1919"/>
                <a:ext cx="576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5470" name="Line 110"/>
              <p:cNvSpPr>
                <a:spLocks noChangeShapeType="1"/>
              </p:cNvSpPr>
              <p:nvPr/>
            </p:nvSpPr>
            <p:spPr bwMode="auto">
              <a:xfrm flipV="1">
                <a:off x="4080" y="1923"/>
                <a:ext cx="9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5471" name="Line 111"/>
              <p:cNvSpPr>
                <a:spLocks noChangeShapeType="1"/>
              </p:cNvSpPr>
              <p:nvPr/>
            </p:nvSpPr>
            <p:spPr bwMode="auto">
              <a:xfrm flipV="1">
                <a:off x="2352" y="2016"/>
                <a:ext cx="0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5472" name="Line 112"/>
              <p:cNvSpPr>
                <a:spLocks noChangeShapeType="1"/>
              </p:cNvSpPr>
              <p:nvPr/>
            </p:nvSpPr>
            <p:spPr bwMode="auto">
              <a:xfrm>
                <a:off x="4560" y="1903"/>
                <a:ext cx="0" cy="160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grpSp>
            <p:nvGrpSpPr>
              <p:cNvPr id="8" name="Group 113"/>
              <p:cNvGrpSpPr>
                <a:grpSpLocks/>
              </p:cNvGrpSpPr>
              <p:nvPr/>
            </p:nvGrpSpPr>
            <p:grpSpPr bwMode="auto">
              <a:xfrm>
                <a:off x="864" y="1758"/>
                <a:ext cx="96" cy="96"/>
                <a:chOff x="1344" y="1660"/>
                <a:chExt cx="96" cy="96"/>
              </a:xfrm>
            </p:grpSpPr>
            <p:sp>
              <p:nvSpPr>
                <p:cNvPr id="15474" name="Line 114"/>
                <p:cNvSpPr>
                  <a:spLocks noChangeShapeType="1"/>
                </p:cNvSpPr>
                <p:nvPr/>
              </p:nvSpPr>
              <p:spPr bwMode="auto">
                <a:xfrm>
                  <a:off x="1344" y="17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5475" name="Line 115"/>
                <p:cNvSpPr>
                  <a:spLocks noChangeShapeType="1"/>
                </p:cNvSpPr>
                <p:nvPr/>
              </p:nvSpPr>
              <p:spPr bwMode="auto">
                <a:xfrm flipV="1">
                  <a:off x="1392" y="166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GB"/>
                </a:p>
              </p:txBody>
            </p:sp>
          </p:grpSp>
          <p:pic>
            <p:nvPicPr>
              <p:cNvPr id="15476" name="Picture 116" descr="untitled"/>
              <p:cNvPicPr>
                <a:picLocks noChangeAspect="1" noChangeArrowheads="1"/>
              </p:cNvPicPr>
              <p:nvPr/>
            </p:nvPicPr>
            <p:blipFill>
              <a:blip r:embed="rId12" cstate="print"/>
              <a:srcRect/>
              <a:stretch>
                <a:fillRect/>
              </a:stretch>
            </p:blipFill>
            <p:spPr bwMode="auto">
              <a:xfrm>
                <a:off x="1008" y="1827"/>
                <a:ext cx="192" cy="192"/>
              </a:xfrm>
              <a:prstGeom prst="rect">
                <a:avLst/>
              </a:prstGeom>
              <a:noFill/>
            </p:spPr>
          </p:pic>
          <p:sp>
            <p:nvSpPr>
              <p:cNvPr id="15477" name="Line 117"/>
              <p:cNvSpPr>
                <a:spLocks noChangeShapeType="1"/>
              </p:cNvSpPr>
              <p:nvPr/>
            </p:nvSpPr>
            <p:spPr bwMode="auto">
              <a:xfrm>
                <a:off x="960" y="2067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5478" name="Line 118"/>
              <p:cNvSpPr>
                <a:spLocks noChangeShapeType="1"/>
              </p:cNvSpPr>
              <p:nvPr/>
            </p:nvSpPr>
            <p:spPr bwMode="auto">
              <a:xfrm flipV="1">
                <a:off x="1104" y="1989"/>
                <a:ext cx="0" cy="5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pic>
            <p:nvPicPr>
              <p:cNvPr id="15479" name="Picture 119" descr="untitled"/>
              <p:cNvPicPr>
                <a:picLocks noChangeAspect="1" noChangeArrowheads="1"/>
              </p:cNvPicPr>
              <p:nvPr/>
            </p:nvPicPr>
            <p:blipFill>
              <a:blip r:embed="rId12" cstate="print"/>
              <a:srcRect/>
              <a:stretch>
                <a:fillRect/>
              </a:stretch>
            </p:blipFill>
            <p:spPr bwMode="auto">
              <a:xfrm>
                <a:off x="2256" y="1806"/>
                <a:ext cx="192" cy="192"/>
              </a:xfrm>
              <a:prstGeom prst="rect">
                <a:avLst/>
              </a:prstGeom>
              <a:noFill/>
            </p:spPr>
          </p:pic>
          <p:sp>
            <p:nvSpPr>
              <p:cNvPr id="15480" name="Line 120"/>
              <p:cNvSpPr>
                <a:spLocks noChangeShapeType="1"/>
              </p:cNvSpPr>
              <p:nvPr/>
            </p:nvSpPr>
            <p:spPr bwMode="auto">
              <a:xfrm>
                <a:off x="2448" y="1902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grpSp>
            <p:nvGrpSpPr>
              <p:cNvPr id="9" name="Group 121"/>
              <p:cNvGrpSpPr>
                <a:grpSpLocks/>
              </p:cNvGrpSpPr>
              <p:nvPr/>
            </p:nvGrpSpPr>
            <p:grpSpPr bwMode="auto">
              <a:xfrm>
                <a:off x="2112" y="1806"/>
                <a:ext cx="96" cy="96"/>
                <a:chOff x="1344" y="1660"/>
                <a:chExt cx="96" cy="96"/>
              </a:xfrm>
            </p:grpSpPr>
            <p:sp>
              <p:nvSpPr>
                <p:cNvPr id="15482" name="Line 122"/>
                <p:cNvSpPr>
                  <a:spLocks noChangeShapeType="1"/>
                </p:cNvSpPr>
                <p:nvPr/>
              </p:nvSpPr>
              <p:spPr bwMode="auto">
                <a:xfrm>
                  <a:off x="1344" y="17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5483" name="Line 123"/>
                <p:cNvSpPr>
                  <a:spLocks noChangeShapeType="1"/>
                </p:cNvSpPr>
                <p:nvPr/>
              </p:nvSpPr>
              <p:spPr bwMode="auto">
                <a:xfrm flipV="1">
                  <a:off x="1392" y="166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GB"/>
                </a:p>
              </p:txBody>
            </p:sp>
          </p:grpSp>
          <p:sp>
            <p:nvSpPr>
              <p:cNvPr id="15484" name="Line 124"/>
              <p:cNvSpPr>
                <a:spLocks noChangeShapeType="1"/>
              </p:cNvSpPr>
              <p:nvPr/>
            </p:nvSpPr>
            <p:spPr bwMode="auto">
              <a:xfrm>
                <a:off x="2400" y="2046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5485" name="Rectangle 125"/>
              <p:cNvSpPr>
                <a:spLocks noChangeArrowheads="1"/>
              </p:cNvSpPr>
              <p:nvPr/>
            </p:nvSpPr>
            <p:spPr bwMode="auto">
              <a:xfrm>
                <a:off x="1488" y="1779"/>
                <a:ext cx="432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graphicFrame>
            <p:nvGraphicFramePr>
              <p:cNvPr id="43009" name="Object 1"/>
              <p:cNvGraphicFramePr>
                <a:graphicFrameLocks noChangeAspect="1"/>
              </p:cNvGraphicFramePr>
              <p:nvPr/>
            </p:nvGraphicFramePr>
            <p:xfrm>
              <a:off x="1572" y="1779"/>
              <a:ext cx="252" cy="3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177480" imgH="215640" progId="Equation.3">
                      <p:embed/>
                    </p:oleObj>
                  </mc:Choice>
                  <mc:Fallback>
                    <p:oleObj name="Equation" r:id="rId13" imgW="177480" imgH="215640" progId="Equation.3">
                      <p:embed/>
                      <p:pic>
                        <p:nvPicPr>
                          <p:cNvPr id="0" name="Picture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72" y="1779"/>
                            <a:ext cx="252" cy="30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0" name="Group 127"/>
              <p:cNvGrpSpPr>
                <a:grpSpLocks/>
              </p:cNvGrpSpPr>
              <p:nvPr/>
            </p:nvGrpSpPr>
            <p:grpSpPr bwMode="auto">
              <a:xfrm>
                <a:off x="2832" y="2403"/>
                <a:ext cx="384" cy="306"/>
                <a:chOff x="2016" y="2448"/>
                <a:chExt cx="384" cy="306"/>
              </a:xfrm>
            </p:grpSpPr>
            <p:sp>
              <p:nvSpPr>
                <p:cNvPr id="15488" name="Rectangle 128"/>
                <p:cNvSpPr>
                  <a:spLocks noChangeArrowheads="1"/>
                </p:cNvSpPr>
                <p:nvPr/>
              </p:nvSpPr>
              <p:spPr bwMode="auto">
                <a:xfrm>
                  <a:off x="2016" y="2448"/>
                  <a:ext cx="384" cy="28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graphicFrame>
              <p:nvGraphicFramePr>
                <p:cNvPr id="43018" name="Object 10"/>
                <p:cNvGraphicFramePr>
                  <a:graphicFrameLocks noChangeAspect="1"/>
                </p:cNvGraphicFramePr>
                <p:nvPr/>
              </p:nvGraphicFramePr>
              <p:xfrm>
                <a:off x="2082" y="2448"/>
                <a:ext cx="288" cy="30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6" imgW="203040" imgH="215640" progId="Equation.3">
                        <p:embed/>
                      </p:oleObj>
                    </mc:Choice>
                    <mc:Fallback>
                      <p:oleObj name="Equation" r:id="rId6" imgW="203040" imgH="215640" progId="Equation.3">
                        <p:embed/>
                        <p:pic>
                          <p:nvPicPr>
                            <p:cNvPr id="0" name="Picture 1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082" y="2448"/>
                              <a:ext cx="288" cy="306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1" name="Group 130"/>
              <p:cNvGrpSpPr>
                <a:grpSpLocks/>
              </p:cNvGrpSpPr>
              <p:nvPr/>
            </p:nvGrpSpPr>
            <p:grpSpPr bwMode="auto">
              <a:xfrm>
                <a:off x="3216" y="1152"/>
                <a:ext cx="384" cy="306"/>
                <a:chOff x="4080" y="2016"/>
                <a:chExt cx="384" cy="306"/>
              </a:xfrm>
            </p:grpSpPr>
            <p:sp>
              <p:nvSpPr>
                <p:cNvPr id="15491" name="Rectangle 131"/>
                <p:cNvSpPr>
                  <a:spLocks noChangeArrowheads="1"/>
                </p:cNvSpPr>
                <p:nvPr/>
              </p:nvSpPr>
              <p:spPr bwMode="auto">
                <a:xfrm>
                  <a:off x="4080" y="2016"/>
                  <a:ext cx="384" cy="28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graphicFrame>
              <p:nvGraphicFramePr>
                <p:cNvPr id="43017" name="Object 9"/>
                <p:cNvGraphicFramePr>
                  <a:graphicFrameLocks noChangeAspect="1"/>
                </p:cNvGraphicFramePr>
                <p:nvPr/>
              </p:nvGraphicFramePr>
              <p:xfrm>
                <a:off x="4128" y="2016"/>
                <a:ext cx="324" cy="30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5" imgW="228600" imgH="215640" progId="Equation.3">
                        <p:embed/>
                      </p:oleObj>
                    </mc:Choice>
                    <mc:Fallback>
                      <p:oleObj name="Equation" r:id="rId15" imgW="228600" imgH="215640" progId="Equation.3">
                        <p:embed/>
                        <p:pic>
                          <p:nvPicPr>
                            <p:cNvPr id="0" name="Picture 1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128" y="2016"/>
                              <a:ext cx="324" cy="306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43010" name="Object 2"/>
              <p:cNvGraphicFramePr>
                <a:graphicFrameLocks noChangeAspect="1"/>
              </p:cNvGraphicFramePr>
              <p:nvPr/>
            </p:nvGraphicFramePr>
            <p:xfrm>
              <a:off x="192" y="1635"/>
              <a:ext cx="450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7" imgW="317160" imgH="203040" progId="Equation.3">
                      <p:embed/>
                    </p:oleObj>
                  </mc:Choice>
                  <mc:Fallback>
                    <p:oleObj name="Equation" r:id="rId17" imgW="317160" imgH="203040" progId="Equation.3">
                      <p:embed/>
                      <p:pic>
                        <p:nvPicPr>
                          <p:cNvPr id="0" name="Picture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2" y="1635"/>
                            <a:ext cx="450" cy="28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495" name="Line 135"/>
              <p:cNvSpPr>
                <a:spLocks noChangeShapeType="1"/>
              </p:cNvSpPr>
              <p:nvPr/>
            </p:nvSpPr>
            <p:spPr bwMode="auto">
              <a:xfrm>
                <a:off x="672" y="1920"/>
                <a:ext cx="0" cy="11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496" name="Line 136"/>
              <p:cNvSpPr>
                <a:spLocks noChangeShapeType="1"/>
              </p:cNvSpPr>
              <p:nvPr/>
            </p:nvSpPr>
            <p:spPr bwMode="auto">
              <a:xfrm>
                <a:off x="672" y="3513"/>
                <a:ext cx="15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497" name="Rectangle 137"/>
              <p:cNvSpPr>
                <a:spLocks noChangeArrowheads="1"/>
              </p:cNvSpPr>
              <p:nvPr/>
            </p:nvSpPr>
            <p:spPr bwMode="auto">
              <a:xfrm>
                <a:off x="2256" y="3342"/>
                <a:ext cx="384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graphicFrame>
            <p:nvGraphicFramePr>
              <p:cNvPr id="43011" name="Object 3"/>
              <p:cNvGraphicFramePr>
                <a:graphicFrameLocks noChangeAspect="1"/>
              </p:cNvGraphicFramePr>
              <p:nvPr/>
            </p:nvGraphicFramePr>
            <p:xfrm>
              <a:off x="2322" y="3342"/>
              <a:ext cx="288" cy="3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9" imgW="203040" imgH="215640" progId="Equation.3">
                      <p:embed/>
                    </p:oleObj>
                  </mc:Choice>
                  <mc:Fallback>
                    <p:oleObj name="Equation" r:id="rId19" imgW="203040" imgH="215640" progId="Equation.3">
                      <p:embed/>
                      <p:pic>
                        <p:nvPicPr>
                          <p:cNvPr id="0" name="Picture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22" y="3342"/>
                            <a:ext cx="288" cy="30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pic>
            <p:nvPicPr>
              <p:cNvPr id="15499" name="Picture 139" descr="untitled"/>
              <p:cNvPicPr>
                <a:picLocks noChangeAspect="1" noChangeArrowheads="1"/>
              </p:cNvPicPr>
              <p:nvPr/>
            </p:nvPicPr>
            <p:blipFill>
              <a:blip r:embed="rId12" cstate="print"/>
              <a:srcRect/>
              <a:stretch>
                <a:fillRect/>
              </a:stretch>
            </p:blipFill>
            <p:spPr bwMode="auto">
              <a:xfrm>
                <a:off x="4464" y="1806"/>
                <a:ext cx="192" cy="192"/>
              </a:xfrm>
              <a:prstGeom prst="rect">
                <a:avLst/>
              </a:prstGeom>
              <a:noFill/>
            </p:spPr>
          </p:pic>
          <p:grpSp>
            <p:nvGrpSpPr>
              <p:cNvPr id="12" name="Group 140"/>
              <p:cNvGrpSpPr>
                <a:grpSpLocks/>
              </p:cNvGrpSpPr>
              <p:nvPr/>
            </p:nvGrpSpPr>
            <p:grpSpPr bwMode="auto">
              <a:xfrm>
                <a:off x="4368" y="1758"/>
                <a:ext cx="96" cy="96"/>
                <a:chOff x="1344" y="1660"/>
                <a:chExt cx="96" cy="96"/>
              </a:xfrm>
            </p:grpSpPr>
            <p:sp>
              <p:nvSpPr>
                <p:cNvPr id="15501" name="Line 141"/>
                <p:cNvSpPr>
                  <a:spLocks noChangeShapeType="1"/>
                </p:cNvSpPr>
                <p:nvPr/>
              </p:nvSpPr>
              <p:spPr bwMode="auto">
                <a:xfrm>
                  <a:off x="1344" y="17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5502" name="Line 142"/>
                <p:cNvSpPr>
                  <a:spLocks noChangeShapeType="1"/>
                </p:cNvSpPr>
                <p:nvPr/>
              </p:nvSpPr>
              <p:spPr bwMode="auto">
                <a:xfrm flipV="1">
                  <a:off x="1392" y="166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GB"/>
                </a:p>
              </p:txBody>
            </p:sp>
          </p:grpSp>
          <p:sp>
            <p:nvSpPr>
              <p:cNvPr id="15503" name="Line 143"/>
              <p:cNvSpPr>
                <a:spLocks noChangeShapeType="1"/>
              </p:cNvSpPr>
              <p:nvPr/>
            </p:nvSpPr>
            <p:spPr bwMode="auto">
              <a:xfrm flipV="1">
                <a:off x="4560" y="1998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13" name="Group 144"/>
              <p:cNvGrpSpPr>
                <a:grpSpLocks/>
              </p:cNvGrpSpPr>
              <p:nvPr/>
            </p:nvGrpSpPr>
            <p:grpSpPr bwMode="auto">
              <a:xfrm>
                <a:off x="4416" y="1998"/>
                <a:ext cx="96" cy="96"/>
                <a:chOff x="1344" y="1660"/>
                <a:chExt cx="96" cy="96"/>
              </a:xfrm>
            </p:grpSpPr>
            <p:sp>
              <p:nvSpPr>
                <p:cNvPr id="15505" name="Line 145"/>
                <p:cNvSpPr>
                  <a:spLocks noChangeShapeType="1"/>
                </p:cNvSpPr>
                <p:nvPr/>
              </p:nvSpPr>
              <p:spPr bwMode="auto">
                <a:xfrm>
                  <a:off x="1344" y="170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5506" name="Line 146"/>
                <p:cNvSpPr>
                  <a:spLocks noChangeShapeType="1"/>
                </p:cNvSpPr>
                <p:nvPr/>
              </p:nvSpPr>
              <p:spPr bwMode="auto">
                <a:xfrm flipV="1">
                  <a:off x="1392" y="166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GB"/>
                </a:p>
              </p:txBody>
            </p:sp>
          </p:grpSp>
          <p:sp>
            <p:nvSpPr>
              <p:cNvPr id="15507" name="Line 147"/>
              <p:cNvSpPr>
                <a:spLocks noChangeShapeType="1"/>
              </p:cNvSpPr>
              <p:nvPr/>
            </p:nvSpPr>
            <p:spPr bwMode="auto">
              <a:xfrm>
                <a:off x="4224" y="1248"/>
                <a:ext cx="0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508" name="Line 148"/>
              <p:cNvSpPr>
                <a:spLocks noChangeShapeType="1"/>
              </p:cNvSpPr>
              <p:nvPr/>
            </p:nvSpPr>
            <p:spPr bwMode="auto">
              <a:xfrm>
                <a:off x="1200" y="1902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509" name="Line 149"/>
              <p:cNvSpPr>
                <a:spLocks noChangeShapeType="1"/>
              </p:cNvSpPr>
              <p:nvPr/>
            </p:nvSpPr>
            <p:spPr bwMode="auto">
              <a:xfrm>
                <a:off x="1920" y="1902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510" name="Rectangle 150"/>
              <p:cNvSpPr>
                <a:spLocks noChangeArrowheads="1"/>
              </p:cNvSpPr>
              <p:nvPr/>
            </p:nvSpPr>
            <p:spPr bwMode="auto">
              <a:xfrm>
                <a:off x="2832" y="1767"/>
                <a:ext cx="432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graphicFrame>
            <p:nvGraphicFramePr>
              <p:cNvPr id="43012" name="Object 4"/>
              <p:cNvGraphicFramePr>
                <a:graphicFrameLocks noChangeAspect="1"/>
              </p:cNvGraphicFramePr>
              <p:nvPr/>
            </p:nvGraphicFramePr>
            <p:xfrm>
              <a:off x="2928" y="1767"/>
              <a:ext cx="288" cy="3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1" imgW="203040" imgH="215640" progId="Equation.3">
                      <p:embed/>
                    </p:oleObj>
                  </mc:Choice>
                  <mc:Fallback>
                    <p:oleObj name="Equation" r:id="rId21" imgW="203040" imgH="215640" progId="Equation.3">
                      <p:embed/>
                      <p:pic>
                        <p:nvPicPr>
                          <p:cNvPr id="0" name="Picture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28" y="1767"/>
                            <a:ext cx="288" cy="30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512" name="Line 152"/>
              <p:cNvSpPr>
                <a:spLocks noChangeShapeType="1"/>
              </p:cNvSpPr>
              <p:nvPr/>
            </p:nvSpPr>
            <p:spPr bwMode="auto">
              <a:xfrm>
                <a:off x="2640" y="3504"/>
                <a:ext cx="19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513" name="Line 153"/>
              <p:cNvSpPr>
                <a:spLocks noChangeShapeType="1"/>
              </p:cNvSpPr>
              <p:nvPr/>
            </p:nvSpPr>
            <p:spPr bwMode="auto">
              <a:xfrm>
                <a:off x="2352" y="1248"/>
                <a:ext cx="0" cy="55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514" name="Line 154"/>
              <p:cNvSpPr>
                <a:spLocks noChangeShapeType="1"/>
              </p:cNvSpPr>
              <p:nvPr/>
            </p:nvSpPr>
            <p:spPr bwMode="auto">
              <a:xfrm flipH="1">
                <a:off x="3216" y="252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515" name="Line 155"/>
              <p:cNvSpPr>
                <a:spLocks noChangeShapeType="1"/>
              </p:cNvSpPr>
              <p:nvPr/>
            </p:nvSpPr>
            <p:spPr bwMode="auto">
              <a:xfrm>
                <a:off x="3264" y="1902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516" name="Line 156"/>
              <p:cNvSpPr>
                <a:spLocks noChangeShapeType="1"/>
              </p:cNvSpPr>
              <p:nvPr/>
            </p:nvSpPr>
            <p:spPr bwMode="auto">
              <a:xfrm>
                <a:off x="4224" y="1920"/>
                <a:ext cx="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517" name="Line 157"/>
              <p:cNvSpPr>
                <a:spLocks noChangeShapeType="1"/>
              </p:cNvSpPr>
              <p:nvPr/>
            </p:nvSpPr>
            <p:spPr bwMode="auto">
              <a:xfrm>
                <a:off x="2400" y="1710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graphicFrame>
            <p:nvGraphicFramePr>
              <p:cNvPr id="43013" name="Object 5"/>
              <p:cNvGraphicFramePr>
                <a:graphicFrameLocks noChangeAspect="1"/>
              </p:cNvGraphicFramePr>
              <p:nvPr/>
            </p:nvGraphicFramePr>
            <p:xfrm>
              <a:off x="3360" y="1728"/>
              <a:ext cx="133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3" imgW="152280" imgH="164880" progId="Equation.3">
                      <p:embed/>
                    </p:oleObj>
                  </mc:Choice>
                  <mc:Fallback>
                    <p:oleObj name="Equation" r:id="rId23" imgW="152280" imgH="164880" progId="Equation.3">
                      <p:embed/>
                      <p:pic>
                        <p:nvPicPr>
                          <p:cNvPr id="0" name="Picture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60" y="1728"/>
                            <a:ext cx="133" cy="144"/>
                          </a:xfrm>
                          <a:prstGeom prst="rect">
                            <a:avLst/>
                          </a:prstGeom>
                          <a:solidFill>
                            <a:srgbClr val="00FF99"/>
                          </a:solidFill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3014" name="Object 6"/>
              <p:cNvGraphicFramePr>
                <a:graphicFrameLocks noChangeAspect="1"/>
              </p:cNvGraphicFramePr>
              <p:nvPr/>
            </p:nvGraphicFramePr>
            <p:xfrm>
              <a:off x="4091" y="1728"/>
              <a:ext cx="133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5" imgW="152280" imgH="164880" progId="Equation.3">
                      <p:embed/>
                    </p:oleObj>
                  </mc:Choice>
                  <mc:Fallback>
                    <p:oleObj name="Equation" r:id="rId25" imgW="152280" imgH="164880" progId="Equation.3">
                      <p:embed/>
                      <p:pic>
                        <p:nvPicPr>
                          <p:cNvPr id="0" name="Picture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91" y="1728"/>
                            <a:ext cx="133" cy="144"/>
                          </a:xfrm>
                          <a:prstGeom prst="rect">
                            <a:avLst/>
                          </a:prstGeom>
                          <a:solidFill>
                            <a:schemeClr val="hlink"/>
                          </a:solidFill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520" name="Line 160"/>
              <p:cNvSpPr>
                <a:spLocks noChangeShapeType="1"/>
              </p:cNvSpPr>
              <p:nvPr/>
            </p:nvSpPr>
            <p:spPr bwMode="auto">
              <a:xfrm>
                <a:off x="2352" y="1248"/>
                <a:ext cx="8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521" name="Line 161"/>
              <p:cNvSpPr>
                <a:spLocks noChangeShapeType="1"/>
              </p:cNvSpPr>
              <p:nvPr/>
            </p:nvSpPr>
            <p:spPr bwMode="auto">
              <a:xfrm>
                <a:off x="3600" y="1248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522" name="Line 162"/>
              <p:cNvSpPr>
                <a:spLocks noChangeShapeType="1"/>
              </p:cNvSpPr>
              <p:nvPr/>
            </p:nvSpPr>
            <p:spPr bwMode="auto">
              <a:xfrm>
                <a:off x="2352" y="2544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14" name="Group 163"/>
              <p:cNvGrpSpPr>
                <a:grpSpLocks/>
              </p:cNvGrpSpPr>
              <p:nvPr/>
            </p:nvGrpSpPr>
            <p:grpSpPr bwMode="auto">
              <a:xfrm>
                <a:off x="3456" y="2208"/>
                <a:ext cx="480" cy="516"/>
                <a:chOff x="3456" y="2220"/>
                <a:chExt cx="480" cy="516"/>
              </a:xfrm>
            </p:grpSpPr>
            <p:sp>
              <p:nvSpPr>
                <p:cNvPr id="15524" name="Rectangle 164"/>
                <p:cNvSpPr>
                  <a:spLocks noChangeArrowheads="1"/>
                </p:cNvSpPr>
                <p:nvPr/>
              </p:nvSpPr>
              <p:spPr bwMode="auto">
                <a:xfrm>
                  <a:off x="3456" y="2256"/>
                  <a:ext cx="480" cy="48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graphicFrame>
              <p:nvGraphicFramePr>
                <p:cNvPr id="43016" name="Object 8"/>
                <p:cNvGraphicFramePr>
                  <a:graphicFrameLocks noChangeAspect="1"/>
                </p:cNvGraphicFramePr>
                <p:nvPr/>
              </p:nvGraphicFramePr>
              <p:xfrm>
                <a:off x="3567" y="2220"/>
                <a:ext cx="273" cy="51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8" imgW="228600" imgH="431640" progId="Equation.3">
                        <p:embed/>
                      </p:oleObj>
                    </mc:Choice>
                    <mc:Fallback>
                      <p:oleObj name="Equation" r:id="rId8" imgW="228600" imgH="431640" progId="Equation.3">
                        <p:embed/>
                        <p:pic>
                          <p:nvPicPr>
                            <p:cNvPr id="0" name="Picture 1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567" y="2220"/>
                              <a:ext cx="273" cy="516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15526" name="Line 166"/>
              <p:cNvSpPr>
                <a:spLocks noChangeShapeType="1"/>
              </p:cNvSpPr>
              <p:nvPr/>
            </p:nvSpPr>
            <p:spPr bwMode="auto">
              <a:xfrm>
                <a:off x="3936" y="2544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527" name="Rectangle 167"/>
              <p:cNvSpPr>
                <a:spLocks noChangeArrowheads="1"/>
              </p:cNvSpPr>
              <p:nvPr/>
            </p:nvSpPr>
            <p:spPr bwMode="auto">
              <a:xfrm>
                <a:off x="3648" y="1776"/>
                <a:ext cx="432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graphicFrame>
            <p:nvGraphicFramePr>
              <p:cNvPr id="43015" name="Object 7"/>
              <p:cNvGraphicFramePr>
                <a:graphicFrameLocks noChangeAspect="1"/>
              </p:cNvGraphicFramePr>
              <p:nvPr/>
            </p:nvGraphicFramePr>
            <p:xfrm>
              <a:off x="3744" y="1767"/>
              <a:ext cx="270" cy="3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7" imgW="190440" imgH="228600" progId="Equation.3">
                      <p:embed/>
                    </p:oleObj>
                  </mc:Choice>
                  <mc:Fallback>
                    <p:oleObj name="Equation" r:id="rId27" imgW="190440" imgH="228600" progId="Equation.3">
                      <p:embed/>
                      <p:pic>
                        <p:nvPicPr>
                          <p:cNvPr id="0" name="Picture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44" y="1767"/>
                            <a:ext cx="270" cy="32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529" name="Line 169"/>
              <p:cNvSpPr>
                <a:spLocks noChangeShapeType="1"/>
              </p:cNvSpPr>
              <p:nvPr/>
            </p:nvSpPr>
            <p:spPr bwMode="auto">
              <a:xfrm>
                <a:off x="1104" y="2544"/>
                <a:ext cx="1248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530" name="Line 170"/>
              <p:cNvSpPr>
                <a:spLocks noChangeShapeType="1"/>
              </p:cNvSpPr>
              <p:nvPr/>
            </p:nvSpPr>
            <p:spPr bwMode="auto">
              <a:xfrm>
                <a:off x="672" y="3024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</p:grpSp>
      </p:grpSp>
      <p:grpSp>
        <p:nvGrpSpPr>
          <p:cNvPr id="15" name="Group 171"/>
          <p:cNvGrpSpPr>
            <a:grpSpLocks/>
          </p:cNvGrpSpPr>
          <p:nvPr/>
        </p:nvGrpSpPr>
        <p:grpSpPr bwMode="auto">
          <a:xfrm>
            <a:off x="2590800" y="3962400"/>
            <a:ext cx="228600" cy="228600"/>
            <a:chOff x="4080" y="2112"/>
            <a:chExt cx="144" cy="144"/>
          </a:xfrm>
        </p:grpSpPr>
        <p:sp>
          <p:nvSpPr>
            <p:cNvPr id="15532" name="Line 172"/>
            <p:cNvSpPr>
              <a:spLocks noChangeShapeType="1"/>
            </p:cNvSpPr>
            <p:nvPr/>
          </p:nvSpPr>
          <p:spPr bwMode="auto">
            <a:xfrm>
              <a:off x="4080" y="2112"/>
              <a:ext cx="144" cy="96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5533" name="Line 173"/>
            <p:cNvSpPr>
              <a:spLocks noChangeShapeType="1"/>
            </p:cNvSpPr>
            <p:nvPr/>
          </p:nvSpPr>
          <p:spPr bwMode="auto">
            <a:xfrm flipV="1">
              <a:off x="4080" y="2112"/>
              <a:ext cx="96" cy="144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37</a:t>
            </a:fld>
            <a:endParaRPr lang="en-GB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4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4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4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54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54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54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5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54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54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54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54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54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54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0"/>
                            </p:stCondLst>
                            <p:childTnLst>
                              <p:par>
                                <p:cTn id="56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5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5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54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54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47" grpId="0" animBg="1"/>
      <p:bldP spid="15454" grpId="0" animBg="1"/>
      <p:bldP spid="15460" grpId="0" animBg="1"/>
      <p:bldP spid="15461" grpId="0" animBg="1"/>
      <p:bldP spid="1546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331788" y="379413"/>
            <a:ext cx="40481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333399"/>
                </a:solidFill>
                <a:latin typeface="Arial" pitchFamily="34" charset="0"/>
                <a:ea typeface="宋体" pitchFamily="2" charset="-122"/>
              </a:rPr>
              <a:t>2. </a:t>
            </a:r>
            <a:r>
              <a:rPr lang="en-US" altLang="zh-CN">
                <a:solidFill>
                  <a:srgbClr val="333399"/>
                </a:solidFill>
                <a:latin typeface="Arial" pitchFamily="34" charset="0"/>
                <a:ea typeface="宋体" pitchFamily="2" charset="-122"/>
              </a:rPr>
              <a:t>Eliminate loop I &amp; Simplify</a:t>
            </a:r>
          </a:p>
        </p:txBody>
      </p:sp>
      <p:grpSp>
        <p:nvGrpSpPr>
          <p:cNvPr id="2" name="Group 144"/>
          <p:cNvGrpSpPr>
            <a:grpSpLocks/>
          </p:cNvGrpSpPr>
          <p:nvPr/>
        </p:nvGrpSpPr>
        <p:grpSpPr bwMode="auto">
          <a:xfrm>
            <a:off x="76200" y="914400"/>
            <a:ext cx="4267200" cy="2667000"/>
            <a:chOff x="48" y="576"/>
            <a:chExt cx="2688" cy="1680"/>
          </a:xfrm>
        </p:grpSpPr>
        <p:sp>
          <p:nvSpPr>
            <p:cNvPr id="16448" name="Line 64"/>
            <p:cNvSpPr>
              <a:spLocks noChangeShapeType="1"/>
            </p:cNvSpPr>
            <p:nvPr/>
          </p:nvSpPr>
          <p:spPr bwMode="auto">
            <a:xfrm flipV="1">
              <a:off x="480" y="1470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pic>
          <p:nvPicPr>
            <p:cNvPr id="16449" name="Picture 65" descr="untitled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84" y="1278"/>
              <a:ext cx="192" cy="192"/>
            </a:xfrm>
            <a:prstGeom prst="rect">
              <a:avLst/>
            </a:prstGeom>
            <a:noFill/>
          </p:spPr>
        </p:pic>
        <p:sp>
          <p:nvSpPr>
            <p:cNvPr id="16450" name="Line 66"/>
            <p:cNvSpPr>
              <a:spLocks noChangeShapeType="1"/>
            </p:cNvSpPr>
            <p:nvPr/>
          </p:nvSpPr>
          <p:spPr bwMode="auto">
            <a:xfrm>
              <a:off x="576" y="137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6451" name="Rectangle 67"/>
            <p:cNvSpPr>
              <a:spLocks noChangeArrowheads="1"/>
            </p:cNvSpPr>
            <p:nvPr/>
          </p:nvSpPr>
          <p:spPr bwMode="auto">
            <a:xfrm>
              <a:off x="1728" y="1230"/>
              <a:ext cx="432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3" name="Group 68"/>
            <p:cNvGrpSpPr>
              <a:grpSpLocks/>
            </p:cNvGrpSpPr>
            <p:nvPr/>
          </p:nvGrpSpPr>
          <p:grpSpPr bwMode="auto">
            <a:xfrm>
              <a:off x="240" y="1278"/>
              <a:ext cx="96" cy="96"/>
              <a:chOff x="1344" y="1660"/>
              <a:chExt cx="96" cy="96"/>
            </a:xfrm>
          </p:grpSpPr>
          <p:sp>
            <p:nvSpPr>
              <p:cNvPr id="16453" name="Line 69"/>
              <p:cNvSpPr>
                <a:spLocks noChangeShapeType="1"/>
              </p:cNvSpPr>
              <p:nvPr/>
            </p:nvSpPr>
            <p:spPr bwMode="auto">
              <a:xfrm>
                <a:off x="1344" y="170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6454" name="Line 70"/>
              <p:cNvSpPr>
                <a:spLocks noChangeShapeType="1"/>
              </p:cNvSpPr>
              <p:nvPr/>
            </p:nvSpPr>
            <p:spPr bwMode="auto">
              <a:xfrm flipV="1">
                <a:off x="1392" y="166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16455" name="Line 71"/>
            <p:cNvSpPr>
              <a:spLocks noChangeShapeType="1"/>
            </p:cNvSpPr>
            <p:nvPr/>
          </p:nvSpPr>
          <p:spPr bwMode="auto">
            <a:xfrm>
              <a:off x="528" y="151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graphicFrame>
          <p:nvGraphicFramePr>
            <p:cNvPr id="16456" name="Object 72"/>
            <p:cNvGraphicFramePr>
              <a:graphicFrameLocks noChangeAspect="1"/>
            </p:cNvGraphicFramePr>
            <p:nvPr/>
          </p:nvGraphicFramePr>
          <p:xfrm>
            <a:off x="1833" y="1221"/>
            <a:ext cx="270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90440" imgH="228600" progId="Equation.3">
                    <p:embed/>
                  </p:oleObj>
                </mc:Choice>
                <mc:Fallback>
                  <p:oleObj name="Equation" r:id="rId3" imgW="190440" imgH="228600" progId="Equation.3">
                    <p:embed/>
                    <p:pic>
                      <p:nvPicPr>
                        <p:cNvPr id="0" name="Picture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3" y="1221"/>
                          <a:ext cx="270" cy="32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" name="Group 73"/>
            <p:cNvGrpSpPr>
              <a:grpSpLocks/>
            </p:cNvGrpSpPr>
            <p:nvPr/>
          </p:nvGrpSpPr>
          <p:grpSpPr bwMode="auto">
            <a:xfrm>
              <a:off x="912" y="1875"/>
              <a:ext cx="384" cy="306"/>
              <a:chOff x="2016" y="2448"/>
              <a:chExt cx="384" cy="306"/>
            </a:xfrm>
          </p:grpSpPr>
          <p:sp>
            <p:nvSpPr>
              <p:cNvPr id="16458" name="Rectangle 74"/>
              <p:cNvSpPr>
                <a:spLocks noChangeArrowheads="1"/>
              </p:cNvSpPr>
              <p:nvPr/>
            </p:nvSpPr>
            <p:spPr bwMode="auto">
              <a:xfrm>
                <a:off x="2016" y="2448"/>
                <a:ext cx="384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graphicFrame>
            <p:nvGraphicFramePr>
              <p:cNvPr id="16459" name="Object 75"/>
              <p:cNvGraphicFramePr>
                <a:graphicFrameLocks noChangeAspect="1"/>
              </p:cNvGraphicFramePr>
              <p:nvPr/>
            </p:nvGraphicFramePr>
            <p:xfrm>
              <a:off x="2082" y="2448"/>
              <a:ext cx="288" cy="3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" imgW="203040" imgH="215640" progId="Equation.3">
                      <p:embed/>
                    </p:oleObj>
                  </mc:Choice>
                  <mc:Fallback>
                    <p:oleObj name="Equation" r:id="rId5" imgW="203040" imgH="215640" progId="Equation.3">
                      <p:embed/>
                      <p:pic>
                        <p:nvPicPr>
                          <p:cNvPr id="0" name="Picture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82" y="2448"/>
                            <a:ext cx="288" cy="30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6460" name="Line 76"/>
            <p:cNvSpPr>
              <a:spLocks noChangeShapeType="1"/>
            </p:cNvSpPr>
            <p:nvPr/>
          </p:nvSpPr>
          <p:spPr bwMode="auto">
            <a:xfrm>
              <a:off x="2352" y="720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6461" name="Rectangle 77"/>
            <p:cNvSpPr>
              <a:spLocks noChangeArrowheads="1"/>
            </p:cNvSpPr>
            <p:nvPr/>
          </p:nvSpPr>
          <p:spPr bwMode="auto">
            <a:xfrm>
              <a:off x="960" y="1239"/>
              <a:ext cx="432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16462" name="Object 78"/>
            <p:cNvGraphicFramePr>
              <a:graphicFrameLocks noChangeAspect="1"/>
            </p:cNvGraphicFramePr>
            <p:nvPr/>
          </p:nvGraphicFramePr>
          <p:xfrm>
            <a:off x="1056" y="1239"/>
            <a:ext cx="288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203040" imgH="215640" progId="Equation.3">
                    <p:embed/>
                  </p:oleObj>
                </mc:Choice>
                <mc:Fallback>
                  <p:oleObj name="Equation" r:id="rId7" imgW="203040" imgH="215640" progId="Equation.3">
                    <p:embed/>
                    <p:pic>
                      <p:nvPicPr>
                        <p:cNvPr id="0" name="Picture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1239"/>
                          <a:ext cx="288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63" name="Line 79"/>
            <p:cNvSpPr>
              <a:spLocks noChangeShapeType="1"/>
            </p:cNvSpPr>
            <p:nvPr/>
          </p:nvSpPr>
          <p:spPr bwMode="auto">
            <a:xfrm>
              <a:off x="480" y="750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6464" name="Line 80"/>
            <p:cNvSpPr>
              <a:spLocks noChangeShapeType="1"/>
            </p:cNvSpPr>
            <p:nvPr/>
          </p:nvSpPr>
          <p:spPr bwMode="auto">
            <a:xfrm flipH="1">
              <a:off x="1296" y="201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6465" name="Line 81"/>
            <p:cNvSpPr>
              <a:spLocks noChangeShapeType="1"/>
            </p:cNvSpPr>
            <p:nvPr/>
          </p:nvSpPr>
          <p:spPr bwMode="auto">
            <a:xfrm>
              <a:off x="1392" y="137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6466" name="Line 82"/>
            <p:cNvSpPr>
              <a:spLocks noChangeShapeType="1"/>
            </p:cNvSpPr>
            <p:nvPr/>
          </p:nvSpPr>
          <p:spPr bwMode="auto">
            <a:xfrm>
              <a:off x="2352" y="1344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6467" name="Line 83"/>
            <p:cNvSpPr>
              <a:spLocks noChangeShapeType="1"/>
            </p:cNvSpPr>
            <p:nvPr/>
          </p:nvSpPr>
          <p:spPr bwMode="auto">
            <a:xfrm>
              <a:off x="528" y="1182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graphicFrame>
          <p:nvGraphicFramePr>
            <p:cNvPr id="16469" name="Object 85"/>
            <p:cNvGraphicFramePr>
              <a:graphicFrameLocks noChangeAspect="1"/>
            </p:cNvGraphicFramePr>
            <p:nvPr/>
          </p:nvGraphicFramePr>
          <p:xfrm>
            <a:off x="2411" y="1248"/>
            <a:ext cx="133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52280" imgH="164880" progId="Equation.3">
                    <p:embed/>
                  </p:oleObj>
                </mc:Choice>
                <mc:Fallback>
                  <p:oleObj name="Equation" r:id="rId9" imgW="152280" imgH="164880" progId="Equation.3">
                    <p:embed/>
                    <p:pic>
                      <p:nvPicPr>
                        <p:cNvPr id="0" name="Picture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1" y="1248"/>
                          <a:ext cx="133" cy="1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70" name="Line 86"/>
            <p:cNvSpPr>
              <a:spLocks noChangeShapeType="1"/>
            </p:cNvSpPr>
            <p:nvPr/>
          </p:nvSpPr>
          <p:spPr bwMode="auto">
            <a:xfrm>
              <a:off x="480" y="720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6471" name="Line 87"/>
            <p:cNvSpPr>
              <a:spLocks noChangeShapeType="1"/>
            </p:cNvSpPr>
            <p:nvPr/>
          </p:nvSpPr>
          <p:spPr bwMode="auto">
            <a:xfrm>
              <a:off x="1776" y="720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6472" name="Rectangle 88"/>
            <p:cNvSpPr>
              <a:spLocks noChangeArrowheads="1"/>
            </p:cNvSpPr>
            <p:nvPr/>
          </p:nvSpPr>
          <p:spPr bwMode="auto">
            <a:xfrm>
              <a:off x="1584" y="1776"/>
              <a:ext cx="480" cy="4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16473" name="Object 89"/>
            <p:cNvGraphicFramePr>
              <a:graphicFrameLocks noChangeAspect="1"/>
            </p:cNvGraphicFramePr>
            <p:nvPr/>
          </p:nvGraphicFramePr>
          <p:xfrm>
            <a:off x="1695" y="1740"/>
            <a:ext cx="273" cy="5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228600" imgH="431640" progId="Equation.3">
                    <p:embed/>
                  </p:oleObj>
                </mc:Choice>
                <mc:Fallback>
                  <p:oleObj name="Equation" r:id="rId11" imgW="228600" imgH="431640" progId="Equation.3">
                    <p:embed/>
                    <p:pic>
                      <p:nvPicPr>
                        <p:cNvPr id="0" name="Picture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95" y="1740"/>
                          <a:ext cx="273" cy="5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74" name="Line 90"/>
            <p:cNvSpPr>
              <a:spLocks noChangeShapeType="1"/>
            </p:cNvSpPr>
            <p:nvPr/>
          </p:nvSpPr>
          <p:spPr bwMode="auto">
            <a:xfrm>
              <a:off x="2064" y="2016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grpSp>
          <p:nvGrpSpPr>
            <p:cNvPr id="5" name="Group 91"/>
            <p:cNvGrpSpPr>
              <a:grpSpLocks/>
            </p:cNvGrpSpPr>
            <p:nvPr/>
          </p:nvGrpSpPr>
          <p:grpSpPr bwMode="auto">
            <a:xfrm>
              <a:off x="1392" y="576"/>
              <a:ext cx="384" cy="306"/>
              <a:chOff x="4080" y="2016"/>
              <a:chExt cx="384" cy="306"/>
            </a:xfrm>
          </p:grpSpPr>
          <p:sp>
            <p:nvSpPr>
              <p:cNvPr id="16476" name="Rectangle 92"/>
              <p:cNvSpPr>
                <a:spLocks noChangeArrowheads="1"/>
              </p:cNvSpPr>
              <p:nvPr/>
            </p:nvSpPr>
            <p:spPr bwMode="auto">
              <a:xfrm>
                <a:off x="4080" y="2016"/>
                <a:ext cx="384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graphicFrame>
            <p:nvGraphicFramePr>
              <p:cNvPr id="16477" name="Object 93"/>
              <p:cNvGraphicFramePr>
                <a:graphicFrameLocks noChangeAspect="1"/>
              </p:cNvGraphicFramePr>
              <p:nvPr/>
            </p:nvGraphicFramePr>
            <p:xfrm>
              <a:off x="4128" y="2016"/>
              <a:ext cx="324" cy="3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228600" imgH="215640" progId="Equation.3">
                      <p:embed/>
                    </p:oleObj>
                  </mc:Choice>
                  <mc:Fallback>
                    <p:oleObj name="Equation" r:id="rId13" imgW="228600" imgH="215640" progId="Equation.3">
                      <p:embed/>
                      <p:pic>
                        <p:nvPicPr>
                          <p:cNvPr id="0" name="Picture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28" y="2016"/>
                            <a:ext cx="324" cy="30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6478" name="Line 94"/>
            <p:cNvSpPr>
              <a:spLocks noChangeShapeType="1"/>
            </p:cNvSpPr>
            <p:nvPr/>
          </p:nvSpPr>
          <p:spPr bwMode="auto">
            <a:xfrm>
              <a:off x="2160" y="139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6479" name="Line 95"/>
            <p:cNvSpPr>
              <a:spLocks noChangeShapeType="1"/>
            </p:cNvSpPr>
            <p:nvPr/>
          </p:nvSpPr>
          <p:spPr bwMode="auto">
            <a:xfrm>
              <a:off x="480" y="201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6481" name="Line 97"/>
            <p:cNvSpPr>
              <a:spLocks noChangeShapeType="1"/>
            </p:cNvSpPr>
            <p:nvPr/>
          </p:nvSpPr>
          <p:spPr bwMode="auto">
            <a:xfrm>
              <a:off x="48" y="139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6482" name="AutoShape 98"/>
          <p:cNvSpPr>
            <a:spLocks noChangeArrowheads="1"/>
          </p:cNvSpPr>
          <p:nvPr/>
        </p:nvSpPr>
        <p:spPr bwMode="auto">
          <a:xfrm>
            <a:off x="4343400" y="2057400"/>
            <a:ext cx="762000" cy="228600"/>
          </a:xfrm>
          <a:prstGeom prst="rightArrow">
            <a:avLst>
              <a:gd name="adj1" fmla="val 50000"/>
              <a:gd name="adj2" fmla="val 83333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grpSp>
        <p:nvGrpSpPr>
          <p:cNvPr id="6" name="Group 145"/>
          <p:cNvGrpSpPr>
            <a:grpSpLocks/>
          </p:cNvGrpSpPr>
          <p:nvPr/>
        </p:nvGrpSpPr>
        <p:grpSpPr bwMode="auto">
          <a:xfrm>
            <a:off x="5181600" y="1895475"/>
            <a:ext cx="3810000" cy="1609725"/>
            <a:chOff x="3360" y="1194"/>
            <a:chExt cx="2400" cy="1014"/>
          </a:xfrm>
        </p:grpSpPr>
        <p:sp>
          <p:nvSpPr>
            <p:cNvPr id="16483" name="Line 99"/>
            <p:cNvSpPr>
              <a:spLocks noChangeShapeType="1"/>
            </p:cNvSpPr>
            <p:nvPr/>
          </p:nvSpPr>
          <p:spPr bwMode="auto">
            <a:xfrm flipV="1">
              <a:off x="3792" y="1434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pic>
          <p:nvPicPr>
            <p:cNvPr id="16484" name="Picture 100" descr="untitled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696" y="1242"/>
              <a:ext cx="192" cy="192"/>
            </a:xfrm>
            <a:prstGeom prst="rect">
              <a:avLst/>
            </a:prstGeom>
            <a:noFill/>
          </p:spPr>
        </p:pic>
        <p:grpSp>
          <p:nvGrpSpPr>
            <p:cNvPr id="7" name="Group 103"/>
            <p:cNvGrpSpPr>
              <a:grpSpLocks/>
            </p:cNvGrpSpPr>
            <p:nvPr/>
          </p:nvGrpSpPr>
          <p:grpSpPr bwMode="auto">
            <a:xfrm>
              <a:off x="3552" y="1242"/>
              <a:ext cx="96" cy="96"/>
              <a:chOff x="1344" y="1660"/>
              <a:chExt cx="96" cy="96"/>
            </a:xfrm>
          </p:grpSpPr>
          <p:sp>
            <p:nvSpPr>
              <p:cNvPr id="16488" name="Line 104"/>
              <p:cNvSpPr>
                <a:spLocks noChangeShapeType="1"/>
              </p:cNvSpPr>
              <p:nvPr/>
            </p:nvSpPr>
            <p:spPr bwMode="auto">
              <a:xfrm>
                <a:off x="1344" y="170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6489" name="Line 105"/>
              <p:cNvSpPr>
                <a:spLocks noChangeShapeType="1"/>
              </p:cNvSpPr>
              <p:nvPr/>
            </p:nvSpPr>
            <p:spPr bwMode="auto">
              <a:xfrm flipV="1">
                <a:off x="1392" y="166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16490" name="Line 106"/>
            <p:cNvSpPr>
              <a:spLocks noChangeShapeType="1"/>
            </p:cNvSpPr>
            <p:nvPr/>
          </p:nvSpPr>
          <p:spPr bwMode="auto">
            <a:xfrm>
              <a:off x="3840" y="1482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6496" name="Rectangle 112"/>
            <p:cNvSpPr>
              <a:spLocks noChangeArrowheads="1"/>
            </p:cNvSpPr>
            <p:nvPr/>
          </p:nvSpPr>
          <p:spPr bwMode="auto">
            <a:xfrm>
              <a:off x="4512" y="1203"/>
              <a:ext cx="528" cy="29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16497" name="Object 113"/>
            <p:cNvGraphicFramePr>
              <a:graphicFrameLocks noChangeAspect="1"/>
            </p:cNvGraphicFramePr>
            <p:nvPr/>
          </p:nvGraphicFramePr>
          <p:xfrm>
            <a:off x="4536" y="1194"/>
            <a:ext cx="504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355320" imgH="228600" progId="Equation.3">
                    <p:embed/>
                  </p:oleObj>
                </mc:Choice>
                <mc:Fallback>
                  <p:oleObj name="Equation" r:id="rId15" imgW="355320" imgH="228600" progId="Equation.3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6" y="1194"/>
                          <a:ext cx="504" cy="32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501" name="Line 117"/>
            <p:cNvSpPr>
              <a:spLocks noChangeShapeType="1"/>
            </p:cNvSpPr>
            <p:nvPr/>
          </p:nvSpPr>
          <p:spPr bwMode="auto">
            <a:xfrm>
              <a:off x="5520" y="1356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graphicFrame>
          <p:nvGraphicFramePr>
            <p:cNvPr id="16503" name="Object 119"/>
            <p:cNvGraphicFramePr>
              <a:graphicFrameLocks noChangeAspect="1"/>
            </p:cNvGraphicFramePr>
            <p:nvPr/>
          </p:nvGraphicFramePr>
          <p:xfrm>
            <a:off x="5472" y="1212"/>
            <a:ext cx="133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52280" imgH="164880" progId="Equation.3">
                    <p:embed/>
                  </p:oleObj>
                </mc:Choice>
                <mc:Fallback>
                  <p:oleObj name="Equation" r:id="rId17" imgW="152280" imgH="164880" progId="Equation.3">
                    <p:embed/>
                    <p:pic>
                      <p:nvPicPr>
                        <p:cNvPr id="0" name="Picture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72" y="1212"/>
                          <a:ext cx="133" cy="1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506" name="Rectangle 122"/>
            <p:cNvSpPr>
              <a:spLocks noChangeArrowheads="1"/>
            </p:cNvSpPr>
            <p:nvPr/>
          </p:nvSpPr>
          <p:spPr bwMode="auto">
            <a:xfrm>
              <a:off x="4224" y="1692"/>
              <a:ext cx="1008" cy="4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16507" name="Object 123"/>
            <p:cNvGraphicFramePr>
              <a:graphicFrameLocks noChangeAspect="1"/>
            </p:cNvGraphicFramePr>
            <p:nvPr/>
          </p:nvGraphicFramePr>
          <p:xfrm>
            <a:off x="4464" y="1692"/>
            <a:ext cx="667" cy="5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558720" imgH="431640" progId="Equation.3">
                    <p:embed/>
                  </p:oleObj>
                </mc:Choice>
                <mc:Fallback>
                  <p:oleObj name="Equation" r:id="rId18" imgW="558720" imgH="431640" progId="Equation.3">
                    <p:embed/>
                    <p:pic>
                      <p:nvPicPr>
                        <p:cNvPr id="0" name="Picture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1692"/>
                          <a:ext cx="667" cy="5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508" name="Line 124"/>
            <p:cNvSpPr>
              <a:spLocks noChangeShapeType="1"/>
            </p:cNvSpPr>
            <p:nvPr/>
          </p:nvSpPr>
          <p:spPr bwMode="auto">
            <a:xfrm>
              <a:off x="5232" y="1932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6512" name="Line 128"/>
            <p:cNvSpPr>
              <a:spLocks noChangeShapeType="1"/>
            </p:cNvSpPr>
            <p:nvPr/>
          </p:nvSpPr>
          <p:spPr bwMode="auto">
            <a:xfrm>
              <a:off x="3792" y="193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6513" name="Line 129"/>
            <p:cNvSpPr>
              <a:spLocks noChangeShapeType="1"/>
            </p:cNvSpPr>
            <p:nvPr/>
          </p:nvSpPr>
          <p:spPr bwMode="auto">
            <a:xfrm>
              <a:off x="3360" y="135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6514" name="Line 130"/>
            <p:cNvSpPr>
              <a:spLocks noChangeShapeType="1"/>
            </p:cNvSpPr>
            <p:nvPr/>
          </p:nvSpPr>
          <p:spPr bwMode="auto">
            <a:xfrm>
              <a:off x="5040" y="1356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6515" name="Line 131"/>
            <p:cNvSpPr>
              <a:spLocks noChangeShapeType="1"/>
            </p:cNvSpPr>
            <p:nvPr/>
          </p:nvSpPr>
          <p:spPr bwMode="auto">
            <a:xfrm>
              <a:off x="3840" y="1356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" name="Group 147"/>
          <p:cNvGrpSpPr>
            <a:grpSpLocks/>
          </p:cNvGrpSpPr>
          <p:nvPr/>
        </p:nvGrpSpPr>
        <p:grpSpPr bwMode="auto">
          <a:xfrm>
            <a:off x="304800" y="3967163"/>
            <a:ext cx="8153400" cy="2662237"/>
            <a:chOff x="192" y="2499"/>
            <a:chExt cx="5136" cy="1677"/>
          </a:xfrm>
        </p:grpSpPr>
        <p:sp>
          <p:nvSpPr>
            <p:cNvPr id="16389" name="Line 5"/>
            <p:cNvSpPr>
              <a:spLocks noChangeShapeType="1"/>
            </p:cNvSpPr>
            <p:nvPr/>
          </p:nvSpPr>
          <p:spPr bwMode="auto">
            <a:xfrm>
              <a:off x="432" y="2783"/>
              <a:ext cx="576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6390" name="Line 6"/>
            <p:cNvSpPr>
              <a:spLocks noChangeShapeType="1"/>
            </p:cNvSpPr>
            <p:nvPr/>
          </p:nvSpPr>
          <p:spPr bwMode="auto">
            <a:xfrm flipV="1">
              <a:off x="4032" y="2787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6392" name="Line 8"/>
            <p:cNvSpPr>
              <a:spLocks noChangeShapeType="1"/>
            </p:cNvSpPr>
            <p:nvPr/>
          </p:nvSpPr>
          <p:spPr bwMode="auto">
            <a:xfrm>
              <a:off x="4560" y="2784"/>
              <a:ext cx="0" cy="12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9" name="Group 9"/>
            <p:cNvGrpSpPr>
              <a:grpSpLocks/>
            </p:cNvGrpSpPr>
            <p:nvPr/>
          </p:nvGrpSpPr>
          <p:grpSpPr bwMode="auto">
            <a:xfrm>
              <a:off x="864" y="2622"/>
              <a:ext cx="96" cy="96"/>
              <a:chOff x="1344" y="1660"/>
              <a:chExt cx="96" cy="96"/>
            </a:xfrm>
          </p:grpSpPr>
          <p:sp>
            <p:nvSpPr>
              <p:cNvPr id="16394" name="Line 10"/>
              <p:cNvSpPr>
                <a:spLocks noChangeShapeType="1"/>
              </p:cNvSpPr>
              <p:nvPr/>
            </p:nvSpPr>
            <p:spPr bwMode="auto">
              <a:xfrm>
                <a:off x="1344" y="170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6395" name="Line 11"/>
              <p:cNvSpPr>
                <a:spLocks noChangeShapeType="1"/>
              </p:cNvSpPr>
              <p:nvPr/>
            </p:nvSpPr>
            <p:spPr bwMode="auto">
              <a:xfrm flipV="1">
                <a:off x="1392" y="166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</p:grpSp>
        <p:pic>
          <p:nvPicPr>
            <p:cNvPr id="16396" name="Picture 12" descr="untitled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008" y="2691"/>
              <a:ext cx="192" cy="192"/>
            </a:xfrm>
            <a:prstGeom prst="rect">
              <a:avLst/>
            </a:prstGeom>
            <a:noFill/>
          </p:spPr>
        </p:pic>
        <p:sp>
          <p:nvSpPr>
            <p:cNvPr id="16397" name="Line 13"/>
            <p:cNvSpPr>
              <a:spLocks noChangeShapeType="1"/>
            </p:cNvSpPr>
            <p:nvPr/>
          </p:nvSpPr>
          <p:spPr bwMode="auto">
            <a:xfrm>
              <a:off x="960" y="2931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6398" name="Line 14"/>
            <p:cNvSpPr>
              <a:spLocks noChangeShapeType="1"/>
            </p:cNvSpPr>
            <p:nvPr/>
          </p:nvSpPr>
          <p:spPr bwMode="auto">
            <a:xfrm flipV="1">
              <a:off x="1104" y="2835"/>
              <a:ext cx="0" cy="6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6407" name="Rectangle 23"/>
            <p:cNvSpPr>
              <a:spLocks noChangeArrowheads="1"/>
            </p:cNvSpPr>
            <p:nvPr/>
          </p:nvSpPr>
          <p:spPr bwMode="auto">
            <a:xfrm>
              <a:off x="1488" y="2643"/>
              <a:ext cx="432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16408" name="Object 24"/>
            <p:cNvGraphicFramePr>
              <a:graphicFrameLocks noChangeAspect="1"/>
            </p:cNvGraphicFramePr>
            <p:nvPr/>
          </p:nvGraphicFramePr>
          <p:xfrm>
            <a:off x="1572" y="2643"/>
            <a:ext cx="252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77480" imgH="215640" progId="Equation.3">
                    <p:embed/>
                  </p:oleObj>
                </mc:Choice>
                <mc:Fallback>
                  <p:oleObj name="Equation" r:id="rId20" imgW="177480" imgH="215640" progId="Equation.3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2" y="2643"/>
                          <a:ext cx="252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15" name="Object 31"/>
            <p:cNvGraphicFramePr>
              <a:graphicFrameLocks noChangeAspect="1"/>
            </p:cNvGraphicFramePr>
            <p:nvPr/>
          </p:nvGraphicFramePr>
          <p:xfrm>
            <a:off x="192" y="2499"/>
            <a:ext cx="45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317160" imgH="203040" progId="Equation.3">
                    <p:embed/>
                  </p:oleObj>
                </mc:Choice>
                <mc:Fallback>
                  <p:oleObj name="Equation" r:id="rId22" imgW="317160" imgH="203040" progId="Equation.3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" y="2499"/>
                          <a:ext cx="450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16" name="Object 32"/>
            <p:cNvGraphicFramePr>
              <a:graphicFrameLocks noChangeAspect="1"/>
            </p:cNvGraphicFramePr>
            <p:nvPr/>
          </p:nvGraphicFramePr>
          <p:xfrm>
            <a:off x="4878" y="2499"/>
            <a:ext cx="45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317160" imgH="203040" progId="Equation.3">
                    <p:embed/>
                  </p:oleObj>
                </mc:Choice>
                <mc:Fallback>
                  <p:oleObj name="Equation" r:id="rId24" imgW="317160" imgH="203040" progId="Equation.3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8" y="2499"/>
                          <a:ext cx="450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17" name="Line 33"/>
            <p:cNvSpPr>
              <a:spLocks noChangeShapeType="1"/>
            </p:cNvSpPr>
            <p:nvPr/>
          </p:nvSpPr>
          <p:spPr bwMode="auto">
            <a:xfrm>
              <a:off x="672" y="2784"/>
              <a:ext cx="0" cy="12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6418" name="Line 34"/>
            <p:cNvSpPr>
              <a:spLocks noChangeShapeType="1"/>
            </p:cNvSpPr>
            <p:nvPr/>
          </p:nvSpPr>
          <p:spPr bwMode="auto">
            <a:xfrm>
              <a:off x="672" y="4032"/>
              <a:ext cx="15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6419" name="Rectangle 35"/>
            <p:cNvSpPr>
              <a:spLocks noChangeArrowheads="1"/>
            </p:cNvSpPr>
            <p:nvPr/>
          </p:nvSpPr>
          <p:spPr bwMode="auto">
            <a:xfrm>
              <a:off x="2256" y="3840"/>
              <a:ext cx="384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16420" name="Object 36"/>
            <p:cNvGraphicFramePr>
              <a:graphicFrameLocks noChangeAspect="1"/>
            </p:cNvGraphicFramePr>
            <p:nvPr/>
          </p:nvGraphicFramePr>
          <p:xfrm>
            <a:off x="2322" y="3870"/>
            <a:ext cx="288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203040" imgH="215640" progId="Equation.3">
                    <p:embed/>
                  </p:oleObj>
                </mc:Choice>
                <mc:Fallback>
                  <p:oleObj name="Equation" r:id="rId26" imgW="203040" imgH="215640" progId="Equation.3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22" y="3870"/>
                          <a:ext cx="288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6421" name="Picture 37" descr="untitled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464" y="2670"/>
              <a:ext cx="192" cy="192"/>
            </a:xfrm>
            <a:prstGeom prst="rect">
              <a:avLst/>
            </a:prstGeom>
            <a:noFill/>
          </p:spPr>
        </p:pic>
        <p:grpSp>
          <p:nvGrpSpPr>
            <p:cNvPr id="10" name="Group 38"/>
            <p:cNvGrpSpPr>
              <a:grpSpLocks/>
            </p:cNvGrpSpPr>
            <p:nvPr/>
          </p:nvGrpSpPr>
          <p:grpSpPr bwMode="auto">
            <a:xfrm>
              <a:off x="4368" y="2622"/>
              <a:ext cx="96" cy="96"/>
              <a:chOff x="1344" y="1660"/>
              <a:chExt cx="96" cy="96"/>
            </a:xfrm>
          </p:grpSpPr>
          <p:sp>
            <p:nvSpPr>
              <p:cNvPr id="16423" name="Line 39"/>
              <p:cNvSpPr>
                <a:spLocks noChangeShapeType="1"/>
              </p:cNvSpPr>
              <p:nvPr/>
            </p:nvSpPr>
            <p:spPr bwMode="auto">
              <a:xfrm>
                <a:off x="1344" y="170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6424" name="Line 40"/>
              <p:cNvSpPr>
                <a:spLocks noChangeShapeType="1"/>
              </p:cNvSpPr>
              <p:nvPr/>
            </p:nvSpPr>
            <p:spPr bwMode="auto">
              <a:xfrm flipV="1">
                <a:off x="1392" y="166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16425" name="Line 41"/>
            <p:cNvSpPr>
              <a:spLocks noChangeShapeType="1"/>
            </p:cNvSpPr>
            <p:nvPr/>
          </p:nvSpPr>
          <p:spPr bwMode="auto">
            <a:xfrm flipV="1">
              <a:off x="4560" y="2862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grpSp>
          <p:nvGrpSpPr>
            <p:cNvPr id="11" name="Group 42"/>
            <p:cNvGrpSpPr>
              <a:grpSpLocks/>
            </p:cNvGrpSpPr>
            <p:nvPr/>
          </p:nvGrpSpPr>
          <p:grpSpPr bwMode="auto">
            <a:xfrm>
              <a:off x="4416" y="2862"/>
              <a:ext cx="96" cy="96"/>
              <a:chOff x="1344" y="1660"/>
              <a:chExt cx="96" cy="96"/>
            </a:xfrm>
          </p:grpSpPr>
          <p:sp>
            <p:nvSpPr>
              <p:cNvPr id="16427" name="Line 43"/>
              <p:cNvSpPr>
                <a:spLocks noChangeShapeType="1"/>
              </p:cNvSpPr>
              <p:nvPr/>
            </p:nvSpPr>
            <p:spPr bwMode="auto">
              <a:xfrm>
                <a:off x="1344" y="170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6428" name="Line 44"/>
              <p:cNvSpPr>
                <a:spLocks noChangeShapeType="1"/>
              </p:cNvSpPr>
              <p:nvPr/>
            </p:nvSpPr>
            <p:spPr bwMode="auto">
              <a:xfrm flipV="1">
                <a:off x="1392" y="1660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16430" name="Line 46"/>
            <p:cNvSpPr>
              <a:spLocks noChangeShapeType="1"/>
            </p:cNvSpPr>
            <p:nvPr/>
          </p:nvSpPr>
          <p:spPr bwMode="auto">
            <a:xfrm>
              <a:off x="1200" y="2766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6431" name="Line 47"/>
            <p:cNvSpPr>
              <a:spLocks noChangeShapeType="1"/>
            </p:cNvSpPr>
            <p:nvPr/>
          </p:nvSpPr>
          <p:spPr bwMode="auto">
            <a:xfrm>
              <a:off x="1920" y="276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6434" name="Line 50"/>
            <p:cNvSpPr>
              <a:spLocks noChangeShapeType="1"/>
            </p:cNvSpPr>
            <p:nvPr/>
          </p:nvSpPr>
          <p:spPr bwMode="auto">
            <a:xfrm>
              <a:off x="2640" y="4032"/>
              <a:ext cx="19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6436" name="Line 52"/>
            <p:cNvSpPr>
              <a:spLocks noChangeShapeType="1"/>
            </p:cNvSpPr>
            <p:nvPr/>
          </p:nvSpPr>
          <p:spPr bwMode="auto">
            <a:xfrm flipH="1">
              <a:off x="2928" y="3456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6438" name="Line 54"/>
            <p:cNvSpPr>
              <a:spLocks noChangeShapeType="1"/>
            </p:cNvSpPr>
            <p:nvPr/>
          </p:nvSpPr>
          <p:spPr bwMode="auto">
            <a:xfrm>
              <a:off x="4224" y="2784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6444" name="Line 60"/>
            <p:cNvSpPr>
              <a:spLocks noChangeShapeType="1"/>
            </p:cNvSpPr>
            <p:nvPr/>
          </p:nvSpPr>
          <p:spPr bwMode="auto">
            <a:xfrm>
              <a:off x="1104" y="3492"/>
              <a:ext cx="1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6445" name="Rectangle 61"/>
            <p:cNvSpPr>
              <a:spLocks noChangeArrowheads="1"/>
            </p:cNvSpPr>
            <p:nvPr/>
          </p:nvSpPr>
          <p:spPr bwMode="auto">
            <a:xfrm>
              <a:off x="2448" y="3252"/>
              <a:ext cx="480" cy="4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16446" name="Object 62"/>
            <p:cNvGraphicFramePr>
              <a:graphicFrameLocks noChangeAspect="1"/>
            </p:cNvGraphicFramePr>
            <p:nvPr/>
          </p:nvGraphicFramePr>
          <p:xfrm>
            <a:off x="2544" y="3264"/>
            <a:ext cx="288" cy="5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241200" imgH="431640" progId="Equation.3">
                    <p:embed/>
                  </p:oleObj>
                </mc:Choice>
                <mc:Fallback>
                  <p:oleObj name="Equation" r:id="rId28" imgW="241200" imgH="431640" progId="Equation.3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4" y="3264"/>
                          <a:ext cx="288" cy="5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47" name="Line 63"/>
            <p:cNvSpPr>
              <a:spLocks noChangeShapeType="1"/>
            </p:cNvSpPr>
            <p:nvPr/>
          </p:nvSpPr>
          <p:spPr bwMode="auto">
            <a:xfrm>
              <a:off x="3888" y="345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6521" name="Rectangle 137"/>
            <p:cNvSpPr>
              <a:spLocks noChangeArrowheads="1"/>
            </p:cNvSpPr>
            <p:nvPr/>
          </p:nvSpPr>
          <p:spPr bwMode="auto">
            <a:xfrm>
              <a:off x="2256" y="2544"/>
              <a:ext cx="1776" cy="4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16522" name="Object 138"/>
            <p:cNvGraphicFramePr>
              <a:graphicFrameLocks noChangeAspect="1"/>
            </p:cNvGraphicFramePr>
            <p:nvPr/>
          </p:nvGraphicFramePr>
          <p:xfrm>
            <a:off x="2400" y="2544"/>
            <a:ext cx="1455" cy="5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1218960" imgH="431640" progId="Equation.3">
                    <p:embed/>
                  </p:oleObj>
                </mc:Choice>
                <mc:Fallback>
                  <p:oleObj name="Equation" r:id="rId30" imgW="1218960" imgH="431640" progId="Equation.3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0" y="2544"/>
                          <a:ext cx="1455" cy="5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523" name="AutoShape 139"/>
          <p:cNvSpPr>
            <a:spLocks noChangeArrowheads="1"/>
          </p:cNvSpPr>
          <p:nvPr/>
        </p:nvSpPr>
        <p:spPr bwMode="auto">
          <a:xfrm>
            <a:off x="4648200" y="3276600"/>
            <a:ext cx="381000" cy="533400"/>
          </a:xfrm>
          <a:prstGeom prst="downArrow">
            <a:avLst>
              <a:gd name="adj1" fmla="val 50000"/>
              <a:gd name="adj2" fmla="val 35000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grpSp>
        <p:nvGrpSpPr>
          <p:cNvPr id="12" name="Group 146"/>
          <p:cNvGrpSpPr>
            <a:grpSpLocks/>
          </p:cNvGrpSpPr>
          <p:nvPr/>
        </p:nvGrpSpPr>
        <p:grpSpPr bwMode="auto">
          <a:xfrm>
            <a:off x="1219200" y="3429000"/>
            <a:ext cx="5715000" cy="2590800"/>
            <a:chOff x="768" y="2160"/>
            <a:chExt cx="3600" cy="1632"/>
          </a:xfrm>
        </p:grpSpPr>
        <p:sp>
          <p:nvSpPr>
            <p:cNvPr id="16524" name="Rectangle 140"/>
            <p:cNvSpPr>
              <a:spLocks noChangeArrowheads="1"/>
            </p:cNvSpPr>
            <p:nvPr/>
          </p:nvSpPr>
          <p:spPr bwMode="auto">
            <a:xfrm>
              <a:off x="768" y="2448"/>
              <a:ext cx="3600" cy="1344"/>
            </a:xfrm>
            <a:prstGeom prst="rect">
              <a:avLst/>
            </a:prstGeom>
            <a:noFill/>
            <a:ln w="9525">
              <a:solidFill>
                <a:srgbClr val="FF00FF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aphicFrame>
          <p:nvGraphicFramePr>
            <p:cNvPr id="16527" name="Object 143"/>
            <p:cNvGraphicFramePr>
              <a:graphicFrameLocks noChangeAspect="1"/>
            </p:cNvGraphicFramePr>
            <p:nvPr/>
          </p:nvGraphicFramePr>
          <p:xfrm>
            <a:off x="3648" y="2160"/>
            <a:ext cx="234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164880" imgH="164880" progId="Equation.3">
                    <p:embed/>
                  </p:oleObj>
                </mc:Choice>
                <mc:Fallback>
                  <p:oleObj name="Equation" r:id="rId32" imgW="164880" imgH="164880" progId="Equation.3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8" y="2160"/>
                          <a:ext cx="234" cy="234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00FF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38</a:t>
            </a:fld>
            <a:endParaRPr lang="en-GB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6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16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2" grpId="0" animBg="1"/>
      <p:bldP spid="1652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9" name="Object 11"/>
          <p:cNvGraphicFramePr>
            <a:graphicFrameLocks noChangeAspect="1"/>
          </p:cNvGraphicFramePr>
          <p:nvPr/>
        </p:nvGraphicFramePr>
        <p:xfrm>
          <a:off x="609600" y="1600200"/>
          <a:ext cx="7143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7160" imgH="203040" progId="Equation.3">
                  <p:embed/>
                </p:oleObj>
              </mc:Choice>
              <mc:Fallback>
                <p:oleObj name="Equation" r:id="rId2" imgW="317160" imgH="203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600200"/>
                        <a:ext cx="71437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0" name="Object 12"/>
          <p:cNvGraphicFramePr>
            <a:graphicFrameLocks noChangeAspect="1"/>
          </p:cNvGraphicFramePr>
          <p:nvPr/>
        </p:nvGraphicFramePr>
        <p:xfrm>
          <a:off x="7591425" y="1600200"/>
          <a:ext cx="7143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7160" imgH="203040" progId="Equation.3">
                  <p:embed/>
                </p:oleObj>
              </mc:Choice>
              <mc:Fallback>
                <p:oleObj name="Equation" r:id="rId4" imgW="317160" imgH="203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1425" y="1600200"/>
                        <a:ext cx="71437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1" name="Line 13"/>
          <p:cNvSpPr>
            <a:spLocks noChangeShapeType="1"/>
          </p:cNvSpPr>
          <p:nvPr/>
        </p:nvSpPr>
        <p:spPr bwMode="auto">
          <a:xfrm>
            <a:off x="6629400" y="20574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7422" name="Rectangle 14"/>
          <p:cNvSpPr>
            <a:spLocks noChangeArrowheads="1"/>
          </p:cNvSpPr>
          <p:nvPr/>
        </p:nvSpPr>
        <p:spPr bwMode="auto">
          <a:xfrm>
            <a:off x="2743200" y="1676400"/>
            <a:ext cx="3886200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graphicFrame>
        <p:nvGraphicFramePr>
          <p:cNvPr id="17427" name="Object 19"/>
          <p:cNvGraphicFramePr>
            <a:graphicFrameLocks noChangeAspect="1"/>
          </p:cNvGraphicFramePr>
          <p:nvPr/>
        </p:nvGraphicFramePr>
        <p:xfrm>
          <a:off x="2813050" y="1676400"/>
          <a:ext cx="3816350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28800" imgH="431640" progId="Equation.3">
                  <p:embed/>
                </p:oleObj>
              </mc:Choice>
              <mc:Fallback>
                <p:oleObj name="Equation" r:id="rId6" imgW="1828800" imgH="431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3050" y="1676400"/>
                        <a:ext cx="3816350" cy="822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8" name="Text Box 20"/>
          <p:cNvSpPr txBox="1">
            <a:spLocks noChangeArrowheads="1"/>
          </p:cNvSpPr>
          <p:nvPr/>
        </p:nvSpPr>
        <p:spPr bwMode="auto">
          <a:xfrm>
            <a:off x="228600" y="684213"/>
            <a:ext cx="269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333399"/>
                </a:solidFill>
                <a:latin typeface="Arial" pitchFamily="34" charset="0"/>
                <a:ea typeface="宋体" pitchFamily="2" charset="-122"/>
              </a:rPr>
              <a:t>3. </a:t>
            </a:r>
            <a:r>
              <a:rPr lang="en-US" altLang="zh-CN">
                <a:solidFill>
                  <a:srgbClr val="333399"/>
                </a:solidFill>
                <a:latin typeface="Arial" pitchFamily="34" charset="0"/>
                <a:ea typeface="宋体" pitchFamily="2" charset="-122"/>
              </a:rPr>
              <a:t>Eliminate loop II</a:t>
            </a:r>
          </a:p>
        </p:txBody>
      </p:sp>
      <p:graphicFrame>
        <p:nvGraphicFramePr>
          <p:cNvPr id="17429" name="Object 21"/>
          <p:cNvGraphicFramePr>
            <a:graphicFrameLocks noChangeAspect="1"/>
          </p:cNvGraphicFramePr>
          <p:nvPr/>
        </p:nvGraphicFramePr>
        <p:xfrm>
          <a:off x="685800" y="4699000"/>
          <a:ext cx="7423150" cy="1222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09600" imgH="431640" progId="Equation.3">
                  <p:embed/>
                </p:oleObj>
              </mc:Choice>
              <mc:Fallback>
                <p:oleObj name="Equation" r:id="rId8" imgW="3009600" imgH="4316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699000"/>
                        <a:ext cx="7423150" cy="1222375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0" name="Line 22"/>
          <p:cNvSpPr>
            <a:spLocks noChangeShapeType="1"/>
          </p:cNvSpPr>
          <p:nvPr/>
        </p:nvSpPr>
        <p:spPr bwMode="auto">
          <a:xfrm>
            <a:off x="762000" y="20574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7431" name="Line 23"/>
          <p:cNvSpPr>
            <a:spLocks noChangeShapeType="1"/>
          </p:cNvSpPr>
          <p:nvPr/>
        </p:nvSpPr>
        <p:spPr bwMode="auto">
          <a:xfrm>
            <a:off x="7543800" y="2085975"/>
            <a:ext cx="0" cy="111442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17432" name="Line 24"/>
          <p:cNvSpPr>
            <a:spLocks noChangeShapeType="1"/>
          </p:cNvSpPr>
          <p:nvPr/>
        </p:nvSpPr>
        <p:spPr bwMode="auto">
          <a:xfrm>
            <a:off x="1371600" y="2085975"/>
            <a:ext cx="0" cy="1114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7433" name="Line 25"/>
          <p:cNvSpPr>
            <a:spLocks noChangeShapeType="1"/>
          </p:cNvSpPr>
          <p:nvPr/>
        </p:nvSpPr>
        <p:spPr bwMode="auto">
          <a:xfrm>
            <a:off x="1371600" y="32004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7434" name="Rectangle 26"/>
          <p:cNvSpPr>
            <a:spLocks noChangeArrowheads="1"/>
          </p:cNvSpPr>
          <p:nvPr/>
        </p:nvSpPr>
        <p:spPr bwMode="auto">
          <a:xfrm>
            <a:off x="3886200" y="2895600"/>
            <a:ext cx="6096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graphicFrame>
        <p:nvGraphicFramePr>
          <p:cNvPr id="17435" name="Object 27"/>
          <p:cNvGraphicFramePr>
            <a:graphicFrameLocks noChangeAspect="1"/>
          </p:cNvGraphicFramePr>
          <p:nvPr/>
        </p:nvGraphicFramePr>
        <p:xfrm>
          <a:off x="3990975" y="2895600"/>
          <a:ext cx="4572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3040" imgH="215640" progId="Equation.3">
                  <p:embed/>
                </p:oleObj>
              </mc:Choice>
              <mc:Fallback>
                <p:oleObj name="Equation" r:id="rId10" imgW="203040" imgH="2156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0975" y="2895600"/>
                        <a:ext cx="457200" cy="485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436" name="Picture 28" descr="untitled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7391400" y="1905000"/>
            <a:ext cx="304800" cy="304800"/>
          </a:xfrm>
          <a:prstGeom prst="rect">
            <a:avLst/>
          </a:prstGeom>
          <a:noFill/>
        </p:spPr>
      </p:pic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7239000" y="1828800"/>
            <a:ext cx="152400" cy="152400"/>
            <a:chOff x="1344" y="1660"/>
            <a:chExt cx="96" cy="96"/>
          </a:xfrm>
        </p:grpSpPr>
        <p:sp>
          <p:nvSpPr>
            <p:cNvPr id="17438" name="Line 30"/>
            <p:cNvSpPr>
              <a:spLocks noChangeShapeType="1"/>
            </p:cNvSpPr>
            <p:nvPr/>
          </p:nvSpPr>
          <p:spPr bwMode="auto">
            <a:xfrm>
              <a:off x="1344" y="170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7439" name="Line 31"/>
            <p:cNvSpPr>
              <a:spLocks noChangeShapeType="1"/>
            </p:cNvSpPr>
            <p:nvPr/>
          </p:nvSpPr>
          <p:spPr bwMode="auto">
            <a:xfrm flipV="1">
              <a:off x="1392" y="166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3" name="Group 32"/>
          <p:cNvGrpSpPr>
            <a:grpSpLocks/>
          </p:cNvGrpSpPr>
          <p:nvPr/>
        </p:nvGrpSpPr>
        <p:grpSpPr bwMode="auto">
          <a:xfrm>
            <a:off x="7315200" y="2209800"/>
            <a:ext cx="152400" cy="152400"/>
            <a:chOff x="1344" y="1660"/>
            <a:chExt cx="96" cy="96"/>
          </a:xfrm>
        </p:grpSpPr>
        <p:sp>
          <p:nvSpPr>
            <p:cNvPr id="17441" name="Line 33"/>
            <p:cNvSpPr>
              <a:spLocks noChangeShapeType="1"/>
            </p:cNvSpPr>
            <p:nvPr/>
          </p:nvSpPr>
          <p:spPr bwMode="auto">
            <a:xfrm>
              <a:off x="1344" y="170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7442" name="Line 34"/>
            <p:cNvSpPr>
              <a:spLocks noChangeShapeType="1"/>
            </p:cNvSpPr>
            <p:nvPr/>
          </p:nvSpPr>
          <p:spPr bwMode="auto">
            <a:xfrm flipV="1">
              <a:off x="1392" y="166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GB"/>
            </a:p>
          </p:txBody>
        </p:sp>
      </p:grpSp>
      <p:sp>
        <p:nvSpPr>
          <p:cNvPr id="17443" name="Line 35"/>
          <p:cNvSpPr>
            <a:spLocks noChangeShapeType="1"/>
          </p:cNvSpPr>
          <p:nvPr/>
        </p:nvSpPr>
        <p:spPr bwMode="auto">
          <a:xfrm>
            <a:off x="4495800" y="3200400"/>
            <a:ext cx="3048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7444" name="AutoShape 36"/>
          <p:cNvSpPr>
            <a:spLocks noChangeArrowheads="1"/>
          </p:cNvSpPr>
          <p:nvPr/>
        </p:nvSpPr>
        <p:spPr bwMode="auto">
          <a:xfrm>
            <a:off x="4114800" y="3733800"/>
            <a:ext cx="381000" cy="457200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39</a:t>
            </a:fld>
            <a:endParaRPr lang="en-GB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7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7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4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2800" dirty="0"/>
              <a:t>Example-11: </a:t>
            </a:r>
            <a:r>
              <a:rPr lang="en-GB" sz="2800" dirty="0">
                <a:solidFill>
                  <a:srgbClr val="FF0000"/>
                </a:solidFill>
              </a:rPr>
              <a:t>Multiple Input System. </a:t>
            </a:r>
            <a:r>
              <a:rPr lang="en-GB" sz="2800" dirty="0"/>
              <a:t>Determine the output C due to inputs R and U using the Superposition Method.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288" y="1916832"/>
            <a:ext cx="5305425" cy="163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7938" y="4459957"/>
            <a:ext cx="4048125" cy="105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687688"/>
            <a:ext cx="2743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5783163"/>
            <a:ext cx="638175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5783162"/>
            <a:ext cx="4733925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10767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305800" cy="432048"/>
          </a:xfrm>
        </p:spPr>
        <p:txBody>
          <a:bodyPr>
            <a:normAutofit fontScale="90000"/>
          </a:bodyPr>
          <a:lstStyle/>
          <a:p>
            <a:r>
              <a:rPr lang="en-GB" sz="3100" dirty="0"/>
              <a:t>Example-11: Continue.</a:t>
            </a:r>
            <a:endParaRPr lang="en-GB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333253"/>
            <a:ext cx="5905500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5921" y="888504"/>
            <a:ext cx="4600575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068960"/>
            <a:ext cx="2390775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0196" y="3140968"/>
            <a:ext cx="4686300" cy="127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540" y="4437112"/>
            <a:ext cx="4381500" cy="20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1038" y="4869160"/>
            <a:ext cx="4743450" cy="1238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357" y="6080720"/>
            <a:ext cx="67627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6071195"/>
            <a:ext cx="4572000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6112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305800" cy="432048"/>
          </a:xfrm>
        </p:spPr>
        <p:txBody>
          <a:bodyPr>
            <a:normAutofit fontScale="90000"/>
          </a:bodyPr>
          <a:lstStyle/>
          <a:p>
            <a:r>
              <a:rPr lang="en-GB" sz="2800" dirty="0"/>
              <a:t>Example-11: Continue.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539552" y="1916832"/>
            <a:ext cx="3600400" cy="276225"/>
            <a:chOff x="539552" y="1916832"/>
            <a:chExt cx="3600400" cy="276225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552" y="1916832"/>
              <a:ext cx="2505075" cy="247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099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4577" y="1916832"/>
              <a:ext cx="1095375" cy="276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4" name="Group 3"/>
          <p:cNvGrpSpPr/>
          <p:nvPr/>
        </p:nvGrpSpPr>
        <p:grpSpPr>
          <a:xfrm>
            <a:off x="3275856" y="2718817"/>
            <a:ext cx="2686050" cy="1646287"/>
            <a:chOff x="3275856" y="2718817"/>
            <a:chExt cx="2686050" cy="1646287"/>
          </a:xfrm>
        </p:grpSpPr>
        <p:pic>
          <p:nvPicPr>
            <p:cNvPr id="4100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75856" y="2718817"/>
              <a:ext cx="2686050" cy="638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101" name="Picture 5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75856" y="3803129"/>
              <a:ext cx="2095500" cy="5619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12908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305800" cy="938368"/>
          </a:xfrm>
        </p:spPr>
        <p:txBody>
          <a:bodyPr>
            <a:normAutofit fontScale="90000"/>
          </a:bodyPr>
          <a:lstStyle/>
          <a:p>
            <a:r>
              <a:rPr lang="en-GB" sz="2800" dirty="0"/>
              <a:t>Example-12: </a:t>
            </a:r>
            <a:r>
              <a:rPr lang="en-GB" sz="2800" dirty="0">
                <a:solidFill>
                  <a:srgbClr val="FF0000"/>
                </a:solidFill>
              </a:rPr>
              <a:t>Multiple-Input System</a:t>
            </a:r>
            <a:r>
              <a:rPr lang="en-GB" sz="2800" dirty="0"/>
              <a:t>. Determine the output C due to inputs R, U1 and U2 using the Superposition Method.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0213" y="1772816"/>
            <a:ext cx="5743575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4117454"/>
            <a:ext cx="131445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4212307"/>
            <a:ext cx="3962400" cy="1304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" name="Group 2"/>
          <p:cNvGrpSpPr/>
          <p:nvPr/>
        </p:nvGrpSpPr>
        <p:grpSpPr>
          <a:xfrm>
            <a:off x="825649" y="6315794"/>
            <a:ext cx="3602335" cy="209550"/>
            <a:chOff x="321593" y="5595714"/>
            <a:chExt cx="3602335" cy="209550"/>
          </a:xfrm>
        </p:grpSpPr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593" y="5614764"/>
              <a:ext cx="2162175" cy="190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30" name="Picture 6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6603" y="5595714"/>
              <a:ext cx="1457325" cy="209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175" y="5764113"/>
            <a:ext cx="2533650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77069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305800" cy="434312"/>
          </a:xfrm>
        </p:spPr>
        <p:txBody>
          <a:bodyPr>
            <a:normAutofit fontScale="90000"/>
          </a:bodyPr>
          <a:lstStyle/>
          <a:p>
            <a:r>
              <a:rPr lang="en-GB" sz="2800" dirty="0"/>
              <a:t>Example-12: Continue.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124744"/>
            <a:ext cx="1638300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2638" y="1628800"/>
            <a:ext cx="5038725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113" y="4073624"/>
            <a:ext cx="4295775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" name="Group 2"/>
          <p:cNvGrpSpPr/>
          <p:nvPr/>
        </p:nvGrpSpPr>
        <p:grpSpPr>
          <a:xfrm>
            <a:off x="3563888" y="5764113"/>
            <a:ext cx="2384673" cy="257175"/>
            <a:chOff x="3851920" y="5620097"/>
            <a:chExt cx="2384673" cy="257175"/>
          </a:xfrm>
        </p:grpSpPr>
        <p:pic>
          <p:nvPicPr>
            <p:cNvPr id="2054" name="Picture 6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1920" y="5639147"/>
              <a:ext cx="419100" cy="23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55" name="Picture 7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83968" y="5620097"/>
              <a:ext cx="1952625" cy="257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4" name="Group 3"/>
          <p:cNvGrpSpPr/>
          <p:nvPr/>
        </p:nvGrpSpPr>
        <p:grpSpPr>
          <a:xfrm>
            <a:off x="539552" y="6306269"/>
            <a:ext cx="3922737" cy="219075"/>
            <a:chOff x="539552" y="6162253"/>
            <a:chExt cx="3922737" cy="219075"/>
          </a:xfrm>
        </p:grpSpPr>
        <p:pic>
          <p:nvPicPr>
            <p:cNvPr id="2056" name="Picture 8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552" y="6171778"/>
              <a:ext cx="2809875" cy="209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57" name="Picture 9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7864" y="6162253"/>
              <a:ext cx="1114425" cy="2190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2058" name="Picture 10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713981"/>
            <a:ext cx="24098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55867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305800" cy="434312"/>
          </a:xfrm>
        </p:spPr>
        <p:txBody>
          <a:bodyPr>
            <a:normAutofit fontScale="90000"/>
          </a:bodyPr>
          <a:lstStyle/>
          <a:p>
            <a:r>
              <a:rPr lang="en-GB" sz="2800" dirty="0"/>
              <a:t>Example-12: Continue.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124744"/>
            <a:ext cx="189547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4585" y="1340768"/>
            <a:ext cx="5057775" cy="177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996952"/>
            <a:ext cx="24098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3284984"/>
            <a:ext cx="4457700" cy="139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5024" y="4869160"/>
            <a:ext cx="27432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" name="Group 2"/>
          <p:cNvGrpSpPr/>
          <p:nvPr/>
        </p:nvGrpSpPr>
        <p:grpSpPr>
          <a:xfrm>
            <a:off x="395536" y="5229200"/>
            <a:ext cx="3886200" cy="219075"/>
            <a:chOff x="543322" y="6234261"/>
            <a:chExt cx="3886200" cy="219075"/>
          </a:xfrm>
        </p:grpSpPr>
        <p:pic>
          <p:nvPicPr>
            <p:cNvPr id="3079" name="Picture 7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322" y="6234261"/>
              <a:ext cx="2876550" cy="2190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80" name="Picture 8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19872" y="6237312"/>
              <a:ext cx="1009650" cy="209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3082" name="Picture 10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064" y="5836121"/>
            <a:ext cx="2971800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3" name="Picture 11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1114" y="6145485"/>
            <a:ext cx="38671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94979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305800" cy="650336"/>
          </a:xfrm>
        </p:spPr>
        <p:txBody>
          <a:bodyPr>
            <a:normAutofit fontScale="90000"/>
          </a:bodyPr>
          <a:lstStyle/>
          <a:p>
            <a:r>
              <a:rPr lang="en-GB" sz="2800" dirty="0"/>
              <a:t>Example-13: </a:t>
            </a:r>
            <a:r>
              <a:rPr lang="en-GB" sz="2800" dirty="0">
                <a:solidFill>
                  <a:srgbClr val="FF0000"/>
                </a:solidFill>
              </a:rPr>
              <a:t>Multi-Input Multi-Output System</a:t>
            </a:r>
            <a:r>
              <a:rPr lang="en-GB" sz="2800" dirty="0"/>
              <a:t>. Determine  C1 and C2 due to R1 and R2.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5038" y="1791072"/>
            <a:ext cx="4733925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" name="Group 2"/>
          <p:cNvGrpSpPr/>
          <p:nvPr/>
        </p:nvGrpSpPr>
        <p:grpSpPr>
          <a:xfrm>
            <a:off x="611560" y="4501202"/>
            <a:ext cx="2315769" cy="223942"/>
            <a:chOff x="755576" y="4005064"/>
            <a:chExt cx="2315769" cy="223942"/>
          </a:xfrm>
        </p:grpSpPr>
        <p:pic>
          <p:nvPicPr>
            <p:cNvPr id="4099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5576" y="4005064"/>
              <a:ext cx="466725" cy="2190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100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3970" y="4009931"/>
              <a:ext cx="1857375" cy="2190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150" y="4915619"/>
            <a:ext cx="5981700" cy="160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92326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305800" cy="362304"/>
          </a:xfrm>
        </p:spPr>
        <p:txBody>
          <a:bodyPr>
            <a:normAutofit fontScale="90000"/>
          </a:bodyPr>
          <a:lstStyle/>
          <a:p>
            <a:r>
              <a:rPr lang="en-GB" sz="2800" dirty="0"/>
              <a:t>Example-13: Continue.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340768"/>
            <a:ext cx="406717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9838" y="1628800"/>
            <a:ext cx="4124325" cy="142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140968"/>
            <a:ext cx="604837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" name="Group 3"/>
          <p:cNvGrpSpPr/>
          <p:nvPr/>
        </p:nvGrpSpPr>
        <p:grpSpPr>
          <a:xfrm>
            <a:off x="539552" y="4077072"/>
            <a:ext cx="6294636" cy="1503040"/>
            <a:chOff x="539552" y="3870176"/>
            <a:chExt cx="6294636" cy="1503040"/>
          </a:xfrm>
        </p:grpSpPr>
        <p:pic>
          <p:nvPicPr>
            <p:cNvPr id="5125" name="Picture 5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552" y="3920480"/>
              <a:ext cx="933450" cy="22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26" name="Picture 6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09813" y="3870176"/>
              <a:ext cx="4524375" cy="1143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27" name="Picture 7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552" y="5135091"/>
              <a:ext cx="6181725" cy="23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4" name="Group 2"/>
          <p:cNvGrpSpPr/>
          <p:nvPr/>
        </p:nvGrpSpPr>
        <p:grpSpPr>
          <a:xfrm>
            <a:off x="2195736" y="6196161"/>
            <a:ext cx="4824536" cy="257175"/>
            <a:chOff x="2339752" y="6196161"/>
            <a:chExt cx="4824536" cy="257175"/>
          </a:xfrm>
        </p:grpSpPr>
        <p:pic>
          <p:nvPicPr>
            <p:cNvPr id="5128" name="Picture 8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39752" y="6224736"/>
              <a:ext cx="1838325" cy="22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129" name="Picture 9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21063" y="6196161"/>
              <a:ext cx="2943225" cy="257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93204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305800" cy="434312"/>
          </a:xfrm>
        </p:spPr>
        <p:txBody>
          <a:bodyPr>
            <a:normAutofit fontScale="90000"/>
          </a:bodyPr>
          <a:lstStyle/>
          <a:p>
            <a:r>
              <a:rPr lang="en-GB" sz="2800" dirty="0"/>
              <a:t>Example-13: Continue.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188" y="1340768"/>
            <a:ext cx="491490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413" y="1700808"/>
            <a:ext cx="5591175" cy="160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39552" y="3625279"/>
            <a:ext cx="1584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Arial" pitchFamily="34" charset="0"/>
                <a:cs typeface="Arial" pitchFamily="34" charset="0"/>
              </a:rPr>
              <a:t>When R1 = 0</a:t>
            </a:r>
            <a:r>
              <a:rPr lang="en-GB" sz="1400" b="1" dirty="0"/>
              <a:t>,</a:t>
            </a:r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3534519"/>
            <a:ext cx="428625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4005064"/>
            <a:ext cx="28289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39552" y="4869160"/>
            <a:ext cx="1584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Arial" pitchFamily="34" charset="0"/>
                <a:cs typeface="Arial" pitchFamily="34" charset="0"/>
              </a:rPr>
              <a:t>When R2 = 0</a:t>
            </a:r>
            <a:r>
              <a:rPr lang="en-GB" sz="1400" b="1" dirty="0"/>
              <a:t>,</a:t>
            </a:r>
          </a:p>
        </p:txBody>
      </p:sp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4811613"/>
            <a:ext cx="4505325" cy="120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5301208"/>
            <a:ext cx="332422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" name="Group 3"/>
          <p:cNvGrpSpPr/>
          <p:nvPr/>
        </p:nvGrpSpPr>
        <p:grpSpPr>
          <a:xfrm>
            <a:off x="2051720" y="6309320"/>
            <a:ext cx="5012407" cy="219075"/>
            <a:chOff x="2051720" y="6306269"/>
            <a:chExt cx="5012407" cy="219075"/>
          </a:xfrm>
        </p:grpSpPr>
        <p:pic>
          <p:nvPicPr>
            <p:cNvPr id="6152" name="Picture 8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1720" y="6306269"/>
              <a:ext cx="2028825" cy="2190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153" name="Picture 9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9952" y="6306269"/>
              <a:ext cx="2924175" cy="2190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00900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96" y="44624"/>
            <a:ext cx="8892480" cy="1143000"/>
          </a:xfrm>
        </p:spPr>
        <p:txBody>
          <a:bodyPr>
            <a:noAutofit/>
          </a:bodyPr>
          <a:lstStyle/>
          <a:p>
            <a:r>
              <a:rPr lang="en-GB" sz="3400" dirty="0"/>
              <a:t>Block Diagram of Armature Controlled </a:t>
            </a:r>
            <a:r>
              <a:rPr lang="en-GB" sz="3400" dirty="0" err="1"/>
              <a:t>D.C</a:t>
            </a:r>
            <a:r>
              <a:rPr lang="en-GB" sz="3400" dirty="0"/>
              <a:t> Motor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411760" y="1542937"/>
            <a:ext cx="4186885" cy="2318111"/>
            <a:chOff x="4860032" y="980728"/>
            <a:chExt cx="4186885" cy="2318111"/>
          </a:xfrm>
        </p:grpSpPr>
        <p:grpSp>
          <p:nvGrpSpPr>
            <p:cNvPr id="6" name="Group 3"/>
            <p:cNvGrpSpPr>
              <a:grpSpLocks/>
            </p:cNvGrpSpPr>
            <p:nvPr/>
          </p:nvGrpSpPr>
          <p:grpSpPr bwMode="auto">
            <a:xfrm>
              <a:off x="6127278" y="1450218"/>
              <a:ext cx="863475" cy="193959"/>
              <a:chOff x="1673" y="2077"/>
              <a:chExt cx="818" cy="149"/>
            </a:xfrm>
          </p:grpSpPr>
          <p:sp>
            <p:nvSpPr>
              <p:cNvPr id="56" name="Arc 4"/>
              <p:cNvSpPr>
                <a:spLocks/>
              </p:cNvSpPr>
              <p:nvPr/>
            </p:nvSpPr>
            <p:spPr bwMode="auto">
              <a:xfrm>
                <a:off x="1673" y="2077"/>
                <a:ext cx="163" cy="141"/>
              </a:xfrm>
              <a:custGeom>
                <a:avLst/>
                <a:gdLst>
                  <a:gd name="G0" fmla="+- 21276 0 0"/>
                  <a:gd name="G1" fmla="+- 21600 0 0"/>
                  <a:gd name="G2" fmla="+- 21600 0 0"/>
                  <a:gd name="T0" fmla="*/ 0 w 42876"/>
                  <a:gd name="T1" fmla="*/ 17875 h 34596"/>
                  <a:gd name="T2" fmla="*/ 38529 w 42876"/>
                  <a:gd name="T3" fmla="*/ 34596 h 34596"/>
                  <a:gd name="T4" fmla="*/ 21276 w 42876"/>
                  <a:gd name="T5" fmla="*/ 21600 h 34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876" h="34596" fill="none" extrusionOk="0">
                    <a:moveTo>
                      <a:pt x="-1" y="17874"/>
                    </a:moveTo>
                    <a:cubicBezTo>
                      <a:pt x="1809" y="7539"/>
                      <a:pt x="10783" y="-1"/>
                      <a:pt x="21276" y="0"/>
                    </a:cubicBezTo>
                    <a:cubicBezTo>
                      <a:pt x="33205" y="0"/>
                      <a:pt x="42876" y="9670"/>
                      <a:pt x="42876" y="21600"/>
                    </a:cubicBezTo>
                    <a:cubicBezTo>
                      <a:pt x="42876" y="26288"/>
                      <a:pt x="41350" y="30850"/>
                      <a:pt x="38528" y="34595"/>
                    </a:cubicBezTo>
                  </a:path>
                  <a:path w="42876" h="34596" stroke="0" extrusionOk="0">
                    <a:moveTo>
                      <a:pt x="-1" y="17874"/>
                    </a:moveTo>
                    <a:cubicBezTo>
                      <a:pt x="1809" y="7539"/>
                      <a:pt x="10783" y="-1"/>
                      <a:pt x="21276" y="0"/>
                    </a:cubicBezTo>
                    <a:cubicBezTo>
                      <a:pt x="33205" y="0"/>
                      <a:pt x="42876" y="9670"/>
                      <a:pt x="42876" y="21600"/>
                    </a:cubicBezTo>
                    <a:cubicBezTo>
                      <a:pt x="42876" y="26288"/>
                      <a:pt x="41350" y="30850"/>
                      <a:pt x="38528" y="34595"/>
                    </a:cubicBezTo>
                    <a:lnTo>
                      <a:pt x="21276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7" name="Arc 5"/>
              <p:cNvSpPr>
                <a:spLocks/>
              </p:cNvSpPr>
              <p:nvPr/>
            </p:nvSpPr>
            <p:spPr bwMode="auto">
              <a:xfrm>
                <a:off x="1801" y="2081"/>
                <a:ext cx="164" cy="141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3599 w 43200"/>
                  <a:gd name="T1" fmla="*/ 33539 h 34596"/>
                  <a:gd name="T2" fmla="*/ 38853 w 43200"/>
                  <a:gd name="T3" fmla="*/ 34596 h 34596"/>
                  <a:gd name="T4" fmla="*/ 21600 w 43200"/>
                  <a:gd name="T5" fmla="*/ 21600 h 34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34596" fill="none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</a:path>
                  <a:path w="43200" h="34596" stroke="0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8" name="Arc 6"/>
              <p:cNvSpPr>
                <a:spLocks/>
              </p:cNvSpPr>
              <p:nvPr/>
            </p:nvSpPr>
            <p:spPr bwMode="auto">
              <a:xfrm>
                <a:off x="1933" y="2077"/>
                <a:ext cx="164" cy="141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3599 w 43200"/>
                  <a:gd name="T1" fmla="*/ 33539 h 34596"/>
                  <a:gd name="T2" fmla="*/ 38853 w 43200"/>
                  <a:gd name="T3" fmla="*/ 34596 h 34596"/>
                  <a:gd name="T4" fmla="*/ 21600 w 43200"/>
                  <a:gd name="T5" fmla="*/ 21600 h 34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34596" fill="none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</a:path>
                  <a:path w="43200" h="34596" stroke="0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9" name="Arc 7"/>
              <p:cNvSpPr>
                <a:spLocks/>
              </p:cNvSpPr>
              <p:nvPr/>
            </p:nvSpPr>
            <p:spPr bwMode="auto">
              <a:xfrm>
                <a:off x="2065" y="2081"/>
                <a:ext cx="164" cy="141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3599 w 43200"/>
                  <a:gd name="T1" fmla="*/ 33539 h 34596"/>
                  <a:gd name="T2" fmla="*/ 38853 w 43200"/>
                  <a:gd name="T3" fmla="*/ 34596 h 34596"/>
                  <a:gd name="T4" fmla="*/ 21600 w 43200"/>
                  <a:gd name="T5" fmla="*/ 21600 h 34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34596" fill="none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</a:path>
                  <a:path w="43200" h="34596" stroke="0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60" name="Arc 8"/>
              <p:cNvSpPr>
                <a:spLocks/>
              </p:cNvSpPr>
              <p:nvPr/>
            </p:nvSpPr>
            <p:spPr bwMode="auto">
              <a:xfrm>
                <a:off x="2195" y="2085"/>
                <a:ext cx="164" cy="141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3599 w 43200"/>
                  <a:gd name="T1" fmla="*/ 33539 h 34596"/>
                  <a:gd name="T2" fmla="*/ 38853 w 43200"/>
                  <a:gd name="T3" fmla="*/ 34596 h 34596"/>
                  <a:gd name="T4" fmla="*/ 21600 w 43200"/>
                  <a:gd name="T5" fmla="*/ 21600 h 34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34596" fill="none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</a:path>
                  <a:path w="43200" h="34596" stroke="0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6288"/>
                      <a:pt x="41674" y="30850"/>
                      <a:pt x="38852" y="34595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61" name="Arc 9"/>
              <p:cNvSpPr>
                <a:spLocks/>
              </p:cNvSpPr>
              <p:nvPr/>
            </p:nvSpPr>
            <p:spPr bwMode="auto">
              <a:xfrm>
                <a:off x="2328" y="2081"/>
                <a:ext cx="163" cy="137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3599 w 42961"/>
                  <a:gd name="T1" fmla="*/ 33539 h 33539"/>
                  <a:gd name="T2" fmla="*/ 42961 w 42961"/>
                  <a:gd name="T3" fmla="*/ 18398 h 33539"/>
                  <a:gd name="T4" fmla="*/ 21600 w 42961"/>
                  <a:gd name="T5" fmla="*/ 21600 h 33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961" h="33539" fill="none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2292" y="-1"/>
                      <a:pt x="41376" y="7823"/>
                      <a:pt x="42961" y="18397"/>
                    </a:cubicBezTo>
                  </a:path>
                  <a:path w="42961" h="33539" stroke="0" extrusionOk="0">
                    <a:moveTo>
                      <a:pt x="3599" y="33538"/>
                    </a:moveTo>
                    <a:cubicBezTo>
                      <a:pt x="1251" y="29999"/>
                      <a:pt x="0" y="258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2292" y="-1"/>
                      <a:pt x="41376" y="7823"/>
                      <a:pt x="42961" y="18397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60032" y="1894331"/>
              <a:ext cx="503403" cy="52205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" name="Line 11"/>
            <p:cNvSpPr>
              <a:spLocks noChangeShapeType="1"/>
            </p:cNvSpPr>
            <p:nvPr/>
          </p:nvSpPr>
          <p:spPr bwMode="auto">
            <a:xfrm flipV="1">
              <a:off x="5101246" y="1513663"/>
              <a:ext cx="0" cy="391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" name="Freeform 12"/>
            <p:cNvSpPr>
              <a:spLocks/>
            </p:cNvSpPr>
            <p:nvPr/>
          </p:nvSpPr>
          <p:spPr bwMode="auto">
            <a:xfrm rot="16200000">
              <a:off x="5524241" y="1014112"/>
              <a:ext cx="195772" cy="1019041"/>
            </a:xfrm>
            <a:custGeom>
              <a:avLst/>
              <a:gdLst/>
              <a:ahLst/>
              <a:cxnLst>
                <a:cxn ang="0">
                  <a:pos x="39" y="0"/>
                </a:cxn>
                <a:cxn ang="0">
                  <a:pos x="39" y="140"/>
                </a:cxn>
                <a:cxn ang="0">
                  <a:pos x="77" y="188"/>
                </a:cxn>
                <a:cxn ang="0">
                  <a:pos x="0" y="188"/>
                </a:cxn>
                <a:cxn ang="0">
                  <a:pos x="77" y="235"/>
                </a:cxn>
                <a:cxn ang="0">
                  <a:pos x="0" y="235"/>
                </a:cxn>
                <a:cxn ang="0">
                  <a:pos x="77" y="283"/>
                </a:cxn>
                <a:cxn ang="0">
                  <a:pos x="0" y="283"/>
                </a:cxn>
                <a:cxn ang="0">
                  <a:pos x="77" y="329"/>
                </a:cxn>
                <a:cxn ang="0">
                  <a:pos x="0" y="329"/>
                </a:cxn>
                <a:cxn ang="0">
                  <a:pos x="77" y="377"/>
                </a:cxn>
                <a:cxn ang="0">
                  <a:pos x="0" y="377"/>
                </a:cxn>
                <a:cxn ang="0">
                  <a:pos x="39" y="424"/>
                </a:cxn>
                <a:cxn ang="0">
                  <a:pos x="39" y="518"/>
                </a:cxn>
              </a:cxnLst>
              <a:rect l="0" t="0" r="r" b="b"/>
              <a:pathLst>
                <a:path w="78" h="519">
                  <a:moveTo>
                    <a:pt x="39" y="0"/>
                  </a:moveTo>
                  <a:lnTo>
                    <a:pt x="39" y="140"/>
                  </a:lnTo>
                  <a:lnTo>
                    <a:pt x="77" y="188"/>
                  </a:lnTo>
                  <a:lnTo>
                    <a:pt x="0" y="188"/>
                  </a:lnTo>
                  <a:lnTo>
                    <a:pt x="77" y="235"/>
                  </a:lnTo>
                  <a:lnTo>
                    <a:pt x="0" y="235"/>
                  </a:lnTo>
                  <a:lnTo>
                    <a:pt x="77" y="283"/>
                  </a:lnTo>
                  <a:lnTo>
                    <a:pt x="0" y="283"/>
                  </a:lnTo>
                  <a:lnTo>
                    <a:pt x="77" y="329"/>
                  </a:lnTo>
                  <a:lnTo>
                    <a:pt x="0" y="329"/>
                  </a:lnTo>
                  <a:lnTo>
                    <a:pt x="77" y="377"/>
                  </a:lnTo>
                  <a:lnTo>
                    <a:pt x="0" y="377"/>
                  </a:lnTo>
                  <a:lnTo>
                    <a:pt x="39" y="424"/>
                  </a:lnTo>
                  <a:lnTo>
                    <a:pt x="39" y="518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Freeform 13"/>
            <p:cNvSpPr>
              <a:spLocks/>
            </p:cNvSpPr>
            <p:nvPr/>
          </p:nvSpPr>
          <p:spPr bwMode="auto">
            <a:xfrm>
              <a:off x="5111733" y="2416389"/>
              <a:ext cx="985830" cy="2175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0"/>
                </a:cxn>
                <a:cxn ang="0">
                  <a:pos x="564" y="120"/>
                </a:cxn>
              </a:cxnLst>
              <a:rect l="0" t="0" r="r" b="b"/>
              <a:pathLst>
                <a:path w="564" h="120">
                  <a:moveTo>
                    <a:pt x="0" y="0"/>
                  </a:moveTo>
                  <a:lnTo>
                    <a:pt x="0" y="120"/>
                  </a:lnTo>
                  <a:lnTo>
                    <a:pt x="564" y="12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1" name="Text Box 14"/>
            <p:cNvSpPr txBox="1">
              <a:spLocks noChangeArrowheads="1"/>
            </p:cNvSpPr>
            <p:nvPr/>
          </p:nvSpPr>
          <p:spPr bwMode="auto">
            <a:xfrm>
              <a:off x="4891495" y="1926959"/>
              <a:ext cx="472593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/>
                <a:t> </a:t>
              </a:r>
              <a:r>
                <a:rPr lang="en-US" sz="2000" i="1" dirty="0" err="1"/>
                <a:t>V</a:t>
              </a:r>
              <a:r>
                <a:rPr lang="en-US" sz="2000" i="1" baseline="-25000" dirty="0" err="1"/>
                <a:t>a</a:t>
              </a:r>
              <a:endParaRPr lang="en-US" sz="2000" baseline="-25000" dirty="0"/>
            </a:p>
          </p:txBody>
        </p:sp>
        <p:sp>
          <p:nvSpPr>
            <p:cNvPr id="12" name="Line 15"/>
            <p:cNvSpPr>
              <a:spLocks noChangeShapeType="1"/>
            </p:cNvSpPr>
            <p:nvPr/>
          </p:nvSpPr>
          <p:spPr bwMode="auto">
            <a:xfrm>
              <a:off x="5887812" y="1742064"/>
              <a:ext cx="482427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" name="Text Box 16"/>
            <p:cNvSpPr txBox="1">
              <a:spLocks noChangeArrowheads="1"/>
            </p:cNvSpPr>
            <p:nvPr/>
          </p:nvSpPr>
          <p:spPr bwMode="auto">
            <a:xfrm>
              <a:off x="6055613" y="1660492"/>
              <a:ext cx="671203" cy="4531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 err="1"/>
                <a:t>i</a:t>
              </a:r>
              <a:r>
                <a:rPr lang="en-US" sz="2000" baseline="-25000" dirty="0" err="1"/>
                <a:t>a</a:t>
              </a:r>
              <a:endParaRPr lang="en-US" sz="2000" dirty="0"/>
            </a:p>
          </p:txBody>
        </p:sp>
        <p:sp>
          <p:nvSpPr>
            <p:cNvPr id="14" name="Line 17"/>
            <p:cNvSpPr>
              <a:spLocks noChangeShapeType="1"/>
            </p:cNvSpPr>
            <p:nvPr/>
          </p:nvSpPr>
          <p:spPr bwMode="auto">
            <a:xfrm>
              <a:off x="6092319" y="2639352"/>
              <a:ext cx="5244" cy="978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" name="Line 18"/>
            <p:cNvSpPr>
              <a:spLocks noChangeShapeType="1"/>
            </p:cNvSpPr>
            <p:nvPr/>
          </p:nvSpPr>
          <p:spPr bwMode="auto">
            <a:xfrm>
              <a:off x="5931253" y="2740217"/>
              <a:ext cx="3565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" name="Line 19"/>
            <p:cNvSpPr>
              <a:spLocks noChangeShapeType="1"/>
            </p:cNvSpPr>
            <p:nvPr/>
          </p:nvSpPr>
          <p:spPr bwMode="auto">
            <a:xfrm>
              <a:off x="5988935" y="2811371"/>
              <a:ext cx="2202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" name="Text Box 20"/>
            <p:cNvSpPr txBox="1">
              <a:spLocks noChangeArrowheads="1"/>
            </p:cNvSpPr>
            <p:nvPr/>
          </p:nvSpPr>
          <p:spPr bwMode="auto">
            <a:xfrm>
              <a:off x="7159404" y="1891871"/>
              <a:ext cx="317894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/>
                <a:t>T</a:t>
              </a:r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 flipH="1">
              <a:off x="7037947" y="1829073"/>
              <a:ext cx="503403" cy="52205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9" name="Line 22"/>
            <p:cNvSpPr>
              <a:spLocks noChangeShapeType="1"/>
            </p:cNvSpPr>
            <p:nvPr/>
          </p:nvSpPr>
          <p:spPr bwMode="auto">
            <a:xfrm flipV="1">
              <a:off x="7294892" y="1535415"/>
              <a:ext cx="5244" cy="2066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" name="Freeform 23"/>
            <p:cNvSpPr>
              <a:spLocks/>
            </p:cNvSpPr>
            <p:nvPr/>
          </p:nvSpPr>
          <p:spPr bwMode="auto">
            <a:xfrm flipH="1">
              <a:off x="6083580" y="2432704"/>
              <a:ext cx="1206069" cy="20121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0"/>
                </a:cxn>
                <a:cxn ang="0">
                  <a:pos x="564" y="120"/>
                </a:cxn>
              </a:cxnLst>
              <a:rect l="0" t="0" r="r" b="b"/>
              <a:pathLst>
                <a:path w="564" h="120">
                  <a:moveTo>
                    <a:pt x="0" y="0"/>
                  </a:moveTo>
                  <a:lnTo>
                    <a:pt x="0" y="120"/>
                  </a:lnTo>
                  <a:lnTo>
                    <a:pt x="564" y="12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1" name="Text Box 24"/>
            <p:cNvSpPr txBox="1">
              <a:spLocks noChangeArrowheads="1"/>
            </p:cNvSpPr>
            <p:nvPr/>
          </p:nvSpPr>
          <p:spPr bwMode="auto">
            <a:xfrm flipH="1">
              <a:off x="5223600" y="980728"/>
              <a:ext cx="671203" cy="4531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/>
                <a:t>R</a:t>
              </a:r>
              <a:r>
                <a:rPr lang="en-US" sz="2000" baseline="-25000" dirty="0"/>
                <a:t>a</a:t>
              </a:r>
              <a:endParaRPr lang="en-US" sz="2000" dirty="0"/>
            </a:p>
          </p:txBody>
        </p:sp>
        <p:sp>
          <p:nvSpPr>
            <p:cNvPr id="22" name="Line 25"/>
            <p:cNvSpPr>
              <a:spLocks noChangeShapeType="1"/>
            </p:cNvSpPr>
            <p:nvPr/>
          </p:nvSpPr>
          <p:spPr bwMode="auto">
            <a:xfrm>
              <a:off x="6999493" y="1546292"/>
              <a:ext cx="3041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3" name="Text Box 26"/>
            <p:cNvSpPr txBox="1">
              <a:spLocks noChangeArrowheads="1"/>
            </p:cNvSpPr>
            <p:nvPr/>
          </p:nvSpPr>
          <p:spPr bwMode="auto">
            <a:xfrm flipH="1">
              <a:off x="6429669" y="991604"/>
              <a:ext cx="671203" cy="4531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/>
                <a:t>L</a:t>
              </a:r>
              <a:r>
                <a:rPr lang="en-US" sz="2000" baseline="-25000"/>
                <a:t>a</a:t>
              </a:r>
              <a:endParaRPr lang="en-US" sz="2000"/>
            </a:p>
          </p:txBody>
        </p:sp>
        <p:sp>
          <p:nvSpPr>
            <p:cNvPr id="24" name="Rectangle 27"/>
            <p:cNvSpPr>
              <a:spLocks noChangeArrowheads="1"/>
            </p:cNvSpPr>
            <p:nvPr/>
          </p:nvSpPr>
          <p:spPr bwMode="auto">
            <a:xfrm>
              <a:off x="7198756" y="1736625"/>
              <a:ext cx="199264" cy="8519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5" name="Rectangle 28"/>
            <p:cNvSpPr>
              <a:spLocks noChangeArrowheads="1"/>
            </p:cNvSpPr>
            <p:nvPr/>
          </p:nvSpPr>
          <p:spPr bwMode="auto">
            <a:xfrm>
              <a:off x="7193512" y="2351132"/>
              <a:ext cx="199264" cy="8519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6" name="Rectangle 29"/>
            <p:cNvSpPr>
              <a:spLocks noChangeArrowheads="1"/>
            </p:cNvSpPr>
            <p:nvPr/>
          </p:nvSpPr>
          <p:spPr bwMode="auto">
            <a:xfrm>
              <a:off x="7539602" y="2046598"/>
              <a:ext cx="749860" cy="85197"/>
            </a:xfrm>
            <a:prstGeom prst="rect">
              <a:avLst/>
            </a:prstGeom>
            <a:solidFill>
              <a:srgbClr val="00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7" name="Rectangle 30"/>
            <p:cNvSpPr>
              <a:spLocks noChangeArrowheads="1"/>
            </p:cNvSpPr>
            <p:nvPr/>
          </p:nvSpPr>
          <p:spPr bwMode="auto">
            <a:xfrm>
              <a:off x="8221293" y="1448406"/>
              <a:ext cx="288408" cy="1256204"/>
            </a:xfrm>
            <a:prstGeom prst="rect">
              <a:avLst/>
            </a:prstGeom>
            <a:solidFill>
              <a:srgbClr val="00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8" name="Rectangle 31" descr="Light upward diagonal"/>
            <p:cNvSpPr>
              <a:spLocks noChangeArrowheads="1"/>
            </p:cNvSpPr>
            <p:nvPr/>
          </p:nvSpPr>
          <p:spPr bwMode="auto">
            <a:xfrm>
              <a:off x="7618258" y="1834511"/>
              <a:ext cx="298895" cy="190334"/>
            </a:xfrm>
            <a:prstGeom prst="rect">
              <a:avLst/>
            </a:prstGeom>
            <a:pattFill prst="ltUpDiag">
              <a:fgClr>
                <a:schemeClr val="hlink"/>
              </a:fgClr>
              <a:bgClr>
                <a:schemeClr val="bg1"/>
              </a:bgClr>
            </a:patt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" name="Freeform 32"/>
            <p:cNvSpPr>
              <a:spLocks/>
            </p:cNvSpPr>
            <p:nvPr/>
          </p:nvSpPr>
          <p:spPr bwMode="auto">
            <a:xfrm>
              <a:off x="7623502" y="1834511"/>
              <a:ext cx="293651" cy="190334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0" y="105"/>
                </a:cxn>
                <a:cxn ang="0">
                  <a:pos x="168" y="105"/>
                </a:cxn>
                <a:cxn ang="0">
                  <a:pos x="168" y="0"/>
                </a:cxn>
              </a:cxnLst>
              <a:rect l="0" t="0" r="r" b="b"/>
              <a:pathLst>
                <a:path w="168" h="105">
                  <a:moveTo>
                    <a:pt x="0" y="6"/>
                  </a:moveTo>
                  <a:lnTo>
                    <a:pt x="0" y="105"/>
                  </a:lnTo>
                  <a:lnTo>
                    <a:pt x="168" y="105"/>
                  </a:lnTo>
                  <a:lnTo>
                    <a:pt x="168" y="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0" name="Rectangle 33" descr="Light upward diagonal"/>
            <p:cNvSpPr>
              <a:spLocks noChangeArrowheads="1"/>
            </p:cNvSpPr>
            <p:nvPr/>
          </p:nvSpPr>
          <p:spPr bwMode="auto">
            <a:xfrm flipV="1">
              <a:off x="7628746" y="2160798"/>
              <a:ext cx="298895" cy="190334"/>
            </a:xfrm>
            <a:prstGeom prst="rect">
              <a:avLst/>
            </a:prstGeom>
            <a:pattFill prst="ltUpDiag">
              <a:fgClr>
                <a:schemeClr val="hlink"/>
              </a:fgClr>
              <a:bgClr>
                <a:schemeClr val="bg1"/>
              </a:bgClr>
            </a:patt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1" name="Freeform 34"/>
            <p:cNvSpPr>
              <a:spLocks/>
            </p:cNvSpPr>
            <p:nvPr/>
          </p:nvSpPr>
          <p:spPr bwMode="auto">
            <a:xfrm flipV="1">
              <a:off x="7633990" y="2155360"/>
              <a:ext cx="293651" cy="190334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0" y="105"/>
                </a:cxn>
                <a:cxn ang="0">
                  <a:pos x="168" y="105"/>
                </a:cxn>
                <a:cxn ang="0">
                  <a:pos x="168" y="0"/>
                </a:cxn>
              </a:cxnLst>
              <a:rect l="0" t="0" r="r" b="b"/>
              <a:pathLst>
                <a:path w="168" h="105">
                  <a:moveTo>
                    <a:pt x="0" y="6"/>
                  </a:moveTo>
                  <a:lnTo>
                    <a:pt x="0" y="105"/>
                  </a:lnTo>
                  <a:lnTo>
                    <a:pt x="168" y="105"/>
                  </a:lnTo>
                  <a:lnTo>
                    <a:pt x="168" y="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2" name="Text Box 35"/>
            <p:cNvSpPr txBox="1">
              <a:spLocks noChangeArrowheads="1"/>
            </p:cNvSpPr>
            <p:nvPr/>
          </p:nvSpPr>
          <p:spPr bwMode="auto">
            <a:xfrm flipH="1">
              <a:off x="8257228" y="1908048"/>
              <a:ext cx="502357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/>
                <a:t>J</a:t>
              </a:r>
              <a:endParaRPr lang="en-US" sz="2000" dirty="0"/>
            </a:p>
          </p:txBody>
        </p:sp>
        <p:sp>
          <p:nvSpPr>
            <p:cNvPr id="33" name="Freeform 39"/>
            <p:cNvSpPr>
              <a:spLocks/>
            </p:cNvSpPr>
            <p:nvPr/>
          </p:nvSpPr>
          <p:spPr bwMode="auto">
            <a:xfrm>
              <a:off x="7994062" y="1883454"/>
              <a:ext cx="138086" cy="424173"/>
            </a:xfrm>
            <a:custGeom>
              <a:avLst/>
              <a:gdLst/>
              <a:ahLst/>
              <a:cxnLst>
                <a:cxn ang="0">
                  <a:pos x="79" y="0"/>
                </a:cxn>
                <a:cxn ang="0">
                  <a:pos x="25" y="30"/>
                </a:cxn>
                <a:cxn ang="0">
                  <a:pos x="1" y="120"/>
                </a:cxn>
                <a:cxn ang="0">
                  <a:pos x="19" y="210"/>
                </a:cxn>
                <a:cxn ang="0">
                  <a:pos x="67" y="234"/>
                </a:cxn>
              </a:cxnLst>
              <a:rect l="0" t="0" r="r" b="b"/>
              <a:pathLst>
                <a:path w="79" h="234">
                  <a:moveTo>
                    <a:pt x="79" y="0"/>
                  </a:moveTo>
                  <a:cubicBezTo>
                    <a:pt x="58" y="5"/>
                    <a:pt x="38" y="10"/>
                    <a:pt x="25" y="30"/>
                  </a:cubicBezTo>
                  <a:cubicBezTo>
                    <a:pt x="12" y="50"/>
                    <a:pt x="2" y="90"/>
                    <a:pt x="1" y="120"/>
                  </a:cubicBezTo>
                  <a:cubicBezTo>
                    <a:pt x="0" y="150"/>
                    <a:pt x="8" y="191"/>
                    <a:pt x="19" y="210"/>
                  </a:cubicBezTo>
                  <a:cubicBezTo>
                    <a:pt x="30" y="229"/>
                    <a:pt x="55" y="230"/>
                    <a:pt x="67" y="234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4" name="Text Box 40"/>
            <p:cNvSpPr txBox="1">
              <a:spLocks noChangeArrowheads="1"/>
            </p:cNvSpPr>
            <p:nvPr/>
          </p:nvSpPr>
          <p:spPr bwMode="auto">
            <a:xfrm flipH="1">
              <a:off x="7646225" y="2318503"/>
              <a:ext cx="671203" cy="4531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>
                  <a:sym typeface="Symbol" pitchFamily="18" charset="2"/>
                </a:rPr>
                <a:t></a:t>
              </a:r>
              <a:endParaRPr lang="en-US" sz="2000"/>
            </a:p>
          </p:txBody>
        </p:sp>
        <p:sp>
          <p:nvSpPr>
            <p:cNvPr id="35" name="Text Box 43"/>
            <p:cNvSpPr txBox="1">
              <a:spLocks noChangeArrowheads="1"/>
            </p:cNvSpPr>
            <p:nvPr/>
          </p:nvSpPr>
          <p:spPr bwMode="auto">
            <a:xfrm flipH="1">
              <a:off x="7602734" y="1390145"/>
              <a:ext cx="375886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/>
                <a:t>c</a:t>
              </a:r>
              <a:endParaRPr lang="en-US" sz="2000" dirty="0"/>
            </a:p>
          </p:txBody>
        </p:sp>
        <p:sp>
          <p:nvSpPr>
            <p:cNvPr id="36" name="Line 15"/>
            <p:cNvSpPr>
              <a:spLocks noChangeShapeType="1"/>
            </p:cNvSpPr>
            <p:nvPr/>
          </p:nvSpPr>
          <p:spPr bwMode="auto">
            <a:xfrm rot="16200000">
              <a:off x="6723638" y="2107666"/>
              <a:ext cx="482427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7" name="Text Box 16"/>
            <p:cNvSpPr txBox="1">
              <a:spLocks noChangeArrowheads="1"/>
            </p:cNvSpPr>
            <p:nvPr/>
          </p:nvSpPr>
          <p:spPr bwMode="auto">
            <a:xfrm>
              <a:off x="6581681" y="1868312"/>
              <a:ext cx="671203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 err="1"/>
                <a:t>e</a:t>
              </a:r>
              <a:r>
                <a:rPr lang="en-US" sz="2000" baseline="-25000" dirty="0" err="1"/>
                <a:t>b</a:t>
              </a:r>
              <a:endParaRPr lang="en-US" sz="2000" dirty="0"/>
            </a:p>
          </p:txBody>
        </p:sp>
        <p:sp>
          <p:nvSpPr>
            <p:cNvPr id="38" name="Line 19"/>
            <p:cNvSpPr>
              <a:spLocks noChangeShapeType="1"/>
            </p:cNvSpPr>
            <p:nvPr/>
          </p:nvSpPr>
          <p:spPr bwMode="auto">
            <a:xfrm>
              <a:off x="6039870" y="2894501"/>
              <a:ext cx="144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39" name="Group 67"/>
            <p:cNvGrpSpPr/>
            <p:nvPr/>
          </p:nvGrpSpPr>
          <p:grpSpPr>
            <a:xfrm>
              <a:off x="7150433" y="2636912"/>
              <a:ext cx="764666" cy="661927"/>
              <a:chOff x="7609903" y="3055105"/>
              <a:chExt cx="764666" cy="661927"/>
            </a:xfrm>
          </p:grpSpPr>
          <p:grpSp>
            <p:nvGrpSpPr>
              <p:cNvPr id="41" name="Group 3"/>
              <p:cNvGrpSpPr>
                <a:grpSpLocks/>
              </p:cNvGrpSpPr>
              <p:nvPr/>
            </p:nvGrpSpPr>
            <p:grpSpPr bwMode="auto">
              <a:xfrm rot="19579827">
                <a:off x="7664245" y="3177472"/>
                <a:ext cx="458072" cy="135954"/>
                <a:chOff x="1673" y="2077"/>
                <a:chExt cx="818" cy="149"/>
              </a:xfrm>
            </p:grpSpPr>
            <p:sp>
              <p:nvSpPr>
                <p:cNvPr id="50" name="Arc 4"/>
                <p:cNvSpPr>
                  <a:spLocks/>
                </p:cNvSpPr>
                <p:nvPr/>
              </p:nvSpPr>
              <p:spPr bwMode="auto">
                <a:xfrm>
                  <a:off x="1673" y="2077"/>
                  <a:ext cx="163" cy="141"/>
                </a:xfrm>
                <a:custGeom>
                  <a:avLst/>
                  <a:gdLst>
                    <a:gd name="G0" fmla="+- 21276 0 0"/>
                    <a:gd name="G1" fmla="+- 21600 0 0"/>
                    <a:gd name="G2" fmla="+- 21600 0 0"/>
                    <a:gd name="T0" fmla="*/ 0 w 42876"/>
                    <a:gd name="T1" fmla="*/ 17875 h 34596"/>
                    <a:gd name="T2" fmla="*/ 38529 w 42876"/>
                    <a:gd name="T3" fmla="*/ 34596 h 34596"/>
                    <a:gd name="T4" fmla="*/ 21276 w 42876"/>
                    <a:gd name="T5" fmla="*/ 21600 h 345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2876" h="34596" fill="none" extrusionOk="0">
                      <a:moveTo>
                        <a:pt x="-1" y="17874"/>
                      </a:moveTo>
                      <a:cubicBezTo>
                        <a:pt x="1809" y="7539"/>
                        <a:pt x="10783" y="-1"/>
                        <a:pt x="21276" y="0"/>
                      </a:cubicBezTo>
                      <a:cubicBezTo>
                        <a:pt x="33205" y="0"/>
                        <a:pt x="42876" y="9670"/>
                        <a:pt x="42876" y="21600"/>
                      </a:cubicBezTo>
                      <a:cubicBezTo>
                        <a:pt x="42876" y="26288"/>
                        <a:pt x="41350" y="30850"/>
                        <a:pt x="38528" y="34595"/>
                      </a:cubicBezTo>
                    </a:path>
                    <a:path w="42876" h="34596" stroke="0" extrusionOk="0">
                      <a:moveTo>
                        <a:pt x="-1" y="17874"/>
                      </a:moveTo>
                      <a:cubicBezTo>
                        <a:pt x="1809" y="7539"/>
                        <a:pt x="10783" y="-1"/>
                        <a:pt x="21276" y="0"/>
                      </a:cubicBezTo>
                      <a:cubicBezTo>
                        <a:pt x="33205" y="0"/>
                        <a:pt x="42876" y="9670"/>
                        <a:pt x="42876" y="21600"/>
                      </a:cubicBezTo>
                      <a:cubicBezTo>
                        <a:pt x="42876" y="26288"/>
                        <a:pt x="41350" y="30850"/>
                        <a:pt x="38528" y="34595"/>
                      </a:cubicBezTo>
                      <a:lnTo>
                        <a:pt x="21276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1" name="Arc 5"/>
                <p:cNvSpPr>
                  <a:spLocks/>
                </p:cNvSpPr>
                <p:nvPr/>
              </p:nvSpPr>
              <p:spPr bwMode="auto">
                <a:xfrm>
                  <a:off x="1801" y="2081"/>
                  <a:ext cx="164" cy="141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3599 w 43200"/>
                    <a:gd name="T1" fmla="*/ 33539 h 34596"/>
                    <a:gd name="T2" fmla="*/ 38853 w 43200"/>
                    <a:gd name="T3" fmla="*/ 34596 h 34596"/>
                    <a:gd name="T4" fmla="*/ 21600 w 43200"/>
                    <a:gd name="T5" fmla="*/ 21600 h 345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34596" fill="none" extrusionOk="0">
                      <a:moveTo>
                        <a:pt x="3599" y="33538"/>
                      </a:moveTo>
                      <a:cubicBezTo>
                        <a:pt x="1251" y="29999"/>
                        <a:pt x="0" y="2584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288"/>
                        <a:pt x="41674" y="30850"/>
                        <a:pt x="38852" y="34595"/>
                      </a:cubicBezTo>
                    </a:path>
                    <a:path w="43200" h="34596" stroke="0" extrusionOk="0">
                      <a:moveTo>
                        <a:pt x="3599" y="33538"/>
                      </a:moveTo>
                      <a:cubicBezTo>
                        <a:pt x="1251" y="29999"/>
                        <a:pt x="0" y="2584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288"/>
                        <a:pt x="41674" y="30850"/>
                        <a:pt x="38852" y="34595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2" name="Arc 6"/>
                <p:cNvSpPr>
                  <a:spLocks/>
                </p:cNvSpPr>
                <p:nvPr/>
              </p:nvSpPr>
              <p:spPr bwMode="auto">
                <a:xfrm>
                  <a:off x="1933" y="2077"/>
                  <a:ext cx="164" cy="141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3599 w 43200"/>
                    <a:gd name="T1" fmla="*/ 33539 h 34596"/>
                    <a:gd name="T2" fmla="*/ 38853 w 43200"/>
                    <a:gd name="T3" fmla="*/ 34596 h 34596"/>
                    <a:gd name="T4" fmla="*/ 21600 w 43200"/>
                    <a:gd name="T5" fmla="*/ 21600 h 345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34596" fill="none" extrusionOk="0">
                      <a:moveTo>
                        <a:pt x="3599" y="33538"/>
                      </a:moveTo>
                      <a:cubicBezTo>
                        <a:pt x="1251" y="29999"/>
                        <a:pt x="0" y="2584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288"/>
                        <a:pt x="41674" y="30850"/>
                        <a:pt x="38852" y="34595"/>
                      </a:cubicBezTo>
                    </a:path>
                    <a:path w="43200" h="34596" stroke="0" extrusionOk="0">
                      <a:moveTo>
                        <a:pt x="3599" y="33538"/>
                      </a:moveTo>
                      <a:cubicBezTo>
                        <a:pt x="1251" y="29999"/>
                        <a:pt x="0" y="2584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288"/>
                        <a:pt x="41674" y="30850"/>
                        <a:pt x="38852" y="34595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3" name="Arc 7"/>
                <p:cNvSpPr>
                  <a:spLocks/>
                </p:cNvSpPr>
                <p:nvPr/>
              </p:nvSpPr>
              <p:spPr bwMode="auto">
                <a:xfrm>
                  <a:off x="2065" y="2081"/>
                  <a:ext cx="164" cy="141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3599 w 43200"/>
                    <a:gd name="T1" fmla="*/ 33539 h 34596"/>
                    <a:gd name="T2" fmla="*/ 38853 w 43200"/>
                    <a:gd name="T3" fmla="*/ 34596 h 34596"/>
                    <a:gd name="T4" fmla="*/ 21600 w 43200"/>
                    <a:gd name="T5" fmla="*/ 21600 h 345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34596" fill="none" extrusionOk="0">
                      <a:moveTo>
                        <a:pt x="3599" y="33538"/>
                      </a:moveTo>
                      <a:cubicBezTo>
                        <a:pt x="1251" y="29999"/>
                        <a:pt x="0" y="2584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288"/>
                        <a:pt x="41674" y="30850"/>
                        <a:pt x="38852" y="34595"/>
                      </a:cubicBezTo>
                    </a:path>
                    <a:path w="43200" h="34596" stroke="0" extrusionOk="0">
                      <a:moveTo>
                        <a:pt x="3599" y="33538"/>
                      </a:moveTo>
                      <a:cubicBezTo>
                        <a:pt x="1251" y="29999"/>
                        <a:pt x="0" y="2584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288"/>
                        <a:pt x="41674" y="30850"/>
                        <a:pt x="38852" y="34595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4" name="Arc 8"/>
                <p:cNvSpPr>
                  <a:spLocks/>
                </p:cNvSpPr>
                <p:nvPr/>
              </p:nvSpPr>
              <p:spPr bwMode="auto">
                <a:xfrm>
                  <a:off x="2195" y="2085"/>
                  <a:ext cx="164" cy="141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3599 w 43200"/>
                    <a:gd name="T1" fmla="*/ 33539 h 34596"/>
                    <a:gd name="T2" fmla="*/ 38853 w 43200"/>
                    <a:gd name="T3" fmla="*/ 34596 h 34596"/>
                    <a:gd name="T4" fmla="*/ 21600 w 43200"/>
                    <a:gd name="T5" fmla="*/ 21600 h 345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34596" fill="none" extrusionOk="0">
                      <a:moveTo>
                        <a:pt x="3599" y="33538"/>
                      </a:moveTo>
                      <a:cubicBezTo>
                        <a:pt x="1251" y="29999"/>
                        <a:pt x="0" y="2584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288"/>
                        <a:pt x="41674" y="30850"/>
                        <a:pt x="38852" y="34595"/>
                      </a:cubicBezTo>
                    </a:path>
                    <a:path w="43200" h="34596" stroke="0" extrusionOk="0">
                      <a:moveTo>
                        <a:pt x="3599" y="33538"/>
                      </a:moveTo>
                      <a:cubicBezTo>
                        <a:pt x="1251" y="29999"/>
                        <a:pt x="0" y="2584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6288"/>
                        <a:pt x="41674" y="30850"/>
                        <a:pt x="38852" y="34595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5" name="Arc 9"/>
                <p:cNvSpPr>
                  <a:spLocks/>
                </p:cNvSpPr>
                <p:nvPr/>
              </p:nvSpPr>
              <p:spPr bwMode="auto">
                <a:xfrm>
                  <a:off x="2328" y="2081"/>
                  <a:ext cx="163" cy="137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3599 w 42961"/>
                    <a:gd name="T1" fmla="*/ 33539 h 33539"/>
                    <a:gd name="T2" fmla="*/ 42961 w 42961"/>
                    <a:gd name="T3" fmla="*/ 18398 h 33539"/>
                    <a:gd name="T4" fmla="*/ 21600 w 42961"/>
                    <a:gd name="T5" fmla="*/ 21600 h 335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2961" h="33539" fill="none" extrusionOk="0">
                      <a:moveTo>
                        <a:pt x="3599" y="33538"/>
                      </a:moveTo>
                      <a:cubicBezTo>
                        <a:pt x="1251" y="29999"/>
                        <a:pt x="0" y="2584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2292" y="-1"/>
                        <a:pt x="41376" y="7823"/>
                        <a:pt x="42961" y="18397"/>
                      </a:cubicBezTo>
                    </a:path>
                    <a:path w="42961" h="33539" stroke="0" extrusionOk="0">
                      <a:moveTo>
                        <a:pt x="3599" y="33538"/>
                      </a:moveTo>
                      <a:cubicBezTo>
                        <a:pt x="1251" y="29999"/>
                        <a:pt x="0" y="2584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2292" y="-1"/>
                        <a:pt x="41376" y="7823"/>
                        <a:pt x="42961" y="18397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cxnSp>
            <p:nvCxnSpPr>
              <p:cNvPr id="42" name="Straight Connector 41"/>
              <p:cNvCxnSpPr/>
              <p:nvPr/>
            </p:nvCxnSpPr>
            <p:spPr>
              <a:xfrm flipV="1">
                <a:off x="8086249" y="3055105"/>
                <a:ext cx="86151" cy="5304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>
              <a:xfrm flipV="1">
                <a:off x="7609903" y="3362102"/>
                <a:ext cx="86151" cy="5304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>
              <a:xfrm>
                <a:off x="7612924" y="3415145"/>
                <a:ext cx="216024" cy="28803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>
              <a:xfrm>
                <a:off x="8158545" y="3068960"/>
                <a:ext cx="216024" cy="28803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>
              <a:xfrm flipH="1" flipV="1">
                <a:off x="7956376" y="3429000"/>
                <a:ext cx="144016" cy="21602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>
              <a:xfrm flipH="1" flipV="1">
                <a:off x="8067211" y="3428995"/>
                <a:ext cx="108000" cy="1440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>
              <a:xfrm flipV="1">
                <a:off x="7826215" y="3573016"/>
                <a:ext cx="216024" cy="14401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>
              <a:xfrm flipV="1">
                <a:off x="8144690" y="3370847"/>
                <a:ext cx="216024" cy="14401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" name="Text Box 24"/>
            <p:cNvSpPr txBox="1">
              <a:spLocks noChangeArrowheads="1"/>
            </p:cNvSpPr>
            <p:nvPr/>
          </p:nvSpPr>
          <p:spPr bwMode="auto">
            <a:xfrm rot="19643315" flipH="1">
              <a:off x="7318726" y="2905978"/>
              <a:ext cx="1728191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i="1" dirty="0" err="1"/>
                <a:t>V</a:t>
              </a:r>
              <a:r>
                <a:rPr lang="en-US" sz="1600" baseline="-25000" dirty="0" err="1"/>
                <a:t>f</a:t>
              </a:r>
              <a:r>
                <a:rPr lang="en-US" sz="1600" i="1" dirty="0"/>
                <a:t>=constant</a:t>
              </a:r>
              <a:endParaRPr lang="en-US" sz="1600" dirty="0"/>
            </a:p>
          </p:txBody>
        </p:sp>
      </p:grpSp>
      <p:graphicFrame>
        <p:nvGraphicFramePr>
          <p:cNvPr id="157703" name="Object 7"/>
          <p:cNvGraphicFramePr>
            <a:graphicFrameLocks noChangeAspect="1"/>
          </p:cNvGraphicFramePr>
          <p:nvPr/>
        </p:nvGraphicFramePr>
        <p:xfrm>
          <a:off x="812800" y="4570413"/>
          <a:ext cx="5303838" cy="159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76160" imgH="583920" progId="Equation.3">
                  <p:embed/>
                </p:oleObj>
              </mc:Choice>
              <mc:Fallback>
                <p:oleObj name="Equation" r:id="rId2" imgW="1676160" imgH="58392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800" y="4570413"/>
                        <a:ext cx="5303838" cy="1595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49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44624"/>
            <a:ext cx="8640960" cy="1143000"/>
          </a:xfrm>
        </p:spPr>
        <p:txBody>
          <a:bodyPr>
            <a:normAutofit/>
          </a:bodyPr>
          <a:lstStyle/>
          <a:p>
            <a:r>
              <a:rPr lang="en-GB" sz="3300" dirty="0"/>
              <a:t>Block Diagram of Armature Controlled </a:t>
            </a:r>
            <a:r>
              <a:rPr lang="en-GB" sz="3300" dirty="0" err="1"/>
              <a:t>D.C</a:t>
            </a:r>
            <a:r>
              <a:rPr lang="en-GB" sz="3300" dirty="0"/>
              <a:t> Motor</a:t>
            </a:r>
          </a:p>
        </p:txBody>
      </p:sp>
      <p:graphicFrame>
        <p:nvGraphicFramePr>
          <p:cNvPr id="15770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9518572"/>
              </p:ext>
            </p:extLst>
          </p:nvPr>
        </p:nvGraphicFramePr>
        <p:xfrm>
          <a:off x="1193800" y="1431925"/>
          <a:ext cx="5986463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92160" imgH="228600" progId="Equation.3">
                  <p:embed/>
                </p:oleObj>
              </mc:Choice>
              <mc:Fallback>
                <p:oleObj name="Equation" r:id="rId2" imgW="189216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3800" y="1431925"/>
                        <a:ext cx="5986463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4" name="Group 63"/>
          <p:cNvGrpSpPr/>
          <p:nvPr/>
        </p:nvGrpSpPr>
        <p:grpSpPr>
          <a:xfrm>
            <a:off x="1966267" y="3284984"/>
            <a:ext cx="4765973" cy="1943100"/>
            <a:chOff x="1966267" y="3284984"/>
            <a:chExt cx="4765973" cy="1943100"/>
          </a:xfrm>
        </p:grpSpPr>
        <p:pic>
          <p:nvPicPr>
            <p:cNvPr id="157704" name="Picture 8"/>
            <p:cNvPicPr>
              <a:picLocks noChangeAspect="1" noChangeArrowheads="1"/>
            </p:cNvPicPr>
            <p:nvPr/>
          </p:nvPicPr>
          <p:blipFill>
            <a:blip r:embed="rId4" cstate="print"/>
            <a:srcRect r="50992"/>
            <a:stretch>
              <a:fillRect/>
            </a:stretch>
          </p:blipFill>
          <p:spPr bwMode="auto">
            <a:xfrm>
              <a:off x="1966267" y="3284984"/>
              <a:ext cx="3888432" cy="1943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2" name="Picture 8"/>
            <p:cNvPicPr>
              <a:picLocks noChangeAspect="1" noChangeArrowheads="1"/>
            </p:cNvPicPr>
            <p:nvPr/>
          </p:nvPicPr>
          <p:blipFill>
            <a:blip r:embed="rId4" cstate="print"/>
            <a:srcRect l="55361" t="62999" r="27396"/>
            <a:stretch>
              <a:fillRect/>
            </a:stretch>
          </p:blipFill>
          <p:spPr bwMode="auto">
            <a:xfrm>
              <a:off x="3766467" y="4509120"/>
              <a:ext cx="1368152" cy="7189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3" name="Picture 8"/>
            <p:cNvPicPr>
              <a:picLocks noChangeAspect="1" noChangeArrowheads="1"/>
            </p:cNvPicPr>
            <p:nvPr/>
          </p:nvPicPr>
          <p:blipFill>
            <a:blip r:embed="rId4" cstate="print"/>
            <a:srcRect l="88940" t="7412" b="70353"/>
            <a:stretch>
              <a:fillRect/>
            </a:stretch>
          </p:blipFill>
          <p:spPr bwMode="auto">
            <a:xfrm>
              <a:off x="5854699" y="4653136"/>
              <a:ext cx="877541" cy="4320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50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44624"/>
            <a:ext cx="8640960" cy="1143000"/>
          </a:xfrm>
        </p:spPr>
        <p:txBody>
          <a:bodyPr>
            <a:normAutofit/>
          </a:bodyPr>
          <a:lstStyle/>
          <a:p>
            <a:r>
              <a:rPr lang="en-GB" sz="3300" dirty="0"/>
              <a:t>Block Diagram of Armature Controlled </a:t>
            </a:r>
            <a:r>
              <a:rPr lang="en-GB" sz="3300" dirty="0" err="1"/>
              <a:t>D.C</a:t>
            </a:r>
            <a:r>
              <a:rPr lang="en-GB" sz="3300" dirty="0"/>
              <a:t> Motor</a:t>
            </a:r>
          </a:p>
        </p:txBody>
      </p:sp>
      <p:graphicFrame>
        <p:nvGraphicFramePr>
          <p:cNvPr id="159747" name="Object 3"/>
          <p:cNvGraphicFramePr>
            <a:graphicFrameLocks noChangeAspect="1"/>
          </p:cNvGraphicFramePr>
          <p:nvPr/>
        </p:nvGraphicFramePr>
        <p:xfrm>
          <a:off x="2540000" y="1972196"/>
          <a:ext cx="3856038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18960" imgH="190440" progId="Equation.3">
                  <p:embed/>
                </p:oleObj>
              </mc:Choice>
              <mc:Fallback>
                <p:oleObj name="Equation" r:id="rId2" imgW="1218960" imgH="1904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000" y="1972196"/>
                        <a:ext cx="3856038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10"/>
          <p:cNvGrpSpPr/>
          <p:nvPr/>
        </p:nvGrpSpPr>
        <p:grpSpPr>
          <a:xfrm>
            <a:off x="2358405" y="3517751"/>
            <a:ext cx="4805883" cy="1495425"/>
            <a:chOff x="2483768" y="2996952"/>
            <a:chExt cx="4805883" cy="1495425"/>
          </a:xfrm>
        </p:grpSpPr>
        <p:pic>
          <p:nvPicPr>
            <p:cNvPr id="159748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483768" y="2996952"/>
              <a:ext cx="3686175" cy="1495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9750" name="Picture 6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6156176" y="3328856"/>
              <a:ext cx="1133475" cy="666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51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44624"/>
            <a:ext cx="8640960" cy="1143000"/>
          </a:xfrm>
        </p:spPr>
        <p:txBody>
          <a:bodyPr>
            <a:normAutofit/>
          </a:bodyPr>
          <a:lstStyle/>
          <a:p>
            <a:r>
              <a:rPr lang="en-GB" sz="3300" dirty="0"/>
              <a:t>Block Diagram of Armature Controlled </a:t>
            </a:r>
            <a:r>
              <a:rPr lang="en-GB" sz="3300" dirty="0" err="1"/>
              <a:t>D.C</a:t>
            </a:r>
            <a:r>
              <a:rPr lang="en-GB" sz="3300" dirty="0"/>
              <a:t> Motor</a:t>
            </a:r>
          </a:p>
        </p:txBody>
      </p:sp>
      <p:grpSp>
        <p:nvGrpSpPr>
          <p:cNvPr id="3" name="Group 10"/>
          <p:cNvGrpSpPr/>
          <p:nvPr/>
        </p:nvGrpSpPr>
        <p:grpSpPr>
          <a:xfrm>
            <a:off x="4662661" y="1340768"/>
            <a:ext cx="4445843" cy="1495425"/>
            <a:chOff x="2483768" y="2996952"/>
            <a:chExt cx="4445843" cy="1495425"/>
          </a:xfrm>
        </p:grpSpPr>
        <p:pic>
          <p:nvPicPr>
            <p:cNvPr id="159748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483768" y="2996952"/>
              <a:ext cx="3686175" cy="1495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9750" name="Picture 6"/>
            <p:cNvPicPr>
              <a:picLocks noChangeAspect="1" noChangeArrowheads="1"/>
            </p:cNvPicPr>
            <p:nvPr/>
          </p:nvPicPr>
          <p:blipFill>
            <a:blip r:embed="rId3" cstate="print"/>
            <a:srcRect r="31764"/>
            <a:stretch>
              <a:fillRect/>
            </a:stretch>
          </p:blipFill>
          <p:spPr bwMode="auto">
            <a:xfrm>
              <a:off x="6156176" y="3328856"/>
              <a:ext cx="773435" cy="666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8" name="Group 7"/>
          <p:cNvGrpSpPr/>
          <p:nvPr/>
        </p:nvGrpSpPr>
        <p:grpSpPr>
          <a:xfrm>
            <a:off x="22051" y="1484784"/>
            <a:ext cx="4765973" cy="1943100"/>
            <a:chOff x="1966267" y="3284984"/>
            <a:chExt cx="4765973" cy="1943100"/>
          </a:xfrm>
        </p:grpSpPr>
        <p:pic>
          <p:nvPicPr>
            <p:cNvPr id="9" name="Picture 8"/>
            <p:cNvPicPr>
              <a:picLocks noChangeAspect="1" noChangeArrowheads="1"/>
            </p:cNvPicPr>
            <p:nvPr/>
          </p:nvPicPr>
          <p:blipFill>
            <a:blip r:embed="rId4" cstate="print"/>
            <a:srcRect r="50992"/>
            <a:stretch>
              <a:fillRect/>
            </a:stretch>
          </p:blipFill>
          <p:spPr bwMode="auto">
            <a:xfrm>
              <a:off x="1966267" y="3284984"/>
              <a:ext cx="3888432" cy="1943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" name="Picture 8"/>
            <p:cNvPicPr>
              <a:picLocks noChangeAspect="1" noChangeArrowheads="1"/>
            </p:cNvPicPr>
            <p:nvPr/>
          </p:nvPicPr>
          <p:blipFill>
            <a:blip r:embed="rId4" cstate="print"/>
            <a:srcRect l="55361" t="62999" r="27396"/>
            <a:stretch>
              <a:fillRect/>
            </a:stretch>
          </p:blipFill>
          <p:spPr bwMode="auto">
            <a:xfrm>
              <a:off x="3766467" y="4509120"/>
              <a:ext cx="1368152" cy="7189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1" name="Picture 8"/>
            <p:cNvPicPr>
              <a:picLocks noChangeAspect="1" noChangeArrowheads="1"/>
            </p:cNvPicPr>
            <p:nvPr/>
          </p:nvPicPr>
          <p:blipFill>
            <a:blip r:embed="rId4" cstate="print"/>
            <a:srcRect l="88940" t="7412" b="70353"/>
            <a:stretch>
              <a:fillRect/>
            </a:stretch>
          </p:blipFill>
          <p:spPr bwMode="auto">
            <a:xfrm>
              <a:off x="5854699" y="4653136"/>
              <a:ext cx="877541" cy="4320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60772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9600" y="4005064"/>
            <a:ext cx="8534400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52</a:t>
            </a:fld>
            <a:endParaRPr lang="en-GB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" name="AutoShape 81"/>
          <p:cNvSpPr>
            <a:spLocks noChangeArrowheads="1"/>
          </p:cNvSpPr>
          <p:nvPr/>
        </p:nvSpPr>
        <p:spPr bwMode="auto">
          <a:xfrm>
            <a:off x="5559425" y="2514600"/>
            <a:ext cx="630238" cy="768350"/>
          </a:xfrm>
          <a:prstGeom prst="star32">
            <a:avLst>
              <a:gd name="adj" fmla="val 37500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0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30" name="AutoShape 82"/>
          <p:cNvSpPr>
            <a:spLocks noChangeArrowheads="1"/>
          </p:cNvSpPr>
          <p:nvPr/>
        </p:nvSpPr>
        <p:spPr bwMode="auto">
          <a:xfrm>
            <a:off x="5540375" y="3201988"/>
            <a:ext cx="630238" cy="771525"/>
          </a:xfrm>
          <a:prstGeom prst="star32">
            <a:avLst>
              <a:gd name="adj" fmla="val 37500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0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33" name="Oval 85"/>
          <p:cNvSpPr>
            <a:spLocks noChangeArrowheads="1"/>
          </p:cNvSpPr>
          <p:nvPr/>
        </p:nvSpPr>
        <p:spPr bwMode="auto">
          <a:xfrm>
            <a:off x="5778500" y="3511550"/>
            <a:ext cx="125413" cy="153988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0"/>
                  <a:invGamma/>
                </a:schemeClr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251" name="Line 203"/>
          <p:cNvSpPr>
            <a:spLocks noChangeShapeType="1"/>
          </p:cNvSpPr>
          <p:nvPr/>
        </p:nvSpPr>
        <p:spPr bwMode="auto">
          <a:xfrm flipH="1">
            <a:off x="2682875" y="4538663"/>
            <a:ext cx="2209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204" name="AutoShape 156" descr="Canvas"/>
          <p:cNvSpPr>
            <a:spLocks noChangeArrowheads="1"/>
          </p:cNvSpPr>
          <p:nvPr/>
        </p:nvSpPr>
        <p:spPr bwMode="auto">
          <a:xfrm>
            <a:off x="6911975" y="2481263"/>
            <a:ext cx="1676400" cy="2209800"/>
          </a:xfrm>
          <a:prstGeom prst="star24">
            <a:avLst>
              <a:gd name="adj" fmla="val 37500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GB"/>
          </a:p>
        </p:txBody>
      </p:sp>
      <p:sp>
        <p:nvSpPr>
          <p:cNvPr id="2205" name="Rectangle 157" descr="Canvas"/>
          <p:cNvSpPr>
            <a:spLocks noChangeArrowheads="1"/>
          </p:cNvSpPr>
          <p:nvPr/>
        </p:nvSpPr>
        <p:spPr bwMode="auto">
          <a:xfrm>
            <a:off x="6835775" y="2328863"/>
            <a:ext cx="990600" cy="2667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199" name="AutoShape 151" descr="Canvas"/>
          <p:cNvSpPr>
            <a:spLocks noChangeArrowheads="1"/>
          </p:cNvSpPr>
          <p:nvPr/>
        </p:nvSpPr>
        <p:spPr bwMode="auto">
          <a:xfrm>
            <a:off x="0" y="2481263"/>
            <a:ext cx="1616075" cy="2209800"/>
          </a:xfrm>
          <a:prstGeom prst="star24">
            <a:avLst>
              <a:gd name="adj" fmla="val 37500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GB"/>
          </a:p>
        </p:txBody>
      </p:sp>
      <p:sp>
        <p:nvSpPr>
          <p:cNvPr id="2200" name="Rectangle 152" descr="Canvas"/>
          <p:cNvSpPr>
            <a:spLocks noChangeArrowheads="1"/>
          </p:cNvSpPr>
          <p:nvPr/>
        </p:nvSpPr>
        <p:spPr bwMode="auto">
          <a:xfrm>
            <a:off x="15875" y="2328863"/>
            <a:ext cx="838200" cy="2667000"/>
          </a:xfrm>
          <a:prstGeom prst="rect">
            <a:avLst/>
          </a:prstGeom>
          <a:solidFill>
            <a:schemeClr val="bg1"/>
          </a:solidFill>
          <a:ln>
            <a:noFill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GB"/>
          </a:p>
        </p:txBody>
      </p:sp>
      <p:sp>
        <p:nvSpPr>
          <p:cNvPr id="2056" name="Oval 8"/>
          <p:cNvSpPr>
            <a:spLocks noChangeArrowheads="1"/>
          </p:cNvSpPr>
          <p:nvPr/>
        </p:nvSpPr>
        <p:spPr bwMode="auto">
          <a:xfrm>
            <a:off x="938213" y="3581400"/>
            <a:ext cx="41275" cy="762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endParaRPr lang="en-GB"/>
          </a:p>
        </p:txBody>
      </p:sp>
      <p:sp>
        <p:nvSpPr>
          <p:cNvPr id="2058" name="Line 10"/>
          <p:cNvSpPr>
            <a:spLocks noChangeShapeType="1"/>
          </p:cNvSpPr>
          <p:nvPr/>
        </p:nvSpPr>
        <p:spPr bwMode="auto">
          <a:xfrm flipH="1">
            <a:off x="444500" y="2266950"/>
            <a:ext cx="461963" cy="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ffectLst>
            <a:prstShdw prst="shdw17" dist="17961" dir="2700000">
              <a:srgbClr val="000099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059" name="Line 11"/>
          <p:cNvSpPr>
            <a:spLocks noChangeShapeType="1"/>
          </p:cNvSpPr>
          <p:nvPr/>
        </p:nvSpPr>
        <p:spPr bwMode="auto">
          <a:xfrm flipV="1">
            <a:off x="896938" y="2266950"/>
            <a:ext cx="0" cy="53340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ffectLst>
            <a:prstShdw prst="shdw17" dist="17961" dir="2700000">
              <a:srgbClr val="000099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064" name="Line 16"/>
          <p:cNvSpPr>
            <a:spLocks noChangeShapeType="1"/>
          </p:cNvSpPr>
          <p:nvPr/>
        </p:nvSpPr>
        <p:spPr bwMode="auto">
          <a:xfrm>
            <a:off x="896938" y="4343400"/>
            <a:ext cx="0" cy="53340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ffectLst>
            <a:prstShdw prst="shdw17" dist="17961" dir="2700000">
              <a:srgbClr val="000099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065" name="Line 17"/>
          <p:cNvSpPr>
            <a:spLocks noChangeShapeType="1"/>
          </p:cNvSpPr>
          <p:nvPr/>
        </p:nvSpPr>
        <p:spPr bwMode="auto">
          <a:xfrm flipH="1">
            <a:off x="444500" y="4876800"/>
            <a:ext cx="449263" cy="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ffectLst>
            <a:prstShdw prst="shdw17" dist="17961" dir="2700000">
              <a:srgbClr val="000099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3" name="Group 208"/>
          <p:cNvGrpSpPr>
            <a:grpSpLocks/>
          </p:cNvGrpSpPr>
          <p:nvPr/>
        </p:nvGrpSpPr>
        <p:grpSpPr bwMode="auto">
          <a:xfrm>
            <a:off x="244475" y="2266950"/>
            <a:ext cx="388938" cy="2609850"/>
            <a:chOff x="144" y="1113"/>
            <a:chExt cx="245" cy="1644"/>
          </a:xfrm>
        </p:grpSpPr>
        <p:sp>
          <p:nvSpPr>
            <p:cNvPr id="2068" name="Line 20"/>
            <p:cNvSpPr>
              <a:spLocks noChangeShapeType="1"/>
            </p:cNvSpPr>
            <p:nvPr/>
          </p:nvSpPr>
          <p:spPr bwMode="auto">
            <a:xfrm>
              <a:off x="263" y="1113"/>
              <a:ext cx="0" cy="576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ffectLst>
              <a:prstShdw prst="shdw17" dist="17961" dir="2700000">
                <a:srgbClr val="000099">
                  <a:gamma/>
                  <a:shade val="60000"/>
                  <a:invGamma/>
                </a:srgbClr>
              </a:prst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2069" name="Line 21"/>
            <p:cNvSpPr>
              <a:spLocks noChangeShapeType="1"/>
            </p:cNvSpPr>
            <p:nvPr/>
          </p:nvSpPr>
          <p:spPr bwMode="auto">
            <a:xfrm>
              <a:off x="263" y="1989"/>
              <a:ext cx="0" cy="768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ffectLst>
              <a:prstShdw prst="shdw17" dist="17961" dir="2700000">
                <a:srgbClr val="000099">
                  <a:gamma/>
                  <a:shade val="60000"/>
                  <a:invGamma/>
                </a:srgbClr>
              </a:prst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2070" name="Line 22"/>
            <p:cNvSpPr>
              <a:spLocks noChangeShapeType="1"/>
            </p:cNvSpPr>
            <p:nvPr/>
          </p:nvSpPr>
          <p:spPr bwMode="auto">
            <a:xfrm flipH="1">
              <a:off x="151" y="1701"/>
              <a:ext cx="238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ffectLst>
              <a:prstShdw prst="shdw17" dist="17961" dir="2700000">
                <a:srgbClr val="000099">
                  <a:gamma/>
                  <a:shade val="60000"/>
                  <a:invGamma/>
                </a:srgbClr>
              </a:prst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2071" name="Line 23"/>
            <p:cNvSpPr>
              <a:spLocks noChangeShapeType="1"/>
            </p:cNvSpPr>
            <p:nvPr/>
          </p:nvSpPr>
          <p:spPr bwMode="auto">
            <a:xfrm flipH="1">
              <a:off x="144" y="1893"/>
              <a:ext cx="239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ffectLst>
              <a:prstShdw prst="shdw17" dist="17961" dir="2700000">
                <a:srgbClr val="000099">
                  <a:gamma/>
                  <a:shade val="60000"/>
                  <a:invGamma/>
                </a:srgbClr>
              </a:prst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2072" name="Line 24"/>
            <p:cNvSpPr>
              <a:spLocks noChangeShapeType="1"/>
            </p:cNvSpPr>
            <p:nvPr/>
          </p:nvSpPr>
          <p:spPr bwMode="auto">
            <a:xfrm>
              <a:off x="204" y="1797"/>
              <a:ext cx="106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ffectLst>
              <a:prstShdw prst="shdw17" dist="17961" dir="2700000">
                <a:srgbClr val="000099">
                  <a:gamma/>
                  <a:shade val="60000"/>
                  <a:invGamma/>
                </a:srgbClr>
              </a:prst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2073" name="Line 25"/>
            <p:cNvSpPr>
              <a:spLocks noChangeShapeType="1"/>
            </p:cNvSpPr>
            <p:nvPr/>
          </p:nvSpPr>
          <p:spPr bwMode="auto">
            <a:xfrm>
              <a:off x="204" y="1989"/>
              <a:ext cx="106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ffectLst>
              <a:prstShdw prst="shdw17" dist="17961" dir="2700000">
                <a:srgbClr val="000099">
                  <a:gamma/>
                  <a:shade val="60000"/>
                  <a:invGamma/>
                </a:srgbClr>
              </a:prstShdw>
            </a:effec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088" name="Line 40"/>
          <p:cNvSpPr>
            <a:spLocks noChangeShapeType="1"/>
          </p:cNvSpPr>
          <p:nvPr/>
        </p:nvSpPr>
        <p:spPr bwMode="auto">
          <a:xfrm flipV="1">
            <a:off x="960438" y="3238500"/>
            <a:ext cx="377825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089" name="Arc 41"/>
          <p:cNvSpPr>
            <a:spLocks/>
          </p:cNvSpPr>
          <p:nvPr/>
        </p:nvSpPr>
        <p:spPr bwMode="auto">
          <a:xfrm>
            <a:off x="1065213" y="3276600"/>
            <a:ext cx="168275" cy="436563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30934"/>
              <a:gd name="T2" fmla="*/ 19479 w 21600"/>
              <a:gd name="T3" fmla="*/ 30934 h 30934"/>
              <a:gd name="T4" fmla="*/ 0 w 21600"/>
              <a:gd name="T5" fmla="*/ 21600 h 309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30934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4830"/>
                  <a:pt x="20875" y="28020"/>
                  <a:pt x="19479" y="30934"/>
                </a:cubicBezTo>
              </a:path>
              <a:path w="21600" h="30934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4830"/>
                  <a:pt x="20875" y="28020"/>
                  <a:pt x="19479" y="30934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endParaRPr lang="en-GB"/>
          </a:p>
        </p:txBody>
      </p:sp>
      <p:sp>
        <p:nvSpPr>
          <p:cNvPr id="2109" name="Rectangle 61" descr="Papyrus"/>
          <p:cNvSpPr>
            <a:spLocks noChangeArrowheads="1"/>
          </p:cNvSpPr>
          <p:nvPr/>
        </p:nvSpPr>
        <p:spPr bwMode="auto">
          <a:xfrm>
            <a:off x="2035175" y="2371725"/>
            <a:ext cx="679450" cy="234315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r>
              <a:rPr lang="en-US" sz="24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+</a:t>
            </a:r>
          </a:p>
          <a:p>
            <a:pPr algn="ctr"/>
            <a:endParaRPr lang="en-US" sz="2400" b="1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  <a:p>
            <a:pPr algn="ctr"/>
            <a:r>
              <a:rPr 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k</a:t>
            </a:r>
            <a:r>
              <a:rPr lang="en-US" sz="2800" b="1" baseline="-250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p</a:t>
            </a:r>
          </a:p>
          <a:p>
            <a:pPr algn="ctr"/>
            <a:endParaRPr lang="en-US" sz="2800" b="1" baseline="-2500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  <a:p>
            <a:pPr algn="ctr"/>
            <a:endParaRPr lang="en-US" sz="2400" b="1" baseline="-2500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  <a:p>
            <a:r>
              <a:rPr lang="en-US" sz="2400" b="1" baseline="-250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  -</a:t>
            </a:r>
            <a:endParaRPr lang="en-US" sz="2400" b="1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115" name="Line 67"/>
          <p:cNvSpPr>
            <a:spLocks noChangeShapeType="1"/>
          </p:cNvSpPr>
          <p:nvPr/>
        </p:nvSpPr>
        <p:spPr bwMode="auto">
          <a:xfrm>
            <a:off x="3362325" y="3033713"/>
            <a:ext cx="8128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>
            <a:prstShdw prst="shdw17" dist="17961" dir="2700000">
              <a:srgbClr val="000000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44" name="Line 96"/>
          <p:cNvSpPr>
            <a:spLocks noChangeShapeType="1"/>
          </p:cNvSpPr>
          <p:nvPr/>
        </p:nvSpPr>
        <p:spPr bwMode="auto">
          <a:xfrm>
            <a:off x="6950075" y="3611563"/>
            <a:ext cx="2746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32" name="Oval 84"/>
          <p:cNvSpPr>
            <a:spLocks noChangeArrowheads="1"/>
          </p:cNvSpPr>
          <p:nvPr/>
        </p:nvSpPr>
        <p:spPr bwMode="auto">
          <a:xfrm>
            <a:off x="5811838" y="2820988"/>
            <a:ext cx="125413" cy="153988"/>
          </a:xfrm>
          <a:prstGeom prst="ellipse">
            <a:avLst/>
          </a:prstGeom>
          <a:gradFill rotWithShape="1">
            <a:gsLst>
              <a:gs pos="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38" name="Line 90"/>
          <p:cNvSpPr>
            <a:spLocks noChangeShapeType="1"/>
          </p:cNvSpPr>
          <p:nvPr/>
        </p:nvSpPr>
        <p:spPr bwMode="auto">
          <a:xfrm flipH="1">
            <a:off x="5464175" y="2906713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41" name="Line 93"/>
          <p:cNvSpPr>
            <a:spLocks noChangeShapeType="1"/>
          </p:cNvSpPr>
          <p:nvPr/>
        </p:nvSpPr>
        <p:spPr bwMode="auto">
          <a:xfrm>
            <a:off x="5845175" y="3592513"/>
            <a:ext cx="609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43" name="AutoShape 95" descr="White marble"/>
          <p:cNvSpPr>
            <a:spLocks noChangeArrowheads="1"/>
          </p:cNvSpPr>
          <p:nvPr/>
        </p:nvSpPr>
        <p:spPr bwMode="auto">
          <a:xfrm rot="16200000">
            <a:off x="6378575" y="3287713"/>
            <a:ext cx="457200" cy="609600"/>
          </a:xfrm>
          <a:prstGeom prst="can">
            <a:avLst>
              <a:gd name="adj" fmla="val 33333"/>
            </a:avLst>
          </a:prstGeom>
          <a:blipFill dpi="0" rotWithShape="1">
            <a:blip r:embed="rId3" cstate="print"/>
            <a:srcRect/>
            <a:tile tx="0" ty="0" sx="100000" sy="100000" flip="none" algn="tl"/>
          </a:blipFill>
          <a:ln w="38100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vert="eaVert" wrap="none" anchor="ctr"/>
          <a:lstStyle/>
          <a:p>
            <a:pPr algn="ctr" eaLnBrk="1" hangingPunct="1"/>
            <a:r>
              <a:rPr lang="en-US" b="1">
                <a:latin typeface="Times New Roman" pitchFamily="18" charset="0"/>
              </a:rPr>
              <a:t>J</a:t>
            </a:r>
            <a:r>
              <a:rPr lang="en-US" b="1" baseline="-25000">
                <a:latin typeface="Times New Roman" pitchFamily="18" charset="0"/>
              </a:rPr>
              <a:t>L</a:t>
            </a:r>
          </a:p>
        </p:txBody>
      </p:sp>
      <p:sp>
        <p:nvSpPr>
          <p:cNvPr id="2145" name="Line 97"/>
          <p:cNvSpPr>
            <a:spLocks noChangeShapeType="1"/>
          </p:cNvSpPr>
          <p:nvPr/>
        </p:nvSpPr>
        <p:spPr bwMode="auto">
          <a:xfrm>
            <a:off x="7216775" y="3382963"/>
            <a:ext cx="0" cy="4572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>
            <a:prstShdw prst="shdw17" dist="17961" dir="2700000">
              <a:schemeClr val="accent2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46" name="Line 98"/>
          <p:cNvSpPr>
            <a:spLocks noChangeShapeType="1"/>
          </p:cNvSpPr>
          <p:nvPr/>
        </p:nvSpPr>
        <p:spPr bwMode="auto">
          <a:xfrm>
            <a:off x="7064375" y="3363913"/>
            <a:ext cx="3810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>
            <a:prstShdw prst="shdw17" dist="17961" dir="2700000">
              <a:schemeClr val="accent2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47" name="Line 99"/>
          <p:cNvSpPr>
            <a:spLocks noChangeShapeType="1"/>
          </p:cNvSpPr>
          <p:nvPr/>
        </p:nvSpPr>
        <p:spPr bwMode="auto">
          <a:xfrm>
            <a:off x="7083425" y="3859213"/>
            <a:ext cx="3810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>
            <a:prstShdw prst="shdw17" dist="17961" dir="2700000">
              <a:schemeClr val="accent2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48" name="Line 100"/>
          <p:cNvSpPr>
            <a:spLocks noChangeShapeType="1"/>
          </p:cNvSpPr>
          <p:nvPr/>
        </p:nvSpPr>
        <p:spPr bwMode="auto">
          <a:xfrm>
            <a:off x="7445375" y="3363913"/>
            <a:ext cx="0" cy="50323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>
            <a:prstShdw prst="shdw17" dist="17961" dir="2700000">
              <a:schemeClr val="accent2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50" name="Line 102"/>
          <p:cNvSpPr>
            <a:spLocks noChangeShapeType="1"/>
          </p:cNvSpPr>
          <p:nvPr/>
        </p:nvSpPr>
        <p:spPr bwMode="auto">
          <a:xfrm flipV="1">
            <a:off x="5159375" y="2895600"/>
            <a:ext cx="30480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71" name="Oval 123"/>
          <p:cNvSpPr>
            <a:spLocks noChangeArrowheads="1"/>
          </p:cNvSpPr>
          <p:nvPr/>
        </p:nvSpPr>
        <p:spPr bwMode="auto">
          <a:xfrm>
            <a:off x="7826375" y="3581400"/>
            <a:ext cx="41275" cy="762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endParaRPr lang="en-GB"/>
          </a:p>
        </p:txBody>
      </p:sp>
      <p:sp>
        <p:nvSpPr>
          <p:cNvPr id="2182" name="Line 134"/>
          <p:cNvSpPr>
            <a:spLocks noChangeShapeType="1"/>
          </p:cNvSpPr>
          <p:nvPr/>
        </p:nvSpPr>
        <p:spPr bwMode="auto">
          <a:xfrm flipV="1">
            <a:off x="7856538" y="3238500"/>
            <a:ext cx="377825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83" name="Arc 135"/>
          <p:cNvSpPr>
            <a:spLocks/>
          </p:cNvSpPr>
          <p:nvPr/>
        </p:nvSpPr>
        <p:spPr bwMode="auto">
          <a:xfrm>
            <a:off x="7961313" y="3276600"/>
            <a:ext cx="168275" cy="436563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30934"/>
              <a:gd name="T2" fmla="*/ 19479 w 21600"/>
              <a:gd name="T3" fmla="*/ 30934 h 30934"/>
              <a:gd name="T4" fmla="*/ 0 w 21600"/>
              <a:gd name="T5" fmla="*/ 21600 h 309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30934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4830"/>
                  <a:pt x="20875" y="28020"/>
                  <a:pt x="19479" y="30934"/>
                </a:cubicBezTo>
              </a:path>
              <a:path w="21600" h="30934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4830"/>
                  <a:pt x="20875" y="28020"/>
                  <a:pt x="19479" y="30934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endParaRPr lang="en-GB"/>
          </a:p>
        </p:txBody>
      </p:sp>
      <p:sp>
        <p:nvSpPr>
          <p:cNvPr id="2172" name="Line 124"/>
          <p:cNvSpPr>
            <a:spLocks noChangeShapeType="1"/>
          </p:cNvSpPr>
          <p:nvPr/>
        </p:nvSpPr>
        <p:spPr bwMode="auto">
          <a:xfrm flipH="1">
            <a:off x="7807325" y="2266950"/>
            <a:ext cx="1004888" cy="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ffectLst>
            <a:prstShdw prst="shdw17" dist="17961" dir="2700000">
              <a:srgbClr val="000099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73" name="Line 125"/>
          <p:cNvSpPr>
            <a:spLocks noChangeShapeType="1"/>
          </p:cNvSpPr>
          <p:nvPr/>
        </p:nvSpPr>
        <p:spPr bwMode="auto">
          <a:xfrm flipV="1">
            <a:off x="7807325" y="2266950"/>
            <a:ext cx="0" cy="53340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ffectLst>
            <a:prstShdw prst="shdw17" dist="17961" dir="2700000">
              <a:srgbClr val="000099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74" name="Line 126"/>
          <p:cNvSpPr>
            <a:spLocks noChangeShapeType="1"/>
          </p:cNvSpPr>
          <p:nvPr/>
        </p:nvSpPr>
        <p:spPr bwMode="auto">
          <a:xfrm>
            <a:off x="7826375" y="4343400"/>
            <a:ext cx="0" cy="53340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ffectLst>
            <a:prstShdw prst="shdw17" dist="17961" dir="2700000">
              <a:srgbClr val="000099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78" name="Line 130"/>
          <p:cNvSpPr>
            <a:spLocks noChangeShapeType="1"/>
          </p:cNvSpPr>
          <p:nvPr/>
        </p:nvSpPr>
        <p:spPr bwMode="auto">
          <a:xfrm flipH="1">
            <a:off x="8626475" y="3200400"/>
            <a:ext cx="377825" cy="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ffectLst>
            <a:prstShdw prst="shdw17" dist="17961" dir="2700000">
              <a:srgbClr val="000099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grpSp>
        <p:nvGrpSpPr>
          <p:cNvPr id="4" name="Group 136"/>
          <p:cNvGrpSpPr>
            <a:grpSpLocks/>
          </p:cNvGrpSpPr>
          <p:nvPr/>
        </p:nvGrpSpPr>
        <p:grpSpPr bwMode="auto">
          <a:xfrm>
            <a:off x="8628063" y="2266950"/>
            <a:ext cx="379413" cy="2609850"/>
            <a:chOff x="4728" y="1620"/>
            <a:chExt cx="239" cy="1644"/>
          </a:xfrm>
        </p:grpSpPr>
        <p:sp>
          <p:nvSpPr>
            <p:cNvPr id="2176" name="Line 128"/>
            <p:cNvSpPr>
              <a:spLocks noChangeShapeType="1"/>
            </p:cNvSpPr>
            <p:nvPr/>
          </p:nvSpPr>
          <p:spPr bwMode="auto">
            <a:xfrm>
              <a:off x="4847" y="1620"/>
              <a:ext cx="0" cy="576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ffectLst>
              <a:prstShdw prst="shdw17" dist="17961" dir="2700000">
                <a:srgbClr val="000099">
                  <a:gamma/>
                  <a:shade val="60000"/>
                  <a:invGamma/>
                </a:srgbClr>
              </a:prst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2177" name="Line 129"/>
            <p:cNvSpPr>
              <a:spLocks noChangeShapeType="1"/>
            </p:cNvSpPr>
            <p:nvPr/>
          </p:nvSpPr>
          <p:spPr bwMode="auto">
            <a:xfrm>
              <a:off x="4847" y="2496"/>
              <a:ext cx="0" cy="768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ffectLst>
              <a:prstShdw prst="shdw17" dist="17961" dir="2700000">
                <a:srgbClr val="000099">
                  <a:gamma/>
                  <a:shade val="60000"/>
                  <a:invGamma/>
                </a:srgbClr>
              </a:prst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2179" name="Line 131"/>
            <p:cNvSpPr>
              <a:spLocks noChangeShapeType="1"/>
            </p:cNvSpPr>
            <p:nvPr/>
          </p:nvSpPr>
          <p:spPr bwMode="auto">
            <a:xfrm flipH="1">
              <a:off x="4728" y="2400"/>
              <a:ext cx="239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ffectLst>
              <a:prstShdw prst="shdw17" dist="17961" dir="2700000">
                <a:srgbClr val="000099">
                  <a:gamma/>
                  <a:shade val="60000"/>
                  <a:invGamma/>
                </a:srgbClr>
              </a:prst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2180" name="Line 132"/>
            <p:cNvSpPr>
              <a:spLocks noChangeShapeType="1"/>
            </p:cNvSpPr>
            <p:nvPr/>
          </p:nvSpPr>
          <p:spPr bwMode="auto">
            <a:xfrm>
              <a:off x="4788" y="2304"/>
              <a:ext cx="106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ffectLst>
              <a:prstShdw prst="shdw17" dist="17961" dir="2700000">
                <a:srgbClr val="000099">
                  <a:gamma/>
                  <a:shade val="60000"/>
                  <a:invGamma/>
                </a:srgbClr>
              </a:prst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2181" name="Line 133"/>
            <p:cNvSpPr>
              <a:spLocks noChangeShapeType="1"/>
            </p:cNvSpPr>
            <p:nvPr/>
          </p:nvSpPr>
          <p:spPr bwMode="auto">
            <a:xfrm>
              <a:off x="4788" y="2496"/>
              <a:ext cx="106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ffectLst>
              <a:prstShdw prst="shdw17" dist="17961" dir="2700000">
                <a:srgbClr val="000099">
                  <a:gamma/>
                  <a:shade val="60000"/>
                  <a:invGamma/>
                </a:srgbClr>
              </a:prstShdw>
            </a:effec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185" name="Line 137"/>
          <p:cNvSpPr>
            <a:spLocks noChangeShapeType="1"/>
          </p:cNvSpPr>
          <p:nvPr/>
        </p:nvSpPr>
        <p:spPr bwMode="auto">
          <a:xfrm flipH="1">
            <a:off x="7826375" y="4895850"/>
            <a:ext cx="1004888" cy="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ffectLst>
            <a:prstShdw prst="shdw17" dist="17961" dir="2700000">
              <a:srgbClr val="000099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87" name="Line 139"/>
          <p:cNvSpPr>
            <a:spLocks noChangeShapeType="1"/>
          </p:cNvSpPr>
          <p:nvPr/>
        </p:nvSpPr>
        <p:spPr bwMode="auto">
          <a:xfrm flipH="1">
            <a:off x="7445375" y="3619500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88" name="Line 140"/>
          <p:cNvSpPr>
            <a:spLocks noChangeShapeType="1"/>
          </p:cNvSpPr>
          <p:nvPr/>
        </p:nvSpPr>
        <p:spPr bwMode="auto">
          <a:xfrm>
            <a:off x="968375" y="3657600"/>
            <a:ext cx="0" cy="1981200"/>
          </a:xfrm>
          <a:prstGeom prst="line">
            <a:avLst/>
          </a:prstGeom>
          <a:noFill/>
          <a:ln w="28575">
            <a:solidFill>
              <a:srgbClr val="800000"/>
            </a:solidFill>
            <a:prstDash val="dash"/>
            <a:round/>
            <a:headEnd/>
            <a:tailEnd/>
          </a:ln>
          <a:effectLst>
            <a:prstShdw prst="shdw17" dist="17961" dir="2700000">
              <a:srgbClr val="800000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89" name="Line 141"/>
          <p:cNvSpPr>
            <a:spLocks noChangeShapeType="1"/>
          </p:cNvSpPr>
          <p:nvPr/>
        </p:nvSpPr>
        <p:spPr bwMode="auto">
          <a:xfrm flipH="1">
            <a:off x="1654175" y="2590800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91" name="Line 143"/>
          <p:cNvSpPr>
            <a:spLocks noChangeShapeType="1"/>
          </p:cNvSpPr>
          <p:nvPr/>
        </p:nvSpPr>
        <p:spPr bwMode="auto">
          <a:xfrm>
            <a:off x="1654175" y="2590800"/>
            <a:ext cx="0" cy="3048000"/>
          </a:xfrm>
          <a:prstGeom prst="line">
            <a:avLst/>
          </a:prstGeom>
          <a:noFill/>
          <a:ln w="28575">
            <a:solidFill>
              <a:srgbClr val="800000"/>
            </a:solidFill>
            <a:prstDash val="dash"/>
            <a:round/>
            <a:headEnd/>
            <a:tailEnd/>
          </a:ln>
          <a:effectLst>
            <a:prstShdw prst="shdw17" dist="17961" dir="2700000">
              <a:srgbClr val="800000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92" name="Line 144"/>
          <p:cNvSpPr>
            <a:spLocks noChangeShapeType="1"/>
          </p:cNvSpPr>
          <p:nvPr/>
        </p:nvSpPr>
        <p:spPr bwMode="auto">
          <a:xfrm flipH="1">
            <a:off x="968375" y="5638800"/>
            <a:ext cx="685800" cy="0"/>
          </a:xfrm>
          <a:prstGeom prst="line">
            <a:avLst/>
          </a:prstGeom>
          <a:noFill/>
          <a:ln w="28575">
            <a:solidFill>
              <a:srgbClr val="800000"/>
            </a:solidFill>
            <a:prstDash val="dash"/>
            <a:round/>
            <a:headEnd/>
            <a:tailEnd/>
          </a:ln>
          <a:effectLst>
            <a:prstShdw prst="shdw17" dist="17961" dir="2700000">
              <a:srgbClr val="800000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93" name="Line 145"/>
          <p:cNvSpPr>
            <a:spLocks noChangeShapeType="1"/>
          </p:cNvSpPr>
          <p:nvPr/>
        </p:nvSpPr>
        <p:spPr bwMode="auto">
          <a:xfrm flipH="1">
            <a:off x="1806575" y="44196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94" name="Line 146"/>
          <p:cNvSpPr>
            <a:spLocks noChangeShapeType="1"/>
          </p:cNvSpPr>
          <p:nvPr/>
        </p:nvSpPr>
        <p:spPr bwMode="auto">
          <a:xfrm>
            <a:off x="1806575" y="4419600"/>
            <a:ext cx="0" cy="1219200"/>
          </a:xfrm>
          <a:prstGeom prst="line">
            <a:avLst/>
          </a:prstGeom>
          <a:noFill/>
          <a:ln w="28575">
            <a:solidFill>
              <a:srgbClr val="800000"/>
            </a:solidFill>
            <a:prstDash val="dash"/>
            <a:round/>
            <a:headEnd/>
            <a:tailEnd/>
          </a:ln>
          <a:effectLst>
            <a:prstShdw prst="shdw17" dist="17961" dir="2700000">
              <a:srgbClr val="800000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95" name="Line 147"/>
          <p:cNvSpPr>
            <a:spLocks noChangeShapeType="1"/>
          </p:cNvSpPr>
          <p:nvPr/>
        </p:nvSpPr>
        <p:spPr bwMode="auto">
          <a:xfrm>
            <a:off x="7883525" y="3600450"/>
            <a:ext cx="0" cy="1981200"/>
          </a:xfrm>
          <a:prstGeom prst="line">
            <a:avLst/>
          </a:prstGeom>
          <a:noFill/>
          <a:ln w="28575">
            <a:solidFill>
              <a:srgbClr val="800000"/>
            </a:solidFill>
            <a:prstDash val="dash"/>
            <a:round/>
            <a:headEnd/>
            <a:tailEnd/>
          </a:ln>
          <a:effectLst>
            <a:prstShdw prst="shdw17" dist="17961" dir="2700000">
              <a:srgbClr val="800000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96" name="Line 148"/>
          <p:cNvSpPr>
            <a:spLocks noChangeShapeType="1"/>
          </p:cNvSpPr>
          <p:nvPr/>
        </p:nvSpPr>
        <p:spPr bwMode="auto">
          <a:xfrm>
            <a:off x="1806575" y="5638800"/>
            <a:ext cx="6096000" cy="0"/>
          </a:xfrm>
          <a:prstGeom prst="line">
            <a:avLst/>
          </a:prstGeom>
          <a:noFill/>
          <a:ln w="28575">
            <a:solidFill>
              <a:srgbClr val="800000"/>
            </a:solidFill>
            <a:prstDash val="dash"/>
            <a:round/>
            <a:headEnd/>
            <a:tailEnd/>
          </a:ln>
          <a:effectLst>
            <a:prstShdw prst="shdw17" dist="17961" dir="2700000">
              <a:srgbClr val="800000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14" name="Text Box 66"/>
          <p:cNvSpPr txBox="1">
            <a:spLocks noChangeArrowheads="1"/>
          </p:cNvSpPr>
          <p:nvPr/>
        </p:nvSpPr>
        <p:spPr bwMode="auto">
          <a:xfrm>
            <a:off x="4484688" y="3794125"/>
            <a:ext cx="407988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_</a:t>
            </a:r>
            <a:endParaRPr lang="en-US" sz="100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116" name="Text Box 68"/>
          <p:cNvSpPr txBox="1">
            <a:spLocks noChangeArrowheads="1"/>
          </p:cNvSpPr>
          <p:nvPr/>
        </p:nvSpPr>
        <p:spPr bwMode="auto">
          <a:xfrm>
            <a:off x="3597275" y="3014663"/>
            <a:ext cx="542925" cy="703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i</a:t>
            </a:r>
            <a:r>
              <a:rPr lang="en-US" sz="2000" b="1" baseline="-250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a</a:t>
            </a:r>
            <a:endParaRPr lang="en-US" sz="200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112" name="Text Box 64"/>
          <p:cNvSpPr txBox="1">
            <a:spLocks noChangeArrowheads="1"/>
          </p:cNvSpPr>
          <p:nvPr/>
        </p:nvSpPr>
        <p:spPr bwMode="auto">
          <a:xfrm>
            <a:off x="4262438" y="3389313"/>
            <a:ext cx="542925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e</a:t>
            </a:r>
            <a:r>
              <a:rPr lang="en-US" sz="1200" b="1" baseline="-25000">
                <a:latin typeface="Times New Roman" pitchFamily="18" charset="0"/>
              </a:rPr>
              <a:t>b</a:t>
            </a:r>
            <a:endParaRPr lang="en-US" sz="1000">
              <a:latin typeface="Times New Roman" pitchFamily="18" charset="0"/>
            </a:endParaRPr>
          </a:p>
        </p:txBody>
      </p:sp>
      <p:sp>
        <p:nvSpPr>
          <p:cNvPr id="2110" name="Text Box 62"/>
          <p:cNvSpPr txBox="1">
            <a:spLocks noChangeArrowheads="1"/>
          </p:cNvSpPr>
          <p:nvPr/>
        </p:nvSpPr>
        <p:spPr bwMode="auto">
          <a:xfrm>
            <a:off x="2960688" y="2176463"/>
            <a:ext cx="677863" cy="703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R</a:t>
            </a:r>
            <a:r>
              <a:rPr lang="en-US" sz="2000" b="1" baseline="-250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a</a:t>
            </a:r>
            <a:endParaRPr lang="en-US" sz="1000">
              <a:latin typeface="Times New Roman" pitchFamily="18" charset="0"/>
            </a:endParaRPr>
          </a:p>
        </p:txBody>
      </p:sp>
      <p:sp>
        <p:nvSpPr>
          <p:cNvPr id="2111" name="Text Box 63"/>
          <p:cNvSpPr txBox="1">
            <a:spLocks noChangeArrowheads="1"/>
          </p:cNvSpPr>
          <p:nvPr/>
        </p:nvSpPr>
        <p:spPr bwMode="auto">
          <a:xfrm>
            <a:off x="3992563" y="2138363"/>
            <a:ext cx="679450" cy="703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2000" b="1">
                <a:latin typeface="Times New Roman" pitchFamily="18" charset="0"/>
              </a:rPr>
              <a:t>L</a:t>
            </a:r>
            <a:r>
              <a:rPr lang="en-US" sz="2000" b="1" baseline="-25000">
                <a:latin typeface="Times New Roman" pitchFamily="18" charset="0"/>
              </a:rPr>
              <a:t>a</a:t>
            </a:r>
            <a:endParaRPr lang="en-US" sz="1000">
              <a:latin typeface="Times New Roman" pitchFamily="18" charset="0"/>
            </a:endParaRPr>
          </a:p>
        </p:txBody>
      </p:sp>
      <p:sp>
        <p:nvSpPr>
          <p:cNvPr id="2113" name="Text Box 65"/>
          <p:cNvSpPr txBox="1">
            <a:spLocks noChangeArrowheads="1"/>
          </p:cNvSpPr>
          <p:nvPr/>
        </p:nvSpPr>
        <p:spPr bwMode="auto">
          <a:xfrm>
            <a:off x="4456113" y="2862263"/>
            <a:ext cx="407988" cy="703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+</a:t>
            </a:r>
          </a:p>
        </p:txBody>
      </p:sp>
      <p:sp>
        <p:nvSpPr>
          <p:cNvPr id="2107" name="Rectangle 59" descr="Pink tissue paper"/>
          <p:cNvSpPr>
            <a:spLocks noChangeArrowheads="1"/>
          </p:cNvSpPr>
          <p:nvPr/>
        </p:nvSpPr>
        <p:spPr bwMode="auto">
          <a:xfrm>
            <a:off x="4824413" y="2979738"/>
            <a:ext cx="134938" cy="1157288"/>
          </a:xfrm>
          <a:prstGeom prst="rect">
            <a:avLst/>
          </a:prstGeom>
          <a:blipFill dpi="0" rotWithShape="0">
            <a:blip r:embed="rId4" cstate="print"/>
            <a:srcRect/>
            <a:tile tx="0" ty="0" sx="100000" sy="100000" flip="none" algn="tl"/>
          </a:blipFill>
          <a:ln w="12700">
            <a:noFill/>
            <a:miter lim="800000"/>
            <a:headEnd/>
            <a:tailEnd/>
          </a:ln>
          <a:effectLst>
            <a:prstShdw prst="shdw17" dist="17961" dir="2700000">
              <a:srgbClr val="FFCCCC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108" name="Oval 60" descr="Pink tissue paper"/>
          <p:cNvSpPr>
            <a:spLocks noChangeArrowheads="1"/>
          </p:cNvSpPr>
          <p:nvPr/>
        </p:nvSpPr>
        <p:spPr bwMode="auto">
          <a:xfrm>
            <a:off x="4616450" y="3103563"/>
            <a:ext cx="542925" cy="936625"/>
          </a:xfrm>
          <a:prstGeom prst="ellipse">
            <a:avLst/>
          </a:prstGeom>
          <a:blipFill dpi="0" rotWithShape="1">
            <a:blip r:embed="rId4" cstate="print"/>
            <a:srcRect/>
            <a:tile tx="0" ty="0" sx="100000" sy="100000" flip="none" algn="tl"/>
          </a:blipFill>
          <a:ln w="12700">
            <a:noFill/>
            <a:round/>
            <a:headEnd/>
            <a:tailEnd/>
          </a:ln>
          <a:effectLst>
            <a:prstShdw prst="shdw17" dist="17961" dir="2700000">
              <a:srgbClr val="FFCCCC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r>
              <a:rPr lang="en-US" sz="36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T</a:t>
            </a:r>
            <a:endParaRPr lang="en-US" sz="2400" b="1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grpSp>
        <p:nvGrpSpPr>
          <p:cNvPr id="5" name="Group 250"/>
          <p:cNvGrpSpPr>
            <a:grpSpLocks/>
          </p:cNvGrpSpPr>
          <p:nvPr/>
        </p:nvGrpSpPr>
        <p:grpSpPr bwMode="auto">
          <a:xfrm>
            <a:off x="3025775" y="2576513"/>
            <a:ext cx="457200" cy="228600"/>
            <a:chOff x="1906" y="1623"/>
            <a:chExt cx="288" cy="144"/>
          </a:xfrm>
        </p:grpSpPr>
        <p:sp>
          <p:nvSpPr>
            <p:cNvPr id="2229" name="Line 181"/>
            <p:cNvSpPr>
              <a:spLocks noChangeShapeType="1"/>
            </p:cNvSpPr>
            <p:nvPr/>
          </p:nvSpPr>
          <p:spPr bwMode="auto">
            <a:xfrm flipV="1">
              <a:off x="1906" y="1623"/>
              <a:ext cx="48" cy="144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headEnd/>
              <a:tailEnd/>
            </a:ln>
            <a:effectLst>
              <a:prstShdw prst="shdw17" dist="17961" dir="2700000">
                <a:srgbClr val="800000">
                  <a:gamma/>
                  <a:shade val="60000"/>
                  <a:invGamma/>
                </a:srgbClr>
              </a:prst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2230" name="Line 182"/>
            <p:cNvSpPr>
              <a:spLocks noChangeShapeType="1"/>
            </p:cNvSpPr>
            <p:nvPr/>
          </p:nvSpPr>
          <p:spPr bwMode="auto">
            <a:xfrm>
              <a:off x="1954" y="1623"/>
              <a:ext cx="48" cy="144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headEnd/>
              <a:tailEnd/>
            </a:ln>
            <a:effectLst>
              <a:prstShdw prst="shdw17" dist="17961" dir="2700000">
                <a:srgbClr val="800000">
                  <a:gamma/>
                  <a:shade val="60000"/>
                  <a:invGamma/>
                </a:srgbClr>
              </a:prst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2233" name="Line 185"/>
            <p:cNvSpPr>
              <a:spLocks noChangeShapeType="1"/>
            </p:cNvSpPr>
            <p:nvPr/>
          </p:nvSpPr>
          <p:spPr bwMode="auto">
            <a:xfrm flipV="1">
              <a:off x="2002" y="1623"/>
              <a:ext cx="48" cy="144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headEnd/>
              <a:tailEnd/>
            </a:ln>
            <a:effectLst>
              <a:prstShdw prst="shdw17" dist="17961" dir="2700000">
                <a:srgbClr val="800000">
                  <a:gamma/>
                  <a:shade val="60000"/>
                  <a:invGamma/>
                </a:srgbClr>
              </a:prst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2234" name="Line 186"/>
            <p:cNvSpPr>
              <a:spLocks noChangeShapeType="1"/>
            </p:cNvSpPr>
            <p:nvPr/>
          </p:nvSpPr>
          <p:spPr bwMode="auto">
            <a:xfrm>
              <a:off x="2050" y="1623"/>
              <a:ext cx="48" cy="144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headEnd/>
              <a:tailEnd/>
            </a:ln>
            <a:effectLst>
              <a:prstShdw prst="shdw17" dist="17961" dir="2700000">
                <a:srgbClr val="800000">
                  <a:gamma/>
                  <a:shade val="60000"/>
                  <a:invGamma/>
                </a:srgbClr>
              </a:prst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2236" name="Line 188"/>
            <p:cNvSpPr>
              <a:spLocks noChangeShapeType="1"/>
            </p:cNvSpPr>
            <p:nvPr/>
          </p:nvSpPr>
          <p:spPr bwMode="auto">
            <a:xfrm flipV="1">
              <a:off x="2098" y="1623"/>
              <a:ext cx="48" cy="144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headEnd/>
              <a:tailEnd/>
            </a:ln>
            <a:effectLst>
              <a:prstShdw prst="shdw17" dist="17961" dir="2700000">
                <a:srgbClr val="800000">
                  <a:gamma/>
                  <a:shade val="60000"/>
                  <a:invGamma/>
                </a:srgbClr>
              </a:prst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2237" name="Line 189"/>
            <p:cNvSpPr>
              <a:spLocks noChangeShapeType="1"/>
            </p:cNvSpPr>
            <p:nvPr/>
          </p:nvSpPr>
          <p:spPr bwMode="auto">
            <a:xfrm>
              <a:off x="2146" y="1623"/>
              <a:ext cx="48" cy="144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headEnd/>
              <a:tailEnd/>
            </a:ln>
            <a:effectLst>
              <a:prstShdw prst="shdw17" dist="17961" dir="2700000">
                <a:srgbClr val="800000">
                  <a:gamma/>
                  <a:shade val="60000"/>
                  <a:invGamma/>
                </a:srgbClr>
              </a:prstShdw>
            </a:effec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244" name="Freeform 196"/>
          <p:cNvSpPr>
            <a:spLocks/>
          </p:cNvSpPr>
          <p:nvPr/>
        </p:nvSpPr>
        <p:spPr bwMode="auto">
          <a:xfrm>
            <a:off x="3883025" y="2538413"/>
            <a:ext cx="338138" cy="304800"/>
          </a:xfrm>
          <a:custGeom>
            <a:avLst/>
            <a:gdLst/>
            <a:ahLst/>
            <a:cxnLst>
              <a:cxn ang="0">
                <a:pos x="0" y="192"/>
              </a:cxn>
              <a:cxn ang="0">
                <a:pos x="144" y="0"/>
              </a:cxn>
              <a:cxn ang="0">
                <a:pos x="288" y="192"/>
              </a:cxn>
              <a:cxn ang="0">
                <a:pos x="144" y="192"/>
              </a:cxn>
              <a:cxn ang="0">
                <a:pos x="336" y="0"/>
              </a:cxn>
              <a:cxn ang="0">
                <a:pos x="480" y="192"/>
              </a:cxn>
            </a:cxnLst>
            <a:rect l="0" t="0" r="r" b="b"/>
            <a:pathLst>
              <a:path w="480" h="224">
                <a:moveTo>
                  <a:pt x="0" y="192"/>
                </a:moveTo>
                <a:cubicBezTo>
                  <a:pt x="48" y="96"/>
                  <a:pt x="96" y="0"/>
                  <a:pt x="144" y="0"/>
                </a:cubicBezTo>
                <a:cubicBezTo>
                  <a:pt x="192" y="0"/>
                  <a:pt x="288" y="160"/>
                  <a:pt x="288" y="192"/>
                </a:cubicBezTo>
                <a:cubicBezTo>
                  <a:pt x="288" y="224"/>
                  <a:pt x="136" y="224"/>
                  <a:pt x="144" y="192"/>
                </a:cubicBezTo>
                <a:cubicBezTo>
                  <a:pt x="152" y="160"/>
                  <a:pt x="280" y="0"/>
                  <a:pt x="336" y="0"/>
                </a:cubicBezTo>
                <a:cubicBezTo>
                  <a:pt x="392" y="0"/>
                  <a:pt x="436" y="96"/>
                  <a:pt x="480" y="192"/>
                </a:cubicBezTo>
              </a:path>
            </a:pathLst>
          </a:custGeom>
          <a:noFill/>
          <a:ln w="38100" cmpd="sng">
            <a:solidFill>
              <a:srgbClr val="800000"/>
            </a:solidFill>
            <a:round/>
            <a:headEnd/>
            <a:tailEnd/>
          </a:ln>
          <a:effectLst>
            <a:prstShdw prst="shdw17" dist="17961" dir="2700000">
              <a:srgbClr val="800000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245" name="Freeform 197"/>
          <p:cNvSpPr>
            <a:spLocks/>
          </p:cNvSpPr>
          <p:nvPr/>
        </p:nvSpPr>
        <p:spPr bwMode="auto">
          <a:xfrm>
            <a:off x="4154488" y="2538413"/>
            <a:ext cx="338138" cy="304800"/>
          </a:xfrm>
          <a:custGeom>
            <a:avLst/>
            <a:gdLst/>
            <a:ahLst/>
            <a:cxnLst>
              <a:cxn ang="0">
                <a:pos x="0" y="192"/>
              </a:cxn>
              <a:cxn ang="0">
                <a:pos x="144" y="0"/>
              </a:cxn>
              <a:cxn ang="0">
                <a:pos x="288" y="192"/>
              </a:cxn>
              <a:cxn ang="0">
                <a:pos x="144" y="192"/>
              </a:cxn>
              <a:cxn ang="0">
                <a:pos x="336" y="0"/>
              </a:cxn>
              <a:cxn ang="0">
                <a:pos x="480" y="192"/>
              </a:cxn>
            </a:cxnLst>
            <a:rect l="0" t="0" r="r" b="b"/>
            <a:pathLst>
              <a:path w="480" h="224">
                <a:moveTo>
                  <a:pt x="0" y="192"/>
                </a:moveTo>
                <a:cubicBezTo>
                  <a:pt x="48" y="96"/>
                  <a:pt x="96" y="0"/>
                  <a:pt x="144" y="0"/>
                </a:cubicBezTo>
                <a:cubicBezTo>
                  <a:pt x="192" y="0"/>
                  <a:pt x="288" y="160"/>
                  <a:pt x="288" y="192"/>
                </a:cubicBezTo>
                <a:cubicBezTo>
                  <a:pt x="288" y="224"/>
                  <a:pt x="136" y="224"/>
                  <a:pt x="144" y="192"/>
                </a:cubicBezTo>
                <a:cubicBezTo>
                  <a:pt x="152" y="160"/>
                  <a:pt x="280" y="0"/>
                  <a:pt x="336" y="0"/>
                </a:cubicBezTo>
                <a:cubicBezTo>
                  <a:pt x="392" y="0"/>
                  <a:pt x="436" y="96"/>
                  <a:pt x="480" y="192"/>
                </a:cubicBezTo>
              </a:path>
            </a:pathLst>
          </a:custGeom>
          <a:noFill/>
          <a:ln w="38100" cmpd="sng">
            <a:solidFill>
              <a:srgbClr val="800000"/>
            </a:solidFill>
            <a:round/>
            <a:headEnd/>
            <a:tailEnd/>
          </a:ln>
          <a:effectLst>
            <a:prstShdw prst="shdw17" dist="17961" dir="2700000">
              <a:srgbClr val="800000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246" name="Line 198"/>
          <p:cNvSpPr>
            <a:spLocks noChangeShapeType="1"/>
          </p:cNvSpPr>
          <p:nvPr/>
        </p:nvSpPr>
        <p:spPr bwMode="auto">
          <a:xfrm flipH="1">
            <a:off x="4154488" y="2800350"/>
            <a:ext cx="66675" cy="0"/>
          </a:xfrm>
          <a:prstGeom prst="line">
            <a:avLst/>
          </a:prstGeom>
          <a:noFill/>
          <a:ln w="38100">
            <a:solidFill>
              <a:srgbClr val="800000"/>
            </a:solidFill>
            <a:round/>
            <a:headEnd/>
            <a:tailEnd/>
          </a:ln>
          <a:effectLst>
            <a:prstShdw prst="shdw17" dist="17961" dir="2700000">
              <a:srgbClr val="800000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248" name="Line 200"/>
          <p:cNvSpPr>
            <a:spLocks noChangeShapeType="1"/>
          </p:cNvSpPr>
          <p:nvPr/>
        </p:nvSpPr>
        <p:spPr bwMode="auto">
          <a:xfrm flipH="1">
            <a:off x="2701925" y="2786063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249" name="Line 201"/>
          <p:cNvSpPr>
            <a:spLocks noChangeShapeType="1"/>
          </p:cNvSpPr>
          <p:nvPr/>
        </p:nvSpPr>
        <p:spPr bwMode="auto">
          <a:xfrm>
            <a:off x="3482975" y="2786063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250" name="Line 202"/>
          <p:cNvSpPr>
            <a:spLocks noChangeShapeType="1"/>
          </p:cNvSpPr>
          <p:nvPr/>
        </p:nvSpPr>
        <p:spPr bwMode="auto">
          <a:xfrm>
            <a:off x="4892675" y="4157663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252" name="Line 204"/>
          <p:cNvSpPr>
            <a:spLocks noChangeShapeType="1"/>
          </p:cNvSpPr>
          <p:nvPr/>
        </p:nvSpPr>
        <p:spPr bwMode="auto">
          <a:xfrm flipV="1">
            <a:off x="4892675" y="2786063"/>
            <a:ext cx="0" cy="1825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253" name="Line 205"/>
          <p:cNvSpPr>
            <a:spLocks noChangeShapeType="1"/>
          </p:cNvSpPr>
          <p:nvPr/>
        </p:nvSpPr>
        <p:spPr bwMode="auto">
          <a:xfrm flipH="1">
            <a:off x="4511675" y="2786063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260" name="Text Box 212"/>
          <p:cNvSpPr txBox="1">
            <a:spLocks noChangeArrowheads="1"/>
          </p:cNvSpPr>
          <p:nvPr/>
        </p:nvSpPr>
        <p:spPr bwMode="auto">
          <a:xfrm>
            <a:off x="996950" y="3606800"/>
            <a:ext cx="238125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r</a:t>
            </a:r>
            <a:endParaRPr lang="en-US" sz="200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261" name="Text Box 213"/>
          <p:cNvSpPr txBox="1">
            <a:spLocks noChangeArrowheads="1"/>
          </p:cNvSpPr>
          <p:nvPr/>
        </p:nvSpPr>
        <p:spPr bwMode="auto">
          <a:xfrm>
            <a:off x="8007350" y="3606800"/>
            <a:ext cx="238125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c</a:t>
            </a:r>
            <a:endParaRPr lang="en-US" sz="2000" dirty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262" name="Text Box 214"/>
          <p:cNvSpPr txBox="1">
            <a:spLocks noChangeArrowheads="1"/>
          </p:cNvSpPr>
          <p:nvPr/>
        </p:nvSpPr>
        <p:spPr bwMode="auto">
          <a:xfrm>
            <a:off x="2682875" y="3395663"/>
            <a:ext cx="457200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b="1">
                <a:effectLst>
                  <a:outerShdw blurRad="38100" dist="38100" dir="2700000" algn="tl">
                    <a:srgbClr val="FFFFFF"/>
                  </a:outerShdw>
                </a:effectLst>
              </a:rPr>
              <a:t>e</a:t>
            </a:r>
            <a:r>
              <a:rPr lang="en-US" b="1" baseline="-25000">
                <a:effectLst>
                  <a:outerShdw blurRad="38100" dist="38100" dir="2700000" algn="tl">
                    <a:srgbClr val="FFFFFF"/>
                  </a:outerShdw>
                </a:effectLst>
              </a:rPr>
              <a:t>a</a:t>
            </a:r>
          </a:p>
        </p:txBody>
      </p:sp>
      <p:sp>
        <p:nvSpPr>
          <p:cNvPr id="2263" name="Text Box 215"/>
          <p:cNvSpPr txBox="1">
            <a:spLocks noChangeArrowheads="1"/>
          </p:cNvSpPr>
          <p:nvPr/>
        </p:nvSpPr>
        <p:spPr bwMode="auto">
          <a:xfrm>
            <a:off x="2749550" y="3870325"/>
            <a:ext cx="407988" cy="515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_</a:t>
            </a:r>
            <a:endParaRPr lang="en-US" sz="100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264" name="Text Box 216"/>
          <p:cNvSpPr txBox="1">
            <a:spLocks noChangeArrowheads="1"/>
          </p:cNvSpPr>
          <p:nvPr/>
        </p:nvSpPr>
        <p:spPr bwMode="auto">
          <a:xfrm>
            <a:off x="2759075" y="2938463"/>
            <a:ext cx="40798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+</a:t>
            </a:r>
          </a:p>
        </p:txBody>
      </p:sp>
      <p:sp>
        <p:nvSpPr>
          <p:cNvPr id="2267" name="Text Box 219"/>
          <p:cNvSpPr txBox="1">
            <a:spLocks noChangeArrowheads="1"/>
          </p:cNvSpPr>
          <p:nvPr/>
        </p:nvSpPr>
        <p:spPr bwMode="auto">
          <a:xfrm>
            <a:off x="1692275" y="3395663"/>
            <a:ext cx="457200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b="1">
                <a:effectLst>
                  <a:outerShdw blurRad="38100" dist="38100" dir="2700000" algn="tl">
                    <a:srgbClr val="FFFFFF"/>
                  </a:outerShdw>
                </a:effectLst>
              </a:rPr>
              <a:t>e</a:t>
            </a:r>
            <a:endParaRPr lang="en-US" b="1" baseline="-2500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2268" name="Text Box 220"/>
          <p:cNvSpPr txBox="1">
            <a:spLocks noChangeArrowheads="1"/>
          </p:cNvSpPr>
          <p:nvPr/>
        </p:nvSpPr>
        <p:spPr bwMode="auto">
          <a:xfrm>
            <a:off x="1758950" y="3870325"/>
            <a:ext cx="407988" cy="515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_</a:t>
            </a:r>
            <a:endParaRPr lang="en-US" sz="100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269" name="Text Box 221"/>
          <p:cNvSpPr txBox="1">
            <a:spLocks noChangeArrowheads="1"/>
          </p:cNvSpPr>
          <p:nvPr/>
        </p:nvSpPr>
        <p:spPr bwMode="auto">
          <a:xfrm>
            <a:off x="1768475" y="2938463"/>
            <a:ext cx="40798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+</a:t>
            </a:r>
          </a:p>
        </p:txBody>
      </p:sp>
      <p:sp>
        <p:nvSpPr>
          <p:cNvPr id="2270" name="Text Box 222"/>
          <p:cNvSpPr txBox="1">
            <a:spLocks noChangeArrowheads="1"/>
          </p:cNvSpPr>
          <p:nvPr/>
        </p:nvSpPr>
        <p:spPr bwMode="auto">
          <a:xfrm>
            <a:off x="5730875" y="2138363"/>
            <a:ext cx="542925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N</a:t>
            </a:r>
            <a:r>
              <a:rPr lang="en-US" sz="2000" b="1" baseline="-25000">
                <a:latin typeface="Times New Roman" pitchFamily="18" charset="0"/>
              </a:rPr>
              <a:t>1</a:t>
            </a:r>
            <a:endParaRPr lang="en-US" sz="2000">
              <a:latin typeface="Times New Roman" pitchFamily="18" charset="0"/>
            </a:endParaRPr>
          </a:p>
        </p:txBody>
      </p:sp>
      <p:sp>
        <p:nvSpPr>
          <p:cNvPr id="2271" name="Text Box 223"/>
          <p:cNvSpPr txBox="1">
            <a:spLocks noChangeArrowheads="1"/>
          </p:cNvSpPr>
          <p:nvPr/>
        </p:nvSpPr>
        <p:spPr bwMode="auto">
          <a:xfrm>
            <a:off x="5711825" y="3924300"/>
            <a:ext cx="542925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N</a:t>
            </a:r>
            <a:r>
              <a:rPr lang="en-US" sz="2000" b="1" baseline="-25000">
                <a:latin typeface="Times New Roman" pitchFamily="18" charset="0"/>
              </a:rPr>
              <a:t>2</a:t>
            </a:r>
            <a:endParaRPr lang="en-US" sz="2000">
              <a:latin typeface="Times New Roman" pitchFamily="18" charset="0"/>
            </a:endParaRPr>
          </a:p>
        </p:txBody>
      </p:sp>
      <p:sp>
        <p:nvSpPr>
          <p:cNvPr id="2272" name="Text Box 224"/>
          <p:cNvSpPr txBox="1">
            <a:spLocks noChangeArrowheads="1"/>
          </p:cNvSpPr>
          <p:nvPr/>
        </p:nvSpPr>
        <p:spPr bwMode="auto">
          <a:xfrm>
            <a:off x="7102475" y="2990850"/>
            <a:ext cx="542925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B</a:t>
            </a:r>
            <a:r>
              <a:rPr lang="en-US" sz="2000" b="1" baseline="-250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L</a:t>
            </a:r>
            <a:endParaRPr lang="en-US" sz="1000" baseline="-25000">
              <a:latin typeface="Times New Roman" pitchFamily="18" charset="0"/>
            </a:endParaRPr>
          </a:p>
        </p:txBody>
      </p:sp>
      <p:sp>
        <p:nvSpPr>
          <p:cNvPr id="2273" name="Arc 225"/>
          <p:cNvSpPr>
            <a:spLocks/>
          </p:cNvSpPr>
          <p:nvPr/>
        </p:nvSpPr>
        <p:spPr bwMode="auto">
          <a:xfrm>
            <a:off x="5197475" y="3014663"/>
            <a:ext cx="168275" cy="436563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30934"/>
              <a:gd name="T2" fmla="*/ 19479 w 21600"/>
              <a:gd name="T3" fmla="*/ 30934 h 30934"/>
              <a:gd name="T4" fmla="*/ 0 w 21600"/>
              <a:gd name="T5" fmla="*/ 21600 h 309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30934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4830"/>
                  <a:pt x="20875" y="28020"/>
                  <a:pt x="19479" y="30934"/>
                </a:cubicBezTo>
              </a:path>
              <a:path w="21600" h="30934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4830"/>
                  <a:pt x="20875" y="28020"/>
                  <a:pt x="19479" y="30934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endParaRPr lang="en-GB"/>
          </a:p>
        </p:txBody>
      </p:sp>
      <p:sp>
        <p:nvSpPr>
          <p:cNvPr id="2275" name="Text Box 227"/>
          <p:cNvSpPr txBox="1">
            <a:spLocks noChangeArrowheads="1"/>
          </p:cNvSpPr>
          <p:nvPr/>
        </p:nvSpPr>
        <p:spPr bwMode="auto">
          <a:xfrm>
            <a:off x="5197475" y="3395663"/>
            <a:ext cx="542925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l-GR" sz="2000" b="1">
                <a:effectLst>
                  <a:outerShdw blurRad="38100" dist="38100" dir="2700000" algn="tl">
                    <a:srgbClr val="FFFFFF"/>
                  </a:outerShdw>
                </a:effectLst>
                <a:latin typeface="Comic Sans MS" pitchFamily="66" charset="0"/>
                <a:cs typeface="Times New Roman" pitchFamily="18" charset="0"/>
              </a:rPr>
              <a:t>θ</a:t>
            </a:r>
            <a:endParaRPr lang="el-GR" sz="2000" b="1" baseline="-25000"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2277" name="Freeform 229"/>
          <p:cNvSpPr>
            <a:spLocks/>
          </p:cNvSpPr>
          <p:nvPr/>
        </p:nvSpPr>
        <p:spPr bwMode="auto">
          <a:xfrm rot="18698013">
            <a:off x="4997450" y="4067175"/>
            <a:ext cx="296863" cy="228600"/>
          </a:xfrm>
          <a:custGeom>
            <a:avLst/>
            <a:gdLst/>
            <a:ahLst/>
            <a:cxnLst>
              <a:cxn ang="0">
                <a:pos x="0" y="192"/>
              </a:cxn>
              <a:cxn ang="0">
                <a:pos x="144" y="0"/>
              </a:cxn>
              <a:cxn ang="0">
                <a:pos x="288" y="192"/>
              </a:cxn>
              <a:cxn ang="0">
                <a:pos x="144" y="192"/>
              </a:cxn>
              <a:cxn ang="0">
                <a:pos x="336" y="0"/>
              </a:cxn>
              <a:cxn ang="0">
                <a:pos x="480" y="192"/>
              </a:cxn>
            </a:cxnLst>
            <a:rect l="0" t="0" r="r" b="b"/>
            <a:pathLst>
              <a:path w="480" h="224">
                <a:moveTo>
                  <a:pt x="0" y="192"/>
                </a:moveTo>
                <a:cubicBezTo>
                  <a:pt x="48" y="96"/>
                  <a:pt x="96" y="0"/>
                  <a:pt x="144" y="0"/>
                </a:cubicBezTo>
                <a:cubicBezTo>
                  <a:pt x="192" y="0"/>
                  <a:pt x="288" y="160"/>
                  <a:pt x="288" y="192"/>
                </a:cubicBezTo>
                <a:cubicBezTo>
                  <a:pt x="288" y="224"/>
                  <a:pt x="136" y="224"/>
                  <a:pt x="144" y="192"/>
                </a:cubicBezTo>
                <a:cubicBezTo>
                  <a:pt x="152" y="160"/>
                  <a:pt x="280" y="0"/>
                  <a:pt x="336" y="0"/>
                </a:cubicBezTo>
                <a:cubicBezTo>
                  <a:pt x="392" y="0"/>
                  <a:pt x="436" y="96"/>
                  <a:pt x="480" y="192"/>
                </a:cubicBezTo>
              </a:path>
            </a:pathLst>
          </a:custGeom>
          <a:noFill/>
          <a:ln w="28575" cmpd="sng">
            <a:solidFill>
              <a:srgbClr val="006600"/>
            </a:solidFill>
            <a:round/>
            <a:headEnd/>
            <a:tailEnd/>
          </a:ln>
          <a:effectLst>
            <a:prstShdw prst="shdw17" dist="17961" dir="2700000">
              <a:srgbClr val="006600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278" name="Freeform 230"/>
          <p:cNvSpPr>
            <a:spLocks/>
          </p:cNvSpPr>
          <p:nvPr/>
        </p:nvSpPr>
        <p:spPr bwMode="auto">
          <a:xfrm rot="18698013">
            <a:off x="5154613" y="3889375"/>
            <a:ext cx="296863" cy="228600"/>
          </a:xfrm>
          <a:custGeom>
            <a:avLst/>
            <a:gdLst/>
            <a:ahLst/>
            <a:cxnLst>
              <a:cxn ang="0">
                <a:pos x="0" y="192"/>
              </a:cxn>
              <a:cxn ang="0">
                <a:pos x="144" y="0"/>
              </a:cxn>
              <a:cxn ang="0">
                <a:pos x="288" y="192"/>
              </a:cxn>
              <a:cxn ang="0">
                <a:pos x="144" y="192"/>
              </a:cxn>
              <a:cxn ang="0">
                <a:pos x="336" y="0"/>
              </a:cxn>
              <a:cxn ang="0">
                <a:pos x="480" y="192"/>
              </a:cxn>
            </a:cxnLst>
            <a:rect l="0" t="0" r="r" b="b"/>
            <a:pathLst>
              <a:path w="480" h="224">
                <a:moveTo>
                  <a:pt x="0" y="192"/>
                </a:moveTo>
                <a:cubicBezTo>
                  <a:pt x="48" y="96"/>
                  <a:pt x="96" y="0"/>
                  <a:pt x="144" y="0"/>
                </a:cubicBezTo>
                <a:cubicBezTo>
                  <a:pt x="192" y="0"/>
                  <a:pt x="288" y="160"/>
                  <a:pt x="288" y="192"/>
                </a:cubicBezTo>
                <a:cubicBezTo>
                  <a:pt x="288" y="224"/>
                  <a:pt x="136" y="224"/>
                  <a:pt x="144" y="192"/>
                </a:cubicBezTo>
                <a:cubicBezTo>
                  <a:pt x="152" y="160"/>
                  <a:pt x="280" y="0"/>
                  <a:pt x="336" y="0"/>
                </a:cubicBezTo>
                <a:cubicBezTo>
                  <a:pt x="392" y="0"/>
                  <a:pt x="436" y="96"/>
                  <a:pt x="480" y="192"/>
                </a:cubicBezTo>
              </a:path>
            </a:pathLst>
          </a:custGeom>
          <a:noFill/>
          <a:ln w="28575" cmpd="sng">
            <a:solidFill>
              <a:srgbClr val="006600"/>
            </a:solidFill>
            <a:round/>
            <a:headEnd/>
            <a:tailEnd/>
          </a:ln>
          <a:effectLst>
            <a:prstShdw prst="shdw17" dist="17961" dir="2700000">
              <a:srgbClr val="006600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279" name="Line 231"/>
          <p:cNvSpPr>
            <a:spLocks noChangeShapeType="1"/>
          </p:cNvSpPr>
          <p:nvPr/>
        </p:nvSpPr>
        <p:spPr bwMode="auto">
          <a:xfrm rot="18698013" flipH="1">
            <a:off x="5256213" y="4146550"/>
            <a:ext cx="60325" cy="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ffectLst>
            <a:prstShdw prst="shdw17" dist="17961" dir="2700000">
              <a:srgbClr val="006600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280" name="Line 232"/>
          <p:cNvSpPr>
            <a:spLocks noChangeShapeType="1"/>
          </p:cNvSpPr>
          <p:nvPr/>
        </p:nvSpPr>
        <p:spPr bwMode="auto">
          <a:xfrm rot="18698013">
            <a:off x="5248275" y="4241800"/>
            <a:ext cx="0" cy="45720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ffectLst>
            <a:prstShdw prst="shdw17" dist="17961" dir="2700000">
              <a:srgbClr val="006600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281" name="Line 233"/>
          <p:cNvSpPr>
            <a:spLocks noChangeShapeType="1"/>
          </p:cNvSpPr>
          <p:nvPr/>
        </p:nvSpPr>
        <p:spPr bwMode="auto">
          <a:xfrm rot="18698013">
            <a:off x="5602288" y="3843338"/>
            <a:ext cx="0" cy="45720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ffectLst>
            <a:prstShdw prst="shdw17" dist="17961" dir="2700000">
              <a:srgbClr val="006600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282" name="Line 234"/>
          <p:cNvSpPr>
            <a:spLocks noChangeShapeType="1"/>
          </p:cNvSpPr>
          <p:nvPr/>
        </p:nvSpPr>
        <p:spPr bwMode="auto">
          <a:xfrm rot="18698013">
            <a:off x="5545138" y="4325938"/>
            <a:ext cx="0" cy="30480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ffectLst>
            <a:prstShdw prst="shdw17" dist="17961" dir="2700000">
              <a:srgbClr val="006600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283" name="Line 235"/>
          <p:cNvSpPr>
            <a:spLocks noChangeShapeType="1"/>
          </p:cNvSpPr>
          <p:nvPr/>
        </p:nvSpPr>
        <p:spPr bwMode="auto">
          <a:xfrm rot="18698013">
            <a:off x="5608638" y="4321175"/>
            <a:ext cx="0" cy="22860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ffectLst>
            <a:prstShdw prst="shdw17" dist="17961" dir="2700000">
              <a:srgbClr val="006600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285" name="Line 237"/>
          <p:cNvSpPr>
            <a:spLocks noChangeShapeType="1"/>
          </p:cNvSpPr>
          <p:nvPr/>
        </p:nvSpPr>
        <p:spPr bwMode="auto">
          <a:xfrm rot="18698013" flipH="1">
            <a:off x="5387975" y="4552950"/>
            <a:ext cx="182563" cy="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ffectLst>
            <a:prstShdw prst="shdw17" dist="17961" dir="2700000">
              <a:srgbClr val="006600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286" name="Line 238"/>
          <p:cNvSpPr>
            <a:spLocks noChangeShapeType="1"/>
          </p:cNvSpPr>
          <p:nvPr/>
        </p:nvSpPr>
        <p:spPr bwMode="auto">
          <a:xfrm rot="18698013">
            <a:off x="5567363" y="4316413"/>
            <a:ext cx="246063" cy="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ffectLst>
            <a:prstShdw prst="shdw17" dist="17961" dir="2700000">
              <a:srgbClr val="006600">
                <a:gamma/>
                <a:shade val="60000"/>
                <a:invGamma/>
              </a:srgbClr>
            </a:prstShdw>
          </a:effectLst>
        </p:spPr>
        <p:txBody>
          <a:bodyPr/>
          <a:lstStyle/>
          <a:p>
            <a:endParaRPr lang="en-GB"/>
          </a:p>
        </p:txBody>
      </p:sp>
      <p:sp>
        <p:nvSpPr>
          <p:cNvPr id="2288" name="Text Box 240"/>
          <p:cNvSpPr txBox="1">
            <a:spLocks noChangeArrowheads="1"/>
          </p:cNvSpPr>
          <p:nvPr/>
        </p:nvSpPr>
        <p:spPr bwMode="auto">
          <a:xfrm>
            <a:off x="5426075" y="4483100"/>
            <a:ext cx="1600200" cy="398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i</a:t>
            </a:r>
            <a:r>
              <a:rPr lang="en-US" sz="2000" b="1" baseline="-250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f </a:t>
            </a:r>
            <a:r>
              <a:rPr 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= Constant</a:t>
            </a:r>
            <a:endParaRPr lang="en-US" sz="1000">
              <a:latin typeface="Times New Roman" pitchFamily="18" charset="0"/>
            </a:endParaRPr>
          </a:p>
        </p:txBody>
      </p:sp>
      <p:sp>
        <p:nvSpPr>
          <p:cNvPr id="2301" name="Text Box 253"/>
          <p:cNvSpPr txBox="1">
            <a:spLocks noChangeArrowheads="1"/>
          </p:cNvSpPr>
          <p:nvPr/>
        </p:nvSpPr>
        <p:spPr bwMode="auto">
          <a:xfrm>
            <a:off x="4876800" y="2609850"/>
            <a:ext cx="609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latin typeface="Times New Roman" pitchFamily="18" charset="0"/>
              </a:rPr>
              <a:t>J</a:t>
            </a:r>
            <a:r>
              <a:rPr lang="en-US" b="1" baseline="-25000">
                <a:latin typeface="Times New Roman" pitchFamily="18" charset="0"/>
              </a:rPr>
              <a:t>M</a:t>
            </a:r>
            <a:r>
              <a:rPr lang="en-US" b="1">
                <a:latin typeface="Times New Roman" pitchFamily="18" charset="0"/>
              </a:rPr>
              <a:t> B</a:t>
            </a:r>
            <a:r>
              <a:rPr lang="en-US" b="1" baseline="-25000">
                <a:latin typeface="Times New Roman" pitchFamily="18" charset="0"/>
              </a:rPr>
              <a:t>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53</a:t>
            </a:fld>
            <a:endParaRPr lang="en-GB"/>
          </a:p>
        </p:txBody>
      </p:sp>
      <p:sp>
        <p:nvSpPr>
          <p:cNvPr id="108" name="Title 1"/>
          <p:cNvSpPr txBox="1">
            <a:spLocks/>
          </p:cNvSpPr>
          <p:nvPr/>
        </p:nvSpPr>
        <p:spPr>
          <a:xfrm>
            <a:off x="251520" y="116632"/>
            <a:ext cx="8640960" cy="1296144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dirty="0">
                <a:latin typeface="+mj-lt"/>
                <a:ea typeface="+mj-ea"/>
                <a:cs typeface="+mj-cs"/>
              </a:rPr>
              <a:t>Block Diagram </a:t>
            </a: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Angular Position Control</a:t>
            </a:r>
            <a:r>
              <a:rPr lang="en-GB" sz="3600" dirty="0">
                <a:latin typeface="+mj-lt"/>
                <a:ea typeface="+mj-ea"/>
                <a:cs typeface="+mj-cs"/>
              </a:rPr>
              <a:t> System</a:t>
            </a:r>
            <a:endParaRPr kumimoji="0" lang="en-GB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7163770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67C2E70-614A-47A8-81D2-F5CAE058F381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819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2008" y="1401688"/>
            <a:ext cx="8892480" cy="4907632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80000"/>
              </a:lnSpc>
            </a:pPr>
            <a:r>
              <a:rPr lang="en-US" sz="2800" dirty="0"/>
              <a:t>Alternative method to block diagram representation, developed by </a:t>
            </a:r>
            <a:r>
              <a:rPr lang="en-US" sz="2800" dirty="0">
                <a:solidFill>
                  <a:schemeClr val="folHlink"/>
                </a:solidFill>
              </a:rPr>
              <a:t>Samuel Jefferson Mason.</a:t>
            </a:r>
          </a:p>
          <a:p>
            <a:pPr algn="just" eaLnBrk="1" hangingPunct="1">
              <a:lnSpc>
                <a:spcPct val="80000"/>
              </a:lnSpc>
            </a:pPr>
            <a:endParaRPr lang="en-US" sz="2800" dirty="0">
              <a:solidFill>
                <a:schemeClr val="folHlink"/>
              </a:solidFill>
            </a:endParaRPr>
          </a:p>
          <a:p>
            <a:pPr algn="just" eaLnBrk="1" hangingPunct="1">
              <a:lnSpc>
                <a:spcPct val="80000"/>
              </a:lnSpc>
            </a:pPr>
            <a:r>
              <a:rPr lang="en-US" sz="2800" dirty="0"/>
              <a:t>Advantage: the availability of a flow graph gain formula, also called Mason’s gain formula.</a:t>
            </a:r>
          </a:p>
          <a:p>
            <a:pPr algn="just" eaLnBrk="1" hangingPunct="1">
              <a:lnSpc>
                <a:spcPct val="80000"/>
              </a:lnSpc>
            </a:pPr>
            <a:endParaRPr lang="en-US" sz="2800" dirty="0"/>
          </a:p>
          <a:p>
            <a:pPr algn="just" eaLnBrk="1" hangingPunct="1">
              <a:lnSpc>
                <a:spcPct val="80000"/>
              </a:lnSpc>
            </a:pPr>
            <a:r>
              <a:rPr lang="en-US" sz="2800" dirty="0"/>
              <a:t>A signal-flow graph consists of a network in which nodes are connected by directed branches.</a:t>
            </a:r>
          </a:p>
          <a:p>
            <a:pPr algn="just" eaLnBrk="1" hangingPunct="1">
              <a:lnSpc>
                <a:spcPct val="80000"/>
              </a:lnSpc>
            </a:pPr>
            <a:endParaRPr lang="en-US" sz="2800" dirty="0"/>
          </a:p>
          <a:p>
            <a:pPr algn="just" eaLnBrk="1" hangingPunct="1">
              <a:lnSpc>
                <a:spcPct val="80000"/>
              </a:lnSpc>
            </a:pPr>
            <a:r>
              <a:rPr lang="en-US" sz="2800" dirty="0"/>
              <a:t>It depicts the flow of signals from one point of a system to another and gives the relationships among the signals.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305800" cy="578328"/>
          </a:xfrm>
        </p:spPr>
        <p:txBody>
          <a:bodyPr>
            <a:noAutofit/>
          </a:bodyPr>
          <a:lstStyle/>
          <a:p>
            <a:r>
              <a:rPr lang="en-GB" sz="3800" dirty="0"/>
              <a:t>Fundamentals of Signal Flow Graphs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504" y="1196752"/>
            <a:ext cx="885698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en-GB" sz="2400" dirty="0"/>
              <a:t>Consider a simple equation below and draw its signal flow graph:</a:t>
            </a:r>
          </a:p>
          <a:p>
            <a:pPr algn="just"/>
            <a:endParaRPr lang="en-GB" sz="2400" dirty="0"/>
          </a:p>
          <a:p>
            <a:pPr algn="just"/>
            <a:r>
              <a:rPr lang="en-GB" sz="2400" dirty="0"/>
              <a:t> 				</a:t>
            </a:r>
            <a:endParaRPr lang="en-GB" sz="2400" i="1" dirty="0"/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sz="2400" dirty="0"/>
              <a:t>The signal flow graph of the equation is shown below;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en-GB" sz="2400" dirty="0"/>
          </a:p>
          <a:p>
            <a:pPr marL="285750" indent="-285750" algn="just">
              <a:buFont typeface="Arial" pitchFamily="34" charset="0"/>
              <a:buChar char="•"/>
            </a:pPr>
            <a:endParaRPr lang="en-GB" sz="2400" dirty="0"/>
          </a:p>
          <a:p>
            <a:pPr marL="285750" indent="-285750" algn="just">
              <a:buFont typeface="Arial" pitchFamily="34" charset="0"/>
              <a:buChar char="•"/>
            </a:pPr>
            <a:endParaRPr lang="en-GB" sz="2400" dirty="0"/>
          </a:p>
          <a:p>
            <a:pPr algn="just"/>
            <a:endParaRPr lang="en-GB" sz="2400" dirty="0"/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sz="2400" dirty="0"/>
              <a:t>Every variable in a signal flow graph is represented by a </a:t>
            </a:r>
            <a:r>
              <a:rPr lang="en-GB" sz="2400" b="1" dirty="0">
                <a:solidFill>
                  <a:srgbClr val="FF0000"/>
                </a:solidFill>
              </a:rPr>
              <a:t>Node</a:t>
            </a:r>
            <a:r>
              <a:rPr lang="en-GB" sz="2400" dirty="0"/>
              <a:t>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sz="2400" dirty="0"/>
              <a:t>Every transmission function in a signal flow graph is represented by a </a:t>
            </a:r>
            <a:r>
              <a:rPr lang="en-GB" sz="2400" b="1" dirty="0">
                <a:solidFill>
                  <a:srgbClr val="FF0000"/>
                </a:solidFill>
              </a:rPr>
              <a:t>Branch</a:t>
            </a:r>
            <a:r>
              <a:rPr lang="en-GB" sz="2400" dirty="0"/>
              <a:t>.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sz="2400" dirty="0"/>
              <a:t>Branches are always </a:t>
            </a:r>
            <a:r>
              <a:rPr lang="en-GB" sz="2400" b="1" dirty="0"/>
              <a:t>unidirectional</a:t>
            </a:r>
            <a:r>
              <a:rPr lang="en-GB" sz="2400" dirty="0"/>
              <a:t>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sz="2400" dirty="0"/>
              <a:t>The arrow in the branch denotes the </a:t>
            </a:r>
            <a:r>
              <a:rPr lang="en-GB" sz="2400" b="1" dirty="0"/>
              <a:t>direction</a:t>
            </a:r>
            <a:r>
              <a:rPr lang="en-GB" sz="2400" dirty="0"/>
              <a:t> of the signal flow.</a:t>
            </a:r>
            <a:endParaRPr lang="en-GB" i="1" baseline="-25000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3707904" y="1700808"/>
          <a:ext cx="1080120" cy="432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0880" imgH="152280" progId="Equation.3">
                  <p:embed/>
                </p:oleObj>
              </mc:Choice>
              <mc:Fallback>
                <p:oleObj name="Equation" r:id="rId2" imgW="380880" imgH="152280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7904" y="1700808"/>
                        <a:ext cx="1080120" cy="43204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 15"/>
          <p:cNvGrpSpPr/>
          <p:nvPr/>
        </p:nvGrpSpPr>
        <p:grpSpPr>
          <a:xfrm>
            <a:off x="2358529" y="3118186"/>
            <a:ext cx="4013671" cy="598846"/>
            <a:chOff x="1907704" y="2664622"/>
            <a:chExt cx="4013671" cy="598846"/>
          </a:xfrm>
        </p:grpSpPr>
        <p:sp>
          <p:nvSpPr>
            <p:cNvPr id="6" name="Oval 5"/>
            <p:cNvSpPr/>
            <p:nvPr/>
          </p:nvSpPr>
          <p:spPr>
            <a:xfrm>
              <a:off x="2267744" y="2996952"/>
              <a:ext cx="72008" cy="720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Oval 6"/>
            <p:cNvSpPr/>
            <p:nvPr/>
          </p:nvSpPr>
          <p:spPr>
            <a:xfrm>
              <a:off x="5508104" y="2996952"/>
              <a:ext cx="72008" cy="720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9" name="Straight Connector 8"/>
            <p:cNvCxnSpPr/>
            <p:nvPr/>
          </p:nvCxnSpPr>
          <p:spPr>
            <a:xfrm>
              <a:off x="2329207" y="3030705"/>
              <a:ext cx="318944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74755" name="Object 3"/>
            <p:cNvGraphicFramePr>
              <a:graphicFrameLocks noChangeAspect="1"/>
            </p:cNvGraphicFramePr>
            <p:nvPr/>
          </p:nvGraphicFramePr>
          <p:xfrm>
            <a:off x="1907704" y="2866791"/>
            <a:ext cx="323850" cy="360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14120" imgH="126720" progId="Equation.3">
                    <p:embed/>
                  </p:oleObj>
                </mc:Choice>
                <mc:Fallback>
                  <p:oleObj name="Equation" r:id="rId4" imgW="114120" imgH="126720" progId="Equation.3">
                    <p:embed/>
                    <p:pic>
                      <p:nvPicPr>
                        <p:cNvPr id="74755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7704" y="2866791"/>
                          <a:ext cx="323850" cy="3603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4756" name="Object 4"/>
            <p:cNvGraphicFramePr>
              <a:graphicFrameLocks noChangeAspect="1"/>
            </p:cNvGraphicFramePr>
            <p:nvPr/>
          </p:nvGraphicFramePr>
          <p:xfrm>
            <a:off x="5562600" y="2830080"/>
            <a:ext cx="358775" cy="433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26720" imgH="152280" progId="Equation.3">
                    <p:embed/>
                  </p:oleObj>
                </mc:Choice>
                <mc:Fallback>
                  <p:oleObj name="Equation" r:id="rId6" imgW="126720" imgH="152280" progId="Equation.3">
                    <p:embed/>
                    <p:pic>
                      <p:nvPicPr>
                        <p:cNvPr id="74756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62600" y="2830080"/>
                          <a:ext cx="358775" cy="4333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4" name="Straight Arrow Connector 13"/>
            <p:cNvCxnSpPr/>
            <p:nvPr/>
          </p:nvCxnSpPr>
          <p:spPr>
            <a:xfrm>
              <a:off x="3095931" y="3027395"/>
              <a:ext cx="93610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74757" name="Object 5"/>
            <p:cNvGraphicFramePr>
              <a:graphicFrameLocks noChangeAspect="1"/>
            </p:cNvGraphicFramePr>
            <p:nvPr/>
          </p:nvGraphicFramePr>
          <p:xfrm>
            <a:off x="3766148" y="2664622"/>
            <a:ext cx="323850" cy="360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14120" imgH="126720" progId="Equation.3">
                    <p:embed/>
                  </p:oleObj>
                </mc:Choice>
                <mc:Fallback>
                  <p:oleObj name="Equation" r:id="rId8" imgW="114120" imgH="126720" progId="Equation.3">
                    <p:embed/>
                    <p:pic>
                      <p:nvPicPr>
                        <p:cNvPr id="7475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66148" y="2664622"/>
                          <a:ext cx="323850" cy="3603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9408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0" name="Rectangle 4"/>
          <p:cNvSpPr>
            <a:spLocks noChangeArrowheads="1"/>
          </p:cNvSpPr>
          <p:nvPr/>
        </p:nvSpPr>
        <p:spPr bwMode="auto">
          <a:xfrm>
            <a:off x="925016" y="260648"/>
            <a:ext cx="7391400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ctr"/>
            <a:r>
              <a:rPr lang="en-US" sz="3600" b="1" dirty="0">
                <a:cs typeface="Arial" pitchFamily="34" charset="0"/>
              </a:rPr>
              <a:t>Signal-Flow Graph Models</a:t>
            </a:r>
            <a:endParaRPr lang="en-US" sz="3600" dirty="0"/>
          </a:p>
        </p:txBody>
      </p:sp>
      <p:pic>
        <p:nvPicPr>
          <p:cNvPr id="75781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67744" y="1412776"/>
            <a:ext cx="4248278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56</a:t>
            </a:fld>
            <a:endParaRPr lang="en-GB"/>
          </a:p>
        </p:txBody>
      </p:sp>
      <p:grpSp>
        <p:nvGrpSpPr>
          <p:cNvPr id="4" name="Group 3"/>
          <p:cNvGrpSpPr/>
          <p:nvPr/>
        </p:nvGrpSpPr>
        <p:grpSpPr>
          <a:xfrm>
            <a:off x="2339752" y="3356992"/>
            <a:ext cx="5239120" cy="2473449"/>
            <a:chOff x="2339752" y="3356992"/>
            <a:chExt cx="5239120" cy="2473449"/>
          </a:xfrm>
        </p:grpSpPr>
        <p:pic>
          <p:nvPicPr>
            <p:cNvPr id="75778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339752" y="3356992"/>
              <a:ext cx="5239120" cy="24734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/>
                <p:cNvSpPr txBox="1"/>
                <p:nvPr/>
              </p:nvSpPr>
              <p:spPr>
                <a:xfrm>
                  <a:off x="2365784" y="3861048"/>
                  <a:ext cx="850682" cy="4001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/>
                          </a:rPr>
                          <m:t>𝑠</m:t>
                        </m:r>
                        <m:r>
                          <a:rPr lang="en-US" sz="2000" b="0" i="1" smtClean="0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" name="TextBox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65784" y="3861048"/>
                  <a:ext cx="850682" cy="400110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7576" r="-10714" b="-257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2351036" y="5053956"/>
                  <a:ext cx="856645" cy="4001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/>
                          </a:rPr>
                          <m:t>𝑠</m:t>
                        </m:r>
                        <m:r>
                          <a:rPr lang="en-US" sz="2000" b="0" i="1" smtClean="0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1036" y="5053956"/>
                  <a:ext cx="856645" cy="400110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7576" r="-10714" b="-257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6202164" y="3861032"/>
                  <a:ext cx="803360" cy="4001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/>
                          </a:rPr>
                          <m:t>𝑠</m:t>
                        </m:r>
                        <m:r>
                          <a:rPr lang="en-US" sz="2000" b="0" i="1" smtClean="0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02164" y="3861032"/>
                  <a:ext cx="803360" cy="400110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7576" r="-11364" b="-257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6177929" y="5068704"/>
                  <a:ext cx="809324" cy="4001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/>
                          </a:rPr>
                          <m:t>𝑠</m:t>
                        </m:r>
                        <m:r>
                          <a:rPr lang="en-US" sz="2000" b="0" i="1" smtClean="0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7929" y="5068704"/>
                  <a:ext cx="809324" cy="400110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7576" r="-11278" b="-257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4" name="Rectangle 4"/>
          <p:cNvSpPr>
            <a:spLocks noChangeArrowheads="1"/>
          </p:cNvSpPr>
          <p:nvPr/>
        </p:nvSpPr>
        <p:spPr bwMode="auto">
          <a:xfrm>
            <a:off x="997024" y="116632"/>
            <a:ext cx="7391400" cy="523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ctr"/>
            <a:r>
              <a:rPr lang="en-US" sz="3600" b="1" dirty="0">
                <a:cs typeface="Arial" pitchFamily="34" charset="0"/>
              </a:rPr>
              <a:t>Signal-Flow Graph Models</a:t>
            </a:r>
            <a:endParaRPr lang="en-US" sz="3600" dirty="0"/>
          </a:p>
        </p:txBody>
      </p:sp>
      <p:pic>
        <p:nvPicPr>
          <p:cNvPr id="7680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7824" y="1608906"/>
            <a:ext cx="3124200" cy="1316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395536" y="980728"/>
            <a:ext cx="5817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i="1" dirty="0" err="1">
                <a:solidFill>
                  <a:srgbClr val="C00000"/>
                </a:solidFill>
              </a:rPr>
              <a:t>r</a:t>
            </a:r>
            <a:r>
              <a:rPr lang="en-GB" sz="2400" i="1" baseline="-25000" dirty="0" err="1">
                <a:solidFill>
                  <a:srgbClr val="C00000"/>
                </a:solidFill>
              </a:rPr>
              <a:t>1</a:t>
            </a:r>
            <a:r>
              <a:rPr lang="en-GB" sz="2400" i="1" dirty="0">
                <a:solidFill>
                  <a:srgbClr val="C00000"/>
                </a:solidFill>
              </a:rPr>
              <a:t> and </a:t>
            </a:r>
            <a:r>
              <a:rPr lang="en-GB" sz="2400" i="1" dirty="0" err="1">
                <a:solidFill>
                  <a:srgbClr val="C00000"/>
                </a:solidFill>
              </a:rPr>
              <a:t>r</a:t>
            </a:r>
            <a:r>
              <a:rPr lang="en-GB" sz="2400" i="1" baseline="-25000" dirty="0" err="1">
                <a:solidFill>
                  <a:srgbClr val="C00000"/>
                </a:solidFill>
              </a:rPr>
              <a:t>2</a:t>
            </a:r>
            <a:r>
              <a:rPr lang="en-GB" sz="2400" dirty="0"/>
              <a:t> are inputs and </a:t>
            </a:r>
            <a:r>
              <a:rPr lang="en-GB" sz="2400" i="1" dirty="0" err="1">
                <a:solidFill>
                  <a:srgbClr val="FF0000"/>
                </a:solidFill>
              </a:rPr>
              <a:t>x</a:t>
            </a:r>
            <a:r>
              <a:rPr lang="en-GB" sz="2400" i="1" baseline="-25000" dirty="0" err="1">
                <a:solidFill>
                  <a:srgbClr val="FF0000"/>
                </a:solidFill>
              </a:rPr>
              <a:t>1</a:t>
            </a:r>
            <a:r>
              <a:rPr lang="en-GB" sz="2400" dirty="0"/>
              <a:t> and </a:t>
            </a:r>
            <a:r>
              <a:rPr lang="en-GB" sz="2400" i="1" dirty="0" err="1">
                <a:solidFill>
                  <a:srgbClr val="C00000"/>
                </a:solidFill>
              </a:rPr>
              <a:t>x</a:t>
            </a:r>
            <a:r>
              <a:rPr lang="en-GB" sz="2400" i="1" baseline="-25000" dirty="0" err="1">
                <a:solidFill>
                  <a:srgbClr val="C00000"/>
                </a:solidFill>
              </a:rPr>
              <a:t>2</a:t>
            </a:r>
            <a:r>
              <a:rPr lang="en-GB" sz="2400" dirty="0"/>
              <a:t> are outputs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57</a:t>
            </a:fld>
            <a:endParaRPr lang="en-GB"/>
          </a:p>
        </p:txBody>
      </p:sp>
      <p:grpSp>
        <p:nvGrpSpPr>
          <p:cNvPr id="3" name="Group 2"/>
          <p:cNvGrpSpPr/>
          <p:nvPr/>
        </p:nvGrpSpPr>
        <p:grpSpPr>
          <a:xfrm>
            <a:off x="2883690" y="3286033"/>
            <a:ext cx="4095750" cy="3267075"/>
            <a:chOff x="2883690" y="3286033"/>
            <a:chExt cx="4095750" cy="3267075"/>
          </a:xfrm>
        </p:grpSpPr>
        <p:pic>
          <p:nvPicPr>
            <p:cNvPr id="76802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883690" y="3286033"/>
              <a:ext cx="4095750" cy="3267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2987824" y="4061103"/>
                  <a:ext cx="449739" cy="4001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824" y="4061103"/>
                  <a:ext cx="449739" cy="400110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7576" r="-21622" b="-257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2987823" y="5456508"/>
                  <a:ext cx="455702" cy="4001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7823" y="5456508"/>
                  <a:ext cx="455702" cy="400110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7576" r="-21333" b="-257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5725447" y="4174553"/>
                  <a:ext cx="428514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25447" y="4174553"/>
                  <a:ext cx="428514" cy="338554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5455" r="-11268" b="-2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5693086" y="5443042"/>
                  <a:ext cx="428514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93086" y="5443042"/>
                  <a:ext cx="428514" cy="338554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5455" r="-11429" b="-2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609600"/>
          </a:xfrm>
        </p:spPr>
        <p:txBody>
          <a:bodyPr/>
          <a:lstStyle/>
          <a:p>
            <a:r>
              <a:rPr lang="en-US" altLang="zh-CN" sz="3200" b="1" dirty="0"/>
              <a:t>Signal-Flow Graph Models</a:t>
            </a:r>
          </a:p>
        </p:txBody>
      </p:sp>
      <p:graphicFrame>
        <p:nvGraphicFramePr>
          <p:cNvPr id="130052" name="Object 4"/>
          <p:cNvGraphicFramePr>
            <a:graphicFrameLocks noChangeAspect="1"/>
          </p:cNvGraphicFramePr>
          <p:nvPr/>
        </p:nvGraphicFramePr>
        <p:xfrm>
          <a:off x="401638" y="2270745"/>
          <a:ext cx="2855912" cy="223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82680" imgH="914400" progId="Equation.3">
                  <p:embed/>
                </p:oleObj>
              </mc:Choice>
              <mc:Fallback>
                <p:oleObj name="Equation" r:id="rId2" imgW="1282680" imgH="914400" progId="Equation.3">
                  <p:embed/>
                  <p:pic>
                    <p:nvPicPr>
                      <p:cNvPr id="13005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638" y="2270745"/>
                        <a:ext cx="2855912" cy="2238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2" name="Group 61"/>
          <p:cNvGrpSpPr/>
          <p:nvPr/>
        </p:nvGrpSpPr>
        <p:grpSpPr>
          <a:xfrm>
            <a:off x="3962400" y="2223120"/>
            <a:ext cx="4486275" cy="2286000"/>
            <a:chOff x="3962400" y="2223120"/>
            <a:chExt cx="4486275" cy="2286000"/>
          </a:xfrm>
        </p:grpSpPr>
        <p:grpSp>
          <p:nvGrpSpPr>
            <p:cNvPr id="2" name="Group 56"/>
            <p:cNvGrpSpPr>
              <a:grpSpLocks/>
            </p:cNvGrpSpPr>
            <p:nvPr/>
          </p:nvGrpSpPr>
          <p:grpSpPr bwMode="auto">
            <a:xfrm>
              <a:off x="4605338" y="3637583"/>
              <a:ext cx="882650" cy="838200"/>
              <a:chOff x="2928" y="1872"/>
              <a:chExt cx="556" cy="528"/>
            </a:xfrm>
          </p:grpSpPr>
          <p:sp>
            <p:nvSpPr>
              <p:cNvPr id="130071" name="Oval 23"/>
              <p:cNvSpPr>
                <a:spLocks noChangeArrowheads="1"/>
              </p:cNvSpPr>
              <p:nvPr/>
            </p:nvSpPr>
            <p:spPr bwMode="auto">
              <a:xfrm>
                <a:off x="3125" y="1872"/>
                <a:ext cx="359" cy="52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0074" name="Line 26"/>
              <p:cNvSpPr>
                <a:spLocks noChangeShapeType="1"/>
              </p:cNvSpPr>
              <p:nvPr/>
            </p:nvSpPr>
            <p:spPr bwMode="auto">
              <a:xfrm rot="14700000">
                <a:off x="3057" y="2259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0089" name="Text Box 41"/>
              <p:cNvSpPr txBox="1">
                <a:spLocks noChangeArrowheads="1"/>
              </p:cNvSpPr>
              <p:nvPr/>
            </p:nvSpPr>
            <p:spPr bwMode="auto">
              <a:xfrm>
                <a:off x="2928" y="2112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solidFill>
                      <a:schemeClr val="accent2"/>
                    </a:solidFill>
                  </a:rPr>
                  <a:t>b</a:t>
                </a:r>
              </a:p>
            </p:txBody>
          </p:sp>
        </p:grpSp>
        <p:grpSp>
          <p:nvGrpSpPr>
            <p:cNvPr id="3" name="Group 68"/>
            <p:cNvGrpSpPr>
              <a:grpSpLocks/>
            </p:cNvGrpSpPr>
            <p:nvPr/>
          </p:nvGrpSpPr>
          <p:grpSpPr bwMode="auto">
            <a:xfrm>
              <a:off x="8010525" y="3032745"/>
              <a:ext cx="438150" cy="666750"/>
              <a:chOff x="5046" y="1470"/>
              <a:chExt cx="276" cy="420"/>
            </a:xfrm>
          </p:grpSpPr>
          <p:sp>
            <p:nvSpPr>
              <p:cNvPr id="130054" name="Oval 6"/>
              <p:cNvSpPr>
                <a:spLocks noChangeArrowheads="1"/>
              </p:cNvSpPr>
              <p:nvPr/>
            </p:nvSpPr>
            <p:spPr bwMode="auto">
              <a:xfrm flipH="1">
                <a:off x="5102" y="1746"/>
                <a:ext cx="135" cy="1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0078" name="Text Box 30"/>
              <p:cNvSpPr txBox="1">
                <a:spLocks noChangeArrowheads="1"/>
              </p:cNvSpPr>
              <p:nvPr/>
            </p:nvSpPr>
            <p:spPr bwMode="auto">
              <a:xfrm>
                <a:off x="5046" y="1470"/>
                <a:ext cx="276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b="1">
                    <a:solidFill>
                      <a:srgbClr val="FF3300"/>
                    </a:solidFill>
                  </a:rPr>
                  <a:t>x</a:t>
                </a:r>
                <a:r>
                  <a:rPr lang="en-US" altLang="zh-CN" b="1" baseline="-25000">
                    <a:solidFill>
                      <a:srgbClr val="FF3300"/>
                    </a:solidFill>
                  </a:rPr>
                  <a:t>4</a:t>
                </a:r>
              </a:p>
            </p:txBody>
          </p:sp>
        </p:grpSp>
        <p:grpSp>
          <p:nvGrpSpPr>
            <p:cNvPr id="4" name="Group 67"/>
            <p:cNvGrpSpPr>
              <a:grpSpLocks/>
            </p:cNvGrpSpPr>
            <p:nvPr/>
          </p:nvGrpSpPr>
          <p:grpSpPr bwMode="auto">
            <a:xfrm>
              <a:off x="7056438" y="3047033"/>
              <a:ext cx="438150" cy="652462"/>
              <a:chOff x="4445" y="1479"/>
              <a:chExt cx="276" cy="411"/>
            </a:xfrm>
          </p:grpSpPr>
          <p:sp>
            <p:nvSpPr>
              <p:cNvPr id="130055" name="Oval 7"/>
              <p:cNvSpPr>
                <a:spLocks noChangeArrowheads="1"/>
              </p:cNvSpPr>
              <p:nvPr/>
            </p:nvSpPr>
            <p:spPr bwMode="auto">
              <a:xfrm flipH="1">
                <a:off x="4473" y="1746"/>
                <a:ext cx="135" cy="1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0079" name="Text Box 31"/>
              <p:cNvSpPr txBox="1">
                <a:spLocks noChangeArrowheads="1"/>
              </p:cNvSpPr>
              <p:nvPr/>
            </p:nvSpPr>
            <p:spPr bwMode="auto">
              <a:xfrm>
                <a:off x="4445" y="1479"/>
                <a:ext cx="276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b="1">
                    <a:solidFill>
                      <a:srgbClr val="FF3300"/>
                    </a:solidFill>
                  </a:rPr>
                  <a:t>x</a:t>
                </a:r>
                <a:r>
                  <a:rPr lang="en-US" altLang="zh-CN" b="1" baseline="-25000">
                    <a:solidFill>
                      <a:srgbClr val="FF3300"/>
                    </a:solidFill>
                  </a:rPr>
                  <a:t>3</a:t>
                </a:r>
              </a:p>
            </p:txBody>
          </p:sp>
        </p:grpSp>
        <p:grpSp>
          <p:nvGrpSpPr>
            <p:cNvPr id="5" name="Group 66"/>
            <p:cNvGrpSpPr>
              <a:grpSpLocks/>
            </p:cNvGrpSpPr>
            <p:nvPr/>
          </p:nvGrpSpPr>
          <p:grpSpPr bwMode="auto">
            <a:xfrm>
              <a:off x="6075363" y="3061320"/>
              <a:ext cx="438150" cy="638175"/>
              <a:chOff x="3827" y="1488"/>
              <a:chExt cx="276" cy="402"/>
            </a:xfrm>
          </p:grpSpPr>
          <p:sp>
            <p:nvSpPr>
              <p:cNvPr id="130080" name="Text Box 32"/>
              <p:cNvSpPr txBox="1">
                <a:spLocks noChangeArrowheads="1"/>
              </p:cNvSpPr>
              <p:nvPr/>
            </p:nvSpPr>
            <p:spPr bwMode="auto">
              <a:xfrm>
                <a:off x="3827" y="1488"/>
                <a:ext cx="276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b="1">
                    <a:solidFill>
                      <a:srgbClr val="FF3300"/>
                    </a:solidFill>
                  </a:rPr>
                  <a:t>x</a:t>
                </a:r>
                <a:r>
                  <a:rPr lang="en-US" altLang="zh-CN" b="1" baseline="-25000">
                    <a:solidFill>
                      <a:srgbClr val="FF3300"/>
                    </a:solidFill>
                  </a:rPr>
                  <a:t>2</a:t>
                </a:r>
              </a:p>
            </p:txBody>
          </p:sp>
          <p:sp>
            <p:nvSpPr>
              <p:cNvPr id="130057" name="Oval 9"/>
              <p:cNvSpPr>
                <a:spLocks noChangeArrowheads="1"/>
              </p:cNvSpPr>
              <p:nvPr/>
            </p:nvSpPr>
            <p:spPr bwMode="auto">
              <a:xfrm flipH="1">
                <a:off x="3844" y="1746"/>
                <a:ext cx="135" cy="1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6" name="Group 65"/>
            <p:cNvGrpSpPr>
              <a:grpSpLocks/>
            </p:cNvGrpSpPr>
            <p:nvPr/>
          </p:nvGrpSpPr>
          <p:grpSpPr bwMode="auto">
            <a:xfrm>
              <a:off x="4921250" y="3037508"/>
              <a:ext cx="438150" cy="661987"/>
              <a:chOff x="3100" y="1473"/>
              <a:chExt cx="276" cy="417"/>
            </a:xfrm>
          </p:grpSpPr>
          <p:sp>
            <p:nvSpPr>
              <p:cNvPr id="130056" name="Oval 8"/>
              <p:cNvSpPr>
                <a:spLocks noChangeArrowheads="1"/>
              </p:cNvSpPr>
              <p:nvPr/>
            </p:nvSpPr>
            <p:spPr bwMode="auto">
              <a:xfrm flipH="1">
                <a:off x="3215" y="1746"/>
                <a:ext cx="135" cy="1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0081" name="Text Box 33"/>
              <p:cNvSpPr txBox="1">
                <a:spLocks noChangeArrowheads="1"/>
              </p:cNvSpPr>
              <p:nvPr/>
            </p:nvSpPr>
            <p:spPr bwMode="auto">
              <a:xfrm>
                <a:off x="3100" y="1473"/>
                <a:ext cx="276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b="1">
                    <a:solidFill>
                      <a:srgbClr val="FF3300"/>
                    </a:solidFill>
                  </a:rPr>
                  <a:t>x</a:t>
                </a:r>
                <a:r>
                  <a:rPr lang="en-US" altLang="zh-CN" b="1" baseline="-25000">
                    <a:solidFill>
                      <a:srgbClr val="FF3300"/>
                    </a:solidFill>
                  </a:rPr>
                  <a:t>1</a:t>
                </a:r>
              </a:p>
            </p:txBody>
          </p:sp>
        </p:grpSp>
        <p:grpSp>
          <p:nvGrpSpPr>
            <p:cNvPr id="7" name="Group 64"/>
            <p:cNvGrpSpPr>
              <a:grpSpLocks/>
            </p:cNvGrpSpPr>
            <p:nvPr/>
          </p:nvGrpSpPr>
          <p:grpSpPr bwMode="auto">
            <a:xfrm>
              <a:off x="3962400" y="2985120"/>
              <a:ext cx="438150" cy="714375"/>
              <a:chOff x="2496" y="1440"/>
              <a:chExt cx="276" cy="450"/>
            </a:xfrm>
          </p:grpSpPr>
          <p:sp>
            <p:nvSpPr>
              <p:cNvPr id="130053" name="Oval 5"/>
              <p:cNvSpPr>
                <a:spLocks noChangeArrowheads="1"/>
              </p:cNvSpPr>
              <p:nvPr/>
            </p:nvSpPr>
            <p:spPr bwMode="auto">
              <a:xfrm flipH="1">
                <a:off x="2586" y="1746"/>
                <a:ext cx="135" cy="1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0082" name="Text Box 34"/>
              <p:cNvSpPr txBox="1">
                <a:spLocks noChangeArrowheads="1"/>
              </p:cNvSpPr>
              <p:nvPr/>
            </p:nvSpPr>
            <p:spPr bwMode="auto">
              <a:xfrm>
                <a:off x="2496" y="1440"/>
                <a:ext cx="276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b="1">
                    <a:solidFill>
                      <a:srgbClr val="FF3300"/>
                    </a:solidFill>
                  </a:rPr>
                  <a:t>x</a:t>
                </a:r>
                <a:r>
                  <a:rPr lang="en-US" altLang="zh-CN" b="1" baseline="-25000">
                    <a:solidFill>
                      <a:srgbClr val="FF3300"/>
                    </a:solidFill>
                  </a:rPr>
                  <a:t>0</a:t>
                </a:r>
              </a:p>
            </p:txBody>
          </p:sp>
        </p:grpSp>
        <p:grpSp>
          <p:nvGrpSpPr>
            <p:cNvPr id="8" name="Group 57"/>
            <p:cNvGrpSpPr>
              <a:grpSpLocks/>
            </p:cNvGrpSpPr>
            <p:nvPr/>
          </p:nvGrpSpPr>
          <p:grpSpPr bwMode="auto">
            <a:xfrm>
              <a:off x="7315200" y="3137520"/>
              <a:ext cx="784225" cy="457200"/>
              <a:chOff x="4608" y="1536"/>
              <a:chExt cx="494" cy="288"/>
            </a:xfrm>
          </p:grpSpPr>
          <p:grpSp>
            <p:nvGrpSpPr>
              <p:cNvPr id="9" name="Group 54"/>
              <p:cNvGrpSpPr>
                <a:grpSpLocks/>
              </p:cNvGrpSpPr>
              <p:nvPr/>
            </p:nvGrpSpPr>
            <p:grpSpPr bwMode="auto">
              <a:xfrm>
                <a:off x="4608" y="1824"/>
                <a:ext cx="494" cy="0"/>
                <a:chOff x="4608" y="1824"/>
                <a:chExt cx="494" cy="0"/>
              </a:xfrm>
            </p:grpSpPr>
            <p:sp>
              <p:nvSpPr>
                <p:cNvPr id="130059" name="Line 11"/>
                <p:cNvSpPr>
                  <a:spLocks noChangeShapeType="1"/>
                </p:cNvSpPr>
                <p:nvPr/>
              </p:nvSpPr>
              <p:spPr bwMode="auto">
                <a:xfrm>
                  <a:off x="4743" y="1824"/>
                  <a:ext cx="22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0067" name="Line 19"/>
                <p:cNvSpPr>
                  <a:spLocks noChangeShapeType="1"/>
                </p:cNvSpPr>
                <p:nvPr/>
              </p:nvSpPr>
              <p:spPr bwMode="auto">
                <a:xfrm>
                  <a:off x="4608" y="1824"/>
                  <a:ext cx="49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130083" name="Text Box 35"/>
              <p:cNvSpPr txBox="1">
                <a:spLocks noChangeArrowheads="1"/>
              </p:cNvSpPr>
              <p:nvPr/>
            </p:nvSpPr>
            <p:spPr bwMode="auto">
              <a:xfrm>
                <a:off x="4752" y="1536"/>
                <a:ext cx="225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altLang="zh-CN">
                    <a:solidFill>
                      <a:schemeClr val="accent2"/>
                    </a:solidFill>
                  </a:rPr>
                  <a:t>h</a:t>
                </a:r>
              </a:p>
            </p:txBody>
          </p:sp>
        </p:grpSp>
        <p:grpSp>
          <p:nvGrpSpPr>
            <p:cNvPr id="10" name="Group 61"/>
            <p:cNvGrpSpPr>
              <a:grpSpLocks/>
            </p:cNvGrpSpPr>
            <p:nvPr/>
          </p:nvGrpSpPr>
          <p:grpSpPr bwMode="auto">
            <a:xfrm>
              <a:off x="4243389" y="2223120"/>
              <a:ext cx="2924175" cy="1295400"/>
              <a:chOff x="2880" y="672"/>
              <a:chExt cx="1842" cy="816"/>
            </a:xfrm>
          </p:grpSpPr>
          <p:sp>
            <p:nvSpPr>
              <p:cNvPr id="130070" name="Freeform 22"/>
              <p:cNvSpPr>
                <a:spLocks/>
              </p:cNvSpPr>
              <p:nvPr/>
            </p:nvSpPr>
            <p:spPr bwMode="auto">
              <a:xfrm>
                <a:off x="2880" y="672"/>
                <a:ext cx="1842" cy="816"/>
              </a:xfrm>
              <a:custGeom>
                <a:avLst/>
                <a:gdLst/>
                <a:ahLst/>
                <a:cxnLst>
                  <a:cxn ang="0">
                    <a:pos x="0" y="816"/>
                  </a:cxn>
                  <a:cxn ang="0">
                    <a:pos x="1008" y="0"/>
                  </a:cxn>
                  <a:cxn ang="0">
                    <a:pos x="1968" y="816"/>
                  </a:cxn>
                </a:cxnLst>
                <a:rect l="0" t="0" r="r" b="b"/>
                <a:pathLst>
                  <a:path w="1968" h="816">
                    <a:moveTo>
                      <a:pt x="0" y="816"/>
                    </a:moveTo>
                    <a:cubicBezTo>
                      <a:pt x="340" y="408"/>
                      <a:pt x="680" y="0"/>
                      <a:pt x="1008" y="0"/>
                    </a:cubicBezTo>
                    <a:cubicBezTo>
                      <a:pt x="1336" y="0"/>
                      <a:pt x="1808" y="680"/>
                      <a:pt x="1968" y="816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0077" name="Line 29"/>
              <p:cNvSpPr>
                <a:spLocks noChangeShapeType="1"/>
              </p:cNvSpPr>
              <p:nvPr/>
            </p:nvSpPr>
            <p:spPr bwMode="auto">
              <a:xfrm rot="18600000">
                <a:off x="3237" y="981"/>
                <a:ext cx="11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0084" name="Text Box 36"/>
              <p:cNvSpPr txBox="1">
                <a:spLocks noChangeArrowheads="1"/>
              </p:cNvSpPr>
              <p:nvPr/>
            </p:nvSpPr>
            <p:spPr bwMode="auto">
              <a:xfrm>
                <a:off x="3168" y="781"/>
                <a:ext cx="18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dirty="0"/>
                  <a:t>f</a:t>
                </a:r>
              </a:p>
            </p:txBody>
          </p:sp>
        </p:grpSp>
        <p:grpSp>
          <p:nvGrpSpPr>
            <p:cNvPr id="11" name="Group 63"/>
            <p:cNvGrpSpPr>
              <a:grpSpLocks/>
            </p:cNvGrpSpPr>
            <p:nvPr/>
          </p:nvGrpSpPr>
          <p:grpSpPr bwMode="auto">
            <a:xfrm>
              <a:off x="6316663" y="3061320"/>
              <a:ext cx="784225" cy="533400"/>
              <a:chOff x="3979" y="1488"/>
              <a:chExt cx="494" cy="336"/>
            </a:xfrm>
          </p:grpSpPr>
          <p:grpSp>
            <p:nvGrpSpPr>
              <p:cNvPr id="12" name="Group 53"/>
              <p:cNvGrpSpPr>
                <a:grpSpLocks/>
              </p:cNvGrpSpPr>
              <p:nvPr/>
            </p:nvGrpSpPr>
            <p:grpSpPr bwMode="auto">
              <a:xfrm>
                <a:off x="3979" y="1824"/>
                <a:ext cx="494" cy="0"/>
                <a:chOff x="3979" y="1824"/>
                <a:chExt cx="494" cy="0"/>
              </a:xfrm>
            </p:grpSpPr>
            <p:sp>
              <p:nvSpPr>
                <p:cNvPr id="130060" name="Line 12"/>
                <p:cNvSpPr>
                  <a:spLocks noChangeShapeType="1"/>
                </p:cNvSpPr>
                <p:nvPr/>
              </p:nvSpPr>
              <p:spPr bwMode="auto">
                <a:xfrm>
                  <a:off x="4114" y="1824"/>
                  <a:ext cx="22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0066" name="Line 18"/>
                <p:cNvSpPr>
                  <a:spLocks noChangeShapeType="1"/>
                </p:cNvSpPr>
                <p:nvPr/>
              </p:nvSpPr>
              <p:spPr bwMode="auto">
                <a:xfrm>
                  <a:off x="3979" y="1824"/>
                  <a:ext cx="49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130085" name="Text Box 37"/>
              <p:cNvSpPr txBox="1">
                <a:spLocks noChangeArrowheads="1"/>
              </p:cNvSpPr>
              <p:nvPr/>
            </p:nvSpPr>
            <p:spPr bwMode="auto">
              <a:xfrm>
                <a:off x="4128" y="1488"/>
                <a:ext cx="199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altLang="zh-CN">
                    <a:solidFill>
                      <a:schemeClr val="accent2"/>
                    </a:solidFill>
                  </a:rPr>
                  <a:t>g</a:t>
                </a:r>
              </a:p>
            </p:txBody>
          </p:sp>
        </p:grpSp>
        <p:grpSp>
          <p:nvGrpSpPr>
            <p:cNvPr id="13" name="Group 60"/>
            <p:cNvGrpSpPr>
              <a:grpSpLocks/>
            </p:cNvGrpSpPr>
            <p:nvPr/>
          </p:nvGrpSpPr>
          <p:grpSpPr bwMode="auto">
            <a:xfrm>
              <a:off x="6248400" y="3670920"/>
              <a:ext cx="998538" cy="838200"/>
              <a:chOff x="3936" y="2544"/>
              <a:chExt cx="629" cy="528"/>
            </a:xfrm>
          </p:grpSpPr>
          <p:grpSp>
            <p:nvGrpSpPr>
              <p:cNvPr id="14" name="Group 55"/>
              <p:cNvGrpSpPr>
                <a:grpSpLocks/>
              </p:cNvGrpSpPr>
              <p:nvPr/>
            </p:nvGrpSpPr>
            <p:grpSpPr bwMode="auto">
              <a:xfrm>
                <a:off x="3936" y="2544"/>
                <a:ext cx="629" cy="432"/>
                <a:chOff x="3934" y="1872"/>
                <a:chExt cx="629" cy="432"/>
              </a:xfrm>
            </p:grpSpPr>
            <p:sp>
              <p:nvSpPr>
                <p:cNvPr id="130073" name="Freeform 25"/>
                <p:cNvSpPr>
                  <a:spLocks/>
                </p:cNvSpPr>
                <p:nvPr/>
              </p:nvSpPr>
              <p:spPr bwMode="auto">
                <a:xfrm>
                  <a:off x="3934" y="1872"/>
                  <a:ext cx="629" cy="43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88" y="432"/>
                    </a:cxn>
                    <a:cxn ang="0">
                      <a:pos x="672" y="0"/>
                    </a:cxn>
                  </a:cxnLst>
                  <a:rect l="0" t="0" r="r" b="b"/>
                  <a:pathLst>
                    <a:path w="672" h="432">
                      <a:moveTo>
                        <a:pt x="0" y="0"/>
                      </a:moveTo>
                      <a:cubicBezTo>
                        <a:pt x="88" y="216"/>
                        <a:pt x="176" y="432"/>
                        <a:pt x="288" y="432"/>
                      </a:cubicBezTo>
                      <a:cubicBezTo>
                        <a:pt x="400" y="432"/>
                        <a:pt x="600" y="72"/>
                        <a:pt x="672" y="0"/>
                      </a:cubicBez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0076" name="Line 28"/>
                <p:cNvSpPr>
                  <a:spLocks noChangeShapeType="1"/>
                </p:cNvSpPr>
                <p:nvPr/>
              </p:nvSpPr>
              <p:spPr bwMode="auto">
                <a:xfrm rot="7560000">
                  <a:off x="4215" y="2160"/>
                  <a:ext cx="28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130086" name="Text Box 38"/>
              <p:cNvSpPr txBox="1">
                <a:spLocks noChangeArrowheads="1"/>
              </p:cNvSpPr>
              <p:nvPr/>
            </p:nvSpPr>
            <p:spPr bwMode="auto">
              <a:xfrm>
                <a:off x="4320" y="2784"/>
                <a:ext cx="20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solidFill>
                      <a:schemeClr val="accent2"/>
                    </a:solidFill>
                  </a:rPr>
                  <a:t>e</a:t>
                </a:r>
              </a:p>
            </p:txBody>
          </p:sp>
        </p:grpSp>
        <p:grpSp>
          <p:nvGrpSpPr>
            <p:cNvPr id="15" name="Group 62"/>
            <p:cNvGrpSpPr>
              <a:grpSpLocks/>
            </p:cNvGrpSpPr>
            <p:nvPr/>
          </p:nvGrpSpPr>
          <p:grpSpPr bwMode="auto">
            <a:xfrm>
              <a:off x="5324475" y="3137520"/>
              <a:ext cx="784225" cy="458788"/>
              <a:chOff x="3359" y="1536"/>
              <a:chExt cx="494" cy="289"/>
            </a:xfrm>
          </p:grpSpPr>
          <p:sp>
            <p:nvSpPr>
              <p:cNvPr id="130087" name="Text Box 39"/>
              <p:cNvSpPr txBox="1">
                <a:spLocks noChangeArrowheads="1"/>
              </p:cNvSpPr>
              <p:nvPr/>
            </p:nvSpPr>
            <p:spPr bwMode="auto">
              <a:xfrm>
                <a:off x="3504" y="1536"/>
                <a:ext cx="19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altLang="zh-CN">
                    <a:solidFill>
                      <a:schemeClr val="accent2"/>
                    </a:solidFill>
                  </a:rPr>
                  <a:t>d</a:t>
                </a:r>
              </a:p>
            </p:txBody>
          </p:sp>
          <p:grpSp>
            <p:nvGrpSpPr>
              <p:cNvPr id="16" name="Group 52"/>
              <p:cNvGrpSpPr>
                <a:grpSpLocks/>
              </p:cNvGrpSpPr>
              <p:nvPr/>
            </p:nvGrpSpPr>
            <p:grpSpPr bwMode="auto">
              <a:xfrm>
                <a:off x="3359" y="1825"/>
                <a:ext cx="494" cy="0"/>
                <a:chOff x="3350" y="1824"/>
                <a:chExt cx="494" cy="0"/>
              </a:xfrm>
            </p:grpSpPr>
            <p:sp>
              <p:nvSpPr>
                <p:cNvPr id="130061" name="Line 13"/>
                <p:cNvSpPr>
                  <a:spLocks noChangeShapeType="1"/>
                </p:cNvSpPr>
                <p:nvPr/>
              </p:nvSpPr>
              <p:spPr bwMode="auto">
                <a:xfrm>
                  <a:off x="3484" y="1824"/>
                  <a:ext cx="22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0065" name="Line 17"/>
                <p:cNvSpPr>
                  <a:spLocks noChangeShapeType="1"/>
                </p:cNvSpPr>
                <p:nvPr/>
              </p:nvSpPr>
              <p:spPr bwMode="auto">
                <a:xfrm>
                  <a:off x="3350" y="1824"/>
                  <a:ext cx="49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grpSp>
          <p:nvGrpSpPr>
            <p:cNvPr id="17" name="Group 69"/>
            <p:cNvGrpSpPr>
              <a:grpSpLocks/>
            </p:cNvGrpSpPr>
            <p:nvPr/>
          </p:nvGrpSpPr>
          <p:grpSpPr bwMode="auto">
            <a:xfrm>
              <a:off x="5181600" y="2735883"/>
              <a:ext cx="992188" cy="838200"/>
              <a:chOff x="3408" y="960"/>
              <a:chExt cx="625" cy="528"/>
            </a:xfrm>
          </p:grpSpPr>
          <p:sp>
            <p:nvSpPr>
              <p:cNvPr id="130072" name="Freeform 24"/>
              <p:cNvSpPr>
                <a:spLocks/>
              </p:cNvSpPr>
              <p:nvPr/>
            </p:nvSpPr>
            <p:spPr bwMode="auto">
              <a:xfrm>
                <a:off x="3449" y="1008"/>
                <a:ext cx="584" cy="480"/>
              </a:xfrm>
              <a:custGeom>
                <a:avLst/>
                <a:gdLst/>
                <a:ahLst/>
                <a:cxnLst>
                  <a:cxn ang="0">
                    <a:pos x="0" y="344"/>
                  </a:cxn>
                  <a:cxn ang="0">
                    <a:pos x="336" y="8"/>
                  </a:cxn>
                  <a:cxn ang="0">
                    <a:pos x="624" y="392"/>
                  </a:cxn>
                </a:cxnLst>
                <a:rect l="0" t="0" r="r" b="b"/>
                <a:pathLst>
                  <a:path w="624" h="392">
                    <a:moveTo>
                      <a:pt x="0" y="344"/>
                    </a:moveTo>
                    <a:cubicBezTo>
                      <a:pt x="116" y="172"/>
                      <a:pt x="232" y="0"/>
                      <a:pt x="336" y="8"/>
                    </a:cubicBezTo>
                    <a:cubicBezTo>
                      <a:pt x="440" y="16"/>
                      <a:pt x="576" y="328"/>
                      <a:pt x="624" y="392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0075" name="Line 27"/>
              <p:cNvSpPr>
                <a:spLocks noChangeShapeType="1"/>
              </p:cNvSpPr>
              <p:nvPr/>
            </p:nvSpPr>
            <p:spPr bwMode="auto">
              <a:xfrm rot="7500000">
                <a:off x="3456" y="1166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0088" name="Text Box 40"/>
              <p:cNvSpPr txBox="1">
                <a:spLocks noChangeArrowheads="1"/>
              </p:cNvSpPr>
              <p:nvPr/>
            </p:nvSpPr>
            <p:spPr bwMode="auto">
              <a:xfrm>
                <a:off x="3408" y="960"/>
                <a:ext cx="20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/>
                  <a:t>c</a:t>
                </a:r>
              </a:p>
            </p:txBody>
          </p:sp>
        </p:grpSp>
        <p:grpSp>
          <p:nvGrpSpPr>
            <p:cNvPr id="18" name="Group 59"/>
            <p:cNvGrpSpPr>
              <a:grpSpLocks/>
            </p:cNvGrpSpPr>
            <p:nvPr/>
          </p:nvGrpSpPr>
          <p:grpSpPr bwMode="auto">
            <a:xfrm>
              <a:off x="4319588" y="3137520"/>
              <a:ext cx="784225" cy="457200"/>
              <a:chOff x="2721" y="1536"/>
              <a:chExt cx="494" cy="288"/>
            </a:xfrm>
          </p:grpSpPr>
          <p:grpSp>
            <p:nvGrpSpPr>
              <p:cNvPr id="19" name="Group 51"/>
              <p:cNvGrpSpPr>
                <a:grpSpLocks/>
              </p:cNvGrpSpPr>
              <p:nvPr/>
            </p:nvGrpSpPr>
            <p:grpSpPr bwMode="auto">
              <a:xfrm>
                <a:off x="2721" y="1824"/>
                <a:ext cx="494" cy="0"/>
                <a:chOff x="2721" y="1824"/>
                <a:chExt cx="494" cy="0"/>
              </a:xfrm>
            </p:grpSpPr>
            <p:sp>
              <p:nvSpPr>
                <p:cNvPr id="130058" name="Line 10"/>
                <p:cNvSpPr>
                  <a:spLocks noChangeShapeType="1"/>
                </p:cNvSpPr>
                <p:nvPr/>
              </p:nvSpPr>
              <p:spPr bwMode="auto">
                <a:xfrm>
                  <a:off x="2855" y="1824"/>
                  <a:ext cx="22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0062" name="Line 14"/>
                <p:cNvSpPr>
                  <a:spLocks noChangeShapeType="1"/>
                </p:cNvSpPr>
                <p:nvPr/>
              </p:nvSpPr>
              <p:spPr bwMode="auto">
                <a:xfrm>
                  <a:off x="2721" y="1824"/>
                  <a:ext cx="49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130090" name="Text Box 42"/>
              <p:cNvSpPr txBox="1">
                <a:spLocks noChangeArrowheads="1"/>
              </p:cNvSpPr>
              <p:nvPr/>
            </p:nvSpPr>
            <p:spPr bwMode="auto">
              <a:xfrm>
                <a:off x="2855" y="1536"/>
                <a:ext cx="20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solidFill>
                      <a:schemeClr val="accent2"/>
                    </a:solidFill>
                  </a:rPr>
                  <a:t>a</a:t>
                </a:r>
              </a:p>
            </p:txBody>
          </p:sp>
        </p:grpSp>
      </p:grpSp>
      <p:sp>
        <p:nvSpPr>
          <p:cNvPr id="130118" name="AutoShape 70"/>
          <p:cNvSpPr>
            <a:spLocks noChangeArrowheads="1"/>
          </p:cNvSpPr>
          <p:nvPr/>
        </p:nvSpPr>
        <p:spPr bwMode="auto">
          <a:xfrm>
            <a:off x="2843808" y="3447281"/>
            <a:ext cx="685800" cy="485775"/>
          </a:xfrm>
          <a:prstGeom prst="notchedRightArrow">
            <a:avLst>
              <a:gd name="adj1" fmla="val 50000"/>
              <a:gd name="adj2" fmla="val 3529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63" name="TextBox 62"/>
          <p:cNvSpPr txBox="1"/>
          <p:nvPr/>
        </p:nvSpPr>
        <p:spPr>
          <a:xfrm>
            <a:off x="395536" y="1340768"/>
            <a:ext cx="35015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i="1" dirty="0">
                <a:solidFill>
                  <a:srgbClr val="C00000"/>
                </a:solidFill>
              </a:rPr>
              <a:t>x</a:t>
            </a:r>
            <a:r>
              <a:rPr lang="en-GB" sz="2400" i="1" baseline="-25000" dirty="0">
                <a:solidFill>
                  <a:srgbClr val="C00000"/>
                </a:solidFill>
              </a:rPr>
              <a:t>o</a:t>
            </a:r>
            <a:r>
              <a:rPr lang="en-GB" sz="2400" dirty="0"/>
              <a:t> is input and </a:t>
            </a:r>
            <a:r>
              <a:rPr lang="en-GB" sz="2400" i="1" dirty="0" err="1">
                <a:solidFill>
                  <a:srgbClr val="C00000"/>
                </a:solidFill>
              </a:rPr>
              <a:t>x</a:t>
            </a:r>
            <a:r>
              <a:rPr lang="en-GB" sz="2400" i="1" baseline="-25000" dirty="0" err="1">
                <a:solidFill>
                  <a:srgbClr val="C00000"/>
                </a:solidFill>
              </a:rPr>
              <a:t>4</a:t>
            </a:r>
            <a:r>
              <a:rPr lang="en-GB" sz="2400" dirty="0"/>
              <a:t> is output </a:t>
            </a:r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58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118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707" y="4941143"/>
            <a:ext cx="7705725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116632"/>
            <a:ext cx="8305800" cy="564672"/>
          </a:xfrm>
        </p:spPr>
        <p:txBody>
          <a:bodyPr>
            <a:normAutofit fontScale="90000"/>
          </a:bodyPr>
          <a:lstStyle/>
          <a:p>
            <a:r>
              <a:rPr lang="en-GB" dirty="0"/>
              <a:t>Terminologies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496" y="764704"/>
            <a:ext cx="892899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000" dirty="0"/>
              <a:t>An </a:t>
            </a:r>
            <a:r>
              <a:rPr lang="en-GB" sz="2000" b="1" dirty="0">
                <a:solidFill>
                  <a:schemeClr val="accent1"/>
                </a:solidFill>
              </a:rPr>
              <a:t>input node </a:t>
            </a:r>
            <a:r>
              <a:rPr lang="en-GB" sz="2000" dirty="0"/>
              <a:t>or source contain only the outgoing branches. i.e., </a:t>
            </a:r>
            <a:r>
              <a:rPr lang="en-GB" sz="2000" b="1" i="1" dirty="0">
                <a:solidFill>
                  <a:srgbClr val="FF0000"/>
                </a:solidFill>
              </a:rPr>
              <a:t>X</a:t>
            </a:r>
            <a:r>
              <a:rPr lang="en-GB" sz="2000" b="1" i="1" baseline="-25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   </a:t>
            </a:r>
            <a:endParaRPr lang="en-GB" sz="2000" baseline="-250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000" dirty="0"/>
              <a:t>An </a:t>
            </a:r>
            <a:r>
              <a:rPr lang="en-GB" sz="2000" b="1" dirty="0">
                <a:solidFill>
                  <a:schemeClr val="accent1"/>
                </a:solidFill>
              </a:rPr>
              <a:t>output node </a:t>
            </a:r>
            <a:r>
              <a:rPr lang="en-GB" sz="2000" dirty="0"/>
              <a:t>or sink contain only the incoming branches. i.e., </a:t>
            </a:r>
            <a:r>
              <a:rPr lang="en-GB" sz="2000" b="1" i="1" dirty="0">
                <a:solidFill>
                  <a:srgbClr val="FF0000"/>
                </a:solidFill>
              </a:rPr>
              <a:t>X</a:t>
            </a:r>
            <a:r>
              <a:rPr lang="en-GB" sz="2000" b="1" i="1" baseline="-25000" dirty="0">
                <a:solidFill>
                  <a:srgbClr val="FF0000"/>
                </a:solidFill>
              </a:rPr>
              <a:t>4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000" dirty="0"/>
              <a:t>A </a:t>
            </a:r>
            <a:r>
              <a:rPr lang="en-GB" sz="2000" b="1" dirty="0">
                <a:solidFill>
                  <a:schemeClr val="accent1"/>
                </a:solidFill>
              </a:rPr>
              <a:t>path</a:t>
            </a:r>
            <a:r>
              <a:rPr lang="en-GB" sz="2000" dirty="0"/>
              <a:t> is a continuous, unidirectional succession of branches along which no node is passed more than ones. i.e., </a:t>
            </a:r>
          </a:p>
          <a:p>
            <a:pPr algn="just">
              <a:lnSpc>
                <a:spcPct val="150000"/>
              </a:lnSpc>
            </a:pPr>
            <a:r>
              <a:rPr lang="en-GB" sz="2000" b="1" i="1" dirty="0"/>
              <a:t>			                           </a:t>
            </a:r>
            <a:endParaRPr lang="en-GB" sz="2000" dirty="0"/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000" dirty="0"/>
              <a:t>A </a:t>
            </a:r>
            <a:r>
              <a:rPr lang="en-GB" sz="2000" b="1" dirty="0">
                <a:solidFill>
                  <a:schemeClr val="accent1"/>
                </a:solidFill>
              </a:rPr>
              <a:t>forward path </a:t>
            </a:r>
            <a:r>
              <a:rPr lang="en-GB" sz="2000" dirty="0"/>
              <a:t>is a path from the input node to the output node. i.e.,</a:t>
            </a:r>
          </a:p>
          <a:p>
            <a:pPr algn="just">
              <a:lnSpc>
                <a:spcPct val="150000"/>
              </a:lnSpc>
            </a:pPr>
            <a:r>
              <a:rPr lang="en-GB" sz="2000" b="1" i="1" dirty="0">
                <a:solidFill>
                  <a:srgbClr val="FF0000"/>
                </a:solidFill>
              </a:rPr>
              <a:t>     X</a:t>
            </a:r>
            <a:r>
              <a:rPr lang="en-GB" sz="2000" b="1" i="1" baseline="-25000" dirty="0">
                <a:solidFill>
                  <a:srgbClr val="FF0000"/>
                </a:solidFill>
              </a:rPr>
              <a:t>1</a:t>
            </a:r>
            <a:r>
              <a:rPr lang="en-GB" sz="2000" b="1" i="1" dirty="0">
                <a:solidFill>
                  <a:srgbClr val="FF0000"/>
                </a:solidFill>
              </a:rPr>
              <a:t> to X</a:t>
            </a:r>
            <a:r>
              <a:rPr lang="en-GB" sz="2000" b="1" i="1" baseline="-25000" dirty="0">
                <a:solidFill>
                  <a:srgbClr val="FF0000"/>
                </a:solidFill>
              </a:rPr>
              <a:t>2</a:t>
            </a:r>
            <a:r>
              <a:rPr lang="en-GB" sz="2000" b="1" i="1" dirty="0">
                <a:solidFill>
                  <a:srgbClr val="FF0000"/>
                </a:solidFill>
              </a:rPr>
              <a:t> to X</a:t>
            </a:r>
            <a:r>
              <a:rPr lang="en-GB" sz="2000" b="1" i="1" baseline="-25000" dirty="0">
                <a:solidFill>
                  <a:srgbClr val="FF0000"/>
                </a:solidFill>
              </a:rPr>
              <a:t>3</a:t>
            </a:r>
            <a:r>
              <a:rPr lang="en-GB" sz="2000" b="1" i="1" dirty="0">
                <a:solidFill>
                  <a:srgbClr val="FF0000"/>
                </a:solidFill>
              </a:rPr>
              <a:t> to </a:t>
            </a:r>
            <a:r>
              <a:rPr lang="en-GB" sz="2000" b="1" i="1" dirty="0" err="1">
                <a:solidFill>
                  <a:srgbClr val="FF0000"/>
                </a:solidFill>
              </a:rPr>
              <a:t>X</a:t>
            </a:r>
            <a:r>
              <a:rPr lang="en-GB" sz="2000" b="1" i="1" baseline="-25000" dirty="0" err="1">
                <a:solidFill>
                  <a:srgbClr val="FF0000"/>
                </a:solidFill>
              </a:rPr>
              <a:t>4</a:t>
            </a:r>
            <a:r>
              <a:rPr lang="en-GB" sz="2000" b="1" i="1" baseline="-25000" dirty="0">
                <a:solidFill>
                  <a:srgbClr val="FF0000"/>
                </a:solidFill>
              </a:rPr>
              <a:t> </a:t>
            </a:r>
            <a:r>
              <a:rPr lang="en-GB" sz="2000" dirty="0"/>
              <a:t>, and </a:t>
            </a:r>
            <a:r>
              <a:rPr lang="en-GB" sz="2000" b="1" i="1" dirty="0">
                <a:solidFill>
                  <a:srgbClr val="FF0000"/>
                </a:solidFill>
              </a:rPr>
              <a:t>X</a:t>
            </a:r>
            <a:r>
              <a:rPr lang="en-GB" sz="2000" b="1" i="1" baseline="-25000" dirty="0">
                <a:solidFill>
                  <a:srgbClr val="FF0000"/>
                </a:solidFill>
              </a:rPr>
              <a:t>1</a:t>
            </a:r>
            <a:r>
              <a:rPr lang="en-GB" sz="2000" b="1" i="1" dirty="0">
                <a:solidFill>
                  <a:srgbClr val="FF0000"/>
                </a:solidFill>
              </a:rPr>
              <a:t> to X</a:t>
            </a:r>
            <a:r>
              <a:rPr lang="en-GB" sz="2000" b="1" i="1" baseline="-25000" dirty="0">
                <a:solidFill>
                  <a:srgbClr val="FF0000"/>
                </a:solidFill>
              </a:rPr>
              <a:t>2</a:t>
            </a:r>
            <a:r>
              <a:rPr lang="en-GB" sz="2000" b="1" i="1" dirty="0">
                <a:solidFill>
                  <a:srgbClr val="FF0000"/>
                </a:solidFill>
              </a:rPr>
              <a:t> to </a:t>
            </a:r>
            <a:r>
              <a:rPr lang="en-GB" sz="2000" b="1" i="1" dirty="0" err="1">
                <a:solidFill>
                  <a:srgbClr val="FF0000"/>
                </a:solidFill>
              </a:rPr>
              <a:t>X</a:t>
            </a:r>
            <a:r>
              <a:rPr lang="en-GB" sz="2000" b="1" i="1" baseline="-25000" dirty="0" err="1">
                <a:solidFill>
                  <a:srgbClr val="FF0000"/>
                </a:solidFill>
              </a:rPr>
              <a:t>4</a:t>
            </a:r>
            <a:r>
              <a:rPr lang="en-GB" sz="2000" b="1" i="1" baseline="-25000" dirty="0">
                <a:solidFill>
                  <a:srgbClr val="FF0000"/>
                </a:solidFill>
              </a:rPr>
              <a:t> </a:t>
            </a:r>
            <a:r>
              <a:rPr lang="en-GB" sz="2000" dirty="0"/>
              <a:t>, are forward paths.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000" dirty="0"/>
              <a:t>A </a:t>
            </a:r>
            <a:r>
              <a:rPr lang="en-GB" sz="2000" b="1" dirty="0">
                <a:solidFill>
                  <a:schemeClr val="accent1"/>
                </a:solidFill>
              </a:rPr>
              <a:t>feedback path </a:t>
            </a:r>
            <a:r>
              <a:rPr lang="en-GB" sz="2000" dirty="0"/>
              <a:t>or feedback loop is a path which originates and terminates on the same node. i.e.;   </a:t>
            </a:r>
            <a:r>
              <a:rPr lang="en-GB" sz="2000" b="1" i="1" dirty="0">
                <a:solidFill>
                  <a:srgbClr val="FF0000"/>
                </a:solidFill>
              </a:rPr>
              <a:t>X</a:t>
            </a:r>
            <a:r>
              <a:rPr lang="en-GB" sz="2000" b="1" i="1" baseline="-25000" dirty="0">
                <a:solidFill>
                  <a:srgbClr val="FF0000"/>
                </a:solidFill>
              </a:rPr>
              <a:t>2</a:t>
            </a:r>
            <a:r>
              <a:rPr lang="en-GB" sz="2000" b="1" i="1" dirty="0">
                <a:solidFill>
                  <a:srgbClr val="FF0000"/>
                </a:solidFill>
              </a:rPr>
              <a:t> to X</a:t>
            </a:r>
            <a:r>
              <a:rPr lang="en-GB" sz="2000" b="1" i="1" baseline="-25000" dirty="0">
                <a:solidFill>
                  <a:srgbClr val="FF0000"/>
                </a:solidFill>
              </a:rPr>
              <a:t>3</a:t>
            </a:r>
            <a:r>
              <a:rPr lang="en-GB" sz="2000" b="1" i="1" dirty="0">
                <a:solidFill>
                  <a:srgbClr val="FF0000"/>
                </a:solidFill>
              </a:rPr>
              <a:t> </a:t>
            </a:r>
            <a:r>
              <a:rPr lang="en-GB" sz="2000" b="1" dirty="0">
                <a:solidFill>
                  <a:srgbClr val="FF0000"/>
                </a:solidFill>
              </a:rPr>
              <a:t>and back to </a:t>
            </a:r>
            <a:r>
              <a:rPr lang="en-GB" sz="2000" b="1" i="1" dirty="0">
                <a:solidFill>
                  <a:srgbClr val="FF0000"/>
                </a:solidFill>
              </a:rPr>
              <a:t>X</a:t>
            </a:r>
            <a:r>
              <a:rPr lang="en-GB" sz="2000" b="1" i="1" baseline="-25000" dirty="0">
                <a:solidFill>
                  <a:srgbClr val="FF0000"/>
                </a:solidFill>
              </a:rPr>
              <a:t>2</a:t>
            </a:r>
            <a:r>
              <a:rPr lang="en-GB" sz="2000" b="1" i="1" dirty="0">
                <a:solidFill>
                  <a:srgbClr val="FF0000"/>
                </a:solidFill>
              </a:rPr>
              <a:t> </a:t>
            </a:r>
            <a:r>
              <a:rPr lang="en-GB" sz="2000" dirty="0"/>
              <a:t>is a feedback path.  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67544" y="2722775"/>
            <a:ext cx="7762056" cy="3234680"/>
            <a:chOff x="467544" y="2708920"/>
            <a:chExt cx="7762056" cy="3234680"/>
          </a:xfrm>
        </p:grpSpPr>
        <p:sp>
          <p:nvSpPr>
            <p:cNvPr id="6" name="Freeform 5"/>
            <p:cNvSpPr/>
            <p:nvPr/>
          </p:nvSpPr>
          <p:spPr>
            <a:xfrm>
              <a:off x="914400" y="5929745"/>
              <a:ext cx="7315200" cy="13855"/>
            </a:xfrm>
            <a:custGeom>
              <a:avLst/>
              <a:gdLst>
                <a:gd name="connsiteX0" fmla="*/ 0 w 7315200"/>
                <a:gd name="connsiteY0" fmla="*/ 0 h 13855"/>
                <a:gd name="connsiteX1" fmla="*/ 2452255 w 7315200"/>
                <a:gd name="connsiteY1" fmla="*/ 13855 h 13855"/>
                <a:gd name="connsiteX2" fmla="*/ 4862945 w 7315200"/>
                <a:gd name="connsiteY2" fmla="*/ 13855 h 13855"/>
                <a:gd name="connsiteX3" fmla="*/ 7315200 w 7315200"/>
                <a:gd name="connsiteY3" fmla="*/ 13855 h 13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15200" h="13855">
                  <a:moveTo>
                    <a:pt x="0" y="0"/>
                  </a:moveTo>
                  <a:lnTo>
                    <a:pt x="2452255" y="13855"/>
                  </a:lnTo>
                  <a:lnTo>
                    <a:pt x="4862945" y="13855"/>
                  </a:lnTo>
                  <a:lnTo>
                    <a:pt x="7315200" y="13855"/>
                  </a:lnTo>
                </a:path>
              </a:pathLst>
            </a:custGeom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/>
            <p:cNvSpPr/>
            <p:nvPr/>
          </p:nvSpPr>
          <p:spPr>
            <a:xfrm>
              <a:off x="467544" y="2708920"/>
              <a:ext cx="20093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i="1" dirty="0">
                  <a:solidFill>
                    <a:srgbClr val="FF0000"/>
                  </a:solidFill>
                </a:rPr>
                <a:t> </a:t>
              </a:r>
              <a:r>
                <a:rPr lang="en-GB" b="1" i="1" dirty="0" err="1">
                  <a:solidFill>
                    <a:srgbClr val="FF0000"/>
                  </a:solidFill>
                </a:rPr>
                <a:t>X</a:t>
              </a:r>
              <a:r>
                <a:rPr lang="en-GB" b="1" i="1" baseline="-25000" dirty="0" err="1">
                  <a:solidFill>
                    <a:srgbClr val="FF0000"/>
                  </a:solidFill>
                </a:rPr>
                <a:t>1</a:t>
              </a:r>
              <a:r>
                <a:rPr lang="en-GB" b="1" i="1" dirty="0">
                  <a:solidFill>
                    <a:srgbClr val="FF0000"/>
                  </a:solidFill>
                </a:rPr>
                <a:t> to </a:t>
              </a:r>
              <a:r>
                <a:rPr lang="en-GB" b="1" i="1" dirty="0" err="1">
                  <a:solidFill>
                    <a:srgbClr val="FF0000"/>
                  </a:solidFill>
                </a:rPr>
                <a:t>X</a:t>
              </a:r>
              <a:r>
                <a:rPr lang="en-GB" b="1" i="1" baseline="-25000" dirty="0" err="1">
                  <a:solidFill>
                    <a:srgbClr val="FF0000"/>
                  </a:solidFill>
                </a:rPr>
                <a:t>2</a:t>
              </a:r>
              <a:r>
                <a:rPr lang="en-GB" b="1" i="1" dirty="0">
                  <a:solidFill>
                    <a:srgbClr val="FF0000"/>
                  </a:solidFill>
                </a:rPr>
                <a:t> to </a:t>
              </a:r>
              <a:r>
                <a:rPr lang="en-GB" b="1" i="1" dirty="0" err="1">
                  <a:solidFill>
                    <a:srgbClr val="FF0000"/>
                  </a:solidFill>
                </a:rPr>
                <a:t>X</a:t>
              </a:r>
              <a:r>
                <a:rPr lang="en-GB" b="1" i="1" baseline="-25000" dirty="0" err="1">
                  <a:solidFill>
                    <a:srgbClr val="FF0000"/>
                  </a:solidFill>
                </a:rPr>
                <a:t>3</a:t>
              </a:r>
              <a:r>
                <a:rPr lang="en-GB" b="1" i="1" dirty="0">
                  <a:solidFill>
                    <a:srgbClr val="FF0000"/>
                  </a:solidFill>
                </a:rPr>
                <a:t> to </a:t>
              </a:r>
              <a:r>
                <a:rPr lang="en-GB" b="1" i="1" dirty="0" err="1">
                  <a:solidFill>
                    <a:srgbClr val="FF0000"/>
                  </a:solidFill>
                </a:rPr>
                <a:t>X</a:t>
              </a:r>
              <a:r>
                <a:rPr lang="en-GB" b="1" i="1" baseline="-25000" dirty="0" err="1">
                  <a:solidFill>
                    <a:srgbClr val="FF0000"/>
                  </a:solidFill>
                </a:rPr>
                <a:t>4</a:t>
              </a:r>
              <a:r>
                <a:rPr lang="en-GB" b="1" i="1" baseline="-25000" dirty="0">
                  <a:solidFill>
                    <a:srgbClr val="FF0000"/>
                  </a:solidFill>
                </a:rPr>
                <a:t> </a:t>
              </a:r>
              <a:endParaRPr lang="en-GB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928255" y="2719643"/>
            <a:ext cx="7329054" cy="3273935"/>
            <a:chOff x="928255" y="2708920"/>
            <a:chExt cx="7329054" cy="3273935"/>
          </a:xfrm>
        </p:grpSpPr>
        <p:sp>
          <p:nvSpPr>
            <p:cNvPr id="7" name="Freeform 6"/>
            <p:cNvSpPr/>
            <p:nvPr/>
          </p:nvSpPr>
          <p:spPr>
            <a:xfrm>
              <a:off x="928255" y="5165437"/>
              <a:ext cx="7329054" cy="817418"/>
            </a:xfrm>
            <a:custGeom>
              <a:avLst/>
              <a:gdLst>
                <a:gd name="connsiteX0" fmla="*/ 0 w 7329054"/>
                <a:gd name="connsiteY0" fmla="*/ 778163 h 817418"/>
                <a:gd name="connsiteX1" fmla="*/ 2216727 w 7329054"/>
                <a:gd name="connsiteY1" fmla="*/ 778163 h 817418"/>
                <a:gd name="connsiteX2" fmla="*/ 2410690 w 7329054"/>
                <a:gd name="connsiteY2" fmla="*/ 805872 h 817418"/>
                <a:gd name="connsiteX3" fmla="*/ 2521527 w 7329054"/>
                <a:gd name="connsiteY3" fmla="*/ 708890 h 817418"/>
                <a:gd name="connsiteX4" fmla="*/ 2895600 w 7329054"/>
                <a:gd name="connsiteY4" fmla="*/ 487218 h 817418"/>
                <a:gd name="connsiteX5" fmla="*/ 3782290 w 7329054"/>
                <a:gd name="connsiteY5" fmla="*/ 154708 h 817418"/>
                <a:gd name="connsiteX6" fmla="*/ 4558145 w 7329054"/>
                <a:gd name="connsiteY6" fmla="*/ 16163 h 817418"/>
                <a:gd name="connsiteX7" fmla="*/ 5583381 w 7329054"/>
                <a:gd name="connsiteY7" fmla="*/ 57727 h 817418"/>
                <a:gd name="connsiteX8" fmla="*/ 6192981 w 7329054"/>
                <a:gd name="connsiteY8" fmla="*/ 223981 h 817418"/>
                <a:gd name="connsiteX9" fmla="*/ 6885709 w 7329054"/>
                <a:gd name="connsiteY9" fmla="*/ 445654 h 817418"/>
                <a:gd name="connsiteX10" fmla="*/ 7329054 w 7329054"/>
                <a:gd name="connsiteY10" fmla="*/ 778163 h 817418"/>
                <a:gd name="connsiteX11" fmla="*/ 7329054 w 7329054"/>
                <a:gd name="connsiteY11" fmla="*/ 778163 h 817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329054" h="817418">
                  <a:moveTo>
                    <a:pt x="0" y="778163"/>
                  </a:moveTo>
                  <a:lnTo>
                    <a:pt x="2216727" y="778163"/>
                  </a:lnTo>
                  <a:cubicBezTo>
                    <a:pt x="2618509" y="782781"/>
                    <a:pt x="2359890" y="817418"/>
                    <a:pt x="2410690" y="805872"/>
                  </a:cubicBezTo>
                  <a:cubicBezTo>
                    <a:pt x="2461490" y="794326"/>
                    <a:pt x="2440709" y="761999"/>
                    <a:pt x="2521527" y="708890"/>
                  </a:cubicBezTo>
                  <a:cubicBezTo>
                    <a:pt x="2602345" y="655781"/>
                    <a:pt x="2685473" y="579582"/>
                    <a:pt x="2895600" y="487218"/>
                  </a:cubicBezTo>
                  <a:cubicBezTo>
                    <a:pt x="3105727" y="394854"/>
                    <a:pt x="3505199" y="233217"/>
                    <a:pt x="3782290" y="154708"/>
                  </a:cubicBezTo>
                  <a:cubicBezTo>
                    <a:pt x="4059381" y="76199"/>
                    <a:pt x="4257963" y="32326"/>
                    <a:pt x="4558145" y="16163"/>
                  </a:cubicBezTo>
                  <a:cubicBezTo>
                    <a:pt x="4858327" y="0"/>
                    <a:pt x="5310908" y="23091"/>
                    <a:pt x="5583381" y="57727"/>
                  </a:cubicBezTo>
                  <a:cubicBezTo>
                    <a:pt x="5855854" y="92363"/>
                    <a:pt x="5975926" y="159327"/>
                    <a:pt x="6192981" y="223981"/>
                  </a:cubicBezTo>
                  <a:cubicBezTo>
                    <a:pt x="6410036" y="288636"/>
                    <a:pt x="6696364" y="353290"/>
                    <a:pt x="6885709" y="445654"/>
                  </a:cubicBezTo>
                  <a:cubicBezTo>
                    <a:pt x="7075054" y="538018"/>
                    <a:pt x="7329054" y="778163"/>
                    <a:pt x="7329054" y="778163"/>
                  </a:cubicBezTo>
                  <a:lnTo>
                    <a:pt x="7329054" y="778163"/>
                  </a:lnTo>
                </a:path>
              </a:pathLst>
            </a:cu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131840" y="2708920"/>
              <a:ext cx="161114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b="1" i="1" dirty="0"/>
                <a:t>  </a:t>
              </a:r>
              <a:r>
                <a:rPr lang="en-GB" b="1" i="1" dirty="0" err="1">
                  <a:solidFill>
                    <a:srgbClr val="FF0000"/>
                  </a:solidFill>
                </a:rPr>
                <a:t>X</a:t>
              </a:r>
              <a:r>
                <a:rPr lang="en-GB" b="1" i="1" baseline="-25000" dirty="0" err="1">
                  <a:solidFill>
                    <a:srgbClr val="FF0000"/>
                  </a:solidFill>
                </a:rPr>
                <a:t>1</a:t>
              </a:r>
              <a:r>
                <a:rPr lang="en-GB" b="1" i="1" dirty="0">
                  <a:solidFill>
                    <a:srgbClr val="FF0000"/>
                  </a:solidFill>
                </a:rPr>
                <a:t> to </a:t>
              </a:r>
              <a:r>
                <a:rPr lang="en-GB" b="1" i="1" dirty="0" err="1">
                  <a:solidFill>
                    <a:srgbClr val="FF0000"/>
                  </a:solidFill>
                </a:rPr>
                <a:t>X</a:t>
              </a:r>
              <a:r>
                <a:rPr lang="en-GB" b="1" i="1" baseline="-25000" dirty="0" err="1">
                  <a:solidFill>
                    <a:srgbClr val="FF0000"/>
                  </a:solidFill>
                </a:rPr>
                <a:t>2</a:t>
              </a:r>
              <a:r>
                <a:rPr lang="en-GB" b="1" i="1" dirty="0">
                  <a:solidFill>
                    <a:srgbClr val="FF0000"/>
                  </a:solidFill>
                </a:rPr>
                <a:t> to </a:t>
              </a:r>
              <a:r>
                <a:rPr lang="en-GB" b="1" i="1" dirty="0" err="1">
                  <a:solidFill>
                    <a:srgbClr val="FF0000"/>
                  </a:solidFill>
                </a:rPr>
                <a:t>X</a:t>
              </a:r>
              <a:r>
                <a:rPr lang="en-GB" b="1" i="1" baseline="-25000" dirty="0" err="1">
                  <a:solidFill>
                    <a:srgbClr val="FF0000"/>
                  </a:solidFill>
                </a:rPr>
                <a:t>4</a:t>
              </a:r>
              <a:r>
                <a:rPr lang="en-GB" b="1" i="1" baseline="-25000" dirty="0">
                  <a:solidFill>
                    <a:srgbClr val="FF0000"/>
                  </a:solidFill>
                </a:rPr>
                <a:t> </a:t>
              </a:r>
              <a:endParaRPr lang="en-GB" dirty="0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3338945" y="2708920"/>
            <a:ext cx="4918364" cy="3248535"/>
            <a:chOff x="3338945" y="2708920"/>
            <a:chExt cx="4918364" cy="3248535"/>
          </a:xfrm>
        </p:grpSpPr>
        <p:sp>
          <p:nvSpPr>
            <p:cNvPr id="8" name="Freeform 7"/>
            <p:cNvSpPr/>
            <p:nvPr/>
          </p:nvSpPr>
          <p:spPr>
            <a:xfrm>
              <a:off x="3338945" y="5943600"/>
              <a:ext cx="4918364" cy="13855"/>
            </a:xfrm>
            <a:custGeom>
              <a:avLst/>
              <a:gdLst>
                <a:gd name="connsiteX0" fmla="*/ 0 w 4918364"/>
                <a:gd name="connsiteY0" fmla="*/ 0 h 13855"/>
                <a:gd name="connsiteX1" fmla="*/ 2452255 w 4918364"/>
                <a:gd name="connsiteY1" fmla="*/ 0 h 13855"/>
                <a:gd name="connsiteX2" fmla="*/ 4918364 w 4918364"/>
                <a:gd name="connsiteY2" fmla="*/ 13855 h 13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18364" h="13855">
                  <a:moveTo>
                    <a:pt x="0" y="0"/>
                  </a:moveTo>
                  <a:lnTo>
                    <a:pt x="2452255" y="0"/>
                  </a:lnTo>
                  <a:lnTo>
                    <a:pt x="4918364" y="13855"/>
                  </a:lnTo>
                </a:path>
              </a:pathLst>
            </a:cu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012160" y="2708920"/>
              <a:ext cx="144603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b="1" i="1" dirty="0" err="1">
                  <a:solidFill>
                    <a:srgbClr val="FF0000"/>
                  </a:solidFill>
                </a:rPr>
                <a:t>X</a:t>
              </a:r>
              <a:r>
                <a:rPr lang="en-GB" b="1" i="1" baseline="-25000" dirty="0" err="1">
                  <a:solidFill>
                    <a:srgbClr val="FF0000"/>
                  </a:solidFill>
                </a:rPr>
                <a:t>2</a:t>
              </a:r>
              <a:r>
                <a:rPr lang="en-GB" b="1" i="1" dirty="0">
                  <a:solidFill>
                    <a:srgbClr val="FF0000"/>
                  </a:solidFill>
                </a:rPr>
                <a:t> to </a:t>
              </a:r>
              <a:r>
                <a:rPr lang="en-GB" b="1" i="1" dirty="0" err="1">
                  <a:solidFill>
                    <a:srgbClr val="FF0000"/>
                  </a:solidFill>
                </a:rPr>
                <a:t>X</a:t>
              </a:r>
              <a:r>
                <a:rPr lang="en-GB" b="1" i="1" baseline="-25000" dirty="0" err="1">
                  <a:solidFill>
                    <a:srgbClr val="FF0000"/>
                  </a:solidFill>
                </a:rPr>
                <a:t>3</a:t>
              </a:r>
              <a:r>
                <a:rPr lang="en-GB" b="1" i="1" dirty="0">
                  <a:solidFill>
                    <a:srgbClr val="FF0000"/>
                  </a:solidFill>
                </a:rPr>
                <a:t> to </a:t>
              </a:r>
              <a:r>
                <a:rPr lang="en-GB" b="1" i="1" dirty="0" err="1">
                  <a:solidFill>
                    <a:srgbClr val="FF0000"/>
                  </a:solidFill>
                </a:rPr>
                <a:t>X</a:t>
              </a:r>
              <a:r>
                <a:rPr lang="en-GB" b="1" i="1" baseline="-25000" dirty="0" err="1">
                  <a:solidFill>
                    <a:srgbClr val="FF0000"/>
                  </a:solidFill>
                </a:rPr>
                <a:t>4</a:t>
              </a:r>
              <a:r>
                <a:rPr lang="en-GB" b="1" i="1" baseline="-25000" dirty="0">
                  <a:solidFill>
                    <a:srgbClr val="FF0000"/>
                  </a:solidFill>
                </a:rPr>
                <a:t> </a:t>
              </a:r>
              <a:endParaRPr lang="en-GB" dirty="0"/>
            </a:p>
          </p:txBody>
        </p:sp>
      </p:grpSp>
      <p:sp>
        <p:nvSpPr>
          <p:cNvPr id="15" name="Freeform 14"/>
          <p:cNvSpPr/>
          <p:nvPr/>
        </p:nvSpPr>
        <p:spPr>
          <a:xfrm>
            <a:off x="3022600" y="5883564"/>
            <a:ext cx="3112654" cy="630382"/>
          </a:xfrm>
          <a:custGeom>
            <a:avLst/>
            <a:gdLst>
              <a:gd name="connsiteX0" fmla="*/ 330200 w 3112654"/>
              <a:gd name="connsiteY0" fmla="*/ 60036 h 630382"/>
              <a:gd name="connsiteX1" fmla="*/ 2713182 w 3112654"/>
              <a:gd name="connsiteY1" fmla="*/ 73891 h 630382"/>
              <a:gd name="connsiteX2" fmla="*/ 2727036 w 3112654"/>
              <a:gd name="connsiteY2" fmla="*/ 129309 h 630382"/>
              <a:gd name="connsiteX3" fmla="*/ 2588491 w 3112654"/>
              <a:gd name="connsiteY3" fmla="*/ 295563 h 630382"/>
              <a:gd name="connsiteX4" fmla="*/ 2186709 w 3112654"/>
              <a:gd name="connsiteY4" fmla="*/ 503381 h 630382"/>
              <a:gd name="connsiteX5" fmla="*/ 1687945 w 3112654"/>
              <a:gd name="connsiteY5" fmla="*/ 614218 h 630382"/>
              <a:gd name="connsiteX6" fmla="*/ 1203036 w 3112654"/>
              <a:gd name="connsiteY6" fmla="*/ 600363 h 630382"/>
              <a:gd name="connsiteX7" fmla="*/ 731982 w 3112654"/>
              <a:gd name="connsiteY7" fmla="*/ 434109 h 630382"/>
              <a:gd name="connsiteX8" fmla="*/ 330200 w 3112654"/>
              <a:gd name="connsiteY8" fmla="*/ 60036 h 630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12654" h="630382">
                <a:moveTo>
                  <a:pt x="330200" y="60036"/>
                </a:moveTo>
                <a:cubicBezTo>
                  <a:pt x="660400" y="0"/>
                  <a:pt x="2313710" y="62346"/>
                  <a:pt x="2713182" y="73891"/>
                </a:cubicBezTo>
                <a:cubicBezTo>
                  <a:pt x="3112654" y="85436"/>
                  <a:pt x="2747818" y="92364"/>
                  <a:pt x="2727036" y="129309"/>
                </a:cubicBezTo>
                <a:cubicBezTo>
                  <a:pt x="2706254" y="166254"/>
                  <a:pt x="2678545" y="233218"/>
                  <a:pt x="2588491" y="295563"/>
                </a:cubicBezTo>
                <a:cubicBezTo>
                  <a:pt x="2498437" y="357908"/>
                  <a:pt x="2336800" y="450272"/>
                  <a:pt x="2186709" y="503381"/>
                </a:cubicBezTo>
                <a:cubicBezTo>
                  <a:pt x="2036618" y="556490"/>
                  <a:pt x="1851890" y="598054"/>
                  <a:pt x="1687945" y="614218"/>
                </a:cubicBezTo>
                <a:cubicBezTo>
                  <a:pt x="1524000" y="630382"/>
                  <a:pt x="1362363" y="630381"/>
                  <a:pt x="1203036" y="600363"/>
                </a:cubicBezTo>
                <a:cubicBezTo>
                  <a:pt x="1043709" y="570345"/>
                  <a:pt x="877455" y="519545"/>
                  <a:pt x="731982" y="434109"/>
                </a:cubicBezTo>
                <a:cubicBezTo>
                  <a:pt x="586509" y="348673"/>
                  <a:pt x="0" y="120072"/>
                  <a:pt x="330200" y="60036"/>
                </a:cubicBez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reeform 15"/>
          <p:cNvSpPr/>
          <p:nvPr/>
        </p:nvSpPr>
        <p:spPr>
          <a:xfrm>
            <a:off x="927302" y="5168314"/>
            <a:ext cx="7329054" cy="817418"/>
          </a:xfrm>
          <a:custGeom>
            <a:avLst/>
            <a:gdLst>
              <a:gd name="connsiteX0" fmla="*/ 0 w 7329054"/>
              <a:gd name="connsiteY0" fmla="*/ 778163 h 817418"/>
              <a:gd name="connsiteX1" fmla="*/ 2216727 w 7329054"/>
              <a:gd name="connsiteY1" fmla="*/ 778163 h 817418"/>
              <a:gd name="connsiteX2" fmla="*/ 2410690 w 7329054"/>
              <a:gd name="connsiteY2" fmla="*/ 805872 h 817418"/>
              <a:gd name="connsiteX3" fmla="*/ 2521527 w 7329054"/>
              <a:gd name="connsiteY3" fmla="*/ 708890 h 817418"/>
              <a:gd name="connsiteX4" fmla="*/ 2895600 w 7329054"/>
              <a:gd name="connsiteY4" fmla="*/ 487218 h 817418"/>
              <a:gd name="connsiteX5" fmla="*/ 3782290 w 7329054"/>
              <a:gd name="connsiteY5" fmla="*/ 154708 h 817418"/>
              <a:gd name="connsiteX6" fmla="*/ 4558145 w 7329054"/>
              <a:gd name="connsiteY6" fmla="*/ 16163 h 817418"/>
              <a:gd name="connsiteX7" fmla="*/ 5583381 w 7329054"/>
              <a:gd name="connsiteY7" fmla="*/ 57727 h 817418"/>
              <a:gd name="connsiteX8" fmla="*/ 6192981 w 7329054"/>
              <a:gd name="connsiteY8" fmla="*/ 223981 h 817418"/>
              <a:gd name="connsiteX9" fmla="*/ 6885709 w 7329054"/>
              <a:gd name="connsiteY9" fmla="*/ 445654 h 817418"/>
              <a:gd name="connsiteX10" fmla="*/ 7329054 w 7329054"/>
              <a:gd name="connsiteY10" fmla="*/ 778163 h 817418"/>
              <a:gd name="connsiteX11" fmla="*/ 7329054 w 7329054"/>
              <a:gd name="connsiteY11" fmla="*/ 778163 h 817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329054" h="817418">
                <a:moveTo>
                  <a:pt x="0" y="778163"/>
                </a:moveTo>
                <a:lnTo>
                  <a:pt x="2216727" y="778163"/>
                </a:lnTo>
                <a:cubicBezTo>
                  <a:pt x="2618509" y="782781"/>
                  <a:pt x="2359890" y="817418"/>
                  <a:pt x="2410690" y="805872"/>
                </a:cubicBezTo>
                <a:cubicBezTo>
                  <a:pt x="2461490" y="794326"/>
                  <a:pt x="2440709" y="761999"/>
                  <a:pt x="2521527" y="708890"/>
                </a:cubicBezTo>
                <a:cubicBezTo>
                  <a:pt x="2602345" y="655781"/>
                  <a:pt x="2685473" y="579582"/>
                  <a:pt x="2895600" y="487218"/>
                </a:cubicBezTo>
                <a:cubicBezTo>
                  <a:pt x="3105727" y="394854"/>
                  <a:pt x="3505199" y="233217"/>
                  <a:pt x="3782290" y="154708"/>
                </a:cubicBezTo>
                <a:cubicBezTo>
                  <a:pt x="4059381" y="76199"/>
                  <a:pt x="4257963" y="32326"/>
                  <a:pt x="4558145" y="16163"/>
                </a:cubicBezTo>
                <a:cubicBezTo>
                  <a:pt x="4858327" y="0"/>
                  <a:pt x="5310908" y="23091"/>
                  <a:pt x="5583381" y="57727"/>
                </a:cubicBezTo>
                <a:cubicBezTo>
                  <a:pt x="5855854" y="92363"/>
                  <a:pt x="5975926" y="159327"/>
                  <a:pt x="6192981" y="223981"/>
                </a:cubicBezTo>
                <a:cubicBezTo>
                  <a:pt x="6410036" y="288636"/>
                  <a:pt x="6696364" y="353290"/>
                  <a:pt x="6885709" y="445654"/>
                </a:cubicBezTo>
                <a:cubicBezTo>
                  <a:pt x="7075054" y="538018"/>
                  <a:pt x="7329054" y="778163"/>
                  <a:pt x="7329054" y="778163"/>
                </a:cubicBezTo>
                <a:lnTo>
                  <a:pt x="7329054" y="778163"/>
                </a:lnTo>
              </a:path>
            </a:pathLst>
          </a:cu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" name="Straight Connector 17"/>
          <p:cNvCxnSpPr>
            <a:stCxn id="16" idx="0"/>
          </p:cNvCxnSpPr>
          <p:nvPr/>
        </p:nvCxnSpPr>
        <p:spPr>
          <a:xfrm>
            <a:off x="927302" y="5946477"/>
            <a:ext cx="731710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59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5666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  <p:bldP spid="16" grpId="0" animBg="1"/>
      <p:bldP spid="16" grpId="1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936450"/>
            <a:ext cx="8034036" cy="187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44624"/>
            <a:ext cx="8305800" cy="564672"/>
          </a:xfrm>
        </p:spPr>
        <p:txBody>
          <a:bodyPr>
            <a:normAutofit fontScale="90000"/>
          </a:bodyPr>
          <a:lstStyle/>
          <a:p>
            <a:r>
              <a:rPr lang="en-GB" dirty="0"/>
              <a:t>Terminologies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496" y="764704"/>
            <a:ext cx="8928992" cy="4962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100" dirty="0"/>
              <a:t>A </a:t>
            </a:r>
            <a:r>
              <a:rPr lang="en-GB" sz="2100" b="1" dirty="0">
                <a:solidFill>
                  <a:schemeClr val="accent1"/>
                </a:solidFill>
              </a:rPr>
              <a:t>self-loop</a:t>
            </a:r>
            <a:r>
              <a:rPr lang="en-GB" sz="2100" dirty="0"/>
              <a:t> is a feedback loop consisting of a single branch. i.e.; </a:t>
            </a:r>
            <a:r>
              <a:rPr lang="en-GB" sz="2100" b="1" i="1" dirty="0">
                <a:solidFill>
                  <a:srgbClr val="FF0000"/>
                </a:solidFill>
              </a:rPr>
              <a:t>A</a:t>
            </a:r>
            <a:r>
              <a:rPr lang="en-GB" sz="2100" b="1" i="1" baseline="-25000" dirty="0">
                <a:solidFill>
                  <a:srgbClr val="FF0000"/>
                </a:solidFill>
              </a:rPr>
              <a:t>33</a:t>
            </a:r>
            <a:r>
              <a:rPr lang="en-GB" sz="2100" dirty="0"/>
              <a:t> is a self loop.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100" dirty="0"/>
              <a:t>The </a:t>
            </a:r>
            <a:r>
              <a:rPr lang="en-GB" sz="2100" b="1" dirty="0">
                <a:solidFill>
                  <a:schemeClr val="accent1"/>
                </a:solidFill>
              </a:rPr>
              <a:t>gain</a:t>
            </a:r>
            <a:r>
              <a:rPr lang="en-GB" sz="2100" dirty="0"/>
              <a:t> of a branch is the transmission function of that branch.</a:t>
            </a:r>
            <a:endParaRPr lang="en-GB" sz="2100" baseline="-25000" dirty="0"/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100" dirty="0"/>
              <a:t>The </a:t>
            </a:r>
            <a:r>
              <a:rPr lang="en-GB" sz="2100" b="1" dirty="0">
                <a:solidFill>
                  <a:schemeClr val="accent1"/>
                </a:solidFill>
              </a:rPr>
              <a:t>path gain </a:t>
            </a:r>
            <a:r>
              <a:rPr lang="en-GB" sz="2100" dirty="0"/>
              <a:t>is the product of branch gains encountered in traversing a path. i.e. the gain of forwards path  </a:t>
            </a:r>
            <a:r>
              <a:rPr lang="en-GB" sz="2100" b="1" i="1" dirty="0">
                <a:solidFill>
                  <a:srgbClr val="FF0000"/>
                </a:solidFill>
              </a:rPr>
              <a:t>X</a:t>
            </a:r>
            <a:r>
              <a:rPr lang="en-GB" sz="2100" b="1" i="1" baseline="-25000" dirty="0">
                <a:solidFill>
                  <a:srgbClr val="FF0000"/>
                </a:solidFill>
              </a:rPr>
              <a:t>1</a:t>
            </a:r>
            <a:r>
              <a:rPr lang="en-GB" sz="2100" b="1" i="1" dirty="0">
                <a:solidFill>
                  <a:srgbClr val="FF0000"/>
                </a:solidFill>
              </a:rPr>
              <a:t> to X</a:t>
            </a:r>
            <a:r>
              <a:rPr lang="en-GB" sz="2100" b="1" i="1" baseline="-25000" dirty="0">
                <a:solidFill>
                  <a:srgbClr val="FF0000"/>
                </a:solidFill>
              </a:rPr>
              <a:t>2</a:t>
            </a:r>
            <a:r>
              <a:rPr lang="en-GB" sz="2100" b="1" i="1" dirty="0">
                <a:solidFill>
                  <a:srgbClr val="FF0000"/>
                </a:solidFill>
              </a:rPr>
              <a:t> to X</a:t>
            </a:r>
            <a:r>
              <a:rPr lang="en-GB" sz="2100" b="1" i="1" baseline="-25000" dirty="0">
                <a:solidFill>
                  <a:srgbClr val="FF0000"/>
                </a:solidFill>
              </a:rPr>
              <a:t>3</a:t>
            </a:r>
            <a:r>
              <a:rPr lang="en-GB" sz="2100" dirty="0"/>
              <a:t> </a:t>
            </a:r>
            <a:r>
              <a:rPr lang="en-GB" sz="2100" b="1" i="1" dirty="0">
                <a:solidFill>
                  <a:srgbClr val="FF0000"/>
                </a:solidFill>
              </a:rPr>
              <a:t>to X</a:t>
            </a:r>
            <a:r>
              <a:rPr lang="en-GB" sz="2100" b="1" i="1" baseline="-25000" dirty="0">
                <a:solidFill>
                  <a:srgbClr val="FF0000"/>
                </a:solidFill>
              </a:rPr>
              <a:t>4</a:t>
            </a:r>
            <a:r>
              <a:rPr lang="en-GB" sz="2100" b="1" i="1" dirty="0">
                <a:solidFill>
                  <a:srgbClr val="FF0000"/>
                </a:solidFill>
              </a:rPr>
              <a:t> </a:t>
            </a:r>
            <a:r>
              <a:rPr lang="en-GB" sz="2100" dirty="0"/>
              <a:t>is </a:t>
            </a:r>
            <a:r>
              <a:rPr lang="en-GB" sz="2100" b="1" i="1" dirty="0">
                <a:solidFill>
                  <a:srgbClr val="FF0000"/>
                </a:solidFill>
              </a:rPr>
              <a:t>A</a:t>
            </a:r>
            <a:r>
              <a:rPr lang="en-GB" sz="2100" b="1" i="1" baseline="-25000" dirty="0">
                <a:solidFill>
                  <a:srgbClr val="FF0000"/>
                </a:solidFill>
              </a:rPr>
              <a:t>21</a:t>
            </a:r>
            <a:r>
              <a:rPr lang="en-GB" sz="2100" b="1" i="1" dirty="0">
                <a:solidFill>
                  <a:srgbClr val="FF0000"/>
                </a:solidFill>
              </a:rPr>
              <a:t>A</a:t>
            </a:r>
            <a:r>
              <a:rPr lang="en-GB" sz="2100" b="1" i="1" baseline="-25000" dirty="0">
                <a:solidFill>
                  <a:srgbClr val="FF0000"/>
                </a:solidFill>
              </a:rPr>
              <a:t>32</a:t>
            </a:r>
            <a:r>
              <a:rPr lang="en-GB" sz="2100" b="1" i="1" dirty="0">
                <a:solidFill>
                  <a:srgbClr val="FF0000"/>
                </a:solidFill>
              </a:rPr>
              <a:t>A</a:t>
            </a:r>
            <a:r>
              <a:rPr lang="en-GB" sz="2100" b="1" i="1" baseline="-25000" dirty="0">
                <a:solidFill>
                  <a:srgbClr val="FF0000"/>
                </a:solidFill>
              </a:rPr>
              <a:t>43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100" dirty="0"/>
              <a:t>The </a:t>
            </a:r>
            <a:r>
              <a:rPr lang="en-GB" sz="2100" b="1" dirty="0">
                <a:solidFill>
                  <a:schemeClr val="accent1"/>
                </a:solidFill>
              </a:rPr>
              <a:t>loop gain </a:t>
            </a:r>
            <a:r>
              <a:rPr lang="en-GB" sz="2100" dirty="0"/>
              <a:t>is the product of the branch gains of the loop. i.e., the loop gain of the feedback loop from </a:t>
            </a:r>
            <a:r>
              <a:rPr lang="en-GB" sz="2100" b="1" i="1" dirty="0">
                <a:solidFill>
                  <a:srgbClr val="C00000"/>
                </a:solidFill>
              </a:rPr>
              <a:t>X</a:t>
            </a:r>
            <a:r>
              <a:rPr lang="en-GB" sz="2100" b="1" i="1" baseline="-25000" dirty="0">
                <a:solidFill>
                  <a:srgbClr val="C00000"/>
                </a:solidFill>
              </a:rPr>
              <a:t>2</a:t>
            </a:r>
            <a:r>
              <a:rPr lang="en-GB" sz="2100" dirty="0"/>
              <a:t> to </a:t>
            </a:r>
            <a:r>
              <a:rPr lang="en-GB" sz="2100" b="1" i="1" dirty="0">
                <a:solidFill>
                  <a:srgbClr val="C00000"/>
                </a:solidFill>
              </a:rPr>
              <a:t>X</a:t>
            </a:r>
            <a:r>
              <a:rPr lang="en-GB" sz="2100" b="1" i="1" baseline="-25000" dirty="0">
                <a:solidFill>
                  <a:srgbClr val="C00000"/>
                </a:solidFill>
              </a:rPr>
              <a:t>3</a:t>
            </a:r>
            <a:r>
              <a:rPr lang="en-GB" sz="2100" b="1" dirty="0"/>
              <a:t> </a:t>
            </a:r>
            <a:r>
              <a:rPr lang="en-GB" sz="2100" dirty="0"/>
              <a:t>and back to </a:t>
            </a:r>
            <a:r>
              <a:rPr lang="en-GB" sz="2100" b="1" i="1" dirty="0">
                <a:solidFill>
                  <a:srgbClr val="C00000"/>
                </a:solidFill>
              </a:rPr>
              <a:t>X</a:t>
            </a:r>
            <a:r>
              <a:rPr lang="en-GB" sz="2100" b="1" i="1" baseline="-25000" dirty="0">
                <a:solidFill>
                  <a:srgbClr val="C00000"/>
                </a:solidFill>
              </a:rPr>
              <a:t>2</a:t>
            </a:r>
            <a:r>
              <a:rPr lang="en-GB" sz="2100" dirty="0"/>
              <a:t> is </a:t>
            </a:r>
            <a:r>
              <a:rPr lang="en-GB" sz="2100" b="1" i="1" dirty="0" err="1">
                <a:solidFill>
                  <a:srgbClr val="FF0000"/>
                </a:solidFill>
              </a:rPr>
              <a:t>A</a:t>
            </a:r>
            <a:r>
              <a:rPr lang="en-GB" sz="2100" b="1" i="1" baseline="-25000" dirty="0" err="1">
                <a:solidFill>
                  <a:srgbClr val="FF0000"/>
                </a:solidFill>
              </a:rPr>
              <a:t>32</a:t>
            </a:r>
            <a:r>
              <a:rPr lang="en-GB" sz="2100" b="1" i="1" dirty="0" err="1">
                <a:solidFill>
                  <a:srgbClr val="FF0000"/>
                </a:solidFill>
              </a:rPr>
              <a:t>A</a:t>
            </a:r>
            <a:r>
              <a:rPr lang="en-GB" sz="2100" b="1" i="1" baseline="-25000" dirty="0" err="1">
                <a:solidFill>
                  <a:srgbClr val="FF0000"/>
                </a:solidFill>
              </a:rPr>
              <a:t>23</a:t>
            </a:r>
            <a:r>
              <a:rPr lang="en-GB" sz="2100" baseline="-25000" dirty="0">
                <a:solidFill>
                  <a:srgbClr val="FF0000"/>
                </a:solidFill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endParaRPr lang="en-GB" sz="2100" baseline="-25000" dirty="0">
              <a:solidFill>
                <a:srgbClr val="FF0000"/>
              </a:solidFill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en-GB" sz="2100" dirty="0"/>
              <a:t>Two loops, paths, or loop and a path are said to be </a:t>
            </a:r>
            <a:r>
              <a:rPr lang="en-GB" sz="2100" b="1" dirty="0">
                <a:solidFill>
                  <a:schemeClr val="accent1"/>
                </a:solidFill>
              </a:rPr>
              <a:t>non-touching</a:t>
            </a:r>
            <a:r>
              <a:rPr lang="en-GB" sz="2100" dirty="0"/>
              <a:t> if they have no nodes in common.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endParaRPr lang="en-GB" sz="2200" dirty="0"/>
          </a:p>
        </p:txBody>
      </p:sp>
      <p:sp>
        <p:nvSpPr>
          <p:cNvPr id="5" name="Freeform 4"/>
          <p:cNvSpPr/>
          <p:nvPr/>
        </p:nvSpPr>
        <p:spPr>
          <a:xfrm>
            <a:off x="5320146" y="5338619"/>
            <a:ext cx="623453" cy="646545"/>
          </a:xfrm>
          <a:custGeom>
            <a:avLst/>
            <a:gdLst>
              <a:gd name="connsiteX0" fmla="*/ 249381 w 623453"/>
              <a:gd name="connsiteY0" fmla="*/ 632690 h 646545"/>
              <a:gd name="connsiteX1" fmla="*/ 55418 w 623453"/>
              <a:gd name="connsiteY1" fmla="*/ 507999 h 646545"/>
              <a:gd name="connsiteX2" fmla="*/ 13854 w 623453"/>
              <a:gd name="connsiteY2" fmla="*/ 203199 h 646545"/>
              <a:gd name="connsiteX3" fmla="*/ 138545 w 623453"/>
              <a:gd name="connsiteY3" fmla="*/ 36945 h 646545"/>
              <a:gd name="connsiteX4" fmla="*/ 332509 w 623453"/>
              <a:gd name="connsiteY4" fmla="*/ 9236 h 646545"/>
              <a:gd name="connsiteX5" fmla="*/ 540327 w 623453"/>
              <a:gd name="connsiteY5" fmla="*/ 92363 h 646545"/>
              <a:gd name="connsiteX6" fmla="*/ 609599 w 623453"/>
              <a:gd name="connsiteY6" fmla="*/ 272472 h 646545"/>
              <a:gd name="connsiteX7" fmla="*/ 609599 w 623453"/>
              <a:gd name="connsiteY7" fmla="*/ 383308 h 646545"/>
              <a:gd name="connsiteX8" fmla="*/ 526472 w 623453"/>
              <a:gd name="connsiteY8" fmla="*/ 549563 h 646545"/>
              <a:gd name="connsiteX9" fmla="*/ 401781 w 623453"/>
              <a:gd name="connsiteY9" fmla="*/ 646545 h 646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23453" h="646545">
                <a:moveTo>
                  <a:pt x="249381" y="632690"/>
                </a:moveTo>
                <a:cubicBezTo>
                  <a:pt x="172027" y="606135"/>
                  <a:pt x="94673" y="579581"/>
                  <a:pt x="55418" y="507999"/>
                </a:cubicBezTo>
                <a:cubicBezTo>
                  <a:pt x="16164" y="436417"/>
                  <a:pt x="0" y="281708"/>
                  <a:pt x="13854" y="203199"/>
                </a:cubicBezTo>
                <a:cubicBezTo>
                  <a:pt x="27709" y="124690"/>
                  <a:pt x="85436" y="69272"/>
                  <a:pt x="138545" y="36945"/>
                </a:cubicBezTo>
                <a:cubicBezTo>
                  <a:pt x="191654" y="4618"/>
                  <a:pt x="265545" y="0"/>
                  <a:pt x="332509" y="9236"/>
                </a:cubicBezTo>
                <a:cubicBezTo>
                  <a:pt x="399473" y="18472"/>
                  <a:pt x="494145" y="48490"/>
                  <a:pt x="540327" y="92363"/>
                </a:cubicBezTo>
                <a:cubicBezTo>
                  <a:pt x="586509" y="136236"/>
                  <a:pt x="598054" y="223981"/>
                  <a:pt x="609599" y="272472"/>
                </a:cubicBezTo>
                <a:cubicBezTo>
                  <a:pt x="621144" y="320963"/>
                  <a:pt x="623453" y="337126"/>
                  <a:pt x="609599" y="383308"/>
                </a:cubicBezTo>
                <a:cubicBezTo>
                  <a:pt x="595745" y="429490"/>
                  <a:pt x="561108" y="505690"/>
                  <a:pt x="526472" y="549563"/>
                </a:cubicBezTo>
                <a:cubicBezTo>
                  <a:pt x="491836" y="593436"/>
                  <a:pt x="446808" y="619990"/>
                  <a:pt x="401781" y="646545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>
            <a:off x="539552" y="5963135"/>
            <a:ext cx="770485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 7"/>
          <p:cNvSpPr/>
          <p:nvPr/>
        </p:nvSpPr>
        <p:spPr>
          <a:xfrm>
            <a:off x="2812473" y="5908964"/>
            <a:ext cx="2953327" cy="676564"/>
          </a:xfrm>
          <a:custGeom>
            <a:avLst/>
            <a:gdLst>
              <a:gd name="connsiteX0" fmla="*/ 304800 w 2953327"/>
              <a:gd name="connsiteY0" fmla="*/ 62345 h 676564"/>
              <a:gd name="connsiteX1" fmla="*/ 2535382 w 2953327"/>
              <a:gd name="connsiteY1" fmla="*/ 76200 h 676564"/>
              <a:gd name="connsiteX2" fmla="*/ 2812472 w 2953327"/>
              <a:gd name="connsiteY2" fmla="*/ 76200 h 676564"/>
              <a:gd name="connsiteX3" fmla="*/ 2673927 w 2953327"/>
              <a:gd name="connsiteY3" fmla="*/ 284018 h 676564"/>
              <a:gd name="connsiteX4" fmla="*/ 2161309 w 2953327"/>
              <a:gd name="connsiteY4" fmla="*/ 561109 h 676564"/>
              <a:gd name="connsiteX5" fmla="*/ 1440872 w 2953327"/>
              <a:gd name="connsiteY5" fmla="*/ 658091 h 676564"/>
              <a:gd name="connsiteX6" fmla="*/ 706582 w 2953327"/>
              <a:gd name="connsiteY6" fmla="*/ 450272 h 676564"/>
              <a:gd name="connsiteX7" fmla="*/ 304800 w 2953327"/>
              <a:gd name="connsiteY7" fmla="*/ 62345 h 676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53327" h="676564">
                <a:moveTo>
                  <a:pt x="304800" y="62345"/>
                </a:moveTo>
                <a:cubicBezTo>
                  <a:pt x="609600" y="0"/>
                  <a:pt x="2535382" y="76200"/>
                  <a:pt x="2535382" y="76200"/>
                </a:cubicBezTo>
                <a:cubicBezTo>
                  <a:pt x="2953327" y="78509"/>
                  <a:pt x="2789381" y="41564"/>
                  <a:pt x="2812472" y="76200"/>
                </a:cubicBezTo>
                <a:cubicBezTo>
                  <a:pt x="2835563" y="110836"/>
                  <a:pt x="2782454" y="203200"/>
                  <a:pt x="2673927" y="284018"/>
                </a:cubicBezTo>
                <a:cubicBezTo>
                  <a:pt x="2565400" y="364836"/>
                  <a:pt x="2366818" y="498764"/>
                  <a:pt x="2161309" y="561109"/>
                </a:cubicBezTo>
                <a:cubicBezTo>
                  <a:pt x="1955800" y="623454"/>
                  <a:pt x="1683327" y="676564"/>
                  <a:pt x="1440872" y="658091"/>
                </a:cubicBezTo>
                <a:cubicBezTo>
                  <a:pt x="1198417" y="639618"/>
                  <a:pt x="898236" y="549563"/>
                  <a:pt x="706582" y="450272"/>
                </a:cubicBezTo>
                <a:cubicBezTo>
                  <a:pt x="514928" y="350981"/>
                  <a:pt x="0" y="124690"/>
                  <a:pt x="304800" y="62345"/>
                </a:cubicBez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60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7625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8" grpId="0" animBg="1"/>
      <p:bldP spid="8" grpId="1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089000"/>
            <a:ext cx="7089229" cy="23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305800" cy="434312"/>
          </a:xfrm>
        </p:spPr>
        <p:txBody>
          <a:bodyPr>
            <a:noAutofit/>
          </a:bodyPr>
          <a:lstStyle/>
          <a:p>
            <a:r>
              <a:rPr lang="en-GB" sz="2400" dirty="0"/>
              <a:t>Consider the signal flow graph below and identify the following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568" y="4221088"/>
            <a:ext cx="55446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R"/>
            </a:pPr>
            <a:r>
              <a:rPr lang="en-GB" dirty="0"/>
              <a:t>Input node.</a:t>
            </a:r>
          </a:p>
          <a:p>
            <a:pPr marL="342900" indent="-342900">
              <a:buAutoNum type="alphaLcParenR"/>
            </a:pPr>
            <a:r>
              <a:rPr lang="en-GB" dirty="0"/>
              <a:t>Output node.</a:t>
            </a:r>
          </a:p>
          <a:p>
            <a:pPr marL="342900" indent="-342900">
              <a:buAutoNum type="alphaLcParenR"/>
            </a:pPr>
            <a:r>
              <a:rPr lang="en-GB" dirty="0"/>
              <a:t>Forward paths.</a:t>
            </a:r>
          </a:p>
          <a:p>
            <a:pPr marL="342900" indent="-342900">
              <a:buAutoNum type="alphaLcParenR"/>
            </a:pPr>
            <a:r>
              <a:rPr lang="en-GB" dirty="0"/>
              <a:t>Feedback paths (loops).</a:t>
            </a:r>
          </a:p>
          <a:p>
            <a:pPr marL="342900" indent="-342900">
              <a:buAutoNum type="alphaLcParenR"/>
            </a:pPr>
            <a:r>
              <a:rPr lang="en-GB" dirty="0"/>
              <a:t>Determine the loop gains of the feedback loops.</a:t>
            </a:r>
          </a:p>
          <a:p>
            <a:pPr marL="342900" indent="-342900">
              <a:buAutoNum type="alphaLcParenR"/>
            </a:pPr>
            <a:r>
              <a:rPr lang="en-GB" dirty="0"/>
              <a:t>Determine the path gains of the forward paths.</a:t>
            </a:r>
          </a:p>
          <a:p>
            <a:pPr marL="342900" indent="-342900">
              <a:buAutoNum type="alphaLcParenR"/>
            </a:pPr>
            <a:r>
              <a:rPr lang="en-GB" dirty="0"/>
              <a:t>Non-touching loops</a:t>
            </a:r>
          </a:p>
          <a:p>
            <a:pPr marL="342900" indent="-342900">
              <a:buAutoNum type="alphaLcParenR"/>
            </a:pP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61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145043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233016"/>
            <a:ext cx="7089229" cy="23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305800" cy="434312"/>
          </a:xfrm>
        </p:spPr>
        <p:txBody>
          <a:bodyPr>
            <a:noAutofit/>
          </a:bodyPr>
          <a:lstStyle/>
          <a:p>
            <a:r>
              <a:rPr lang="en-GB" sz="2400" dirty="0"/>
              <a:t>Consider the signal flow graph below and identify the following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28" y="3789040"/>
            <a:ext cx="41044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dirty="0"/>
              <a:t>There are two forward path gains;</a:t>
            </a:r>
          </a:p>
          <a:p>
            <a:pPr marL="285750" indent="-285750">
              <a:buFont typeface="Arial" pitchFamily="34" charset="0"/>
              <a:buChar char="•"/>
            </a:pPr>
            <a:endParaRPr lang="en-GB" dirty="0"/>
          </a:p>
          <a:p>
            <a:pPr marL="285750" indent="-285750">
              <a:buFont typeface="Arial" pitchFamily="34" charset="0"/>
              <a:buChar char="•"/>
            </a:pPr>
            <a:endParaRPr lang="en-GB" dirty="0"/>
          </a:p>
        </p:txBody>
      </p:sp>
      <p:grpSp>
        <p:nvGrpSpPr>
          <p:cNvPr id="12" name="Group 11"/>
          <p:cNvGrpSpPr/>
          <p:nvPr/>
        </p:nvGrpSpPr>
        <p:grpSpPr>
          <a:xfrm>
            <a:off x="759346" y="2119001"/>
            <a:ext cx="6908998" cy="3038191"/>
            <a:chOff x="759346" y="2119001"/>
            <a:chExt cx="6908998" cy="3038191"/>
          </a:xfrm>
        </p:grpSpPr>
        <p:pic>
          <p:nvPicPr>
            <p:cNvPr id="15365" name="Picture 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4438"/>
            <a:stretch>
              <a:fillRect/>
            </a:stretch>
          </p:blipFill>
          <p:spPr bwMode="auto">
            <a:xfrm>
              <a:off x="759346" y="4797152"/>
              <a:ext cx="3261600" cy="3600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" name="Freeform 10"/>
            <p:cNvSpPr/>
            <p:nvPr/>
          </p:nvSpPr>
          <p:spPr>
            <a:xfrm>
              <a:off x="1710890" y="2119001"/>
              <a:ext cx="5957454" cy="13855"/>
            </a:xfrm>
            <a:custGeom>
              <a:avLst/>
              <a:gdLst>
                <a:gd name="connsiteX0" fmla="*/ 0 w 5957454"/>
                <a:gd name="connsiteY0" fmla="*/ 13855 h 13855"/>
                <a:gd name="connsiteX1" fmla="*/ 5957454 w 5957454"/>
                <a:gd name="connsiteY1" fmla="*/ 0 h 13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57454" h="13855">
                  <a:moveTo>
                    <a:pt x="0" y="13855"/>
                  </a:moveTo>
                  <a:lnTo>
                    <a:pt x="5957454" y="0"/>
                  </a:lnTo>
                </a:path>
              </a:pathLst>
            </a:cu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1705535" y="1525174"/>
            <a:ext cx="6240149" cy="3631946"/>
            <a:chOff x="1953491" y="949038"/>
            <a:chExt cx="6240149" cy="3631946"/>
          </a:xfrm>
        </p:grpSpPr>
        <p:pic>
          <p:nvPicPr>
            <p:cNvPr id="10" name="Picture 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4449"/>
            <a:stretch>
              <a:fillRect/>
            </a:stretch>
          </p:blipFill>
          <p:spPr bwMode="auto">
            <a:xfrm>
              <a:off x="4932040" y="4221016"/>
              <a:ext cx="3261600" cy="3599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4" name="Freeform 13"/>
            <p:cNvSpPr/>
            <p:nvPr/>
          </p:nvSpPr>
          <p:spPr>
            <a:xfrm>
              <a:off x="1953491" y="949038"/>
              <a:ext cx="5943600" cy="630381"/>
            </a:xfrm>
            <a:custGeom>
              <a:avLst/>
              <a:gdLst>
                <a:gd name="connsiteX0" fmla="*/ 0 w 5943600"/>
                <a:gd name="connsiteY0" fmla="*/ 574963 h 630381"/>
                <a:gd name="connsiteX1" fmla="*/ 3588328 w 5943600"/>
                <a:gd name="connsiteY1" fmla="*/ 602672 h 630381"/>
                <a:gd name="connsiteX2" fmla="*/ 3810000 w 5943600"/>
                <a:gd name="connsiteY2" fmla="*/ 602672 h 630381"/>
                <a:gd name="connsiteX3" fmla="*/ 3810000 w 5943600"/>
                <a:gd name="connsiteY3" fmla="*/ 436417 h 630381"/>
                <a:gd name="connsiteX4" fmla="*/ 3906982 w 5943600"/>
                <a:gd name="connsiteY4" fmla="*/ 256308 h 630381"/>
                <a:gd name="connsiteX5" fmla="*/ 4045528 w 5943600"/>
                <a:gd name="connsiteY5" fmla="*/ 76199 h 630381"/>
                <a:gd name="connsiteX6" fmla="*/ 4253346 w 5943600"/>
                <a:gd name="connsiteY6" fmla="*/ 6927 h 630381"/>
                <a:gd name="connsiteX7" fmla="*/ 4461164 w 5943600"/>
                <a:gd name="connsiteY7" fmla="*/ 34636 h 630381"/>
                <a:gd name="connsiteX8" fmla="*/ 4655128 w 5943600"/>
                <a:gd name="connsiteY8" fmla="*/ 173181 h 630381"/>
                <a:gd name="connsiteX9" fmla="*/ 4779819 w 5943600"/>
                <a:gd name="connsiteY9" fmla="*/ 422563 h 630381"/>
                <a:gd name="connsiteX10" fmla="*/ 4821382 w 5943600"/>
                <a:gd name="connsiteY10" fmla="*/ 588817 h 630381"/>
                <a:gd name="connsiteX11" fmla="*/ 5084619 w 5943600"/>
                <a:gd name="connsiteY11" fmla="*/ 561108 h 630381"/>
                <a:gd name="connsiteX12" fmla="*/ 5943600 w 5943600"/>
                <a:gd name="connsiteY12" fmla="*/ 602672 h 630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943600" h="630381">
                  <a:moveTo>
                    <a:pt x="0" y="574963"/>
                  </a:moveTo>
                  <a:lnTo>
                    <a:pt x="3588328" y="602672"/>
                  </a:lnTo>
                  <a:cubicBezTo>
                    <a:pt x="4223328" y="607290"/>
                    <a:pt x="3773055" y="630381"/>
                    <a:pt x="3810000" y="602672"/>
                  </a:cubicBezTo>
                  <a:cubicBezTo>
                    <a:pt x="3846945" y="574963"/>
                    <a:pt x="3793836" y="494144"/>
                    <a:pt x="3810000" y="436417"/>
                  </a:cubicBezTo>
                  <a:cubicBezTo>
                    <a:pt x="3826164" y="378690"/>
                    <a:pt x="3867727" y="316344"/>
                    <a:pt x="3906982" y="256308"/>
                  </a:cubicBezTo>
                  <a:cubicBezTo>
                    <a:pt x="3946237" y="196272"/>
                    <a:pt x="3987801" y="117763"/>
                    <a:pt x="4045528" y="76199"/>
                  </a:cubicBezTo>
                  <a:cubicBezTo>
                    <a:pt x="4103255" y="34636"/>
                    <a:pt x="4184073" y="13854"/>
                    <a:pt x="4253346" y="6927"/>
                  </a:cubicBezTo>
                  <a:cubicBezTo>
                    <a:pt x="4322619" y="0"/>
                    <a:pt x="4394200" y="6927"/>
                    <a:pt x="4461164" y="34636"/>
                  </a:cubicBezTo>
                  <a:cubicBezTo>
                    <a:pt x="4528128" y="62345"/>
                    <a:pt x="4602019" y="108527"/>
                    <a:pt x="4655128" y="173181"/>
                  </a:cubicBezTo>
                  <a:cubicBezTo>
                    <a:pt x="4708237" y="237836"/>
                    <a:pt x="4752110" y="353290"/>
                    <a:pt x="4779819" y="422563"/>
                  </a:cubicBezTo>
                  <a:cubicBezTo>
                    <a:pt x="4807528" y="491836"/>
                    <a:pt x="4770582" y="565726"/>
                    <a:pt x="4821382" y="588817"/>
                  </a:cubicBezTo>
                  <a:cubicBezTo>
                    <a:pt x="4872182" y="611908"/>
                    <a:pt x="4897583" y="558799"/>
                    <a:pt x="5084619" y="561108"/>
                  </a:cubicBezTo>
                  <a:cubicBezTo>
                    <a:pt x="5271655" y="563417"/>
                    <a:pt x="5607627" y="583044"/>
                    <a:pt x="5943600" y="602672"/>
                  </a:cubicBezTo>
                </a:path>
              </a:pathLst>
            </a:cu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62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578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171" y="2492896"/>
            <a:ext cx="7089229" cy="23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305800" cy="434312"/>
          </a:xfrm>
        </p:spPr>
        <p:txBody>
          <a:bodyPr>
            <a:noAutofit/>
          </a:bodyPr>
          <a:lstStyle/>
          <a:p>
            <a:r>
              <a:rPr lang="en-GB" sz="2400" dirty="0"/>
              <a:t>Consider the signal flow graph below and identify the following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115452"/>
            <a:ext cx="41044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sz="2200" dirty="0"/>
              <a:t>There are four loops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827584" y="3369281"/>
            <a:ext cx="2971475" cy="1211695"/>
            <a:chOff x="1115616" y="2145145"/>
            <a:chExt cx="2971475" cy="1211695"/>
          </a:xfrm>
        </p:grpSpPr>
        <p:pic>
          <p:nvPicPr>
            <p:cNvPr id="11" name="Picture 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73692"/>
            <a:stretch>
              <a:fillRect/>
            </a:stretch>
          </p:blipFill>
          <p:spPr bwMode="auto">
            <a:xfrm>
              <a:off x="1115616" y="2996952"/>
              <a:ext cx="1838949" cy="359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5" name="Straight Arrow Connector 14"/>
            <p:cNvCxnSpPr/>
            <p:nvPr/>
          </p:nvCxnSpPr>
          <p:spPr>
            <a:xfrm flipV="1">
              <a:off x="2195736" y="2564904"/>
              <a:ext cx="720080" cy="43204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 25"/>
            <p:cNvSpPr/>
            <p:nvPr/>
          </p:nvSpPr>
          <p:spPr>
            <a:xfrm>
              <a:off x="2842491" y="2145145"/>
              <a:ext cx="1244600" cy="593436"/>
            </a:xfrm>
            <a:custGeom>
              <a:avLst/>
              <a:gdLst>
                <a:gd name="connsiteX0" fmla="*/ 108527 w 1244600"/>
                <a:gd name="connsiteY0" fmla="*/ 43873 h 593436"/>
                <a:gd name="connsiteX1" fmla="*/ 163945 w 1244600"/>
                <a:gd name="connsiteY1" fmla="*/ 16164 h 593436"/>
                <a:gd name="connsiteX2" fmla="*/ 1092200 w 1244600"/>
                <a:gd name="connsiteY2" fmla="*/ 16164 h 593436"/>
                <a:gd name="connsiteX3" fmla="*/ 1078345 w 1244600"/>
                <a:gd name="connsiteY3" fmla="*/ 43873 h 593436"/>
                <a:gd name="connsiteX4" fmla="*/ 1009073 w 1244600"/>
                <a:gd name="connsiteY4" fmla="*/ 279400 h 593436"/>
                <a:gd name="connsiteX5" fmla="*/ 898236 w 1244600"/>
                <a:gd name="connsiteY5" fmla="*/ 445655 h 593436"/>
                <a:gd name="connsiteX6" fmla="*/ 745836 w 1244600"/>
                <a:gd name="connsiteY6" fmla="*/ 542637 h 593436"/>
                <a:gd name="connsiteX7" fmla="*/ 510309 w 1244600"/>
                <a:gd name="connsiteY7" fmla="*/ 584200 h 593436"/>
                <a:gd name="connsiteX8" fmla="*/ 371764 w 1244600"/>
                <a:gd name="connsiteY8" fmla="*/ 487219 h 593436"/>
                <a:gd name="connsiteX9" fmla="*/ 247073 w 1244600"/>
                <a:gd name="connsiteY9" fmla="*/ 417946 h 593436"/>
                <a:gd name="connsiteX10" fmla="*/ 136236 w 1244600"/>
                <a:gd name="connsiteY10" fmla="*/ 182419 h 593436"/>
                <a:gd name="connsiteX11" fmla="*/ 108527 w 1244600"/>
                <a:gd name="connsiteY11" fmla="*/ 43873 h 593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44600" h="593436">
                  <a:moveTo>
                    <a:pt x="108527" y="43873"/>
                  </a:moveTo>
                  <a:cubicBezTo>
                    <a:pt x="113145" y="16164"/>
                    <a:pt x="0" y="20782"/>
                    <a:pt x="163945" y="16164"/>
                  </a:cubicBezTo>
                  <a:cubicBezTo>
                    <a:pt x="327890" y="11546"/>
                    <a:pt x="939800" y="11546"/>
                    <a:pt x="1092200" y="16164"/>
                  </a:cubicBezTo>
                  <a:cubicBezTo>
                    <a:pt x="1244600" y="20782"/>
                    <a:pt x="1092199" y="0"/>
                    <a:pt x="1078345" y="43873"/>
                  </a:cubicBezTo>
                  <a:cubicBezTo>
                    <a:pt x="1064491" y="87746"/>
                    <a:pt x="1039091" y="212436"/>
                    <a:pt x="1009073" y="279400"/>
                  </a:cubicBezTo>
                  <a:cubicBezTo>
                    <a:pt x="979055" y="346364"/>
                    <a:pt x="942109" y="401782"/>
                    <a:pt x="898236" y="445655"/>
                  </a:cubicBezTo>
                  <a:cubicBezTo>
                    <a:pt x="854363" y="489528"/>
                    <a:pt x="810490" y="519546"/>
                    <a:pt x="745836" y="542637"/>
                  </a:cubicBezTo>
                  <a:cubicBezTo>
                    <a:pt x="681182" y="565728"/>
                    <a:pt x="572654" y="593436"/>
                    <a:pt x="510309" y="584200"/>
                  </a:cubicBezTo>
                  <a:cubicBezTo>
                    <a:pt x="447964" y="574964"/>
                    <a:pt x="415637" y="514928"/>
                    <a:pt x="371764" y="487219"/>
                  </a:cubicBezTo>
                  <a:cubicBezTo>
                    <a:pt x="327891" y="459510"/>
                    <a:pt x="286328" y="468746"/>
                    <a:pt x="247073" y="417946"/>
                  </a:cubicBezTo>
                  <a:cubicBezTo>
                    <a:pt x="207818" y="367146"/>
                    <a:pt x="161636" y="247073"/>
                    <a:pt x="136236" y="182419"/>
                  </a:cubicBezTo>
                  <a:cubicBezTo>
                    <a:pt x="110836" y="117765"/>
                    <a:pt x="103909" y="71582"/>
                    <a:pt x="108527" y="43873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3275856" y="3348500"/>
            <a:ext cx="2308130" cy="1592668"/>
            <a:chOff x="3563888" y="2124364"/>
            <a:chExt cx="2308130" cy="1592668"/>
          </a:xfrm>
        </p:grpSpPr>
        <p:pic>
          <p:nvPicPr>
            <p:cNvPr id="15364" name="Picture 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308" r="21686" b="52637"/>
            <a:stretch>
              <a:fillRect/>
            </a:stretch>
          </p:blipFill>
          <p:spPr bwMode="auto">
            <a:xfrm>
              <a:off x="3563888" y="3429000"/>
              <a:ext cx="1440160" cy="2880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23" name="Straight Arrow Connector 22"/>
            <p:cNvCxnSpPr/>
            <p:nvPr/>
          </p:nvCxnSpPr>
          <p:spPr>
            <a:xfrm flipV="1">
              <a:off x="4427984" y="2564904"/>
              <a:ext cx="720080" cy="7920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Freeform 27"/>
            <p:cNvSpPr/>
            <p:nvPr/>
          </p:nvSpPr>
          <p:spPr>
            <a:xfrm>
              <a:off x="4838699" y="2124364"/>
              <a:ext cx="1033319" cy="595745"/>
            </a:xfrm>
            <a:custGeom>
              <a:avLst/>
              <a:gdLst>
                <a:gd name="connsiteX0" fmla="*/ 10392 w 1033319"/>
                <a:gd name="connsiteY0" fmla="*/ 9236 h 595745"/>
                <a:gd name="connsiteX1" fmla="*/ 342901 w 1033319"/>
                <a:gd name="connsiteY1" fmla="*/ 50800 h 595745"/>
                <a:gd name="connsiteX2" fmla="*/ 703119 w 1033319"/>
                <a:gd name="connsiteY2" fmla="*/ 36945 h 595745"/>
                <a:gd name="connsiteX3" fmla="*/ 994065 w 1033319"/>
                <a:gd name="connsiteY3" fmla="*/ 23091 h 595745"/>
                <a:gd name="connsiteX4" fmla="*/ 938646 w 1033319"/>
                <a:gd name="connsiteY4" fmla="*/ 175491 h 595745"/>
                <a:gd name="connsiteX5" fmla="*/ 883228 w 1033319"/>
                <a:gd name="connsiteY5" fmla="*/ 383309 h 595745"/>
                <a:gd name="connsiteX6" fmla="*/ 703119 w 1033319"/>
                <a:gd name="connsiteY6" fmla="*/ 563418 h 595745"/>
                <a:gd name="connsiteX7" fmla="*/ 564574 w 1033319"/>
                <a:gd name="connsiteY7" fmla="*/ 577272 h 595745"/>
                <a:gd name="connsiteX8" fmla="*/ 259774 w 1033319"/>
                <a:gd name="connsiteY8" fmla="*/ 549563 h 595745"/>
                <a:gd name="connsiteX9" fmla="*/ 121228 w 1033319"/>
                <a:gd name="connsiteY9" fmla="*/ 383309 h 595745"/>
                <a:gd name="connsiteX10" fmla="*/ 24246 w 1033319"/>
                <a:gd name="connsiteY10" fmla="*/ 189345 h 595745"/>
                <a:gd name="connsiteX11" fmla="*/ 10392 w 1033319"/>
                <a:gd name="connsiteY11" fmla="*/ 9236 h 595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33319" h="595745">
                  <a:moveTo>
                    <a:pt x="10392" y="9236"/>
                  </a:moveTo>
                  <a:cubicBezTo>
                    <a:pt x="118919" y="27709"/>
                    <a:pt x="227447" y="46182"/>
                    <a:pt x="342901" y="50800"/>
                  </a:cubicBezTo>
                  <a:lnTo>
                    <a:pt x="703119" y="36945"/>
                  </a:lnTo>
                  <a:cubicBezTo>
                    <a:pt x="811646" y="32327"/>
                    <a:pt x="954811" y="0"/>
                    <a:pt x="994065" y="23091"/>
                  </a:cubicBezTo>
                  <a:cubicBezTo>
                    <a:pt x="1033319" y="46182"/>
                    <a:pt x="957119" y="115455"/>
                    <a:pt x="938646" y="175491"/>
                  </a:cubicBezTo>
                  <a:cubicBezTo>
                    <a:pt x="920173" y="235527"/>
                    <a:pt x="922482" y="318655"/>
                    <a:pt x="883228" y="383309"/>
                  </a:cubicBezTo>
                  <a:cubicBezTo>
                    <a:pt x="843974" y="447963"/>
                    <a:pt x="756228" y="531091"/>
                    <a:pt x="703119" y="563418"/>
                  </a:cubicBezTo>
                  <a:cubicBezTo>
                    <a:pt x="650010" y="595745"/>
                    <a:pt x="638465" y="579581"/>
                    <a:pt x="564574" y="577272"/>
                  </a:cubicBezTo>
                  <a:cubicBezTo>
                    <a:pt x="490683" y="574963"/>
                    <a:pt x="333665" y="581890"/>
                    <a:pt x="259774" y="549563"/>
                  </a:cubicBezTo>
                  <a:cubicBezTo>
                    <a:pt x="185883" y="517236"/>
                    <a:pt x="160483" y="443345"/>
                    <a:pt x="121228" y="383309"/>
                  </a:cubicBezTo>
                  <a:cubicBezTo>
                    <a:pt x="81973" y="323273"/>
                    <a:pt x="45028" y="254000"/>
                    <a:pt x="24246" y="189345"/>
                  </a:cubicBezTo>
                  <a:cubicBezTo>
                    <a:pt x="3464" y="124690"/>
                    <a:pt x="0" y="60035"/>
                    <a:pt x="10392" y="9236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4410968" y="3286154"/>
            <a:ext cx="3512149" cy="2231078"/>
            <a:chOff x="4699000" y="2062018"/>
            <a:chExt cx="3512149" cy="2231078"/>
          </a:xfrm>
        </p:grpSpPr>
        <p:pic>
          <p:nvPicPr>
            <p:cNvPr id="12" name="Picture 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2626" b="21055"/>
            <a:stretch>
              <a:fillRect/>
            </a:stretch>
          </p:blipFill>
          <p:spPr bwMode="auto">
            <a:xfrm>
              <a:off x="6372200" y="3933056"/>
              <a:ext cx="1838949" cy="3600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25" name="Straight Arrow Connector 24"/>
            <p:cNvCxnSpPr/>
            <p:nvPr/>
          </p:nvCxnSpPr>
          <p:spPr>
            <a:xfrm flipH="1" flipV="1">
              <a:off x="6372200" y="2852936"/>
              <a:ext cx="1440160" cy="86409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4699000" y="2062018"/>
              <a:ext cx="2272146" cy="1226127"/>
            </a:xfrm>
            <a:custGeom>
              <a:avLst/>
              <a:gdLst>
                <a:gd name="connsiteX0" fmla="*/ 150091 w 2272146"/>
                <a:gd name="connsiteY0" fmla="*/ 71582 h 1226127"/>
                <a:gd name="connsiteX1" fmla="*/ 1092200 w 2272146"/>
                <a:gd name="connsiteY1" fmla="*/ 85437 h 1226127"/>
                <a:gd name="connsiteX2" fmla="*/ 2103582 w 2272146"/>
                <a:gd name="connsiteY2" fmla="*/ 99291 h 1226127"/>
                <a:gd name="connsiteX3" fmla="*/ 2103582 w 2272146"/>
                <a:gd name="connsiteY3" fmla="*/ 182418 h 1226127"/>
                <a:gd name="connsiteX4" fmla="*/ 2048164 w 2272146"/>
                <a:gd name="connsiteY4" fmla="*/ 404091 h 1226127"/>
                <a:gd name="connsiteX5" fmla="*/ 1923473 w 2272146"/>
                <a:gd name="connsiteY5" fmla="*/ 708891 h 1226127"/>
                <a:gd name="connsiteX6" fmla="*/ 1729509 w 2272146"/>
                <a:gd name="connsiteY6" fmla="*/ 958273 h 1226127"/>
                <a:gd name="connsiteX7" fmla="*/ 1480127 w 2272146"/>
                <a:gd name="connsiteY7" fmla="*/ 1124527 h 1226127"/>
                <a:gd name="connsiteX8" fmla="*/ 1161473 w 2272146"/>
                <a:gd name="connsiteY8" fmla="*/ 1221509 h 1226127"/>
                <a:gd name="connsiteX9" fmla="*/ 759691 w 2272146"/>
                <a:gd name="connsiteY9" fmla="*/ 1096818 h 1226127"/>
                <a:gd name="connsiteX10" fmla="*/ 496455 w 2272146"/>
                <a:gd name="connsiteY10" fmla="*/ 916709 h 1226127"/>
                <a:gd name="connsiteX11" fmla="*/ 191655 w 2272146"/>
                <a:gd name="connsiteY11" fmla="*/ 514927 h 1226127"/>
                <a:gd name="connsiteX12" fmla="*/ 150091 w 2272146"/>
                <a:gd name="connsiteY12" fmla="*/ 71582 h 1226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72146" h="1226127">
                  <a:moveTo>
                    <a:pt x="150091" y="71582"/>
                  </a:moveTo>
                  <a:cubicBezTo>
                    <a:pt x="300182" y="0"/>
                    <a:pt x="1092200" y="85437"/>
                    <a:pt x="1092200" y="85437"/>
                  </a:cubicBezTo>
                  <a:cubicBezTo>
                    <a:pt x="1417782" y="90055"/>
                    <a:pt x="1935018" y="83128"/>
                    <a:pt x="2103582" y="99291"/>
                  </a:cubicBezTo>
                  <a:cubicBezTo>
                    <a:pt x="2272146" y="115454"/>
                    <a:pt x="2112818" y="131618"/>
                    <a:pt x="2103582" y="182418"/>
                  </a:cubicBezTo>
                  <a:cubicBezTo>
                    <a:pt x="2094346" y="233218"/>
                    <a:pt x="2078182" y="316346"/>
                    <a:pt x="2048164" y="404091"/>
                  </a:cubicBezTo>
                  <a:cubicBezTo>
                    <a:pt x="2018146" y="491836"/>
                    <a:pt x="1976582" y="616527"/>
                    <a:pt x="1923473" y="708891"/>
                  </a:cubicBezTo>
                  <a:cubicBezTo>
                    <a:pt x="1870364" y="801255"/>
                    <a:pt x="1803400" y="889000"/>
                    <a:pt x="1729509" y="958273"/>
                  </a:cubicBezTo>
                  <a:cubicBezTo>
                    <a:pt x="1655618" y="1027546"/>
                    <a:pt x="1574800" y="1080654"/>
                    <a:pt x="1480127" y="1124527"/>
                  </a:cubicBezTo>
                  <a:cubicBezTo>
                    <a:pt x="1385454" y="1168400"/>
                    <a:pt x="1281545" y="1226127"/>
                    <a:pt x="1161473" y="1221509"/>
                  </a:cubicBezTo>
                  <a:cubicBezTo>
                    <a:pt x="1041401" y="1216891"/>
                    <a:pt x="870527" y="1147618"/>
                    <a:pt x="759691" y="1096818"/>
                  </a:cubicBezTo>
                  <a:cubicBezTo>
                    <a:pt x="648855" y="1046018"/>
                    <a:pt x="591128" y="1013691"/>
                    <a:pt x="496455" y="916709"/>
                  </a:cubicBezTo>
                  <a:cubicBezTo>
                    <a:pt x="401782" y="819727"/>
                    <a:pt x="247073" y="660400"/>
                    <a:pt x="191655" y="514927"/>
                  </a:cubicBezTo>
                  <a:cubicBezTo>
                    <a:pt x="136237" y="369454"/>
                    <a:pt x="0" y="143164"/>
                    <a:pt x="150091" y="71582"/>
                  </a:cubicBezTo>
                  <a:close/>
                </a:path>
              </a:pathLst>
            </a:cu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4424822" y="2204864"/>
            <a:ext cx="4218375" cy="2300490"/>
            <a:chOff x="4712854" y="980728"/>
            <a:chExt cx="4218375" cy="2300490"/>
          </a:xfrm>
        </p:grpSpPr>
        <p:pic>
          <p:nvPicPr>
            <p:cNvPr id="13" name="Picture 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945"/>
            <a:stretch>
              <a:fillRect/>
            </a:stretch>
          </p:blipFill>
          <p:spPr bwMode="auto">
            <a:xfrm>
              <a:off x="7092280" y="980728"/>
              <a:ext cx="1838949" cy="2880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8" name="Straight Arrow Connector 17"/>
            <p:cNvCxnSpPr/>
            <p:nvPr/>
          </p:nvCxnSpPr>
          <p:spPr>
            <a:xfrm flipH="1">
              <a:off x="6660232" y="1340768"/>
              <a:ext cx="576064" cy="28803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Freeform 31"/>
            <p:cNvSpPr/>
            <p:nvPr/>
          </p:nvSpPr>
          <p:spPr>
            <a:xfrm>
              <a:off x="4712854" y="1579418"/>
              <a:ext cx="2110510" cy="1701800"/>
            </a:xfrm>
            <a:custGeom>
              <a:avLst/>
              <a:gdLst>
                <a:gd name="connsiteX0" fmla="*/ 150091 w 2110510"/>
                <a:gd name="connsiteY0" fmla="*/ 554182 h 1701800"/>
                <a:gd name="connsiteX1" fmla="*/ 1092201 w 2110510"/>
                <a:gd name="connsiteY1" fmla="*/ 581891 h 1701800"/>
                <a:gd name="connsiteX2" fmla="*/ 1106055 w 2110510"/>
                <a:gd name="connsiteY2" fmla="*/ 471055 h 1701800"/>
                <a:gd name="connsiteX3" fmla="*/ 1147619 w 2110510"/>
                <a:gd name="connsiteY3" fmla="*/ 249382 h 1701800"/>
                <a:gd name="connsiteX4" fmla="*/ 1397001 w 2110510"/>
                <a:gd name="connsiteY4" fmla="*/ 69273 h 1701800"/>
                <a:gd name="connsiteX5" fmla="*/ 1577110 w 2110510"/>
                <a:gd name="connsiteY5" fmla="*/ 0 h 1701800"/>
                <a:gd name="connsiteX6" fmla="*/ 1798782 w 2110510"/>
                <a:gd name="connsiteY6" fmla="*/ 69273 h 1701800"/>
                <a:gd name="connsiteX7" fmla="*/ 1965037 w 2110510"/>
                <a:gd name="connsiteY7" fmla="*/ 207818 h 1701800"/>
                <a:gd name="connsiteX8" fmla="*/ 2089728 w 2110510"/>
                <a:gd name="connsiteY8" fmla="*/ 484909 h 1701800"/>
                <a:gd name="connsiteX9" fmla="*/ 2089728 w 2110510"/>
                <a:gd name="connsiteY9" fmla="*/ 595746 h 1701800"/>
                <a:gd name="connsiteX10" fmla="*/ 2034310 w 2110510"/>
                <a:gd name="connsiteY10" fmla="*/ 900546 h 1701800"/>
                <a:gd name="connsiteX11" fmla="*/ 1895764 w 2110510"/>
                <a:gd name="connsiteY11" fmla="*/ 1246909 h 1701800"/>
                <a:gd name="connsiteX12" fmla="*/ 1632528 w 2110510"/>
                <a:gd name="connsiteY12" fmla="*/ 1510146 h 1701800"/>
                <a:gd name="connsiteX13" fmla="*/ 1327728 w 2110510"/>
                <a:gd name="connsiteY13" fmla="*/ 1676400 h 1701800"/>
                <a:gd name="connsiteX14" fmla="*/ 884382 w 2110510"/>
                <a:gd name="connsiteY14" fmla="*/ 1662546 h 1701800"/>
                <a:gd name="connsiteX15" fmla="*/ 579582 w 2110510"/>
                <a:gd name="connsiteY15" fmla="*/ 1468582 h 1701800"/>
                <a:gd name="connsiteX16" fmla="*/ 371764 w 2110510"/>
                <a:gd name="connsiteY16" fmla="*/ 1274618 h 1701800"/>
                <a:gd name="connsiteX17" fmla="*/ 191655 w 2110510"/>
                <a:gd name="connsiteY17" fmla="*/ 914400 h 1701800"/>
                <a:gd name="connsiteX18" fmla="*/ 150091 w 2110510"/>
                <a:gd name="connsiteY18" fmla="*/ 554182 h 1701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110510" h="1701800">
                  <a:moveTo>
                    <a:pt x="150091" y="554182"/>
                  </a:moveTo>
                  <a:cubicBezTo>
                    <a:pt x="300182" y="498764"/>
                    <a:pt x="932874" y="595746"/>
                    <a:pt x="1092201" y="581891"/>
                  </a:cubicBezTo>
                  <a:cubicBezTo>
                    <a:pt x="1251528" y="568037"/>
                    <a:pt x="1096819" y="526473"/>
                    <a:pt x="1106055" y="471055"/>
                  </a:cubicBezTo>
                  <a:cubicBezTo>
                    <a:pt x="1115291" y="415637"/>
                    <a:pt x="1099128" y="316346"/>
                    <a:pt x="1147619" y="249382"/>
                  </a:cubicBezTo>
                  <a:cubicBezTo>
                    <a:pt x="1196110" y="182418"/>
                    <a:pt x="1325419" y="110837"/>
                    <a:pt x="1397001" y="69273"/>
                  </a:cubicBezTo>
                  <a:cubicBezTo>
                    <a:pt x="1468583" y="27709"/>
                    <a:pt x="1510147" y="0"/>
                    <a:pt x="1577110" y="0"/>
                  </a:cubicBezTo>
                  <a:cubicBezTo>
                    <a:pt x="1644073" y="0"/>
                    <a:pt x="1734128" y="34637"/>
                    <a:pt x="1798782" y="69273"/>
                  </a:cubicBezTo>
                  <a:cubicBezTo>
                    <a:pt x="1863436" y="103909"/>
                    <a:pt x="1916546" y="138545"/>
                    <a:pt x="1965037" y="207818"/>
                  </a:cubicBezTo>
                  <a:cubicBezTo>
                    <a:pt x="2013528" y="277091"/>
                    <a:pt x="2068946" y="420254"/>
                    <a:pt x="2089728" y="484909"/>
                  </a:cubicBezTo>
                  <a:cubicBezTo>
                    <a:pt x="2110510" y="549564"/>
                    <a:pt x="2098964" y="526473"/>
                    <a:pt x="2089728" y="595746"/>
                  </a:cubicBezTo>
                  <a:cubicBezTo>
                    <a:pt x="2080492" y="665019"/>
                    <a:pt x="2066637" y="792019"/>
                    <a:pt x="2034310" y="900546"/>
                  </a:cubicBezTo>
                  <a:cubicBezTo>
                    <a:pt x="2001983" y="1009073"/>
                    <a:pt x="1962728" y="1145309"/>
                    <a:pt x="1895764" y="1246909"/>
                  </a:cubicBezTo>
                  <a:cubicBezTo>
                    <a:pt x="1828800" y="1348509"/>
                    <a:pt x="1727201" y="1438564"/>
                    <a:pt x="1632528" y="1510146"/>
                  </a:cubicBezTo>
                  <a:cubicBezTo>
                    <a:pt x="1537855" y="1581728"/>
                    <a:pt x="1452419" y="1651000"/>
                    <a:pt x="1327728" y="1676400"/>
                  </a:cubicBezTo>
                  <a:cubicBezTo>
                    <a:pt x="1203037" y="1701800"/>
                    <a:pt x="1009073" y="1697182"/>
                    <a:pt x="884382" y="1662546"/>
                  </a:cubicBezTo>
                  <a:cubicBezTo>
                    <a:pt x="759691" y="1627910"/>
                    <a:pt x="665018" y="1533237"/>
                    <a:pt x="579582" y="1468582"/>
                  </a:cubicBezTo>
                  <a:cubicBezTo>
                    <a:pt x="494146" y="1403927"/>
                    <a:pt x="436419" y="1366982"/>
                    <a:pt x="371764" y="1274618"/>
                  </a:cubicBezTo>
                  <a:cubicBezTo>
                    <a:pt x="307109" y="1182254"/>
                    <a:pt x="233219" y="1034473"/>
                    <a:pt x="191655" y="914400"/>
                  </a:cubicBezTo>
                  <a:cubicBezTo>
                    <a:pt x="150091" y="794327"/>
                    <a:pt x="0" y="609600"/>
                    <a:pt x="150091" y="554182"/>
                  </a:cubicBezTo>
                  <a:close/>
                </a:path>
              </a:pathLst>
            </a:custGeom>
            <a:noFill/>
            <a:ln w="38100">
              <a:solidFill>
                <a:srgbClr val="BB078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63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1429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944984"/>
            <a:ext cx="7089229" cy="23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305800" cy="434312"/>
          </a:xfrm>
        </p:spPr>
        <p:txBody>
          <a:bodyPr>
            <a:noAutofit/>
          </a:bodyPr>
          <a:lstStyle/>
          <a:p>
            <a:r>
              <a:rPr lang="en-GB" sz="2400" dirty="0"/>
              <a:t>Consider the signal flow graph below and identify the following</a:t>
            </a:r>
          </a:p>
        </p:txBody>
      </p:sp>
      <p:pic>
        <p:nvPicPr>
          <p:cNvPr id="15367" name="Picture 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437112"/>
            <a:ext cx="3066894" cy="100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23528" y="3573016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dirty="0"/>
              <a:t>Nontouching loop gains;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64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566386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305800" cy="924712"/>
          </a:xfrm>
        </p:spPr>
        <p:txBody>
          <a:bodyPr>
            <a:normAutofit fontScale="90000"/>
          </a:bodyPr>
          <a:lstStyle/>
          <a:p>
            <a:r>
              <a:rPr lang="en-GB" sz="2800" dirty="0"/>
              <a:t>Consider the signal flow graph below and identify the following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412776"/>
            <a:ext cx="8251115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83568" y="4221088"/>
            <a:ext cx="55446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R"/>
            </a:pPr>
            <a:r>
              <a:rPr lang="en-GB" dirty="0"/>
              <a:t>Input node.</a:t>
            </a:r>
          </a:p>
          <a:p>
            <a:pPr marL="342900" indent="-342900">
              <a:buAutoNum type="alphaLcParenR"/>
            </a:pPr>
            <a:r>
              <a:rPr lang="en-GB" dirty="0"/>
              <a:t>Output node.</a:t>
            </a:r>
          </a:p>
          <a:p>
            <a:pPr marL="342900" indent="-342900">
              <a:buAutoNum type="alphaLcParenR"/>
            </a:pPr>
            <a:r>
              <a:rPr lang="en-GB" dirty="0"/>
              <a:t>Forward paths.</a:t>
            </a:r>
          </a:p>
          <a:p>
            <a:pPr marL="342900" indent="-342900">
              <a:buAutoNum type="alphaLcParenR"/>
            </a:pPr>
            <a:r>
              <a:rPr lang="en-GB" dirty="0"/>
              <a:t>Feedback paths.</a:t>
            </a:r>
          </a:p>
          <a:p>
            <a:pPr marL="342900" indent="-342900">
              <a:buAutoNum type="alphaLcParenR"/>
            </a:pPr>
            <a:r>
              <a:rPr lang="en-GB" dirty="0"/>
              <a:t>Self loop.</a:t>
            </a:r>
          </a:p>
          <a:p>
            <a:pPr marL="342900" indent="-342900">
              <a:buAutoNum type="alphaLcParenR"/>
            </a:pPr>
            <a:r>
              <a:rPr lang="en-GB" dirty="0"/>
              <a:t>Determine the loop gains of the feedback loops.</a:t>
            </a:r>
          </a:p>
          <a:p>
            <a:pPr marL="342900" indent="-342900">
              <a:buAutoNum type="alphaLcParenR"/>
            </a:pPr>
            <a:r>
              <a:rPr lang="en-GB" dirty="0"/>
              <a:t>Determine the path gains of the forward paths.</a:t>
            </a:r>
          </a:p>
          <a:p>
            <a:pPr marL="342900" indent="-342900">
              <a:buAutoNum type="alphaLcParenR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65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310365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305800" cy="924712"/>
          </a:xfrm>
        </p:spPr>
        <p:txBody>
          <a:bodyPr>
            <a:normAutofit/>
          </a:bodyPr>
          <a:lstStyle/>
          <a:p>
            <a:r>
              <a:rPr lang="en-GB" sz="2800" dirty="0"/>
              <a:t>Input and output Nodes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412776"/>
            <a:ext cx="8251115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83568" y="4221088"/>
            <a:ext cx="55446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R"/>
            </a:pPr>
            <a:r>
              <a:rPr lang="en-GB" dirty="0"/>
              <a:t>Input node</a:t>
            </a:r>
          </a:p>
          <a:p>
            <a:pPr marL="342900" indent="-342900">
              <a:buAutoNum type="alphaLcParenR"/>
            </a:pPr>
            <a:endParaRPr lang="en-GB" dirty="0"/>
          </a:p>
          <a:p>
            <a:pPr marL="342900" indent="-342900">
              <a:buAutoNum type="alphaLcParenR"/>
            </a:pPr>
            <a:r>
              <a:rPr lang="en-GB" dirty="0"/>
              <a:t>Output node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6" t="-2666" r="85485" b="92045"/>
          <a:stretch>
            <a:fillRect/>
          </a:stretch>
        </p:blipFill>
        <p:spPr bwMode="auto">
          <a:xfrm>
            <a:off x="2278866" y="4176790"/>
            <a:ext cx="743104" cy="43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6" t="6183" r="85485" b="83195"/>
          <a:stretch>
            <a:fillRect/>
          </a:stretch>
        </p:blipFill>
        <p:spPr bwMode="auto">
          <a:xfrm>
            <a:off x="2345218" y="4711289"/>
            <a:ext cx="743104" cy="43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66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021861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305800" cy="924712"/>
          </a:xfrm>
        </p:spPr>
        <p:txBody>
          <a:bodyPr>
            <a:normAutofit/>
          </a:bodyPr>
          <a:lstStyle/>
          <a:p>
            <a:r>
              <a:rPr lang="en-GB" sz="2800" dirty="0"/>
              <a:t>(c) Forward Paths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124744"/>
            <a:ext cx="8251115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" name="Group 9"/>
          <p:cNvGrpSpPr/>
          <p:nvPr/>
        </p:nvGrpSpPr>
        <p:grpSpPr>
          <a:xfrm>
            <a:off x="683568" y="2204864"/>
            <a:ext cx="7704856" cy="2376264"/>
            <a:chOff x="683568" y="2204864"/>
            <a:chExt cx="7704856" cy="2376264"/>
          </a:xfrm>
        </p:grpSpPr>
        <p:pic>
          <p:nvPicPr>
            <p:cNvPr id="5" name="Picture 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60" t="16805" r="33936" b="74344"/>
            <a:stretch>
              <a:fillRect/>
            </a:stretch>
          </p:blipFill>
          <p:spPr bwMode="auto">
            <a:xfrm>
              <a:off x="2411760" y="4221088"/>
              <a:ext cx="5112568" cy="3600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9" name="Straight Arrow Connector 8"/>
            <p:cNvCxnSpPr/>
            <p:nvPr/>
          </p:nvCxnSpPr>
          <p:spPr>
            <a:xfrm>
              <a:off x="683568" y="2204864"/>
              <a:ext cx="770485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683568" y="2105891"/>
            <a:ext cx="7615305" cy="3267325"/>
            <a:chOff x="683568" y="2105891"/>
            <a:chExt cx="7615305" cy="3267325"/>
          </a:xfrm>
        </p:grpSpPr>
        <p:pic>
          <p:nvPicPr>
            <p:cNvPr id="6" name="Picture 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60" t="25656" r="33936" b="67264"/>
            <a:stretch>
              <a:fillRect/>
            </a:stretch>
          </p:blipFill>
          <p:spPr bwMode="auto">
            <a:xfrm>
              <a:off x="3131840" y="5085184"/>
              <a:ext cx="5112568" cy="2880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14" name="Group 13"/>
            <p:cNvGrpSpPr/>
            <p:nvPr/>
          </p:nvGrpSpPr>
          <p:grpSpPr>
            <a:xfrm>
              <a:off x="683568" y="2105891"/>
              <a:ext cx="7615305" cy="1745672"/>
              <a:chOff x="683568" y="2105891"/>
              <a:chExt cx="7615305" cy="1745672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683568" y="2204864"/>
                <a:ext cx="1080120" cy="0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Freeform 12"/>
              <p:cNvSpPr/>
              <p:nvPr/>
            </p:nvSpPr>
            <p:spPr>
              <a:xfrm>
                <a:off x="1773382" y="2105891"/>
                <a:ext cx="6525491" cy="1745672"/>
              </a:xfrm>
              <a:custGeom>
                <a:avLst/>
                <a:gdLst>
                  <a:gd name="connsiteX0" fmla="*/ 0 w 6525491"/>
                  <a:gd name="connsiteY0" fmla="*/ 110836 h 1745672"/>
                  <a:gd name="connsiteX1" fmla="*/ 332509 w 6525491"/>
                  <a:gd name="connsiteY1" fmla="*/ 706582 h 1745672"/>
                  <a:gd name="connsiteX2" fmla="*/ 1676400 w 6525491"/>
                  <a:gd name="connsiteY2" fmla="*/ 1510145 h 1745672"/>
                  <a:gd name="connsiteX3" fmla="*/ 3366654 w 6525491"/>
                  <a:gd name="connsiteY3" fmla="*/ 1634836 h 1745672"/>
                  <a:gd name="connsiteX4" fmla="*/ 5043054 w 6525491"/>
                  <a:gd name="connsiteY4" fmla="*/ 845127 h 1745672"/>
                  <a:gd name="connsiteX5" fmla="*/ 5527963 w 6525491"/>
                  <a:gd name="connsiteY5" fmla="*/ 124691 h 1745672"/>
                  <a:gd name="connsiteX6" fmla="*/ 5680363 w 6525491"/>
                  <a:gd name="connsiteY6" fmla="*/ 96982 h 1745672"/>
                  <a:gd name="connsiteX7" fmla="*/ 6525491 w 6525491"/>
                  <a:gd name="connsiteY7" fmla="*/ 124691 h 1745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525491" h="1745672">
                    <a:moveTo>
                      <a:pt x="0" y="110836"/>
                    </a:moveTo>
                    <a:cubicBezTo>
                      <a:pt x="26554" y="292100"/>
                      <a:pt x="53109" y="473364"/>
                      <a:pt x="332509" y="706582"/>
                    </a:cubicBezTo>
                    <a:cubicBezTo>
                      <a:pt x="611909" y="939800"/>
                      <a:pt x="1170709" y="1355436"/>
                      <a:pt x="1676400" y="1510145"/>
                    </a:cubicBezTo>
                    <a:cubicBezTo>
                      <a:pt x="2182091" y="1664854"/>
                      <a:pt x="2805545" y="1745672"/>
                      <a:pt x="3366654" y="1634836"/>
                    </a:cubicBezTo>
                    <a:cubicBezTo>
                      <a:pt x="3927763" y="1524000"/>
                      <a:pt x="4682836" y="1096818"/>
                      <a:pt x="5043054" y="845127"/>
                    </a:cubicBezTo>
                    <a:cubicBezTo>
                      <a:pt x="5403272" y="593436"/>
                      <a:pt x="5421745" y="249382"/>
                      <a:pt x="5527963" y="124691"/>
                    </a:cubicBezTo>
                    <a:cubicBezTo>
                      <a:pt x="5634181" y="0"/>
                      <a:pt x="5514108" y="96982"/>
                      <a:pt x="5680363" y="96982"/>
                    </a:cubicBezTo>
                    <a:cubicBezTo>
                      <a:pt x="5846618" y="96982"/>
                      <a:pt x="6186054" y="110836"/>
                      <a:pt x="6525491" y="124691"/>
                    </a:cubicBezTo>
                  </a:path>
                </a:pathLst>
              </a:cu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20" name="Group 19"/>
          <p:cNvGrpSpPr/>
          <p:nvPr/>
        </p:nvGrpSpPr>
        <p:grpSpPr>
          <a:xfrm>
            <a:off x="683568" y="1413164"/>
            <a:ext cx="7656868" cy="4752140"/>
            <a:chOff x="683568" y="1413164"/>
            <a:chExt cx="7656868" cy="4752140"/>
          </a:xfrm>
        </p:grpSpPr>
        <p:pic>
          <p:nvPicPr>
            <p:cNvPr id="7" name="Picture 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60" t="32736" r="33936" b="58413"/>
            <a:stretch>
              <a:fillRect/>
            </a:stretch>
          </p:blipFill>
          <p:spPr bwMode="auto">
            <a:xfrm>
              <a:off x="2483768" y="5805264"/>
              <a:ext cx="5112568" cy="3600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19" name="Group 18"/>
            <p:cNvGrpSpPr/>
            <p:nvPr/>
          </p:nvGrpSpPr>
          <p:grpSpPr>
            <a:xfrm>
              <a:off x="683568" y="1413164"/>
              <a:ext cx="7656868" cy="824345"/>
              <a:chOff x="683568" y="1413164"/>
              <a:chExt cx="7656868" cy="824345"/>
            </a:xfrm>
          </p:grpSpPr>
          <p:cxnSp>
            <p:nvCxnSpPr>
              <p:cNvPr id="17" name="Straight Connector 16"/>
              <p:cNvCxnSpPr>
                <a:endCxn id="13" idx="0"/>
              </p:cNvCxnSpPr>
              <p:nvPr/>
            </p:nvCxnSpPr>
            <p:spPr>
              <a:xfrm>
                <a:off x="683568" y="2204864"/>
                <a:ext cx="1089814" cy="11863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" name="Freeform 17"/>
              <p:cNvSpPr/>
              <p:nvPr/>
            </p:nvSpPr>
            <p:spPr>
              <a:xfrm>
                <a:off x="1745673" y="1413164"/>
                <a:ext cx="6594763" cy="824345"/>
              </a:xfrm>
              <a:custGeom>
                <a:avLst/>
                <a:gdLst>
                  <a:gd name="connsiteX0" fmla="*/ 0 w 6594763"/>
                  <a:gd name="connsiteY0" fmla="*/ 789709 h 824345"/>
                  <a:gd name="connsiteX1" fmla="*/ 207818 w 6594763"/>
                  <a:gd name="connsiteY1" fmla="*/ 374072 h 824345"/>
                  <a:gd name="connsiteX2" fmla="*/ 872836 w 6594763"/>
                  <a:gd name="connsiteY2" fmla="*/ 41563 h 824345"/>
                  <a:gd name="connsiteX3" fmla="*/ 1593272 w 6594763"/>
                  <a:gd name="connsiteY3" fmla="*/ 124691 h 824345"/>
                  <a:gd name="connsiteX4" fmla="*/ 2161309 w 6594763"/>
                  <a:gd name="connsiteY4" fmla="*/ 484909 h 824345"/>
                  <a:gd name="connsiteX5" fmla="*/ 2244436 w 6594763"/>
                  <a:gd name="connsiteY5" fmla="*/ 775854 h 824345"/>
                  <a:gd name="connsiteX6" fmla="*/ 2951018 w 6594763"/>
                  <a:gd name="connsiteY6" fmla="*/ 775854 h 824345"/>
                  <a:gd name="connsiteX7" fmla="*/ 6594763 w 6594763"/>
                  <a:gd name="connsiteY7" fmla="*/ 789709 h 824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594763" h="824345">
                    <a:moveTo>
                      <a:pt x="0" y="789709"/>
                    </a:moveTo>
                    <a:cubicBezTo>
                      <a:pt x="31172" y="644236"/>
                      <a:pt x="62345" y="498763"/>
                      <a:pt x="207818" y="374072"/>
                    </a:cubicBezTo>
                    <a:cubicBezTo>
                      <a:pt x="353291" y="249381"/>
                      <a:pt x="641927" y="83126"/>
                      <a:pt x="872836" y="41563"/>
                    </a:cubicBezTo>
                    <a:cubicBezTo>
                      <a:pt x="1103745" y="0"/>
                      <a:pt x="1378526" y="50800"/>
                      <a:pt x="1593272" y="124691"/>
                    </a:cubicBezTo>
                    <a:cubicBezTo>
                      <a:pt x="1808018" y="198582"/>
                      <a:pt x="2052782" y="376382"/>
                      <a:pt x="2161309" y="484909"/>
                    </a:cubicBezTo>
                    <a:cubicBezTo>
                      <a:pt x="2269836" y="593436"/>
                      <a:pt x="2112818" y="727363"/>
                      <a:pt x="2244436" y="775854"/>
                    </a:cubicBezTo>
                    <a:cubicBezTo>
                      <a:pt x="2376054" y="824345"/>
                      <a:pt x="2951018" y="775854"/>
                      <a:pt x="2951018" y="775854"/>
                    </a:cubicBezTo>
                    <a:lnTo>
                      <a:pt x="6594763" y="789709"/>
                    </a:lnTo>
                  </a:path>
                </a:pathLst>
              </a:cu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67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4425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305800" cy="708688"/>
          </a:xfrm>
        </p:spPr>
        <p:txBody>
          <a:bodyPr>
            <a:normAutofit/>
          </a:bodyPr>
          <a:lstStyle/>
          <a:p>
            <a:r>
              <a:rPr lang="en-GB" sz="2800" dirty="0"/>
              <a:t>(d)  Feedback Paths or Loops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772816"/>
            <a:ext cx="8251115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9" name="Group 28"/>
          <p:cNvGrpSpPr/>
          <p:nvPr/>
        </p:nvGrpSpPr>
        <p:grpSpPr>
          <a:xfrm>
            <a:off x="323528" y="3068960"/>
            <a:ext cx="1728192" cy="1080120"/>
            <a:chOff x="323528" y="1988840"/>
            <a:chExt cx="1728192" cy="1080120"/>
          </a:xfrm>
        </p:grpSpPr>
        <p:pic>
          <p:nvPicPr>
            <p:cNvPr id="5" name="Picture 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35" t="40712" r="73751" b="50437"/>
            <a:stretch>
              <a:fillRect/>
            </a:stretch>
          </p:blipFill>
          <p:spPr bwMode="auto">
            <a:xfrm>
              <a:off x="323528" y="2708920"/>
              <a:ext cx="1728192" cy="3600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6" name="Straight Arrow Connector 15"/>
            <p:cNvCxnSpPr/>
            <p:nvPr/>
          </p:nvCxnSpPr>
          <p:spPr>
            <a:xfrm flipV="1">
              <a:off x="1547664" y="1988840"/>
              <a:ext cx="504056" cy="5760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>
          <a:xfrm>
            <a:off x="1259632" y="3140968"/>
            <a:ext cx="2016224" cy="1800200"/>
            <a:chOff x="1259632" y="2060848"/>
            <a:chExt cx="2016224" cy="1800200"/>
          </a:xfrm>
        </p:grpSpPr>
        <p:pic>
          <p:nvPicPr>
            <p:cNvPr id="6" name="Picture 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763" t="40712" r="52799" b="50437"/>
            <a:stretch>
              <a:fillRect/>
            </a:stretch>
          </p:blipFill>
          <p:spPr bwMode="auto">
            <a:xfrm>
              <a:off x="1259632" y="3501008"/>
              <a:ext cx="1584176" cy="3600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8" name="Straight Arrow Connector 17"/>
            <p:cNvCxnSpPr/>
            <p:nvPr/>
          </p:nvCxnSpPr>
          <p:spPr>
            <a:xfrm flipV="1">
              <a:off x="2123728" y="2060848"/>
              <a:ext cx="1152128" cy="144016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/>
          <p:cNvGrpSpPr/>
          <p:nvPr/>
        </p:nvGrpSpPr>
        <p:grpSpPr>
          <a:xfrm>
            <a:off x="2483768" y="3212976"/>
            <a:ext cx="1872208" cy="2304256"/>
            <a:chOff x="2483768" y="2132856"/>
            <a:chExt cx="1872208" cy="2304256"/>
          </a:xfrm>
        </p:grpSpPr>
        <p:pic>
          <p:nvPicPr>
            <p:cNvPr id="7" name="Picture 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877" t="40712" r="31847" b="50437"/>
            <a:stretch>
              <a:fillRect/>
            </a:stretch>
          </p:blipFill>
          <p:spPr bwMode="auto">
            <a:xfrm>
              <a:off x="2483768" y="4077072"/>
              <a:ext cx="1656184" cy="3600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20" name="Straight Arrow Connector 19"/>
            <p:cNvCxnSpPr/>
            <p:nvPr/>
          </p:nvCxnSpPr>
          <p:spPr>
            <a:xfrm flipV="1">
              <a:off x="3347864" y="2132856"/>
              <a:ext cx="1008112" cy="172819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/>
          <p:cNvGrpSpPr/>
          <p:nvPr/>
        </p:nvGrpSpPr>
        <p:grpSpPr>
          <a:xfrm>
            <a:off x="4427984" y="3068960"/>
            <a:ext cx="1656184" cy="2664296"/>
            <a:chOff x="4427984" y="1988840"/>
            <a:chExt cx="1656184" cy="2664296"/>
          </a:xfrm>
        </p:grpSpPr>
        <p:pic>
          <p:nvPicPr>
            <p:cNvPr id="8" name="Picture 7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391" t="49563" r="29333" b="43357"/>
            <a:stretch>
              <a:fillRect/>
            </a:stretch>
          </p:blipFill>
          <p:spPr bwMode="auto">
            <a:xfrm>
              <a:off x="4427984" y="4365104"/>
              <a:ext cx="1656184" cy="2880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22" name="Straight Arrow Connector 21"/>
            <p:cNvCxnSpPr/>
            <p:nvPr/>
          </p:nvCxnSpPr>
          <p:spPr>
            <a:xfrm flipV="1">
              <a:off x="5076056" y="1988840"/>
              <a:ext cx="432048" cy="21602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/>
          <p:cNvGrpSpPr/>
          <p:nvPr/>
        </p:nvGrpSpPr>
        <p:grpSpPr>
          <a:xfrm>
            <a:off x="6732240" y="3140968"/>
            <a:ext cx="1656184" cy="2376264"/>
            <a:chOff x="6732240" y="2060848"/>
            <a:chExt cx="1656184" cy="2376264"/>
          </a:xfrm>
        </p:grpSpPr>
        <p:pic>
          <p:nvPicPr>
            <p:cNvPr id="9" name="Picture 8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181" t="49563" r="7543" b="43356"/>
            <a:stretch>
              <a:fillRect/>
            </a:stretch>
          </p:blipFill>
          <p:spPr bwMode="auto">
            <a:xfrm>
              <a:off x="6732240" y="4149080"/>
              <a:ext cx="1656184" cy="2880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24" name="Straight Arrow Connector 23"/>
            <p:cNvCxnSpPr/>
            <p:nvPr/>
          </p:nvCxnSpPr>
          <p:spPr>
            <a:xfrm flipH="1" flipV="1">
              <a:off x="7020272" y="2060848"/>
              <a:ext cx="576064" cy="187220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/>
          <p:cNvGrpSpPr/>
          <p:nvPr/>
        </p:nvGrpSpPr>
        <p:grpSpPr>
          <a:xfrm>
            <a:off x="7884368" y="1484784"/>
            <a:ext cx="1008112" cy="725776"/>
            <a:chOff x="7884368" y="404664"/>
            <a:chExt cx="1008112" cy="725776"/>
          </a:xfrm>
        </p:grpSpPr>
        <p:pic>
          <p:nvPicPr>
            <p:cNvPr id="10" name="Picture 9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306" t="56643" r="52799" b="34506"/>
            <a:stretch>
              <a:fillRect/>
            </a:stretch>
          </p:blipFill>
          <p:spPr bwMode="auto">
            <a:xfrm>
              <a:off x="7956376" y="404664"/>
              <a:ext cx="936104" cy="3600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27" name="Straight Arrow Connector 26"/>
            <p:cNvCxnSpPr/>
            <p:nvPr/>
          </p:nvCxnSpPr>
          <p:spPr>
            <a:xfrm flipH="1">
              <a:off x="7884368" y="692696"/>
              <a:ext cx="230560" cy="43774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68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0083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305800" cy="708688"/>
          </a:xfrm>
        </p:spPr>
        <p:txBody>
          <a:bodyPr>
            <a:normAutofit/>
          </a:bodyPr>
          <a:lstStyle/>
          <a:p>
            <a:r>
              <a:rPr lang="en-GB" sz="2800" dirty="0"/>
              <a:t>(d)  Feedback Paths or Loops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837928"/>
            <a:ext cx="8251115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0" name="Group 19"/>
          <p:cNvGrpSpPr/>
          <p:nvPr/>
        </p:nvGrpSpPr>
        <p:grpSpPr>
          <a:xfrm>
            <a:off x="611560" y="2643871"/>
            <a:ext cx="3240360" cy="1930361"/>
            <a:chOff x="611560" y="1498639"/>
            <a:chExt cx="3240360" cy="1930361"/>
          </a:xfrm>
        </p:grpSpPr>
        <p:pic>
          <p:nvPicPr>
            <p:cNvPr id="11" name="Picture 10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667" t="40712" r="2514" b="50437"/>
            <a:stretch>
              <a:fillRect/>
            </a:stretch>
          </p:blipFill>
          <p:spPr bwMode="auto">
            <a:xfrm>
              <a:off x="611560" y="3068960"/>
              <a:ext cx="2304256" cy="3600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17" name="Group 16"/>
            <p:cNvGrpSpPr/>
            <p:nvPr/>
          </p:nvGrpSpPr>
          <p:grpSpPr>
            <a:xfrm>
              <a:off x="1891116" y="1498639"/>
              <a:ext cx="1960804" cy="432048"/>
              <a:chOff x="1891116" y="1498639"/>
              <a:chExt cx="1960804" cy="432048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1891116" y="1498639"/>
                <a:ext cx="936104" cy="43204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2915816" y="1531815"/>
                <a:ext cx="936104" cy="3600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cxnSp>
          <p:nvCxnSpPr>
            <p:cNvPr id="19" name="Straight Arrow Connector 18"/>
            <p:cNvCxnSpPr/>
            <p:nvPr/>
          </p:nvCxnSpPr>
          <p:spPr>
            <a:xfrm flipV="1">
              <a:off x="1475656" y="1916832"/>
              <a:ext cx="576064" cy="108012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/>
          <p:cNvGrpSpPr/>
          <p:nvPr/>
        </p:nvGrpSpPr>
        <p:grpSpPr>
          <a:xfrm>
            <a:off x="6516216" y="2702024"/>
            <a:ext cx="2376264" cy="1728192"/>
            <a:chOff x="6588224" y="1772816"/>
            <a:chExt cx="2376264" cy="1728192"/>
          </a:xfrm>
        </p:grpSpPr>
        <p:pic>
          <p:nvPicPr>
            <p:cNvPr id="13" name="Picture 1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35" t="56643" r="66208" b="36276"/>
            <a:stretch>
              <a:fillRect/>
            </a:stretch>
          </p:blipFill>
          <p:spPr bwMode="auto">
            <a:xfrm>
              <a:off x="6588224" y="3212976"/>
              <a:ext cx="2376264" cy="2880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23" name="Straight Arrow Connector 22"/>
            <p:cNvCxnSpPr/>
            <p:nvPr/>
          </p:nvCxnSpPr>
          <p:spPr>
            <a:xfrm flipH="1" flipV="1">
              <a:off x="7020272" y="1772816"/>
              <a:ext cx="936104" cy="122413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69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6247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305800" cy="708688"/>
          </a:xfrm>
        </p:spPr>
        <p:txBody>
          <a:bodyPr>
            <a:normAutofit/>
          </a:bodyPr>
          <a:lstStyle/>
          <a:p>
            <a:r>
              <a:rPr lang="en-GB" sz="2800" dirty="0"/>
              <a:t>(d)  Feedback Paths or Loops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365" y="1628800"/>
            <a:ext cx="8251115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1" name="Group 20"/>
          <p:cNvGrpSpPr/>
          <p:nvPr/>
        </p:nvGrpSpPr>
        <p:grpSpPr>
          <a:xfrm>
            <a:off x="641365" y="1975195"/>
            <a:ext cx="6870747" cy="3109989"/>
            <a:chOff x="467544" y="1039091"/>
            <a:chExt cx="6870747" cy="3109989"/>
          </a:xfrm>
        </p:grpSpPr>
        <p:pic>
          <p:nvPicPr>
            <p:cNvPr id="12" name="Picture 11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35" t="49563" r="50285" b="43357"/>
            <a:stretch>
              <a:fillRect/>
            </a:stretch>
          </p:blipFill>
          <p:spPr bwMode="auto">
            <a:xfrm>
              <a:off x="467544" y="3861048"/>
              <a:ext cx="3744416" cy="2880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7" name="Freeform 16"/>
            <p:cNvSpPr/>
            <p:nvPr/>
          </p:nvSpPr>
          <p:spPr>
            <a:xfrm>
              <a:off x="1768764" y="1039091"/>
              <a:ext cx="5569527" cy="2336799"/>
            </a:xfrm>
            <a:custGeom>
              <a:avLst/>
              <a:gdLst>
                <a:gd name="connsiteX0" fmla="*/ 4618 w 5569527"/>
                <a:gd name="connsiteY0" fmla="*/ 775854 h 2336799"/>
                <a:gd name="connsiteX1" fmla="*/ 143163 w 5569527"/>
                <a:gd name="connsiteY1" fmla="*/ 1122218 h 2336799"/>
                <a:gd name="connsiteX2" fmla="*/ 461818 w 5569527"/>
                <a:gd name="connsiteY2" fmla="*/ 1454727 h 2336799"/>
                <a:gd name="connsiteX3" fmla="*/ 835891 w 5569527"/>
                <a:gd name="connsiteY3" fmla="*/ 1717964 h 2336799"/>
                <a:gd name="connsiteX4" fmla="*/ 1528618 w 5569527"/>
                <a:gd name="connsiteY4" fmla="*/ 2064327 h 2336799"/>
                <a:gd name="connsiteX5" fmla="*/ 2359891 w 5569527"/>
                <a:gd name="connsiteY5" fmla="*/ 2299854 h 2336799"/>
                <a:gd name="connsiteX6" fmla="*/ 3038763 w 5569527"/>
                <a:gd name="connsiteY6" fmla="*/ 2286000 h 2336799"/>
                <a:gd name="connsiteX7" fmla="*/ 3731491 w 5569527"/>
                <a:gd name="connsiteY7" fmla="*/ 2175164 h 2336799"/>
                <a:gd name="connsiteX8" fmla="*/ 4230254 w 5569527"/>
                <a:gd name="connsiteY8" fmla="*/ 1953491 h 2336799"/>
                <a:gd name="connsiteX9" fmla="*/ 4867563 w 5569527"/>
                <a:gd name="connsiteY9" fmla="*/ 1593273 h 2336799"/>
                <a:gd name="connsiteX10" fmla="*/ 5200072 w 5569527"/>
                <a:gd name="connsiteY10" fmla="*/ 1302327 h 2336799"/>
                <a:gd name="connsiteX11" fmla="*/ 5477163 w 5569527"/>
                <a:gd name="connsiteY11" fmla="*/ 1025236 h 2336799"/>
                <a:gd name="connsiteX12" fmla="*/ 5546436 w 5569527"/>
                <a:gd name="connsiteY12" fmla="*/ 734291 h 2336799"/>
                <a:gd name="connsiteX13" fmla="*/ 5338618 w 5569527"/>
                <a:gd name="connsiteY13" fmla="*/ 290945 h 2336799"/>
                <a:gd name="connsiteX14" fmla="*/ 4964545 w 5569527"/>
                <a:gd name="connsiteY14" fmla="*/ 83127 h 2336799"/>
                <a:gd name="connsiteX15" fmla="*/ 4354945 w 5569527"/>
                <a:gd name="connsiteY15" fmla="*/ 0 h 2336799"/>
                <a:gd name="connsiteX16" fmla="*/ 3883891 w 5569527"/>
                <a:gd name="connsiteY16" fmla="*/ 83127 h 2336799"/>
                <a:gd name="connsiteX17" fmla="*/ 3565236 w 5569527"/>
                <a:gd name="connsiteY17" fmla="*/ 304800 h 2336799"/>
                <a:gd name="connsiteX18" fmla="*/ 3329709 w 5569527"/>
                <a:gd name="connsiteY18" fmla="*/ 609600 h 2336799"/>
                <a:gd name="connsiteX19" fmla="*/ 3329709 w 5569527"/>
                <a:gd name="connsiteY19" fmla="*/ 734291 h 2336799"/>
                <a:gd name="connsiteX20" fmla="*/ 3177309 w 5569527"/>
                <a:gd name="connsiteY20" fmla="*/ 1136073 h 2336799"/>
                <a:gd name="connsiteX21" fmla="*/ 2844800 w 5569527"/>
                <a:gd name="connsiteY21" fmla="*/ 1288473 h 2336799"/>
                <a:gd name="connsiteX22" fmla="*/ 2470727 w 5569527"/>
                <a:gd name="connsiteY22" fmla="*/ 1205345 h 2336799"/>
                <a:gd name="connsiteX23" fmla="*/ 2193636 w 5569527"/>
                <a:gd name="connsiteY23" fmla="*/ 858982 h 2336799"/>
                <a:gd name="connsiteX24" fmla="*/ 2193636 w 5569527"/>
                <a:gd name="connsiteY24" fmla="*/ 720436 h 2336799"/>
                <a:gd name="connsiteX25" fmla="*/ 2124363 w 5569527"/>
                <a:gd name="connsiteY25" fmla="*/ 983673 h 2336799"/>
                <a:gd name="connsiteX26" fmla="*/ 1958109 w 5569527"/>
                <a:gd name="connsiteY26" fmla="*/ 1246909 h 2336799"/>
                <a:gd name="connsiteX27" fmla="*/ 1625600 w 5569527"/>
                <a:gd name="connsiteY27" fmla="*/ 1316182 h 2336799"/>
                <a:gd name="connsiteX28" fmla="*/ 1293091 w 5569527"/>
                <a:gd name="connsiteY28" fmla="*/ 1177636 h 2336799"/>
                <a:gd name="connsiteX29" fmla="*/ 1057563 w 5569527"/>
                <a:gd name="connsiteY29" fmla="*/ 762000 h 2336799"/>
                <a:gd name="connsiteX30" fmla="*/ 1071418 w 5569527"/>
                <a:gd name="connsiteY30" fmla="*/ 969818 h 2336799"/>
                <a:gd name="connsiteX31" fmla="*/ 835891 w 5569527"/>
                <a:gd name="connsiteY31" fmla="*/ 1219200 h 2336799"/>
                <a:gd name="connsiteX32" fmla="*/ 586509 w 5569527"/>
                <a:gd name="connsiteY32" fmla="*/ 1330036 h 2336799"/>
                <a:gd name="connsiteX33" fmla="*/ 115454 w 5569527"/>
                <a:gd name="connsiteY33" fmla="*/ 1149927 h 2336799"/>
                <a:gd name="connsiteX34" fmla="*/ 4618 w 5569527"/>
                <a:gd name="connsiteY34" fmla="*/ 775854 h 2336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5569527" h="2336799">
                  <a:moveTo>
                    <a:pt x="4618" y="775854"/>
                  </a:moveTo>
                  <a:cubicBezTo>
                    <a:pt x="9236" y="771236"/>
                    <a:pt x="66963" y="1009073"/>
                    <a:pt x="143163" y="1122218"/>
                  </a:cubicBezTo>
                  <a:cubicBezTo>
                    <a:pt x="219363" y="1235363"/>
                    <a:pt x="346363" y="1355436"/>
                    <a:pt x="461818" y="1454727"/>
                  </a:cubicBezTo>
                  <a:cubicBezTo>
                    <a:pt x="577273" y="1554018"/>
                    <a:pt x="658091" y="1616364"/>
                    <a:pt x="835891" y="1717964"/>
                  </a:cubicBezTo>
                  <a:cubicBezTo>
                    <a:pt x="1013691" y="1819564"/>
                    <a:pt x="1274618" y="1967345"/>
                    <a:pt x="1528618" y="2064327"/>
                  </a:cubicBezTo>
                  <a:cubicBezTo>
                    <a:pt x="1782618" y="2161309"/>
                    <a:pt x="2108200" y="2262909"/>
                    <a:pt x="2359891" y="2299854"/>
                  </a:cubicBezTo>
                  <a:cubicBezTo>
                    <a:pt x="2611582" y="2336799"/>
                    <a:pt x="2810163" y="2306782"/>
                    <a:pt x="3038763" y="2286000"/>
                  </a:cubicBezTo>
                  <a:cubicBezTo>
                    <a:pt x="3267363" y="2265218"/>
                    <a:pt x="3532909" y="2230582"/>
                    <a:pt x="3731491" y="2175164"/>
                  </a:cubicBezTo>
                  <a:cubicBezTo>
                    <a:pt x="3930073" y="2119746"/>
                    <a:pt x="4040909" y="2050473"/>
                    <a:pt x="4230254" y="1953491"/>
                  </a:cubicBezTo>
                  <a:cubicBezTo>
                    <a:pt x="4419599" y="1856509"/>
                    <a:pt x="4705927" y="1701800"/>
                    <a:pt x="4867563" y="1593273"/>
                  </a:cubicBezTo>
                  <a:cubicBezTo>
                    <a:pt x="5029199" y="1484746"/>
                    <a:pt x="5098472" y="1397000"/>
                    <a:pt x="5200072" y="1302327"/>
                  </a:cubicBezTo>
                  <a:cubicBezTo>
                    <a:pt x="5301672" y="1207654"/>
                    <a:pt x="5419436" y="1119909"/>
                    <a:pt x="5477163" y="1025236"/>
                  </a:cubicBezTo>
                  <a:cubicBezTo>
                    <a:pt x="5534890" y="930563"/>
                    <a:pt x="5569527" y="856673"/>
                    <a:pt x="5546436" y="734291"/>
                  </a:cubicBezTo>
                  <a:cubicBezTo>
                    <a:pt x="5523345" y="611909"/>
                    <a:pt x="5435600" y="399472"/>
                    <a:pt x="5338618" y="290945"/>
                  </a:cubicBezTo>
                  <a:cubicBezTo>
                    <a:pt x="5241636" y="182418"/>
                    <a:pt x="5128491" y="131618"/>
                    <a:pt x="4964545" y="83127"/>
                  </a:cubicBezTo>
                  <a:cubicBezTo>
                    <a:pt x="4800600" y="34636"/>
                    <a:pt x="4535054" y="0"/>
                    <a:pt x="4354945" y="0"/>
                  </a:cubicBezTo>
                  <a:cubicBezTo>
                    <a:pt x="4174836" y="0"/>
                    <a:pt x="4015509" y="32327"/>
                    <a:pt x="3883891" y="83127"/>
                  </a:cubicBezTo>
                  <a:cubicBezTo>
                    <a:pt x="3752273" y="133927"/>
                    <a:pt x="3657600" y="217054"/>
                    <a:pt x="3565236" y="304800"/>
                  </a:cubicBezTo>
                  <a:cubicBezTo>
                    <a:pt x="3472872" y="392546"/>
                    <a:pt x="3368964" y="538018"/>
                    <a:pt x="3329709" y="609600"/>
                  </a:cubicBezTo>
                  <a:cubicBezTo>
                    <a:pt x="3290455" y="681182"/>
                    <a:pt x="3355109" y="646546"/>
                    <a:pt x="3329709" y="734291"/>
                  </a:cubicBezTo>
                  <a:cubicBezTo>
                    <a:pt x="3304309" y="822037"/>
                    <a:pt x="3258127" y="1043709"/>
                    <a:pt x="3177309" y="1136073"/>
                  </a:cubicBezTo>
                  <a:cubicBezTo>
                    <a:pt x="3096491" y="1228437"/>
                    <a:pt x="2962564" y="1276928"/>
                    <a:pt x="2844800" y="1288473"/>
                  </a:cubicBezTo>
                  <a:cubicBezTo>
                    <a:pt x="2727036" y="1300018"/>
                    <a:pt x="2579254" y="1276927"/>
                    <a:pt x="2470727" y="1205345"/>
                  </a:cubicBezTo>
                  <a:cubicBezTo>
                    <a:pt x="2362200" y="1133763"/>
                    <a:pt x="2239818" y="939800"/>
                    <a:pt x="2193636" y="858982"/>
                  </a:cubicBezTo>
                  <a:cubicBezTo>
                    <a:pt x="2147454" y="778164"/>
                    <a:pt x="2205182" y="699654"/>
                    <a:pt x="2193636" y="720436"/>
                  </a:cubicBezTo>
                  <a:cubicBezTo>
                    <a:pt x="2182091" y="741218"/>
                    <a:pt x="2163617" y="895928"/>
                    <a:pt x="2124363" y="983673"/>
                  </a:cubicBezTo>
                  <a:cubicBezTo>
                    <a:pt x="2085109" y="1071418"/>
                    <a:pt x="2041236" y="1191491"/>
                    <a:pt x="1958109" y="1246909"/>
                  </a:cubicBezTo>
                  <a:cubicBezTo>
                    <a:pt x="1874982" y="1302327"/>
                    <a:pt x="1736436" y="1327727"/>
                    <a:pt x="1625600" y="1316182"/>
                  </a:cubicBezTo>
                  <a:cubicBezTo>
                    <a:pt x="1514764" y="1304637"/>
                    <a:pt x="1387764" y="1270000"/>
                    <a:pt x="1293091" y="1177636"/>
                  </a:cubicBezTo>
                  <a:cubicBezTo>
                    <a:pt x="1198418" y="1085272"/>
                    <a:pt x="1094509" y="796636"/>
                    <a:pt x="1057563" y="762000"/>
                  </a:cubicBezTo>
                  <a:cubicBezTo>
                    <a:pt x="1020618" y="727364"/>
                    <a:pt x="1108363" y="893618"/>
                    <a:pt x="1071418" y="969818"/>
                  </a:cubicBezTo>
                  <a:cubicBezTo>
                    <a:pt x="1034473" y="1046018"/>
                    <a:pt x="916709" y="1159164"/>
                    <a:pt x="835891" y="1219200"/>
                  </a:cubicBezTo>
                  <a:cubicBezTo>
                    <a:pt x="755073" y="1279236"/>
                    <a:pt x="706582" y="1341581"/>
                    <a:pt x="586509" y="1330036"/>
                  </a:cubicBezTo>
                  <a:cubicBezTo>
                    <a:pt x="466436" y="1318491"/>
                    <a:pt x="212436" y="1244600"/>
                    <a:pt x="115454" y="1149927"/>
                  </a:cubicBezTo>
                  <a:cubicBezTo>
                    <a:pt x="18472" y="1055254"/>
                    <a:pt x="0" y="780472"/>
                    <a:pt x="4618" y="775854"/>
                  </a:cubicBezTo>
                  <a:close/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 flipV="1">
              <a:off x="1619672" y="2636912"/>
              <a:ext cx="1368152" cy="108012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70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1136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305800" cy="708688"/>
          </a:xfrm>
        </p:spPr>
        <p:txBody>
          <a:bodyPr>
            <a:normAutofit/>
          </a:bodyPr>
          <a:lstStyle/>
          <a:p>
            <a:r>
              <a:rPr lang="en-GB" sz="2800" dirty="0"/>
              <a:t>(d)  Feedback Paths or Loops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412776"/>
            <a:ext cx="8251115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5" name="Group 14"/>
          <p:cNvGrpSpPr/>
          <p:nvPr/>
        </p:nvGrpSpPr>
        <p:grpSpPr>
          <a:xfrm>
            <a:off x="1745673" y="2470371"/>
            <a:ext cx="5557981" cy="3046861"/>
            <a:chOff x="1745673" y="1750291"/>
            <a:chExt cx="5557981" cy="3046861"/>
          </a:xfrm>
        </p:grpSpPr>
        <p:pic>
          <p:nvPicPr>
            <p:cNvPr id="14" name="Picture 1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715" t="56643" b="34506"/>
            <a:stretch>
              <a:fillRect/>
            </a:stretch>
          </p:blipFill>
          <p:spPr bwMode="auto">
            <a:xfrm>
              <a:off x="1979712" y="4437112"/>
              <a:ext cx="4320480" cy="3600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" name="Freeform 8"/>
            <p:cNvSpPr/>
            <p:nvPr/>
          </p:nvSpPr>
          <p:spPr>
            <a:xfrm>
              <a:off x="1745673" y="1750291"/>
              <a:ext cx="5557981" cy="1607127"/>
            </a:xfrm>
            <a:custGeom>
              <a:avLst/>
              <a:gdLst>
                <a:gd name="connsiteX0" fmla="*/ 13854 w 5557981"/>
                <a:gd name="connsiteY0" fmla="*/ 50800 h 1607127"/>
                <a:gd name="connsiteX1" fmla="*/ 110836 w 5557981"/>
                <a:gd name="connsiteY1" fmla="*/ 341745 h 1607127"/>
                <a:gd name="connsiteX2" fmla="*/ 332509 w 5557981"/>
                <a:gd name="connsiteY2" fmla="*/ 577273 h 1607127"/>
                <a:gd name="connsiteX3" fmla="*/ 678872 w 5557981"/>
                <a:gd name="connsiteY3" fmla="*/ 909782 h 1607127"/>
                <a:gd name="connsiteX4" fmla="*/ 1316182 w 5557981"/>
                <a:gd name="connsiteY4" fmla="*/ 1270000 h 1607127"/>
                <a:gd name="connsiteX5" fmla="*/ 2175163 w 5557981"/>
                <a:gd name="connsiteY5" fmla="*/ 1547091 h 1607127"/>
                <a:gd name="connsiteX6" fmla="*/ 2729345 w 5557981"/>
                <a:gd name="connsiteY6" fmla="*/ 1602509 h 1607127"/>
                <a:gd name="connsiteX7" fmla="*/ 3422072 w 5557981"/>
                <a:gd name="connsiteY7" fmla="*/ 1519382 h 1607127"/>
                <a:gd name="connsiteX8" fmla="*/ 4197927 w 5557981"/>
                <a:gd name="connsiteY8" fmla="*/ 1297709 h 1607127"/>
                <a:gd name="connsiteX9" fmla="*/ 4821382 w 5557981"/>
                <a:gd name="connsiteY9" fmla="*/ 937491 h 1607127"/>
                <a:gd name="connsiteX10" fmla="*/ 5389418 w 5557981"/>
                <a:gd name="connsiteY10" fmla="*/ 424873 h 1607127"/>
                <a:gd name="connsiteX11" fmla="*/ 5555672 w 5557981"/>
                <a:gd name="connsiteY11" fmla="*/ 36945 h 1607127"/>
                <a:gd name="connsiteX12" fmla="*/ 5403272 w 5557981"/>
                <a:gd name="connsiteY12" fmla="*/ 452582 h 1607127"/>
                <a:gd name="connsiteX13" fmla="*/ 5070763 w 5557981"/>
                <a:gd name="connsiteY13" fmla="*/ 563418 h 1607127"/>
                <a:gd name="connsiteX14" fmla="*/ 4779818 w 5557981"/>
                <a:gd name="connsiteY14" fmla="*/ 521854 h 1607127"/>
                <a:gd name="connsiteX15" fmla="*/ 4558145 w 5557981"/>
                <a:gd name="connsiteY15" fmla="*/ 355600 h 1607127"/>
                <a:gd name="connsiteX16" fmla="*/ 4461163 w 5557981"/>
                <a:gd name="connsiteY16" fmla="*/ 36945 h 1607127"/>
                <a:gd name="connsiteX17" fmla="*/ 4419600 w 5557981"/>
                <a:gd name="connsiteY17" fmla="*/ 258618 h 1607127"/>
                <a:gd name="connsiteX18" fmla="*/ 4308763 w 5557981"/>
                <a:gd name="connsiteY18" fmla="*/ 438727 h 1607127"/>
                <a:gd name="connsiteX19" fmla="*/ 4128654 w 5557981"/>
                <a:gd name="connsiteY19" fmla="*/ 563418 h 1607127"/>
                <a:gd name="connsiteX20" fmla="*/ 3865418 w 5557981"/>
                <a:gd name="connsiteY20" fmla="*/ 591127 h 1607127"/>
                <a:gd name="connsiteX21" fmla="*/ 3519054 w 5557981"/>
                <a:gd name="connsiteY21" fmla="*/ 438727 h 1607127"/>
                <a:gd name="connsiteX22" fmla="*/ 3366654 w 5557981"/>
                <a:gd name="connsiteY22" fmla="*/ 203200 h 1607127"/>
                <a:gd name="connsiteX23" fmla="*/ 3325091 w 5557981"/>
                <a:gd name="connsiteY23" fmla="*/ 23091 h 1607127"/>
                <a:gd name="connsiteX24" fmla="*/ 3297382 w 5557981"/>
                <a:gd name="connsiteY24" fmla="*/ 189345 h 1607127"/>
                <a:gd name="connsiteX25" fmla="*/ 3228109 w 5557981"/>
                <a:gd name="connsiteY25" fmla="*/ 355600 h 1607127"/>
                <a:gd name="connsiteX26" fmla="*/ 3020291 w 5557981"/>
                <a:gd name="connsiteY26" fmla="*/ 521854 h 1607127"/>
                <a:gd name="connsiteX27" fmla="*/ 2618509 w 5557981"/>
                <a:gd name="connsiteY27" fmla="*/ 549564 h 1607127"/>
                <a:gd name="connsiteX28" fmla="*/ 2396836 w 5557981"/>
                <a:gd name="connsiteY28" fmla="*/ 424873 h 1607127"/>
                <a:gd name="connsiteX29" fmla="*/ 2258291 w 5557981"/>
                <a:gd name="connsiteY29" fmla="*/ 300182 h 1607127"/>
                <a:gd name="connsiteX30" fmla="*/ 2202872 w 5557981"/>
                <a:gd name="connsiteY30" fmla="*/ 9236 h 1607127"/>
                <a:gd name="connsiteX31" fmla="*/ 2161309 w 5557981"/>
                <a:gd name="connsiteY31" fmla="*/ 244764 h 1607127"/>
                <a:gd name="connsiteX32" fmla="*/ 2064327 w 5557981"/>
                <a:gd name="connsiteY32" fmla="*/ 452582 h 1607127"/>
                <a:gd name="connsiteX33" fmla="*/ 1745672 w 5557981"/>
                <a:gd name="connsiteY33" fmla="*/ 604982 h 1607127"/>
                <a:gd name="connsiteX34" fmla="*/ 1482436 w 5557981"/>
                <a:gd name="connsiteY34" fmla="*/ 577273 h 1607127"/>
                <a:gd name="connsiteX35" fmla="*/ 1274618 w 5557981"/>
                <a:gd name="connsiteY35" fmla="*/ 438727 h 1607127"/>
                <a:gd name="connsiteX36" fmla="*/ 1163782 w 5557981"/>
                <a:gd name="connsiteY36" fmla="*/ 286327 h 1607127"/>
                <a:gd name="connsiteX37" fmla="*/ 1108363 w 5557981"/>
                <a:gd name="connsiteY37" fmla="*/ 36945 h 1607127"/>
                <a:gd name="connsiteX38" fmla="*/ 1039091 w 5557981"/>
                <a:gd name="connsiteY38" fmla="*/ 300182 h 1607127"/>
                <a:gd name="connsiteX39" fmla="*/ 900545 w 5557981"/>
                <a:gd name="connsiteY39" fmla="*/ 494145 h 1607127"/>
                <a:gd name="connsiteX40" fmla="*/ 692727 w 5557981"/>
                <a:gd name="connsiteY40" fmla="*/ 591127 h 1607127"/>
                <a:gd name="connsiteX41" fmla="*/ 387927 w 5557981"/>
                <a:gd name="connsiteY41" fmla="*/ 549564 h 1607127"/>
                <a:gd name="connsiteX42" fmla="*/ 152400 w 5557981"/>
                <a:gd name="connsiteY42" fmla="*/ 424873 h 1607127"/>
                <a:gd name="connsiteX43" fmla="*/ 27709 w 5557981"/>
                <a:gd name="connsiteY43" fmla="*/ 161636 h 1607127"/>
                <a:gd name="connsiteX44" fmla="*/ 13854 w 5557981"/>
                <a:gd name="connsiteY44" fmla="*/ 50800 h 1607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5557981" h="1607127">
                  <a:moveTo>
                    <a:pt x="13854" y="50800"/>
                  </a:moveTo>
                  <a:cubicBezTo>
                    <a:pt x="27708" y="80818"/>
                    <a:pt x="57727" y="254000"/>
                    <a:pt x="110836" y="341745"/>
                  </a:cubicBezTo>
                  <a:cubicBezTo>
                    <a:pt x="163945" y="429491"/>
                    <a:pt x="237836" y="482600"/>
                    <a:pt x="332509" y="577273"/>
                  </a:cubicBezTo>
                  <a:cubicBezTo>
                    <a:pt x="427182" y="671946"/>
                    <a:pt x="514927" y="794328"/>
                    <a:pt x="678872" y="909782"/>
                  </a:cubicBezTo>
                  <a:cubicBezTo>
                    <a:pt x="842817" y="1025236"/>
                    <a:pt x="1066800" y="1163782"/>
                    <a:pt x="1316182" y="1270000"/>
                  </a:cubicBezTo>
                  <a:cubicBezTo>
                    <a:pt x="1565564" y="1376218"/>
                    <a:pt x="1939636" y="1491673"/>
                    <a:pt x="2175163" y="1547091"/>
                  </a:cubicBezTo>
                  <a:cubicBezTo>
                    <a:pt x="2410690" y="1602509"/>
                    <a:pt x="2521527" y="1607127"/>
                    <a:pt x="2729345" y="1602509"/>
                  </a:cubicBezTo>
                  <a:cubicBezTo>
                    <a:pt x="2937163" y="1597891"/>
                    <a:pt x="3177308" y="1570182"/>
                    <a:pt x="3422072" y="1519382"/>
                  </a:cubicBezTo>
                  <a:cubicBezTo>
                    <a:pt x="3666836" y="1468582"/>
                    <a:pt x="3964709" y="1394691"/>
                    <a:pt x="4197927" y="1297709"/>
                  </a:cubicBezTo>
                  <a:cubicBezTo>
                    <a:pt x="4431145" y="1200727"/>
                    <a:pt x="4622800" y="1082964"/>
                    <a:pt x="4821382" y="937491"/>
                  </a:cubicBezTo>
                  <a:cubicBezTo>
                    <a:pt x="5019964" y="792018"/>
                    <a:pt x="5267036" y="574964"/>
                    <a:pt x="5389418" y="424873"/>
                  </a:cubicBezTo>
                  <a:cubicBezTo>
                    <a:pt x="5511800" y="274782"/>
                    <a:pt x="5553363" y="32327"/>
                    <a:pt x="5555672" y="36945"/>
                  </a:cubicBezTo>
                  <a:cubicBezTo>
                    <a:pt x="5557981" y="41563"/>
                    <a:pt x="5484090" y="364837"/>
                    <a:pt x="5403272" y="452582"/>
                  </a:cubicBezTo>
                  <a:cubicBezTo>
                    <a:pt x="5322454" y="540327"/>
                    <a:pt x="5174672" y="551873"/>
                    <a:pt x="5070763" y="563418"/>
                  </a:cubicBezTo>
                  <a:cubicBezTo>
                    <a:pt x="4966854" y="574963"/>
                    <a:pt x="4865254" y="556490"/>
                    <a:pt x="4779818" y="521854"/>
                  </a:cubicBezTo>
                  <a:cubicBezTo>
                    <a:pt x="4694382" y="487218"/>
                    <a:pt x="4611254" y="436418"/>
                    <a:pt x="4558145" y="355600"/>
                  </a:cubicBezTo>
                  <a:cubicBezTo>
                    <a:pt x="4505036" y="274782"/>
                    <a:pt x="4484254" y="53109"/>
                    <a:pt x="4461163" y="36945"/>
                  </a:cubicBezTo>
                  <a:cubicBezTo>
                    <a:pt x="4438072" y="20781"/>
                    <a:pt x="4445000" y="191654"/>
                    <a:pt x="4419600" y="258618"/>
                  </a:cubicBezTo>
                  <a:cubicBezTo>
                    <a:pt x="4394200" y="325582"/>
                    <a:pt x="4357254" y="387927"/>
                    <a:pt x="4308763" y="438727"/>
                  </a:cubicBezTo>
                  <a:cubicBezTo>
                    <a:pt x="4260272" y="489527"/>
                    <a:pt x="4202545" y="538018"/>
                    <a:pt x="4128654" y="563418"/>
                  </a:cubicBezTo>
                  <a:cubicBezTo>
                    <a:pt x="4054763" y="588818"/>
                    <a:pt x="3967018" y="611909"/>
                    <a:pt x="3865418" y="591127"/>
                  </a:cubicBezTo>
                  <a:cubicBezTo>
                    <a:pt x="3763818" y="570345"/>
                    <a:pt x="3602181" y="503382"/>
                    <a:pt x="3519054" y="438727"/>
                  </a:cubicBezTo>
                  <a:cubicBezTo>
                    <a:pt x="3435927" y="374073"/>
                    <a:pt x="3398981" y="272473"/>
                    <a:pt x="3366654" y="203200"/>
                  </a:cubicBezTo>
                  <a:cubicBezTo>
                    <a:pt x="3334327" y="133927"/>
                    <a:pt x="3336636" y="25400"/>
                    <a:pt x="3325091" y="23091"/>
                  </a:cubicBezTo>
                  <a:cubicBezTo>
                    <a:pt x="3313546" y="20782"/>
                    <a:pt x="3313546" y="133927"/>
                    <a:pt x="3297382" y="189345"/>
                  </a:cubicBezTo>
                  <a:cubicBezTo>
                    <a:pt x="3281218" y="244763"/>
                    <a:pt x="3274291" y="300182"/>
                    <a:pt x="3228109" y="355600"/>
                  </a:cubicBezTo>
                  <a:cubicBezTo>
                    <a:pt x="3181927" y="411018"/>
                    <a:pt x="3121891" y="489527"/>
                    <a:pt x="3020291" y="521854"/>
                  </a:cubicBezTo>
                  <a:cubicBezTo>
                    <a:pt x="2918691" y="554181"/>
                    <a:pt x="2722418" y="565727"/>
                    <a:pt x="2618509" y="549564"/>
                  </a:cubicBezTo>
                  <a:cubicBezTo>
                    <a:pt x="2514600" y="533401"/>
                    <a:pt x="2456872" y="466437"/>
                    <a:pt x="2396836" y="424873"/>
                  </a:cubicBezTo>
                  <a:cubicBezTo>
                    <a:pt x="2336800" y="383309"/>
                    <a:pt x="2290618" y="369455"/>
                    <a:pt x="2258291" y="300182"/>
                  </a:cubicBezTo>
                  <a:cubicBezTo>
                    <a:pt x="2225964" y="230909"/>
                    <a:pt x="2219036" y="18472"/>
                    <a:pt x="2202872" y="9236"/>
                  </a:cubicBezTo>
                  <a:cubicBezTo>
                    <a:pt x="2186708" y="0"/>
                    <a:pt x="2184400" y="170873"/>
                    <a:pt x="2161309" y="244764"/>
                  </a:cubicBezTo>
                  <a:cubicBezTo>
                    <a:pt x="2138218" y="318655"/>
                    <a:pt x="2133600" y="392546"/>
                    <a:pt x="2064327" y="452582"/>
                  </a:cubicBezTo>
                  <a:cubicBezTo>
                    <a:pt x="1995054" y="512618"/>
                    <a:pt x="1842654" y="584200"/>
                    <a:pt x="1745672" y="604982"/>
                  </a:cubicBezTo>
                  <a:cubicBezTo>
                    <a:pt x="1648690" y="625764"/>
                    <a:pt x="1560945" y="604982"/>
                    <a:pt x="1482436" y="577273"/>
                  </a:cubicBezTo>
                  <a:cubicBezTo>
                    <a:pt x="1403927" y="549564"/>
                    <a:pt x="1327727" y="487218"/>
                    <a:pt x="1274618" y="438727"/>
                  </a:cubicBezTo>
                  <a:cubicBezTo>
                    <a:pt x="1221509" y="390236"/>
                    <a:pt x="1191491" y="353291"/>
                    <a:pt x="1163782" y="286327"/>
                  </a:cubicBezTo>
                  <a:cubicBezTo>
                    <a:pt x="1136073" y="219363"/>
                    <a:pt x="1129145" y="34636"/>
                    <a:pt x="1108363" y="36945"/>
                  </a:cubicBezTo>
                  <a:cubicBezTo>
                    <a:pt x="1087581" y="39254"/>
                    <a:pt x="1073727" y="223982"/>
                    <a:pt x="1039091" y="300182"/>
                  </a:cubicBezTo>
                  <a:cubicBezTo>
                    <a:pt x="1004455" y="376382"/>
                    <a:pt x="958272" y="445654"/>
                    <a:pt x="900545" y="494145"/>
                  </a:cubicBezTo>
                  <a:cubicBezTo>
                    <a:pt x="842818" y="542636"/>
                    <a:pt x="778163" y="581891"/>
                    <a:pt x="692727" y="591127"/>
                  </a:cubicBezTo>
                  <a:cubicBezTo>
                    <a:pt x="607291" y="600363"/>
                    <a:pt x="477981" y="577273"/>
                    <a:pt x="387927" y="549564"/>
                  </a:cubicBezTo>
                  <a:cubicBezTo>
                    <a:pt x="297873" y="521855"/>
                    <a:pt x="212436" y="489528"/>
                    <a:pt x="152400" y="424873"/>
                  </a:cubicBezTo>
                  <a:cubicBezTo>
                    <a:pt x="92364" y="360218"/>
                    <a:pt x="48491" y="228600"/>
                    <a:pt x="27709" y="161636"/>
                  </a:cubicBezTo>
                  <a:cubicBezTo>
                    <a:pt x="6927" y="94672"/>
                    <a:pt x="0" y="20782"/>
                    <a:pt x="13854" y="50800"/>
                  </a:cubicBezTo>
                  <a:close/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 flipV="1">
              <a:off x="2843808" y="2996952"/>
              <a:ext cx="576064" cy="122413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71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7922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305800" cy="924712"/>
          </a:xfrm>
        </p:spPr>
        <p:txBody>
          <a:bodyPr>
            <a:normAutofit/>
          </a:bodyPr>
          <a:lstStyle/>
          <a:p>
            <a:r>
              <a:rPr lang="en-GB" sz="2800" dirty="0"/>
              <a:t>(e)  Self Loop(s)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268760"/>
            <a:ext cx="8251115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7380312" y="2060848"/>
            <a:ext cx="936104" cy="3312368"/>
            <a:chOff x="7380312" y="2060848"/>
            <a:chExt cx="936104" cy="3312368"/>
          </a:xfrm>
        </p:grpSpPr>
        <p:pic>
          <p:nvPicPr>
            <p:cNvPr id="5" name="Picture 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306" t="56643" r="52799" b="34506"/>
            <a:stretch>
              <a:fillRect/>
            </a:stretch>
          </p:blipFill>
          <p:spPr bwMode="auto">
            <a:xfrm>
              <a:off x="7380312" y="5013176"/>
              <a:ext cx="936104" cy="3600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7" name="Straight Arrow Connector 6"/>
            <p:cNvCxnSpPr/>
            <p:nvPr/>
          </p:nvCxnSpPr>
          <p:spPr>
            <a:xfrm flipH="1" flipV="1">
              <a:off x="7524328" y="2060848"/>
              <a:ext cx="288032" cy="273630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72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2265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305800" cy="924712"/>
          </a:xfrm>
        </p:spPr>
        <p:txBody>
          <a:bodyPr>
            <a:normAutofit/>
          </a:bodyPr>
          <a:lstStyle/>
          <a:p>
            <a:r>
              <a:rPr lang="en-GB" sz="2800" dirty="0"/>
              <a:t>(f)  Loop Gains of the Feedback Loops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836712"/>
            <a:ext cx="8251115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35" t="74345" r="83808" b="16804"/>
          <a:stretch>
            <a:fillRect/>
          </a:stretch>
        </p:blipFill>
        <p:spPr bwMode="auto">
          <a:xfrm>
            <a:off x="323528" y="3789040"/>
            <a:ext cx="864096" cy="360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68" t="74345" r="72913" b="16804"/>
          <a:stretch>
            <a:fillRect/>
          </a:stretch>
        </p:blipFill>
        <p:spPr bwMode="auto">
          <a:xfrm>
            <a:off x="323528" y="4293096"/>
            <a:ext cx="792088" cy="360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63" t="74345" r="62018" b="16804"/>
          <a:stretch>
            <a:fillRect/>
          </a:stretch>
        </p:blipFill>
        <p:spPr bwMode="auto">
          <a:xfrm>
            <a:off x="323528" y="4797152"/>
            <a:ext cx="792088" cy="360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45" t="74345" r="51536" b="16804"/>
          <a:stretch>
            <a:fillRect/>
          </a:stretch>
        </p:blipFill>
        <p:spPr bwMode="auto">
          <a:xfrm>
            <a:off x="251520" y="5301208"/>
            <a:ext cx="792088" cy="360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53" t="74345" r="40228" b="16804"/>
          <a:stretch>
            <a:fillRect/>
          </a:stretch>
        </p:blipFill>
        <p:spPr bwMode="auto">
          <a:xfrm>
            <a:off x="1691680" y="3789040"/>
            <a:ext cx="792088" cy="360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448" t="74345" r="25142" b="15034"/>
          <a:stretch>
            <a:fillRect/>
          </a:stretch>
        </p:blipFill>
        <p:spPr bwMode="auto">
          <a:xfrm>
            <a:off x="1547664" y="4293096"/>
            <a:ext cx="1152128" cy="43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1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239" t="74345" r="3352" b="15034"/>
          <a:stretch>
            <a:fillRect/>
          </a:stretch>
        </p:blipFill>
        <p:spPr bwMode="auto">
          <a:xfrm>
            <a:off x="1547664" y="5229200"/>
            <a:ext cx="1152128" cy="43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1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34" t="74345" r="19275" b="13264"/>
          <a:stretch>
            <a:fillRect/>
          </a:stretch>
        </p:blipFill>
        <p:spPr bwMode="auto">
          <a:xfrm>
            <a:off x="1763688" y="4725144"/>
            <a:ext cx="360040" cy="504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35" t="83195" r="70399" b="7954"/>
          <a:stretch>
            <a:fillRect/>
          </a:stretch>
        </p:blipFill>
        <p:spPr bwMode="auto">
          <a:xfrm>
            <a:off x="3347864" y="3789040"/>
            <a:ext cx="2016224" cy="360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1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77" t="83195" r="41904" b="7954"/>
          <a:stretch>
            <a:fillRect/>
          </a:stretch>
        </p:blipFill>
        <p:spPr bwMode="auto">
          <a:xfrm>
            <a:off x="3419872" y="4293096"/>
            <a:ext cx="2304256" cy="360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73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425233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305800" cy="924712"/>
          </a:xfrm>
        </p:spPr>
        <p:txBody>
          <a:bodyPr>
            <a:normAutofit/>
          </a:bodyPr>
          <a:lstStyle/>
          <a:p>
            <a:r>
              <a:rPr lang="en-GB" sz="2800" dirty="0"/>
              <a:t>(g)  Path Gains of the Forward Paths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412776"/>
            <a:ext cx="8251115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73" t="92046" r="71237"/>
          <a:stretch>
            <a:fillRect/>
          </a:stretch>
        </p:blipFill>
        <p:spPr bwMode="auto">
          <a:xfrm>
            <a:off x="683568" y="4293096"/>
            <a:ext cx="1872208" cy="323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39" t="92046" r="64532"/>
          <a:stretch>
            <a:fillRect/>
          </a:stretch>
        </p:blipFill>
        <p:spPr bwMode="auto">
          <a:xfrm>
            <a:off x="611560" y="4941168"/>
            <a:ext cx="432048" cy="323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44" t="92046" r="45256"/>
          <a:stretch>
            <a:fillRect/>
          </a:stretch>
        </p:blipFill>
        <p:spPr bwMode="auto">
          <a:xfrm>
            <a:off x="467544" y="5517232"/>
            <a:ext cx="1512168" cy="323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74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238578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672" y="188640"/>
            <a:ext cx="8305800" cy="794352"/>
          </a:xfrm>
        </p:spPr>
        <p:txBody>
          <a:bodyPr>
            <a:normAutofit/>
          </a:bodyPr>
          <a:lstStyle/>
          <a:p>
            <a:r>
              <a:rPr lang="en-GB" dirty="0"/>
              <a:t>Mason’s Rule (Mason, 1953)</a:t>
            </a:r>
          </a:p>
        </p:txBody>
      </p:sp>
      <p:sp>
        <p:nvSpPr>
          <p:cNvPr id="3" name="Rectangle 2"/>
          <p:cNvSpPr/>
          <p:nvPr/>
        </p:nvSpPr>
        <p:spPr>
          <a:xfrm>
            <a:off x="179512" y="1268760"/>
            <a:ext cx="8712968" cy="5021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400" dirty="0"/>
              <a:t>The block diagram reduction technique requires successive application of fundamental relationships in order to arrive at the system transfer function. 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400" dirty="0"/>
              <a:t>On the other hand, Mason’s rule for reducing a signal-flow graph to a single transfer function requires the application of one formula. 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400" dirty="0"/>
              <a:t>The formula was derived by S. J. Mason when he related the signal-flow graph to the simultaneous equations that can be written from the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75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833089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305800" cy="780696"/>
          </a:xfrm>
        </p:spPr>
        <p:txBody>
          <a:bodyPr>
            <a:normAutofit/>
          </a:bodyPr>
          <a:lstStyle/>
          <a:p>
            <a:r>
              <a:rPr lang="en-GB" dirty="0"/>
              <a:t>Mason’s Rule:</a:t>
            </a:r>
          </a:p>
        </p:txBody>
      </p:sp>
      <p:sp>
        <p:nvSpPr>
          <p:cNvPr id="3" name="Rectangle 2"/>
          <p:cNvSpPr/>
          <p:nvPr/>
        </p:nvSpPr>
        <p:spPr>
          <a:xfrm>
            <a:off x="179512" y="1052736"/>
            <a:ext cx="8712968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en-GB" sz="2000" dirty="0"/>
              <a:t>The transfer function,  </a:t>
            </a:r>
            <a:r>
              <a:rPr lang="en-GB" sz="2000" b="1" i="1" dirty="0">
                <a:solidFill>
                  <a:schemeClr val="accent1"/>
                </a:solidFill>
              </a:rPr>
              <a:t>C(s)/R(s), </a:t>
            </a:r>
            <a:r>
              <a:rPr lang="en-GB" sz="2000" dirty="0"/>
              <a:t>of a system represented by a signal-flow graph is;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en-GB" sz="2000" dirty="0"/>
          </a:p>
          <a:p>
            <a:pPr marL="285750" indent="-285750" algn="just">
              <a:buFont typeface="Arial" pitchFamily="34" charset="0"/>
              <a:buChar char="•"/>
            </a:pPr>
            <a:endParaRPr lang="en-GB" sz="2000" dirty="0"/>
          </a:p>
          <a:p>
            <a:pPr marL="285750" indent="-285750" algn="just">
              <a:buFont typeface="Arial" pitchFamily="34" charset="0"/>
              <a:buChar char="•"/>
            </a:pPr>
            <a:endParaRPr lang="en-GB" sz="2000" dirty="0"/>
          </a:p>
          <a:p>
            <a:pPr marL="285750" indent="-285750" algn="just">
              <a:buFont typeface="Arial" pitchFamily="34" charset="0"/>
              <a:buChar char="•"/>
            </a:pPr>
            <a:endParaRPr lang="en-GB" sz="2000" dirty="0"/>
          </a:p>
          <a:p>
            <a:pPr marL="285750" indent="-285750" algn="just">
              <a:buFont typeface="Arial" pitchFamily="34" charset="0"/>
              <a:buChar char="•"/>
            </a:pPr>
            <a:endParaRPr lang="en-GB" sz="2000" dirty="0"/>
          </a:p>
          <a:p>
            <a:r>
              <a:rPr lang="en-GB" sz="2000" dirty="0"/>
              <a:t>Where</a:t>
            </a:r>
          </a:p>
          <a:p>
            <a:endParaRPr lang="en-GB" sz="2000" dirty="0"/>
          </a:p>
          <a:p>
            <a:r>
              <a:rPr lang="en-GB" sz="2000" i="1" dirty="0"/>
              <a:t>n</a:t>
            </a:r>
            <a:r>
              <a:rPr lang="en-GB" sz="2000" dirty="0"/>
              <a:t>   = number of forward paths.</a:t>
            </a:r>
          </a:p>
          <a:p>
            <a:r>
              <a:rPr lang="en-GB" sz="2000" i="1" dirty="0"/>
              <a:t>P</a:t>
            </a:r>
            <a:r>
              <a:rPr lang="en-GB" sz="2000" i="1" baseline="-25000" dirty="0"/>
              <a:t>i</a:t>
            </a:r>
            <a:r>
              <a:rPr lang="en-GB" sz="2000" dirty="0"/>
              <a:t> = the </a:t>
            </a:r>
            <a:r>
              <a:rPr lang="en-GB" sz="2000" i="1" dirty="0" err="1"/>
              <a:t>i</a:t>
            </a:r>
            <a:r>
              <a:rPr lang="en-GB" sz="2000" i="1" baseline="30000" dirty="0"/>
              <a:t> </a:t>
            </a:r>
            <a:r>
              <a:rPr lang="en-GB" sz="2000" baseline="30000" dirty="0" err="1"/>
              <a:t>th</a:t>
            </a:r>
            <a:r>
              <a:rPr lang="en-GB" sz="2000" dirty="0"/>
              <a:t> forward-path gain.</a:t>
            </a:r>
          </a:p>
          <a:p>
            <a:r>
              <a:rPr lang="en-GB" sz="2000" dirty="0"/>
              <a:t>∆ = Determinant of the system</a:t>
            </a:r>
          </a:p>
          <a:p>
            <a:r>
              <a:rPr lang="en-GB" sz="2000" dirty="0"/>
              <a:t>∆</a:t>
            </a:r>
            <a:r>
              <a:rPr lang="en-GB" sz="2000" i="1" baseline="-25000" dirty="0" err="1"/>
              <a:t>i</a:t>
            </a:r>
            <a:r>
              <a:rPr lang="en-GB" sz="2000" dirty="0"/>
              <a:t> = Determinant of the </a:t>
            </a:r>
            <a:r>
              <a:rPr lang="en-GB" sz="2000" i="1" dirty="0" err="1"/>
              <a:t>i</a:t>
            </a:r>
            <a:r>
              <a:rPr lang="en-GB" sz="2000" baseline="30000" dirty="0" err="1"/>
              <a:t>th</a:t>
            </a:r>
            <a:r>
              <a:rPr lang="en-GB" sz="2000" dirty="0"/>
              <a:t> forward path</a:t>
            </a:r>
          </a:p>
          <a:p>
            <a:endParaRPr lang="en-GB" sz="2000" dirty="0"/>
          </a:p>
          <a:p>
            <a:pPr marL="285750" indent="-285750">
              <a:buFont typeface="Arial" pitchFamily="34" charset="0"/>
              <a:buChar char="•"/>
            </a:pPr>
            <a:endParaRPr lang="en-GB" sz="2000" dirty="0"/>
          </a:p>
          <a:p>
            <a:pPr marL="285750" indent="-285750">
              <a:buFont typeface="Arial" pitchFamily="34" charset="0"/>
              <a:buChar char="•"/>
            </a:pPr>
            <a:r>
              <a:rPr lang="en-GB" sz="2000" dirty="0"/>
              <a:t>∆ is called the signal flow graph determinant or characteristic function. Since ∆=</a:t>
            </a:r>
            <a:r>
              <a:rPr lang="en-GB" sz="2000" dirty="0">
                <a:latin typeface="Arial" pitchFamily="34" charset="0"/>
                <a:cs typeface="Arial" pitchFamily="34" charset="0"/>
              </a:rPr>
              <a:t>0 </a:t>
            </a:r>
            <a:r>
              <a:rPr lang="en-GB" sz="2000" dirty="0"/>
              <a:t>is the system characteristic equation.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3347864" y="1667573"/>
          <a:ext cx="2160240" cy="1329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25480" imgH="507960" progId="Equation.3">
                  <p:embed/>
                </p:oleObj>
              </mc:Choice>
              <mc:Fallback>
                <p:oleObj name="Equation" r:id="rId2" imgW="825480" imgH="507960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1667573"/>
                        <a:ext cx="2160240" cy="13293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76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010931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305800" cy="780696"/>
          </a:xfrm>
        </p:spPr>
        <p:txBody>
          <a:bodyPr>
            <a:normAutofit/>
          </a:bodyPr>
          <a:lstStyle/>
          <a:p>
            <a:r>
              <a:rPr lang="en-GB" dirty="0"/>
              <a:t>Mason’s Rule:</a:t>
            </a:r>
          </a:p>
        </p:txBody>
      </p:sp>
      <p:sp>
        <p:nvSpPr>
          <p:cNvPr id="3" name="Rectangle 2"/>
          <p:cNvSpPr/>
          <p:nvPr/>
        </p:nvSpPr>
        <p:spPr>
          <a:xfrm>
            <a:off x="179512" y="1052736"/>
            <a:ext cx="8712968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endParaRPr lang="en-GB" sz="2000" dirty="0"/>
          </a:p>
          <a:p>
            <a:pPr marL="285750" indent="-285750" algn="just">
              <a:buFont typeface="Arial" pitchFamily="34" charset="0"/>
              <a:buChar char="•"/>
            </a:pPr>
            <a:endParaRPr lang="en-GB" sz="2000" dirty="0"/>
          </a:p>
          <a:p>
            <a:pPr marL="285750" indent="-285750" algn="just">
              <a:buFont typeface="Arial" pitchFamily="34" charset="0"/>
              <a:buChar char="•"/>
            </a:pPr>
            <a:endParaRPr lang="en-GB" sz="2000" dirty="0"/>
          </a:p>
          <a:p>
            <a:pPr marL="285750" indent="-285750" algn="just">
              <a:buFont typeface="Arial" pitchFamily="34" charset="0"/>
              <a:buChar char="•"/>
            </a:pPr>
            <a:endParaRPr lang="en-GB" sz="2000" dirty="0"/>
          </a:p>
          <a:p>
            <a:pPr marL="285750" indent="-285750" algn="just">
              <a:buFont typeface="Arial" pitchFamily="34" charset="0"/>
              <a:buChar char="•"/>
            </a:pPr>
            <a:endParaRPr lang="en-GB" sz="2000" dirty="0"/>
          </a:p>
          <a:p>
            <a:pPr algn="just"/>
            <a:r>
              <a:rPr lang="en-GB" sz="2200" dirty="0"/>
              <a:t>∆ = 1- (sum of all individual loop gains) + (sum of the products of the gains of all possible two loops that do not touch each other) – (sum of the products of the gains of all possible three loops that do not touch each other) + … and so forth with sums of higher number of non-touching loop gains</a:t>
            </a:r>
          </a:p>
          <a:p>
            <a:pPr algn="just"/>
            <a:endParaRPr lang="en-GB" sz="2200" dirty="0"/>
          </a:p>
          <a:p>
            <a:pPr algn="just"/>
            <a:r>
              <a:rPr lang="en-GB" sz="2200" dirty="0"/>
              <a:t>∆</a:t>
            </a:r>
            <a:r>
              <a:rPr lang="en-GB" sz="2200" i="1" baseline="-25000" dirty="0" err="1"/>
              <a:t>i</a:t>
            </a:r>
            <a:r>
              <a:rPr lang="en-GB" sz="2200" dirty="0"/>
              <a:t> = value of Δ for the part of the block diagram that does not touch the </a:t>
            </a:r>
            <a:r>
              <a:rPr lang="en-GB" sz="2200" dirty="0" err="1"/>
              <a:t>i-th</a:t>
            </a:r>
            <a:r>
              <a:rPr lang="en-GB" sz="2200" dirty="0"/>
              <a:t> forward path (</a:t>
            </a:r>
            <a:r>
              <a:rPr lang="en-GB" sz="2200" dirty="0" err="1"/>
              <a:t>Δ</a:t>
            </a:r>
            <a:r>
              <a:rPr lang="en-GB" sz="2200" baseline="-25000" dirty="0" err="1"/>
              <a:t>i</a:t>
            </a:r>
            <a:r>
              <a:rPr lang="en-GB" sz="2200" dirty="0"/>
              <a:t> = 1 if there are no non-touching loops to the </a:t>
            </a:r>
            <a:r>
              <a:rPr lang="en-GB" sz="2200" dirty="0" err="1"/>
              <a:t>i-th</a:t>
            </a:r>
            <a:r>
              <a:rPr lang="en-GB" sz="2200" dirty="0"/>
              <a:t> path.)</a:t>
            </a:r>
          </a:p>
          <a:p>
            <a:endParaRPr lang="en-GB" sz="2000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3347864" y="1124744"/>
          <a:ext cx="2160240" cy="1329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25480" imgH="507960" progId="Equation.3">
                  <p:embed/>
                </p:oleObj>
              </mc:Choice>
              <mc:Fallback>
                <p:oleObj name="Equation" r:id="rId2" imgW="825480" imgH="507960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1124744"/>
                        <a:ext cx="2160240" cy="13293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77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039039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Rectangle 3"/>
          <p:cNvSpPr>
            <a:spLocks noChangeArrowheads="1"/>
          </p:cNvSpPr>
          <p:nvPr/>
        </p:nvSpPr>
        <p:spPr bwMode="auto">
          <a:xfrm>
            <a:off x="323528" y="404664"/>
            <a:ext cx="7772400" cy="6192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533400" indent="-533400" algn="ctr">
              <a:spcBef>
                <a:spcPct val="20000"/>
              </a:spcBef>
            </a:pPr>
            <a:r>
              <a:rPr lang="en-US" sz="3200" b="1" dirty="0"/>
              <a:t>Systematic approach</a:t>
            </a:r>
          </a:p>
          <a:p>
            <a:pPr marL="533400" indent="-533400" algn="ctr">
              <a:spcBef>
                <a:spcPct val="20000"/>
              </a:spcBef>
            </a:pPr>
            <a:endParaRPr lang="en-US" sz="3200" b="1" dirty="0"/>
          </a:p>
          <a:p>
            <a:pPr marL="533400" indent="-533400" algn="just">
              <a:spcBef>
                <a:spcPct val="20000"/>
              </a:spcBef>
              <a:buFont typeface="Monotype Sorts" pitchFamily="2" charset="2"/>
              <a:buAutoNum type="arabicPeriod"/>
            </a:pPr>
            <a:r>
              <a:rPr lang="en-US" sz="2800" dirty="0"/>
              <a:t>Calculate forward path gain </a:t>
            </a:r>
            <a:r>
              <a:rPr lang="en-US" sz="2800" i="1" dirty="0">
                <a:cs typeface="Times New Roman" pitchFamily="18" charset="0"/>
              </a:rPr>
              <a:t>P</a:t>
            </a:r>
            <a:r>
              <a:rPr lang="en-US" sz="2800" i="1" baseline="-25000" dirty="0">
                <a:cs typeface="Times New Roman" pitchFamily="18" charset="0"/>
              </a:rPr>
              <a:t>i</a:t>
            </a:r>
            <a:r>
              <a:rPr lang="en-US" sz="2800" baseline="-25000" dirty="0">
                <a:cs typeface="Times New Roman" pitchFamily="18" charset="0"/>
              </a:rPr>
              <a:t> </a:t>
            </a:r>
            <a:r>
              <a:rPr lang="en-US" sz="2800" dirty="0"/>
              <a:t>for each forward path </a:t>
            </a:r>
            <a:r>
              <a:rPr lang="en-US" sz="2800" i="1" dirty="0" err="1"/>
              <a:t>i</a:t>
            </a:r>
            <a:r>
              <a:rPr lang="en-US" sz="2800" i="1" dirty="0"/>
              <a:t>.</a:t>
            </a:r>
          </a:p>
          <a:p>
            <a:pPr marL="533400" indent="-533400" algn="just">
              <a:spcBef>
                <a:spcPct val="20000"/>
              </a:spcBef>
              <a:buFont typeface="Monotype Sorts" pitchFamily="2" charset="2"/>
              <a:buAutoNum type="arabicPeriod"/>
            </a:pPr>
            <a:r>
              <a:rPr lang="en-US" sz="2800" dirty="0"/>
              <a:t>Calculate all loop transfer functions</a:t>
            </a:r>
          </a:p>
          <a:p>
            <a:pPr marL="533400" indent="-533400" algn="just">
              <a:spcBef>
                <a:spcPct val="20000"/>
              </a:spcBef>
              <a:buFont typeface="Monotype Sorts" pitchFamily="2" charset="2"/>
              <a:buAutoNum type="arabicPeriod"/>
            </a:pPr>
            <a:r>
              <a:rPr lang="en-US" sz="2800" dirty="0"/>
              <a:t>Consider non-touching loops 2 at a time</a:t>
            </a:r>
          </a:p>
          <a:p>
            <a:pPr marL="533400" indent="-533400" algn="just">
              <a:spcBef>
                <a:spcPct val="20000"/>
              </a:spcBef>
              <a:buFont typeface="Monotype Sorts" pitchFamily="2" charset="2"/>
              <a:buAutoNum type="arabicPeriod"/>
            </a:pPr>
            <a:r>
              <a:rPr lang="en-US" sz="2800" dirty="0"/>
              <a:t>Consider non-touching loops 3 at a time</a:t>
            </a:r>
          </a:p>
          <a:p>
            <a:pPr marL="533400" indent="-533400" algn="just">
              <a:spcBef>
                <a:spcPct val="20000"/>
              </a:spcBef>
              <a:buFont typeface="Monotype Sorts" pitchFamily="2" charset="2"/>
              <a:buAutoNum type="arabicPeriod"/>
            </a:pPr>
            <a:r>
              <a:rPr lang="en-US" sz="2800" dirty="0"/>
              <a:t>etc</a:t>
            </a:r>
          </a:p>
          <a:p>
            <a:pPr marL="533400" indent="-533400" algn="just">
              <a:spcBef>
                <a:spcPct val="20000"/>
              </a:spcBef>
              <a:buFont typeface="Monotype Sorts" pitchFamily="2" charset="2"/>
              <a:buAutoNum type="arabicPeriod"/>
            </a:pPr>
            <a:r>
              <a:rPr lang="en-US" sz="2800" dirty="0"/>
              <a:t>Calculate </a:t>
            </a:r>
            <a:r>
              <a:rPr lang="el-GR" sz="2800" dirty="0">
                <a:cs typeface="Times New Roman" pitchFamily="18" charset="0"/>
              </a:rPr>
              <a:t>Δ</a:t>
            </a:r>
            <a:r>
              <a:rPr lang="en-US" sz="2800" dirty="0">
                <a:cs typeface="Times New Roman" pitchFamily="18" charset="0"/>
              </a:rPr>
              <a:t> from steps 2,3,4 and 5</a:t>
            </a:r>
          </a:p>
          <a:p>
            <a:pPr marL="533400" indent="-533400" algn="just">
              <a:spcBef>
                <a:spcPct val="20000"/>
              </a:spcBef>
              <a:buFont typeface="Monotype Sorts" pitchFamily="2" charset="2"/>
              <a:buAutoNum type="arabicPeriod"/>
            </a:pPr>
            <a:r>
              <a:rPr lang="en-US" sz="2800" dirty="0">
                <a:cs typeface="Times New Roman" pitchFamily="18" charset="0"/>
              </a:rPr>
              <a:t>Calculate </a:t>
            </a:r>
            <a:r>
              <a:rPr lang="el-GR" sz="2800" dirty="0">
                <a:cs typeface="Times New Roman" pitchFamily="18" charset="0"/>
              </a:rPr>
              <a:t>Δ</a:t>
            </a:r>
            <a:r>
              <a:rPr lang="en-US" sz="2800" baseline="-25000" dirty="0">
                <a:cs typeface="Times New Roman" pitchFamily="18" charset="0"/>
              </a:rPr>
              <a:t>i </a:t>
            </a:r>
            <a:r>
              <a:rPr lang="en-US" sz="2800" dirty="0">
                <a:cs typeface="Times New Roman" pitchFamily="18" charset="0"/>
              </a:rPr>
              <a:t>as portion of </a:t>
            </a:r>
            <a:r>
              <a:rPr lang="el-GR" sz="2800" dirty="0">
                <a:cs typeface="Times New Roman" pitchFamily="18" charset="0"/>
              </a:rPr>
              <a:t>Δ</a:t>
            </a:r>
            <a:r>
              <a:rPr lang="en-US" sz="2800" dirty="0">
                <a:cs typeface="Times New Roman" pitchFamily="18" charset="0"/>
              </a:rPr>
              <a:t> not touching forward path </a:t>
            </a:r>
            <a:r>
              <a:rPr lang="en-US" sz="2800" i="1" dirty="0">
                <a:cs typeface="Times New Roman" pitchFamily="18" charset="0"/>
              </a:rPr>
              <a:t>i</a:t>
            </a:r>
            <a:endParaRPr lang="el-GR" sz="2800" i="1" dirty="0">
              <a:cs typeface="Times New Roman" pitchFamily="18" charset="0"/>
            </a:endParaRPr>
          </a:p>
        </p:txBody>
      </p:sp>
      <p:sp>
        <p:nvSpPr>
          <p:cNvPr id="2052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FABE21C-46F5-493A-A31E-029F659422BA}" type="slidenum">
              <a:rPr lang="en-US" smtClean="0"/>
              <a:pPr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940966"/>
          </a:xfrm>
        </p:spPr>
        <p:txBody>
          <a:bodyPr>
            <a:normAutofit/>
          </a:bodyPr>
          <a:lstStyle/>
          <a:p>
            <a:r>
              <a:rPr lang="en-GB" sz="2200" dirty="0" err="1"/>
              <a:t>Example#1</a:t>
            </a:r>
            <a:r>
              <a:rPr lang="en-GB" sz="2200" dirty="0"/>
              <a:t>: Apply Mason’s Rule to calculate the transfer function of the system represented by following Signal Flow Graph</a:t>
            </a:r>
          </a:p>
        </p:txBody>
      </p:sp>
      <p:pic>
        <p:nvPicPr>
          <p:cNvPr id="134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1268760"/>
            <a:ext cx="6534150" cy="176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" name="Group 7"/>
          <p:cNvGrpSpPr/>
          <p:nvPr/>
        </p:nvGrpSpPr>
        <p:grpSpPr>
          <a:xfrm>
            <a:off x="107504" y="2852936"/>
            <a:ext cx="3111774" cy="864096"/>
            <a:chOff x="107504" y="2852936"/>
            <a:chExt cx="3111774" cy="864096"/>
          </a:xfrm>
        </p:grpSpPr>
        <p:pic>
          <p:nvPicPr>
            <p:cNvPr id="134147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07504" y="2852936"/>
              <a:ext cx="3111774" cy="3600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4148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51520" y="3284984"/>
              <a:ext cx="2845194" cy="4320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2" name="Group 11"/>
          <p:cNvGrpSpPr/>
          <p:nvPr/>
        </p:nvGrpSpPr>
        <p:grpSpPr>
          <a:xfrm>
            <a:off x="179512" y="4077072"/>
            <a:ext cx="5570346" cy="864096"/>
            <a:chOff x="179512" y="4077072"/>
            <a:chExt cx="5570346" cy="864096"/>
          </a:xfrm>
        </p:grpSpPr>
        <p:graphicFrame>
          <p:nvGraphicFramePr>
            <p:cNvPr id="144386" name="Object 17"/>
            <p:cNvGraphicFramePr>
              <a:graphicFrameLocks noChangeAspect="1"/>
            </p:cNvGraphicFramePr>
            <p:nvPr/>
          </p:nvGraphicFramePr>
          <p:xfrm>
            <a:off x="3347864" y="4077072"/>
            <a:ext cx="2401994" cy="8640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952200" imgH="342720" progId="Equation.3">
                    <p:embed/>
                  </p:oleObj>
                </mc:Choice>
                <mc:Fallback>
                  <p:oleObj name="Equation" r:id="rId5" imgW="952200" imgH="342720" progId="Equation.3">
                    <p:embed/>
                    <p:pic>
                      <p:nvPicPr>
                        <p:cNvPr id="144386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47864" y="4077072"/>
                          <a:ext cx="2401994" cy="864096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TextBox 10"/>
            <p:cNvSpPr txBox="1"/>
            <p:nvPr/>
          </p:nvSpPr>
          <p:spPr>
            <a:xfrm>
              <a:off x="179512" y="4077072"/>
              <a:ext cx="11778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Therefore,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179512" y="5157192"/>
            <a:ext cx="7851589" cy="1080120"/>
            <a:chOff x="179512" y="5157192"/>
            <a:chExt cx="7851589" cy="1080120"/>
          </a:xfrm>
        </p:grpSpPr>
        <p:graphicFrame>
          <p:nvGraphicFramePr>
            <p:cNvPr id="144387" name="Object 10"/>
            <p:cNvGraphicFramePr>
              <a:graphicFrameLocks noChangeAspect="1"/>
            </p:cNvGraphicFramePr>
            <p:nvPr/>
          </p:nvGraphicFramePr>
          <p:xfrm>
            <a:off x="1403648" y="5805264"/>
            <a:ext cx="6627453" cy="4320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2920680" imgH="190440" progId="Equation.3">
                    <p:embed/>
                  </p:oleObj>
                </mc:Choice>
                <mc:Fallback>
                  <p:oleObj name="Equation" r:id="rId7" imgW="2920680" imgH="190440" progId="Equation.3">
                    <p:embed/>
                    <p:pic>
                      <p:nvPicPr>
                        <p:cNvPr id="144387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3648" y="5805264"/>
                          <a:ext cx="6627453" cy="432048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TextBox 13"/>
            <p:cNvSpPr txBox="1"/>
            <p:nvPr/>
          </p:nvSpPr>
          <p:spPr>
            <a:xfrm>
              <a:off x="179512" y="5157192"/>
              <a:ext cx="320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There are three feedback loops</a:t>
              </a:r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79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940966"/>
          </a:xfrm>
        </p:spPr>
        <p:txBody>
          <a:bodyPr>
            <a:normAutofit/>
          </a:bodyPr>
          <a:lstStyle/>
          <a:p>
            <a:r>
              <a:rPr lang="en-GB" sz="2200" dirty="0" err="1"/>
              <a:t>Example#1</a:t>
            </a:r>
            <a:r>
              <a:rPr lang="en-GB" sz="2200" dirty="0"/>
              <a:t>: Apply Mason’s Rule to calculate the transfer function of the system represented by following Signal Flow Graph</a:t>
            </a:r>
          </a:p>
        </p:txBody>
      </p:sp>
      <p:pic>
        <p:nvPicPr>
          <p:cNvPr id="134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1268760"/>
            <a:ext cx="6534150" cy="176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4" name="Group 13"/>
          <p:cNvGrpSpPr/>
          <p:nvPr/>
        </p:nvGrpSpPr>
        <p:grpSpPr>
          <a:xfrm>
            <a:off x="251520" y="3244914"/>
            <a:ext cx="6471538" cy="1119029"/>
            <a:chOff x="251520" y="3244914"/>
            <a:chExt cx="6471538" cy="1119029"/>
          </a:xfrm>
        </p:grpSpPr>
        <p:sp>
          <p:nvSpPr>
            <p:cNvPr id="9" name="Rectangle 8"/>
            <p:cNvSpPr/>
            <p:nvPr/>
          </p:nvSpPr>
          <p:spPr>
            <a:xfrm>
              <a:off x="2141804" y="3933056"/>
              <a:ext cx="4581254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200" dirty="0"/>
                <a:t>∆ = 1- (sum of all individual loop gains)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51520" y="3244914"/>
              <a:ext cx="477701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000" b="1" dirty="0"/>
                <a:t>There are no non-touching loops, therefore</a:t>
              </a:r>
            </a:p>
          </p:txBody>
        </p:sp>
      </p:grpSp>
      <p:graphicFrame>
        <p:nvGraphicFramePr>
          <p:cNvPr id="134145" name="Object 12"/>
          <p:cNvGraphicFramePr>
            <a:graphicFrameLocks noChangeAspect="1"/>
          </p:cNvGraphicFramePr>
          <p:nvPr/>
        </p:nvGraphicFramePr>
        <p:xfrm>
          <a:off x="2195736" y="4642749"/>
          <a:ext cx="2638400" cy="442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30040" imgH="190440" progId="Equation.3">
                  <p:embed/>
                </p:oleObj>
              </mc:Choice>
              <mc:Fallback>
                <p:oleObj name="Equation" r:id="rId3" imgW="1130040" imgH="190440" progId="Equation.3">
                  <p:embed/>
                  <p:pic>
                    <p:nvPicPr>
                      <p:cNvPr id="134145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736" y="4642749"/>
                        <a:ext cx="2638400" cy="44243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2"/>
          <p:cNvGraphicFramePr>
            <a:graphicFrameLocks noChangeAspect="1"/>
          </p:cNvGraphicFramePr>
          <p:nvPr/>
        </p:nvGraphicFramePr>
        <p:xfrm>
          <a:off x="2195736" y="5363939"/>
          <a:ext cx="5424487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323800" imgH="190440" progId="Equation.3">
                  <p:embed/>
                </p:oleObj>
              </mc:Choice>
              <mc:Fallback>
                <p:oleObj name="Equation" r:id="rId5" imgW="2323800" imgH="190440" progId="Equation.3">
                  <p:embed/>
                  <p:pic>
                    <p:nvPicPr>
                      <p:cNvPr id="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736" y="5363939"/>
                        <a:ext cx="5424487" cy="44132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80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940966"/>
          </a:xfrm>
        </p:spPr>
        <p:txBody>
          <a:bodyPr>
            <a:normAutofit/>
          </a:bodyPr>
          <a:lstStyle/>
          <a:p>
            <a:r>
              <a:rPr lang="en-GB" sz="2200" dirty="0" err="1"/>
              <a:t>Example#1</a:t>
            </a:r>
            <a:r>
              <a:rPr lang="en-GB" sz="2200" dirty="0"/>
              <a:t>: Apply Mason’s Rule to calculate the transfer function of the system represented by following Signal Flow Graph</a:t>
            </a:r>
          </a:p>
        </p:txBody>
      </p:sp>
      <p:pic>
        <p:nvPicPr>
          <p:cNvPr id="134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1268760"/>
            <a:ext cx="6534150" cy="176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3" name="Group 12"/>
          <p:cNvGrpSpPr/>
          <p:nvPr/>
        </p:nvGrpSpPr>
        <p:grpSpPr>
          <a:xfrm>
            <a:off x="251520" y="3140968"/>
            <a:ext cx="6918776" cy="1281313"/>
            <a:chOff x="251520" y="3140968"/>
            <a:chExt cx="6918776" cy="1281313"/>
          </a:xfrm>
        </p:grpSpPr>
        <p:sp>
          <p:nvSpPr>
            <p:cNvPr id="9" name="Rectangle 8"/>
            <p:cNvSpPr/>
            <p:nvPr/>
          </p:nvSpPr>
          <p:spPr>
            <a:xfrm>
              <a:off x="2141804" y="3645024"/>
              <a:ext cx="5028492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200" dirty="0"/>
                <a:t>∆</a:t>
              </a:r>
              <a:r>
                <a:rPr lang="en-GB" sz="2200" baseline="-25000" dirty="0"/>
                <a:t>1</a:t>
              </a:r>
              <a:r>
                <a:rPr lang="en-GB" sz="2200" dirty="0"/>
                <a:t> = 1- (sum of all individual loop gains)+...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51520" y="3140968"/>
              <a:ext cx="257467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b="1" dirty="0"/>
                <a:t>Eliminate forward path-1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138529" y="3991394"/>
              <a:ext cx="849913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200" dirty="0"/>
                <a:t>∆</a:t>
              </a:r>
              <a:r>
                <a:rPr lang="en-GB" sz="2200" baseline="-25000" dirty="0"/>
                <a:t>1</a:t>
              </a:r>
              <a:r>
                <a:rPr lang="en-GB" sz="2200" dirty="0"/>
                <a:t> = 1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23528" y="5013176"/>
            <a:ext cx="6918776" cy="1281313"/>
            <a:chOff x="251520" y="3140968"/>
            <a:chExt cx="6918776" cy="1281313"/>
          </a:xfrm>
        </p:grpSpPr>
        <p:sp>
          <p:nvSpPr>
            <p:cNvPr id="15" name="Rectangle 14"/>
            <p:cNvSpPr/>
            <p:nvPr/>
          </p:nvSpPr>
          <p:spPr>
            <a:xfrm>
              <a:off x="2141804" y="3645024"/>
              <a:ext cx="5028492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200" dirty="0"/>
                <a:t>∆</a:t>
              </a:r>
              <a:r>
                <a:rPr lang="en-GB" sz="2200" baseline="-25000" dirty="0"/>
                <a:t>2</a:t>
              </a:r>
              <a:r>
                <a:rPr lang="en-GB" sz="2200" dirty="0"/>
                <a:t> = 1- (sum of all individual loop gains)+...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51520" y="3140968"/>
              <a:ext cx="257467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b="1" dirty="0"/>
                <a:t>Eliminate forward path-2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138529" y="3991394"/>
              <a:ext cx="849913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200" dirty="0"/>
                <a:t>∆</a:t>
              </a:r>
              <a:r>
                <a:rPr lang="en-GB" sz="2200" baseline="-25000" dirty="0"/>
                <a:t>2</a:t>
              </a:r>
              <a:r>
                <a:rPr lang="en-GB" sz="2200" dirty="0"/>
                <a:t> = 1</a:t>
              </a: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81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78098"/>
          </a:xfrm>
        </p:spPr>
        <p:txBody>
          <a:bodyPr>
            <a:normAutofit/>
          </a:bodyPr>
          <a:lstStyle/>
          <a:p>
            <a:r>
              <a:rPr lang="en-GB" sz="3000" dirty="0" err="1"/>
              <a:t>Example#1</a:t>
            </a:r>
            <a:r>
              <a:rPr lang="en-GB" sz="3000" dirty="0"/>
              <a:t>: Continue</a:t>
            </a:r>
          </a:p>
        </p:txBody>
      </p:sp>
      <p:pic>
        <p:nvPicPr>
          <p:cNvPr id="135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664" y="1484784"/>
            <a:ext cx="5851551" cy="722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5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47864" y="2636912"/>
            <a:ext cx="4285631" cy="8279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82</a:t>
            </a:fld>
            <a:endParaRPr lang="en-GB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7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907704" y="846111"/>
            <a:ext cx="4752528" cy="2822825"/>
          </a:xfrm>
          <a:noFill/>
        </p:spPr>
      </p:pic>
      <p:sp>
        <p:nvSpPr>
          <p:cNvPr id="3079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74C7C1D-B6C1-4662-A022-B341BD5D6772}" type="slidenum">
              <a:rPr lang="en-US" smtClean="0"/>
              <a:pPr/>
              <a:t>83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305800" cy="924712"/>
          </a:xfrm>
        </p:spPr>
        <p:txBody>
          <a:bodyPr>
            <a:normAutofit/>
          </a:bodyPr>
          <a:lstStyle/>
          <a:p>
            <a:r>
              <a:rPr lang="en-GB" sz="2400" dirty="0" err="1"/>
              <a:t>Example#2</a:t>
            </a:r>
            <a:r>
              <a:rPr lang="en-GB" sz="2400" dirty="0"/>
              <a:t>: Apply Mason’s Rule to calculate the transfer function of the system represented by following Signal Flow Graph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235024" y="4749531"/>
            <a:ext cx="8153400" cy="863869"/>
            <a:chOff x="235024" y="4749531"/>
            <a:chExt cx="8153400" cy="863869"/>
          </a:xfrm>
        </p:grpSpPr>
        <p:graphicFrame>
          <p:nvGraphicFramePr>
            <p:cNvPr id="3076" name="Object 10"/>
            <p:cNvGraphicFramePr>
              <a:graphicFrameLocks noGrp="1" noChangeAspect="1"/>
            </p:cNvGraphicFramePr>
            <p:nvPr>
              <p:ph sz="quarter" idx="2"/>
            </p:nvPr>
          </p:nvGraphicFramePr>
          <p:xfrm>
            <a:off x="971550" y="5230813"/>
            <a:ext cx="6172200" cy="3825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3073320" imgH="190440" progId="Equation.3">
                    <p:embed/>
                  </p:oleObj>
                </mc:Choice>
                <mc:Fallback>
                  <p:oleObj name="Equation" r:id="rId3" imgW="3073320" imgH="190440" progId="Equation.3">
                    <p:embed/>
                    <p:pic>
                      <p:nvPicPr>
                        <p:cNvPr id="3076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1550" y="5230813"/>
                          <a:ext cx="6172200" cy="382587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235024" y="4749531"/>
              <a:ext cx="81534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342900" indent="-342900"/>
              <a:r>
                <a:rPr kumimoji="1" lang="en-US" sz="2000" b="1" dirty="0"/>
                <a:t>2. Calculate all loop gains.</a:t>
              </a:r>
              <a:endParaRPr kumimoji="1" lang="en-US" sz="2000" b="1" baseline="-25000" dirty="0">
                <a:solidFill>
                  <a:srgbClr val="3366CC"/>
                </a:solidFill>
              </a:endParaRPr>
            </a:p>
          </p:txBody>
        </p:sp>
      </p:grp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251520" y="5725705"/>
            <a:ext cx="81534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/>
            <a:r>
              <a:rPr kumimoji="1" lang="en-US" sz="2000" b="1" dirty="0"/>
              <a:t>3. Consider two non-touching loops.</a:t>
            </a:r>
          </a:p>
          <a:p>
            <a:pPr marL="342900" indent="-342900"/>
            <a:r>
              <a:rPr kumimoji="1" lang="en-US" sz="2000" b="1" dirty="0"/>
              <a:t>	</a:t>
            </a:r>
            <a:r>
              <a:rPr kumimoji="1" lang="en-US" sz="2000" b="1" dirty="0" err="1">
                <a:solidFill>
                  <a:srgbClr val="3366CC"/>
                </a:solidFill>
              </a:rPr>
              <a:t>L</a:t>
            </a:r>
            <a:r>
              <a:rPr kumimoji="1" lang="en-US" sz="2000" b="1" baseline="-25000" dirty="0" err="1">
                <a:solidFill>
                  <a:srgbClr val="3366CC"/>
                </a:solidFill>
              </a:rPr>
              <a:t>1</a:t>
            </a:r>
            <a:r>
              <a:rPr kumimoji="1" lang="en-US" sz="2000" b="1" dirty="0" err="1">
                <a:solidFill>
                  <a:srgbClr val="3366CC"/>
                </a:solidFill>
              </a:rPr>
              <a:t>L</a:t>
            </a:r>
            <a:r>
              <a:rPr kumimoji="1" lang="en-US" sz="2000" b="1" baseline="-25000" dirty="0" err="1">
                <a:solidFill>
                  <a:srgbClr val="3366CC"/>
                </a:solidFill>
              </a:rPr>
              <a:t>3</a:t>
            </a:r>
            <a:r>
              <a:rPr kumimoji="1" lang="en-US" sz="2000" b="1" dirty="0">
                <a:solidFill>
                  <a:srgbClr val="3366CC"/>
                </a:solidFill>
              </a:rPr>
              <a:t>      </a:t>
            </a:r>
            <a:r>
              <a:rPr kumimoji="1" lang="en-US" sz="2000" b="1" dirty="0" err="1">
                <a:solidFill>
                  <a:srgbClr val="3366CC"/>
                </a:solidFill>
              </a:rPr>
              <a:t>L</a:t>
            </a:r>
            <a:r>
              <a:rPr kumimoji="1" lang="en-US" sz="2000" b="1" baseline="-25000" dirty="0" err="1">
                <a:solidFill>
                  <a:srgbClr val="3366CC"/>
                </a:solidFill>
              </a:rPr>
              <a:t>1</a:t>
            </a:r>
            <a:r>
              <a:rPr kumimoji="1" lang="en-US" sz="2000" b="1" dirty="0" err="1">
                <a:solidFill>
                  <a:srgbClr val="3366CC"/>
                </a:solidFill>
              </a:rPr>
              <a:t>L</a:t>
            </a:r>
            <a:r>
              <a:rPr kumimoji="1" lang="en-US" sz="2000" b="1" baseline="-25000" dirty="0" err="1">
                <a:solidFill>
                  <a:srgbClr val="3366CC"/>
                </a:solidFill>
              </a:rPr>
              <a:t>4</a:t>
            </a:r>
            <a:r>
              <a:rPr kumimoji="1" lang="en-US" sz="2000" b="1" dirty="0">
                <a:solidFill>
                  <a:srgbClr val="3366CC"/>
                </a:solidFill>
              </a:rPr>
              <a:t>  </a:t>
            </a:r>
          </a:p>
          <a:p>
            <a:pPr marL="342900" indent="-342900"/>
            <a:r>
              <a:rPr kumimoji="1" lang="en-US" sz="2000" b="1" dirty="0">
                <a:solidFill>
                  <a:srgbClr val="3366CC"/>
                </a:solidFill>
              </a:rPr>
              <a:t>      </a:t>
            </a:r>
            <a:r>
              <a:rPr kumimoji="1" lang="en-US" sz="2000" b="1" dirty="0" err="1">
                <a:solidFill>
                  <a:srgbClr val="3366CC"/>
                </a:solidFill>
              </a:rPr>
              <a:t>L</a:t>
            </a:r>
            <a:r>
              <a:rPr kumimoji="1" lang="en-US" sz="2000" b="1" baseline="-25000" dirty="0" err="1">
                <a:solidFill>
                  <a:srgbClr val="3366CC"/>
                </a:solidFill>
              </a:rPr>
              <a:t>2</a:t>
            </a:r>
            <a:r>
              <a:rPr kumimoji="1" lang="en-US" sz="2000" b="1" dirty="0" err="1">
                <a:solidFill>
                  <a:srgbClr val="3366CC"/>
                </a:solidFill>
              </a:rPr>
              <a:t>L</a:t>
            </a:r>
            <a:r>
              <a:rPr kumimoji="1" lang="en-US" sz="2000" b="1" baseline="-25000" dirty="0" err="1">
                <a:solidFill>
                  <a:srgbClr val="3366CC"/>
                </a:solidFill>
              </a:rPr>
              <a:t>4</a:t>
            </a:r>
            <a:r>
              <a:rPr kumimoji="1" lang="en-US" sz="2000" b="1" baseline="-25000" dirty="0">
                <a:solidFill>
                  <a:srgbClr val="3366CC"/>
                </a:solidFill>
              </a:rPr>
              <a:t> </a:t>
            </a:r>
            <a:r>
              <a:rPr kumimoji="1" lang="en-US" sz="2000" b="1" dirty="0">
                <a:solidFill>
                  <a:srgbClr val="3366CC"/>
                </a:solidFill>
              </a:rPr>
              <a:t>	   </a:t>
            </a:r>
            <a:r>
              <a:rPr kumimoji="1" lang="en-US" sz="2000" b="1" dirty="0" err="1">
                <a:solidFill>
                  <a:srgbClr val="3366CC"/>
                </a:solidFill>
              </a:rPr>
              <a:t>L</a:t>
            </a:r>
            <a:r>
              <a:rPr kumimoji="1" lang="en-US" sz="2000" b="1" baseline="-25000" dirty="0" err="1">
                <a:solidFill>
                  <a:srgbClr val="3366CC"/>
                </a:solidFill>
              </a:rPr>
              <a:t>2</a:t>
            </a:r>
            <a:r>
              <a:rPr kumimoji="1" lang="en-US" sz="2000" b="1" dirty="0" err="1">
                <a:solidFill>
                  <a:srgbClr val="3366CC"/>
                </a:solidFill>
              </a:rPr>
              <a:t>L</a:t>
            </a:r>
            <a:r>
              <a:rPr kumimoji="1" lang="en-US" sz="2000" b="1" baseline="-25000" dirty="0" err="1">
                <a:solidFill>
                  <a:srgbClr val="3366CC"/>
                </a:solidFill>
              </a:rPr>
              <a:t>3</a:t>
            </a:r>
            <a:r>
              <a:rPr kumimoji="1" lang="en-US" sz="2000" b="1" baseline="-25000" dirty="0">
                <a:solidFill>
                  <a:srgbClr val="3366CC"/>
                </a:solidFill>
              </a:rPr>
              <a:t> 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251520" y="1764145"/>
            <a:ext cx="8153400" cy="2809432"/>
            <a:chOff x="251520" y="1764145"/>
            <a:chExt cx="8153400" cy="2809432"/>
          </a:xfrm>
        </p:grpSpPr>
        <p:grpSp>
          <p:nvGrpSpPr>
            <p:cNvPr id="11" name="Group 10"/>
            <p:cNvGrpSpPr/>
            <p:nvPr/>
          </p:nvGrpSpPr>
          <p:grpSpPr>
            <a:xfrm>
              <a:off x="251520" y="3688521"/>
              <a:ext cx="8153400" cy="885056"/>
              <a:chOff x="539552" y="3212976"/>
              <a:chExt cx="8153400" cy="885056"/>
            </a:xfrm>
          </p:grpSpPr>
          <p:graphicFrame>
            <p:nvGraphicFramePr>
              <p:cNvPr id="3075" name="Object 11"/>
              <p:cNvGraphicFramePr>
                <a:graphicFrameLocks noGrp="1" noChangeAspect="1"/>
              </p:cNvGraphicFramePr>
              <p:nvPr>
                <p:ph sz="quarter" idx="3"/>
              </p:nvPr>
            </p:nvGraphicFramePr>
            <p:xfrm>
              <a:off x="966788" y="3717032"/>
              <a:ext cx="6629400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" imgW="3314520" imgH="190440" progId="Equation.3">
                      <p:embed/>
                    </p:oleObj>
                  </mc:Choice>
                  <mc:Fallback>
                    <p:oleObj name="Equation" r:id="rId5" imgW="3314520" imgH="190440" progId="Equation.3">
                      <p:embed/>
                      <p:pic>
                        <p:nvPicPr>
                          <p:cNvPr id="3075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66788" y="3717032"/>
                            <a:ext cx="6629400" cy="381000"/>
                          </a:xfrm>
                          <a:prstGeom prst="rect">
                            <a:avLst/>
                          </a:prstGeom>
                          <a:solidFill>
                            <a:srgbClr val="FFFFFF"/>
                          </a:solidFill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078" name="Rectangle 5"/>
              <p:cNvSpPr>
                <a:spLocks noChangeArrowheads="1"/>
              </p:cNvSpPr>
              <p:nvPr/>
            </p:nvSpPr>
            <p:spPr bwMode="auto">
              <a:xfrm>
                <a:off x="539552" y="3212976"/>
                <a:ext cx="8153400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342900" indent="-342900"/>
                <a:r>
                  <a:rPr kumimoji="1" lang="en-US" sz="2000" b="1" dirty="0"/>
                  <a:t>1. Calculate forward path gains for each forward path</a:t>
                </a:r>
                <a:r>
                  <a:rPr kumimoji="1" lang="en-US" sz="2000" b="1" i="1" dirty="0"/>
                  <a:t>.</a:t>
                </a:r>
                <a:endParaRPr kumimoji="1" lang="en-US" sz="2000" b="1" dirty="0"/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2715491" y="1764145"/>
              <a:ext cx="3214254" cy="508000"/>
              <a:chOff x="2715491" y="1764145"/>
              <a:chExt cx="3214254" cy="508000"/>
            </a:xfrm>
          </p:grpSpPr>
          <p:sp>
            <p:nvSpPr>
              <p:cNvPr id="13" name="Freeform 12"/>
              <p:cNvSpPr/>
              <p:nvPr/>
            </p:nvSpPr>
            <p:spPr>
              <a:xfrm>
                <a:off x="2715491" y="1764145"/>
                <a:ext cx="3214254" cy="508000"/>
              </a:xfrm>
              <a:custGeom>
                <a:avLst/>
                <a:gdLst>
                  <a:gd name="connsiteX0" fmla="*/ 0 w 3214254"/>
                  <a:gd name="connsiteY0" fmla="*/ 508000 h 508000"/>
                  <a:gd name="connsiteX1" fmla="*/ 277091 w 3214254"/>
                  <a:gd name="connsiteY1" fmla="*/ 133928 h 508000"/>
                  <a:gd name="connsiteX2" fmla="*/ 748145 w 3214254"/>
                  <a:gd name="connsiteY2" fmla="*/ 50800 h 508000"/>
                  <a:gd name="connsiteX3" fmla="*/ 1773382 w 3214254"/>
                  <a:gd name="connsiteY3" fmla="*/ 78510 h 508000"/>
                  <a:gd name="connsiteX4" fmla="*/ 2549236 w 3214254"/>
                  <a:gd name="connsiteY4" fmla="*/ 23091 h 508000"/>
                  <a:gd name="connsiteX5" fmla="*/ 2867891 w 3214254"/>
                  <a:gd name="connsiteY5" fmla="*/ 64655 h 508000"/>
                  <a:gd name="connsiteX6" fmla="*/ 3214254 w 3214254"/>
                  <a:gd name="connsiteY6" fmla="*/ 411019 h 50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214254" h="508000">
                    <a:moveTo>
                      <a:pt x="0" y="508000"/>
                    </a:moveTo>
                    <a:cubicBezTo>
                      <a:pt x="76200" y="359064"/>
                      <a:pt x="152400" y="210128"/>
                      <a:pt x="277091" y="133928"/>
                    </a:cubicBezTo>
                    <a:cubicBezTo>
                      <a:pt x="401782" y="57728"/>
                      <a:pt x="498763" y="60036"/>
                      <a:pt x="748145" y="50800"/>
                    </a:cubicBezTo>
                    <a:cubicBezTo>
                      <a:pt x="997527" y="41564"/>
                      <a:pt x="1473200" y="83128"/>
                      <a:pt x="1773382" y="78510"/>
                    </a:cubicBezTo>
                    <a:cubicBezTo>
                      <a:pt x="2073564" y="73892"/>
                      <a:pt x="2366818" y="25400"/>
                      <a:pt x="2549236" y="23091"/>
                    </a:cubicBezTo>
                    <a:cubicBezTo>
                      <a:pt x="2731654" y="20782"/>
                      <a:pt x="2757055" y="0"/>
                      <a:pt x="2867891" y="64655"/>
                    </a:cubicBezTo>
                    <a:cubicBezTo>
                      <a:pt x="2978727" y="129310"/>
                      <a:pt x="3096490" y="270164"/>
                      <a:pt x="3214254" y="411019"/>
                    </a:cubicBezTo>
                  </a:path>
                </a:pathLst>
              </a:custGeom>
              <a:ln w="28575">
                <a:solidFill>
                  <a:srgbClr val="FF000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4283968" y="1844824"/>
                <a:ext cx="3866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 err="1">
                    <a:solidFill>
                      <a:srgbClr val="FF0000"/>
                    </a:solidFill>
                  </a:rPr>
                  <a:t>P</a:t>
                </a:r>
                <a:r>
                  <a:rPr lang="en-GB" b="1" baseline="-25000" dirty="0" err="1">
                    <a:solidFill>
                      <a:srgbClr val="FF0000"/>
                    </a:solidFill>
                  </a:rPr>
                  <a:t>1</a:t>
                </a:r>
                <a:endParaRPr lang="en-GB" b="1" baseline="-250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>
              <a:off x="2784764" y="2313709"/>
              <a:ext cx="3144981" cy="477982"/>
              <a:chOff x="2784764" y="2313709"/>
              <a:chExt cx="3144981" cy="477982"/>
            </a:xfrm>
          </p:grpSpPr>
          <p:sp>
            <p:nvSpPr>
              <p:cNvPr id="14" name="Freeform 13"/>
              <p:cNvSpPr/>
              <p:nvPr/>
            </p:nvSpPr>
            <p:spPr>
              <a:xfrm>
                <a:off x="2784764" y="2313709"/>
                <a:ext cx="3144981" cy="477982"/>
              </a:xfrm>
              <a:custGeom>
                <a:avLst/>
                <a:gdLst>
                  <a:gd name="connsiteX0" fmla="*/ 0 w 3144981"/>
                  <a:gd name="connsiteY0" fmla="*/ 0 h 477982"/>
                  <a:gd name="connsiteX1" fmla="*/ 332509 w 3144981"/>
                  <a:gd name="connsiteY1" fmla="*/ 360218 h 477982"/>
                  <a:gd name="connsiteX2" fmla="*/ 637309 w 3144981"/>
                  <a:gd name="connsiteY2" fmla="*/ 387927 h 477982"/>
                  <a:gd name="connsiteX3" fmla="*/ 1551709 w 3144981"/>
                  <a:gd name="connsiteY3" fmla="*/ 415636 h 477982"/>
                  <a:gd name="connsiteX4" fmla="*/ 2618509 w 3144981"/>
                  <a:gd name="connsiteY4" fmla="*/ 429491 h 477982"/>
                  <a:gd name="connsiteX5" fmla="*/ 3144981 w 3144981"/>
                  <a:gd name="connsiteY5" fmla="*/ 124691 h 477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144981" h="477982">
                    <a:moveTo>
                      <a:pt x="0" y="0"/>
                    </a:moveTo>
                    <a:cubicBezTo>
                      <a:pt x="113145" y="147782"/>
                      <a:pt x="226291" y="295564"/>
                      <a:pt x="332509" y="360218"/>
                    </a:cubicBezTo>
                    <a:cubicBezTo>
                      <a:pt x="438727" y="424872"/>
                      <a:pt x="434109" y="378691"/>
                      <a:pt x="637309" y="387927"/>
                    </a:cubicBezTo>
                    <a:cubicBezTo>
                      <a:pt x="840509" y="397163"/>
                      <a:pt x="1551709" y="415636"/>
                      <a:pt x="1551709" y="415636"/>
                    </a:cubicBezTo>
                    <a:cubicBezTo>
                      <a:pt x="1881909" y="422563"/>
                      <a:pt x="2352964" y="477982"/>
                      <a:pt x="2618509" y="429491"/>
                    </a:cubicBezTo>
                    <a:cubicBezTo>
                      <a:pt x="2884054" y="381000"/>
                      <a:pt x="3014517" y="252845"/>
                      <a:pt x="3144981" y="124691"/>
                    </a:cubicBezTo>
                  </a:path>
                </a:pathLst>
              </a:custGeom>
              <a:ln w="28575">
                <a:solidFill>
                  <a:srgbClr val="00B0F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4283968" y="2367298"/>
                <a:ext cx="3866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 err="1">
                    <a:solidFill>
                      <a:srgbClr val="00B0F0"/>
                    </a:solidFill>
                  </a:rPr>
                  <a:t>P</a:t>
                </a:r>
                <a:r>
                  <a:rPr lang="en-GB" b="1" baseline="-25000" dirty="0" err="1">
                    <a:solidFill>
                      <a:srgbClr val="00B0F0"/>
                    </a:solidFill>
                  </a:rPr>
                  <a:t>2</a:t>
                </a:r>
                <a:endParaRPr lang="en-GB" b="1" baseline="-25000" dirty="0">
                  <a:solidFill>
                    <a:srgbClr val="00B0F0"/>
                  </a:solidFill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5"/>
          <p:cNvSpPr>
            <a:spLocks noChangeArrowheads="1"/>
          </p:cNvSpPr>
          <p:nvPr/>
        </p:nvSpPr>
        <p:spPr bwMode="auto">
          <a:xfrm>
            <a:off x="251520" y="1491952"/>
            <a:ext cx="889248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AutoNum type="arabicPeriod" startAt="4"/>
            </a:pPr>
            <a:r>
              <a:rPr lang="en-US" sz="2600" dirty="0"/>
              <a:t>Consider three non-touching loops.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sz="2600" dirty="0"/>
              <a:t>	</a:t>
            </a:r>
            <a:r>
              <a:rPr lang="en-US" sz="2600" dirty="0">
                <a:solidFill>
                  <a:srgbClr val="3366CC"/>
                </a:solidFill>
              </a:rPr>
              <a:t>None.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endParaRPr lang="en-US" sz="2600" dirty="0">
              <a:solidFill>
                <a:srgbClr val="3366CC"/>
              </a:solidFill>
            </a:endParaRP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AutoNum type="arabicPeriod" startAt="5"/>
            </a:pPr>
            <a:r>
              <a:rPr lang="en-US" sz="2600" dirty="0"/>
              <a:t>Calculate </a:t>
            </a:r>
            <a:r>
              <a:rPr lang="el-GR" sz="2600" dirty="0">
                <a:cs typeface="Times New Roman" pitchFamily="18" charset="0"/>
              </a:rPr>
              <a:t>Δ</a:t>
            </a:r>
            <a:r>
              <a:rPr lang="en-US" sz="2600" dirty="0">
                <a:cs typeface="Times New Roman" pitchFamily="18" charset="0"/>
              </a:rPr>
              <a:t> from steps 2,3,4.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AutoNum type="arabicPeriod" startAt="5"/>
            </a:pPr>
            <a:endParaRPr lang="en-US" sz="2600" dirty="0">
              <a:cs typeface="Times New Roman" pitchFamily="18" charset="0"/>
            </a:endParaRP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AutoNum type="arabicPeriod" startAt="5"/>
            </a:pPr>
            <a:endParaRPr lang="en-US" sz="2600" dirty="0">
              <a:cs typeface="Times New Roman" pitchFamily="18" charset="0"/>
            </a:endParaRP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AutoNum type="arabicPeriod" startAt="5"/>
            </a:pPr>
            <a:endParaRPr lang="en-US" sz="2400" dirty="0"/>
          </a:p>
        </p:txBody>
      </p:sp>
      <p:graphicFrame>
        <p:nvGraphicFramePr>
          <p:cNvPr id="4099" name="Object 12"/>
          <p:cNvGraphicFramePr>
            <a:graphicFrameLocks noChangeAspect="1"/>
          </p:cNvGraphicFramePr>
          <p:nvPr/>
        </p:nvGraphicFramePr>
        <p:xfrm>
          <a:off x="1346200" y="3686175"/>
          <a:ext cx="6535738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58840" imgH="190440" progId="Equation.3">
                  <p:embed/>
                </p:oleObj>
              </mc:Choice>
              <mc:Fallback>
                <p:oleObj name="Equation" r:id="rId2" imgW="2958840" imgH="190440" progId="Equation.3">
                  <p:embed/>
                  <p:pic>
                    <p:nvPicPr>
                      <p:cNvPr id="4099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6200" y="3686175"/>
                        <a:ext cx="6535738" cy="420688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3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F347A19-895E-46A6-ADE6-317AEC8DA5CD}" type="slidenum">
              <a:rPr lang="en-US" smtClean="0"/>
              <a:pPr/>
              <a:t>84</a:t>
            </a:fld>
            <a:endParaRPr lang="en-US"/>
          </a:p>
        </p:txBody>
      </p:sp>
      <p:graphicFrame>
        <p:nvGraphicFramePr>
          <p:cNvPr id="133125" name="Object 12"/>
          <p:cNvGraphicFramePr>
            <a:graphicFrameLocks noChangeAspect="1"/>
          </p:cNvGraphicFramePr>
          <p:nvPr/>
        </p:nvGraphicFramePr>
        <p:xfrm>
          <a:off x="827584" y="4360838"/>
          <a:ext cx="8243389" cy="10123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00400" imgH="393480" progId="Equation.3">
                  <p:embed/>
                </p:oleObj>
              </mc:Choice>
              <mc:Fallback>
                <p:oleObj name="Equation" r:id="rId4" imgW="3200400" imgH="393480" progId="Equation.3">
                  <p:embed/>
                  <p:pic>
                    <p:nvPicPr>
                      <p:cNvPr id="133125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4360838"/>
                        <a:ext cx="8243389" cy="1012378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305800" cy="924712"/>
          </a:xfrm>
        </p:spPr>
        <p:txBody>
          <a:bodyPr>
            <a:normAutofit/>
          </a:bodyPr>
          <a:lstStyle/>
          <a:p>
            <a:r>
              <a:rPr lang="en-GB" sz="4000" dirty="0" err="1"/>
              <a:t>Example#2</a:t>
            </a:r>
            <a:r>
              <a:rPr lang="en-GB" sz="4000" dirty="0"/>
              <a:t>: continue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448251"/>
            <a:ext cx="2133600" cy="365125"/>
          </a:xfrm>
          <a:noFill/>
        </p:spPr>
        <p:txBody>
          <a:bodyPr/>
          <a:lstStyle/>
          <a:p>
            <a:fld id="{0F347A19-895E-46A6-ADE6-317AEC8DA5CD}" type="slidenum">
              <a:rPr lang="en-US" smtClean="0"/>
              <a:pPr/>
              <a:t>85</a:t>
            </a:fld>
            <a:endParaRPr lang="en-US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457200" y="-27384"/>
            <a:ext cx="8305800" cy="924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Example#2: continue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5076056" y="1124744"/>
            <a:ext cx="3816424" cy="2266814"/>
          </a:xfrm>
          <a:prstGeom prst="rect">
            <a:avLst/>
          </a:prstGeom>
          <a:noFill/>
        </p:spPr>
      </p:pic>
      <p:grpSp>
        <p:nvGrpSpPr>
          <p:cNvPr id="2" name="Group 13"/>
          <p:cNvGrpSpPr/>
          <p:nvPr/>
        </p:nvGrpSpPr>
        <p:grpSpPr>
          <a:xfrm>
            <a:off x="179512" y="1135866"/>
            <a:ext cx="8466501" cy="1429899"/>
            <a:chOff x="179512" y="1135866"/>
            <a:chExt cx="8466501" cy="1429899"/>
          </a:xfrm>
        </p:grpSpPr>
        <p:sp>
          <p:nvSpPr>
            <p:cNvPr id="11" name="Rectangle 10"/>
            <p:cNvSpPr/>
            <p:nvPr/>
          </p:nvSpPr>
          <p:spPr>
            <a:xfrm>
              <a:off x="179512" y="1340768"/>
              <a:ext cx="257467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b="1" dirty="0"/>
                <a:t>Eliminate forward path-1</a:t>
              </a:r>
            </a:p>
          </p:txBody>
        </p:sp>
        <p:graphicFrame>
          <p:nvGraphicFramePr>
            <p:cNvPr id="146437" name="Object 5"/>
            <p:cNvGraphicFramePr>
              <a:graphicFrameLocks noChangeAspect="1"/>
            </p:cNvGraphicFramePr>
            <p:nvPr/>
          </p:nvGraphicFramePr>
          <p:xfrm>
            <a:off x="611560" y="1988840"/>
            <a:ext cx="2846164" cy="576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939600" imgH="190440" progId="Equation.3">
                    <p:embed/>
                  </p:oleObj>
                </mc:Choice>
                <mc:Fallback>
                  <p:oleObj name="Equation" r:id="rId3" imgW="939600" imgH="190440" progId="Equation.3">
                    <p:embed/>
                    <p:pic>
                      <p:nvPicPr>
                        <p:cNvPr id="14643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1560" y="1988840"/>
                          <a:ext cx="2846164" cy="5769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Oval 12"/>
            <p:cNvSpPr/>
            <p:nvPr/>
          </p:nvSpPr>
          <p:spPr>
            <a:xfrm>
              <a:off x="5405653" y="1135866"/>
              <a:ext cx="3240360" cy="136815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331912" y="3923764"/>
            <a:ext cx="8812088" cy="2584031"/>
            <a:chOff x="331912" y="3923764"/>
            <a:chExt cx="8812088" cy="2584031"/>
          </a:xfrm>
        </p:grpSpPr>
        <p:graphicFrame>
          <p:nvGraphicFramePr>
            <p:cNvPr id="4100" name="Object 14"/>
            <p:cNvGraphicFramePr>
              <a:graphicFrameLocks noChangeAspect="1"/>
            </p:cNvGraphicFramePr>
            <p:nvPr/>
          </p:nvGraphicFramePr>
          <p:xfrm>
            <a:off x="539552" y="4548039"/>
            <a:ext cx="2328862" cy="465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952200" imgH="190440" progId="Equation.3">
                    <p:embed/>
                  </p:oleObj>
                </mc:Choice>
                <mc:Fallback>
                  <p:oleObj name="Equation" r:id="rId5" imgW="952200" imgH="190440" progId="Equation.3">
                    <p:embed/>
                    <p:pic>
                      <p:nvPicPr>
                        <p:cNvPr id="410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9552" y="4548039"/>
                          <a:ext cx="2328862" cy="465137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" name="Group 16"/>
            <p:cNvGrpSpPr/>
            <p:nvPr/>
          </p:nvGrpSpPr>
          <p:grpSpPr>
            <a:xfrm>
              <a:off x="5327576" y="4240981"/>
              <a:ext cx="3816424" cy="2266814"/>
              <a:chOff x="5327576" y="4149080"/>
              <a:chExt cx="3816424" cy="2266814"/>
            </a:xfrm>
          </p:grpSpPr>
          <p:pic>
            <p:nvPicPr>
              <p:cNvPr id="15" name="Picture 7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>
              <a:xfrm>
                <a:off x="5327576" y="4149080"/>
                <a:ext cx="3816424" cy="2266814"/>
              </a:xfrm>
              <a:prstGeom prst="rect">
                <a:avLst/>
              </a:prstGeom>
              <a:noFill/>
            </p:spPr>
          </p:pic>
          <p:sp>
            <p:nvSpPr>
              <p:cNvPr id="16" name="Oval 15"/>
              <p:cNvSpPr/>
              <p:nvPr/>
            </p:nvSpPr>
            <p:spPr>
              <a:xfrm>
                <a:off x="5668708" y="5043619"/>
                <a:ext cx="3240360" cy="136815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8" name="Rectangle 17"/>
            <p:cNvSpPr/>
            <p:nvPr/>
          </p:nvSpPr>
          <p:spPr>
            <a:xfrm>
              <a:off x="331912" y="3923764"/>
              <a:ext cx="257467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b="1" dirty="0"/>
                <a:t>Eliminate forward path-2</a:t>
              </a:r>
            </a:p>
          </p:txBody>
        </p:sp>
      </p:grpSp>
      <p:graphicFrame>
        <p:nvGraphicFramePr>
          <p:cNvPr id="19" name="Object 5"/>
          <p:cNvGraphicFramePr>
            <a:graphicFrameLocks noChangeAspect="1"/>
          </p:cNvGraphicFramePr>
          <p:nvPr/>
        </p:nvGraphicFramePr>
        <p:xfrm>
          <a:off x="611560" y="2708920"/>
          <a:ext cx="3672408" cy="5411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95280" imgH="190440" progId="Equation.3">
                  <p:embed/>
                </p:oleObj>
              </mc:Choice>
              <mc:Fallback>
                <p:oleObj name="Equation" r:id="rId7" imgW="1295280" imgH="190440" progId="Equation.3">
                  <p:embed/>
                  <p:pic>
                    <p:nvPicPr>
                      <p:cNvPr id="1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2708920"/>
                        <a:ext cx="3672408" cy="5411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06" name="Object 5"/>
          <p:cNvGraphicFramePr>
            <a:graphicFrameLocks noChangeAspect="1"/>
          </p:cNvGraphicFramePr>
          <p:nvPr/>
        </p:nvGraphicFramePr>
        <p:xfrm>
          <a:off x="593725" y="5300663"/>
          <a:ext cx="3708400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07880" imgH="190440" progId="Equation.3">
                  <p:embed/>
                </p:oleObj>
              </mc:Choice>
              <mc:Fallback>
                <p:oleObj name="Equation" r:id="rId9" imgW="1307880" imgH="190440" progId="Equation.3">
                  <p:embed/>
                  <p:pic>
                    <p:nvPicPr>
                      <p:cNvPr id="15360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725" y="5300663"/>
                        <a:ext cx="3708400" cy="541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Object 17"/>
          <p:cNvGraphicFramePr>
            <a:graphicFrameLocks noChangeAspect="1"/>
          </p:cNvGraphicFramePr>
          <p:nvPr/>
        </p:nvGraphicFramePr>
        <p:xfrm>
          <a:off x="2627784" y="1340768"/>
          <a:ext cx="2900593" cy="9429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91880" imgH="355320" progId="Equation.3">
                  <p:embed/>
                </p:oleObj>
              </mc:Choice>
              <mc:Fallback>
                <p:oleObj name="Equation" r:id="rId2" imgW="1091880" imgH="355320" progId="Equation.3">
                  <p:embed/>
                  <p:pic>
                    <p:nvPicPr>
                      <p:cNvPr id="409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1340768"/>
                        <a:ext cx="2900593" cy="942999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3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F347A19-895E-46A6-ADE6-317AEC8DA5CD}" type="slidenum">
              <a:rPr lang="en-US" smtClean="0"/>
              <a:pPr/>
              <a:t>86</a:t>
            </a:fld>
            <a:endParaRPr lang="en-US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457200" y="-27384"/>
            <a:ext cx="8305800" cy="924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Example#2: continue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46438" name="Object 17"/>
          <p:cNvGraphicFramePr>
            <a:graphicFrameLocks noChangeAspect="1"/>
          </p:cNvGraphicFramePr>
          <p:nvPr/>
        </p:nvGraphicFramePr>
        <p:xfrm>
          <a:off x="323528" y="3140968"/>
          <a:ext cx="8529960" cy="6049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346360" imgH="380880" progId="Equation.3">
                  <p:embed/>
                </p:oleObj>
              </mc:Choice>
              <mc:Fallback>
                <p:oleObj name="Equation" r:id="rId4" imgW="5346360" imgH="380880" progId="Equation.3">
                  <p:embed/>
                  <p:pic>
                    <p:nvPicPr>
                      <p:cNvPr id="14643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3140968"/>
                        <a:ext cx="8529960" cy="604972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/>
          <a:lstStyle/>
          <a:p>
            <a:r>
              <a:rPr lang="en-GB" sz="3600" dirty="0" err="1"/>
              <a:t>Example#3</a:t>
            </a:r>
            <a:endParaRPr lang="en-GB" sz="3600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79512" y="980728"/>
            <a:ext cx="8568952" cy="4525963"/>
          </a:xfrm>
        </p:spPr>
        <p:txBody>
          <a:bodyPr>
            <a:normAutofit/>
          </a:bodyPr>
          <a:lstStyle/>
          <a:p>
            <a:pPr algn="just"/>
            <a:r>
              <a:rPr lang="en-GB" sz="2600" dirty="0"/>
              <a:t>Find the transfer function, C(s)/R(s), for the signal-flow graph in figure below.</a:t>
            </a:r>
          </a:p>
          <a:p>
            <a:pPr algn="just"/>
            <a:endParaRPr lang="en-GB" sz="2600" dirty="0"/>
          </a:p>
        </p:txBody>
      </p:sp>
      <p:pic>
        <p:nvPicPr>
          <p:cNvPr id="1546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2492896"/>
            <a:ext cx="7326161" cy="3644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87</a:t>
            </a:fld>
            <a:endParaRPr lang="en-GB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/>
          <a:lstStyle/>
          <a:p>
            <a:r>
              <a:rPr lang="en-GB" sz="3600" dirty="0" err="1"/>
              <a:t>Example#3</a:t>
            </a:r>
            <a:endParaRPr lang="en-GB" sz="3600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79512" y="980728"/>
            <a:ext cx="8568952" cy="4525963"/>
          </a:xfrm>
        </p:spPr>
        <p:txBody>
          <a:bodyPr>
            <a:normAutofit/>
          </a:bodyPr>
          <a:lstStyle/>
          <a:p>
            <a:pPr algn="just"/>
            <a:r>
              <a:rPr lang="en-GB" sz="2600" dirty="0"/>
              <a:t>There is only one forward Path.</a:t>
            </a:r>
          </a:p>
          <a:p>
            <a:pPr algn="just"/>
            <a:endParaRPr lang="en-GB" sz="2600" dirty="0"/>
          </a:p>
        </p:txBody>
      </p:sp>
      <p:pic>
        <p:nvPicPr>
          <p:cNvPr id="15565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1844824"/>
            <a:ext cx="6840760" cy="3420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Straight Connector 10"/>
          <p:cNvCxnSpPr/>
          <p:nvPr/>
        </p:nvCxnSpPr>
        <p:spPr>
          <a:xfrm>
            <a:off x="1619672" y="2204302"/>
            <a:ext cx="583264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Object 3"/>
          <p:cNvGraphicFramePr>
            <a:graphicFrameLocks noChangeAspect="1"/>
          </p:cNvGraphicFramePr>
          <p:nvPr/>
        </p:nvGraphicFramePr>
        <p:xfrm>
          <a:off x="238029" y="5575300"/>
          <a:ext cx="4477987" cy="5179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52480" imgH="203040" progId="Equation.3">
                  <p:embed/>
                </p:oleObj>
              </mc:Choice>
              <mc:Fallback>
                <p:oleObj name="Equation" r:id="rId3" imgW="1752480" imgH="203040" progId="Equation.3">
                  <p:embed/>
                  <p:pic>
                    <p:nvPicPr>
                      <p:cNvPr id="1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029" y="5575300"/>
                        <a:ext cx="4477987" cy="51799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88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/>
          <a:lstStyle/>
          <a:p>
            <a:r>
              <a:rPr lang="en-GB" sz="3600" dirty="0" err="1"/>
              <a:t>Example#3</a:t>
            </a:r>
            <a:endParaRPr lang="en-GB" sz="3600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79512" y="980728"/>
            <a:ext cx="8568952" cy="4525963"/>
          </a:xfrm>
        </p:spPr>
        <p:txBody>
          <a:bodyPr>
            <a:normAutofit/>
          </a:bodyPr>
          <a:lstStyle/>
          <a:p>
            <a:pPr algn="just"/>
            <a:r>
              <a:rPr lang="en-GB" sz="2600" dirty="0"/>
              <a:t>There are four feedback loops.</a:t>
            </a:r>
          </a:p>
          <a:p>
            <a:pPr algn="just"/>
            <a:endParaRPr lang="en-GB" sz="2600" dirty="0"/>
          </a:p>
        </p:txBody>
      </p:sp>
      <p:pic>
        <p:nvPicPr>
          <p:cNvPr id="1566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2132856"/>
            <a:ext cx="5724718" cy="2934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6676" name="Picture 4"/>
          <p:cNvPicPr>
            <a:picLocks noChangeAspect="1" noChangeArrowheads="1"/>
          </p:cNvPicPr>
          <p:nvPr/>
        </p:nvPicPr>
        <p:blipFill>
          <a:blip r:embed="rId3" cstate="print"/>
          <a:srcRect r="839" b="6667"/>
          <a:stretch>
            <a:fillRect/>
          </a:stretch>
        </p:blipFill>
        <p:spPr bwMode="auto">
          <a:xfrm>
            <a:off x="179512" y="5301208"/>
            <a:ext cx="7848872" cy="100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89</a:t>
            </a:fld>
            <a:endParaRPr lang="en-GB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/>
          <a:lstStyle/>
          <a:p>
            <a:r>
              <a:rPr lang="en-GB" sz="3600" dirty="0" err="1"/>
              <a:t>Example#3</a:t>
            </a:r>
            <a:endParaRPr lang="en-GB" sz="3600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79512" y="980728"/>
            <a:ext cx="8568952" cy="4525963"/>
          </a:xfrm>
        </p:spPr>
        <p:txBody>
          <a:bodyPr>
            <a:normAutofit/>
          </a:bodyPr>
          <a:lstStyle/>
          <a:p>
            <a:pPr algn="just"/>
            <a:r>
              <a:rPr lang="en-GB" sz="2600" dirty="0"/>
              <a:t>Non-touching loops taken two at a time.</a:t>
            </a:r>
          </a:p>
          <a:p>
            <a:pPr algn="just"/>
            <a:endParaRPr lang="en-GB" sz="2600" dirty="0"/>
          </a:p>
        </p:txBody>
      </p:sp>
      <p:pic>
        <p:nvPicPr>
          <p:cNvPr id="1566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1844824"/>
            <a:ext cx="5724718" cy="2934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76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5301208"/>
            <a:ext cx="6120680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90</a:t>
            </a:fld>
            <a:endParaRPr lang="en-GB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/>
          <a:lstStyle/>
          <a:p>
            <a:r>
              <a:rPr lang="en-GB" sz="3600" dirty="0" err="1"/>
              <a:t>Example#3</a:t>
            </a:r>
            <a:endParaRPr lang="en-GB" sz="3600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79512" y="980728"/>
            <a:ext cx="8568952" cy="4525963"/>
          </a:xfrm>
        </p:spPr>
        <p:txBody>
          <a:bodyPr>
            <a:normAutofit/>
          </a:bodyPr>
          <a:lstStyle/>
          <a:p>
            <a:pPr algn="just"/>
            <a:r>
              <a:rPr lang="en-GB" sz="2600" dirty="0"/>
              <a:t>Non-touching loops taken three at a time.</a:t>
            </a:r>
          </a:p>
          <a:p>
            <a:pPr algn="just"/>
            <a:endParaRPr lang="en-GB" sz="2600" dirty="0"/>
          </a:p>
        </p:txBody>
      </p:sp>
      <p:pic>
        <p:nvPicPr>
          <p:cNvPr id="1566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1844824"/>
            <a:ext cx="5724718" cy="2934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87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5661248"/>
            <a:ext cx="5651449" cy="49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91</a:t>
            </a:fld>
            <a:endParaRPr lang="en-GB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/>
          <a:lstStyle/>
          <a:p>
            <a:r>
              <a:rPr lang="en-GB" sz="3600" dirty="0" err="1"/>
              <a:t>Example#3</a:t>
            </a:r>
            <a:endParaRPr lang="en-GB" sz="3600" dirty="0"/>
          </a:p>
        </p:txBody>
      </p:sp>
      <p:pic>
        <p:nvPicPr>
          <p:cNvPr id="1597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340768"/>
            <a:ext cx="6447295" cy="2250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97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4581128"/>
            <a:ext cx="2376264" cy="552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179512" y="3995772"/>
            <a:ext cx="2574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Eliminate forward path-1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419282" y="3923074"/>
            <a:ext cx="5724718" cy="2934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9"/>
          <p:cNvSpPr/>
          <p:nvPr/>
        </p:nvSpPr>
        <p:spPr>
          <a:xfrm>
            <a:off x="3491880" y="3789040"/>
            <a:ext cx="5652120" cy="8640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92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305800" cy="924712"/>
          </a:xfrm>
        </p:spPr>
        <p:txBody>
          <a:bodyPr>
            <a:normAutofit/>
          </a:bodyPr>
          <a:lstStyle/>
          <a:p>
            <a:r>
              <a:rPr lang="en-GB" sz="2400" dirty="0" err="1"/>
              <a:t>Example#4</a:t>
            </a:r>
            <a:r>
              <a:rPr lang="en-GB" sz="2400" dirty="0"/>
              <a:t>: Apply Mason’s Rule to calculate the transfer function of the system represented by following Signal Flow Graph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556792"/>
            <a:ext cx="8251115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21857" name="Object 2"/>
          <p:cNvGraphicFramePr>
            <a:graphicFrameLocks noChangeAspect="1"/>
          </p:cNvGraphicFramePr>
          <p:nvPr/>
        </p:nvGraphicFramePr>
        <p:xfrm>
          <a:off x="2123728" y="5157192"/>
          <a:ext cx="5219700" cy="1328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93680" imgH="507960" progId="Equation.3">
                  <p:embed/>
                </p:oleObj>
              </mc:Choice>
              <mc:Fallback>
                <p:oleObj name="Equation" r:id="rId3" imgW="1993680" imgH="507960" progId="Equation.3">
                  <p:embed/>
                  <p:pic>
                    <p:nvPicPr>
                      <p:cNvPr id="12185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5157192"/>
                        <a:ext cx="5219700" cy="1328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3528" y="4365104"/>
            <a:ext cx="54079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/>
              <a:t>There are three forward paths, therefore n=3.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93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322338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305800" cy="924712"/>
          </a:xfrm>
        </p:spPr>
        <p:txBody>
          <a:bodyPr>
            <a:normAutofit/>
          </a:bodyPr>
          <a:lstStyle/>
          <a:p>
            <a:r>
              <a:rPr lang="en-GB" sz="2800" dirty="0" err="1"/>
              <a:t>Example#4</a:t>
            </a:r>
            <a:r>
              <a:rPr lang="en-GB" sz="2800" dirty="0"/>
              <a:t>: Forward Paths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365" y="1700808"/>
            <a:ext cx="8251115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5" name="Group 24"/>
          <p:cNvGrpSpPr/>
          <p:nvPr/>
        </p:nvGrpSpPr>
        <p:grpSpPr>
          <a:xfrm>
            <a:off x="857389" y="2681955"/>
            <a:ext cx="7615305" cy="2187205"/>
            <a:chOff x="683568" y="2105891"/>
            <a:chExt cx="7615305" cy="2187205"/>
          </a:xfrm>
        </p:grpSpPr>
        <p:grpSp>
          <p:nvGrpSpPr>
            <p:cNvPr id="8" name="Group 13"/>
            <p:cNvGrpSpPr/>
            <p:nvPr/>
          </p:nvGrpSpPr>
          <p:grpSpPr>
            <a:xfrm>
              <a:off x="683568" y="2105891"/>
              <a:ext cx="7615305" cy="1745672"/>
              <a:chOff x="683568" y="2105891"/>
              <a:chExt cx="7615305" cy="1745672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683568" y="2204864"/>
                <a:ext cx="1080120" cy="0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Freeform 12"/>
              <p:cNvSpPr/>
              <p:nvPr/>
            </p:nvSpPr>
            <p:spPr>
              <a:xfrm>
                <a:off x="1773382" y="2105891"/>
                <a:ext cx="6525491" cy="1745672"/>
              </a:xfrm>
              <a:custGeom>
                <a:avLst/>
                <a:gdLst>
                  <a:gd name="connsiteX0" fmla="*/ 0 w 6525491"/>
                  <a:gd name="connsiteY0" fmla="*/ 110836 h 1745672"/>
                  <a:gd name="connsiteX1" fmla="*/ 332509 w 6525491"/>
                  <a:gd name="connsiteY1" fmla="*/ 706582 h 1745672"/>
                  <a:gd name="connsiteX2" fmla="*/ 1676400 w 6525491"/>
                  <a:gd name="connsiteY2" fmla="*/ 1510145 h 1745672"/>
                  <a:gd name="connsiteX3" fmla="*/ 3366654 w 6525491"/>
                  <a:gd name="connsiteY3" fmla="*/ 1634836 h 1745672"/>
                  <a:gd name="connsiteX4" fmla="*/ 5043054 w 6525491"/>
                  <a:gd name="connsiteY4" fmla="*/ 845127 h 1745672"/>
                  <a:gd name="connsiteX5" fmla="*/ 5527963 w 6525491"/>
                  <a:gd name="connsiteY5" fmla="*/ 124691 h 1745672"/>
                  <a:gd name="connsiteX6" fmla="*/ 5680363 w 6525491"/>
                  <a:gd name="connsiteY6" fmla="*/ 96982 h 1745672"/>
                  <a:gd name="connsiteX7" fmla="*/ 6525491 w 6525491"/>
                  <a:gd name="connsiteY7" fmla="*/ 124691 h 1745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525491" h="1745672">
                    <a:moveTo>
                      <a:pt x="0" y="110836"/>
                    </a:moveTo>
                    <a:cubicBezTo>
                      <a:pt x="26554" y="292100"/>
                      <a:pt x="53109" y="473364"/>
                      <a:pt x="332509" y="706582"/>
                    </a:cubicBezTo>
                    <a:cubicBezTo>
                      <a:pt x="611909" y="939800"/>
                      <a:pt x="1170709" y="1355436"/>
                      <a:pt x="1676400" y="1510145"/>
                    </a:cubicBezTo>
                    <a:cubicBezTo>
                      <a:pt x="2182091" y="1664854"/>
                      <a:pt x="2805545" y="1745672"/>
                      <a:pt x="3366654" y="1634836"/>
                    </a:cubicBezTo>
                    <a:cubicBezTo>
                      <a:pt x="3927763" y="1524000"/>
                      <a:pt x="4682836" y="1096818"/>
                      <a:pt x="5043054" y="845127"/>
                    </a:cubicBezTo>
                    <a:cubicBezTo>
                      <a:pt x="5403272" y="593436"/>
                      <a:pt x="5421745" y="249382"/>
                      <a:pt x="5527963" y="124691"/>
                    </a:cubicBezTo>
                    <a:cubicBezTo>
                      <a:pt x="5634181" y="0"/>
                      <a:pt x="5514108" y="96982"/>
                      <a:pt x="5680363" y="96982"/>
                    </a:cubicBezTo>
                    <a:cubicBezTo>
                      <a:pt x="5846618" y="96982"/>
                      <a:pt x="6186054" y="110836"/>
                      <a:pt x="6525491" y="124691"/>
                    </a:cubicBezTo>
                  </a:path>
                </a:pathLst>
              </a:cu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aphicFrame>
          <p:nvGraphicFramePr>
            <p:cNvPr id="22" name="Object 21"/>
            <p:cNvGraphicFramePr>
              <a:graphicFrameLocks noChangeAspect="1"/>
            </p:cNvGraphicFramePr>
            <p:nvPr/>
          </p:nvGraphicFramePr>
          <p:xfrm>
            <a:off x="3995936" y="3861048"/>
            <a:ext cx="1094522" cy="4320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482400" imgH="190440" progId="Equation.3">
                    <p:embed/>
                  </p:oleObj>
                </mc:Choice>
                <mc:Fallback>
                  <p:oleObj name="Equation" r:id="rId3" imgW="482400" imgH="190440" progId="Equation.3">
                    <p:embed/>
                    <p:pic>
                      <p:nvPicPr>
                        <p:cNvPr id="22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5936" y="3861048"/>
                          <a:ext cx="1094522" cy="43204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" name="Group 26"/>
          <p:cNvGrpSpPr/>
          <p:nvPr/>
        </p:nvGrpSpPr>
        <p:grpSpPr>
          <a:xfrm>
            <a:off x="569357" y="2780928"/>
            <a:ext cx="7992888" cy="2015976"/>
            <a:chOff x="395536" y="2204864"/>
            <a:chExt cx="7992888" cy="2015976"/>
          </a:xfrm>
        </p:grpSpPr>
        <p:cxnSp>
          <p:nvCxnSpPr>
            <p:cNvPr id="9" name="Straight Arrow Connector 8"/>
            <p:cNvCxnSpPr/>
            <p:nvPr/>
          </p:nvCxnSpPr>
          <p:spPr>
            <a:xfrm>
              <a:off x="683568" y="2204864"/>
              <a:ext cx="770485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aphicFrame>
          <p:nvGraphicFramePr>
            <p:cNvPr id="26" name="Object 3"/>
            <p:cNvGraphicFramePr>
              <a:graphicFrameLocks noChangeAspect="1"/>
            </p:cNvGraphicFramePr>
            <p:nvPr/>
          </p:nvGraphicFramePr>
          <p:xfrm>
            <a:off x="395536" y="3789040"/>
            <a:ext cx="2652712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168200" imgH="190440" progId="Equation.3">
                    <p:embed/>
                  </p:oleObj>
                </mc:Choice>
                <mc:Fallback>
                  <p:oleObj name="Equation" r:id="rId5" imgW="1168200" imgH="190440" progId="Equation.3">
                    <p:embed/>
                    <p:pic>
                      <p:nvPicPr>
                        <p:cNvPr id="26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536" y="3789040"/>
                          <a:ext cx="2652712" cy="431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Group 23"/>
          <p:cNvGrpSpPr/>
          <p:nvPr/>
        </p:nvGrpSpPr>
        <p:grpSpPr>
          <a:xfrm>
            <a:off x="497349" y="1340768"/>
            <a:ext cx="8016908" cy="1472805"/>
            <a:chOff x="323528" y="764704"/>
            <a:chExt cx="8016908" cy="1472805"/>
          </a:xfrm>
        </p:grpSpPr>
        <p:grpSp>
          <p:nvGrpSpPr>
            <p:cNvPr id="11" name="Group 18"/>
            <p:cNvGrpSpPr/>
            <p:nvPr/>
          </p:nvGrpSpPr>
          <p:grpSpPr>
            <a:xfrm>
              <a:off x="667618" y="1413164"/>
              <a:ext cx="7672818" cy="824345"/>
              <a:chOff x="667618" y="1413164"/>
              <a:chExt cx="7672818" cy="824345"/>
            </a:xfrm>
          </p:grpSpPr>
          <p:cxnSp>
            <p:nvCxnSpPr>
              <p:cNvPr id="17" name="Straight Connector 16"/>
              <p:cNvCxnSpPr/>
              <p:nvPr/>
            </p:nvCxnSpPr>
            <p:spPr>
              <a:xfrm>
                <a:off x="667618" y="2204864"/>
                <a:ext cx="1089814" cy="11863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" name="Freeform 17"/>
              <p:cNvSpPr/>
              <p:nvPr/>
            </p:nvSpPr>
            <p:spPr>
              <a:xfrm>
                <a:off x="1745673" y="1413164"/>
                <a:ext cx="6594763" cy="824345"/>
              </a:xfrm>
              <a:custGeom>
                <a:avLst/>
                <a:gdLst>
                  <a:gd name="connsiteX0" fmla="*/ 0 w 6594763"/>
                  <a:gd name="connsiteY0" fmla="*/ 789709 h 824345"/>
                  <a:gd name="connsiteX1" fmla="*/ 207818 w 6594763"/>
                  <a:gd name="connsiteY1" fmla="*/ 374072 h 824345"/>
                  <a:gd name="connsiteX2" fmla="*/ 872836 w 6594763"/>
                  <a:gd name="connsiteY2" fmla="*/ 41563 h 824345"/>
                  <a:gd name="connsiteX3" fmla="*/ 1593272 w 6594763"/>
                  <a:gd name="connsiteY3" fmla="*/ 124691 h 824345"/>
                  <a:gd name="connsiteX4" fmla="*/ 2161309 w 6594763"/>
                  <a:gd name="connsiteY4" fmla="*/ 484909 h 824345"/>
                  <a:gd name="connsiteX5" fmla="*/ 2244436 w 6594763"/>
                  <a:gd name="connsiteY5" fmla="*/ 775854 h 824345"/>
                  <a:gd name="connsiteX6" fmla="*/ 2951018 w 6594763"/>
                  <a:gd name="connsiteY6" fmla="*/ 775854 h 824345"/>
                  <a:gd name="connsiteX7" fmla="*/ 6594763 w 6594763"/>
                  <a:gd name="connsiteY7" fmla="*/ 789709 h 824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594763" h="824345">
                    <a:moveTo>
                      <a:pt x="0" y="789709"/>
                    </a:moveTo>
                    <a:cubicBezTo>
                      <a:pt x="31172" y="644236"/>
                      <a:pt x="62345" y="498763"/>
                      <a:pt x="207818" y="374072"/>
                    </a:cubicBezTo>
                    <a:cubicBezTo>
                      <a:pt x="353291" y="249381"/>
                      <a:pt x="641927" y="83126"/>
                      <a:pt x="872836" y="41563"/>
                    </a:cubicBezTo>
                    <a:cubicBezTo>
                      <a:pt x="1103745" y="0"/>
                      <a:pt x="1378526" y="50800"/>
                      <a:pt x="1593272" y="124691"/>
                    </a:cubicBezTo>
                    <a:cubicBezTo>
                      <a:pt x="1808018" y="198582"/>
                      <a:pt x="2052782" y="376382"/>
                      <a:pt x="2161309" y="484909"/>
                    </a:cubicBezTo>
                    <a:cubicBezTo>
                      <a:pt x="2269836" y="593436"/>
                      <a:pt x="2112818" y="727363"/>
                      <a:pt x="2244436" y="775854"/>
                    </a:cubicBezTo>
                    <a:cubicBezTo>
                      <a:pt x="2376054" y="824345"/>
                      <a:pt x="2951018" y="775854"/>
                      <a:pt x="2951018" y="775854"/>
                    </a:cubicBezTo>
                    <a:lnTo>
                      <a:pt x="6594763" y="789709"/>
                    </a:lnTo>
                  </a:path>
                </a:pathLst>
              </a:cu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aphicFrame>
          <p:nvGraphicFramePr>
            <p:cNvPr id="125955" name="Object 3"/>
            <p:cNvGraphicFramePr>
              <a:graphicFrameLocks noChangeAspect="1"/>
            </p:cNvGraphicFramePr>
            <p:nvPr/>
          </p:nvGraphicFramePr>
          <p:xfrm>
            <a:off x="323528" y="764704"/>
            <a:ext cx="2306638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015920" imgH="190440" progId="Equation.3">
                    <p:embed/>
                  </p:oleObj>
                </mc:Choice>
                <mc:Fallback>
                  <p:oleObj name="Equation" r:id="rId7" imgW="1015920" imgH="190440" progId="Equation.3">
                    <p:embed/>
                    <p:pic>
                      <p:nvPicPr>
                        <p:cNvPr id="125955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3528" y="764704"/>
                          <a:ext cx="2306638" cy="431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94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3915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305800" cy="924712"/>
          </a:xfrm>
        </p:spPr>
        <p:txBody>
          <a:bodyPr>
            <a:normAutofit/>
          </a:bodyPr>
          <a:lstStyle/>
          <a:p>
            <a:r>
              <a:rPr lang="en-GB" sz="2800" dirty="0" err="1"/>
              <a:t>Example#4</a:t>
            </a:r>
            <a:r>
              <a:rPr lang="en-GB" sz="2800" dirty="0"/>
              <a:t>: Loop Gains of the Feedback Loops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836712"/>
            <a:ext cx="8251115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5" name="Object 3"/>
          <p:cNvGraphicFramePr>
            <a:graphicFrameLocks noChangeAspect="1"/>
          </p:cNvGraphicFramePr>
          <p:nvPr/>
        </p:nvGraphicFramePr>
        <p:xfrm>
          <a:off x="293663" y="3717032"/>
          <a:ext cx="14700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47640" imgH="190440" progId="Equation.3">
                  <p:embed/>
                </p:oleObj>
              </mc:Choice>
              <mc:Fallback>
                <p:oleObj name="Equation" r:id="rId3" imgW="647640" imgH="190440" progId="Equation.3">
                  <p:embed/>
                  <p:pic>
                    <p:nvPicPr>
                      <p:cNvPr id="1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663" y="3717032"/>
                        <a:ext cx="1470025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195" name="Object 3"/>
          <p:cNvGraphicFramePr>
            <a:graphicFrameLocks noChangeAspect="1"/>
          </p:cNvGraphicFramePr>
          <p:nvPr/>
        </p:nvGraphicFramePr>
        <p:xfrm>
          <a:off x="251520" y="4149080"/>
          <a:ext cx="152876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72840" imgH="190440" progId="Equation.3">
                  <p:embed/>
                </p:oleObj>
              </mc:Choice>
              <mc:Fallback>
                <p:oleObj name="Equation" r:id="rId5" imgW="672840" imgH="190440" progId="Equation.3">
                  <p:embed/>
                  <p:pic>
                    <p:nvPicPr>
                      <p:cNvPr id="13619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4149080"/>
                        <a:ext cx="1528762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196" name="Object 4"/>
          <p:cNvGraphicFramePr>
            <a:graphicFrameLocks noChangeAspect="1"/>
          </p:cNvGraphicFramePr>
          <p:nvPr/>
        </p:nvGraphicFramePr>
        <p:xfrm>
          <a:off x="251520" y="4653136"/>
          <a:ext cx="1498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60240" imgH="190440" progId="Equation.3">
                  <p:embed/>
                </p:oleObj>
              </mc:Choice>
              <mc:Fallback>
                <p:oleObj name="Equation" r:id="rId7" imgW="660240" imgH="190440" progId="Equation.3">
                  <p:embed/>
                  <p:pic>
                    <p:nvPicPr>
                      <p:cNvPr id="13619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4653136"/>
                        <a:ext cx="14986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197" name="Object 5"/>
          <p:cNvGraphicFramePr>
            <a:graphicFrameLocks noChangeAspect="1"/>
          </p:cNvGraphicFramePr>
          <p:nvPr/>
        </p:nvGraphicFramePr>
        <p:xfrm>
          <a:off x="251520" y="5229200"/>
          <a:ext cx="15271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72840" imgH="190440" progId="Equation.3">
                  <p:embed/>
                </p:oleObj>
              </mc:Choice>
              <mc:Fallback>
                <p:oleObj name="Equation" r:id="rId9" imgW="672840" imgH="190440" progId="Equation.3">
                  <p:embed/>
                  <p:pic>
                    <p:nvPicPr>
                      <p:cNvPr id="13619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5229200"/>
                        <a:ext cx="1527175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198" name="Object 6"/>
          <p:cNvGraphicFramePr>
            <a:graphicFrameLocks noChangeAspect="1"/>
          </p:cNvGraphicFramePr>
          <p:nvPr/>
        </p:nvGraphicFramePr>
        <p:xfrm>
          <a:off x="3116833" y="3861296"/>
          <a:ext cx="15271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672840" imgH="190440" progId="Equation.3">
                  <p:embed/>
                </p:oleObj>
              </mc:Choice>
              <mc:Fallback>
                <p:oleObj name="Equation" r:id="rId11" imgW="672840" imgH="190440" progId="Equation.3">
                  <p:embed/>
                  <p:pic>
                    <p:nvPicPr>
                      <p:cNvPr id="13619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6833" y="3861296"/>
                        <a:ext cx="1527175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199" name="Object 7"/>
          <p:cNvGraphicFramePr>
            <a:graphicFrameLocks noChangeAspect="1"/>
          </p:cNvGraphicFramePr>
          <p:nvPr/>
        </p:nvGraphicFramePr>
        <p:xfrm>
          <a:off x="3088010" y="4365352"/>
          <a:ext cx="11239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95000" imgH="190440" progId="Equation.3">
                  <p:embed/>
                </p:oleObj>
              </mc:Choice>
              <mc:Fallback>
                <p:oleObj name="Equation" r:id="rId13" imgW="495000" imgH="190440" progId="Equation.3">
                  <p:embed/>
                  <p:pic>
                    <p:nvPicPr>
                      <p:cNvPr id="13619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8010" y="4365352"/>
                        <a:ext cx="112395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200" name="Object 8"/>
          <p:cNvGraphicFramePr>
            <a:graphicFrameLocks noChangeAspect="1"/>
          </p:cNvGraphicFramePr>
          <p:nvPr/>
        </p:nvGraphicFramePr>
        <p:xfrm>
          <a:off x="3000052" y="4941416"/>
          <a:ext cx="19319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850680" imgH="190440" progId="Equation.3">
                  <p:embed/>
                </p:oleObj>
              </mc:Choice>
              <mc:Fallback>
                <p:oleObj name="Equation" r:id="rId15" imgW="850680" imgH="190440" progId="Equation.3">
                  <p:embed/>
                  <p:pic>
                    <p:nvPicPr>
                      <p:cNvPr id="13620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052" y="4941416"/>
                        <a:ext cx="1931988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201" name="Object 9"/>
          <p:cNvGraphicFramePr>
            <a:graphicFrameLocks noChangeAspect="1"/>
          </p:cNvGraphicFramePr>
          <p:nvPr/>
        </p:nvGraphicFramePr>
        <p:xfrm>
          <a:off x="3059832" y="5517480"/>
          <a:ext cx="19034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838080" imgH="190440" progId="Equation.3">
                  <p:embed/>
                </p:oleObj>
              </mc:Choice>
              <mc:Fallback>
                <p:oleObj name="Equation" r:id="rId17" imgW="838080" imgH="190440" progId="Equation.3">
                  <p:embed/>
                  <p:pic>
                    <p:nvPicPr>
                      <p:cNvPr id="13620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5517480"/>
                        <a:ext cx="1903412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202" name="Object 10"/>
          <p:cNvGraphicFramePr>
            <a:graphicFrameLocks noChangeAspect="1"/>
          </p:cNvGraphicFramePr>
          <p:nvPr/>
        </p:nvGraphicFramePr>
        <p:xfrm>
          <a:off x="5220072" y="4077072"/>
          <a:ext cx="270986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193760" imgH="190440" progId="Equation.3">
                  <p:embed/>
                </p:oleObj>
              </mc:Choice>
              <mc:Fallback>
                <p:oleObj name="Equation" r:id="rId19" imgW="1193760" imgH="190440" progId="Equation.3">
                  <p:embed/>
                  <p:pic>
                    <p:nvPicPr>
                      <p:cNvPr id="13620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0072" y="4077072"/>
                        <a:ext cx="2709862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203" name="Object 11"/>
          <p:cNvGraphicFramePr>
            <a:graphicFrameLocks noChangeAspect="1"/>
          </p:cNvGraphicFramePr>
          <p:nvPr/>
        </p:nvGraphicFramePr>
        <p:xfrm>
          <a:off x="5148064" y="4725144"/>
          <a:ext cx="3200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409400" imgH="190440" progId="Equation.3">
                  <p:embed/>
                </p:oleObj>
              </mc:Choice>
              <mc:Fallback>
                <p:oleObj name="Equation" r:id="rId21" imgW="1409400" imgH="190440" progId="Equation.3">
                  <p:embed/>
                  <p:pic>
                    <p:nvPicPr>
                      <p:cNvPr id="13620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064" y="4725144"/>
                        <a:ext cx="32004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95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50724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305800" cy="924712"/>
          </a:xfrm>
        </p:spPr>
        <p:txBody>
          <a:bodyPr>
            <a:normAutofit/>
          </a:bodyPr>
          <a:lstStyle/>
          <a:p>
            <a:r>
              <a:rPr lang="en-GB" sz="2800" dirty="0" err="1"/>
              <a:t>Example#4</a:t>
            </a:r>
            <a:r>
              <a:rPr lang="en-GB" sz="2800" dirty="0"/>
              <a:t>: two non-touching loops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836712"/>
            <a:ext cx="8251115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5" name="Object 3"/>
          <p:cNvGraphicFramePr>
            <a:graphicFrameLocks noChangeAspect="1"/>
          </p:cNvGraphicFramePr>
          <p:nvPr/>
        </p:nvGraphicFramePr>
        <p:xfrm>
          <a:off x="251520" y="3573016"/>
          <a:ext cx="60483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6400" imgH="190440" progId="Equation.3">
                  <p:embed/>
                </p:oleObj>
              </mc:Choice>
              <mc:Fallback>
                <p:oleObj name="Equation" r:id="rId3" imgW="266400" imgH="190440" progId="Equation.3">
                  <p:embed/>
                  <p:pic>
                    <p:nvPicPr>
                      <p:cNvPr id="1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3573016"/>
                        <a:ext cx="604837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28" name="Object 2"/>
          <p:cNvGraphicFramePr>
            <a:graphicFrameLocks noChangeAspect="1"/>
          </p:cNvGraphicFramePr>
          <p:nvPr/>
        </p:nvGraphicFramePr>
        <p:xfrm>
          <a:off x="251520" y="4149080"/>
          <a:ext cx="6334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9360" imgH="190440" progId="Equation.3">
                  <p:embed/>
                </p:oleObj>
              </mc:Choice>
              <mc:Fallback>
                <p:oleObj name="Equation" r:id="rId5" imgW="279360" imgH="190440" progId="Equation.3">
                  <p:embed/>
                  <p:pic>
                    <p:nvPicPr>
                      <p:cNvPr id="13722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4149080"/>
                        <a:ext cx="633413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29" name="Object 2"/>
          <p:cNvGraphicFramePr>
            <a:graphicFrameLocks noChangeAspect="1"/>
          </p:cNvGraphicFramePr>
          <p:nvPr/>
        </p:nvGraphicFramePr>
        <p:xfrm>
          <a:off x="265485" y="4653136"/>
          <a:ext cx="6334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79360" imgH="190440" progId="Equation.3">
                  <p:embed/>
                </p:oleObj>
              </mc:Choice>
              <mc:Fallback>
                <p:oleObj name="Equation" r:id="rId7" imgW="279360" imgH="190440" progId="Equation.3">
                  <p:embed/>
                  <p:pic>
                    <p:nvPicPr>
                      <p:cNvPr id="13722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485" y="4653136"/>
                        <a:ext cx="633413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30" name="Object 2"/>
          <p:cNvGraphicFramePr>
            <a:graphicFrameLocks noChangeAspect="1"/>
          </p:cNvGraphicFramePr>
          <p:nvPr/>
        </p:nvGraphicFramePr>
        <p:xfrm>
          <a:off x="251520" y="5157440"/>
          <a:ext cx="6334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79360" imgH="190440" progId="Equation.3">
                  <p:embed/>
                </p:oleObj>
              </mc:Choice>
              <mc:Fallback>
                <p:oleObj name="Equation" r:id="rId9" imgW="279360" imgH="190440" progId="Equation.3">
                  <p:embed/>
                  <p:pic>
                    <p:nvPicPr>
                      <p:cNvPr id="13723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5157440"/>
                        <a:ext cx="633412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31" name="Object 2"/>
          <p:cNvGraphicFramePr>
            <a:graphicFrameLocks noChangeAspect="1"/>
          </p:cNvGraphicFramePr>
          <p:nvPr/>
        </p:nvGraphicFramePr>
        <p:xfrm>
          <a:off x="265485" y="5733504"/>
          <a:ext cx="60483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66400" imgH="190440" progId="Equation.3">
                  <p:embed/>
                </p:oleObj>
              </mc:Choice>
              <mc:Fallback>
                <p:oleObj name="Equation" r:id="rId11" imgW="266400" imgH="190440" progId="Equation.3">
                  <p:embed/>
                  <p:pic>
                    <p:nvPicPr>
                      <p:cNvPr id="137231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485" y="5733504"/>
                        <a:ext cx="604837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32" name="Object 2"/>
          <p:cNvGraphicFramePr>
            <a:graphicFrameLocks noChangeAspect="1"/>
          </p:cNvGraphicFramePr>
          <p:nvPr/>
        </p:nvGraphicFramePr>
        <p:xfrm>
          <a:off x="1735138" y="3500438"/>
          <a:ext cx="66198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91960" imgH="190440" progId="Equation.3">
                  <p:embed/>
                </p:oleObj>
              </mc:Choice>
              <mc:Fallback>
                <p:oleObj name="Equation" r:id="rId13" imgW="291960" imgH="190440" progId="Equation.3">
                  <p:embed/>
                  <p:pic>
                    <p:nvPicPr>
                      <p:cNvPr id="13723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5138" y="3500438"/>
                        <a:ext cx="661987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33" name="Object 2"/>
          <p:cNvGraphicFramePr>
            <a:graphicFrameLocks noChangeAspect="1"/>
          </p:cNvGraphicFramePr>
          <p:nvPr/>
        </p:nvGraphicFramePr>
        <p:xfrm>
          <a:off x="1763688" y="4077072"/>
          <a:ext cx="66198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91960" imgH="190440" progId="Equation.3">
                  <p:embed/>
                </p:oleObj>
              </mc:Choice>
              <mc:Fallback>
                <p:oleObj name="Equation" r:id="rId15" imgW="291960" imgH="190440" progId="Equation.3">
                  <p:embed/>
                  <p:pic>
                    <p:nvPicPr>
                      <p:cNvPr id="13723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4077072"/>
                        <a:ext cx="661987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34" name="Object 2"/>
          <p:cNvGraphicFramePr>
            <a:graphicFrameLocks noChangeAspect="1"/>
          </p:cNvGraphicFramePr>
          <p:nvPr/>
        </p:nvGraphicFramePr>
        <p:xfrm>
          <a:off x="1835696" y="4581128"/>
          <a:ext cx="66198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91960" imgH="190440" progId="Equation.3">
                  <p:embed/>
                </p:oleObj>
              </mc:Choice>
              <mc:Fallback>
                <p:oleObj name="Equation" r:id="rId17" imgW="291960" imgH="190440" progId="Equation.3">
                  <p:embed/>
                  <p:pic>
                    <p:nvPicPr>
                      <p:cNvPr id="13723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4581128"/>
                        <a:ext cx="661987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35" name="Object 2"/>
          <p:cNvGraphicFramePr>
            <a:graphicFrameLocks noChangeAspect="1"/>
          </p:cNvGraphicFramePr>
          <p:nvPr/>
        </p:nvGraphicFramePr>
        <p:xfrm>
          <a:off x="1835696" y="5085184"/>
          <a:ext cx="6619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91960" imgH="190440" progId="Equation.3">
                  <p:embed/>
                </p:oleObj>
              </mc:Choice>
              <mc:Fallback>
                <p:oleObj name="Equation" r:id="rId19" imgW="291960" imgH="190440" progId="Equation.3">
                  <p:embed/>
                  <p:pic>
                    <p:nvPicPr>
                      <p:cNvPr id="13723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5085184"/>
                        <a:ext cx="661988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36" name="Object 2"/>
          <p:cNvGraphicFramePr>
            <a:graphicFrameLocks noChangeAspect="1"/>
          </p:cNvGraphicFramePr>
          <p:nvPr/>
        </p:nvGraphicFramePr>
        <p:xfrm>
          <a:off x="3073400" y="3500438"/>
          <a:ext cx="6334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79360" imgH="190440" progId="Equation.3">
                  <p:embed/>
                </p:oleObj>
              </mc:Choice>
              <mc:Fallback>
                <p:oleObj name="Equation" r:id="rId21" imgW="279360" imgH="190440" progId="Equation.3">
                  <p:embed/>
                  <p:pic>
                    <p:nvPicPr>
                      <p:cNvPr id="13723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3400" y="3500438"/>
                        <a:ext cx="633413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37" name="Object 21"/>
          <p:cNvGraphicFramePr>
            <a:graphicFrameLocks noChangeAspect="1"/>
          </p:cNvGraphicFramePr>
          <p:nvPr/>
        </p:nvGraphicFramePr>
        <p:xfrm>
          <a:off x="3044825" y="4005263"/>
          <a:ext cx="6619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91960" imgH="190440" progId="Equation.3">
                  <p:embed/>
                </p:oleObj>
              </mc:Choice>
              <mc:Fallback>
                <p:oleObj name="Equation" r:id="rId23" imgW="291960" imgH="190440" progId="Equation.3">
                  <p:embed/>
                  <p:pic>
                    <p:nvPicPr>
                      <p:cNvPr id="13723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4825" y="4005263"/>
                        <a:ext cx="661988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39" name="Object 23"/>
          <p:cNvGraphicFramePr>
            <a:graphicFrameLocks noChangeAspect="1"/>
          </p:cNvGraphicFramePr>
          <p:nvPr/>
        </p:nvGraphicFramePr>
        <p:xfrm>
          <a:off x="4197350" y="3573463"/>
          <a:ext cx="6619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91960" imgH="190440" progId="Equation.3">
                  <p:embed/>
                </p:oleObj>
              </mc:Choice>
              <mc:Fallback>
                <p:oleObj name="Equation" r:id="rId25" imgW="291960" imgH="190440" progId="Equation.3">
                  <p:embed/>
                  <p:pic>
                    <p:nvPicPr>
                      <p:cNvPr id="137239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7350" y="3573463"/>
                        <a:ext cx="661988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40" name="Object 24"/>
          <p:cNvGraphicFramePr>
            <a:graphicFrameLocks noChangeAspect="1"/>
          </p:cNvGraphicFramePr>
          <p:nvPr/>
        </p:nvGraphicFramePr>
        <p:xfrm>
          <a:off x="4139952" y="4077072"/>
          <a:ext cx="6619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91960" imgH="190440" progId="Equation.3">
                  <p:embed/>
                </p:oleObj>
              </mc:Choice>
              <mc:Fallback>
                <p:oleObj name="Equation" r:id="rId27" imgW="291960" imgH="190440" progId="Equation.3">
                  <p:embed/>
                  <p:pic>
                    <p:nvPicPr>
                      <p:cNvPr id="13724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952" y="4077072"/>
                        <a:ext cx="661988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41" name="Object 25"/>
          <p:cNvGraphicFramePr>
            <a:graphicFrameLocks noChangeAspect="1"/>
          </p:cNvGraphicFramePr>
          <p:nvPr/>
        </p:nvGraphicFramePr>
        <p:xfrm>
          <a:off x="5436096" y="3573016"/>
          <a:ext cx="6619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91960" imgH="190440" progId="Equation.3">
                  <p:embed/>
                </p:oleObj>
              </mc:Choice>
              <mc:Fallback>
                <p:oleObj name="Equation" r:id="rId29" imgW="291960" imgH="190440" progId="Equation.3">
                  <p:embed/>
                  <p:pic>
                    <p:nvPicPr>
                      <p:cNvPr id="137241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6096" y="3573016"/>
                        <a:ext cx="661988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42" name="Object 26"/>
          <p:cNvGraphicFramePr>
            <a:graphicFrameLocks noChangeAspect="1"/>
          </p:cNvGraphicFramePr>
          <p:nvPr/>
        </p:nvGraphicFramePr>
        <p:xfrm>
          <a:off x="6804248" y="3573016"/>
          <a:ext cx="6619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291960" imgH="190440" progId="Equation.3">
                  <p:embed/>
                </p:oleObj>
              </mc:Choice>
              <mc:Fallback>
                <p:oleObj name="Equation" r:id="rId31" imgW="291960" imgH="190440" progId="Equation.3">
                  <p:embed/>
                  <p:pic>
                    <p:nvPicPr>
                      <p:cNvPr id="137242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248" y="3573016"/>
                        <a:ext cx="661988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96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321626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305800" cy="924712"/>
          </a:xfrm>
        </p:spPr>
        <p:txBody>
          <a:bodyPr>
            <a:normAutofit/>
          </a:bodyPr>
          <a:lstStyle/>
          <a:p>
            <a:r>
              <a:rPr lang="en-GB" sz="2800" dirty="0" err="1"/>
              <a:t>Example#4</a:t>
            </a:r>
            <a:r>
              <a:rPr lang="en-GB" sz="2800" dirty="0"/>
              <a:t>: Three non-touching loops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836712"/>
            <a:ext cx="8251115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5" name="Object 3"/>
          <p:cNvGraphicFramePr>
            <a:graphicFrameLocks noChangeAspect="1"/>
          </p:cNvGraphicFramePr>
          <p:nvPr/>
        </p:nvGraphicFramePr>
        <p:xfrm>
          <a:off x="251520" y="3573016"/>
          <a:ext cx="60483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6400" imgH="190440" progId="Equation.3">
                  <p:embed/>
                </p:oleObj>
              </mc:Choice>
              <mc:Fallback>
                <p:oleObj name="Equation" r:id="rId3" imgW="266400" imgH="190440" progId="Equation.3">
                  <p:embed/>
                  <p:pic>
                    <p:nvPicPr>
                      <p:cNvPr id="1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3573016"/>
                        <a:ext cx="604837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28" name="Object 2"/>
          <p:cNvGraphicFramePr>
            <a:graphicFrameLocks noChangeAspect="1"/>
          </p:cNvGraphicFramePr>
          <p:nvPr/>
        </p:nvGraphicFramePr>
        <p:xfrm>
          <a:off x="251520" y="4149080"/>
          <a:ext cx="6334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9360" imgH="190440" progId="Equation.3">
                  <p:embed/>
                </p:oleObj>
              </mc:Choice>
              <mc:Fallback>
                <p:oleObj name="Equation" r:id="rId5" imgW="279360" imgH="190440" progId="Equation.3">
                  <p:embed/>
                  <p:pic>
                    <p:nvPicPr>
                      <p:cNvPr id="13722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4149080"/>
                        <a:ext cx="633413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29" name="Object 2"/>
          <p:cNvGraphicFramePr>
            <a:graphicFrameLocks noChangeAspect="1"/>
          </p:cNvGraphicFramePr>
          <p:nvPr/>
        </p:nvGraphicFramePr>
        <p:xfrm>
          <a:off x="265485" y="4653136"/>
          <a:ext cx="6334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79360" imgH="190440" progId="Equation.3">
                  <p:embed/>
                </p:oleObj>
              </mc:Choice>
              <mc:Fallback>
                <p:oleObj name="Equation" r:id="rId7" imgW="279360" imgH="190440" progId="Equation.3">
                  <p:embed/>
                  <p:pic>
                    <p:nvPicPr>
                      <p:cNvPr id="13722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485" y="4653136"/>
                        <a:ext cx="633413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30" name="Object 2"/>
          <p:cNvGraphicFramePr>
            <a:graphicFrameLocks noChangeAspect="1"/>
          </p:cNvGraphicFramePr>
          <p:nvPr/>
        </p:nvGraphicFramePr>
        <p:xfrm>
          <a:off x="251520" y="5157440"/>
          <a:ext cx="6334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79360" imgH="190440" progId="Equation.3">
                  <p:embed/>
                </p:oleObj>
              </mc:Choice>
              <mc:Fallback>
                <p:oleObj name="Equation" r:id="rId9" imgW="279360" imgH="190440" progId="Equation.3">
                  <p:embed/>
                  <p:pic>
                    <p:nvPicPr>
                      <p:cNvPr id="13723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5157440"/>
                        <a:ext cx="633412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31" name="Object 2"/>
          <p:cNvGraphicFramePr>
            <a:graphicFrameLocks noChangeAspect="1"/>
          </p:cNvGraphicFramePr>
          <p:nvPr/>
        </p:nvGraphicFramePr>
        <p:xfrm>
          <a:off x="265485" y="5733504"/>
          <a:ext cx="60483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66400" imgH="190440" progId="Equation.3">
                  <p:embed/>
                </p:oleObj>
              </mc:Choice>
              <mc:Fallback>
                <p:oleObj name="Equation" r:id="rId11" imgW="266400" imgH="190440" progId="Equation.3">
                  <p:embed/>
                  <p:pic>
                    <p:nvPicPr>
                      <p:cNvPr id="137231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485" y="5733504"/>
                        <a:ext cx="604837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32" name="Object 2"/>
          <p:cNvGraphicFramePr>
            <a:graphicFrameLocks noChangeAspect="1"/>
          </p:cNvGraphicFramePr>
          <p:nvPr/>
        </p:nvGraphicFramePr>
        <p:xfrm>
          <a:off x="1735138" y="3500438"/>
          <a:ext cx="66198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91960" imgH="190440" progId="Equation.3">
                  <p:embed/>
                </p:oleObj>
              </mc:Choice>
              <mc:Fallback>
                <p:oleObj name="Equation" r:id="rId13" imgW="291960" imgH="190440" progId="Equation.3">
                  <p:embed/>
                  <p:pic>
                    <p:nvPicPr>
                      <p:cNvPr id="13723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5138" y="3500438"/>
                        <a:ext cx="661987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33" name="Object 2"/>
          <p:cNvGraphicFramePr>
            <a:graphicFrameLocks noChangeAspect="1"/>
          </p:cNvGraphicFramePr>
          <p:nvPr/>
        </p:nvGraphicFramePr>
        <p:xfrm>
          <a:off x="1763688" y="4077072"/>
          <a:ext cx="66198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91960" imgH="190440" progId="Equation.3">
                  <p:embed/>
                </p:oleObj>
              </mc:Choice>
              <mc:Fallback>
                <p:oleObj name="Equation" r:id="rId15" imgW="291960" imgH="190440" progId="Equation.3">
                  <p:embed/>
                  <p:pic>
                    <p:nvPicPr>
                      <p:cNvPr id="13723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4077072"/>
                        <a:ext cx="661987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34" name="Object 2"/>
          <p:cNvGraphicFramePr>
            <a:graphicFrameLocks noChangeAspect="1"/>
          </p:cNvGraphicFramePr>
          <p:nvPr/>
        </p:nvGraphicFramePr>
        <p:xfrm>
          <a:off x="1835696" y="4581128"/>
          <a:ext cx="66198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91960" imgH="190440" progId="Equation.3">
                  <p:embed/>
                </p:oleObj>
              </mc:Choice>
              <mc:Fallback>
                <p:oleObj name="Equation" r:id="rId17" imgW="291960" imgH="190440" progId="Equation.3">
                  <p:embed/>
                  <p:pic>
                    <p:nvPicPr>
                      <p:cNvPr id="13723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4581128"/>
                        <a:ext cx="661987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35" name="Object 2"/>
          <p:cNvGraphicFramePr>
            <a:graphicFrameLocks noChangeAspect="1"/>
          </p:cNvGraphicFramePr>
          <p:nvPr/>
        </p:nvGraphicFramePr>
        <p:xfrm>
          <a:off x="1835696" y="5085184"/>
          <a:ext cx="6619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91960" imgH="190440" progId="Equation.3">
                  <p:embed/>
                </p:oleObj>
              </mc:Choice>
              <mc:Fallback>
                <p:oleObj name="Equation" r:id="rId19" imgW="291960" imgH="190440" progId="Equation.3">
                  <p:embed/>
                  <p:pic>
                    <p:nvPicPr>
                      <p:cNvPr id="13723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5085184"/>
                        <a:ext cx="661988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36" name="Object 2"/>
          <p:cNvGraphicFramePr>
            <a:graphicFrameLocks noChangeAspect="1"/>
          </p:cNvGraphicFramePr>
          <p:nvPr/>
        </p:nvGraphicFramePr>
        <p:xfrm>
          <a:off x="3073400" y="3500438"/>
          <a:ext cx="6334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79360" imgH="190440" progId="Equation.3">
                  <p:embed/>
                </p:oleObj>
              </mc:Choice>
              <mc:Fallback>
                <p:oleObj name="Equation" r:id="rId21" imgW="279360" imgH="190440" progId="Equation.3">
                  <p:embed/>
                  <p:pic>
                    <p:nvPicPr>
                      <p:cNvPr id="13723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3400" y="3500438"/>
                        <a:ext cx="633413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37" name="Object 21"/>
          <p:cNvGraphicFramePr>
            <a:graphicFrameLocks noChangeAspect="1"/>
          </p:cNvGraphicFramePr>
          <p:nvPr/>
        </p:nvGraphicFramePr>
        <p:xfrm>
          <a:off x="3044825" y="4005263"/>
          <a:ext cx="6619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91960" imgH="190440" progId="Equation.3">
                  <p:embed/>
                </p:oleObj>
              </mc:Choice>
              <mc:Fallback>
                <p:oleObj name="Equation" r:id="rId23" imgW="291960" imgH="190440" progId="Equation.3">
                  <p:embed/>
                  <p:pic>
                    <p:nvPicPr>
                      <p:cNvPr id="13723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4825" y="4005263"/>
                        <a:ext cx="661988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39" name="Object 23"/>
          <p:cNvGraphicFramePr>
            <a:graphicFrameLocks noChangeAspect="1"/>
          </p:cNvGraphicFramePr>
          <p:nvPr/>
        </p:nvGraphicFramePr>
        <p:xfrm>
          <a:off x="4197350" y="3573463"/>
          <a:ext cx="6619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91960" imgH="190440" progId="Equation.3">
                  <p:embed/>
                </p:oleObj>
              </mc:Choice>
              <mc:Fallback>
                <p:oleObj name="Equation" r:id="rId25" imgW="291960" imgH="190440" progId="Equation.3">
                  <p:embed/>
                  <p:pic>
                    <p:nvPicPr>
                      <p:cNvPr id="137239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7350" y="3573463"/>
                        <a:ext cx="661988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40" name="Object 24"/>
          <p:cNvGraphicFramePr>
            <a:graphicFrameLocks noChangeAspect="1"/>
          </p:cNvGraphicFramePr>
          <p:nvPr/>
        </p:nvGraphicFramePr>
        <p:xfrm>
          <a:off x="4139952" y="4077072"/>
          <a:ext cx="6619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91960" imgH="190440" progId="Equation.3">
                  <p:embed/>
                </p:oleObj>
              </mc:Choice>
              <mc:Fallback>
                <p:oleObj name="Equation" r:id="rId27" imgW="291960" imgH="190440" progId="Equation.3">
                  <p:embed/>
                  <p:pic>
                    <p:nvPicPr>
                      <p:cNvPr id="13724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952" y="4077072"/>
                        <a:ext cx="661988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41" name="Object 25"/>
          <p:cNvGraphicFramePr>
            <a:graphicFrameLocks noChangeAspect="1"/>
          </p:cNvGraphicFramePr>
          <p:nvPr/>
        </p:nvGraphicFramePr>
        <p:xfrm>
          <a:off x="5436096" y="3573016"/>
          <a:ext cx="6619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91960" imgH="190440" progId="Equation.3">
                  <p:embed/>
                </p:oleObj>
              </mc:Choice>
              <mc:Fallback>
                <p:oleObj name="Equation" r:id="rId29" imgW="291960" imgH="190440" progId="Equation.3">
                  <p:embed/>
                  <p:pic>
                    <p:nvPicPr>
                      <p:cNvPr id="137241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6096" y="3573016"/>
                        <a:ext cx="661988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42" name="Object 26"/>
          <p:cNvGraphicFramePr>
            <a:graphicFrameLocks noChangeAspect="1"/>
          </p:cNvGraphicFramePr>
          <p:nvPr/>
        </p:nvGraphicFramePr>
        <p:xfrm>
          <a:off x="6804248" y="3573016"/>
          <a:ext cx="6619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291960" imgH="190440" progId="Equation.3">
                  <p:embed/>
                </p:oleObj>
              </mc:Choice>
              <mc:Fallback>
                <p:oleObj name="Equation" r:id="rId31" imgW="291960" imgH="190440" progId="Equation.3">
                  <p:embed/>
                  <p:pic>
                    <p:nvPicPr>
                      <p:cNvPr id="137242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248" y="3573016"/>
                        <a:ext cx="661988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97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475000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68"/>
          <p:cNvGrpSpPr>
            <a:grpSpLocks/>
          </p:cNvGrpSpPr>
          <p:nvPr/>
        </p:nvGrpSpPr>
        <p:grpSpPr bwMode="auto">
          <a:xfrm>
            <a:off x="2819400" y="4606925"/>
            <a:ext cx="990600" cy="487363"/>
            <a:chOff x="1392" y="3094"/>
            <a:chExt cx="624" cy="307"/>
          </a:xfrm>
        </p:grpSpPr>
        <p:sp>
          <p:nvSpPr>
            <p:cNvPr id="135211" name="Text Box 43"/>
            <p:cNvSpPr txBox="1">
              <a:spLocks noChangeArrowheads="1"/>
            </p:cNvSpPr>
            <p:nvPr/>
          </p:nvSpPr>
          <p:spPr bwMode="auto">
            <a:xfrm>
              <a:off x="1538" y="3094"/>
              <a:ext cx="430" cy="307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CC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en-US" altLang="zh-CN" sz="2000" b="1"/>
                <a:t>G</a:t>
              </a:r>
              <a:r>
                <a:rPr kumimoji="0" lang="en-US" altLang="zh-CN" sz="2000" b="1" baseline="-25000"/>
                <a:t>1</a:t>
              </a:r>
            </a:p>
          </p:txBody>
        </p:sp>
        <p:sp>
          <p:nvSpPr>
            <p:cNvPr id="135224" name="Line 56"/>
            <p:cNvSpPr>
              <a:spLocks noChangeShapeType="1"/>
            </p:cNvSpPr>
            <p:nvPr/>
          </p:nvSpPr>
          <p:spPr bwMode="auto">
            <a:xfrm>
              <a:off x="1488" y="3360"/>
              <a:ext cx="28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335" name="Line 167"/>
            <p:cNvSpPr>
              <a:spLocks noChangeShapeType="1"/>
            </p:cNvSpPr>
            <p:nvPr/>
          </p:nvSpPr>
          <p:spPr bwMode="auto">
            <a:xfrm>
              <a:off x="1392" y="3360"/>
              <a:ext cx="624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" name="Group 174"/>
          <p:cNvGrpSpPr>
            <a:grpSpLocks/>
          </p:cNvGrpSpPr>
          <p:nvPr/>
        </p:nvGrpSpPr>
        <p:grpSpPr bwMode="auto">
          <a:xfrm>
            <a:off x="6018213" y="4614863"/>
            <a:ext cx="762000" cy="436562"/>
            <a:chOff x="3408" y="3085"/>
            <a:chExt cx="480" cy="275"/>
          </a:xfrm>
        </p:grpSpPr>
        <p:sp>
          <p:nvSpPr>
            <p:cNvPr id="135208" name="Text Box 40"/>
            <p:cNvSpPr txBox="1">
              <a:spLocks noChangeArrowheads="1"/>
            </p:cNvSpPr>
            <p:nvPr/>
          </p:nvSpPr>
          <p:spPr bwMode="auto">
            <a:xfrm>
              <a:off x="3456" y="3085"/>
              <a:ext cx="378" cy="266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CC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en-US" altLang="zh-CN" sz="2000" b="1"/>
                <a:t>G</a:t>
              </a:r>
              <a:r>
                <a:rPr kumimoji="0" lang="en-US" altLang="zh-CN" sz="2000" b="1" baseline="-25000"/>
                <a:t>4</a:t>
              </a:r>
            </a:p>
          </p:txBody>
        </p:sp>
        <p:sp>
          <p:nvSpPr>
            <p:cNvPr id="135226" name="Line 58"/>
            <p:cNvSpPr>
              <a:spLocks noChangeShapeType="1"/>
            </p:cNvSpPr>
            <p:nvPr/>
          </p:nvSpPr>
          <p:spPr bwMode="auto">
            <a:xfrm>
              <a:off x="3456" y="3360"/>
              <a:ext cx="28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341" name="Line 173"/>
            <p:cNvSpPr>
              <a:spLocks noChangeShapeType="1"/>
            </p:cNvSpPr>
            <p:nvPr/>
          </p:nvSpPr>
          <p:spPr bwMode="auto">
            <a:xfrm>
              <a:off x="3408" y="3360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172"/>
          <p:cNvGrpSpPr>
            <a:grpSpLocks/>
          </p:cNvGrpSpPr>
          <p:nvPr/>
        </p:nvGrpSpPr>
        <p:grpSpPr bwMode="auto">
          <a:xfrm>
            <a:off x="5105400" y="4616450"/>
            <a:ext cx="762000" cy="450850"/>
            <a:chOff x="2832" y="3076"/>
            <a:chExt cx="480" cy="284"/>
          </a:xfrm>
        </p:grpSpPr>
        <p:sp>
          <p:nvSpPr>
            <p:cNvPr id="135209" name="Text Box 41"/>
            <p:cNvSpPr txBox="1">
              <a:spLocks noChangeArrowheads="1"/>
            </p:cNvSpPr>
            <p:nvPr/>
          </p:nvSpPr>
          <p:spPr bwMode="auto">
            <a:xfrm>
              <a:off x="2918" y="3076"/>
              <a:ext cx="394" cy="267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CC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en-US" altLang="zh-CN" sz="2000" b="1"/>
                <a:t>G</a:t>
              </a:r>
              <a:r>
                <a:rPr kumimoji="0" lang="en-US" altLang="zh-CN" sz="2000" b="1" baseline="-25000"/>
                <a:t>3</a:t>
              </a:r>
            </a:p>
          </p:txBody>
        </p:sp>
        <p:sp>
          <p:nvSpPr>
            <p:cNvPr id="135227" name="Line 59"/>
            <p:cNvSpPr>
              <a:spLocks noChangeShapeType="1"/>
            </p:cNvSpPr>
            <p:nvPr/>
          </p:nvSpPr>
          <p:spPr bwMode="auto">
            <a:xfrm>
              <a:off x="2880" y="3360"/>
              <a:ext cx="287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339" name="Line 171"/>
            <p:cNvSpPr>
              <a:spLocks noChangeShapeType="1"/>
            </p:cNvSpPr>
            <p:nvPr/>
          </p:nvSpPr>
          <p:spPr bwMode="auto">
            <a:xfrm>
              <a:off x="2832" y="3360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4624"/>
            <a:ext cx="7772400" cy="838200"/>
          </a:xfrm>
        </p:spPr>
        <p:txBody>
          <a:bodyPr>
            <a:normAutofit fontScale="90000"/>
          </a:bodyPr>
          <a:lstStyle/>
          <a:p>
            <a:r>
              <a:rPr lang="en-US" altLang="zh-CN" sz="3200" b="1" dirty="0"/>
              <a:t>From Block Diagram to Signal-Flow Graph Models</a:t>
            </a:r>
            <a:br>
              <a:rPr lang="en-US" altLang="zh-CN" sz="3200" b="1" dirty="0"/>
            </a:br>
            <a:r>
              <a:rPr lang="en-US" altLang="zh-CN" sz="3200" b="1" dirty="0" err="1"/>
              <a:t>Example#5</a:t>
            </a:r>
            <a:endParaRPr lang="en-US" altLang="zh-CN" sz="3200" b="1" dirty="0"/>
          </a:p>
        </p:txBody>
      </p:sp>
      <p:grpSp>
        <p:nvGrpSpPr>
          <p:cNvPr id="5" name="Group 155"/>
          <p:cNvGrpSpPr>
            <a:grpSpLocks/>
          </p:cNvGrpSpPr>
          <p:nvPr/>
        </p:nvGrpSpPr>
        <p:grpSpPr bwMode="auto">
          <a:xfrm>
            <a:off x="685800" y="1219200"/>
            <a:ext cx="7620000" cy="2743200"/>
            <a:chOff x="432" y="864"/>
            <a:chExt cx="4800" cy="1728"/>
          </a:xfrm>
        </p:grpSpPr>
        <p:sp>
          <p:nvSpPr>
            <p:cNvPr id="135274" name="Rectangle 106"/>
            <p:cNvSpPr>
              <a:spLocks noChangeArrowheads="1"/>
            </p:cNvSpPr>
            <p:nvPr/>
          </p:nvSpPr>
          <p:spPr bwMode="auto">
            <a:xfrm>
              <a:off x="1864" y="1541"/>
              <a:ext cx="313" cy="283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CC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zh-CN" altLang="en-US" sz="1800" b="1">
                  <a:solidFill>
                    <a:srgbClr val="FF0000"/>
                  </a:solidFill>
                </a:rPr>
                <a:t>－</a:t>
              </a:r>
              <a:endParaRPr kumimoji="0" lang="zh-CN" altLang="en-US" sz="1800" b="1" baseline="-25000">
                <a:solidFill>
                  <a:srgbClr val="FF0000"/>
                </a:solidFill>
              </a:endParaRPr>
            </a:p>
          </p:txBody>
        </p:sp>
        <p:sp>
          <p:nvSpPr>
            <p:cNvPr id="135275" name="Rectangle 107"/>
            <p:cNvSpPr>
              <a:spLocks noChangeArrowheads="1"/>
            </p:cNvSpPr>
            <p:nvPr/>
          </p:nvSpPr>
          <p:spPr bwMode="auto">
            <a:xfrm>
              <a:off x="2860" y="1292"/>
              <a:ext cx="281" cy="332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CC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zh-CN" altLang="en-US" sz="1800" b="1">
                  <a:solidFill>
                    <a:srgbClr val="FF0000"/>
                  </a:solidFill>
                  <a:ea typeface="黑体" pitchFamily="2" charset="-122"/>
                </a:rPr>
                <a:t>－</a:t>
              </a:r>
              <a:endParaRPr kumimoji="0" lang="zh-CN" altLang="en-US" sz="1800" b="1" baseline="-25000">
                <a:solidFill>
                  <a:srgbClr val="FF0000"/>
                </a:solidFill>
                <a:ea typeface="黑体" pitchFamily="2" charset="-122"/>
              </a:endParaRPr>
            </a:p>
          </p:txBody>
        </p:sp>
        <p:sp>
          <p:nvSpPr>
            <p:cNvPr id="135276" name="Rectangle 108"/>
            <p:cNvSpPr>
              <a:spLocks noChangeArrowheads="1"/>
            </p:cNvSpPr>
            <p:nvPr/>
          </p:nvSpPr>
          <p:spPr bwMode="auto">
            <a:xfrm>
              <a:off x="841" y="1632"/>
              <a:ext cx="378" cy="320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CC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zh-CN" altLang="en-US" sz="1800" b="1">
                  <a:solidFill>
                    <a:srgbClr val="FF3300"/>
                  </a:solidFill>
                  <a:ea typeface="黑体" pitchFamily="2" charset="-122"/>
                </a:rPr>
                <a:t>－</a:t>
              </a:r>
              <a:endParaRPr kumimoji="0" lang="zh-CN" altLang="en-US" sz="1800" b="1" baseline="-25000">
                <a:solidFill>
                  <a:srgbClr val="FF3300"/>
                </a:solidFill>
                <a:ea typeface="黑体" pitchFamily="2" charset="-122"/>
              </a:endParaRPr>
            </a:p>
          </p:txBody>
        </p:sp>
        <p:sp>
          <p:nvSpPr>
            <p:cNvPr id="135277" name="Text Box 109"/>
            <p:cNvSpPr txBox="1">
              <a:spLocks noChangeArrowheads="1"/>
            </p:cNvSpPr>
            <p:nvPr/>
          </p:nvSpPr>
          <p:spPr bwMode="auto">
            <a:xfrm>
              <a:off x="4729" y="1248"/>
              <a:ext cx="503" cy="305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CC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en-US" altLang="zh-CN" sz="2000" b="1">
                  <a:solidFill>
                    <a:srgbClr val="FF3300"/>
                  </a:solidFill>
                </a:rPr>
                <a:t>C(s)</a:t>
              </a:r>
            </a:p>
          </p:txBody>
        </p:sp>
        <p:sp>
          <p:nvSpPr>
            <p:cNvPr id="135278" name="Text Box 110"/>
            <p:cNvSpPr txBox="1">
              <a:spLocks noChangeArrowheads="1"/>
            </p:cNvSpPr>
            <p:nvPr/>
          </p:nvSpPr>
          <p:spPr bwMode="auto">
            <a:xfrm>
              <a:off x="432" y="1255"/>
              <a:ext cx="503" cy="304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CC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en-US" altLang="zh-CN" sz="2000" b="1">
                  <a:solidFill>
                    <a:srgbClr val="FF3300"/>
                  </a:solidFill>
                </a:rPr>
                <a:t>R(s)</a:t>
              </a:r>
            </a:p>
          </p:txBody>
        </p:sp>
        <p:sp>
          <p:nvSpPr>
            <p:cNvPr id="135279" name="AutoShape 111"/>
            <p:cNvSpPr>
              <a:spLocks noChangeArrowheads="1"/>
            </p:cNvSpPr>
            <p:nvPr/>
          </p:nvSpPr>
          <p:spPr bwMode="auto">
            <a:xfrm>
              <a:off x="831" y="1515"/>
              <a:ext cx="118" cy="121"/>
            </a:xfrm>
            <a:prstGeom prst="flowChartSummingJunction">
              <a:avLst/>
            </a:prstGeom>
            <a:solidFill>
              <a:srgbClr val="FFFF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280" name="AutoShape 112"/>
            <p:cNvSpPr>
              <a:spLocks noChangeArrowheads="1"/>
            </p:cNvSpPr>
            <p:nvPr/>
          </p:nvSpPr>
          <p:spPr bwMode="auto">
            <a:xfrm>
              <a:off x="1816" y="1515"/>
              <a:ext cx="119" cy="121"/>
            </a:xfrm>
            <a:prstGeom prst="flowChartSummingJunction">
              <a:avLst/>
            </a:prstGeom>
            <a:solidFill>
              <a:srgbClr val="FFFF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281" name="AutoShape 113"/>
            <p:cNvSpPr>
              <a:spLocks noChangeArrowheads="1"/>
            </p:cNvSpPr>
            <p:nvPr/>
          </p:nvSpPr>
          <p:spPr bwMode="auto">
            <a:xfrm>
              <a:off x="2854" y="1515"/>
              <a:ext cx="119" cy="121"/>
            </a:xfrm>
            <a:prstGeom prst="flowChartSummingJunction">
              <a:avLst/>
            </a:prstGeom>
            <a:solidFill>
              <a:srgbClr val="FFFF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282" name="Line 114"/>
            <p:cNvSpPr>
              <a:spLocks noChangeShapeType="1"/>
            </p:cNvSpPr>
            <p:nvPr/>
          </p:nvSpPr>
          <p:spPr bwMode="auto">
            <a:xfrm>
              <a:off x="503" y="1571"/>
              <a:ext cx="333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283" name="Line 115"/>
            <p:cNvSpPr>
              <a:spLocks noChangeShapeType="1"/>
            </p:cNvSpPr>
            <p:nvPr/>
          </p:nvSpPr>
          <p:spPr bwMode="auto">
            <a:xfrm>
              <a:off x="935" y="1569"/>
              <a:ext cx="25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284" name="Line 116"/>
            <p:cNvSpPr>
              <a:spLocks noChangeShapeType="1"/>
            </p:cNvSpPr>
            <p:nvPr/>
          </p:nvSpPr>
          <p:spPr bwMode="auto">
            <a:xfrm>
              <a:off x="1584" y="1572"/>
              <a:ext cx="251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285" name="Line 117"/>
            <p:cNvSpPr>
              <a:spLocks noChangeShapeType="1"/>
            </p:cNvSpPr>
            <p:nvPr/>
          </p:nvSpPr>
          <p:spPr bwMode="auto">
            <a:xfrm>
              <a:off x="1942" y="1560"/>
              <a:ext cx="25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286" name="Line 118"/>
            <p:cNvSpPr>
              <a:spLocks noChangeShapeType="1"/>
            </p:cNvSpPr>
            <p:nvPr/>
          </p:nvSpPr>
          <p:spPr bwMode="auto">
            <a:xfrm>
              <a:off x="2571" y="1568"/>
              <a:ext cx="251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287" name="Line 119"/>
            <p:cNvSpPr>
              <a:spLocks noChangeShapeType="1"/>
            </p:cNvSpPr>
            <p:nvPr/>
          </p:nvSpPr>
          <p:spPr bwMode="auto">
            <a:xfrm>
              <a:off x="2928" y="1536"/>
              <a:ext cx="3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288" name="Line 120"/>
            <p:cNvSpPr>
              <a:spLocks noChangeShapeType="1"/>
            </p:cNvSpPr>
            <p:nvPr/>
          </p:nvSpPr>
          <p:spPr bwMode="auto">
            <a:xfrm>
              <a:off x="3704" y="1560"/>
              <a:ext cx="377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289" name="Line 121"/>
            <p:cNvSpPr>
              <a:spLocks noChangeShapeType="1"/>
            </p:cNvSpPr>
            <p:nvPr/>
          </p:nvSpPr>
          <p:spPr bwMode="auto">
            <a:xfrm>
              <a:off x="4458" y="1564"/>
              <a:ext cx="504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290" name="Line 122"/>
            <p:cNvSpPr>
              <a:spLocks noChangeShapeType="1"/>
            </p:cNvSpPr>
            <p:nvPr/>
          </p:nvSpPr>
          <p:spPr bwMode="auto">
            <a:xfrm flipH="1">
              <a:off x="2907" y="1008"/>
              <a:ext cx="0" cy="48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291" name="Line 123"/>
            <p:cNvSpPr>
              <a:spLocks noChangeShapeType="1"/>
            </p:cNvSpPr>
            <p:nvPr/>
          </p:nvSpPr>
          <p:spPr bwMode="auto">
            <a:xfrm flipV="1">
              <a:off x="1869" y="1625"/>
              <a:ext cx="0" cy="38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292" name="Line 124"/>
            <p:cNvSpPr>
              <a:spLocks noChangeShapeType="1"/>
            </p:cNvSpPr>
            <p:nvPr/>
          </p:nvSpPr>
          <p:spPr bwMode="auto">
            <a:xfrm>
              <a:off x="1869" y="2015"/>
              <a:ext cx="797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293" name="Line 125"/>
            <p:cNvSpPr>
              <a:spLocks noChangeShapeType="1"/>
            </p:cNvSpPr>
            <p:nvPr/>
          </p:nvSpPr>
          <p:spPr bwMode="auto">
            <a:xfrm flipV="1">
              <a:off x="883" y="1637"/>
              <a:ext cx="0" cy="795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294" name="Line 126"/>
            <p:cNvSpPr>
              <a:spLocks noChangeShapeType="1"/>
            </p:cNvSpPr>
            <p:nvPr/>
          </p:nvSpPr>
          <p:spPr bwMode="auto">
            <a:xfrm flipH="1">
              <a:off x="2917" y="1013"/>
              <a:ext cx="797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295" name="Line 127"/>
            <p:cNvSpPr>
              <a:spLocks noChangeShapeType="1"/>
            </p:cNvSpPr>
            <p:nvPr/>
          </p:nvSpPr>
          <p:spPr bwMode="auto">
            <a:xfrm flipH="1" flipV="1">
              <a:off x="4081" y="1017"/>
              <a:ext cx="62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296" name="Line 128"/>
            <p:cNvSpPr>
              <a:spLocks noChangeShapeType="1"/>
            </p:cNvSpPr>
            <p:nvPr/>
          </p:nvSpPr>
          <p:spPr bwMode="auto">
            <a:xfrm>
              <a:off x="4700" y="1017"/>
              <a:ext cx="0" cy="589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297" name="Line 129"/>
            <p:cNvSpPr>
              <a:spLocks noChangeShapeType="1"/>
            </p:cNvSpPr>
            <p:nvPr/>
          </p:nvSpPr>
          <p:spPr bwMode="auto">
            <a:xfrm flipH="1">
              <a:off x="883" y="2433"/>
              <a:ext cx="1804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298" name="Line 130"/>
            <p:cNvSpPr>
              <a:spLocks noChangeShapeType="1"/>
            </p:cNvSpPr>
            <p:nvPr/>
          </p:nvSpPr>
          <p:spPr bwMode="auto">
            <a:xfrm>
              <a:off x="3840" y="1560"/>
              <a:ext cx="0" cy="47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299" name="Line 131"/>
            <p:cNvSpPr>
              <a:spLocks noChangeShapeType="1"/>
            </p:cNvSpPr>
            <p:nvPr/>
          </p:nvSpPr>
          <p:spPr bwMode="auto">
            <a:xfrm flipH="1">
              <a:off x="3075" y="2031"/>
              <a:ext cx="755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300" name="Line 132"/>
            <p:cNvSpPr>
              <a:spLocks noChangeShapeType="1"/>
            </p:cNvSpPr>
            <p:nvPr/>
          </p:nvSpPr>
          <p:spPr bwMode="auto">
            <a:xfrm flipH="1">
              <a:off x="3064" y="2451"/>
              <a:ext cx="1636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301" name="Line 133"/>
            <p:cNvSpPr>
              <a:spLocks noChangeShapeType="1"/>
            </p:cNvSpPr>
            <p:nvPr/>
          </p:nvSpPr>
          <p:spPr bwMode="auto">
            <a:xfrm>
              <a:off x="4700" y="1560"/>
              <a:ext cx="0" cy="875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302" name="Line 134"/>
            <p:cNvSpPr>
              <a:spLocks noChangeShapeType="1"/>
            </p:cNvSpPr>
            <p:nvPr/>
          </p:nvSpPr>
          <p:spPr bwMode="auto">
            <a:xfrm flipH="1">
              <a:off x="3075" y="2032"/>
              <a:ext cx="503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303" name="Oval 135"/>
            <p:cNvSpPr>
              <a:spLocks noChangeArrowheads="1"/>
            </p:cNvSpPr>
            <p:nvPr/>
          </p:nvSpPr>
          <p:spPr bwMode="auto">
            <a:xfrm flipH="1">
              <a:off x="4651" y="1516"/>
              <a:ext cx="80" cy="81"/>
            </a:xfrm>
            <a:prstGeom prst="ellipse">
              <a:avLst/>
            </a:prstGeom>
            <a:solidFill>
              <a:srgbClr val="000000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304" name="Rectangle 136"/>
            <p:cNvSpPr>
              <a:spLocks noChangeArrowheads="1"/>
            </p:cNvSpPr>
            <p:nvPr/>
          </p:nvSpPr>
          <p:spPr bwMode="auto">
            <a:xfrm>
              <a:off x="1187" y="1407"/>
              <a:ext cx="378" cy="304"/>
            </a:xfrm>
            <a:prstGeom prst="rect">
              <a:avLst/>
            </a:prstGeom>
            <a:solidFill>
              <a:srgbClr val="FFFF00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en-US" altLang="zh-CN" sz="1800" b="1"/>
                <a:t>G</a:t>
              </a:r>
              <a:r>
                <a:rPr kumimoji="0" lang="en-US" altLang="zh-CN" sz="1800" b="1" baseline="-25000"/>
                <a:t>1</a:t>
              </a:r>
            </a:p>
          </p:txBody>
        </p:sp>
        <p:sp>
          <p:nvSpPr>
            <p:cNvPr id="135305" name="Rectangle 137"/>
            <p:cNvSpPr>
              <a:spLocks noChangeArrowheads="1"/>
            </p:cNvSpPr>
            <p:nvPr/>
          </p:nvSpPr>
          <p:spPr bwMode="auto">
            <a:xfrm>
              <a:off x="2202" y="1415"/>
              <a:ext cx="377" cy="305"/>
            </a:xfrm>
            <a:prstGeom prst="rect">
              <a:avLst/>
            </a:prstGeom>
            <a:solidFill>
              <a:srgbClr val="FFFF00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en-US" altLang="zh-CN" sz="1800" b="1"/>
                <a:t>G</a:t>
              </a:r>
              <a:r>
                <a:rPr kumimoji="0" lang="en-US" altLang="zh-CN" sz="1800" b="1" baseline="-25000"/>
                <a:t>2</a:t>
              </a:r>
            </a:p>
          </p:txBody>
        </p:sp>
        <p:sp>
          <p:nvSpPr>
            <p:cNvPr id="135306" name="Rectangle 138"/>
            <p:cNvSpPr>
              <a:spLocks noChangeArrowheads="1"/>
            </p:cNvSpPr>
            <p:nvPr/>
          </p:nvSpPr>
          <p:spPr bwMode="auto">
            <a:xfrm>
              <a:off x="2681" y="1864"/>
              <a:ext cx="377" cy="304"/>
            </a:xfrm>
            <a:prstGeom prst="rect">
              <a:avLst/>
            </a:prstGeom>
            <a:solidFill>
              <a:srgbClr val="FFFF00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en-US" altLang="zh-CN" sz="1800" b="1"/>
                <a:t>H</a:t>
              </a:r>
              <a:r>
                <a:rPr kumimoji="0" lang="en-US" altLang="zh-CN" sz="1800" b="1" baseline="-25000"/>
                <a:t>2</a:t>
              </a:r>
            </a:p>
          </p:txBody>
        </p:sp>
        <p:sp>
          <p:nvSpPr>
            <p:cNvPr id="135307" name="Rectangle 139"/>
            <p:cNvSpPr>
              <a:spLocks noChangeArrowheads="1"/>
            </p:cNvSpPr>
            <p:nvPr/>
          </p:nvSpPr>
          <p:spPr bwMode="auto">
            <a:xfrm>
              <a:off x="3687" y="864"/>
              <a:ext cx="377" cy="305"/>
            </a:xfrm>
            <a:prstGeom prst="rect">
              <a:avLst/>
            </a:prstGeom>
            <a:solidFill>
              <a:srgbClr val="FFFF00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en-US" altLang="zh-CN" sz="1800" b="1"/>
                <a:t>H</a:t>
              </a:r>
              <a:r>
                <a:rPr kumimoji="0" lang="en-US" altLang="zh-CN" sz="1800" b="1" baseline="-25000"/>
                <a:t>1</a:t>
              </a:r>
            </a:p>
          </p:txBody>
        </p:sp>
        <p:sp>
          <p:nvSpPr>
            <p:cNvPr id="135308" name="Rectangle 140"/>
            <p:cNvSpPr>
              <a:spLocks noChangeArrowheads="1"/>
            </p:cNvSpPr>
            <p:nvPr/>
          </p:nvSpPr>
          <p:spPr bwMode="auto">
            <a:xfrm>
              <a:off x="4090" y="1407"/>
              <a:ext cx="377" cy="304"/>
            </a:xfrm>
            <a:prstGeom prst="rect">
              <a:avLst/>
            </a:prstGeom>
            <a:solidFill>
              <a:srgbClr val="FFFF00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en-US" altLang="zh-CN" sz="1800" b="1"/>
                <a:t>G</a:t>
              </a:r>
              <a:r>
                <a:rPr kumimoji="0" lang="en-US" altLang="zh-CN" sz="1800" b="1" baseline="-25000"/>
                <a:t>4</a:t>
              </a:r>
            </a:p>
          </p:txBody>
        </p:sp>
        <p:sp>
          <p:nvSpPr>
            <p:cNvPr id="135309" name="Rectangle 141"/>
            <p:cNvSpPr>
              <a:spLocks noChangeArrowheads="1"/>
            </p:cNvSpPr>
            <p:nvPr/>
          </p:nvSpPr>
          <p:spPr bwMode="auto">
            <a:xfrm>
              <a:off x="3335" y="1407"/>
              <a:ext cx="377" cy="304"/>
            </a:xfrm>
            <a:prstGeom prst="rect">
              <a:avLst/>
            </a:prstGeom>
            <a:solidFill>
              <a:srgbClr val="FFFF00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en-US" altLang="zh-CN" sz="1800" b="1"/>
                <a:t>G</a:t>
              </a:r>
              <a:r>
                <a:rPr kumimoji="0" lang="en-US" altLang="zh-CN" sz="1800" b="1" baseline="-25000"/>
                <a:t>3</a:t>
              </a:r>
            </a:p>
          </p:txBody>
        </p:sp>
        <p:sp>
          <p:nvSpPr>
            <p:cNvPr id="135310" name="Rectangle 142"/>
            <p:cNvSpPr>
              <a:spLocks noChangeArrowheads="1"/>
            </p:cNvSpPr>
            <p:nvPr/>
          </p:nvSpPr>
          <p:spPr bwMode="auto">
            <a:xfrm>
              <a:off x="2681" y="2287"/>
              <a:ext cx="377" cy="305"/>
            </a:xfrm>
            <a:prstGeom prst="rect">
              <a:avLst/>
            </a:prstGeom>
            <a:solidFill>
              <a:srgbClr val="FFFF00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en-US" altLang="zh-CN" sz="1800" b="1"/>
                <a:t>H</a:t>
              </a:r>
              <a:r>
                <a:rPr kumimoji="0" lang="en-US" altLang="zh-CN" sz="1800" b="1" baseline="-25000"/>
                <a:t>3</a:t>
              </a:r>
            </a:p>
          </p:txBody>
        </p:sp>
        <p:sp>
          <p:nvSpPr>
            <p:cNvPr id="135314" name="Text Box 146"/>
            <p:cNvSpPr txBox="1">
              <a:spLocks noChangeArrowheads="1"/>
            </p:cNvSpPr>
            <p:nvPr/>
          </p:nvSpPr>
          <p:spPr bwMode="auto">
            <a:xfrm>
              <a:off x="861" y="1296"/>
              <a:ext cx="39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E(s)</a:t>
              </a:r>
            </a:p>
          </p:txBody>
        </p:sp>
        <p:sp>
          <p:nvSpPr>
            <p:cNvPr id="135315" name="Text Box 147"/>
            <p:cNvSpPr txBox="1">
              <a:spLocks noChangeArrowheads="1"/>
            </p:cNvSpPr>
            <p:nvPr/>
          </p:nvSpPr>
          <p:spPr bwMode="auto">
            <a:xfrm>
              <a:off x="1920" y="1275"/>
              <a:ext cx="28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X</a:t>
              </a:r>
              <a:r>
                <a:rPr lang="en-US" altLang="zh-CN" sz="2000" b="1" baseline="-250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135316" name="Text Box 148"/>
            <p:cNvSpPr txBox="1">
              <a:spLocks noChangeArrowheads="1"/>
            </p:cNvSpPr>
            <p:nvPr/>
          </p:nvSpPr>
          <p:spPr bwMode="auto">
            <a:xfrm>
              <a:off x="3024" y="1548"/>
              <a:ext cx="28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X</a:t>
              </a:r>
              <a:r>
                <a:rPr lang="en-US" altLang="zh-CN" sz="2000" b="1" baseline="-25000">
                  <a:solidFill>
                    <a:srgbClr val="FF3300"/>
                  </a:solidFill>
                </a:rPr>
                <a:t>2</a:t>
              </a:r>
            </a:p>
          </p:txBody>
        </p:sp>
        <p:sp>
          <p:nvSpPr>
            <p:cNvPr id="135317" name="Text Box 149"/>
            <p:cNvSpPr txBox="1">
              <a:spLocks noChangeArrowheads="1"/>
            </p:cNvSpPr>
            <p:nvPr/>
          </p:nvSpPr>
          <p:spPr bwMode="auto">
            <a:xfrm>
              <a:off x="3696" y="1296"/>
              <a:ext cx="31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X</a:t>
              </a:r>
              <a:r>
                <a:rPr lang="en-US" altLang="zh-CN" sz="2000" b="1" baseline="-25000">
                  <a:solidFill>
                    <a:srgbClr val="FF3300"/>
                  </a:solidFill>
                </a:rPr>
                <a:t>3</a:t>
              </a:r>
            </a:p>
          </p:txBody>
        </p:sp>
      </p:grpSp>
      <p:grpSp>
        <p:nvGrpSpPr>
          <p:cNvPr id="6" name="Group 164"/>
          <p:cNvGrpSpPr>
            <a:grpSpLocks/>
          </p:cNvGrpSpPr>
          <p:nvPr/>
        </p:nvGrpSpPr>
        <p:grpSpPr bwMode="auto">
          <a:xfrm>
            <a:off x="1219200" y="4572000"/>
            <a:ext cx="762000" cy="541338"/>
            <a:chOff x="384" y="3072"/>
            <a:chExt cx="480" cy="341"/>
          </a:xfrm>
        </p:grpSpPr>
        <p:sp>
          <p:nvSpPr>
            <p:cNvPr id="135214" name="Text Box 46"/>
            <p:cNvSpPr txBox="1">
              <a:spLocks noChangeArrowheads="1"/>
            </p:cNvSpPr>
            <p:nvPr/>
          </p:nvSpPr>
          <p:spPr bwMode="auto">
            <a:xfrm>
              <a:off x="384" y="3072"/>
              <a:ext cx="480" cy="266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en-US" altLang="zh-CN" sz="2000" b="1">
                  <a:solidFill>
                    <a:srgbClr val="FF3300"/>
                  </a:solidFill>
                </a:rPr>
                <a:t>R(s)</a:t>
              </a:r>
            </a:p>
          </p:txBody>
        </p:sp>
        <p:sp>
          <p:nvSpPr>
            <p:cNvPr id="135216" name="Oval 48"/>
            <p:cNvSpPr>
              <a:spLocks noChangeArrowheads="1"/>
            </p:cNvSpPr>
            <p:nvPr/>
          </p:nvSpPr>
          <p:spPr bwMode="auto">
            <a:xfrm>
              <a:off x="589" y="3342"/>
              <a:ext cx="90" cy="71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" name="Group 163"/>
          <p:cNvGrpSpPr>
            <a:grpSpLocks/>
          </p:cNvGrpSpPr>
          <p:nvPr/>
        </p:nvGrpSpPr>
        <p:grpSpPr bwMode="auto">
          <a:xfrm>
            <a:off x="6629400" y="4572000"/>
            <a:ext cx="685800" cy="541338"/>
            <a:chOff x="3792" y="3072"/>
            <a:chExt cx="432" cy="341"/>
          </a:xfrm>
        </p:grpSpPr>
        <p:sp>
          <p:nvSpPr>
            <p:cNvPr id="135213" name="Text Box 45"/>
            <p:cNvSpPr txBox="1">
              <a:spLocks noChangeArrowheads="1"/>
            </p:cNvSpPr>
            <p:nvPr/>
          </p:nvSpPr>
          <p:spPr bwMode="auto">
            <a:xfrm>
              <a:off x="3792" y="3072"/>
              <a:ext cx="432" cy="266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en-US" altLang="zh-CN" sz="2000" b="1">
                  <a:solidFill>
                    <a:srgbClr val="FF3300"/>
                  </a:solidFill>
                </a:rPr>
                <a:t>C(s)</a:t>
              </a:r>
            </a:p>
          </p:txBody>
        </p:sp>
        <p:sp>
          <p:nvSpPr>
            <p:cNvPr id="135221" name="Oval 53"/>
            <p:cNvSpPr>
              <a:spLocks noChangeArrowheads="1"/>
            </p:cNvSpPr>
            <p:nvPr/>
          </p:nvSpPr>
          <p:spPr bwMode="auto">
            <a:xfrm>
              <a:off x="3893" y="3342"/>
              <a:ext cx="91" cy="71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" name="Group 177"/>
          <p:cNvGrpSpPr>
            <a:grpSpLocks/>
          </p:cNvGrpSpPr>
          <p:nvPr/>
        </p:nvGrpSpPr>
        <p:grpSpPr bwMode="auto">
          <a:xfrm>
            <a:off x="3810000" y="5105400"/>
            <a:ext cx="2147888" cy="735013"/>
            <a:chOff x="2013" y="3413"/>
            <a:chExt cx="1353" cy="463"/>
          </a:xfrm>
        </p:grpSpPr>
        <p:sp>
          <p:nvSpPr>
            <p:cNvPr id="135206" name="Text Box 38"/>
            <p:cNvSpPr txBox="1">
              <a:spLocks noChangeArrowheads="1"/>
            </p:cNvSpPr>
            <p:nvPr/>
          </p:nvSpPr>
          <p:spPr bwMode="auto">
            <a:xfrm>
              <a:off x="2013" y="3610"/>
              <a:ext cx="627" cy="266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CC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zh-CN" altLang="en-US" sz="2000" b="1"/>
                <a:t>－</a:t>
              </a:r>
              <a:r>
                <a:rPr kumimoji="0" lang="en-US" altLang="zh-CN" sz="2000" b="1"/>
                <a:t>H</a:t>
              </a:r>
              <a:r>
                <a:rPr kumimoji="0" lang="en-US" altLang="zh-CN" sz="2000" b="1" baseline="-25000"/>
                <a:t>2</a:t>
              </a:r>
            </a:p>
          </p:txBody>
        </p:sp>
        <p:sp>
          <p:nvSpPr>
            <p:cNvPr id="135230" name="Freeform 62"/>
            <p:cNvSpPr>
              <a:spLocks/>
            </p:cNvSpPr>
            <p:nvPr/>
          </p:nvSpPr>
          <p:spPr bwMode="auto">
            <a:xfrm>
              <a:off x="2074" y="3413"/>
              <a:ext cx="1292" cy="35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00" y="572"/>
                </a:cxn>
                <a:cxn ang="0">
                  <a:pos x="1620" y="0"/>
                </a:cxn>
              </a:cxnLst>
              <a:rect l="0" t="0" r="r" b="b"/>
              <a:pathLst>
                <a:path w="1620" h="572">
                  <a:moveTo>
                    <a:pt x="0" y="0"/>
                  </a:moveTo>
                  <a:cubicBezTo>
                    <a:pt x="315" y="286"/>
                    <a:pt x="630" y="572"/>
                    <a:pt x="900" y="572"/>
                  </a:cubicBezTo>
                  <a:cubicBezTo>
                    <a:pt x="1170" y="572"/>
                    <a:pt x="1500" y="95"/>
                    <a:pt x="1620" y="0"/>
                  </a:cubicBez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233" name="Line 65"/>
            <p:cNvSpPr>
              <a:spLocks noChangeShapeType="1"/>
            </p:cNvSpPr>
            <p:nvPr/>
          </p:nvSpPr>
          <p:spPr bwMode="auto">
            <a:xfrm rot="12420000">
              <a:off x="2385" y="3692"/>
              <a:ext cx="287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9" name="Group 176"/>
          <p:cNvGrpSpPr>
            <a:grpSpLocks/>
          </p:cNvGrpSpPr>
          <p:nvPr/>
        </p:nvGrpSpPr>
        <p:grpSpPr bwMode="auto">
          <a:xfrm>
            <a:off x="5051425" y="4191000"/>
            <a:ext cx="1857375" cy="808038"/>
            <a:chOff x="2798" y="2832"/>
            <a:chExt cx="1170" cy="509"/>
          </a:xfrm>
        </p:grpSpPr>
        <p:grpSp>
          <p:nvGrpSpPr>
            <p:cNvPr id="10" name="Group 175"/>
            <p:cNvGrpSpPr>
              <a:grpSpLocks/>
            </p:cNvGrpSpPr>
            <p:nvPr/>
          </p:nvGrpSpPr>
          <p:grpSpPr bwMode="auto">
            <a:xfrm>
              <a:off x="2798" y="2883"/>
              <a:ext cx="1102" cy="458"/>
              <a:chOff x="2798" y="2883"/>
              <a:chExt cx="1102" cy="458"/>
            </a:xfrm>
          </p:grpSpPr>
          <p:sp>
            <p:nvSpPr>
              <p:cNvPr id="135229" name="Freeform 61"/>
              <p:cNvSpPr>
                <a:spLocks/>
              </p:cNvSpPr>
              <p:nvPr/>
            </p:nvSpPr>
            <p:spPr bwMode="auto">
              <a:xfrm>
                <a:off x="2798" y="2883"/>
                <a:ext cx="1102" cy="458"/>
              </a:xfrm>
              <a:custGeom>
                <a:avLst/>
                <a:gdLst/>
                <a:ahLst/>
                <a:cxnLst>
                  <a:cxn ang="0">
                    <a:pos x="0" y="572"/>
                  </a:cxn>
                  <a:cxn ang="0">
                    <a:pos x="720" y="0"/>
                  </a:cxn>
                  <a:cxn ang="0">
                    <a:pos x="1440" y="572"/>
                  </a:cxn>
                </a:cxnLst>
                <a:rect l="0" t="0" r="r" b="b"/>
                <a:pathLst>
                  <a:path w="1440" h="572">
                    <a:moveTo>
                      <a:pt x="0" y="572"/>
                    </a:moveTo>
                    <a:cubicBezTo>
                      <a:pt x="240" y="286"/>
                      <a:pt x="480" y="0"/>
                      <a:pt x="720" y="0"/>
                    </a:cubicBezTo>
                    <a:cubicBezTo>
                      <a:pt x="960" y="0"/>
                      <a:pt x="1320" y="477"/>
                      <a:pt x="1440" y="572"/>
                    </a:cubicBez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5232" name="Line 64"/>
              <p:cNvSpPr>
                <a:spLocks noChangeShapeType="1"/>
              </p:cNvSpPr>
              <p:nvPr/>
            </p:nvSpPr>
            <p:spPr bwMode="auto">
              <a:xfrm rot="13320000">
                <a:off x="3438" y="3023"/>
                <a:ext cx="287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35312" name="Text Box 144"/>
            <p:cNvSpPr txBox="1">
              <a:spLocks noChangeArrowheads="1"/>
            </p:cNvSpPr>
            <p:nvPr/>
          </p:nvSpPr>
          <p:spPr bwMode="auto">
            <a:xfrm>
              <a:off x="3514" y="2832"/>
              <a:ext cx="45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000" b="1"/>
                <a:t>－</a:t>
              </a:r>
              <a:r>
                <a:rPr lang="en-US" altLang="zh-CN" sz="2000" b="1"/>
                <a:t>H</a:t>
              </a:r>
              <a:r>
                <a:rPr lang="en-US" altLang="zh-CN" sz="2000" b="1" baseline="-25000"/>
                <a:t>1</a:t>
              </a:r>
            </a:p>
          </p:txBody>
        </p:sp>
      </p:grpSp>
      <p:grpSp>
        <p:nvGrpSpPr>
          <p:cNvPr id="11" name="Group 178"/>
          <p:cNvGrpSpPr>
            <a:grpSpLocks/>
          </p:cNvGrpSpPr>
          <p:nvPr/>
        </p:nvGrpSpPr>
        <p:grpSpPr bwMode="auto">
          <a:xfrm>
            <a:off x="2743200" y="5113338"/>
            <a:ext cx="4105275" cy="1270000"/>
            <a:chOff x="1344" y="3413"/>
            <a:chExt cx="2586" cy="800"/>
          </a:xfrm>
        </p:grpSpPr>
        <p:sp>
          <p:nvSpPr>
            <p:cNvPr id="135231" name="Freeform 63"/>
            <p:cNvSpPr>
              <a:spLocks/>
            </p:cNvSpPr>
            <p:nvPr/>
          </p:nvSpPr>
          <p:spPr bwMode="auto">
            <a:xfrm>
              <a:off x="1344" y="3413"/>
              <a:ext cx="2586" cy="8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620" y="1287"/>
                </a:cxn>
                <a:cxn ang="0">
                  <a:pos x="3240" y="0"/>
                </a:cxn>
              </a:cxnLst>
              <a:rect l="0" t="0" r="r" b="b"/>
              <a:pathLst>
                <a:path w="3240" h="1287">
                  <a:moveTo>
                    <a:pt x="0" y="0"/>
                  </a:moveTo>
                  <a:cubicBezTo>
                    <a:pt x="540" y="643"/>
                    <a:pt x="1080" y="1287"/>
                    <a:pt x="1620" y="1287"/>
                  </a:cubicBezTo>
                  <a:cubicBezTo>
                    <a:pt x="2160" y="1287"/>
                    <a:pt x="2970" y="214"/>
                    <a:pt x="3240" y="0"/>
                  </a:cubicBez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234" name="Line 66"/>
            <p:cNvSpPr>
              <a:spLocks noChangeShapeType="1"/>
            </p:cNvSpPr>
            <p:nvPr/>
          </p:nvSpPr>
          <p:spPr bwMode="auto">
            <a:xfrm rot="12420000">
              <a:off x="2085" y="4105"/>
              <a:ext cx="28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313" name="Text Box 145"/>
            <p:cNvSpPr txBox="1">
              <a:spLocks noChangeArrowheads="1"/>
            </p:cNvSpPr>
            <p:nvPr/>
          </p:nvSpPr>
          <p:spPr bwMode="auto">
            <a:xfrm>
              <a:off x="1536" y="3888"/>
              <a:ext cx="465" cy="2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000" b="1"/>
                <a:t>－</a:t>
              </a:r>
              <a:r>
                <a:rPr lang="en-US" altLang="zh-CN" sz="2000" b="1"/>
                <a:t>H</a:t>
              </a:r>
              <a:r>
                <a:rPr lang="en-US" altLang="zh-CN" b="1" baseline="-25000"/>
                <a:t>3</a:t>
              </a:r>
            </a:p>
          </p:txBody>
        </p:sp>
      </p:grpSp>
      <p:grpSp>
        <p:nvGrpSpPr>
          <p:cNvPr id="12" name="Group 160"/>
          <p:cNvGrpSpPr>
            <a:grpSpLocks/>
          </p:cNvGrpSpPr>
          <p:nvPr/>
        </p:nvGrpSpPr>
        <p:grpSpPr bwMode="auto">
          <a:xfrm>
            <a:off x="3619500" y="4592638"/>
            <a:ext cx="517525" cy="520700"/>
            <a:chOff x="1896" y="3085"/>
            <a:chExt cx="326" cy="328"/>
          </a:xfrm>
        </p:grpSpPr>
        <p:sp>
          <p:nvSpPr>
            <p:cNvPr id="135219" name="Oval 51"/>
            <p:cNvSpPr>
              <a:spLocks noChangeArrowheads="1"/>
            </p:cNvSpPr>
            <p:nvPr/>
          </p:nvSpPr>
          <p:spPr bwMode="auto">
            <a:xfrm>
              <a:off x="2025" y="3342"/>
              <a:ext cx="91" cy="71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318" name="Text Box 150"/>
            <p:cNvSpPr txBox="1">
              <a:spLocks noChangeArrowheads="1"/>
            </p:cNvSpPr>
            <p:nvPr/>
          </p:nvSpPr>
          <p:spPr bwMode="auto">
            <a:xfrm>
              <a:off x="1896" y="3085"/>
              <a:ext cx="32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X</a:t>
              </a:r>
              <a:r>
                <a:rPr lang="en-US" altLang="zh-CN" sz="2000" b="1" baseline="-25000">
                  <a:solidFill>
                    <a:srgbClr val="FF3300"/>
                  </a:solidFill>
                </a:rPr>
                <a:t>1</a:t>
              </a:r>
            </a:p>
          </p:txBody>
        </p:sp>
      </p:grpSp>
      <p:grpSp>
        <p:nvGrpSpPr>
          <p:cNvPr id="13" name="Group 161"/>
          <p:cNvGrpSpPr>
            <a:grpSpLocks/>
          </p:cNvGrpSpPr>
          <p:nvPr/>
        </p:nvGrpSpPr>
        <p:grpSpPr bwMode="auto">
          <a:xfrm>
            <a:off x="4724400" y="4572000"/>
            <a:ext cx="517525" cy="541338"/>
            <a:chOff x="2592" y="3072"/>
            <a:chExt cx="326" cy="341"/>
          </a:xfrm>
        </p:grpSpPr>
        <p:sp>
          <p:nvSpPr>
            <p:cNvPr id="135220" name="Oval 52"/>
            <p:cNvSpPr>
              <a:spLocks noChangeArrowheads="1"/>
            </p:cNvSpPr>
            <p:nvPr/>
          </p:nvSpPr>
          <p:spPr bwMode="auto">
            <a:xfrm>
              <a:off x="2744" y="3342"/>
              <a:ext cx="91" cy="71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319" name="Text Box 151"/>
            <p:cNvSpPr txBox="1">
              <a:spLocks noChangeArrowheads="1"/>
            </p:cNvSpPr>
            <p:nvPr/>
          </p:nvSpPr>
          <p:spPr bwMode="auto">
            <a:xfrm>
              <a:off x="2592" y="3072"/>
              <a:ext cx="32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X</a:t>
              </a:r>
              <a:r>
                <a:rPr lang="en-US" altLang="zh-CN" sz="2000" b="1" baseline="-25000">
                  <a:solidFill>
                    <a:srgbClr val="FF3300"/>
                  </a:solidFill>
                </a:rPr>
                <a:t>2</a:t>
              </a:r>
            </a:p>
          </p:txBody>
        </p:sp>
      </p:grpSp>
      <p:grpSp>
        <p:nvGrpSpPr>
          <p:cNvPr id="14" name="Group 162"/>
          <p:cNvGrpSpPr>
            <a:grpSpLocks/>
          </p:cNvGrpSpPr>
          <p:nvPr/>
        </p:nvGrpSpPr>
        <p:grpSpPr bwMode="auto">
          <a:xfrm>
            <a:off x="5702300" y="4572000"/>
            <a:ext cx="581025" cy="541338"/>
            <a:chOff x="3216" y="3072"/>
            <a:chExt cx="366" cy="341"/>
          </a:xfrm>
        </p:grpSpPr>
        <p:sp>
          <p:nvSpPr>
            <p:cNvPr id="135217" name="Oval 49"/>
            <p:cNvSpPr>
              <a:spLocks noChangeArrowheads="1"/>
            </p:cNvSpPr>
            <p:nvPr/>
          </p:nvSpPr>
          <p:spPr bwMode="auto">
            <a:xfrm>
              <a:off x="3319" y="3342"/>
              <a:ext cx="90" cy="71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320" name="Text Box 152"/>
            <p:cNvSpPr txBox="1">
              <a:spLocks noChangeArrowheads="1"/>
            </p:cNvSpPr>
            <p:nvPr/>
          </p:nvSpPr>
          <p:spPr bwMode="auto">
            <a:xfrm>
              <a:off x="3216" y="3072"/>
              <a:ext cx="36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X</a:t>
              </a:r>
              <a:r>
                <a:rPr lang="en-US" altLang="zh-CN" sz="2000" b="1" baseline="-25000">
                  <a:solidFill>
                    <a:srgbClr val="FF3300"/>
                  </a:solidFill>
                </a:rPr>
                <a:t>3</a:t>
              </a:r>
            </a:p>
          </p:txBody>
        </p:sp>
      </p:grpSp>
      <p:grpSp>
        <p:nvGrpSpPr>
          <p:cNvPr id="15" name="Group 159"/>
          <p:cNvGrpSpPr>
            <a:grpSpLocks/>
          </p:cNvGrpSpPr>
          <p:nvPr/>
        </p:nvGrpSpPr>
        <p:grpSpPr bwMode="auto">
          <a:xfrm>
            <a:off x="2373313" y="4606925"/>
            <a:ext cx="620712" cy="506413"/>
            <a:chOff x="1111" y="3094"/>
            <a:chExt cx="391" cy="319"/>
          </a:xfrm>
        </p:grpSpPr>
        <p:sp>
          <p:nvSpPr>
            <p:cNvPr id="135218" name="Oval 50"/>
            <p:cNvSpPr>
              <a:spLocks noChangeArrowheads="1"/>
            </p:cNvSpPr>
            <p:nvPr/>
          </p:nvSpPr>
          <p:spPr bwMode="auto">
            <a:xfrm>
              <a:off x="1307" y="3342"/>
              <a:ext cx="91" cy="71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321" name="Text Box 153"/>
            <p:cNvSpPr txBox="1">
              <a:spLocks noChangeArrowheads="1"/>
            </p:cNvSpPr>
            <p:nvPr/>
          </p:nvSpPr>
          <p:spPr bwMode="auto">
            <a:xfrm>
              <a:off x="1111" y="3094"/>
              <a:ext cx="391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E(s)</a:t>
              </a:r>
            </a:p>
          </p:txBody>
        </p:sp>
      </p:grpSp>
      <p:sp>
        <p:nvSpPr>
          <p:cNvPr id="135324" name="Line 156"/>
          <p:cNvSpPr>
            <a:spLocks noChangeShapeType="1"/>
          </p:cNvSpPr>
          <p:nvPr/>
        </p:nvSpPr>
        <p:spPr bwMode="auto">
          <a:xfrm>
            <a:off x="3962400" y="3810000"/>
            <a:ext cx="0" cy="685800"/>
          </a:xfrm>
          <a:prstGeom prst="line">
            <a:avLst/>
          </a:prstGeom>
          <a:noFill/>
          <a:ln w="38100" cmpd="dbl">
            <a:solidFill>
              <a:srgbClr val="FF66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grpSp>
        <p:nvGrpSpPr>
          <p:cNvPr id="16" name="Group 166"/>
          <p:cNvGrpSpPr>
            <a:grpSpLocks/>
          </p:cNvGrpSpPr>
          <p:nvPr/>
        </p:nvGrpSpPr>
        <p:grpSpPr bwMode="auto">
          <a:xfrm>
            <a:off x="1676400" y="4572000"/>
            <a:ext cx="990600" cy="457200"/>
            <a:chOff x="672" y="3072"/>
            <a:chExt cx="624" cy="288"/>
          </a:xfrm>
        </p:grpSpPr>
        <p:sp>
          <p:nvSpPr>
            <p:cNvPr id="135212" name="Text Box 44"/>
            <p:cNvSpPr txBox="1">
              <a:spLocks noChangeArrowheads="1"/>
            </p:cNvSpPr>
            <p:nvPr/>
          </p:nvSpPr>
          <p:spPr bwMode="auto">
            <a:xfrm>
              <a:off x="864" y="3072"/>
              <a:ext cx="276" cy="266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CC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en-US" altLang="zh-CN" sz="2000" b="1"/>
                <a:t>1</a:t>
              </a:r>
            </a:p>
          </p:txBody>
        </p:sp>
        <p:sp>
          <p:nvSpPr>
            <p:cNvPr id="135223" name="Line 55"/>
            <p:cNvSpPr>
              <a:spLocks noChangeShapeType="1"/>
            </p:cNvSpPr>
            <p:nvPr/>
          </p:nvSpPr>
          <p:spPr bwMode="auto">
            <a:xfrm>
              <a:off x="816" y="3360"/>
              <a:ext cx="286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333" name="Line 165"/>
            <p:cNvSpPr>
              <a:spLocks noChangeShapeType="1"/>
            </p:cNvSpPr>
            <p:nvPr/>
          </p:nvSpPr>
          <p:spPr bwMode="auto">
            <a:xfrm>
              <a:off x="672" y="3360"/>
              <a:ext cx="62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7" name="Group 170"/>
          <p:cNvGrpSpPr>
            <a:grpSpLocks/>
          </p:cNvGrpSpPr>
          <p:nvPr/>
        </p:nvGrpSpPr>
        <p:grpSpPr bwMode="auto">
          <a:xfrm>
            <a:off x="3962400" y="4572000"/>
            <a:ext cx="990600" cy="457200"/>
            <a:chOff x="2112" y="3072"/>
            <a:chExt cx="624" cy="288"/>
          </a:xfrm>
        </p:grpSpPr>
        <p:sp>
          <p:nvSpPr>
            <p:cNvPr id="135210" name="Text Box 42"/>
            <p:cNvSpPr txBox="1">
              <a:spLocks noChangeArrowheads="1"/>
            </p:cNvSpPr>
            <p:nvPr/>
          </p:nvSpPr>
          <p:spPr bwMode="auto">
            <a:xfrm>
              <a:off x="2256" y="3072"/>
              <a:ext cx="373" cy="266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CC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en-US" altLang="zh-CN" sz="2000" b="1"/>
                <a:t>G</a:t>
              </a:r>
              <a:r>
                <a:rPr kumimoji="0" lang="en-US" altLang="zh-CN" sz="2000" b="1" baseline="-25000"/>
                <a:t>2</a:t>
              </a:r>
            </a:p>
          </p:txBody>
        </p:sp>
        <p:sp>
          <p:nvSpPr>
            <p:cNvPr id="135225" name="Line 57"/>
            <p:cNvSpPr>
              <a:spLocks noChangeShapeType="1"/>
            </p:cNvSpPr>
            <p:nvPr/>
          </p:nvSpPr>
          <p:spPr bwMode="auto">
            <a:xfrm>
              <a:off x="2208" y="3360"/>
              <a:ext cx="28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5337" name="Line 169"/>
            <p:cNvSpPr>
              <a:spLocks noChangeShapeType="1"/>
            </p:cNvSpPr>
            <p:nvPr/>
          </p:nvSpPr>
          <p:spPr bwMode="auto">
            <a:xfrm>
              <a:off x="2112" y="3360"/>
              <a:ext cx="624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98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5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5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53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53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1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0"/>
                            </p:stCondLst>
                            <p:childTnLst>
                              <p:par>
                                <p:cTn id="36" presetID="1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324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382000" cy="54864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400" dirty="0"/>
              <a:t> </a:t>
            </a:r>
          </a:p>
        </p:txBody>
      </p:sp>
      <p:graphicFrame>
        <p:nvGraphicFramePr>
          <p:cNvPr id="136233" name="Object 41"/>
          <p:cNvGraphicFramePr>
            <a:graphicFrameLocks noChangeAspect="1"/>
          </p:cNvGraphicFramePr>
          <p:nvPr/>
        </p:nvGraphicFramePr>
        <p:xfrm>
          <a:off x="1295400" y="3830638"/>
          <a:ext cx="6172200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44720" imgH="457200" progId="Equation.3">
                  <p:embed/>
                </p:oleObj>
              </mc:Choice>
              <mc:Fallback>
                <p:oleObj name="Equation" r:id="rId2" imgW="2844720" imgH="457200" progId="Equation.3">
                  <p:embed/>
                  <p:pic>
                    <p:nvPicPr>
                      <p:cNvPr id="136233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830638"/>
                        <a:ext cx="6172200" cy="969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234" name="Object 42"/>
          <p:cNvGraphicFramePr>
            <a:graphicFrameLocks noChangeAspect="1"/>
          </p:cNvGraphicFramePr>
          <p:nvPr/>
        </p:nvGraphicFramePr>
        <p:xfrm>
          <a:off x="1143000" y="5334000"/>
          <a:ext cx="6181725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51160" imgH="431640" progId="Equation.3">
                  <p:embed/>
                </p:oleObj>
              </mc:Choice>
              <mc:Fallback>
                <p:oleObj name="Equation" r:id="rId4" imgW="3251160" imgH="431640" progId="Equation.3">
                  <p:embed/>
                  <p:pic>
                    <p:nvPicPr>
                      <p:cNvPr id="136234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334000"/>
                        <a:ext cx="6181725" cy="879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235" name="Line 43"/>
          <p:cNvSpPr>
            <a:spLocks noChangeShapeType="1"/>
          </p:cNvSpPr>
          <p:nvPr/>
        </p:nvSpPr>
        <p:spPr bwMode="auto">
          <a:xfrm>
            <a:off x="3962400" y="3200400"/>
            <a:ext cx="0" cy="609600"/>
          </a:xfrm>
          <a:prstGeom prst="line">
            <a:avLst/>
          </a:prstGeom>
          <a:noFill/>
          <a:ln w="38100" cmpd="dbl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36236" name="Line 44"/>
          <p:cNvSpPr>
            <a:spLocks noChangeShapeType="1"/>
          </p:cNvSpPr>
          <p:nvPr/>
        </p:nvSpPr>
        <p:spPr bwMode="auto">
          <a:xfrm>
            <a:off x="3962400" y="4800600"/>
            <a:ext cx="0" cy="533400"/>
          </a:xfrm>
          <a:prstGeom prst="line">
            <a:avLst/>
          </a:prstGeom>
          <a:noFill/>
          <a:ln w="38100" cmpd="dbl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grpSp>
        <p:nvGrpSpPr>
          <p:cNvPr id="2" name="Group 45"/>
          <p:cNvGrpSpPr>
            <a:grpSpLocks/>
          </p:cNvGrpSpPr>
          <p:nvPr/>
        </p:nvGrpSpPr>
        <p:grpSpPr bwMode="auto">
          <a:xfrm>
            <a:off x="609600" y="838200"/>
            <a:ext cx="7543800" cy="2135188"/>
            <a:chOff x="384" y="2832"/>
            <a:chExt cx="4752" cy="1382"/>
          </a:xfrm>
        </p:grpSpPr>
        <p:sp>
          <p:nvSpPr>
            <p:cNvPr id="136238" name="Text Box 46"/>
            <p:cNvSpPr txBox="1">
              <a:spLocks noChangeArrowheads="1"/>
            </p:cNvSpPr>
            <p:nvPr/>
          </p:nvSpPr>
          <p:spPr bwMode="auto">
            <a:xfrm>
              <a:off x="384" y="3085"/>
              <a:ext cx="575" cy="266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CC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en-US" altLang="zh-CN" sz="2000" b="1">
                  <a:solidFill>
                    <a:srgbClr val="FF3300"/>
                  </a:solidFill>
                </a:rPr>
                <a:t>R(s)</a:t>
              </a:r>
            </a:p>
          </p:txBody>
        </p:sp>
        <p:sp>
          <p:nvSpPr>
            <p:cNvPr id="136239" name="Text Box 47"/>
            <p:cNvSpPr txBox="1">
              <a:spLocks noChangeArrowheads="1"/>
            </p:cNvSpPr>
            <p:nvPr/>
          </p:nvSpPr>
          <p:spPr bwMode="auto">
            <a:xfrm>
              <a:off x="2013" y="3610"/>
              <a:ext cx="718" cy="266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CC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zh-CN" altLang="en-US" sz="2000" b="1"/>
                <a:t>－</a:t>
              </a:r>
              <a:r>
                <a:rPr kumimoji="0" lang="en-US" altLang="zh-CN" sz="2000" b="1"/>
                <a:t>H</a:t>
              </a:r>
              <a:r>
                <a:rPr kumimoji="0" lang="en-US" altLang="zh-CN" sz="2000" b="1" baseline="-25000"/>
                <a:t>2</a:t>
              </a:r>
            </a:p>
          </p:txBody>
        </p:sp>
        <p:sp>
          <p:nvSpPr>
            <p:cNvPr id="136240" name="Text Box 48"/>
            <p:cNvSpPr txBox="1">
              <a:spLocks noChangeArrowheads="1"/>
            </p:cNvSpPr>
            <p:nvPr/>
          </p:nvSpPr>
          <p:spPr bwMode="auto">
            <a:xfrm>
              <a:off x="4203" y="3088"/>
              <a:ext cx="431" cy="266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CC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en-US" altLang="zh-CN" sz="2000" b="1"/>
                <a:t>1</a:t>
              </a:r>
            </a:p>
          </p:txBody>
        </p:sp>
        <p:sp>
          <p:nvSpPr>
            <p:cNvPr id="136241" name="Text Box 49"/>
            <p:cNvSpPr txBox="1">
              <a:spLocks noChangeArrowheads="1"/>
            </p:cNvSpPr>
            <p:nvPr/>
          </p:nvSpPr>
          <p:spPr bwMode="auto">
            <a:xfrm>
              <a:off x="3414" y="3101"/>
              <a:ext cx="432" cy="266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CC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en-US" altLang="zh-CN" sz="2000" b="1"/>
                <a:t>G</a:t>
              </a:r>
              <a:r>
                <a:rPr kumimoji="0" lang="en-US" altLang="zh-CN" sz="2000" b="1" baseline="-25000"/>
                <a:t>4</a:t>
              </a:r>
            </a:p>
          </p:txBody>
        </p:sp>
        <p:sp>
          <p:nvSpPr>
            <p:cNvPr id="136242" name="Text Box 50"/>
            <p:cNvSpPr txBox="1">
              <a:spLocks noChangeArrowheads="1"/>
            </p:cNvSpPr>
            <p:nvPr/>
          </p:nvSpPr>
          <p:spPr bwMode="auto">
            <a:xfrm>
              <a:off x="2918" y="3104"/>
              <a:ext cx="432" cy="267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CC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en-US" altLang="zh-CN" sz="2000" b="1"/>
                <a:t>G</a:t>
              </a:r>
              <a:r>
                <a:rPr kumimoji="0" lang="en-US" altLang="zh-CN" sz="2000" b="1" baseline="-25000"/>
                <a:t>3</a:t>
              </a:r>
            </a:p>
          </p:txBody>
        </p:sp>
        <p:sp>
          <p:nvSpPr>
            <p:cNvPr id="136243" name="Text Box 51"/>
            <p:cNvSpPr txBox="1">
              <a:spLocks noChangeArrowheads="1"/>
            </p:cNvSpPr>
            <p:nvPr/>
          </p:nvSpPr>
          <p:spPr bwMode="auto">
            <a:xfrm>
              <a:off x="2219" y="3101"/>
              <a:ext cx="432" cy="266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CC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en-US" altLang="zh-CN" sz="2000" b="1"/>
                <a:t>G</a:t>
              </a:r>
              <a:r>
                <a:rPr kumimoji="0" lang="en-US" altLang="zh-CN" sz="2000" b="1" baseline="-25000"/>
                <a:t>2</a:t>
              </a:r>
            </a:p>
          </p:txBody>
        </p:sp>
        <p:sp>
          <p:nvSpPr>
            <p:cNvPr id="136244" name="Text Box 52"/>
            <p:cNvSpPr txBox="1">
              <a:spLocks noChangeArrowheads="1"/>
            </p:cNvSpPr>
            <p:nvPr/>
          </p:nvSpPr>
          <p:spPr bwMode="auto">
            <a:xfrm>
              <a:off x="1538" y="3094"/>
              <a:ext cx="430" cy="307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CC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en-US" altLang="zh-CN" sz="2000" b="1"/>
                <a:t>G</a:t>
              </a:r>
              <a:r>
                <a:rPr kumimoji="0" lang="en-US" altLang="zh-CN" sz="2000" b="1" baseline="-25000"/>
                <a:t>1</a:t>
              </a:r>
            </a:p>
          </p:txBody>
        </p:sp>
        <p:sp>
          <p:nvSpPr>
            <p:cNvPr id="136245" name="Text Box 53"/>
            <p:cNvSpPr txBox="1">
              <a:spLocks noChangeArrowheads="1"/>
            </p:cNvSpPr>
            <p:nvPr/>
          </p:nvSpPr>
          <p:spPr bwMode="auto">
            <a:xfrm>
              <a:off x="866" y="3104"/>
              <a:ext cx="276" cy="266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CC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en-US" altLang="zh-CN" sz="2000" b="1"/>
                <a:t>1</a:t>
              </a:r>
            </a:p>
          </p:txBody>
        </p:sp>
        <p:sp>
          <p:nvSpPr>
            <p:cNvPr id="136246" name="Text Box 54"/>
            <p:cNvSpPr txBox="1">
              <a:spLocks noChangeArrowheads="1"/>
            </p:cNvSpPr>
            <p:nvPr/>
          </p:nvSpPr>
          <p:spPr bwMode="auto">
            <a:xfrm>
              <a:off x="4561" y="3088"/>
              <a:ext cx="575" cy="266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CCFF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r>
                <a:rPr kumimoji="0" lang="en-US" altLang="zh-CN" sz="2000" b="1">
                  <a:solidFill>
                    <a:srgbClr val="FF3300"/>
                  </a:solidFill>
                </a:rPr>
                <a:t>C(s)</a:t>
              </a:r>
            </a:p>
          </p:txBody>
        </p:sp>
        <p:sp>
          <p:nvSpPr>
            <p:cNvPr id="136247" name="Line 55"/>
            <p:cNvSpPr>
              <a:spLocks noChangeShapeType="1"/>
            </p:cNvSpPr>
            <p:nvPr/>
          </p:nvSpPr>
          <p:spPr bwMode="auto">
            <a:xfrm>
              <a:off x="637" y="3380"/>
              <a:ext cx="4023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6248" name="Oval 56"/>
            <p:cNvSpPr>
              <a:spLocks noChangeArrowheads="1"/>
            </p:cNvSpPr>
            <p:nvPr/>
          </p:nvSpPr>
          <p:spPr bwMode="auto">
            <a:xfrm>
              <a:off x="589" y="3342"/>
              <a:ext cx="90" cy="71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6249" name="Oval 57"/>
            <p:cNvSpPr>
              <a:spLocks noChangeArrowheads="1"/>
            </p:cNvSpPr>
            <p:nvPr/>
          </p:nvSpPr>
          <p:spPr bwMode="auto">
            <a:xfrm>
              <a:off x="3319" y="3342"/>
              <a:ext cx="90" cy="71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6250" name="Oval 58"/>
            <p:cNvSpPr>
              <a:spLocks noChangeArrowheads="1"/>
            </p:cNvSpPr>
            <p:nvPr/>
          </p:nvSpPr>
          <p:spPr bwMode="auto">
            <a:xfrm>
              <a:off x="1307" y="3342"/>
              <a:ext cx="91" cy="71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6251" name="Oval 59"/>
            <p:cNvSpPr>
              <a:spLocks noChangeArrowheads="1"/>
            </p:cNvSpPr>
            <p:nvPr/>
          </p:nvSpPr>
          <p:spPr bwMode="auto">
            <a:xfrm>
              <a:off x="2025" y="3342"/>
              <a:ext cx="91" cy="71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6252" name="Oval 60"/>
            <p:cNvSpPr>
              <a:spLocks noChangeArrowheads="1"/>
            </p:cNvSpPr>
            <p:nvPr/>
          </p:nvSpPr>
          <p:spPr bwMode="auto">
            <a:xfrm>
              <a:off x="2744" y="3342"/>
              <a:ext cx="91" cy="71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6253" name="Oval 61"/>
            <p:cNvSpPr>
              <a:spLocks noChangeArrowheads="1"/>
            </p:cNvSpPr>
            <p:nvPr/>
          </p:nvSpPr>
          <p:spPr bwMode="auto">
            <a:xfrm>
              <a:off x="3893" y="3342"/>
              <a:ext cx="91" cy="71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6254" name="Oval 62"/>
            <p:cNvSpPr>
              <a:spLocks noChangeArrowheads="1"/>
            </p:cNvSpPr>
            <p:nvPr/>
          </p:nvSpPr>
          <p:spPr bwMode="auto">
            <a:xfrm>
              <a:off x="4611" y="3342"/>
              <a:ext cx="91" cy="71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6255" name="Line 63"/>
            <p:cNvSpPr>
              <a:spLocks noChangeShapeType="1"/>
            </p:cNvSpPr>
            <p:nvPr/>
          </p:nvSpPr>
          <p:spPr bwMode="auto">
            <a:xfrm>
              <a:off x="769" y="3380"/>
              <a:ext cx="286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6256" name="Line 64"/>
            <p:cNvSpPr>
              <a:spLocks noChangeShapeType="1"/>
            </p:cNvSpPr>
            <p:nvPr/>
          </p:nvSpPr>
          <p:spPr bwMode="auto">
            <a:xfrm>
              <a:off x="1499" y="3387"/>
              <a:ext cx="28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6257" name="Line 65"/>
            <p:cNvSpPr>
              <a:spLocks noChangeShapeType="1"/>
            </p:cNvSpPr>
            <p:nvPr/>
          </p:nvSpPr>
          <p:spPr bwMode="auto">
            <a:xfrm>
              <a:off x="2169" y="3387"/>
              <a:ext cx="28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6258" name="Line 66"/>
            <p:cNvSpPr>
              <a:spLocks noChangeShapeType="1"/>
            </p:cNvSpPr>
            <p:nvPr/>
          </p:nvSpPr>
          <p:spPr bwMode="auto">
            <a:xfrm>
              <a:off x="3426" y="3387"/>
              <a:ext cx="28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6259" name="Line 67"/>
            <p:cNvSpPr>
              <a:spLocks noChangeShapeType="1"/>
            </p:cNvSpPr>
            <p:nvPr/>
          </p:nvSpPr>
          <p:spPr bwMode="auto">
            <a:xfrm>
              <a:off x="2887" y="3387"/>
              <a:ext cx="287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6260" name="Line 68"/>
            <p:cNvSpPr>
              <a:spLocks noChangeShapeType="1"/>
            </p:cNvSpPr>
            <p:nvPr/>
          </p:nvSpPr>
          <p:spPr bwMode="auto">
            <a:xfrm>
              <a:off x="4097" y="3387"/>
              <a:ext cx="287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6261" name="Freeform 69"/>
            <p:cNvSpPr>
              <a:spLocks/>
            </p:cNvSpPr>
            <p:nvPr/>
          </p:nvSpPr>
          <p:spPr bwMode="auto">
            <a:xfrm>
              <a:off x="2798" y="2883"/>
              <a:ext cx="1102" cy="458"/>
            </a:xfrm>
            <a:custGeom>
              <a:avLst/>
              <a:gdLst/>
              <a:ahLst/>
              <a:cxnLst>
                <a:cxn ang="0">
                  <a:pos x="0" y="572"/>
                </a:cxn>
                <a:cxn ang="0">
                  <a:pos x="720" y="0"/>
                </a:cxn>
                <a:cxn ang="0">
                  <a:pos x="1440" y="572"/>
                </a:cxn>
              </a:cxnLst>
              <a:rect l="0" t="0" r="r" b="b"/>
              <a:pathLst>
                <a:path w="1440" h="572">
                  <a:moveTo>
                    <a:pt x="0" y="572"/>
                  </a:moveTo>
                  <a:cubicBezTo>
                    <a:pt x="240" y="286"/>
                    <a:pt x="480" y="0"/>
                    <a:pt x="720" y="0"/>
                  </a:cubicBezTo>
                  <a:cubicBezTo>
                    <a:pt x="960" y="0"/>
                    <a:pt x="1320" y="477"/>
                    <a:pt x="1440" y="572"/>
                  </a:cubicBez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6262" name="Freeform 70"/>
            <p:cNvSpPr>
              <a:spLocks/>
            </p:cNvSpPr>
            <p:nvPr/>
          </p:nvSpPr>
          <p:spPr bwMode="auto">
            <a:xfrm>
              <a:off x="2074" y="3413"/>
              <a:ext cx="1292" cy="35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00" y="572"/>
                </a:cxn>
                <a:cxn ang="0">
                  <a:pos x="1620" y="0"/>
                </a:cxn>
              </a:cxnLst>
              <a:rect l="0" t="0" r="r" b="b"/>
              <a:pathLst>
                <a:path w="1620" h="572">
                  <a:moveTo>
                    <a:pt x="0" y="0"/>
                  </a:moveTo>
                  <a:cubicBezTo>
                    <a:pt x="315" y="286"/>
                    <a:pt x="630" y="572"/>
                    <a:pt x="900" y="572"/>
                  </a:cubicBezTo>
                  <a:cubicBezTo>
                    <a:pt x="1170" y="572"/>
                    <a:pt x="1500" y="95"/>
                    <a:pt x="1620" y="0"/>
                  </a:cubicBez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6263" name="Freeform 71"/>
            <p:cNvSpPr>
              <a:spLocks/>
            </p:cNvSpPr>
            <p:nvPr/>
          </p:nvSpPr>
          <p:spPr bwMode="auto">
            <a:xfrm>
              <a:off x="1344" y="3413"/>
              <a:ext cx="2586" cy="8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620" y="1287"/>
                </a:cxn>
                <a:cxn ang="0">
                  <a:pos x="3240" y="0"/>
                </a:cxn>
              </a:cxnLst>
              <a:rect l="0" t="0" r="r" b="b"/>
              <a:pathLst>
                <a:path w="3240" h="1287">
                  <a:moveTo>
                    <a:pt x="0" y="0"/>
                  </a:moveTo>
                  <a:cubicBezTo>
                    <a:pt x="540" y="643"/>
                    <a:pt x="1080" y="1287"/>
                    <a:pt x="1620" y="1287"/>
                  </a:cubicBezTo>
                  <a:cubicBezTo>
                    <a:pt x="2160" y="1287"/>
                    <a:pt x="2970" y="214"/>
                    <a:pt x="3240" y="0"/>
                  </a:cubicBez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6264" name="Line 72"/>
            <p:cNvSpPr>
              <a:spLocks noChangeShapeType="1"/>
            </p:cNvSpPr>
            <p:nvPr/>
          </p:nvSpPr>
          <p:spPr bwMode="auto">
            <a:xfrm rot="13320000">
              <a:off x="3438" y="3023"/>
              <a:ext cx="287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6265" name="Line 73"/>
            <p:cNvSpPr>
              <a:spLocks noChangeShapeType="1"/>
            </p:cNvSpPr>
            <p:nvPr/>
          </p:nvSpPr>
          <p:spPr bwMode="auto">
            <a:xfrm rot="12420000">
              <a:off x="2385" y="3692"/>
              <a:ext cx="287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6266" name="Line 74"/>
            <p:cNvSpPr>
              <a:spLocks noChangeShapeType="1"/>
            </p:cNvSpPr>
            <p:nvPr/>
          </p:nvSpPr>
          <p:spPr bwMode="auto">
            <a:xfrm rot="12420000">
              <a:off x="2085" y="4105"/>
              <a:ext cx="28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6267" name="Text Box 75"/>
            <p:cNvSpPr txBox="1">
              <a:spLocks noChangeArrowheads="1"/>
            </p:cNvSpPr>
            <p:nvPr/>
          </p:nvSpPr>
          <p:spPr bwMode="auto">
            <a:xfrm>
              <a:off x="3514" y="2832"/>
              <a:ext cx="453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000" b="1"/>
                <a:t>－</a:t>
              </a:r>
              <a:r>
                <a:rPr lang="en-US" altLang="zh-CN" sz="2000" b="1"/>
                <a:t>H</a:t>
              </a:r>
              <a:r>
                <a:rPr lang="en-US" altLang="zh-CN" sz="2000" b="1" baseline="-25000"/>
                <a:t>1</a:t>
              </a:r>
            </a:p>
          </p:txBody>
        </p:sp>
        <p:sp>
          <p:nvSpPr>
            <p:cNvPr id="136268" name="Text Box 76"/>
            <p:cNvSpPr txBox="1">
              <a:spLocks noChangeArrowheads="1"/>
            </p:cNvSpPr>
            <p:nvPr/>
          </p:nvSpPr>
          <p:spPr bwMode="auto">
            <a:xfrm>
              <a:off x="1531" y="3957"/>
              <a:ext cx="465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000" b="1"/>
                <a:t>－</a:t>
              </a:r>
              <a:r>
                <a:rPr lang="en-US" altLang="zh-CN" sz="2000" b="1"/>
                <a:t>H</a:t>
              </a:r>
              <a:r>
                <a:rPr lang="en-US" altLang="zh-CN" b="1" baseline="-25000"/>
                <a:t>3</a:t>
              </a:r>
            </a:p>
          </p:txBody>
        </p:sp>
        <p:sp>
          <p:nvSpPr>
            <p:cNvPr id="136269" name="Text Box 77"/>
            <p:cNvSpPr txBox="1">
              <a:spLocks noChangeArrowheads="1"/>
            </p:cNvSpPr>
            <p:nvPr/>
          </p:nvSpPr>
          <p:spPr bwMode="auto">
            <a:xfrm>
              <a:off x="1896" y="3085"/>
              <a:ext cx="326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X</a:t>
              </a:r>
              <a:r>
                <a:rPr lang="en-US" altLang="zh-CN" sz="2000" b="1" baseline="-250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136270" name="Text Box 78"/>
            <p:cNvSpPr txBox="1">
              <a:spLocks noChangeArrowheads="1"/>
            </p:cNvSpPr>
            <p:nvPr/>
          </p:nvSpPr>
          <p:spPr bwMode="auto">
            <a:xfrm>
              <a:off x="2592" y="3072"/>
              <a:ext cx="326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X</a:t>
              </a:r>
              <a:r>
                <a:rPr lang="en-US" altLang="zh-CN" sz="2000" b="1" baseline="-25000">
                  <a:solidFill>
                    <a:srgbClr val="FF3300"/>
                  </a:solidFill>
                </a:rPr>
                <a:t>2</a:t>
              </a:r>
            </a:p>
          </p:txBody>
        </p:sp>
        <p:sp>
          <p:nvSpPr>
            <p:cNvPr id="136271" name="Text Box 79"/>
            <p:cNvSpPr txBox="1">
              <a:spLocks noChangeArrowheads="1"/>
            </p:cNvSpPr>
            <p:nvPr/>
          </p:nvSpPr>
          <p:spPr bwMode="auto">
            <a:xfrm>
              <a:off x="3831" y="3088"/>
              <a:ext cx="366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X</a:t>
              </a:r>
              <a:r>
                <a:rPr lang="en-US" altLang="zh-CN" sz="2000" b="1" baseline="-25000">
                  <a:solidFill>
                    <a:srgbClr val="FF3300"/>
                  </a:solidFill>
                </a:rPr>
                <a:t>3</a:t>
              </a:r>
            </a:p>
          </p:txBody>
        </p:sp>
        <p:sp>
          <p:nvSpPr>
            <p:cNvPr id="136272" name="Text Box 80"/>
            <p:cNvSpPr txBox="1">
              <a:spLocks noChangeArrowheads="1"/>
            </p:cNvSpPr>
            <p:nvPr/>
          </p:nvSpPr>
          <p:spPr bwMode="auto">
            <a:xfrm>
              <a:off x="1111" y="3094"/>
              <a:ext cx="391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E(s)</a:t>
              </a:r>
            </a:p>
          </p:txBody>
        </p:sp>
      </p:grpSp>
      <p:sp>
        <p:nvSpPr>
          <p:cNvPr id="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4624"/>
            <a:ext cx="7772400" cy="838200"/>
          </a:xfrm>
        </p:spPr>
        <p:txBody>
          <a:bodyPr>
            <a:normAutofit fontScale="90000"/>
          </a:bodyPr>
          <a:lstStyle/>
          <a:p>
            <a:r>
              <a:rPr lang="en-US" altLang="zh-CN" sz="3200" b="1" dirty="0"/>
              <a:t>From Block Diagram to Signal-Flow Graph Models</a:t>
            </a:r>
            <a:br>
              <a:rPr lang="en-US" altLang="zh-CN" sz="3200" b="1" dirty="0"/>
            </a:br>
            <a:r>
              <a:rPr lang="en-US" altLang="zh-CN" sz="3200" b="1" dirty="0" err="1"/>
              <a:t>Example#5</a:t>
            </a:r>
            <a:endParaRPr lang="en-US" altLang="zh-CN" sz="32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99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6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6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62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62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6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6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62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62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235" grpId="0" animBg="1"/>
      <p:bldP spid="136236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2"/>
          <p:cNvGrpSpPr>
            <a:grpSpLocks/>
          </p:cNvGrpSpPr>
          <p:nvPr/>
        </p:nvGrpSpPr>
        <p:grpSpPr bwMode="auto">
          <a:xfrm>
            <a:off x="838200" y="1103313"/>
            <a:ext cx="6934200" cy="2401887"/>
            <a:chOff x="528" y="695"/>
            <a:chExt cx="4368" cy="1609"/>
          </a:xfrm>
        </p:grpSpPr>
        <p:sp>
          <p:nvSpPr>
            <p:cNvPr id="137222" name="Line 6"/>
            <p:cNvSpPr>
              <a:spLocks noChangeShapeType="1"/>
            </p:cNvSpPr>
            <p:nvPr/>
          </p:nvSpPr>
          <p:spPr bwMode="auto">
            <a:xfrm>
              <a:off x="528" y="1372"/>
              <a:ext cx="44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23" name="AutoShape 7"/>
            <p:cNvSpPr>
              <a:spLocks noChangeArrowheads="1"/>
            </p:cNvSpPr>
            <p:nvPr/>
          </p:nvSpPr>
          <p:spPr bwMode="auto">
            <a:xfrm>
              <a:off x="974" y="1310"/>
              <a:ext cx="167" cy="136"/>
            </a:xfrm>
            <a:prstGeom prst="flowChartSummingJunction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7224" name="AutoShape 8"/>
            <p:cNvSpPr>
              <a:spLocks noChangeArrowheads="1"/>
            </p:cNvSpPr>
            <p:nvPr/>
          </p:nvSpPr>
          <p:spPr bwMode="auto">
            <a:xfrm>
              <a:off x="2254" y="949"/>
              <a:ext cx="167" cy="135"/>
            </a:xfrm>
            <a:prstGeom prst="flowChartSummingJunction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7225" name="AutoShape 9"/>
            <p:cNvSpPr>
              <a:spLocks noChangeArrowheads="1"/>
            </p:cNvSpPr>
            <p:nvPr/>
          </p:nvSpPr>
          <p:spPr bwMode="auto">
            <a:xfrm>
              <a:off x="2254" y="1680"/>
              <a:ext cx="167" cy="136"/>
            </a:xfrm>
            <a:prstGeom prst="flowChartSummingJunction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7226" name="Line 10"/>
            <p:cNvSpPr>
              <a:spLocks noChangeShapeType="1"/>
            </p:cNvSpPr>
            <p:nvPr/>
          </p:nvSpPr>
          <p:spPr bwMode="auto">
            <a:xfrm>
              <a:off x="1141" y="1372"/>
              <a:ext cx="6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27" name="Line 11"/>
            <p:cNvSpPr>
              <a:spLocks noChangeShapeType="1"/>
            </p:cNvSpPr>
            <p:nvPr/>
          </p:nvSpPr>
          <p:spPr bwMode="auto">
            <a:xfrm>
              <a:off x="1753" y="1011"/>
              <a:ext cx="0" cy="72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28" name="Line 12"/>
            <p:cNvSpPr>
              <a:spLocks noChangeShapeType="1"/>
            </p:cNvSpPr>
            <p:nvPr/>
          </p:nvSpPr>
          <p:spPr bwMode="auto">
            <a:xfrm>
              <a:off x="1753" y="1011"/>
              <a:ext cx="501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29" name="Line 13"/>
            <p:cNvSpPr>
              <a:spLocks noChangeShapeType="1"/>
            </p:cNvSpPr>
            <p:nvPr/>
          </p:nvSpPr>
          <p:spPr bwMode="auto">
            <a:xfrm>
              <a:off x="2421" y="1011"/>
              <a:ext cx="33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30" name="Line 14"/>
            <p:cNvSpPr>
              <a:spLocks noChangeShapeType="1"/>
            </p:cNvSpPr>
            <p:nvPr/>
          </p:nvSpPr>
          <p:spPr bwMode="auto">
            <a:xfrm>
              <a:off x="1753" y="1734"/>
              <a:ext cx="50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31" name="Line 15"/>
            <p:cNvSpPr>
              <a:spLocks noChangeShapeType="1"/>
            </p:cNvSpPr>
            <p:nvPr/>
          </p:nvSpPr>
          <p:spPr bwMode="auto">
            <a:xfrm>
              <a:off x="2421" y="1734"/>
              <a:ext cx="33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32" name="Rectangle 16"/>
            <p:cNvSpPr>
              <a:spLocks noChangeArrowheads="1"/>
            </p:cNvSpPr>
            <p:nvPr/>
          </p:nvSpPr>
          <p:spPr bwMode="auto">
            <a:xfrm>
              <a:off x="2756" y="830"/>
              <a:ext cx="668" cy="31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2000" b="1"/>
                <a:t>G</a:t>
              </a:r>
              <a:r>
                <a:rPr lang="en-US" altLang="zh-CN" sz="2000" b="1" baseline="-25000"/>
                <a:t>1</a:t>
              </a:r>
            </a:p>
          </p:txBody>
        </p:sp>
        <p:sp>
          <p:nvSpPr>
            <p:cNvPr id="137233" name="Rectangle 17"/>
            <p:cNvSpPr>
              <a:spLocks noChangeArrowheads="1"/>
            </p:cNvSpPr>
            <p:nvPr/>
          </p:nvSpPr>
          <p:spPr bwMode="auto">
            <a:xfrm>
              <a:off x="2756" y="1581"/>
              <a:ext cx="668" cy="31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2000" b="1"/>
                <a:t>G</a:t>
              </a:r>
              <a:r>
                <a:rPr lang="en-US" altLang="zh-CN" sz="2000" b="1" baseline="-25000"/>
                <a:t>2</a:t>
              </a:r>
            </a:p>
          </p:txBody>
        </p:sp>
        <p:sp>
          <p:nvSpPr>
            <p:cNvPr id="137234" name="Line 18"/>
            <p:cNvSpPr>
              <a:spLocks noChangeShapeType="1"/>
            </p:cNvSpPr>
            <p:nvPr/>
          </p:nvSpPr>
          <p:spPr bwMode="auto">
            <a:xfrm>
              <a:off x="3424" y="1011"/>
              <a:ext cx="5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35" name="Line 19"/>
            <p:cNvSpPr>
              <a:spLocks noChangeShapeType="1"/>
            </p:cNvSpPr>
            <p:nvPr/>
          </p:nvSpPr>
          <p:spPr bwMode="auto">
            <a:xfrm>
              <a:off x="3424" y="1734"/>
              <a:ext cx="5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36" name="AutoShape 20"/>
            <p:cNvSpPr>
              <a:spLocks noChangeArrowheads="1"/>
            </p:cNvSpPr>
            <p:nvPr/>
          </p:nvSpPr>
          <p:spPr bwMode="auto">
            <a:xfrm>
              <a:off x="3894" y="1290"/>
              <a:ext cx="167" cy="136"/>
            </a:xfrm>
            <a:prstGeom prst="flowChartSummingJunction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7237" name="Line 21"/>
            <p:cNvSpPr>
              <a:spLocks noChangeShapeType="1"/>
            </p:cNvSpPr>
            <p:nvPr/>
          </p:nvSpPr>
          <p:spPr bwMode="auto">
            <a:xfrm>
              <a:off x="3981" y="1011"/>
              <a:ext cx="0" cy="27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38" name="Line 22"/>
            <p:cNvSpPr>
              <a:spLocks noChangeShapeType="1"/>
            </p:cNvSpPr>
            <p:nvPr/>
          </p:nvSpPr>
          <p:spPr bwMode="auto">
            <a:xfrm flipV="1">
              <a:off x="3981" y="1417"/>
              <a:ext cx="0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39" name="Line 23"/>
            <p:cNvSpPr>
              <a:spLocks noChangeShapeType="1"/>
            </p:cNvSpPr>
            <p:nvPr/>
          </p:nvSpPr>
          <p:spPr bwMode="auto">
            <a:xfrm>
              <a:off x="4061" y="1355"/>
              <a:ext cx="83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40" name="Line 24"/>
            <p:cNvSpPr>
              <a:spLocks noChangeShapeType="1"/>
            </p:cNvSpPr>
            <p:nvPr/>
          </p:nvSpPr>
          <p:spPr bwMode="auto">
            <a:xfrm>
              <a:off x="3696" y="1488"/>
              <a:ext cx="0" cy="5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41" name="Line 25"/>
            <p:cNvSpPr>
              <a:spLocks noChangeShapeType="1"/>
            </p:cNvSpPr>
            <p:nvPr/>
          </p:nvSpPr>
          <p:spPr bwMode="auto">
            <a:xfrm flipH="1">
              <a:off x="2320" y="2095"/>
              <a:ext cx="139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42" name="Line 26"/>
            <p:cNvSpPr>
              <a:spLocks noChangeShapeType="1"/>
            </p:cNvSpPr>
            <p:nvPr/>
          </p:nvSpPr>
          <p:spPr bwMode="auto">
            <a:xfrm flipV="1">
              <a:off x="2331" y="1824"/>
              <a:ext cx="0" cy="27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43" name="Line 27"/>
            <p:cNvSpPr>
              <a:spLocks noChangeShapeType="1"/>
            </p:cNvSpPr>
            <p:nvPr/>
          </p:nvSpPr>
          <p:spPr bwMode="auto">
            <a:xfrm flipV="1">
              <a:off x="3702" y="695"/>
              <a:ext cx="0" cy="5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44" name="Line 28"/>
            <p:cNvSpPr>
              <a:spLocks noChangeShapeType="1"/>
            </p:cNvSpPr>
            <p:nvPr/>
          </p:nvSpPr>
          <p:spPr bwMode="auto">
            <a:xfrm flipH="1">
              <a:off x="2313" y="695"/>
              <a:ext cx="139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45" name="Line 29"/>
            <p:cNvSpPr>
              <a:spLocks noChangeShapeType="1"/>
            </p:cNvSpPr>
            <p:nvPr/>
          </p:nvSpPr>
          <p:spPr bwMode="auto">
            <a:xfrm>
              <a:off x="2331" y="695"/>
              <a:ext cx="0" cy="2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46" name="Line 30"/>
            <p:cNvSpPr>
              <a:spLocks noChangeShapeType="1"/>
            </p:cNvSpPr>
            <p:nvPr/>
          </p:nvSpPr>
          <p:spPr bwMode="auto">
            <a:xfrm flipV="1">
              <a:off x="2334" y="1076"/>
              <a:ext cx="0" cy="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47" name="Line 31"/>
            <p:cNvSpPr>
              <a:spLocks noChangeShapeType="1"/>
            </p:cNvSpPr>
            <p:nvPr/>
          </p:nvSpPr>
          <p:spPr bwMode="auto">
            <a:xfrm>
              <a:off x="2331" y="1463"/>
              <a:ext cx="0" cy="2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48" name="Line 32"/>
            <p:cNvSpPr>
              <a:spLocks noChangeShapeType="1"/>
            </p:cNvSpPr>
            <p:nvPr/>
          </p:nvSpPr>
          <p:spPr bwMode="auto">
            <a:xfrm>
              <a:off x="2341" y="1290"/>
              <a:ext cx="1366" cy="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49" name="Line 33"/>
            <p:cNvSpPr>
              <a:spLocks noChangeShapeType="1"/>
            </p:cNvSpPr>
            <p:nvPr/>
          </p:nvSpPr>
          <p:spPr bwMode="auto">
            <a:xfrm flipH="1">
              <a:off x="2331" y="1237"/>
              <a:ext cx="1365" cy="20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50" name="Oval 34"/>
            <p:cNvSpPr>
              <a:spLocks noChangeArrowheads="1"/>
            </p:cNvSpPr>
            <p:nvPr/>
          </p:nvSpPr>
          <p:spPr bwMode="auto">
            <a:xfrm>
              <a:off x="3681" y="966"/>
              <a:ext cx="56" cy="9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7251" name="Oval 35"/>
            <p:cNvSpPr>
              <a:spLocks noChangeArrowheads="1"/>
            </p:cNvSpPr>
            <p:nvPr/>
          </p:nvSpPr>
          <p:spPr bwMode="auto">
            <a:xfrm>
              <a:off x="4402" y="1327"/>
              <a:ext cx="55" cy="9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7252" name="Oval 36"/>
            <p:cNvSpPr>
              <a:spLocks noChangeArrowheads="1"/>
            </p:cNvSpPr>
            <p:nvPr/>
          </p:nvSpPr>
          <p:spPr bwMode="auto">
            <a:xfrm>
              <a:off x="1729" y="1327"/>
              <a:ext cx="55" cy="9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7253" name="Oval 37"/>
            <p:cNvSpPr>
              <a:spLocks noChangeArrowheads="1"/>
            </p:cNvSpPr>
            <p:nvPr/>
          </p:nvSpPr>
          <p:spPr bwMode="auto">
            <a:xfrm>
              <a:off x="3681" y="1688"/>
              <a:ext cx="56" cy="91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7254" name="Line 38"/>
            <p:cNvSpPr>
              <a:spLocks noChangeShapeType="1"/>
            </p:cNvSpPr>
            <p:nvPr/>
          </p:nvSpPr>
          <p:spPr bwMode="auto">
            <a:xfrm>
              <a:off x="4426" y="1355"/>
              <a:ext cx="0" cy="9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55" name="Line 39"/>
            <p:cNvSpPr>
              <a:spLocks noChangeShapeType="1"/>
            </p:cNvSpPr>
            <p:nvPr/>
          </p:nvSpPr>
          <p:spPr bwMode="auto">
            <a:xfrm flipH="1">
              <a:off x="1050" y="2301"/>
              <a:ext cx="337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56" name="Line 40"/>
            <p:cNvSpPr>
              <a:spLocks noChangeShapeType="1"/>
            </p:cNvSpPr>
            <p:nvPr/>
          </p:nvSpPr>
          <p:spPr bwMode="auto">
            <a:xfrm flipV="1">
              <a:off x="1050" y="1446"/>
              <a:ext cx="0" cy="85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57" name="Text Box 41"/>
            <p:cNvSpPr txBox="1">
              <a:spLocks noChangeArrowheads="1"/>
            </p:cNvSpPr>
            <p:nvPr/>
          </p:nvSpPr>
          <p:spPr bwMode="auto">
            <a:xfrm>
              <a:off x="3977" y="1368"/>
              <a:ext cx="207" cy="2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/>
                <a:t>+</a:t>
              </a:r>
            </a:p>
          </p:txBody>
        </p:sp>
        <p:sp>
          <p:nvSpPr>
            <p:cNvPr id="137258" name="Text Box 42"/>
            <p:cNvSpPr txBox="1">
              <a:spLocks noChangeArrowheads="1"/>
            </p:cNvSpPr>
            <p:nvPr/>
          </p:nvSpPr>
          <p:spPr bwMode="auto">
            <a:xfrm>
              <a:off x="2268" y="1453"/>
              <a:ext cx="261" cy="2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1800" b="1"/>
                <a:t>－</a:t>
              </a:r>
            </a:p>
          </p:txBody>
        </p:sp>
        <p:sp>
          <p:nvSpPr>
            <p:cNvPr id="137259" name="Text Box 43"/>
            <p:cNvSpPr txBox="1">
              <a:spLocks noChangeArrowheads="1"/>
            </p:cNvSpPr>
            <p:nvPr/>
          </p:nvSpPr>
          <p:spPr bwMode="auto">
            <a:xfrm>
              <a:off x="2352" y="1056"/>
              <a:ext cx="207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/>
                <a:t>+</a:t>
              </a:r>
            </a:p>
          </p:txBody>
        </p:sp>
        <p:sp>
          <p:nvSpPr>
            <p:cNvPr id="137260" name="Text Box 44"/>
            <p:cNvSpPr txBox="1">
              <a:spLocks noChangeArrowheads="1"/>
            </p:cNvSpPr>
            <p:nvPr/>
          </p:nvSpPr>
          <p:spPr bwMode="auto">
            <a:xfrm>
              <a:off x="2304" y="1777"/>
              <a:ext cx="234" cy="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zh-CN" altLang="en-US" sz="1600" b="1"/>
                <a:t>－</a:t>
              </a:r>
            </a:p>
          </p:txBody>
        </p:sp>
        <p:sp>
          <p:nvSpPr>
            <p:cNvPr id="137261" name="Text Box 45"/>
            <p:cNvSpPr txBox="1">
              <a:spLocks noChangeArrowheads="1"/>
            </p:cNvSpPr>
            <p:nvPr/>
          </p:nvSpPr>
          <p:spPr bwMode="auto">
            <a:xfrm>
              <a:off x="2279" y="705"/>
              <a:ext cx="245" cy="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1600" b="1"/>
                <a:t>－</a:t>
              </a:r>
            </a:p>
          </p:txBody>
        </p:sp>
        <p:sp>
          <p:nvSpPr>
            <p:cNvPr id="137262" name="Text Box 46"/>
            <p:cNvSpPr txBox="1">
              <a:spLocks noChangeArrowheads="1"/>
            </p:cNvSpPr>
            <p:nvPr/>
          </p:nvSpPr>
          <p:spPr bwMode="auto">
            <a:xfrm>
              <a:off x="1033" y="1417"/>
              <a:ext cx="245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1600" b="1"/>
                <a:t>－</a:t>
              </a:r>
            </a:p>
          </p:txBody>
        </p:sp>
        <p:sp>
          <p:nvSpPr>
            <p:cNvPr id="137263" name="Text Box 47"/>
            <p:cNvSpPr txBox="1">
              <a:spLocks noChangeArrowheads="1"/>
            </p:cNvSpPr>
            <p:nvPr/>
          </p:nvSpPr>
          <p:spPr bwMode="auto">
            <a:xfrm>
              <a:off x="3967" y="1083"/>
              <a:ext cx="207" cy="2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/>
                <a:t>+</a:t>
              </a:r>
            </a:p>
          </p:txBody>
        </p:sp>
        <p:sp>
          <p:nvSpPr>
            <p:cNvPr id="137264" name="Text Box 48"/>
            <p:cNvSpPr txBox="1">
              <a:spLocks noChangeArrowheads="1"/>
            </p:cNvSpPr>
            <p:nvPr/>
          </p:nvSpPr>
          <p:spPr bwMode="auto">
            <a:xfrm>
              <a:off x="4259" y="1101"/>
              <a:ext cx="400" cy="2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C(s)</a:t>
              </a:r>
            </a:p>
          </p:txBody>
        </p:sp>
        <p:sp>
          <p:nvSpPr>
            <p:cNvPr id="137265" name="Text Box 49"/>
            <p:cNvSpPr txBox="1">
              <a:spLocks noChangeArrowheads="1"/>
            </p:cNvSpPr>
            <p:nvPr/>
          </p:nvSpPr>
          <p:spPr bwMode="auto">
            <a:xfrm>
              <a:off x="528" y="1129"/>
              <a:ext cx="400" cy="2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R(s)</a:t>
              </a:r>
            </a:p>
          </p:txBody>
        </p:sp>
        <p:sp>
          <p:nvSpPr>
            <p:cNvPr id="137266" name="Rectangle 50"/>
            <p:cNvSpPr>
              <a:spLocks noChangeArrowheads="1"/>
            </p:cNvSpPr>
            <p:nvPr/>
          </p:nvSpPr>
          <p:spPr bwMode="auto">
            <a:xfrm>
              <a:off x="1196" y="1146"/>
              <a:ext cx="557" cy="2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E(s)</a:t>
              </a:r>
            </a:p>
          </p:txBody>
        </p:sp>
        <p:sp>
          <p:nvSpPr>
            <p:cNvPr id="137267" name="Text Box 51"/>
            <p:cNvSpPr txBox="1">
              <a:spLocks noChangeArrowheads="1"/>
            </p:cNvSpPr>
            <p:nvPr/>
          </p:nvSpPr>
          <p:spPr bwMode="auto">
            <a:xfrm>
              <a:off x="3702" y="1734"/>
              <a:ext cx="284" cy="2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Y</a:t>
              </a:r>
              <a:r>
                <a:rPr lang="en-US" altLang="zh-CN" sz="2000" b="1" baseline="-25000">
                  <a:solidFill>
                    <a:srgbClr val="FF3300"/>
                  </a:solidFill>
                </a:rPr>
                <a:t>2</a:t>
              </a:r>
            </a:p>
          </p:txBody>
        </p:sp>
        <p:sp>
          <p:nvSpPr>
            <p:cNvPr id="137268" name="Text Box 52"/>
            <p:cNvSpPr txBox="1">
              <a:spLocks noChangeArrowheads="1"/>
            </p:cNvSpPr>
            <p:nvPr/>
          </p:nvSpPr>
          <p:spPr bwMode="auto">
            <a:xfrm>
              <a:off x="3702" y="785"/>
              <a:ext cx="284" cy="2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Y</a:t>
              </a:r>
              <a:r>
                <a:rPr lang="en-US" altLang="zh-CN" sz="2000" b="1" baseline="-250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137269" name="Text Box 53"/>
            <p:cNvSpPr txBox="1">
              <a:spLocks noChangeArrowheads="1"/>
            </p:cNvSpPr>
            <p:nvPr/>
          </p:nvSpPr>
          <p:spPr bwMode="auto">
            <a:xfrm>
              <a:off x="2442" y="768"/>
              <a:ext cx="284" cy="2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X</a:t>
              </a:r>
              <a:r>
                <a:rPr lang="en-US" altLang="zh-CN" sz="2000" b="1" baseline="-250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137270" name="Text Box 54"/>
            <p:cNvSpPr txBox="1">
              <a:spLocks noChangeArrowheads="1"/>
            </p:cNvSpPr>
            <p:nvPr/>
          </p:nvSpPr>
          <p:spPr bwMode="auto">
            <a:xfrm>
              <a:off x="2456" y="1499"/>
              <a:ext cx="284" cy="2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X</a:t>
              </a:r>
              <a:r>
                <a:rPr lang="en-US" altLang="zh-CN" sz="2000" b="1" baseline="-25000">
                  <a:solidFill>
                    <a:srgbClr val="FF3300"/>
                  </a:solidFill>
                </a:rPr>
                <a:t>2</a:t>
              </a:r>
            </a:p>
          </p:txBody>
        </p:sp>
        <p:sp>
          <p:nvSpPr>
            <p:cNvPr id="137313" name="Text Box 97"/>
            <p:cNvSpPr txBox="1">
              <a:spLocks noChangeArrowheads="1"/>
            </p:cNvSpPr>
            <p:nvPr/>
          </p:nvSpPr>
          <p:spPr bwMode="auto">
            <a:xfrm>
              <a:off x="2016" y="808"/>
              <a:ext cx="277" cy="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zh-CN" altLang="en-US" sz="1600" b="1"/>
                <a:t>－</a:t>
              </a:r>
            </a:p>
          </p:txBody>
        </p:sp>
      </p:grpSp>
      <p:grpSp>
        <p:nvGrpSpPr>
          <p:cNvPr id="3" name="Group 130"/>
          <p:cNvGrpSpPr>
            <a:grpSpLocks/>
          </p:cNvGrpSpPr>
          <p:nvPr/>
        </p:nvGrpSpPr>
        <p:grpSpPr bwMode="auto">
          <a:xfrm>
            <a:off x="1076325" y="4524375"/>
            <a:ext cx="1165225" cy="396875"/>
            <a:chOff x="645" y="2980"/>
            <a:chExt cx="690" cy="291"/>
          </a:xfrm>
        </p:grpSpPr>
        <p:sp>
          <p:nvSpPr>
            <p:cNvPr id="137290" name="Line 74"/>
            <p:cNvSpPr>
              <a:spLocks noChangeShapeType="1"/>
            </p:cNvSpPr>
            <p:nvPr/>
          </p:nvSpPr>
          <p:spPr bwMode="auto">
            <a:xfrm>
              <a:off x="645" y="3229"/>
              <a:ext cx="69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93" name="Line 77"/>
            <p:cNvSpPr>
              <a:spLocks noChangeShapeType="1"/>
            </p:cNvSpPr>
            <p:nvPr/>
          </p:nvSpPr>
          <p:spPr bwMode="auto">
            <a:xfrm>
              <a:off x="852" y="3229"/>
              <a:ext cx="13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311" name="Text Box 95"/>
            <p:cNvSpPr txBox="1">
              <a:spLocks noChangeArrowheads="1"/>
            </p:cNvSpPr>
            <p:nvPr/>
          </p:nvSpPr>
          <p:spPr bwMode="auto">
            <a:xfrm>
              <a:off x="835" y="2980"/>
              <a:ext cx="18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</a:p>
          </p:txBody>
        </p:sp>
      </p:grpSp>
      <p:grpSp>
        <p:nvGrpSpPr>
          <p:cNvPr id="4" name="Group 131"/>
          <p:cNvGrpSpPr>
            <a:grpSpLocks/>
          </p:cNvGrpSpPr>
          <p:nvPr/>
        </p:nvGrpSpPr>
        <p:grpSpPr bwMode="auto">
          <a:xfrm>
            <a:off x="2286000" y="4114800"/>
            <a:ext cx="1524000" cy="685800"/>
            <a:chOff x="1404" y="2778"/>
            <a:chExt cx="852" cy="425"/>
          </a:xfrm>
        </p:grpSpPr>
        <p:sp>
          <p:nvSpPr>
            <p:cNvPr id="137282" name="Line 66"/>
            <p:cNvSpPr>
              <a:spLocks noChangeShapeType="1"/>
            </p:cNvSpPr>
            <p:nvPr/>
          </p:nvSpPr>
          <p:spPr bwMode="auto">
            <a:xfrm flipV="1">
              <a:off x="1404" y="2976"/>
              <a:ext cx="852" cy="22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96" name="Line 80"/>
            <p:cNvSpPr>
              <a:spLocks noChangeShapeType="1"/>
            </p:cNvSpPr>
            <p:nvPr/>
          </p:nvSpPr>
          <p:spPr bwMode="auto">
            <a:xfrm flipV="1">
              <a:off x="1722" y="3030"/>
              <a:ext cx="276" cy="9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312" name="Text Box 96"/>
            <p:cNvSpPr txBox="1">
              <a:spLocks noChangeArrowheads="1"/>
            </p:cNvSpPr>
            <p:nvPr/>
          </p:nvSpPr>
          <p:spPr bwMode="auto">
            <a:xfrm>
              <a:off x="1729" y="2778"/>
              <a:ext cx="383" cy="2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>
                  <a:solidFill>
                    <a:srgbClr val="990000"/>
                  </a:solidFill>
                </a:rPr>
                <a:t>-</a:t>
              </a:r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  <a:r>
                <a:rPr lang="en-US" altLang="zh-CN">
                  <a:solidFill>
                    <a:srgbClr val="FF3300"/>
                  </a:solidFill>
                </a:rPr>
                <a:t> </a:t>
              </a:r>
            </a:p>
          </p:txBody>
        </p:sp>
      </p:grpSp>
      <p:grpSp>
        <p:nvGrpSpPr>
          <p:cNvPr id="5" name="Group 132"/>
          <p:cNvGrpSpPr>
            <a:grpSpLocks/>
          </p:cNvGrpSpPr>
          <p:nvPr/>
        </p:nvGrpSpPr>
        <p:grpSpPr bwMode="auto">
          <a:xfrm>
            <a:off x="2209800" y="4800600"/>
            <a:ext cx="1660525" cy="555625"/>
            <a:chOff x="1344" y="3160"/>
            <a:chExt cx="957" cy="387"/>
          </a:xfrm>
        </p:grpSpPr>
        <p:sp>
          <p:nvSpPr>
            <p:cNvPr id="137283" name="Line 67"/>
            <p:cNvSpPr>
              <a:spLocks noChangeShapeType="1"/>
            </p:cNvSpPr>
            <p:nvPr/>
          </p:nvSpPr>
          <p:spPr bwMode="auto">
            <a:xfrm>
              <a:off x="1344" y="3229"/>
              <a:ext cx="957" cy="31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97" name="Line 81"/>
            <p:cNvSpPr>
              <a:spLocks noChangeShapeType="1"/>
            </p:cNvSpPr>
            <p:nvPr/>
          </p:nvSpPr>
          <p:spPr bwMode="auto">
            <a:xfrm>
              <a:off x="1611" y="3320"/>
              <a:ext cx="276" cy="9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315" name="Text Box 99"/>
            <p:cNvSpPr txBox="1">
              <a:spLocks noChangeArrowheads="1"/>
            </p:cNvSpPr>
            <p:nvPr/>
          </p:nvSpPr>
          <p:spPr bwMode="auto">
            <a:xfrm>
              <a:off x="1803" y="3160"/>
              <a:ext cx="180" cy="2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</a:p>
          </p:txBody>
        </p:sp>
      </p:grpSp>
      <p:grpSp>
        <p:nvGrpSpPr>
          <p:cNvPr id="6" name="Group 134"/>
          <p:cNvGrpSpPr>
            <a:grpSpLocks/>
          </p:cNvGrpSpPr>
          <p:nvPr/>
        </p:nvGrpSpPr>
        <p:grpSpPr bwMode="auto">
          <a:xfrm>
            <a:off x="3824288" y="3733800"/>
            <a:ext cx="2749550" cy="646113"/>
            <a:chOff x="2301" y="2442"/>
            <a:chExt cx="1602" cy="514"/>
          </a:xfrm>
        </p:grpSpPr>
        <p:sp>
          <p:nvSpPr>
            <p:cNvPr id="137279" name="Freeform 63"/>
            <p:cNvSpPr>
              <a:spLocks/>
            </p:cNvSpPr>
            <p:nvPr/>
          </p:nvSpPr>
          <p:spPr bwMode="auto">
            <a:xfrm>
              <a:off x="2301" y="2592"/>
              <a:ext cx="1588" cy="364"/>
            </a:xfrm>
            <a:custGeom>
              <a:avLst/>
              <a:gdLst/>
              <a:ahLst/>
              <a:cxnLst>
                <a:cxn ang="0">
                  <a:pos x="1104" y="336"/>
                </a:cxn>
                <a:cxn ang="0">
                  <a:pos x="672" y="0"/>
                </a:cxn>
                <a:cxn ang="0">
                  <a:pos x="0" y="336"/>
                </a:cxn>
              </a:cxnLst>
              <a:rect l="0" t="0" r="r" b="b"/>
              <a:pathLst>
                <a:path w="1104" h="336">
                  <a:moveTo>
                    <a:pt x="1104" y="336"/>
                  </a:moveTo>
                  <a:cubicBezTo>
                    <a:pt x="980" y="168"/>
                    <a:pt x="856" y="0"/>
                    <a:pt x="672" y="0"/>
                  </a:cubicBezTo>
                  <a:cubicBezTo>
                    <a:pt x="488" y="0"/>
                    <a:pt x="112" y="280"/>
                    <a:pt x="0" y="336"/>
                  </a:cubicBez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304" name="Line 88"/>
            <p:cNvSpPr>
              <a:spLocks noChangeShapeType="1"/>
            </p:cNvSpPr>
            <p:nvPr/>
          </p:nvSpPr>
          <p:spPr bwMode="auto">
            <a:xfrm rot="21300000" flipH="1" flipV="1">
              <a:off x="3549" y="2640"/>
              <a:ext cx="138" cy="13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316" name="Text Box 100"/>
            <p:cNvSpPr txBox="1">
              <a:spLocks noChangeArrowheads="1"/>
            </p:cNvSpPr>
            <p:nvPr/>
          </p:nvSpPr>
          <p:spPr bwMode="auto">
            <a:xfrm>
              <a:off x="3519" y="2442"/>
              <a:ext cx="384" cy="3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>
                  <a:solidFill>
                    <a:srgbClr val="990000"/>
                  </a:solidFill>
                </a:rPr>
                <a:t>-</a:t>
              </a:r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  <a:r>
                <a:rPr lang="en-US" altLang="zh-CN">
                  <a:solidFill>
                    <a:srgbClr val="FF3300"/>
                  </a:solidFill>
                </a:rPr>
                <a:t> </a:t>
              </a:r>
            </a:p>
          </p:txBody>
        </p:sp>
      </p:grpSp>
      <p:grpSp>
        <p:nvGrpSpPr>
          <p:cNvPr id="7" name="Group 138"/>
          <p:cNvGrpSpPr>
            <a:grpSpLocks/>
          </p:cNvGrpSpPr>
          <p:nvPr/>
        </p:nvGrpSpPr>
        <p:grpSpPr bwMode="auto">
          <a:xfrm>
            <a:off x="3886200" y="4343400"/>
            <a:ext cx="2667000" cy="990600"/>
            <a:chOff x="2301" y="2905"/>
            <a:chExt cx="1587" cy="642"/>
          </a:xfrm>
        </p:grpSpPr>
        <p:sp>
          <p:nvSpPr>
            <p:cNvPr id="137288" name="Line 72"/>
            <p:cNvSpPr>
              <a:spLocks noChangeShapeType="1"/>
            </p:cNvSpPr>
            <p:nvPr/>
          </p:nvSpPr>
          <p:spPr bwMode="auto">
            <a:xfrm flipH="1">
              <a:off x="2301" y="2956"/>
              <a:ext cx="1587" cy="59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98" name="Line 82"/>
            <p:cNvSpPr>
              <a:spLocks noChangeShapeType="1"/>
            </p:cNvSpPr>
            <p:nvPr/>
          </p:nvSpPr>
          <p:spPr bwMode="auto">
            <a:xfrm rot="300000" flipH="1">
              <a:off x="3406" y="3055"/>
              <a:ext cx="207" cy="9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317" name="Text Box 101"/>
            <p:cNvSpPr txBox="1">
              <a:spLocks noChangeArrowheads="1"/>
            </p:cNvSpPr>
            <p:nvPr/>
          </p:nvSpPr>
          <p:spPr bwMode="auto">
            <a:xfrm>
              <a:off x="3216" y="2905"/>
              <a:ext cx="385" cy="2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>
                  <a:solidFill>
                    <a:srgbClr val="990000"/>
                  </a:solidFill>
                </a:rPr>
                <a:t>-</a:t>
              </a:r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  <a:r>
                <a:rPr lang="en-US" altLang="zh-CN">
                  <a:solidFill>
                    <a:srgbClr val="FF3300"/>
                  </a:solidFill>
                </a:rPr>
                <a:t> </a:t>
              </a:r>
            </a:p>
          </p:txBody>
        </p:sp>
      </p:grpSp>
      <p:grpSp>
        <p:nvGrpSpPr>
          <p:cNvPr id="8" name="Group 141"/>
          <p:cNvGrpSpPr>
            <a:grpSpLocks/>
          </p:cNvGrpSpPr>
          <p:nvPr/>
        </p:nvGrpSpPr>
        <p:grpSpPr bwMode="auto">
          <a:xfrm>
            <a:off x="2314575" y="4876800"/>
            <a:ext cx="5838825" cy="1500188"/>
            <a:chOff x="1776" y="1200"/>
            <a:chExt cx="3394" cy="1054"/>
          </a:xfrm>
        </p:grpSpPr>
        <p:sp>
          <p:nvSpPr>
            <p:cNvPr id="137292" name="Freeform 76"/>
            <p:cNvSpPr>
              <a:spLocks/>
            </p:cNvSpPr>
            <p:nvPr/>
          </p:nvSpPr>
          <p:spPr bwMode="auto">
            <a:xfrm>
              <a:off x="1776" y="1200"/>
              <a:ext cx="3394" cy="1054"/>
            </a:xfrm>
            <a:custGeom>
              <a:avLst/>
              <a:gdLst/>
              <a:ahLst/>
              <a:cxnLst>
                <a:cxn ang="0">
                  <a:pos x="2400" y="0"/>
                </a:cxn>
                <a:cxn ang="0">
                  <a:pos x="1296" y="1056"/>
                </a:cxn>
                <a:cxn ang="0">
                  <a:pos x="0" y="48"/>
                </a:cxn>
              </a:cxnLst>
              <a:rect l="0" t="0" r="r" b="b"/>
              <a:pathLst>
                <a:path w="2400" h="1064">
                  <a:moveTo>
                    <a:pt x="2400" y="0"/>
                  </a:moveTo>
                  <a:cubicBezTo>
                    <a:pt x="2048" y="524"/>
                    <a:pt x="1696" y="1048"/>
                    <a:pt x="1296" y="1056"/>
                  </a:cubicBezTo>
                  <a:cubicBezTo>
                    <a:pt x="896" y="1064"/>
                    <a:pt x="216" y="216"/>
                    <a:pt x="0" y="48"/>
                  </a:cubicBez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309" name="Line 93"/>
            <p:cNvSpPr>
              <a:spLocks noChangeShapeType="1"/>
            </p:cNvSpPr>
            <p:nvPr/>
          </p:nvSpPr>
          <p:spPr bwMode="auto">
            <a:xfrm flipH="1" flipV="1">
              <a:off x="2688" y="1872"/>
              <a:ext cx="144" cy="9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318" name="Text Box 102"/>
            <p:cNvSpPr txBox="1">
              <a:spLocks noChangeArrowheads="1"/>
            </p:cNvSpPr>
            <p:nvPr/>
          </p:nvSpPr>
          <p:spPr bwMode="auto">
            <a:xfrm>
              <a:off x="2544" y="1873"/>
              <a:ext cx="384" cy="3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>
                  <a:solidFill>
                    <a:srgbClr val="990000"/>
                  </a:solidFill>
                </a:rPr>
                <a:t>-</a:t>
              </a:r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  <a:r>
                <a:rPr lang="en-US" altLang="zh-CN">
                  <a:solidFill>
                    <a:srgbClr val="FF3300"/>
                  </a:solidFill>
                </a:rPr>
                <a:t> </a:t>
              </a:r>
            </a:p>
          </p:txBody>
        </p:sp>
      </p:grpSp>
      <p:grpSp>
        <p:nvGrpSpPr>
          <p:cNvPr id="9" name="Group 142"/>
          <p:cNvGrpSpPr>
            <a:grpSpLocks/>
          </p:cNvGrpSpPr>
          <p:nvPr/>
        </p:nvGrpSpPr>
        <p:grpSpPr bwMode="auto">
          <a:xfrm>
            <a:off x="3886200" y="5410200"/>
            <a:ext cx="2673350" cy="752475"/>
            <a:chOff x="2301" y="3547"/>
            <a:chExt cx="1593" cy="501"/>
          </a:xfrm>
        </p:grpSpPr>
        <p:sp>
          <p:nvSpPr>
            <p:cNvPr id="137280" name="Freeform 64"/>
            <p:cNvSpPr>
              <a:spLocks/>
            </p:cNvSpPr>
            <p:nvPr/>
          </p:nvSpPr>
          <p:spPr bwMode="auto">
            <a:xfrm>
              <a:off x="2301" y="3547"/>
              <a:ext cx="1588" cy="364"/>
            </a:xfrm>
            <a:custGeom>
              <a:avLst/>
              <a:gdLst/>
              <a:ahLst/>
              <a:cxnLst>
                <a:cxn ang="0">
                  <a:pos x="1056" y="0"/>
                </a:cxn>
                <a:cxn ang="0">
                  <a:pos x="624" y="336"/>
                </a:cxn>
                <a:cxn ang="0">
                  <a:pos x="0" y="0"/>
                </a:cxn>
              </a:cxnLst>
              <a:rect l="0" t="0" r="r" b="b"/>
              <a:pathLst>
                <a:path w="1056" h="336">
                  <a:moveTo>
                    <a:pt x="1056" y="0"/>
                  </a:moveTo>
                  <a:cubicBezTo>
                    <a:pt x="928" y="168"/>
                    <a:pt x="800" y="336"/>
                    <a:pt x="624" y="336"/>
                  </a:cubicBezTo>
                  <a:cubicBezTo>
                    <a:pt x="448" y="336"/>
                    <a:pt x="104" y="56"/>
                    <a:pt x="0" y="0"/>
                  </a:cubicBez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303" name="Line 87"/>
            <p:cNvSpPr>
              <a:spLocks noChangeShapeType="1"/>
            </p:cNvSpPr>
            <p:nvPr/>
          </p:nvSpPr>
          <p:spPr bwMode="auto">
            <a:xfrm flipH="1">
              <a:off x="3518" y="3758"/>
              <a:ext cx="138" cy="9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319" name="Text Box 103"/>
            <p:cNvSpPr txBox="1">
              <a:spLocks noChangeArrowheads="1"/>
            </p:cNvSpPr>
            <p:nvPr/>
          </p:nvSpPr>
          <p:spPr bwMode="auto">
            <a:xfrm>
              <a:off x="3510" y="3744"/>
              <a:ext cx="384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>
                  <a:solidFill>
                    <a:srgbClr val="990000"/>
                  </a:solidFill>
                </a:rPr>
                <a:t>-</a:t>
              </a:r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  <a:r>
                <a:rPr lang="en-US" altLang="zh-CN">
                  <a:solidFill>
                    <a:srgbClr val="FF3300"/>
                  </a:solidFill>
                </a:rPr>
                <a:t> </a:t>
              </a:r>
            </a:p>
          </p:txBody>
        </p:sp>
      </p:grpSp>
      <p:grpSp>
        <p:nvGrpSpPr>
          <p:cNvPr id="10" name="Group 139"/>
          <p:cNvGrpSpPr>
            <a:grpSpLocks/>
          </p:cNvGrpSpPr>
          <p:nvPr/>
        </p:nvGrpSpPr>
        <p:grpSpPr bwMode="auto">
          <a:xfrm>
            <a:off x="6550025" y="4246563"/>
            <a:ext cx="1527175" cy="565150"/>
            <a:chOff x="3888" y="2815"/>
            <a:chExt cx="898" cy="414"/>
          </a:xfrm>
        </p:grpSpPr>
        <p:sp>
          <p:nvSpPr>
            <p:cNvPr id="137284" name="Line 68"/>
            <p:cNvSpPr>
              <a:spLocks noChangeShapeType="1"/>
            </p:cNvSpPr>
            <p:nvPr/>
          </p:nvSpPr>
          <p:spPr bwMode="auto">
            <a:xfrm>
              <a:off x="3888" y="2956"/>
              <a:ext cx="898" cy="273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300" name="Line 84"/>
            <p:cNvSpPr>
              <a:spLocks noChangeShapeType="1"/>
            </p:cNvSpPr>
            <p:nvPr/>
          </p:nvSpPr>
          <p:spPr bwMode="auto">
            <a:xfrm>
              <a:off x="4096" y="3018"/>
              <a:ext cx="276" cy="9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320" name="Text Box 104"/>
            <p:cNvSpPr txBox="1">
              <a:spLocks noChangeArrowheads="1"/>
            </p:cNvSpPr>
            <p:nvPr/>
          </p:nvSpPr>
          <p:spPr bwMode="auto">
            <a:xfrm>
              <a:off x="4234" y="2815"/>
              <a:ext cx="18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</a:p>
          </p:txBody>
        </p:sp>
      </p:grpSp>
      <p:grpSp>
        <p:nvGrpSpPr>
          <p:cNvPr id="11" name="Group 140"/>
          <p:cNvGrpSpPr>
            <a:grpSpLocks/>
          </p:cNvGrpSpPr>
          <p:nvPr/>
        </p:nvGrpSpPr>
        <p:grpSpPr bwMode="auto">
          <a:xfrm>
            <a:off x="6550025" y="4724400"/>
            <a:ext cx="1450975" cy="623888"/>
            <a:chOff x="3889" y="3133"/>
            <a:chExt cx="897" cy="414"/>
          </a:xfrm>
        </p:grpSpPr>
        <p:sp>
          <p:nvSpPr>
            <p:cNvPr id="137285" name="Line 69"/>
            <p:cNvSpPr>
              <a:spLocks noChangeShapeType="1"/>
            </p:cNvSpPr>
            <p:nvPr/>
          </p:nvSpPr>
          <p:spPr bwMode="auto">
            <a:xfrm flipV="1">
              <a:off x="3889" y="3229"/>
              <a:ext cx="897" cy="31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301" name="Line 85"/>
            <p:cNvSpPr>
              <a:spLocks noChangeShapeType="1"/>
            </p:cNvSpPr>
            <p:nvPr/>
          </p:nvSpPr>
          <p:spPr bwMode="auto">
            <a:xfrm flipV="1">
              <a:off x="4165" y="3351"/>
              <a:ext cx="276" cy="9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321" name="Text Box 105"/>
            <p:cNvSpPr txBox="1">
              <a:spLocks noChangeArrowheads="1"/>
            </p:cNvSpPr>
            <p:nvPr/>
          </p:nvSpPr>
          <p:spPr bwMode="auto">
            <a:xfrm>
              <a:off x="4221" y="3133"/>
              <a:ext cx="192" cy="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</a:p>
          </p:txBody>
        </p:sp>
      </p:grpSp>
      <p:grpSp>
        <p:nvGrpSpPr>
          <p:cNvPr id="12" name="Group 135"/>
          <p:cNvGrpSpPr>
            <a:grpSpLocks/>
          </p:cNvGrpSpPr>
          <p:nvPr/>
        </p:nvGrpSpPr>
        <p:grpSpPr bwMode="auto">
          <a:xfrm>
            <a:off x="3875088" y="4032250"/>
            <a:ext cx="2681287" cy="419100"/>
            <a:chOff x="2304" y="2688"/>
            <a:chExt cx="1588" cy="307"/>
          </a:xfrm>
        </p:grpSpPr>
        <p:grpSp>
          <p:nvGrpSpPr>
            <p:cNvPr id="13" name="Group 133"/>
            <p:cNvGrpSpPr>
              <a:grpSpLocks/>
            </p:cNvGrpSpPr>
            <p:nvPr/>
          </p:nvGrpSpPr>
          <p:grpSpPr bwMode="auto">
            <a:xfrm flipV="1">
              <a:off x="2304" y="2948"/>
              <a:ext cx="1588" cy="47"/>
              <a:chOff x="2301" y="2956"/>
              <a:chExt cx="1588" cy="0"/>
            </a:xfrm>
          </p:grpSpPr>
          <p:sp>
            <p:nvSpPr>
              <p:cNvPr id="137287" name="Line 71"/>
              <p:cNvSpPr>
                <a:spLocks noChangeShapeType="1"/>
              </p:cNvSpPr>
              <p:nvPr/>
            </p:nvSpPr>
            <p:spPr bwMode="auto">
              <a:xfrm>
                <a:off x="2301" y="2956"/>
                <a:ext cx="1588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7308" name="Line 92"/>
              <p:cNvSpPr>
                <a:spLocks noChangeShapeType="1"/>
              </p:cNvSpPr>
              <p:nvPr/>
            </p:nvSpPr>
            <p:spPr bwMode="auto">
              <a:xfrm>
                <a:off x="2928" y="2956"/>
                <a:ext cx="288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37323" name="Text Box 107"/>
            <p:cNvSpPr txBox="1">
              <a:spLocks noChangeArrowheads="1"/>
            </p:cNvSpPr>
            <p:nvPr/>
          </p:nvSpPr>
          <p:spPr bwMode="auto">
            <a:xfrm>
              <a:off x="3072" y="2688"/>
              <a:ext cx="29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990000"/>
                  </a:solidFill>
                </a:rPr>
                <a:t>G</a:t>
              </a:r>
              <a:r>
                <a:rPr lang="en-US" altLang="zh-CN" sz="2000" b="1" baseline="-25000">
                  <a:solidFill>
                    <a:srgbClr val="990000"/>
                  </a:solidFill>
                </a:rPr>
                <a:t>1</a:t>
              </a:r>
            </a:p>
          </p:txBody>
        </p:sp>
      </p:grpSp>
      <p:grpSp>
        <p:nvGrpSpPr>
          <p:cNvPr id="14" name="Group 136"/>
          <p:cNvGrpSpPr>
            <a:grpSpLocks/>
          </p:cNvGrpSpPr>
          <p:nvPr/>
        </p:nvGrpSpPr>
        <p:grpSpPr bwMode="auto">
          <a:xfrm>
            <a:off x="3884613" y="5002213"/>
            <a:ext cx="2681287" cy="398462"/>
            <a:chOff x="2301" y="3269"/>
            <a:chExt cx="1588" cy="291"/>
          </a:xfrm>
        </p:grpSpPr>
        <p:sp>
          <p:nvSpPr>
            <p:cNvPr id="137286" name="Line 70"/>
            <p:cNvSpPr>
              <a:spLocks noChangeShapeType="1"/>
            </p:cNvSpPr>
            <p:nvPr/>
          </p:nvSpPr>
          <p:spPr bwMode="auto">
            <a:xfrm>
              <a:off x="2301" y="3547"/>
              <a:ext cx="158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307" name="Line 91"/>
            <p:cNvSpPr>
              <a:spLocks noChangeShapeType="1"/>
            </p:cNvSpPr>
            <p:nvPr/>
          </p:nvSpPr>
          <p:spPr bwMode="auto">
            <a:xfrm>
              <a:off x="2832" y="3547"/>
              <a:ext cx="336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324" name="Text Box 108"/>
            <p:cNvSpPr txBox="1">
              <a:spLocks noChangeArrowheads="1"/>
            </p:cNvSpPr>
            <p:nvPr/>
          </p:nvSpPr>
          <p:spPr bwMode="auto">
            <a:xfrm>
              <a:off x="2977" y="3269"/>
              <a:ext cx="29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990000"/>
                  </a:solidFill>
                </a:rPr>
                <a:t>G</a:t>
              </a:r>
              <a:r>
                <a:rPr lang="en-US" altLang="zh-CN" sz="2000" b="1" baseline="-25000">
                  <a:solidFill>
                    <a:srgbClr val="990000"/>
                  </a:solidFill>
                </a:rPr>
                <a:t>2</a:t>
              </a:r>
            </a:p>
          </p:txBody>
        </p:sp>
      </p:grpSp>
      <p:grpSp>
        <p:nvGrpSpPr>
          <p:cNvPr id="15" name="Group 137"/>
          <p:cNvGrpSpPr>
            <a:grpSpLocks/>
          </p:cNvGrpSpPr>
          <p:nvPr/>
        </p:nvGrpSpPr>
        <p:grpSpPr bwMode="auto">
          <a:xfrm>
            <a:off x="3886200" y="4419600"/>
            <a:ext cx="2667000" cy="914400"/>
            <a:chOff x="3120" y="2112"/>
            <a:chExt cx="1588" cy="591"/>
          </a:xfrm>
        </p:grpSpPr>
        <p:sp>
          <p:nvSpPr>
            <p:cNvPr id="137289" name="Line 73"/>
            <p:cNvSpPr>
              <a:spLocks noChangeShapeType="1"/>
            </p:cNvSpPr>
            <p:nvPr/>
          </p:nvSpPr>
          <p:spPr bwMode="auto">
            <a:xfrm flipH="1" flipV="1">
              <a:off x="3120" y="2112"/>
              <a:ext cx="1588" cy="59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299" name="Line 83"/>
            <p:cNvSpPr>
              <a:spLocks noChangeShapeType="1"/>
            </p:cNvSpPr>
            <p:nvPr/>
          </p:nvSpPr>
          <p:spPr bwMode="auto">
            <a:xfrm rot="21480000" flipH="1" flipV="1">
              <a:off x="4320" y="2544"/>
              <a:ext cx="207" cy="9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/>
            </a:p>
          </p:txBody>
        </p:sp>
        <p:sp>
          <p:nvSpPr>
            <p:cNvPr id="137325" name="Text Box 109"/>
            <p:cNvSpPr txBox="1">
              <a:spLocks noChangeArrowheads="1"/>
            </p:cNvSpPr>
            <p:nvPr/>
          </p:nvSpPr>
          <p:spPr bwMode="auto">
            <a:xfrm>
              <a:off x="4319" y="2352"/>
              <a:ext cx="185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</a:p>
          </p:txBody>
        </p:sp>
      </p:grpSp>
      <p:grpSp>
        <p:nvGrpSpPr>
          <p:cNvPr id="16" name="Group 123"/>
          <p:cNvGrpSpPr>
            <a:grpSpLocks/>
          </p:cNvGrpSpPr>
          <p:nvPr/>
        </p:nvGrpSpPr>
        <p:grpSpPr bwMode="auto">
          <a:xfrm>
            <a:off x="762000" y="4441825"/>
            <a:ext cx="635000" cy="463550"/>
            <a:chOff x="459" y="2931"/>
            <a:chExt cx="377" cy="339"/>
          </a:xfrm>
        </p:grpSpPr>
        <p:sp>
          <p:nvSpPr>
            <p:cNvPr id="137272" name="Oval 56"/>
            <p:cNvSpPr>
              <a:spLocks noChangeArrowheads="1"/>
            </p:cNvSpPr>
            <p:nvPr/>
          </p:nvSpPr>
          <p:spPr bwMode="auto">
            <a:xfrm>
              <a:off x="576" y="3183"/>
              <a:ext cx="131" cy="87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7328" name="Text Box 112"/>
            <p:cNvSpPr txBox="1">
              <a:spLocks noChangeArrowheads="1"/>
            </p:cNvSpPr>
            <p:nvPr/>
          </p:nvSpPr>
          <p:spPr bwMode="auto">
            <a:xfrm>
              <a:off x="459" y="2931"/>
              <a:ext cx="37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R(s)</a:t>
              </a:r>
            </a:p>
          </p:txBody>
        </p:sp>
      </p:grpSp>
      <p:grpSp>
        <p:nvGrpSpPr>
          <p:cNvPr id="17" name="Group 124"/>
          <p:cNvGrpSpPr>
            <a:grpSpLocks/>
          </p:cNvGrpSpPr>
          <p:nvPr/>
        </p:nvGrpSpPr>
        <p:grpSpPr bwMode="auto">
          <a:xfrm>
            <a:off x="1933575" y="4437063"/>
            <a:ext cx="620713" cy="468312"/>
            <a:chOff x="1153" y="2928"/>
            <a:chExt cx="369" cy="342"/>
          </a:xfrm>
        </p:grpSpPr>
        <p:sp>
          <p:nvSpPr>
            <p:cNvPr id="137273" name="Oval 57"/>
            <p:cNvSpPr>
              <a:spLocks noChangeArrowheads="1"/>
            </p:cNvSpPr>
            <p:nvPr/>
          </p:nvSpPr>
          <p:spPr bwMode="auto">
            <a:xfrm>
              <a:off x="1266" y="3183"/>
              <a:ext cx="131" cy="87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7329" name="Text Box 113"/>
            <p:cNvSpPr txBox="1">
              <a:spLocks noChangeArrowheads="1"/>
            </p:cNvSpPr>
            <p:nvPr/>
          </p:nvSpPr>
          <p:spPr bwMode="auto">
            <a:xfrm>
              <a:off x="1153" y="2928"/>
              <a:ext cx="369" cy="2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E(s)</a:t>
              </a:r>
            </a:p>
          </p:txBody>
        </p:sp>
      </p:grpSp>
      <p:grpSp>
        <p:nvGrpSpPr>
          <p:cNvPr id="18" name="Group 129"/>
          <p:cNvGrpSpPr>
            <a:grpSpLocks/>
          </p:cNvGrpSpPr>
          <p:nvPr/>
        </p:nvGrpSpPr>
        <p:grpSpPr bwMode="auto">
          <a:xfrm>
            <a:off x="7759700" y="4411663"/>
            <a:ext cx="635000" cy="487362"/>
            <a:chOff x="4605" y="2913"/>
            <a:chExt cx="376" cy="357"/>
          </a:xfrm>
        </p:grpSpPr>
        <p:sp>
          <p:nvSpPr>
            <p:cNvPr id="137277" name="Oval 61"/>
            <p:cNvSpPr>
              <a:spLocks noChangeArrowheads="1"/>
            </p:cNvSpPr>
            <p:nvPr/>
          </p:nvSpPr>
          <p:spPr bwMode="auto">
            <a:xfrm>
              <a:off x="4717" y="3183"/>
              <a:ext cx="131" cy="87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7330" name="Text Box 114"/>
            <p:cNvSpPr txBox="1">
              <a:spLocks noChangeArrowheads="1"/>
            </p:cNvSpPr>
            <p:nvPr/>
          </p:nvSpPr>
          <p:spPr bwMode="auto">
            <a:xfrm>
              <a:off x="4605" y="2913"/>
              <a:ext cx="37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C(s)</a:t>
              </a:r>
            </a:p>
          </p:txBody>
        </p:sp>
      </p:grpSp>
      <p:grpSp>
        <p:nvGrpSpPr>
          <p:cNvPr id="19" name="Group 125"/>
          <p:cNvGrpSpPr>
            <a:grpSpLocks/>
          </p:cNvGrpSpPr>
          <p:nvPr/>
        </p:nvGrpSpPr>
        <p:grpSpPr bwMode="auto">
          <a:xfrm>
            <a:off x="3632200" y="3951288"/>
            <a:ext cx="479425" cy="488950"/>
            <a:chOff x="2160" y="2640"/>
            <a:chExt cx="284" cy="357"/>
          </a:xfrm>
        </p:grpSpPr>
        <p:sp>
          <p:nvSpPr>
            <p:cNvPr id="137274" name="Oval 58"/>
            <p:cNvSpPr>
              <a:spLocks noChangeArrowheads="1"/>
            </p:cNvSpPr>
            <p:nvPr/>
          </p:nvSpPr>
          <p:spPr bwMode="auto">
            <a:xfrm>
              <a:off x="2232" y="2910"/>
              <a:ext cx="131" cy="87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7331" name="Text Box 115"/>
            <p:cNvSpPr txBox="1">
              <a:spLocks noChangeArrowheads="1"/>
            </p:cNvSpPr>
            <p:nvPr/>
          </p:nvSpPr>
          <p:spPr bwMode="auto">
            <a:xfrm>
              <a:off x="2160" y="2640"/>
              <a:ext cx="28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X</a:t>
              </a:r>
              <a:r>
                <a:rPr lang="en-US" altLang="zh-CN" sz="2000" b="1" baseline="-25000">
                  <a:solidFill>
                    <a:srgbClr val="FF3300"/>
                  </a:solidFill>
                </a:rPr>
                <a:t>1</a:t>
              </a:r>
            </a:p>
          </p:txBody>
        </p:sp>
      </p:grpSp>
      <p:grpSp>
        <p:nvGrpSpPr>
          <p:cNvPr id="20" name="Group 126"/>
          <p:cNvGrpSpPr>
            <a:grpSpLocks/>
          </p:cNvGrpSpPr>
          <p:nvPr/>
        </p:nvGrpSpPr>
        <p:grpSpPr bwMode="auto">
          <a:xfrm>
            <a:off x="3632200" y="4921250"/>
            <a:ext cx="479425" cy="509588"/>
            <a:chOff x="2160" y="3216"/>
            <a:chExt cx="284" cy="372"/>
          </a:xfrm>
        </p:grpSpPr>
        <p:sp>
          <p:nvSpPr>
            <p:cNvPr id="137275" name="Oval 59"/>
            <p:cNvSpPr>
              <a:spLocks noChangeArrowheads="1"/>
            </p:cNvSpPr>
            <p:nvPr/>
          </p:nvSpPr>
          <p:spPr bwMode="auto">
            <a:xfrm>
              <a:off x="2232" y="3502"/>
              <a:ext cx="131" cy="86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7333" name="Text Box 117"/>
            <p:cNvSpPr txBox="1">
              <a:spLocks noChangeArrowheads="1"/>
            </p:cNvSpPr>
            <p:nvPr/>
          </p:nvSpPr>
          <p:spPr bwMode="auto">
            <a:xfrm>
              <a:off x="2160" y="3216"/>
              <a:ext cx="284" cy="2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X</a:t>
              </a:r>
              <a:r>
                <a:rPr lang="en-US" altLang="zh-CN" sz="2000" b="1" baseline="-25000">
                  <a:solidFill>
                    <a:srgbClr val="FF3300"/>
                  </a:solidFill>
                </a:rPr>
                <a:t>2</a:t>
              </a:r>
            </a:p>
          </p:txBody>
        </p:sp>
      </p:grpSp>
      <p:grpSp>
        <p:nvGrpSpPr>
          <p:cNvPr id="21" name="Group 128"/>
          <p:cNvGrpSpPr>
            <a:grpSpLocks/>
          </p:cNvGrpSpPr>
          <p:nvPr/>
        </p:nvGrpSpPr>
        <p:grpSpPr bwMode="auto">
          <a:xfrm>
            <a:off x="6337300" y="4891088"/>
            <a:ext cx="479425" cy="533400"/>
            <a:chOff x="3762" y="3198"/>
            <a:chExt cx="284" cy="390"/>
          </a:xfrm>
        </p:grpSpPr>
        <p:sp>
          <p:nvSpPr>
            <p:cNvPr id="137278" name="Oval 62"/>
            <p:cNvSpPr>
              <a:spLocks noChangeArrowheads="1"/>
            </p:cNvSpPr>
            <p:nvPr/>
          </p:nvSpPr>
          <p:spPr bwMode="auto">
            <a:xfrm>
              <a:off x="3820" y="3502"/>
              <a:ext cx="131" cy="86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7334" name="Text Box 118"/>
            <p:cNvSpPr txBox="1">
              <a:spLocks noChangeArrowheads="1"/>
            </p:cNvSpPr>
            <p:nvPr/>
          </p:nvSpPr>
          <p:spPr bwMode="auto">
            <a:xfrm>
              <a:off x="3762" y="3198"/>
              <a:ext cx="284" cy="2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Y</a:t>
              </a:r>
              <a:r>
                <a:rPr lang="en-US" altLang="zh-CN" sz="2000" b="1" baseline="-25000">
                  <a:solidFill>
                    <a:srgbClr val="FF3300"/>
                  </a:solidFill>
                </a:rPr>
                <a:t>2</a:t>
              </a:r>
            </a:p>
          </p:txBody>
        </p:sp>
      </p:grpSp>
      <p:grpSp>
        <p:nvGrpSpPr>
          <p:cNvPr id="22" name="Group 127"/>
          <p:cNvGrpSpPr>
            <a:grpSpLocks/>
          </p:cNvGrpSpPr>
          <p:nvPr/>
        </p:nvGrpSpPr>
        <p:grpSpPr bwMode="auto">
          <a:xfrm>
            <a:off x="6386513" y="3951288"/>
            <a:ext cx="479425" cy="488950"/>
            <a:chOff x="3792" y="2640"/>
            <a:chExt cx="284" cy="357"/>
          </a:xfrm>
        </p:grpSpPr>
        <p:sp>
          <p:nvSpPr>
            <p:cNvPr id="137276" name="Oval 60"/>
            <p:cNvSpPr>
              <a:spLocks noChangeArrowheads="1"/>
            </p:cNvSpPr>
            <p:nvPr/>
          </p:nvSpPr>
          <p:spPr bwMode="auto">
            <a:xfrm>
              <a:off x="3820" y="2910"/>
              <a:ext cx="131" cy="87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7335" name="Text Box 119"/>
            <p:cNvSpPr txBox="1">
              <a:spLocks noChangeArrowheads="1"/>
            </p:cNvSpPr>
            <p:nvPr/>
          </p:nvSpPr>
          <p:spPr bwMode="auto">
            <a:xfrm>
              <a:off x="3792" y="2640"/>
              <a:ext cx="28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Y</a:t>
              </a:r>
              <a:r>
                <a:rPr lang="en-US" altLang="zh-CN" sz="2000" b="1" baseline="-25000">
                  <a:solidFill>
                    <a:srgbClr val="FF3300"/>
                  </a:solidFill>
                </a:rPr>
                <a:t>1</a:t>
              </a:r>
            </a:p>
          </p:txBody>
        </p:sp>
      </p:grpSp>
      <p:sp>
        <p:nvSpPr>
          <p:cNvPr id="137337" name="Line 121"/>
          <p:cNvSpPr>
            <a:spLocks noChangeShapeType="1"/>
          </p:cNvSpPr>
          <p:nvPr/>
        </p:nvSpPr>
        <p:spPr bwMode="auto">
          <a:xfrm>
            <a:off x="4495800" y="3581400"/>
            <a:ext cx="0" cy="457200"/>
          </a:xfrm>
          <a:prstGeom prst="line">
            <a:avLst/>
          </a:prstGeom>
          <a:noFill/>
          <a:ln w="38100" cmpd="dbl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27" name="Title 126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96950"/>
          </a:xfrm>
        </p:spPr>
        <p:txBody>
          <a:bodyPr/>
          <a:lstStyle/>
          <a:p>
            <a:r>
              <a:rPr lang="en-GB" dirty="0" err="1"/>
              <a:t>Example#6</a:t>
            </a:r>
            <a:endParaRPr lang="en-GB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100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73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7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73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73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7000"/>
                            </p:stCondLst>
                            <p:childTnLst>
                              <p:par>
                                <p:cTn id="44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"/>
                            </p:stCondLst>
                            <p:childTnLst>
                              <p:par>
                                <p:cTn id="67" presetID="2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2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337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85800"/>
          </a:xfrm>
        </p:spPr>
        <p:txBody>
          <a:bodyPr/>
          <a:lstStyle/>
          <a:p>
            <a:r>
              <a:rPr lang="en-GB" sz="3200" dirty="0" err="1"/>
              <a:t>Example#6</a:t>
            </a:r>
            <a:endParaRPr lang="en-US" altLang="zh-CN" sz="3200" b="1" dirty="0">
              <a:solidFill>
                <a:srgbClr val="FF0000"/>
              </a:solidFill>
            </a:endParaRPr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686800" cy="56388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400"/>
              <a:t> 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838200" y="838200"/>
            <a:ext cx="6958013" cy="2514600"/>
            <a:chOff x="459" y="2442"/>
            <a:chExt cx="4562" cy="1795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576" y="2592"/>
              <a:ext cx="4272" cy="1645"/>
              <a:chOff x="576" y="2496"/>
              <a:chExt cx="4272" cy="1736"/>
            </a:xfrm>
          </p:grpSpPr>
          <p:sp>
            <p:nvSpPr>
              <p:cNvPr id="138246" name="Line 6"/>
              <p:cNvSpPr>
                <a:spLocks noChangeShapeType="1"/>
              </p:cNvSpPr>
              <p:nvPr/>
            </p:nvSpPr>
            <p:spPr bwMode="auto">
              <a:xfrm>
                <a:off x="645" y="3168"/>
                <a:ext cx="690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8247" name="Line 7"/>
              <p:cNvSpPr>
                <a:spLocks noChangeShapeType="1"/>
              </p:cNvSpPr>
              <p:nvPr/>
            </p:nvSpPr>
            <p:spPr bwMode="auto">
              <a:xfrm>
                <a:off x="1344" y="3168"/>
                <a:ext cx="957" cy="33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8248" name="Freeform 8"/>
              <p:cNvSpPr>
                <a:spLocks/>
              </p:cNvSpPr>
              <p:nvPr/>
            </p:nvSpPr>
            <p:spPr bwMode="auto">
              <a:xfrm>
                <a:off x="2301" y="3504"/>
                <a:ext cx="1588" cy="384"/>
              </a:xfrm>
              <a:custGeom>
                <a:avLst/>
                <a:gdLst/>
                <a:ahLst/>
                <a:cxnLst>
                  <a:cxn ang="0">
                    <a:pos x="1056" y="0"/>
                  </a:cxn>
                  <a:cxn ang="0">
                    <a:pos x="624" y="336"/>
                  </a:cxn>
                  <a:cxn ang="0">
                    <a:pos x="0" y="0"/>
                  </a:cxn>
                </a:cxnLst>
                <a:rect l="0" t="0" r="r" b="b"/>
                <a:pathLst>
                  <a:path w="1056" h="336">
                    <a:moveTo>
                      <a:pt x="1056" y="0"/>
                    </a:moveTo>
                    <a:cubicBezTo>
                      <a:pt x="928" y="168"/>
                      <a:pt x="800" y="336"/>
                      <a:pt x="624" y="336"/>
                    </a:cubicBezTo>
                    <a:cubicBezTo>
                      <a:pt x="448" y="336"/>
                      <a:pt x="104" y="56"/>
                      <a:pt x="0" y="0"/>
                    </a:cubicBez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8249" name="Line 9"/>
              <p:cNvSpPr>
                <a:spLocks noChangeShapeType="1"/>
              </p:cNvSpPr>
              <p:nvPr/>
            </p:nvSpPr>
            <p:spPr bwMode="auto">
              <a:xfrm flipH="1" flipV="1">
                <a:off x="2301" y="2880"/>
                <a:ext cx="1588" cy="624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8250" name="Line 10"/>
              <p:cNvSpPr>
                <a:spLocks noChangeShapeType="1"/>
              </p:cNvSpPr>
              <p:nvPr/>
            </p:nvSpPr>
            <p:spPr bwMode="auto">
              <a:xfrm>
                <a:off x="2301" y="3504"/>
                <a:ext cx="1588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8251" name="Line 11"/>
              <p:cNvSpPr>
                <a:spLocks noChangeShapeType="1"/>
              </p:cNvSpPr>
              <p:nvPr/>
            </p:nvSpPr>
            <p:spPr bwMode="auto">
              <a:xfrm>
                <a:off x="3888" y="2880"/>
                <a:ext cx="898" cy="288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8252" name="Line 12"/>
              <p:cNvSpPr>
                <a:spLocks noChangeShapeType="1"/>
              </p:cNvSpPr>
              <p:nvPr/>
            </p:nvSpPr>
            <p:spPr bwMode="auto">
              <a:xfrm flipV="1">
                <a:off x="3889" y="3168"/>
                <a:ext cx="897" cy="33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8253" name="Freeform 13"/>
              <p:cNvSpPr>
                <a:spLocks/>
              </p:cNvSpPr>
              <p:nvPr/>
            </p:nvSpPr>
            <p:spPr bwMode="auto">
              <a:xfrm>
                <a:off x="1392" y="3120"/>
                <a:ext cx="3394" cy="1112"/>
              </a:xfrm>
              <a:custGeom>
                <a:avLst/>
                <a:gdLst/>
                <a:ahLst/>
                <a:cxnLst>
                  <a:cxn ang="0">
                    <a:pos x="2400" y="0"/>
                  </a:cxn>
                  <a:cxn ang="0">
                    <a:pos x="1296" y="1056"/>
                  </a:cxn>
                  <a:cxn ang="0">
                    <a:pos x="0" y="48"/>
                  </a:cxn>
                </a:cxnLst>
                <a:rect l="0" t="0" r="r" b="b"/>
                <a:pathLst>
                  <a:path w="2400" h="1064">
                    <a:moveTo>
                      <a:pt x="2400" y="0"/>
                    </a:moveTo>
                    <a:cubicBezTo>
                      <a:pt x="2048" y="524"/>
                      <a:pt x="1696" y="1048"/>
                      <a:pt x="1296" y="1056"/>
                    </a:cubicBezTo>
                    <a:cubicBezTo>
                      <a:pt x="896" y="1064"/>
                      <a:pt x="216" y="216"/>
                      <a:pt x="0" y="48"/>
                    </a:cubicBez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8254" name="Freeform 14"/>
              <p:cNvSpPr>
                <a:spLocks/>
              </p:cNvSpPr>
              <p:nvPr/>
            </p:nvSpPr>
            <p:spPr bwMode="auto">
              <a:xfrm>
                <a:off x="2301" y="2496"/>
                <a:ext cx="1588" cy="384"/>
              </a:xfrm>
              <a:custGeom>
                <a:avLst/>
                <a:gdLst/>
                <a:ahLst/>
                <a:cxnLst>
                  <a:cxn ang="0">
                    <a:pos x="1104" y="336"/>
                  </a:cxn>
                  <a:cxn ang="0">
                    <a:pos x="672" y="0"/>
                  </a:cxn>
                  <a:cxn ang="0">
                    <a:pos x="0" y="336"/>
                  </a:cxn>
                </a:cxnLst>
                <a:rect l="0" t="0" r="r" b="b"/>
                <a:pathLst>
                  <a:path w="1104" h="336">
                    <a:moveTo>
                      <a:pt x="1104" y="336"/>
                    </a:moveTo>
                    <a:cubicBezTo>
                      <a:pt x="980" y="168"/>
                      <a:pt x="856" y="0"/>
                      <a:pt x="672" y="0"/>
                    </a:cubicBezTo>
                    <a:cubicBezTo>
                      <a:pt x="488" y="0"/>
                      <a:pt x="112" y="280"/>
                      <a:pt x="0" y="336"/>
                    </a:cubicBez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8255" name="Line 15"/>
              <p:cNvSpPr>
                <a:spLocks noChangeShapeType="1"/>
              </p:cNvSpPr>
              <p:nvPr/>
            </p:nvSpPr>
            <p:spPr bwMode="auto">
              <a:xfrm rot="21300000" flipH="1" flipV="1">
                <a:off x="3549" y="2547"/>
                <a:ext cx="138" cy="144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8256" name="Line 16"/>
              <p:cNvSpPr>
                <a:spLocks noChangeShapeType="1"/>
              </p:cNvSpPr>
              <p:nvPr/>
            </p:nvSpPr>
            <p:spPr bwMode="auto">
              <a:xfrm>
                <a:off x="2301" y="2880"/>
                <a:ext cx="1588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8257" name="Line 17"/>
              <p:cNvSpPr>
                <a:spLocks noChangeShapeType="1"/>
              </p:cNvSpPr>
              <p:nvPr/>
            </p:nvSpPr>
            <p:spPr bwMode="auto">
              <a:xfrm flipH="1">
                <a:off x="2301" y="2880"/>
                <a:ext cx="1587" cy="624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8258" name="Oval 18"/>
              <p:cNvSpPr>
                <a:spLocks noChangeArrowheads="1"/>
              </p:cNvSpPr>
              <p:nvPr/>
            </p:nvSpPr>
            <p:spPr bwMode="auto">
              <a:xfrm>
                <a:off x="576" y="3120"/>
                <a:ext cx="131" cy="91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8259" name="Oval 19"/>
              <p:cNvSpPr>
                <a:spLocks noChangeArrowheads="1"/>
              </p:cNvSpPr>
              <p:nvPr/>
            </p:nvSpPr>
            <p:spPr bwMode="auto">
              <a:xfrm>
                <a:off x="1266" y="3120"/>
                <a:ext cx="131" cy="91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8260" name="Oval 20"/>
              <p:cNvSpPr>
                <a:spLocks noChangeArrowheads="1"/>
              </p:cNvSpPr>
              <p:nvPr/>
            </p:nvSpPr>
            <p:spPr bwMode="auto">
              <a:xfrm>
                <a:off x="2232" y="2832"/>
                <a:ext cx="131" cy="91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8261" name="Oval 21"/>
              <p:cNvSpPr>
                <a:spLocks noChangeArrowheads="1"/>
              </p:cNvSpPr>
              <p:nvPr/>
            </p:nvSpPr>
            <p:spPr bwMode="auto">
              <a:xfrm>
                <a:off x="2232" y="3456"/>
                <a:ext cx="131" cy="91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8262" name="Oval 22"/>
              <p:cNvSpPr>
                <a:spLocks noChangeArrowheads="1"/>
              </p:cNvSpPr>
              <p:nvPr/>
            </p:nvSpPr>
            <p:spPr bwMode="auto">
              <a:xfrm>
                <a:off x="3820" y="2832"/>
                <a:ext cx="131" cy="91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8263" name="Oval 23"/>
              <p:cNvSpPr>
                <a:spLocks noChangeArrowheads="1"/>
              </p:cNvSpPr>
              <p:nvPr/>
            </p:nvSpPr>
            <p:spPr bwMode="auto">
              <a:xfrm>
                <a:off x="4717" y="3120"/>
                <a:ext cx="131" cy="91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8264" name="Oval 24"/>
              <p:cNvSpPr>
                <a:spLocks noChangeArrowheads="1"/>
              </p:cNvSpPr>
              <p:nvPr/>
            </p:nvSpPr>
            <p:spPr bwMode="auto">
              <a:xfrm>
                <a:off x="3820" y="3456"/>
                <a:ext cx="131" cy="91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8265" name="Line 25"/>
              <p:cNvSpPr>
                <a:spLocks noChangeShapeType="1"/>
              </p:cNvSpPr>
              <p:nvPr/>
            </p:nvSpPr>
            <p:spPr bwMode="auto">
              <a:xfrm flipV="1">
                <a:off x="1404" y="2901"/>
                <a:ext cx="852" cy="24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8266" name="Line 26"/>
              <p:cNvSpPr>
                <a:spLocks noChangeShapeType="1"/>
              </p:cNvSpPr>
              <p:nvPr/>
            </p:nvSpPr>
            <p:spPr bwMode="auto">
              <a:xfrm>
                <a:off x="852" y="3168"/>
                <a:ext cx="138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8267" name="Line 27"/>
              <p:cNvSpPr>
                <a:spLocks noChangeShapeType="1"/>
              </p:cNvSpPr>
              <p:nvPr/>
            </p:nvSpPr>
            <p:spPr bwMode="auto">
              <a:xfrm flipV="1">
                <a:off x="1722" y="2958"/>
                <a:ext cx="276" cy="9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8268" name="Line 28"/>
              <p:cNvSpPr>
                <a:spLocks noChangeShapeType="1"/>
              </p:cNvSpPr>
              <p:nvPr/>
            </p:nvSpPr>
            <p:spPr bwMode="auto">
              <a:xfrm>
                <a:off x="1611" y="3264"/>
                <a:ext cx="276" cy="9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8269" name="Line 29"/>
              <p:cNvSpPr>
                <a:spLocks noChangeShapeType="1"/>
              </p:cNvSpPr>
              <p:nvPr/>
            </p:nvSpPr>
            <p:spPr bwMode="auto">
              <a:xfrm rot="300000" flipH="1">
                <a:off x="3406" y="2985"/>
                <a:ext cx="207" cy="9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8270" name="Line 30"/>
              <p:cNvSpPr>
                <a:spLocks noChangeShapeType="1"/>
              </p:cNvSpPr>
              <p:nvPr/>
            </p:nvSpPr>
            <p:spPr bwMode="auto">
              <a:xfrm flipH="1" flipV="1">
                <a:off x="3406" y="3294"/>
                <a:ext cx="207" cy="9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8271" name="Line 31"/>
              <p:cNvSpPr>
                <a:spLocks noChangeShapeType="1"/>
              </p:cNvSpPr>
              <p:nvPr/>
            </p:nvSpPr>
            <p:spPr bwMode="auto">
              <a:xfrm>
                <a:off x="4096" y="2946"/>
                <a:ext cx="276" cy="9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8272" name="Line 32"/>
              <p:cNvSpPr>
                <a:spLocks noChangeShapeType="1"/>
              </p:cNvSpPr>
              <p:nvPr/>
            </p:nvSpPr>
            <p:spPr bwMode="auto">
              <a:xfrm flipV="1">
                <a:off x="4165" y="3297"/>
                <a:ext cx="276" cy="9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8273" name="Line 33"/>
              <p:cNvSpPr>
                <a:spLocks noChangeShapeType="1"/>
              </p:cNvSpPr>
              <p:nvPr/>
            </p:nvSpPr>
            <p:spPr bwMode="auto">
              <a:xfrm flipH="1">
                <a:off x="3518" y="3726"/>
                <a:ext cx="138" cy="9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8274" name="Line 34"/>
              <p:cNvSpPr>
                <a:spLocks noChangeShapeType="1"/>
              </p:cNvSpPr>
              <p:nvPr/>
            </p:nvSpPr>
            <p:spPr bwMode="auto">
              <a:xfrm>
                <a:off x="2832" y="3504"/>
                <a:ext cx="336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8275" name="Line 35"/>
              <p:cNvSpPr>
                <a:spLocks noChangeShapeType="1"/>
              </p:cNvSpPr>
              <p:nvPr/>
            </p:nvSpPr>
            <p:spPr bwMode="auto">
              <a:xfrm>
                <a:off x="2928" y="2880"/>
                <a:ext cx="288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8276" name="Line 36"/>
              <p:cNvSpPr>
                <a:spLocks noChangeShapeType="1"/>
              </p:cNvSpPr>
              <p:nvPr/>
            </p:nvSpPr>
            <p:spPr bwMode="auto">
              <a:xfrm flipH="1" flipV="1">
                <a:off x="2256" y="3792"/>
                <a:ext cx="144" cy="9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38277" name="Text Box 37"/>
            <p:cNvSpPr txBox="1">
              <a:spLocks noChangeArrowheads="1"/>
            </p:cNvSpPr>
            <p:nvPr/>
          </p:nvSpPr>
          <p:spPr bwMode="auto">
            <a:xfrm>
              <a:off x="834" y="2980"/>
              <a:ext cx="204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</a:p>
          </p:txBody>
        </p:sp>
        <p:sp>
          <p:nvSpPr>
            <p:cNvPr id="138278" name="Text Box 38"/>
            <p:cNvSpPr txBox="1">
              <a:spLocks noChangeArrowheads="1"/>
            </p:cNvSpPr>
            <p:nvPr/>
          </p:nvSpPr>
          <p:spPr bwMode="auto">
            <a:xfrm>
              <a:off x="1728" y="2779"/>
              <a:ext cx="384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>
                  <a:solidFill>
                    <a:srgbClr val="990000"/>
                  </a:solidFill>
                </a:rPr>
                <a:t>-</a:t>
              </a:r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  <a:r>
                <a:rPr lang="en-US" altLang="zh-CN">
                  <a:solidFill>
                    <a:srgbClr val="FF3300"/>
                  </a:solidFill>
                </a:rPr>
                <a:t> </a:t>
              </a:r>
            </a:p>
          </p:txBody>
        </p:sp>
        <p:sp>
          <p:nvSpPr>
            <p:cNvPr id="138279" name="Text Box 39"/>
            <p:cNvSpPr txBox="1">
              <a:spLocks noChangeArrowheads="1"/>
            </p:cNvSpPr>
            <p:nvPr/>
          </p:nvSpPr>
          <p:spPr bwMode="auto">
            <a:xfrm>
              <a:off x="1803" y="3160"/>
              <a:ext cx="204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</a:p>
          </p:txBody>
        </p:sp>
        <p:sp>
          <p:nvSpPr>
            <p:cNvPr id="138280" name="Text Box 40"/>
            <p:cNvSpPr txBox="1">
              <a:spLocks noChangeArrowheads="1"/>
            </p:cNvSpPr>
            <p:nvPr/>
          </p:nvSpPr>
          <p:spPr bwMode="auto">
            <a:xfrm>
              <a:off x="3519" y="2442"/>
              <a:ext cx="384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>
                  <a:solidFill>
                    <a:srgbClr val="990000"/>
                  </a:solidFill>
                </a:rPr>
                <a:t>-</a:t>
              </a:r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  <a:r>
                <a:rPr lang="en-US" altLang="zh-CN">
                  <a:solidFill>
                    <a:srgbClr val="FF3300"/>
                  </a:solidFill>
                </a:rPr>
                <a:t> </a:t>
              </a:r>
            </a:p>
          </p:txBody>
        </p:sp>
        <p:sp>
          <p:nvSpPr>
            <p:cNvPr id="138281" name="Text Box 41"/>
            <p:cNvSpPr txBox="1">
              <a:spLocks noChangeArrowheads="1"/>
            </p:cNvSpPr>
            <p:nvPr/>
          </p:nvSpPr>
          <p:spPr bwMode="auto">
            <a:xfrm>
              <a:off x="3216" y="2905"/>
              <a:ext cx="38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>
                  <a:solidFill>
                    <a:srgbClr val="990000"/>
                  </a:solidFill>
                </a:rPr>
                <a:t>-</a:t>
              </a:r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  <a:r>
                <a:rPr lang="en-US" altLang="zh-CN">
                  <a:solidFill>
                    <a:srgbClr val="FF3300"/>
                  </a:solidFill>
                </a:rPr>
                <a:t> </a:t>
              </a:r>
            </a:p>
          </p:txBody>
        </p:sp>
        <p:sp>
          <p:nvSpPr>
            <p:cNvPr id="138282" name="Text Box 42"/>
            <p:cNvSpPr txBox="1">
              <a:spLocks noChangeArrowheads="1"/>
            </p:cNvSpPr>
            <p:nvPr/>
          </p:nvSpPr>
          <p:spPr bwMode="auto">
            <a:xfrm>
              <a:off x="2064" y="3770"/>
              <a:ext cx="384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>
                  <a:solidFill>
                    <a:srgbClr val="990000"/>
                  </a:solidFill>
                </a:rPr>
                <a:t>-</a:t>
              </a:r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  <a:r>
                <a:rPr lang="en-US" altLang="zh-CN">
                  <a:solidFill>
                    <a:srgbClr val="FF3300"/>
                  </a:solidFill>
                </a:rPr>
                <a:t> </a:t>
              </a:r>
            </a:p>
          </p:txBody>
        </p:sp>
        <p:sp>
          <p:nvSpPr>
            <p:cNvPr id="138283" name="Text Box 43"/>
            <p:cNvSpPr txBox="1">
              <a:spLocks noChangeArrowheads="1"/>
            </p:cNvSpPr>
            <p:nvPr/>
          </p:nvSpPr>
          <p:spPr bwMode="auto">
            <a:xfrm>
              <a:off x="3510" y="3744"/>
              <a:ext cx="384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>
                  <a:solidFill>
                    <a:srgbClr val="990000"/>
                  </a:solidFill>
                </a:rPr>
                <a:t>-</a:t>
              </a:r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  <a:r>
                <a:rPr lang="en-US" altLang="zh-CN">
                  <a:solidFill>
                    <a:srgbClr val="FF3300"/>
                  </a:solidFill>
                </a:rPr>
                <a:t> </a:t>
              </a:r>
            </a:p>
          </p:txBody>
        </p:sp>
        <p:sp>
          <p:nvSpPr>
            <p:cNvPr id="138284" name="Text Box 44"/>
            <p:cNvSpPr txBox="1">
              <a:spLocks noChangeArrowheads="1"/>
            </p:cNvSpPr>
            <p:nvPr/>
          </p:nvSpPr>
          <p:spPr bwMode="auto">
            <a:xfrm>
              <a:off x="4236" y="2815"/>
              <a:ext cx="204" cy="2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</a:p>
          </p:txBody>
        </p:sp>
        <p:sp>
          <p:nvSpPr>
            <p:cNvPr id="138285" name="Text Box 45"/>
            <p:cNvSpPr txBox="1">
              <a:spLocks noChangeArrowheads="1"/>
            </p:cNvSpPr>
            <p:nvPr/>
          </p:nvSpPr>
          <p:spPr bwMode="auto">
            <a:xfrm>
              <a:off x="4224" y="3133"/>
              <a:ext cx="204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</a:p>
          </p:txBody>
        </p:sp>
        <p:sp>
          <p:nvSpPr>
            <p:cNvPr id="138286" name="Text Box 46"/>
            <p:cNvSpPr txBox="1">
              <a:spLocks noChangeArrowheads="1"/>
            </p:cNvSpPr>
            <p:nvPr/>
          </p:nvSpPr>
          <p:spPr bwMode="auto">
            <a:xfrm>
              <a:off x="3024" y="2696"/>
              <a:ext cx="292" cy="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990000"/>
                  </a:solidFill>
                </a:rPr>
                <a:t>G</a:t>
              </a:r>
              <a:r>
                <a:rPr lang="en-US" altLang="zh-CN" sz="2000" b="1" baseline="-25000">
                  <a:solidFill>
                    <a:srgbClr val="990000"/>
                  </a:solidFill>
                </a:rPr>
                <a:t>1</a:t>
              </a:r>
            </a:p>
          </p:txBody>
        </p:sp>
        <p:sp>
          <p:nvSpPr>
            <p:cNvPr id="138287" name="Text Box 47"/>
            <p:cNvSpPr txBox="1">
              <a:spLocks noChangeArrowheads="1"/>
            </p:cNvSpPr>
            <p:nvPr/>
          </p:nvSpPr>
          <p:spPr bwMode="auto">
            <a:xfrm>
              <a:off x="2976" y="3269"/>
              <a:ext cx="292" cy="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990000"/>
                  </a:solidFill>
                </a:rPr>
                <a:t>G</a:t>
              </a:r>
              <a:r>
                <a:rPr lang="en-US" altLang="zh-CN" sz="2000" b="1" baseline="-25000">
                  <a:solidFill>
                    <a:srgbClr val="990000"/>
                  </a:solidFill>
                </a:rPr>
                <a:t>2</a:t>
              </a:r>
            </a:p>
          </p:txBody>
        </p:sp>
        <p:sp>
          <p:nvSpPr>
            <p:cNvPr id="138288" name="Text Box 48"/>
            <p:cNvSpPr txBox="1">
              <a:spLocks noChangeArrowheads="1"/>
            </p:cNvSpPr>
            <p:nvPr/>
          </p:nvSpPr>
          <p:spPr bwMode="auto">
            <a:xfrm>
              <a:off x="3465" y="3160"/>
              <a:ext cx="204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</a:p>
          </p:txBody>
        </p:sp>
        <p:sp>
          <p:nvSpPr>
            <p:cNvPr id="138289" name="Text Box 49"/>
            <p:cNvSpPr txBox="1">
              <a:spLocks noChangeArrowheads="1"/>
            </p:cNvSpPr>
            <p:nvPr/>
          </p:nvSpPr>
          <p:spPr bwMode="auto">
            <a:xfrm>
              <a:off x="459" y="2932"/>
              <a:ext cx="416" cy="2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R(s)</a:t>
              </a:r>
            </a:p>
          </p:txBody>
        </p:sp>
        <p:sp>
          <p:nvSpPr>
            <p:cNvPr id="138290" name="Text Box 50"/>
            <p:cNvSpPr txBox="1">
              <a:spLocks noChangeArrowheads="1"/>
            </p:cNvSpPr>
            <p:nvPr/>
          </p:nvSpPr>
          <p:spPr bwMode="auto">
            <a:xfrm>
              <a:off x="1152" y="2928"/>
              <a:ext cx="407" cy="2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E(s)</a:t>
              </a:r>
            </a:p>
          </p:txBody>
        </p:sp>
        <p:sp>
          <p:nvSpPr>
            <p:cNvPr id="138291" name="Text Box 51"/>
            <p:cNvSpPr txBox="1">
              <a:spLocks noChangeArrowheads="1"/>
            </p:cNvSpPr>
            <p:nvPr/>
          </p:nvSpPr>
          <p:spPr bwMode="auto">
            <a:xfrm>
              <a:off x="4605" y="2913"/>
              <a:ext cx="416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C(s)</a:t>
              </a:r>
            </a:p>
          </p:txBody>
        </p:sp>
        <p:sp>
          <p:nvSpPr>
            <p:cNvPr id="138292" name="Text Box 52"/>
            <p:cNvSpPr txBox="1">
              <a:spLocks noChangeArrowheads="1"/>
            </p:cNvSpPr>
            <p:nvPr/>
          </p:nvSpPr>
          <p:spPr bwMode="auto">
            <a:xfrm>
              <a:off x="2160" y="2640"/>
              <a:ext cx="284" cy="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X</a:t>
              </a:r>
              <a:r>
                <a:rPr lang="en-US" altLang="zh-CN" sz="2000" b="1" baseline="-250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138293" name="Text Box 53"/>
            <p:cNvSpPr txBox="1">
              <a:spLocks noChangeArrowheads="1"/>
            </p:cNvSpPr>
            <p:nvPr/>
          </p:nvSpPr>
          <p:spPr bwMode="auto">
            <a:xfrm>
              <a:off x="2160" y="3216"/>
              <a:ext cx="284" cy="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X</a:t>
              </a:r>
              <a:r>
                <a:rPr lang="en-US" altLang="zh-CN" sz="2000" b="1" baseline="-25000">
                  <a:solidFill>
                    <a:srgbClr val="FF3300"/>
                  </a:solidFill>
                </a:rPr>
                <a:t>2</a:t>
              </a:r>
            </a:p>
          </p:txBody>
        </p:sp>
        <p:sp>
          <p:nvSpPr>
            <p:cNvPr id="138294" name="Text Box 54"/>
            <p:cNvSpPr txBox="1">
              <a:spLocks noChangeArrowheads="1"/>
            </p:cNvSpPr>
            <p:nvPr/>
          </p:nvSpPr>
          <p:spPr bwMode="auto">
            <a:xfrm>
              <a:off x="3762" y="3198"/>
              <a:ext cx="284" cy="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Y</a:t>
              </a:r>
              <a:r>
                <a:rPr lang="en-US" altLang="zh-CN" sz="2000" b="1" baseline="-25000">
                  <a:solidFill>
                    <a:srgbClr val="FF3300"/>
                  </a:solidFill>
                </a:rPr>
                <a:t>2</a:t>
              </a:r>
            </a:p>
          </p:txBody>
        </p:sp>
        <p:sp>
          <p:nvSpPr>
            <p:cNvPr id="138295" name="Text Box 55"/>
            <p:cNvSpPr txBox="1">
              <a:spLocks noChangeArrowheads="1"/>
            </p:cNvSpPr>
            <p:nvPr/>
          </p:nvSpPr>
          <p:spPr bwMode="auto">
            <a:xfrm>
              <a:off x="3791" y="2640"/>
              <a:ext cx="285" cy="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Y</a:t>
              </a:r>
              <a:r>
                <a:rPr lang="en-US" altLang="zh-CN" sz="2000" b="1" baseline="-25000">
                  <a:solidFill>
                    <a:srgbClr val="FF3300"/>
                  </a:solidFill>
                </a:rPr>
                <a:t>1</a:t>
              </a:r>
            </a:p>
          </p:txBody>
        </p:sp>
      </p:grpSp>
      <p:sp useBgFill="1">
        <p:nvSpPr>
          <p:cNvPr id="138313" name="Text Box 73"/>
          <p:cNvSpPr txBox="1">
            <a:spLocks noChangeArrowheads="1"/>
          </p:cNvSpPr>
          <p:nvPr/>
        </p:nvSpPr>
        <p:spPr bwMode="auto">
          <a:xfrm>
            <a:off x="1600200" y="3708400"/>
            <a:ext cx="1463675" cy="4572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138305" name="Object 65"/>
          <p:cNvGraphicFramePr>
            <a:graphicFrameLocks noChangeAspect="1"/>
          </p:cNvGraphicFramePr>
          <p:nvPr/>
        </p:nvGraphicFramePr>
        <p:xfrm>
          <a:off x="609600" y="3860800"/>
          <a:ext cx="1295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74360" imgH="215640" progId="Equation.3">
                  <p:embed/>
                </p:oleObj>
              </mc:Choice>
              <mc:Fallback>
                <p:oleObj name="Equation" r:id="rId2" imgW="774360" imgH="215640" progId="Equation.3">
                  <p:embed/>
                  <p:pic>
                    <p:nvPicPr>
                      <p:cNvPr id="138305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-2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860800"/>
                        <a:ext cx="1295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306" name="Object 66"/>
          <p:cNvGraphicFramePr>
            <a:graphicFrameLocks noChangeAspect="1"/>
          </p:cNvGraphicFramePr>
          <p:nvPr/>
        </p:nvGraphicFramePr>
        <p:xfrm>
          <a:off x="2286000" y="3860800"/>
          <a:ext cx="1371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74360" imgH="215640" progId="Equation.3">
                  <p:embed/>
                </p:oleObj>
              </mc:Choice>
              <mc:Fallback>
                <p:oleObj name="Equation" r:id="rId4" imgW="774360" imgH="215640" progId="Equation.3">
                  <p:embed/>
                  <p:pic>
                    <p:nvPicPr>
                      <p:cNvPr id="138306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-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860800"/>
                        <a:ext cx="13716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307" name="Object 67"/>
          <p:cNvGraphicFramePr>
            <a:graphicFrameLocks noChangeAspect="1"/>
          </p:cNvGraphicFramePr>
          <p:nvPr/>
        </p:nvGraphicFramePr>
        <p:xfrm>
          <a:off x="4038600" y="3860800"/>
          <a:ext cx="1981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80800" imgH="215640" progId="Equation.3">
                  <p:embed/>
                </p:oleObj>
              </mc:Choice>
              <mc:Fallback>
                <p:oleObj name="Equation" r:id="rId6" imgW="1180800" imgH="215640" progId="Equation.3">
                  <p:embed/>
                  <p:pic>
                    <p:nvPicPr>
                      <p:cNvPr id="138307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lum bright="2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3860800"/>
                        <a:ext cx="1981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308" name="Object 68"/>
          <p:cNvGraphicFramePr>
            <a:graphicFrameLocks noChangeAspect="1"/>
          </p:cNvGraphicFramePr>
          <p:nvPr/>
        </p:nvGraphicFramePr>
        <p:xfrm>
          <a:off x="6400800" y="3860800"/>
          <a:ext cx="2209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33440" imgH="215640" progId="Equation.3">
                  <p:embed/>
                </p:oleObj>
              </mc:Choice>
              <mc:Fallback>
                <p:oleObj name="Equation" r:id="rId8" imgW="1333440" imgH="215640" progId="Equation.3">
                  <p:embed/>
                  <p:pic>
                    <p:nvPicPr>
                      <p:cNvPr id="138308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lum bright="-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3860800"/>
                        <a:ext cx="22098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309" name="Object 69"/>
          <p:cNvGraphicFramePr>
            <a:graphicFrameLocks noChangeAspect="1"/>
          </p:cNvGraphicFramePr>
          <p:nvPr/>
        </p:nvGraphicFramePr>
        <p:xfrm>
          <a:off x="609600" y="4394200"/>
          <a:ext cx="3505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06280" imgH="215640" progId="Equation.3">
                  <p:embed/>
                </p:oleObj>
              </mc:Choice>
              <mc:Fallback>
                <p:oleObj name="Equation" r:id="rId10" imgW="2006280" imgH="215640" progId="Equation.3">
                  <p:embed/>
                  <p:pic>
                    <p:nvPicPr>
                      <p:cNvPr id="138309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lum bright="1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394200"/>
                        <a:ext cx="3505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310" name="Object 70"/>
          <p:cNvGraphicFramePr>
            <a:graphicFrameLocks noChangeAspect="1"/>
          </p:cNvGraphicFramePr>
          <p:nvPr/>
        </p:nvGraphicFramePr>
        <p:xfrm>
          <a:off x="4267200" y="4394200"/>
          <a:ext cx="1752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79280" imgH="215640" progId="Equation.3">
                  <p:embed/>
                </p:oleObj>
              </mc:Choice>
              <mc:Fallback>
                <p:oleObj name="Equation" r:id="rId12" imgW="1079280" imgH="215640" progId="Equation.3">
                  <p:embed/>
                  <p:pic>
                    <p:nvPicPr>
                      <p:cNvPr id="138310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lum bright="-14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394200"/>
                        <a:ext cx="17526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311" name="Object 71"/>
          <p:cNvGraphicFramePr>
            <a:graphicFrameLocks noChangeAspect="1"/>
          </p:cNvGraphicFramePr>
          <p:nvPr/>
        </p:nvGraphicFramePr>
        <p:xfrm>
          <a:off x="6324600" y="4394200"/>
          <a:ext cx="2413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73120" imgH="215640" progId="Equation.3">
                  <p:embed/>
                </p:oleObj>
              </mc:Choice>
              <mc:Fallback>
                <p:oleObj name="Equation" r:id="rId14" imgW="1473120" imgH="215640" progId="Equation.3">
                  <p:embed/>
                  <p:pic>
                    <p:nvPicPr>
                      <p:cNvPr id="138311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lum bright="-22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394200"/>
                        <a:ext cx="24130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314" name="Object 74"/>
          <p:cNvGraphicFramePr>
            <a:graphicFrameLocks noChangeAspect="1"/>
          </p:cNvGraphicFramePr>
          <p:nvPr/>
        </p:nvGraphicFramePr>
        <p:xfrm>
          <a:off x="685800" y="5384800"/>
          <a:ext cx="29225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536480" imgH="215640" progId="Equation.3">
                  <p:embed/>
                </p:oleObj>
              </mc:Choice>
              <mc:Fallback>
                <p:oleObj name="Equation" r:id="rId16" imgW="1536480" imgH="215640" progId="Equation.3">
                  <p:embed/>
                  <p:pic>
                    <p:nvPicPr>
                      <p:cNvPr id="138314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lum bright="-2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5384800"/>
                        <a:ext cx="2922588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315" name="Object 75"/>
          <p:cNvGraphicFramePr>
            <a:graphicFrameLocks noChangeAspect="1"/>
          </p:cNvGraphicFramePr>
          <p:nvPr/>
        </p:nvGraphicFramePr>
        <p:xfrm>
          <a:off x="4114800" y="5384800"/>
          <a:ext cx="40449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095200" imgH="215640" progId="Equation.3">
                  <p:embed/>
                </p:oleObj>
              </mc:Choice>
              <mc:Fallback>
                <p:oleObj name="Equation" r:id="rId18" imgW="2095200" imgH="215640" progId="Equation.3">
                  <p:embed/>
                  <p:pic>
                    <p:nvPicPr>
                      <p:cNvPr id="138315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lum bright="-24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5384800"/>
                        <a:ext cx="404495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316" name="Object 76"/>
          <p:cNvGraphicFramePr>
            <a:graphicFrameLocks noChangeAspect="1"/>
          </p:cNvGraphicFramePr>
          <p:nvPr/>
        </p:nvGraphicFramePr>
        <p:xfrm>
          <a:off x="685800" y="5918200"/>
          <a:ext cx="353536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828800" imgH="215640" progId="Equation.3">
                  <p:embed/>
                </p:oleObj>
              </mc:Choice>
              <mc:Fallback>
                <p:oleObj name="Equation" r:id="rId20" imgW="1828800" imgH="215640" progId="Equation.3">
                  <p:embed/>
                  <p:pic>
                    <p:nvPicPr>
                      <p:cNvPr id="138316" name="Object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lum bright="-14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5918200"/>
                        <a:ext cx="3535363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318" name="Text Box 78"/>
          <p:cNvSpPr txBox="1">
            <a:spLocks noChangeArrowheads="1"/>
          </p:cNvSpPr>
          <p:nvPr/>
        </p:nvSpPr>
        <p:spPr bwMode="auto">
          <a:xfrm>
            <a:off x="288925" y="3348038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38319" name="Text Box 79"/>
          <p:cNvSpPr txBox="1">
            <a:spLocks noChangeArrowheads="1"/>
          </p:cNvSpPr>
          <p:nvPr/>
        </p:nvSpPr>
        <p:spPr bwMode="auto">
          <a:xfrm>
            <a:off x="304800" y="3200400"/>
            <a:ext cx="13398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 b="1" i="1">
                <a:solidFill>
                  <a:srgbClr val="009900"/>
                </a:solidFill>
              </a:rPr>
              <a:t>7 loops:</a:t>
            </a:r>
          </a:p>
        </p:txBody>
      </p:sp>
      <p:sp>
        <p:nvSpPr>
          <p:cNvPr id="138320" name="Text Box 80"/>
          <p:cNvSpPr txBox="1">
            <a:spLocks noChangeArrowheads="1"/>
          </p:cNvSpPr>
          <p:nvPr/>
        </p:nvSpPr>
        <p:spPr bwMode="auto">
          <a:xfrm>
            <a:off x="228600" y="4851400"/>
            <a:ext cx="40211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800" b="1" i="1">
                <a:solidFill>
                  <a:srgbClr val="009900"/>
                </a:solidFill>
              </a:rPr>
              <a:t>3 ‘2 non-touching loops’ 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101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319" grpId="0" autoUpdateAnimBg="0"/>
      <p:bldP spid="138320" grpId="0" autoUpdateAnimBg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16632"/>
            <a:ext cx="7772400" cy="762000"/>
          </a:xfrm>
        </p:spPr>
        <p:txBody>
          <a:bodyPr/>
          <a:lstStyle/>
          <a:p>
            <a:r>
              <a:rPr lang="en-GB" sz="3200" dirty="0" err="1"/>
              <a:t>Example#6</a:t>
            </a:r>
            <a:endParaRPr lang="en-US" altLang="zh-CN" sz="3200" b="1" dirty="0">
              <a:solidFill>
                <a:srgbClr val="FF0000"/>
              </a:solidFill>
            </a:endParaRPr>
          </a:p>
        </p:txBody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19200"/>
            <a:ext cx="8534400" cy="56388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400"/>
              <a:t> </a:t>
            </a:r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914400" y="990600"/>
            <a:ext cx="6797675" cy="2514600"/>
            <a:chOff x="459" y="2442"/>
            <a:chExt cx="4574" cy="1795"/>
          </a:xfrm>
        </p:grpSpPr>
        <p:grpSp>
          <p:nvGrpSpPr>
            <p:cNvPr id="3" name="Group 20"/>
            <p:cNvGrpSpPr>
              <a:grpSpLocks/>
            </p:cNvGrpSpPr>
            <p:nvPr/>
          </p:nvGrpSpPr>
          <p:grpSpPr bwMode="auto">
            <a:xfrm>
              <a:off x="576" y="2592"/>
              <a:ext cx="4272" cy="1645"/>
              <a:chOff x="576" y="2496"/>
              <a:chExt cx="4272" cy="1736"/>
            </a:xfrm>
          </p:grpSpPr>
          <p:sp>
            <p:nvSpPr>
              <p:cNvPr id="139285" name="Line 21"/>
              <p:cNvSpPr>
                <a:spLocks noChangeShapeType="1"/>
              </p:cNvSpPr>
              <p:nvPr/>
            </p:nvSpPr>
            <p:spPr bwMode="auto">
              <a:xfrm>
                <a:off x="645" y="3168"/>
                <a:ext cx="690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9286" name="Line 22"/>
              <p:cNvSpPr>
                <a:spLocks noChangeShapeType="1"/>
              </p:cNvSpPr>
              <p:nvPr/>
            </p:nvSpPr>
            <p:spPr bwMode="auto">
              <a:xfrm>
                <a:off x="1344" y="3168"/>
                <a:ext cx="957" cy="33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9287" name="Freeform 23"/>
              <p:cNvSpPr>
                <a:spLocks/>
              </p:cNvSpPr>
              <p:nvPr/>
            </p:nvSpPr>
            <p:spPr bwMode="auto">
              <a:xfrm>
                <a:off x="2301" y="3504"/>
                <a:ext cx="1588" cy="384"/>
              </a:xfrm>
              <a:custGeom>
                <a:avLst/>
                <a:gdLst/>
                <a:ahLst/>
                <a:cxnLst>
                  <a:cxn ang="0">
                    <a:pos x="1056" y="0"/>
                  </a:cxn>
                  <a:cxn ang="0">
                    <a:pos x="624" y="336"/>
                  </a:cxn>
                  <a:cxn ang="0">
                    <a:pos x="0" y="0"/>
                  </a:cxn>
                </a:cxnLst>
                <a:rect l="0" t="0" r="r" b="b"/>
                <a:pathLst>
                  <a:path w="1056" h="336">
                    <a:moveTo>
                      <a:pt x="1056" y="0"/>
                    </a:moveTo>
                    <a:cubicBezTo>
                      <a:pt x="928" y="168"/>
                      <a:pt x="800" y="336"/>
                      <a:pt x="624" y="336"/>
                    </a:cubicBezTo>
                    <a:cubicBezTo>
                      <a:pt x="448" y="336"/>
                      <a:pt x="104" y="56"/>
                      <a:pt x="0" y="0"/>
                    </a:cubicBez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9288" name="Line 24"/>
              <p:cNvSpPr>
                <a:spLocks noChangeShapeType="1"/>
              </p:cNvSpPr>
              <p:nvPr/>
            </p:nvSpPr>
            <p:spPr bwMode="auto">
              <a:xfrm flipH="1" flipV="1">
                <a:off x="2301" y="2880"/>
                <a:ext cx="1588" cy="624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9289" name="Line 25"/>
              <p:cNvSpPr>
                <a:spLocks noChangeShapeType="1"/>
              </p:cNvSpPr>
              <p:nvPr/>
            </p:nvSpPr>
            <p:spPr bwMode="auto">
              <a:xfrm>
                <a:off x="2301" y="3504"/>
                <a:ext cx="1588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9290" name="Line 26"/>
              <p:cNvSpPr>
                <a:spLocks noChangeShapeType="1"/>
              </p:cNvSpPr>
              <p:nvPr/>
            </p:nvSpPr>
            <p:spPr bwMode="auto">
              <a:xfrm>
                <a:off x="3888" y="2880"/>
                <a:ext cx="898" cy="288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9291" name="Line 27"/>
              <p:cNvSpPr>
                <a:spLocks noChangeShapeType="1"/>
              </p:cNvSpPr>
              <p:nvPr/>
            </p:nvSpPr>
            <p:spPr bwMode="auto">
              <a:xfrm flipV="1">
                <a:off x="3889" y="3168"/>
                <a:ext cx="897" cy="33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9292" name="Freeform 28"/>
              <p:cNvSpPr>
                <a:spLocks/>
              </p:cNvSpPr>
              <p:nvPr/>
            </p:nvSpPr>
            <p:spPr bwMode="auto">
              <a:xfrm>
                <a:off x="1392" y="3120"/>
                <a:ext cx="3394" cy="1112"/>
              </a:xfrm>
              <a:custGeom>
                <a:avLst/>
                <a:gdLst/>
                <a:ahLst/>
                <a:cxnLst>
                  <a:cxn ang="0">
                    <a:pos x="2400" y="0"/>
                  </a:cxn>
                  <a:cxn ang="0">
                    <a:pos x="1296" y="1056"/>
                  </a:cxn>
                  <a:cxn ang="0">
                    <a:pos x="0" y="48"/>
                  </a:cxn>
                </a:cxnLst>
                <a:rect l="0" t="0" r="r" b="b"/>
                <a:pathLst>
                  <a:path w="2400" h="1064">
                    <a:moveTo>
                      <a:pt x="2400" y="0"/>
                    </a:moveTo>
                    <a:cubicBezTo>
                      <a:pt x="2048" y="524"/>
                      <a:pt x="1696" y="1048"/>
                      <a:pt x="1296" y="1056"/>
                    </a:cubicBezTo>
                    <a:cubicBezTo>
                      <a:pt x="896" y="1064"/>
                      <a:pt x="216" y="216"/>
                      <a:pt x="0" y="48"/>
                    </a:cubicBez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9293" name="Freeform 29"/>
              <p:cNvSpPr>
                <a:spLocks/>
              </p:cNvSpPr>
              <p:nvPr/>
            </p:nvSpPr>
            <p:spPr bwMode="auto">
              <a:xfrm>
                <a:off x="2301" y="2496"/>
                <a:ext cx="1588" cy="384"/>
              </a:xfrm>
              <a:custGeom>
                <a:avLst/>
                <a:gdLst/>
                <a:ahLst/>
                <a:cxnLst>
                  <a:cxn ang="0">
                    <a:pos x="1104" y="336"/>
                  </a:cxn>
                  <a:cxn ang="0">
                    <a:pos x="672" y="0"/>
                  </a:cxn>
                  <a:cxn ang="0">
                    <a:pos x="0" y="336"/>
                  </a:cxn>
                </a:cxnLst>
                <a:rect l="0" t="0" r="r" b="b"/>
                <a:pathLst>
                  <a:path w="1104" h="336">
                    <a:moveTo>
                      <a:pt x="1104" y="336"/>
                    </a:moveTo>
                    <a:cubicBezTo>
                      <a:pt x="980" y="168"/>
                      <a:pt x="856" y="0"/>
                      <a:pt x="672" y="0"/>
                    </a:cubicBezTo>
                    <a:cubicBezTo>
                      <a:pt x="488" y="0"/>
                      <a:pt x="112" y="280"/>
                      <a:pt x="0" y="336"/>
                    </a:cubicBez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9294" name="Line 30"/>
              <p:cNvSpPr>
                <a:spLocks noChangeShapeType="1"/>
              </p:cNvSpPr>
              <p:nvPr/>
            </p:nvSpPr>
            <p:spPr bwMode="auto">
              <a:xfrm rot="21300000" flipH="1" flipV="1">
                <a:off x="3549" y="2547"/>
                <a:ext cx="138" cy="144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9295" name="Line 31"/>
              <p:cNvSpPr>
                <a:spLocks noChangeShapeType="1"/>
              </p:cNvSpPr>
              <p:nvPr/>
            </p:nvSpPr>
            <p:spPr bwMode="auto">
              <a:xfrm>
                <a:off x="2301" y="2880"/>
                <a:ext cx="1588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9296" name="Line 32"/>
              <p:cNvSpPr>
                <a:spLocks noChangeShapeType="1"/>
              </p:cNvSpPr>
              <p:nvPr/>
            </p:nvSpPr>
            <p:spPr bwMode="auto">
              <a:xfrm flipH="1">
                <a:off x="2301" y="2880"/>
                <a:ext cx="1587" cy="624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9297" name="Oval 33"/>
              <p:cNvSpPr>
                <a:spLocks noChangeArrowheads="1"/>
              </p:cNvSpPr>
              <p:nvPr/>
            </p:nvSpPr>
            <p:spPr bwMode="auto">
              <a:xfrm>
                <a:off x="576" y="3120"/>
                <a:ext cx="131" cy="91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9298" name="Oval 34"/>
              <p:cNvSpPr>
                <a:spLocks noChangeArrowheads="1"/>
              </p:cNvSpPr>
              <p:nvPr/>
            </p:nvSpPr>
            <p:spPr bwMode="auto">
              <a:xfrm>
                <a:off x="1266" y="3120"/>
                <a:ext cx="131" cy="91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9299" name="Oval 35"/>
              <p:cNvSpPr>
                <a:spLocks noChangeArrowheads="1"/>
              </p:cNvSpPr>
              <p:nvPr/>
            </p:nvSpPr>
            <p:spPr bwMode="auto">
              <a:xfrm>
                <a:off x="2232" y="2832"/>
                <a:ext cx="131" cy="91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9300" name="Oval 36"/>
              <p:cNvSpPr>
                <a:spLocks noChangeArrowheads="1"/>
              </p:cNvSpPr>
              <p:nvPr/>
            </p:nvSpPr>
            <p:spPr bwMode="auto">
              <a:xfrm>
                <a:off x="2232" y="3456"/>
                <a:ext cx="131" cy="91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9301" name="Oval 37"/>
              <p:cNvSpPr>
                <a:spLocks noChangeArrowheads="1"/>
              </p:cNvSpPr>
              <p:nvPr/>
            </p:nvSpPr>
            <p:spPr bwMode="auto">
              <a:xfrm>
                <a:off x="3820" y="2832"/>
                <a:ext cx="131" cy="91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9302" name="Oval 38"/>
              <p:cNvSpPr>
                <a:spLocks noChangeArrowheads="1"/>
              </p:cNvSpPr>
              <p:nvPr/>
            </p:nvSpPr>
            <p:spPr bwMode="auto">
              <a:xfrm>
                <a:off x="4717" y="3120"/>
                <a:ext cx="131" cy="91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9303" name="Oval 39"/>
              <p:cNvSpPr>
                <a:spLocks noChangeArrowheads="1"/>
              </p:cNvSpPr>
              <p:nvPr/>
            </p:nvSpPr>
            <p:spPr bwMode="auto">
              <a:xfrm>
                <a:off x="3820" y="3456"/>
                <a:ext cx="131" cy="91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9304" name="Line 40"/>
              <p:cNvSpPr>
                <a:spLocks noChangeShapeType="1"/>
              </p:cNvSpPr>
              <p:nvPr/>
            </p:nvSpPr>
            <p:spPr bwMode="auto">
              <a:xfrm flipV="1">
                <a:off x="1404" y="2901"/>
                <a:ext cx="852" cy="24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9305" name="Line 41"/>
              <p:cNvSpPr>
                <a:spLocks noChangeShapeType="1"/>
              </p:cNvSpPr>
              <p:nvPr/>
            </p:nvSpPr>
            <p:spPr bwMode="auto">
              <a:xfrm>
                <a:off x="852" y="3168"/>
                <a:ext cx="138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9306" name="Line 42"/>
              <p:cNvSpPr>
                <a:spLocks noChangeShapeType="1"/>
              </p:cNvSpPr>
              <p:nvPr/>
            </p:nvSpPr>
            <p:spPr bwMode="auto">
              <a:xfrm flipV="1">
                <a:off x="1722" y="2958"/>
                <a:ext cx="276" cy="9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9307" name="Line 43"/>
              <p:cNvSpPr>
                <a:spLocks noChangeShapeType="1"/>
              </p:cNvSpPr>
              <p:nvPr/>
            </p:nvSpPr>
            <p:spPr bwMode="auto">
              <a:xfrm>
                <a:off x="1611" y="3264"/>
                <a:ext cx="276" cy="9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9308" name="Line 44"/>
              <p:cNvSpPr>
                <a:spLocks noChangeShapeType="1"/>
              </p:cNvSpPr>
              <p:nvPr/>
            </p:nvSpPr>
            <p:spPr bwMode="auto">
              <a:xfrm rot="300000" flipH="1">
                <a:off x="3406" y="2985"/>
                <a:ext cx="207" cy="9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9309" name="Line 45"/>
              <p:cNvSpPr>
                <a:spLocks noChangeShapeType="1"/>
              </p:cNvSpPr>
              <p:nvPr/>
            </p:nvSpPr>
            <p:spPr bwMode="auto">
              <a:xfrm flipH="1" flipV="1">
                <a:off x="3406" y="3294"/>
                <a:ext cx="207" cy="9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9310" name="Line 46"/>
              <p:cNvSpPr>
                <a:spLocks noChangeShapeType="1"/>
              </p:cNvSpPr>
              <p:nvPr/>
            </p:nvSpPr>
            <p:spPr bwMode="auto">
              <a:xfrm>
                <a:off x="4096" y="2946"/>
                <a:ext cx="276" cy="9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9311" name="Line 47"/>
              <p:cNvSpPr>
                <a:spLocks noChangeShapeType="1"/>
              </p:cNvSpPr>
              <p:nvPr/>
            </p:nvSpPr>
            <p:spPr bwMode="auto">
              <a:xfrm flipV="1">
                <a:off x="4165" y="3297"/>
                <a:ext cx="276" cy="9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9312" name="Line 48"/>
              <p:cNvSpPr>
                <a:spLocks noChangeShapeType="1"/>
              </p:cNvSpPr>
              <p:nvPr/>
            </p:nvSpPr>
            <p:spPr bwMode="auto">
              <a:xfrm flipH="1">
                <a:off x="3518" y="3726"/>
                <a:ext cx="138" cy="9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9313" name="Line 49"/>
              <p:cNvSpPr>
                <a:spLocks noChangeShapeType="1"/>
              </p:cNvSpPr>
              <p:nvPr/>
            </p:nvSpPr>
            <p:spPr bwMode="auto">
              <a:xfrm>
                <a:off x="2832" y="3504"/>
                <a:ext cx="336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9314" name="Line 50"/>
              <p:cNvSpPr>
                <a:spLocks noChangeShapeType="1"/>
              </p:cNvSpPr>
              <p:nvPr/>
            </p:nvSpPr>
            <p:spPr bwMode="auto">
              <a:xfrm>
                <a:off x="2928" y="2880"/>
                <a:ext cx="288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9315" name="Line 51"/>
              <p:cNvSpPr>
                <a:spLocks noChangeShapeType="1"/>
              </p:cNvSpPr>
              <p:nvPr/>
            </p:nvSpPr>
            <p:spPr bwMode="auto">
              <a:xfrm flipH="1" flipV="1">
                <a:off x="2256" y="3792"/>
                <a:ext cx="144" cy="9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39316" name="Text Box 52"/>
            <p:cNvSpPr txBox="1">
              <a:spLocks noChangeArrowheads="1"/>
            </p:cNvSpPr>
            <p:nvPr/>
          </p:nvSpPr>
          <p:spPr bwMode="auto">
            <a:xfrm>
              <a:off x="834" y="2980"/>
              <a:ext cx="209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</a:p>
          </p:txBody>
        </p:sp>
        <p:sp>
          <p:nvSpPr>
            <p:cNvPr id="139317" name="Text Box 53"/>
            <p:cNvSpPr txBox="1">
              <a:spLocks noChangeArrowheads="1"/>
            </p:cNvSpPr>
            <p:nvPr/>
          </p:nvSpPr>
          <p:spPr bwMode="auto">
            <a:xfrm>
              <a:off x="1728" y="2779"/>
              <a:ext cx="384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>
                  <a:solidFill>
                    <a:srgbClr val="990000"/>
                  </a:solidFill>
                </a:rPr>
                <a:t>-</a:t>
              </a:r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  <a:r>
                <a:rPr lang="en-US" altLang="zh-CN">
                  <a:solidFill>
                    <a:srgbClr val="FF3300"/>
                  </a:solidFill>
                </a:rPr>
                <a:t> </a:t>
              </a:r>
            </a:p>
          </p:txBody>
        </p:sp>
        <p:sp>
          <p:nvSpPr>
            <p:cNvPr id="139318" name="Text Box 54"/>
            <p:cNvSpPr txBox="1">
              <a:spLocks noChangeArrowheads="1"/>
            </p:cNvSpPr>
            <p:nvPr/>
          </p:nvSpPr>
          <p:spPr bwMode="auto">
            <a:xfrm>
              <a:off x="1803" y="3160"/>
              <a:ext cx="209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</a:p>
          </p:txBody>
        </p:sp>
        <p:sp>
          <p:nvSpPr>
            <p:cNvPr id="139319" name="Text Box 55"/>
            <p:cNvSpPr txBox="1">
              <a:spLocks noChangeArrowheads="1"/>
            </p:cNvSpPr>
            <p:nvPr/>
          </p:nvSpPr>
          <p:spPr bwMode="auto">
            <a:xfrm>
              <a:off x="3519" y="2442"/>
              <a:ext cx="384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>
                  <a:solidFill>
                    <a:srgbClr val="990000"/>
                  </a:solidFill>
                </a:rPr>
                <a:t>-</a:t>
              </a:r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  <a:r>
                <a:rPr lang="en-US" altLang="zh-CN">
                  <a:solidFill>
                    <a:srgbClr val="FF3300"/>
                  </a:solidFill>
                </a:rPr>
                <a:t> </a:t>
              </a:r>
            </a:p>
          </p:txBody>
        </p:sp>
        <p:sp>
          <p:nvSpPr>
            <p:cNvPr id="139320" name="Text Box 56"/>
            <p:cNvSpPr txBox="1">
              <a:spLocks noChangeArrowheads="1"/>
            </p:cNvSpPr>
            <p:nvPr/>
          </p:nvSpPr>
          <p:spPr bwMode="auto">
            <a:xfrm>
              <a:off x="3216" y="2905"/>
              <a:ext cx="38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>
                  <a:solidFill>
                    <a:srgbClr val="990000"/>
                  </a:solidFill>
                </a:rPr>
                <a:t>-</a:t>
              </a:r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  <a:r>
                <a:rPr lang="en-US" altLang="zh-CN">
                  <a:solidFill>
                    <a:srgbClr val="FF3300"/>
                  </a:solidFill>
                </a:rPr>
                <a:t> </a:t>
              </a:r>
            </a:p>
          </p:txBody>
        </p:sp>
        <p:sp>
          <p:nvSpPr>
            <p:cNvPr id="139321" name="Text Box 57"/>
            <p:cNvSpPr txBox="1">
              <a:spLocks noChangeArrowheads="1"/>
            </p:cNvSpPr>
            <p:nvPr/>
          </p:nvSpPr>
          <p:spPr bwMode="auto">
            <a:xfrm>
              <a:off x="2064" y="3770"/>
              <a:ext cx="384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>
                  <a:solidFill>
                    <a:srgbClr val="990000"/>
                  </a:solidFill>
                </a:rPr>
                <a:t>-</a:t>
              </a:r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  <a:r>
                <a:rPr lang="en-US" altLang="zh-CN">
                  <a:solidFill>
                    <a:srgbClr val="FF3300"/>
                  </a:solidFill>
                </a:rPr>
                <a:t> </a:t>
              </a:r>
            </a:p>
          </p:txBody>
        </p:sp>
        <p:sp>
          <p:nvSpPr>
            <p:cNvPr id="139322" name="Text Box 58"/>
            <p:cNvSpPr txBox="1">
              <a:spLocks noChangeArrowheads="1"/>
            </p:cNvSpPr>
            <p:nvPr/>
          </p:nvSpPr>
          <p:spPr bwMode="auto">
            <a:xfrm>
              <a:off x="3510" y="3744"/>
              <a:ext cx="384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>
                  <a:solidFill>
                    <a:srgbClr val="990000"/>
                  </a:solidFill>
                </a:rPr>
                <a:t>-</a:t>
              </a:r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  <a:r>
                <a:rPr lang="en-US" altLang="zh-CN">
                  <a:solidFill>
                    <a:srgbClr val="FF3300"/>
                  </a:solidFill>
                </a:rPr>
                <a:t> </a:t>
              </a:r>
            </a:p>
          </p:txBody>
        </p:sp>
        <p:sp>
          <p:nvSpPr>
            <p:cNvPr id="139323" name="Text Box 59"/>
            <p:cNvSpPr txBox="1">
              <a:spLocks noChangeArrowheads="1"/>
            </p:cNvSpPr>
            <p:nvPr/>
          </p:nvSpPr>
          <p:spPr bwMode="auto">
            <a:xfrm>
              <a:off x="4236" y="2815"/>
              <a:ext cx="209" cy="2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</a:p>
          </p:txBody>
        </p:sp>
        <p:sp>
          <p:nvSpPr>
            <p:cNvPr id="139324" name="Text Box 60"/>
            <p:cNvSpPr txBox="1">
              <a:spLocks noChangeArrowheads="1"/>
            </p:cNvSpPr>
            <p:nvPr/>
          </p:nvSpPr>
          <p:spPr bwMode="auto">
            <a:xfrm>
              <a:off x="4224" y="3133"/>
              <a:ext cx="210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</a:p>
          </p:txBody>
        </p:sp>
        <p:sp>
          <p:nvSpPr>
            <p:cNvPr id="139325" name="Text Box 61"/>
            <p:cNvSpPr txBox="1">
              <a:spLocks noChangeArrowheads="1"/>
            </p:cNvSpPr>
            <p:nvPr/>
          </p:nvSpPr>
          <p:spPr bwMode="auto">
            <a:xfrm>
              <a:off x="3024" y="2696"/>
              <a:ext cx="292" cy="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990000"/>
                  </a:solidFill>
                </a:rPr>
                <a:t>G</a:t>
              </a:r>
              <a:r>
                <a:rPr lang="en-US" altLang="zh-CN" sz="2000" b="1" baseline="-25000">
                  <a:solidFill>
                    <a:srgbClr val="990000"/>
                  </a:solidFill>
                </a:rPr>
                <a:t>1</a:t>
              </a:r>
            </a:p>
          </p:txBody>
        </p:sp>
        <p:sp>
          <p:nvSpPr>
            <p:cNvPr id="139326" name="Text Box 62"/>
            <p:cNvSpPr txBox="1">
              <a:spLocks noChangeArrowheads="1"/>
            </p:cNvSpPr>
            <p:nvPr/>
          </p:nvSpPr>
          <p:spPr bwMode="auto">
            <a:xfrm>
              <a:off x="2976" y="3269"/>
              <a:ext cx="292" cy="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990000"/>
                  </a:solidFill>
                </a:rPr>
                <a:t>G</a:t>
              </a:r>
              <a:r>
                <a:rPr lang="en-US" altLang="zh-CN" sz="2000" b="1" baseline="-25000">
                  <a:solidFill>
                    <a:srgbClr val="990000"/>
                  </a:solidFill>
                </a:rPr>
                <a:t>2</a:t>
              </a:r>
            </a:p>
          </p:txBody>
        </p:sp>
        <p:sp>
          <p:nvSpPr>
            <p:cNvPr id="139327" name="Text Box 63"/>
            <p:cNvSpPr txBox="1">
              <a:spLocks noChangeArrowheads="1"/>
            </p:cNvSpPr>
            <p:nvPr/>
          </p:nvSpPr>
          <p:spPr bwMode="auto">
            <a:xfrm>
              <a:off x="3465" y="3160"/>
              <a:ext cx="209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990000"/>
                  </a:solidFill>
                </a:rPr>
                <a:t>1</a:t>
              </a:r>
            </a:p>
          </p:txBody>
        </p:sp>
        <p:sp>
          <p:nvSpPr>
            <p:cNvPr id="139328" name="Text Box 64"/>
            <p:cNvSpPr txBox="1">
              <a:spLocks noChangeArrowheads="1"/>
            </p:cNvSpPr>
            <p:nvPr/>
          </p:nvSpPr>
          <p:spPr bwMode="auto">
            <a:xfrm>
              <a:off x="459" y="2932"/>
              <a:ext cx="427" cy="2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R(s)</a:t>
              </a:r>
            </a:p>
          </p:txBody>
        </p:sp>
        <p:sp>
          <p:nvSpPr>
            <p:cNvPr id="139329" name="Text Box 65"/>
            <p:cNvSpPr txBox="1">
              <a:spLocks noChangeArrowheads="1"/>
            </p:cNvSpPr>
            <p:nvPr/>
          </p:nvSpPr>
          <p:spPr bwMode="auto">
            <a:xfrm>
              <a:off x="1152" y="2928"/>
              <a:ext cx="418" cy="2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E(s)</a:t>
              </a:r>
            </a:p>
          </p:txBody>
        </p:sp>
        <p:sp>
          <p:nvSpPr>
            <p:cNvPr id="139330" name="Text Box 66"/>
            <p:cNvSpPr txBox="1">
              <a:spLocks noChangeArrowheads="1"/>
            </p:cNvSpPr>
            <p:nvPr/>
          </p:nvSpPr>
          <p:spPr bwMode="auto">
            <a:xfrm>
              <a:off x="4605" y="2913"/>
              <a:ext cx="428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C(s)</a:t>
              </a:r>
            </a:p>
          </p:txBody>
        </p:sp>
        <p:sp>
          <p:nvSpPr>
            <p:cNvPr id="139331" name="Text Box 67"/>
            <p:cNvSpPr txBox="1">
              <a:spLocks noChangeArrowheads="1"/>
            </p:cNvSpPr>
            <p:nvPr/>
          </p:nvSpPr>
          <p:spPr bwMode="auto">
            <a:xfrm>
              <a:off x="2160" y="2640"/>
              <a:ext cx="284" cy="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X</a:t>
              </a:r>
              <a:r>
                <a:rPr lang="en-US" altLang="zh-CN" sz="2000" b="1" baseline="-250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139332" name="Text Box 68"/>
            <p:cNvSpPr txBox="1">
              <a:spLocks noChangeArrowheads="1"/>
            </p:cNvSpPr>
            <p:nvPr/>
          </p:nvSpPr>
          <p:spPr bwMode="auto">
            <a:xfrm>
              <a:off x="2160" y="3216"/>
              <a:ext cx="284" cy="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X</a:t>
              </a:r>
              <a:r>
                <a:rPr lang="en-US" altLang="zh-CN" sz="2000" b="1" baseline="-25000">
                  <a:solidFill>
                    <a:srgbClr val="FF3300"/>
                  </a:solidFill>
                </a:rPr>
                <a:t>2</a:t>
              </a:r>
            </a:p>
          </p:txBody>
        </p:sp>
        <p:sp>
          <p:nvSpPr>
            <p:cNvPr id="139333" name="Text Box 69"/>
            <p:cNvSpPr txBox="1">
              <a:spLocks noChangeArrowheads="1"/>
            </p:cNvSpPr>
            <p:nvPr/>
          </p:nvSpPr>
          <p:spPr bwMode="auto">
            <a:xfrm>
              <a:off x="3762" y="3198"/>
              <a:ext cx="284" cy="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Y</a:t>
              </a:r>
              <a:r>
                <a:rPr lang="en-US" altLang="zh-CN" sz="2000" b="1" baseline="-25000">
                  <a:solidFill>
                    <a:srgbClr val="FF3300"/>
                  </a:solidFill>
                </a:rPr>
                <a:t>2</a:t>
              </a:r>
            </a:p>
          </p:txBody>
        </p:sp>
        <p:sp>
          <p:nvSpPr>
            <p:cNvPr id="139334" name="Text Box 70"/>
            <p:cNvSpPr txBox="1">
              <a:spLocks noChangeArrowheads="1"/>
            </p:cNvSpPr>
            <p:nvPr/>
          </p:nvSpPr>
          <p:spPr bwMode="auto">
            <a:xfrm>
              <a:off x="3791" y="2640"/>
              <a:ext cx="285" cy="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 b="1">
                  <a:solidFill>
                    <a:srgbClr val="FF3300"/>
                  </a:solidFill>
                </a:rPr>
                <a:t>Y</a:t>
              </a:r>
              <a:r>
                <a:rPr lang="en-US" altLang="zh-CN" sz="2000" b="1" baseline="-25000">
                  <a:solidFill>
                    <a:srgbClr val="FF3300"/>
                  </a:solidFill>
                </a:rPr>
                <a:t>1</a:t>
              </a:r>
            </a:p>
          </p:txBody>
        </p:sp>
      </p:grpSp>
      <p:graphicFrame>
        <p:nvGraphicFramePr>
          <p:cNvPr id="139335" name="Object 71"/>
          <p:cNvGraphicFramePr>
            <a:graphicFrameLocks noChangeAspect="1"/>
          </p:cNvGraphicFramePr>
          <p:nvPr/>
        </p:nvGraphicFramePr>
        <p:xfrm>
          <a:off x="2971800" y="3781425"/>
          <a:ext cx="32766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33440" imgH="215640" progId="Equation.3">
                  <p:embed/>
                </p:oleObj>
              </mc:Choice>
              <mc:Fallback>
                <p:oleObj name="Equation" r:id="rId2" imgW="1333440" imgH="215640" progId="Equation.3">
                  <p:embed/>
                  <p:pic>
                    <p:nvPicPr>
                      <p:cNvPr id="139335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3781425"/>
                        <a:ext cx="3276600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336" name="Text Box 72"/>
          <p:cNvSpPr txBox="1">
            <a:spLocks noChangeArrowheads="1"/>
          </p:cNvSpPr>
          <p:nvPr/>
        </p:nvSpPr>
        <p:spPr bwMode="auto">
          <a:xfrm>
            <a:off x="1524000" y="3810000"/>
            <a:ext cx="946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b="1" i="1">
                <a:solidFill>
                  <a:schemeClr val="accent2"/>
                </a:solidFill>
              </a:rPr>
              <a:t>Then:</a:t>
            </a:r>
          </a:p>
        </p:txBody>
      </p:sp>
      <p:sp>
        <p:nvSpPr>
          <p:cNvPr id="139337" name="Text Box 73"/>
          <p:cNvSpPr txBox="1">
            <a:spLocks noChangeArrowheads="1"/>
          </p:cNvSpPr>
          <p:nvPr/>
        </p:nvSpPr>
        <p:spPr bwMode="auto">
          <a:xfrm>
            <a:off x="228600" y="4495800"/>
            <a:ext cx="23447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b="1" i="1">
                <a:solidFill>
                  <a:schemeClr val="accent2"/>
                </a:solidFill>
              </a:rPr>
              <a:t>4 forward paths:</a:t>
            </a:r>
            <a:r>
              <a:rPr lang="en-US" altLang="zh-CN"/>
              <a:t> </a:t>
            </a:r>
          </a:p>
        </p:txBody>
      </p:sp>
      <p:graphicFrame>
        <p:nvGraphicFramePr>
          <p:cNvPr id="139338" name="Object 74"/>
          <p:cNvGraphicFramePr>
            <a:graphicFrameLocks noChangeAspect="1"/>
          </p:cNvGraphicFramePr>
          <p:nvPr/>
        </p:nvGraphicFramePr>
        <p:xfrm>
          <a:off x="3048000" y="4572000"/>
          <a:ext cx="4233863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08160" imgH="215640" progId="Equation.3">
                  <p:embed/>
                </p:oleObj>
              </mc:Choice>
              <mc:Fallback>
                <p:oleObj name="Equation" r:id="rId4" imgW="2108160" imgH="215640" progId="Equation.3">
                  <p:embed/>
                  <p:pic>
                    <p:nvPicPr>
                      <p:cNvPr id="139338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572000"/>
                        <a:ext cx="4233863" cy="477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339" name="Object 75"/>
          <p:cNvGraphicFramePr>
            <a:graphicFrameLocks noChangeAspect="1"/>
          </p:cNvGraphicFramePr>
          <p:nvPr/>
        </p:nvGraphicFramePr>
        <p:xfrm>
          <a:off x="1752600" y="5029200"/>
          <a:ext cx="4884738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50880" imgH="215640" progId="Equation.3">
                  <p:embed/>
                </p:oleObj>
              </mc:Choice>
              <mc:Fallback>
                <p:oleObj name="Equation" r:id="rId6" imgW="2450880" imgH="215640" progId="Equation.3">
                  <p:embed/>
                  <p:pic>
                    <p:nvPicPr>
                      <p:cNvPr id="139339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5029200"/>
                        <a:ext cx="4884738" cy="465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340" name="Object 76"/>
          <p:cNvGraphicFramePr>
            <a:graphicFrameLocks noChangeAspect="1"/>
          </p:cNvGraphicFramePr>
          <p:nvPr/>
        </p:nvGraphicFramePr>
        <p:xfrm>
          <a:off x="3048000" y="5486400"/>
          <a:ext cx="4546600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03240" imgH="228600" progId="Equation.3">
                  <p:embed/>
                </p:oleObj>
              </mc:Choice>
              <mc:Fallback>
                <p:oleObj name="Equation" r:id="rId8" imgW="1803240" imgH="228600" progId="Equation.3">
                  <p:embed/>
                  <p:pic>
                    <p:nvPicPr>
                      <p:cNvPr id="139340" name="Object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486400"/>
                        <a:ext cx="4546600" cy="509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341" name="Object 77"/>
          <p:cNvGraphicFramePr>
            <a:graphicFrameLocks noChangeAspect="1"/>
          </p:cNvGraphicFramePr>
          <p:nvPr/>
        </p:nvGraphicFramePr>
        <p:xfrm>
          <a:off x="2133600" y="6019800"/>
          <a:ext cx="462121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04760" imgH="215640" progId="Equation.3">
                  <p:embed/>
                </p:oleObj>
              </mc:Choice>
              <mc:Fallback>
                <p:oleObj name="Equation" r:id="rId10" imgW="1904760" imgH="215640" progId="Equation.3">
                  <p:embed/>
                  <p:pic>
                    <p:nvPicPr>
                      <p:cNvPr id="139341" name="Object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6019800"/>
                        <a:ext cx="4621213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102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336" grpId="0" autoUpdateAnimBg="0"/>
      <p:bldP spid="139337" grpId="0" autoUpdateAnimBg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88640"/>
            <a:ext cx="7772400" cy="762000"/>
          </a:xfrm>
        </p:spPr>
        <p:txBody>
          <a:bodyPr/>
          <a:lstStyle/>
          <a:p>
            <a:r>
              <a:rPr lang="en-GB" sz="3200" dirty="0" err="1"/>
              <a:t>Example#6</a:t>
            </a:r>
            <a:endParaRPr lang="en-US" altLang="zh-CN" sz="3200" b="1" dirty="0">
              <a:solidFill>
                <a:srgbClr val="FF0000"/>
              </a:solidFill>
            </a:endParaRPr>
          </a:p>
        </p:txBody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1524000" cy="5334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400" b="1">
                <a:solidFill>
                  <a:schemeClr val="accent2"/>
                </a:solidFill>
              </a:rPr>
              <a:t>We have</a:t>
            </a:r>
            <a:endParaRPr lang="en-US" altLang="zh-CN" b="1"/>
          </a:p>
        </p:txBody>
      </p:sp>
      <p:graphicFrame>
        <p:nvGraphicFramePr>
          <p:cNvPr id="140292" name="Object 4"/>
          <p:cNvGraphicFramePr>
            <a:graphicFrameLocks noChangeAspect="1"/>
          </p:cNvGraphicFramePr>
          <p:nvPr/>
        </p:nvGraphicFramePr>
        <p:xfrm>
          <a:off x="2312988" y="1792288"/>
          <a:ext cx="4000500" cy="158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09400" imgH="723600" progId="Equation.3">
                  <p:embed/>
                </p:oleObj>
              </mc:Choice>
              <mc:Fallback>
                <p:oleObj name="Equation" r:id="rId2" imgW="1409400" imgH="723600" progId="Equation.3">
                  <p:embed/>
                  <p:pic>
                    <p:nvPicPr>
                      <p:cNvPr id="14029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2988" y="1792288"/>
                        <a:ext cx="4000500" cy="1582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103</a:t>
            </a:fld>
            <a:endParaRPr lang="en-GB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8162" y="764704"/>
            <a:ext cx="6286206" cy="194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305800" cy="578328"/>
          </a:xfrm>
        </p:spPr>
        <p:txBody>
          <a:bodyPr>
            <a:noAutofit/>
          </a:bodyPr>
          <a:lstStyle/>
          <a:p>
            <a:r>
              <a:rPr lang="en-GB" sz="2000" b="1" dirty="0"/>
              <a:t>Example-7:</a:t>
            </a:r>
            <a:r>
              <a:rPr lang="en-GB" sz="2000" dirty="0"/>
              <a:t> Determine the transfer function C/R for the block diagram below by signal flow graph techniques.</a:t>
            </a: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3068960"/>
            <a:ext cx="6432538" cy="208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446" y="5938986"/>
            <a:ext cx="4972050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5496" y="3140968"/>
            <a:ext cx="7920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sz="1400" dirty="0"/>
              <a:t>The signal flow graph of the above block diagram is shown below.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496" y="3553852"/>
            <a:ext cx="4176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sz="1400" dirty="0"/>
              <a:t>There are two forward paths. The path gains are</a:t>
            </a:r>
          </a:p>
        </p:txBody>
      </p:sp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861048"/>
            <a:ext cx="1800225" cy="20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5914" y="4201343"/>
            <a:ext cx="31683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sz="1400" dirty="0"/>
              <a:t>The three feedback loop gains are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467544" y="4509120"/>
            <a:ext cx="3312368" cy="219075"/>
            <a:chOff x="467544" y="4938117"/>
            <a:chExt cx="3312368" cy="219075"/>
          </a:xfrm>
        </p:grpSpPr>
        <p:pic>
          <p:nvPicPr>
            <p:cNvPr id="4106" name="Picture 10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544" y="4938117"/>
              <a:ext cx="2114550" cy="2190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107" name="Picture 11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0237" y="4947642"/>
              <a:ext cx="1209675" cy="209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7" name="TextBox 6"/>
          <p:cNvSpPr txBox="1"/>
          <p:nvPr/>
        </p:nvSpPr>
        <p:spPr>
          <a:xfrm>
            <a:off x="107504" y="4869160"/>
            <a:ext cx="31683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sz="1400" dirty="0"/>
              <a:t>No loops are non-touching, hence </a:t>
            </a:r>
          </a:p>
        </p:txBody>
      </p:sp>
      <p:pic>
        <p:nvPicPr>
          <p:cNvPr id="4108" name="Picture 12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569" y="5157192"/>
            <a:ext cx="1781175" cy="20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07504" y="6093296"/>
            <a:ext cx="3456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sz="1400" dirty="0"/>
              <a:t>Since no loops touch the nodes of P2, therefore </a:t>
            </a:r>
          </a:p>
        </p:txBody>
      </p:sp>
      <p:pic>
        <p:nvPicPr>
          <p:cNvPr id="4109" name="Picture 13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069" y="6381328"/>
            <a:ext cx="5715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107504" y="5498068"/>
            <a:ext cx="3672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sz="1400" dirty="0"/>
              <a:t>Because the loops touch the nodes of P1, hence </a:t>
            </a:r>
          </a:p>
        </p:txBody>
      </p:sp>
      <p:pic>
        <p:nvPicPr>
          <p:cNvPr id="4110" name="Picture 14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931" y="5758780"/>
            <a:ext cx="466725" cy="19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4067944" y="5445224"/>
            <a:ext cx="31683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sz="1400" dirty="0"/>
              <a:t>Hence the control ratio T = C/R is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104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492487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181"/>
            <a:ext cx="8305800" cy="434312"/>
          </a:xfrm>
        </p:spPr>
        <p:txBody>
          <a:bodyPr>
            <a:normAutofit/>
          </a:bodyPr>
          <a:lstStyle/>
          <a:p>
            <a:r>
              <a:rPr lang="en-GB" sz="2200" b="1" dirty="0"/>
              <a:t>Example-6</a:t>
            </a:r>
            <a:r>
              <a:rPr lang="en-GB" sz="2200" dirty="0"/>
              <a:t>: Find the control ratio C/R for the system given below. 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620688"/>
            <a:ext cx="6429851" cy="1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7257" y="2996952"/>
            <a:ext cx="6353175" cy="192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07504" y="4077072"/>
            <a:ext cx="31683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sz="1400" dirty="0"/>
              <a:t>The two forward path gains are</a:t>
            </a:r>
          </a:p>
        </p:txBody>
      </p:sp>
      <p:grpSp>
        <p:nvGrpSpPr>
          <p:cNvPr id="3" name="Group 5"/>
          <p:cNvGrpSpPr/>
          <p:nvPr/>
        </p:nvGrpSpPr>
        <p:grpSpPr>
          <a:xfrm>
            <a:off x="467544" y="4365104"/>
            <a:ext cx="2331318" cy="238125"/>
            <a:chOff x="467544" y="4365104"/>
            <a:chExt cx="2331318" cy="238125"/>
          </a:xfrm>
        </p:grpSpPr>
        <p:pic>
          <p:nvPicPr>
            <p:cNvPr id="2052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544" y="4365104"/>
              <a:ext cx="1438275" cy="2190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53" name="Picture 5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9712" y="4365104"/>
              <a:ext cx="819150" cy="23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8" name="TextBox 7"/>
          <p:cNvSpPr txBox="1"/>
          <p:nvPr/>
        </p:nvSpPr>
        <p:spPr>
          <a:xfrm>
            <a:off x="107504" y="3140968"/>
            <a:ext cx="3854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sz="1400" dirty="0"/>
              <a:t>The signal flow graph is shown in the figure.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504" y="4725144"/>
            <a:ext cx="31683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sz="1400" dirty="0"/>
              <a:t>The five feedback loop gains are</a:t>
            </a:r>
          </a:p>
        </p:txBody>
      </p:sp>
      <p:grpSp>
        <p:nvGrpSpPr>
          <p:cNvPr id="4" name="Group 6"/>
          <p:cNvGrpSpPr/>
          <p:nvPr/>
        </p:nvGrpSpPr>
        <p:grpSpPr>
          <a:xfrm>
            <a:off x="467544" y="5013176"/>
            <a:ext cx="3790950" cy="545207"/>
            <a:chOff x="467544" y="5260057"/>
            <a:chExt cx="3790950" cy="545207"/>
          </a:xfrm>
        </p:grpSpPr>
        <p:pic>
          <p:nvPicPr>
            <p:cNvPr id="2055" name="Picture 7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544" y="5260057"/>
              <a:ext cx="3790950" cy="257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6" name="Group 2"/>
            <p:cNvGrpSpPr/>
            <p:nvPr/>
          </p:nvGrpSpPr>
          <p:grpSpPr>
            <a:xfrm>
              <a:off x="467544" y="5567139"/>
              <a:ext cx="2520280" cy="238125"/>
              <a:chOff x="467544" y="5495131"/>
              <a:chExt cx="2520280" cy="238125"/>
            </a:xfrm>
          </p:grpSpPr>
          <p:pic>
            <p:nvPicPr>
              <p:cNvPr id="2057" name="Picture 9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7544" y="5504656"/>
                <a:ext cx="962025" cy="228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2058" name="Picture 10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92399" y="5495131"/>
                <a:ext cx="1495425" cy="2381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</p:grpSp>
      <p:grpSp>
        <p:nvGrpSpPr>
          <p:cNvPr id="7" name="Group 3"/>
          <p:cNvGrpSpPr/>
          <p:nvPr/>
        </p:nvGrpSpPr>
        <p:grpSpPr>
          <a:xfrm>
            <a:off x="4708552" y="5466556"/>
            <a:ext cx="4183928" cy="554732"/>
            <a:chOff x="467544" y="5970612"/>
            <a:chExt cx="4183928" cy="554732"/>
          </a:xfrm>
        </p:grpSpPr>
        <p:pic>
          <p:nvPicPr>
            <p:cNvPr id="2059" name="Picture 11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544" y="5970612"/>
              <a:ext cx="2971800" cy="266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60" name="Picture 12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3347" y="6296744"/>
              <a:ext cx="4048125" cy="22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2061" name="Picture 13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7616" y="6165304"/>
            <a:ext cx="5638800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07504" y="6309320"/>
            <a:ext cx="31683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sz="1400" dirty="0"/>
              <a:t>Hence the control ratio T = 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2390" y="5157192"/>
            <a:ext cx="35619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sz="1400" dirty="0"/>
              <a:t>There are no non-touching loops, hence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505" y="5661248"/>
            <a:ext cx="3854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sz="1400" dirty="0"/>
              <a:t>All feedback loops touches the two forward paths, hence</a:t>
            </a:r>
          </a:p>
        </p:txBody>
      </p:sp>
      <p:pic>
        <p:nvPicPr>
          <p:cNvPr id="2064" name="Picture 16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5949280"/>
            <a:ext cx="962025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105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836134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en-GB" sz="3800" dirty="0"/>
              <a:t>Design </a:t>
            </a:r>
            <a:r>
              <a:rPr lang="en-GB" sz="3800" dirty="0" err="1"/>
              <a:t>Example#1</a:t>
            </a:r>
            <a:endParaRPr lang="en-GB" sz="3800" dirty="0"/>
          </a:p>
        </p:txBody>
      </p:sp>
      <p:pic>
        <p:nvPicPr>
          <p:cNvPr id="1699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9752" y="1052736"/>
            <a:ext cx="4276725" cy="176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8" name="Group 17"/>
          <p:cNvGrpSpPr/>
          <p:nvPr/>
        </p:nvGrpSpPr>
        <p:grpSpPr>
          <a:xfrm>
            <a:off x="300038" y="3213100"/>
            <a:ext cx="3335337" cy="1450975"/>
            <a:chOff x="300038" y="3213100"/>
            <a:chExt cx="3335337" cy="1450975"/>
          </a:xfrm>
        </p:grpSpPr>
        <p:graphicFrame>
          <p:nvGraphicFramePr>
            <p:cNvPr id="8" name="Object 7"/>
            <p:cNvGraphicFramePr>
              <a:graphicFrameLocks noChangeAspect="1"/>
            </p:cNvGraphicFramePr>
            <p:nvPr/>
          </p:nvGraphicFramePr>
          <p:xfrm>
            <a:off x="300038" y="3213100"/>
            <a:ext cx="3335337" cy="898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320480" imgH="355320" progId="Equation.3">
                    <p:embed/>
                  </p:oleObj>
                </mc:Choice>
                <mc:Fallback>
                  <p:oleObj name="Equation" r:id="rId3" imgW="1320480" imgH="355320" progId="Equation.3">
                    <p:embed/>
                    <p:pic>
                      <p:nvPicPr>
                        <p:cNvPr id="8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0038" y="3213100"/>
                          <a:ext cx="3335337" cy="8985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9988" name="Object 4"/>
            <p:cNvGraphicFramePr>
              <a:graphicFrameLocks noChangeAspect="1"/>
            </p:cNvGraphicFramePr>
            <p:nvPr/>
          </p:nvGraphicFramePr>
          <p:xfrm>
            <a:off x="404813" y="4149725"/>
            <a:ext cx="2020887" cy="514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799920" imgH="203040" progId="Equation.3">
                    <p:embed/>
                  </p:oleObj>
                </mc:Choice>
                <mc:Fallback>
                  <p:oleObj name="Equation" r:id="rId5" imgW="799920" imgH="203040" progId="Equation.3">
                    <p:embed/>
                    <p:pic>
                      <p:nvPicPr>
                        <p:cNvPr id="169988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813" y="4149725"/>
                          <a:ext cx="2020887" cy="5143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Group 18"/>
          <p:cNvGrpSpPr/>
          <p:nvPr/>
        </p:nvGrpSpPr>
        <p:grpSpPr>
          <a:xfrm>
            <a:off x="3779912" y="3573016"/>
            <a:ext cx="4640188" cy="1080120"/>
            <a:chOff x="3779912" y="3573016"/>
            <a:chExt cx="4640188" cy="1080120"/>
          </a:xfrm>
        </p:grpSpPr>
        <p:graphicFrame>
          <p:nvGraphicFramePr>
            <p:cNvPr id="169989" name="Object 5"/>
            <p:cNvGraphicFramePr>
              <a:graphicFrameLocks noChangeAspect="1"/>
            </p:cNvGraphicFramePr>
            <p:nvPr/>
          </p:nvGraphicFramePr>
          <p:xfrm>
            <a:off x="4956175" y="3860800"/>
            <a:ext cx="3463925" cy="512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371600" imgH="203040" progId="Equation.3">
                    <p:embed/>
                  </p:oleObj>
                </mc:Choice>
                <mc:Fallback>
                  <p:oleObj name="Equation" r:id="rId7" imgW="1371600" imgH="203040" progId="Equation.3">
                    <p:embed/>
                    <p:pic>
                      <p:nvPicPr>
                        <p:cNvPr id="169989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56175" y="3860800"/>
                          <a:ext cx="3463925" cy="5127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Right Brace 9"/>
            <p:cNvSpPr/>
            <p:nvPr/>
          </p:nvSpPr>
          <p:spPr>
            <a:xfrm>
              <a:off x="3779912" y="3573016"/>
              <a:ext cx="216024" cy="1080120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ight Arrow 10"/>
            <p:cNvSpPr/>
            <p:nvPr/>
          </p:nvSpPr>
          <p:spPr>
            <a:xfrm>
              <a:off x="4067944" y="3988476"/>
              <a:ext cx="720080" cy="21602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2275512" y="5775672"/>
            <a:ext cx="4744760" cy="605656"/>
            <a:chOff x="1259632" y="5877272"/>
            <a:chExt cx="4744760" cy="605656"/>
          </a:xfrm>
        </p:grpSpPr>
        <p:sp>
          <p:nvSpPr>
            <p:cNvPr id="12" name="Oval 11"/>
            <p:cNvSpPr/>
            <p:nvPr/>
          </p:nvSpPr>
          <p:spPr>
            <a:xfrm>
              <a:off x="1475656" y="5877272"/>
              <a:ext cx="144016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Oval 12"/>
            <p:cNvSpPr/>
            <p:nvPr/>
          </p:nvSpPr>
          <p:spPr>
            <a:xfrm>
              <a:off x="3635896" y="5877272"/>
              <a:ext cx="144016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Oval 13"/>
            <p:cNvSpPr/>
            <p:nvPr/>
          </p:nvSpPr>
          <p:spPr>
            <a:xfrm>
              <a:off x="5724128" y="5877272"/>
              <a:ext cx="144016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aphicFrame>
          <p:nvGraphicFramePr>
            <p:cNvPr id="169990" name="Object 6"/>
            <p:cNvGraphicFramePr>
              <a:graphicFrameLocks noChangeAspect="1"/>
            </p:cNvGraphicFramePr>
            <p:nvPr/>
          </p:nvGraphicFramePr>
          <p:xfrm>
            <a:off x="1259632" y="6093296"/>
            <a:ext cx="537989" cy="3593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304560" imgH="203040" progId="Equation.3">
                    <p:embed/>
                  </p:oleObj>
                </mc:Choice>
                <mc:Fallback>
                  <p:oleObj name="Equation" r:id="rId9" imgW="304560" imgH="203040" progId="Equation.3">
                    <p:embed/>
                    <p:pic>
                      <p:nvPicPr>
                        <p:cNvPr id="16999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9632" y="6093296"/>
                          <a:ext cx="537989" cy="35939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9991" name="Object 7"/>
            <p:cNvGraphicFramePr>
              <a:graphicFrameLocks noChangeAspect="1"/>
            </p:cNvGraphicFramePr>
            <p:nvPr/>
          </p:nvGraphicFramePr>
          <p:xfrm>
            <a:off x="3539351" y="6165304"/>
            <a:ext cx="456585" cy="317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291960" imgH="203040" progId="Equation.3">
                    <p:embed/>
                  </p:oleObj>
                </mc:Choice>
                <mc:Fallback>
                  <p:oleObj name="Equation" r:id="rId11" imgW="291960" imgH="203040" progId="Equation.3">
                    <p:embed/>
                    <p:pic>
                      <p:nvPicPr>
                        <p:cNvPr id="169991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9351" y="6165304"/>
                          <a:ext cx="456585" cy="3176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9992" name="Object 8"/>
            <p:cNvGraphicFramePr>
              <a:graphicFrameLocks noChangeAspect="1"/>
            </p:cNvGraphicFramePr>
            <p:nvPr/>
          </p:nvGraphicFramePr>
          <p:xfrm>
            <a:off x="5508104" y="6093296"/>
            <a:ext cx="496288" cy="317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317160" imgH="203040" progId="Equation.3">
                    <p:embed/>
                  </p:oleObj>
                </mc:Choice>
                <mc:Fallback>
                  <p:oleObj name="Equation" r:id="rId13" imgW="317160" imgH="203040" progId="Equation.3">
                    <p:embed/>
                    <p:pic>
                      <p:nvPicPr>
                        <p:cNvPr id="169992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08104" y="6093296"/>
                          <a:ext cx="496288" cy="3176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24" name="Straight Connector 23"/>
          <p:cNvCxnSpPr/>
          <p:nvPr/>
        </p:nvCxnSpPr>
        <p:spPr>
          <a:xfrm>
            <a:off x="2549689" y="5850413"/>
            <a:ext cx="21602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3209504" y="5849562"/>
            <a:ext cx="43204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Object 6"/>
          <p:cNvGraphicFramePr>
            <a:graphicFrameLocks noChangeAspect="1"/>
          </p:cNvGraphicFramePr>
          <p:nvPr/>
        </p:nvGraphicFramePr>
        <p:xfrm>
          <a:off x="3459163" y="5517232"/>
          <a:ext cx="314325" cy="268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77480" imgH="152280" progId="Equation.3">
                  <p:embed/>
                </p:oleObj>
              </mc:Choice>
              <mc:Fallback>
                <p:oleObj name="Equation" r:id="rId15" imgW="177480" imgH="152280" progId="Equation.3">
                  <p:embed/>
                  <p:pic>
                    <p:nvPicPr>
                      <p:cNvPr id="2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9163" y="5517232"/>
                        <a:ext cx="314325" cy="268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" name="Group 36"/>
          <p:cNvGrpSpPr/>
          <p:nvPr/>
        </p:nvGrpSpPr>
        <p:grpSpPr>
          <a:xfrm>
            <a:off x="4702161" y="5530850"/>
            <a:ext cx="2160240" cy="322296"/>
            <a:chOff x="4702161" y="5530850"/>
            <a:chExt cx="2160240" cy="322296"/>
          </a:xfrm>
        </p:grpSpPr>
        <p:cxnSp>
          <p:nvCxnSpPr>
            <p:cNvPr id="28" name="Straight Connector 27"/>
            <p:cNvCxnSpPr/>
            <p:nvPr/>
          </p:nvCxnSpPr>
          <p:spPr>
            <a:xfrm>
              <a:off x="4702161" y="5853146"/>
              <a:ext cx="216024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>
              <a:off x="5361976" y="5852295"/>
              <a:ext cx="432048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0" name="Object 6"/>
            <p:cNvGraphicFramePr>
              <a:graphicFrameLocks noChangeAspect="1"/>
            </p:cNvGraphicFramePr>
            <p:nvPr/>
          </p:nvGraphicFramePr>
          <p:xfrm>
            <a:off x="5645150" y="5530850"/>
            <a:ext cx="246063" cy="2460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39680" imgH="139680" progId="Equation.3">
                    <p:embed/>
                  </p:oleObj>
                </mc:Choice>
                <mc:Fallback>
                  <p:oleObj name="Equation" r:id="rId17" imgW="139680" imgH="139680" progId="Equation.3">
                    <p:embed/>
                    <p:pic>
                      <p:nvPicPr>
                        <p:cNvPr id="3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45150" y="5530850"/>
                          <a:ext cx="246063" cy="2460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6" name="Group 35"/>
          <p:cNvGrpSpPr/>
          <p:nvPr/>
        </p:nvGrpSpPr>
        <p:grpSpPr>
          <a:xfrm>
            <a:off x="4685573" y="4868863"/>
            <a:ext cx="2160240" cy="1612183"/>
            <a:chOff x="4685573" y="4868863"/>
            <a:chExt cx="2160240" cy="1612183"/>
          </a:xfrm>
        </p:grpSpPr>
        <p:sp>
          <p:nvSpPr>
            <p:cNvPr id="32" name="Arc 31"/>
            <p:cNvSpPr/>
            <p:nvPr/>
          </p:nvSpPr>
          <p:spPr>
            <a:xfrm>
              <a:off x="4685573" y="5184902"/>
              <a:ext cx="2160240" cy="1296144"/>
            </a:xfrm>
            <a:prstGeom prst="arc">
              <a:avLst>
                <a:gd name="adj1" fmla="val 10770494"/>
                <a:gd name="adj2" fmla="val 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4" name="Straight Arrow Connector 33"/>
            <p:cNvCxnSpPr/>
            <p:nvPr/>
          </p:nvCxnSpPr>
          <p:spPr>
            <a:xfrm flipH="1">
              <a:off x="5713006" y="5187635"/>
              <a:ext cx="1800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69995" name="Object 11"/>
            <p:cNvGraphicFramePr>
              <a:graphicFrameLocks noChangeAspect="1"/>
            </p:cNvGraphicFramePr>
            <p:nvPr/>
          </p:nvGraphicFramePr>
          <p:xfrm>
            <a:off x="5584825" y="4868863"/>
            <a:ext cx="449263" cy="268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253800" imgH="152280" progId="Equation.3">
                    <p:embed/>
                  </p:oleObj>
                </mc:Choice>
                <mc:Fallback>
                  <p:oleObj name="Equation" r:id="rId19" imgW="253800" imgH="152280" progId="Equation.3">
                    <p:embed/>
                    <p:pic>
                      <p:nvPicPr>
                        <p:cNvPr id="169995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84825" y="4868863"/>
                          <a:ext cx="449263" cy="2682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106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en-GB" sz="3800" dirty="0"/>
              <a:t>Design </a:t>
            </a:r>
            <a:r>
              <a:rPr lang="en-GB" sz="3800" dirty="0" err="1"/>
              <a:t>Example#2</a:t>
            </a:r>
            <a:endParaRPr lang="en-GB" sz="3800" dirty="0"/>
          </a:p>
        </p:txBody>
      </p:sp>
      <p:pic>
        <p:nvPicPr>
          <p:cNvPr id="1669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664" y="836712"/>
            <a:ext cx="6000750" cy="177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691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8310" y="3861048"/>
            <a:ext cx="4867376" cy="864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9"/>
          <p:cNvGrpSpPr/>
          <p:nvPr/>
        </p:nvGrpSpPr>
        <p:grpSpPr>
          <a:xfrm>
            <a:off x="251520" y="4869160"/>
            <a:ext cx="7476831" cy="1906845"/>
            <a:chOff x="251520" y="4869160"/>
            <a:chExt cx="7476831" cy="1906845"/>
          </a:xfrm>
        </p:grpSpPr>
        <p:pic>
          <p:nvPicPr>
            <p:cNvPr id="166916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51520" y="4869160"/>
              <a:ext cx="7476831" cy="3600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6917" name="Picture 5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483768" y="5373216"/>
              <a:ext cx="3888432" cy="14027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9" name="Group 8"/>
          <p:cNvGrpSpPr/>
          <p:nvPr/>
        </p:nvGrpSpPr>
        <p:grpSpPr>
          <a:xfrm>
            <a:off x="348431" y="2852936"/>
            <a:ext cx="8795569" cy="544512"/>
            <a:chOff x="348431" y="2852936"/>
            <a:chExt cx="8795569" cy="544512"/>
          </a:xfrm>
        </p:grpSpPr>
        <p:graphicFrame>
          <p:nvGraphicFramePr>
            <p:cNvPr id="171010" name="Object 2"/>
            <p:cNvGraphicFramePr>
              <a:graphicFrameLocks noChangeAspect="1"/>
            </p:cNvGraphicFramePr>
            <p:nvPr/>
          </p:nvGraphicFramePr>
          <p:xfrm>
            <a:off x="348431" y="2852936"/>
            <a:ext cx="3719513" cy="544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473120" imgH="215640" progId="Equation.3">
                    <p:embed/>
                  </p:oleObj>
                </mc:Choice>
                <mc:Fallback>
                  <p:oleObj name="Equation" r:id="rId6" imgW="1473120" imgH="215640" progId="Equation.3">
                    <p:embed/>
                    <p:pic>
                      <p:nvPicPr>
                        <p:cNvPr id="17101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431" y="2852936"/>
                          <a:ext cx="3719513" cy="5445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11" name="Object 3"/>
            <p:cNvGraphicFramePr>
              <a:graphicFrameLocks noChangeAspect="1"/>
            </p:cNvGraphicFramePr>
            <p:nvPr/>
          </p:nvGraphicFramePr>
          <p:xfrm>
            <a:off x="4462462" y="2852936"/>
            <a:ext cx="4681538" cy="544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854000" imgH="215640" progId="Equation.3">
                    <p:embed/>
                  </p:oleObj>
                </mc:Choice>
                <mc:Fallback>
                  <p:oleObj name="Equation" r:id="rId8" imgW="1854000" imgH="215640" progId="Equation.3">
                    <p:embed/>
                    <p:pic>
                      <p:nvPicPr>
                        <p:cNvPr id="171011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2462" y="2852936"/>
                          <a:ext cx="4681538" cy="5445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107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669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669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en-GB" sz="3800" dirty="0"/>
              <a:t>Design </a:t>
            </a:r>
            <a:r>
              <a:rPr lang="en-GB" sz="3800" dirty="0" err="1"/>
              <a:t>Example#2</a:t>
            </a:r>
            <a:endParaRPr lang="en-GB" sz="3800" dirty="0"/>
          </a:p>
        </p:txBody>
      </p:sp>
      <p:pic>
        <p:nvPicPr>
          <p:cNvPr id="1669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664" y="836712"/>
            <a:ext cx="6000750" cy="177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691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23728" y="3284984"/>
            <a:ext cx="3888432" cy="14027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793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99792" y="4869160"/>
            <a:ext cx="3819525" cy="1343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108</a:t>
            </a:fld>
            <a:endParaRPr lang="en-GB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en-GB" sz="3800" dirty="0"/>
              <a:t>Design </a:t>
            </a:r>
            <a:r>
              <a:rPr lang="en-GB" sz="3800" dirty="0" err="1"/>
              <a:t>Example#2</a:t>
            </a:r>
            <a:endParaRPr lang="en-GB" sz="3800" dirty="0"/>
          </a:p>
        </p:txBody>
      </p:sp>
      <p:pic>
        <p:nvPicPr>
          <p:cNvPr id="1679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42143" y="1052736"/>
            <a:ext cx="4914929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8962" name="Picture 2"/>
          <p:cNvPicPr>
            <a:picLocks noChangeAspect="1" noChangeArrowheads="1"/>
          </p:cNvPicPr>
          <p:nvPr/>
        </p:nvPicPr>
        <p:blipFill>
          <a:blip r:embed="rId3" cstate="print"/>
          <a:srcRect b="54866"/>
          <a:stretch>
            <a:fillRect/>
          </a:stretch>
        </p:blipFill>
        <p:spPr bwMode="auto">
          <a:xfrm>
            <a:off x="-36512" y="3068960"/>
            <a:ext cx="9214992" cy="60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 l="15599" t="45134" r="15081"/>
          <a:stretch>
            <a:fillRect/>
          </a:stretch>
        </p:blipFill>
        <p:spPr bwMode="auto">
          <a:xfrm>
            <a:off x="595663" y="4509120"/>
            <a:ext cx="8008785" cy="9163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109</a:t>
            </a:fld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cture 13-Mathematical Modelling of Liquid Level System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13-Mathematical Modelling of Liquid Level Systems</Template>
  <TotalTime>800</TotalTime>
  <Words>2713</Words>
  <Application>Microsoft Office PowerPoint</Application>
  <PresentationFormat>On-screen Show (4:3)</PresentationFormat>
  <Paragraphs>657</Paragraphs>
  <Slides>109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109</vt:i4>
      </vt:variant>
    </vt:vector>
  </HeadingPairs>
  <TitlesOfParts>
    <vt:vector size="120" baseType="lpstr">
      <vt:lpstr>黑体</vt:lpstr>
      <vt:lpstr>宋体</vt:lpstr>
      <vt:lpstr>Arial</vt:lpstr>
      <vt:lpstr>Calibri</vt:lpstr>
      <vt:lpstr>Cambria Math</vt:lpstr>
      <vt:lpstr>Comic Sans MS</vt:lpstr>
      <vt:lpstr>Monotype Sorts</vt:lpstr>
      <vt:lpstr>Symbol</vt:lpstr>
      <vt:lpstr>Times New Roman</vt:lpstr>
      <vt:lpstr>lecture 13-Mathematical Modelling of Liquid Level Systems</vt:lpstr>
      <vt:lpstr>Equation</vt:lpstr>
      <vt:lpstr>Control Systems (CS)</vt:lpstr>
      <vt:lpstr>Outline</vt:lpstr>
      <vt:lpstr>Introduction</vt:lpstr>
      <vt:lpstr>Example-1</vt:lpstr>
      <vt:lpstr>Example-2</vt:lpstr>
      <vt:lpstr>Canonical Form of A Feedback Control System</vt:lpstr>
      <vt:lpstr>Characteristic Equation</vt:lpstr>
      <vt:lpstr>Example-3</vt:lpstr>
      <vt:lpstr>Reduction of Complicated Block Diagrams</vt:lpstr>
      <vt:lpstr>PowerPoint Presentation</vt:lpstr>
      <vt:lpstr>PowerPoint Presentation</vt:lpstr>
      <vt:lpstr>PowerPoint Presentation</vt:lpstr>
      <vt:lpstr>PowerPoint Presentation</vt:lpstr>
      <vt:lpstr>Example-4: Reduce the Block Diagram to Canonical Form.</vt:lpstr>
      <vt:lpstr>Example-4: Reduce the Block Diagram to Canonical Form.</vt:lpstr>
      <vt:lpstr>Example-4: Continue.</vt:lpstr>
      <vt:lpstr>Example-5 (Home Work)</vt:lpstr>
      <vt:lpstr>Example-6</vt:lpstr>
      <vt:lpstr>Example-6</vt:lpstr>
      <vt:lpstr>Example-6</vt:lpstr>
      <vt:lpstr>Example-6</vt:lpstr>
      <vt:lpstr>Example-6</vt:lpstr>
      <vt:lpstr>Example-6</vt:lpstr>
      <vt:lpstr>Example-6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Example-11: Multiple Input System. Determine the output C due to inputs R and U using the Superposition Method. </vt:lpstr>
      <vt:lpstr>Example-11: Continue.</vt:lpstr>
      <vt:lpstr>Example-11: Continue.</vt:lpstr>
      <vt:lpstr>Example-12: Multiple-Input System. Determine the output C due to inputs R, U1 and U2 using the Superposition Method. </vt:lpstr>
      <vt:lpstr>Example-12: Continue.</vt:lpstr>
      <vt:lpstr>Example-12: Continue.</vt:lpstr>
      <vt:lpstr>Example-13: Multi-Input Multi-Output System. Determine  C1 and C2 due to R1 and R2.</vt:lpstr>
      <vt:lpstr>Example-13: Continue.</vt:lpstr>
      <vt:lpstr>Example-13: Continue.</vt:lpstr>
      <vt:lpstr>Block Diagram of Armature Controlled D.C Motor</vt:lpstr>
      <vt:lpstr>Block Diagram of Armature Controlled D.C Motor</vt:lpstr>
      <vt:lpstr>Block Diagram of Armature Controlled D.C Motor</vt:lpstr>
      <vt:lpstr>Block Diagram of Armature Controlled D.C Motor</vt:lpstr>
      <vt:lpstr>PowerPoint Presentation</vt:lpstr>
      <vt:lpstr>Introduction</vt:lpstr>
      <vt:lpstr>Fundamentals of Signal Flow Graphs</vt:lpstr>
      <vt:lpstr>PowerPoint Presentation</vt:lpstr>
      <vt:lpstr>PowerPoint Presentation</vt:lpstr>
      <vt:lpstr>Signal-Flow Graph Models</vt:lpstr>
      <vt:lpstr>Terminologies</vt:lpstr>
      <vt:lpstr>Terminologies</vt:lpstr>
      <vt:lpstr>Consider the signal flow graph below and identify the following</vt:lpstr>
      <vt:lpstr>Consider the signal flow graph below and identify the following</vt:lpstr>
      <vt:lpstr>Consider the signal flow graph below and identify the following</vt:lpstr>
      <vt:lpstr>Consider the signal flow graph below and identify the following</vt:lpstr>
      <vt:lpstr>Consider the signal flow graph below and identify the following</vt:lpstr>
      <vt:lpstr>Input and output Nodes</vt:lpstr>
      <vt:lpstr>(c) Forward Paths</vt:lpstr>
      <vt:lpstr>(d)  Feedback Paths or Loops</vt:lpstr>
      <vt:lpstr>(d)  Feedback Paths or Loops</vt:lpstr>
      <vt:lpstr>(d)  Feedback Paths or Loops</vt:lpstr>
      <vt:lpstr>(d)  Feedback Paths or Loops</vt:lpstr>
      <vt:lpstr>(e)  Self Loop(s)</vt:lpstr>
      <vt:lpstr>(f)  Loop Gains of the Feedback Loops</vt:lpstr>
      <vt:lpstr>(g)  Path Gains of the Forward Paths</vt:lpstr>
      <vt:lpstr>Mason’s Rule (Mason, 1953)</vt:lpstr>
      <vt:lpstr>Mason’s Rule:</vt:lpstr>
      <vt:lpstr>Mason’s Rule:</vt:lpstr>
      <vt:lpstr>PowerPoint Presentation</vt:lpstr>
      <vt:lpstr>Example#1: Apply Mason’s Rule to calculate the transfer function of the system represented by following Signal Flow Graph</vt:lpstr>
      <vt:lpstr>Example#1: Apply Mason’s Rule to calculate the transfer function of the system represented by following Signal Flow Graph</vt:lpstr>
      <vt:lpstr>Example#1: Apply Mason’s Rule to calculate the transfer function of the system represented by following Signal Flow Graph</vt:lpstr>
      <vt:lpstr>Example#1: Continue</vt:lpstr>
      <vt:lpstr>Example#2: Apply Mason’s Rule to calculate the transfer function of the system represented by following Signal Flow Graph</vt:lpstr>
      <vt:lpstr>Example#2: continue</vt:lpstr>
      <vt:lpstr>PowerPoint Presentation</vt:lpstr>
      <vt:lpstr>PowerPoint Presentation</vt:lpstr>
      <vt:lpstr>Example#3</vt:lpstr>
      <vt:lpstr>Example#3</vt:lpstr>
      <vt:lpstr>Example#3</vt:lpstr>
      <vt:lpstr>Example#3</vt:lpstr>
      <vt:lpstr>Example#3</vt:lpstr>
      <vt:lpstr>Example#3</vt:lpstr>
      <vt:lpstr>Example#4: Apply Mason’s Rule to calculate the transfer function of the system represented by following Signal Flow Graph</vt:lpstr>
      <vt:lpstr>Example#4: Forward Paths</vt:lpstr>
      <vt:lpstr>Example#4: Loop Gains of the Feedback Loops</vt:lpstr>
      <vt:lpstr>Example#4: two non-touching loops</vt:lpstr>
      <vt:lpstr>Example#4: Three non-touching loops</vt:lpstr>
      <vt:lpstr>From Block Diagram to Signal-Flow Graph Models Example#5</vt:lpstr>
      <vt:lpstr>From Block Diagram to Signal-Flow Graph Models Example#5</vt:lpstr>
      <vt:lpstr>Example#6</vt:lpstr>
      <vt:lpstr>Example#6</vt:lpstr>
      <vt:lpstr>Example#6</vt:lpstr>
      <vt:lpstr>Example#6</vt:lpstr>
      <vt:lpstr>Example-7: Determine the transfer function C/R for the block diagram below by signal flow graph techniques.</vt:lpstr>
      <vt:lpstr>Example-6: Find the control ratio C/R for the system given below.  </vt:lpstr>
      <vt:lpstr>Design Example#1</vt:lpstr>
      <vt:lpstr>Design Example#2</vt:lpstr>
      <vt:lpstr>Design Example#2</vt:lpstr>
      <vt:lpstr>Design Example#2</vt:lpstr>
    </vt:vector>
  </TitlesOfParts>
  <Company>University Of Salford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Feedback Control Systems (FCS)</dc:title>
  <dc:creator>Imtiaz Hussain</dc:creator>
  <cp:lastModifiedBy>Ayesha Ali</cp:lastModifiedBy>
  <cp:revision>153</cp:revision>
  <dcterms:created xsi:type="dcterms:W3CDTF">2013-02-04T13:53:54Z</dcterms:created>
  <dcterms:modified xsi:type="dcterms:W3CDTF">2025-09-22T03:57:33Z</dcterms:modified>
</cp:coreProperties>
</file>