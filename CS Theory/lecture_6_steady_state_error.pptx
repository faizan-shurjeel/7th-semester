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handoutMasterIdLst>
    <p:handoutMasterId r:id="rId22"/>
  </p:handoutMasterIdLst>
  <p:sldIdLst>
    <p:sldId id="326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4" r:id="rId18"/>
    <p:sldId id="345" r:id="rId19"/>
    <p:sldId id="34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0788"/>
    <a:srgbClr val="FEF1E6"/>
    <a:srgbClr val="FE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322" autoAdjust="0"/>
  </p:normalViewPr>
  <p:slideViewPr>
    <p:cSldViewPr>
      <p:cViewPr varScale="1">
        <p:scale>
          <a:sx n="69" d="100"/>
          <a:sy n="69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75CD0-BF64-4EDA-A390-EA27F5FF7906}" type="datetimeFigureOut">
              <a:rPr lang="en-GB" smtClean="0"/>
              <a:pPr/>
              <a:t>05/10/2025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C7654-C7C7-4BC9-B3D0-68A06137D36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30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38015-AD98-4867-8B7A-4101F60AD33A}" type="datetimeFigureOut">
              <a:rPr lang="en-GB" smtClean="0"/>
              <a:pPr/>
              <a:t>05/10/2025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B5A4E-08A9-457D-89E6-C51BF6DBFCF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933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05/10/2025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05/10/2025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05/10/2025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4B2AA-1B5A-4DC9-8C33-192C3B350BED}" type="datetimeFigureOut">
              <a:rPr lang="en-GB" smtClean="0"/>
              <a:pPr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37.wmf"/><Relationship Id="rId18" Type="http://schemas.openxmlformats.org/officeDocument/2006/relationships/oleObject" Target="../embeddings/oleObject11.bin"/><Relationship Id="rId3" Type="http://schemas.openxmlformats.org/officeDocument/2006/relationships/image" Target="../media/image32.wmf"/><Relationship Id="rId21" Type="http://schemas.openxmlformats.org/officeDocument/2006/relationships/image" Target="../media/image41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39.wmf"/><Relationship Id="rId2" Type="http://schemas.openxmlformats.org/officeDocument/2006/relationships/oleObject" Target="../embeddings/oleObject3.bin"/><Relationship Id="rId16" Type="http://schemas.openxmlformats.org/officeDocument/2006/relationships/oleObject" Target="../embeddings/oleObject10.bin"/><Relationship Id="rId20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40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17.bin"/><Relationship Id="rId3" Type="http://schemas.openxmlformats.org/officeDocument/2006/relationships/image" Target="../media/image10.png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43.wmf"/><Relationship Id="rId2" Type="http://schemas.openxmlformats.org/officeDocument/2006/relationships/image" Target="../media/image17.png"/><Relationship Id="rId16" Type="http://schemas.openxmlformats.org/officeDocument/2006/relationships/image" Target="../media/image4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42.wmf"/><Relationship Id="rId4" Type="http://schemas.openxmlformats.org/officeDocument/2006/relationships/image" Target="../media/image24.png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4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5259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Any physical control system inherently suffers steady-state error in response to certain types of inputs.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A system may have no steady-state error to a step input, but the same system may exhibit nonzero steady-state error to a ramp input.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Whether a given system will exhibit steady-state error for a given type of input depends on the type of open-loop transfer function of the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 of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525963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Control systems may be classified according to their ability to follow step inputs, ramp inputs, parabolic inputs, and so on.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The magnitudes of the steady-state errors due to these individual inputs are indicative of the goodness of the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40966"/>
          </a:xfrm>
        </p:spPr>
        <p:txBody>
          <a:bodyPr/>
          <a:lstStyle/>
          <a:p>
            <a:r>
              <a:rPr lang="en-GB" dirty="0"/>
              <a:t>Classification of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435280" cy="1152128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Consider the unity-feedback control system with the following open-loop transfer function</a:t>
            </a:r>
          </a:p>
        </p:txBody>
      </p:sp>
      <p:pic>
        <p:nvPicPr>
          <p:cNvPr id="404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84208" y="2342490"/>
            <a:ext cx="5307732" cy="911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251520" y="3429000"/>
            <a:ext cx="8435280" cy="129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involves the term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GB" sz="3200" b="0" i="0" u="none" strike="noStrike" kern="1200" cap="none" spc="0" normalizeH="0" baseline="30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 the denominator, representing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poles at the origin.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51520" y="4869160"/>
            <a:ext cx="843528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system is called type 0, type 1, type 2, ... , if N=0, N=1, N=2, ... , respectively.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40966"/>
          </a:xfrm>
        </p:spPr>
        <p:txBody>
          <a:bodyPr/>
          <a:lstStyle/>
          <a:p>
            <a:r>
              <a:rPr lang="en-GB" dirty="0"/>
              <a:t>Classification of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435280" cy="5328592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As the type number is increased, accuracy is improved.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However, increasing the type number aggravates the stability problem.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A compromise between steady-state accuracy and relative stability is always necessary.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1143000"/>
          </a:xfrm>
        </p:spPr>
        <p:txBody>
          <a:bodyPr>
            <a:noAutofit/>
          </a:bodyPr>
          <a:lstStyle/>
          <a:p>
            <a:r>
              <a:rPr lang="en-GB" sz="3400" b="1" dirty="0"/>
              <a:t>Steady State Error of Unity Feedback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the system shown in following figure.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closed-loop transfer function is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405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420888"/>
            <a:ext cx="4370063" cy="1692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55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5445224"/>
            <a:ext cx="241935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63272" cy="940966"/>
          </a:xfrm>
        </p:spPr>
        <p:txBody>
          <a:bodyPr>
            <a:noAutofit/>
          </a:bodyPr>
          <a:lstStyle/>
          <a:p>
            <a:r>
              <a:rPr lang="en-GB" sz="3400" b="1" dirty="0"/>
              <a:t>Steady State Error of Unity Feedback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5"/>
            <a:ext cx="8435280" cy="864096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2600" dirty="0"/>
              <a:t>The transfer function between the error signal </a:t>
            </a:r>
            <a:r>
              <a:rPr lang="en-GB" sz="2600" dirty="0">
                <a:solidFill>
                  <a:srgbClr val="FF0000"/>
                </a:solidFill>
              </a:rPr>
              <a:t>E(s)</a:t>
            </a:r>
            <a:r>
              <a:rPr lang="en-GB" sz="2600" dirty="0"/>
              <a:t> and the input signal </a:t>
            </a:r>
            <a:r>
              <a:rPr lang="en-GB" sz="2600" dirty="0">
                <a:solidFill>
                  <a:srgbClr val="FF0000"/>
                </a:solidFill>
              </a:rPr>
              <a:t>R(s)</a:t>
            </a:r>
            <a:r>
              <a:rPr lang="en-GB" sz="2600" dirty="0"/>
              <a:t> is</a:t>
            </a:r>
          </a:p>
          <a:p>
            <a:endParaRPr lang="en-GB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419872" y="1988840"/>
          <a:ext cx="2306828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240" imgH="355320" progId="Equation.3">
                  <p:embed/>
                </p:oleObj>
              </mc:Choice>
              <mc:Fallback>
                <p:oleObj name="Equation" r:id="rId2" imgW="876240" imgH="355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1988840"/>
                        <a:ext cx="2306828" cy="9361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653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99817" y="4005064"/>
            <a:ext cx="2784351" cy="813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6533" name="Picture 5"/>
          <p:cNvPicPr>
            <a:picLocks noChangeAspect="1" noChangeArrowheads="1"/>
          </p:cNvPicPr>
          <p:nvPr/>
        </p:nvPicPr>
        <p:blipFill>
          <a:blip r:embed="rId5" cstate="print"/>
          <a:srcRect r="67264"/>
          <a:stretch>
            <a:fillRect/>
          </a:stretch>
        </p:blipFill>
        <p:spPr bwMode="auto">
          <a:xfrm>
            <a:off x="1882986" y="5512792"/>
            <a:ext cx="1896926" cy="868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 cstate="print"/>
          <a:srcRect l="33979" r="38682"/>
          <a:stretch>
            <a:fillRect/>
          </a:stretch>
        </p:blipFill>
        <p:spPr bwMode="auto">
          <a:xfrm>
            <a:off x="3851920" y="5512792"/>
            <a:ext cx="1584176" cy="868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5" cstate="print"/>
          <a:srcRect l="61318"/>
          <a:stretch>
            <a:fillRect/>
          </a:stretch>
        </p:blipFill>
        <p:spPr bwMode="auto">
          <a:xfrm>
            <a:off x="5436096" y="5512792"/>
            <a:ext cx="2241452" cy="868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251520" y="2924945"/>
            <a:ext cx="843528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final-value theorem provides a convenient way to find the steady-state performance of a stable system.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51520" y="4149080"/>
            <a:ext cx="8435280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Since E(s) is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251520" y="4869160"/>
            <a:ext cx="8435280" cy="781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steady state error 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6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6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24942"/>
          </a:xfrm>
        </p:spPr>
        <p:txBody>
          <a:bodyPr>
            <a:normAutofit fontScale="90000"/>
          </a:bodyPr>
          <a:lstStyle/>
          <a:p>
            <a:r>
              <a:rPr lang="en-GB" dirty="0"/>
              <a:t>Static Error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576064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The static error constants are figures of merit of control systems. The higher the constants, the smaller the steady-state error. </a:t>
            </a:r>
          </a:p>
          <a:p>
            <a:pPr algn="just"/>
            <a:endParaRPr lang="en-GB" sz="1300" dirty="0"/>
          </a:p>
          <a:p>
            <a:pPr algn="just"/>
            <a:r>
              <a:rPr lang="en-GB" dirty="0"/>
              <a:t>In a given system, the output may be the position, velocity, pressure, temperature, or the like.</a:t>
            </a:r>
          </a:p>
          <a:p>
            <a:pPr algn="just"/>
            <a:endParaRPr lang="en-GB" sz="1300" dirty="0"/>
          </a:p>
          <a:p>
            <a:pPr algn="just"/>
            <a:r>
              <a:rPr lang="en-GB" dirty="0"/>
              <a:t>Therefore, in what follows, we shall call the output “position,” the rate of change of the output “velocity,” and so on.</a:t>
            </a:r>
          </a:p>
          <a:p>
            <a:pPr algn="just"/>
            <a:endParaRPr lang="en-GB" sz="1200" dirty="0"/>
          </a:p>
          <a:p>
            <a:pPr algn="just"/>
            <a:r>
              <a:rPr lang="en-GB" dirty="0"/>
              <a:t>This means that in a temperature control system “position” represents the output temperature, “velocity” represents the rate of change of the output temperature, and so 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24942"/>
          </a:xfrm>
        </p:spPr>
        <p:txBody>
          <a:bodyPr>
            <a:normAutofit fontScale="90000"/>
          </a:bodyPr>
          <a:lstStyle/>
          <a:p>
            <a:r>
              <a:rPr lang="en-GB" dirty="0"/>
              <a:t>Static Position Error Constant (</a:t>
            </a:r>
            <a:r>
              <a:rPr lang="en-GB" dirty="0" err="1">
                <a:solidFill>
                  <a:srgbClr val="FF0000"/>
                </a:solidFill>
              </a:rPr>
              <a:t>K</a:t>
            </a:r>
            <a:r>
              <a:rPr lang="en-GB" baseline="-25000" dirty="0" err="1">
                <a:solidFill>
                  <a:srgbClr val="FF0000"/>
                </a:solidFill>
              </a:rPr>
              <a:t>p</a:t>
            </a:r>
            <a:r>
              <a:rPr lang="en-GB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864096"/>
          </a:xfrm>
        </p:spPr>
        <p:txBody>
          <a:bodyPr>
            <a:normAutofit/>
          </a:bodyPr>
          <a:lstStyle/>
          <a:p>
            <a:r>
              <a:rPr lang="en-GB" sz="2700" dirty="0"/>
              <a:t>The steady-state error of the system for a unit-step input is</a:t>
            </a:r>
          </a:p>
        </p:txBody>
      </p:sp>
      <p:pic>
        <p:nvPicPr>
          <p:cNvPr id="4270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1556792"/>
            <a:ext cx="2776538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701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2420888"/>
            <a:ext cx="1940620" cy="866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Group 10"/>
          <p:cNvGrpSpPr/>
          <p:nvPr/>
        </p:nvGrpSpPr>
        <p:grpSpPr>
          <a:xfrm>
            <a:off x="4805440" y="1628800"/>
            <a:ext cx="1062704" cy="638192"/>
            <a:chOff x="4805440" y="1885768"/>
            <a:chExt cx="1062704" cy="638192"/>
          </a:xfrm>
        </p:grpSpPr>
        <p:cxnSp>
          <p:nvCxnSpPr>
            <p:cNvPr id="9" name="Straight Connector 8"/>
            <p:cNvCxnSpPr/>
            <p:nvPr/>
          </p:nvCxnSpPr>
          <p:spPr>
            <a:xfrm flipH="1">
              <a:off x="4805440" y="1885768"/>
              <a:ext cx="288032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5580112" y="2307936"/>
              <a:ext cx="288032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2701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43808" y="3861048"/>
            <a:ext cx="3700264" cy="812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7016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79912" y="5766597"/>
            <a:ext cx="2026345" cy="988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35496" y="3284984"/>
            <a:ext cx="8712968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static position error constant </a:t>
            </a:r>
            <a:r>
              <a:rPr kumimoji="0" lang="en-GB" sz="27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GB" sz="2700" b="0" i="0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GB" sz="2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defined by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07504" y="4725144"/>
            <a:ext cx="8712968" cy="108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Thus, the steady-state error in terms of the static position error constant </a:t>
            </a:r>
            <a:r>
              <a:rPr kumimoji="0" lang="en-GB" sz="27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GB" sz="2700" b="0" i="0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GB" sz="2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given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24942"/>
          </a:xfrm>
        </p:spPr>
        <p:txBody>
          <a:bodyPr>
            <a:normAutofit fontScale="90000"/>
          </a:bodyPr>
          <a:lstStyle/>
          <a:p>
            <a:r>
              <a:rPr lang="en-GB" dirty="0"/>
              <a:t>Static Position Error Constant (</a:t>
            </a:r>
            <a:r>
              <a:rPr lang="en-GB" dirty="0" err="1">
                <a:solidFill>
                  <a:srgbClr val="FF0000"/>
                </a:solidFill>
              </a:rPr>
              <a:t>K</a:t>
            </a:r>
            <a:r>
              <a:rPr lang="en-GB" baseline="-25000" dirty="0" err="1">
                <a:solidFill>
                  <a:srgbClr val="FF0000"/>
                </a:solidFill>
              </a:rPr>
              <a:t>p</a:t>
            </a:r>
            <a:r>
              <a:rPr lang="en-GB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5760640"/>
          </a:xfrm>
        </p:spPr>
        <p:txBody>
          <a:bodyPr>
            <a:normAutofit/>
          </a:bodyPr>
          <a:lstStyle/>
          <a:p>
            <a:r>
              <a:rPr lang="en-GB" sz="2700" dirty="0"/>
              <a:t>For a </a:t>
            </a:r>
            <a:r>
              <a:rPr lang="en-GB" sz="2700" dirty="0">
                <a:solidFill>
                  <a:srgbClr val="FF0000"/>
                </a:solidFill>
              </a:rPr>
              <a:t>Type 0</a:t>
            </a:r>
            <a:r>
              <a:rPr lang="en-GB" sz="2700" dirty="0"/>
              <a:t> system</a:t>
            </a:r>
          </a:p>
          <a:p>
            <a:endParaRPr lang="en-GB" sz="2700" dirty="0"/>
          </a:p>
          <a:p>
            <a:endParaRPr lang="en-GB" sz="2700" dirty="0"/>
          </a:p>
          <a:p>
            <a:r>
              <a:rPr lang="en-GB" sz="2700" dirty="0"/>
              <a:t>For </a:t>
            </a:r>
            <a:r>
              <a:rPr lang="en-GB" sz="2700" dirty="0">
                <a:solidFill>
                  <a:srgbClr val="FF0000"/>
                </a:solidFill>
              </a:rPr>
              <a:t>Type 1</a:t>
            </a:r>
            <a:r>
              <a:rPr lang="en-GB" sz="2700" dirty="0"/>
              <a:t> or higher systems</a:t>
            </a:r>
          </a:p>
          <a:p>
            <a:endParaRPr lang="en-GB" sz="2700" dirty="0"/>
          </a:p>
          <a:p>
            <a:endParaRPr lang="en-GB" sz="2700" dirty="0"/>
          </a:p>
          <a:p>
            <a:endParaRPr lang="en-GB" sz="2700" dirty="0"/>
          </a:p>
          <a:p>
            <a:r>
              <a:rPr lang="en-GB" sz="2700" dirty="0"/>
              <a:t>For a unit step input the steady state error </a:t>
            </a:r>
            <a:r>
              <a:rPr lang="en-GB" sz="2700" b="1" dirty="0" err="1">
                <a:solidFill>
                  <a:srgbClr val="FF0000"/>
                </a:solidFill>
              </a:rPr>
              <a:t>e</a:t>
            </a:r>
            <a:r>
              <a:rPr lang="en-GB" sz="2700" b="1" baseline="-25000" dirty="0" err="1">
                <a:solidFill>
                  <a:srgbClr val="FF0000"/>
                </a:solidFill>
              </a:rPr>
              <a:t>ss</a:t>
            </a:r>
            <a:r>
              <a:rPr lang="en-GB" sz="2700" dirty="0"/>
              <a:t> is</a:t>
            </a:r>
          </a:p>
          <a:p>
            <a:endParaRPr lang="en-GB" sz="2700" dirty="0"/>
          </a:p>
        </p:txBody>
      </p:sp>
      <p:pic>
        <p:nvPicPr>
          <p:cNvPr id="4280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3502" y="1340768"/>
            <a:ext cx="5518818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803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2996952"/>
            <a:ext cx="8181530" cy="1052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803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85875" y="5085184"/>
            <a:ext cx="6586525" cy="1399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5760640"/>
          </a:xfrm>
        </p:spPr>
        <p:txBody>
          <a:bodyPr>
            <a:normAutofit/>
          </a:bodyPr>
          <a:lstStyle/>
          <a:p>
            <a:r>
              <a:rPr lang="en-GB" sz="2600" dirty="0"/>
              <a:t>The steady-state error of the system for a unit-ramp input is</a:t>
            </a:r>
          </a:p>
          <a:p>
            <a:endParaRPr lang="en-GB" sz="2700" dirty="0"/>
          </a:p>
          <a:p>
            <a:endParaRPr lang="en-GB" sz="2700" dirty="0"/>
          </a:p>
          <a:p>
            <a:endParaRPr lang="en-GB" sz="2700" dirty="0"/>
          </a:p>
          <a:p>
            <a:endParaRPr lang="en-GB" sz="2700" dirty="0"/>
          </a:p>
          <a:p>
            <a:r>
              <a:rPr lang="en-GB" sz="2700" dirty="0"/>
              <a:t>The static position error constant </a:t>
            </a:r>
            <a:r>
              <a:rPr lang="en-GB" sz="2700" dirty="0" err="1">
                <a:solidFill>
                  <a:srgbClr val="FF0000"/>
                </a:solidFill>
              </a:rPr>
              <a:t>K</a:t>
            </a:r>
            <a:r>
              <a:rPr lang="en-GB" sz="2700" baseline="-25000" dirty="0" err="1">
                <a:solidFill>
                  <a:srgbClr val="FF0000"/>
                </a:solidFill>
              </a:rPr>
              <a:t>v</a:t>
            </a:r>
            <a:r>
              <a:rPr lang="en-GB" sz="2700" dirty="0"/>
              <a:t> is defined by</a:t>
            </a:r>
          </a:p>
          <a:p>
            <a:endParaRPr lang="en-GB" sz="2700" dirty="0"/>
          </a:p>
          <a:p>
            <a:endParaRPr lang="en-GB" sz="2700" dirty="0"/>
          </a:p>
          <a:p>
            <a:r>
              <a:rPr lang="en-GB" sz="2700" dirty="0"/>
              <a:t>Thus, the steady-state error in terms of the static velocity error constant </a:t>
            </a:r>
            <a:r>
              <a:rPr lang="en-GB" sz="2700" dirty="0" err="1">
                <a:solidFill>
                  <a:srgbClr val="FF0000"/>
                </a:solidFill>
              </a:rPr>
              <a:t>K</a:t>
            </a:r>
            <a:r>
              <a:rPr lang="en-GB" sz="2700" baseline="-25000" dirty="0" err="1">
                <a:solidFill>
                  <a:srgbClr val="FF0000"/>
                </a:solidFill>
              </a:rPr>
              <a:t>v</a:t>
            </a:r>
            <a:r>
              <a:rPr lang="en-GB" sz="2700" dirty="0"/>
              <a:t> is given by</a:t>
            </a:r>
          </a:p>
        </p:txBody>
      </p:sp>
      <p:pic>
        <p:nvPicPr>
          <p:cNvPr id="429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1400248"/>
            <a:ext cx="3251448" cy="89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24942"/>
          </a:xfrm>
        </p:spPr>
        <p:txBody>
          <a:bodyPr>
            <a:normAutofit fontScale="90000"/>
          </a:bodyPr>
          <a:lstStyle/>
          <a:p>
            <a:r>
              <a:rPr lang="en-GB" dirty="0"/>
              <a:t>Static Velocity Error Constant (</a:t>
            </a:r>
            <a:r>
              <a:rPr lang="en-GB" dirty="0" err="1">
                <a:solidFill>
                  <a:srgbClr val="FF0000"/>
                </a:solidFill>
              </a:rPr>
              <a:t>K</a:t>
            </a:r>
            <a:r>
              <a:rPr lang="en-GB" baseline="-25000" dirty="0" err="1">
                <a:solidFill>
                  <a:srgbClr val="FF0000"/>
                </a:solidFill>
              </a:rPr>
              <a:t>v</a:t>
            </a:r>
            <a:r>
              <a:rPr lang="en-GB" dirty="0"/>
              <a:t>)</a:t>
            </a:r>
          </a:p>
        </p:txBody>
      </p:sp>
      <p:pic>
        <p:nvPicPr>
          <p:cNvPr id="4290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2304964"/>
            <a:ext cx="2170931" cy="98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906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91880" y="4005064"/>
            <a:ext cx="2739951" cy="649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906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95936" y="5705255"/>
            <a:ext cx="1623244" cy="103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9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9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9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9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29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9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24942"/>
          </a:xfrm>
        </p:spPr>
        <p:txBody>
          <a:bodyPr>
            <a:normAutofit fontScale="90000"/>
          </a:bodyPr>
          <a:lstStyle/>
          <a:p>
            <a:r>
              <a:rPr lang="en-GB" dirty="0"/>
              <a:t>Static Velocity Error Constant (</a:t>
            </a:r>
            <a:r>
              <a:rPr lang="en-GB" dirty="0" err="1">
                <a:solidFill>
                  <a:srgbClr val="FF0000"/>
                </a:solidFill>
              </a:rPr>
              <a:t>K</a:t>
            </a:r>
            <a:r>
              <a:rPr lang="en-GB" baseline="-25000" dirty="0" err="1">
                <a:solidFill>
                  <a:srgbClr val="FF0000"/>
                </a:solidFill>
              </a:rPr>
              <a:t>v</a:t>
            </a:r>
            <a:r>
              <a:rPr lang="en-GB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5760640"/>
          </a:xfrm>
        </p:spPr>
        <p:txBody>
          <a:bodyPr>
            <a:normAutofit/>
          </a:bodyPr>
          <a:lstStyle/>
          <a:p>
            <a:r>
              <a:rPr lang="en-GB" sz="2700" dirty="0"/>
              <a:t>For a </a:t>
            </a:r>
            <a:r>
              <a:rPr lang="en-GB" sz="2700" dirty="0">
                <a:solidFill>
                  <a:srgbClr val="FF0000"/>
                </a:solidFill>
              </a:rPr>
              <a:t>Type 0</a:t>
            </a:r>
            <a:r>
              <a:rPr lang="en-GB" sz="2700" dirty="0"/>
              <a:t> system</a:t>
            </a:r>
          </a:p>
          <a:p>
            <a:endParaRPr lang="en-GB" sz="2700" dirty="0"/>
          </a:p>
          <a:p>
            <a:endParaRPr lang="en-GB" sz="2700" dirty="0"/>
          </a:p>
          <a:p>
            <a:r>
              <a:rPr lang="en-GB" sz="2700" dirty="0"/>
              <a:t>For </a:t>
            </a:r>
            <a:r>
              <a:rPr lang="en-GB" sz="2700" dirty="0">
                <a:solidFill>
                  <a:srgbClr val="FF0000"/>
                </a:solidFill>
              </a:rPr>
              <a:t>Type 1</a:t>
            </a:r>
            <a:r>
              <a:rPr lang="en-GB" sz="2700" dirty="0"/>
              <a:t> systems</a:t>
            </a:r>
          </a:p>
          <a:p>
            <a:endParaRPr lang="en-GB" sz="2700" dirty="0"/>
          </a:p>
          <a:p>
            <a:endParaRPr lang="en-GB" sz="2700" dirty="0"/>
          </a:p>
          <a:p>
            <a:endParaRPr lang="en-GB" sz="2700" dirty="0"/>
          </a:p>
          <a:p>
            <a:r>
              <a:rPr lang="en-GB" sz="2700" dirty="0"/>
              <a:t>For type 2 or higher systems</a:t>
            </a:r>
          </a:p>
        </p:txBody>
      </p:sp>
      <p:pic>
        <p:nvPicPr>
          <p:cNvPr id="4300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3545" y="1333780"/>
            <a:ext cx="5150743" cy="9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0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712" y="3033132"/>
            <a:ext cx="6099398" cy="1081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08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5085184"/>
            <a:ext cx="8579148" cy="1116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0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0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24942"/>
          </a:xfrm>
        </p:spPr>
        <p:txBody>
          <a:bodyPr>
            <a:normAutofit fontScale="90000"/>
          </a:bodyPr>
          <a:lstStyle/>
          <a:p>
            <a:r>
              <a:rPr lang="en-GB" dirty="0"/>
              <a:t>Static Velocity Error Constant (</a:t>
            </a:r>
            <a:r>
              <a:rPr lang="en-GB" dirty="0" err="1">
                <a:solidFill>
                  <a:srgbClr val="FF0000"/>
                </a:solidFill>
              </a:rPr>
              <a:t>K</a:t>
            </a:r>
            <a:r>
              <a:rPr lang="en-GB" baseline="-25000" dirty="0" err="1">
                <a:solidFill>
                  <a:srgbClr val="FF0000"/>
                </a:solidFill>
              </a:rPr>
              <a:t>v</a:t>
            </a:r>
            <a:r>
              <a:rPr lang="en-GB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864096"/>
          </a:xfrm>
        </p:spPr>
        <p:txBody>
          <a:bodyPr>
            <a:normAutofit/>
          </a:bodyPr>
          <a:lstStyle/>
          <a:p>
            <a:r>
              <a:rPr lang="en-GB" sz="2700" dirty="0"/>
              <a:t>For a ramp input the steady state error </a:t>
            </a:r>
            <a:r>
              <a:rPr lang="en-GB" sz="2700" b="1" dirty="0" err="1">
                <a:solidFill>
                  <a:srgbClr val="FF0000"/>
                </a:solidFill>
              </a:rPr>
              <a:t>e</a:t>
            </a:r>
            <a:r>
              <a:rPr lang="en-GB" sz="2700" b="1" baseline="-25000" dirty="0" err="1">
                <a:solidFill>
                  <a:srgbClr val="FF0000"/>
                </a:solidFill>
              </a:rPr>
              <a:t>ss</a:t>
            </a:r>
            <a:r>
              <a:rPr lang="en-GB" sz="2700" dirty="0"/>
              <a:t> is</a:t>
            </a:r>
          </a:p>
        </p:txBody>
      </p:sp>
      <p:pic>
        <p:nvPicPr>
          <p:cNvPr id="4311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988840"/>
            <a:ext cx="8352928" cy="3540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5760640"/>
          </a:xfrm>
        </p:spPr>
        <p:txBody>
          <a:bodyPr>
            <a:normAutofit/>
          </a:bodyPr>
          <a:lstStyle/>
          <a:p>
            <a:r>
              <a:rPr lang="en-GB" sz="2600" dirty="0"/>
              <a:t>The steady-state error of the system for parabolic input is</a:t>
            </a:r>
          </a:p>
          <a:p>
            <a:endParaRPr lang="en-GB" sz="2700" dirty="0"/>
          </a:p>
          <a:p>
            <a:endParaRPr lang="en-GB" sz="2700" dirty="0"/>
          </a:p>
          <a:p>
            <a:endParaRPr lang="en-GB" sz="2700" dirty="0"/>
          </a:p>
          <a:p>
            <a:endParaRPr lang="en-GB" sz="2700" dirty="0"/>
          </a:p>
          <a:p>
            <a:r>
              <a:rPr lang="en-GB" sz="2700" dirty="0"/>
              <a:t>The static acceleration error constant </a:t>
            </a:r>
            <a:r>
              <a:rPr lang="en-GB" sz="2700" dirty="0">
                <a:solidFill>
                  <a:srgbClr val="FF0000"/>
                </a:solidFill>
              </a:rPr>
              <a:t>K</a:t>
            </a:r>
            <a:r>
              <a:rPr lang="en-GB" sz="2700" baseline="-25000" dirty="0">
                <a:solidFill>
                  <a:srgbClr val="FF0000"/>
                </a:solidFill>
              </a:rPr>
              <a:t>a</a:t>
            </a:r>
            <a:r>
              <a:rPr lang="en-GB" sz="2700" dirty="0"/>
              <a:t> is defined by</a:t>
            </a:r>
          </a:p>
          <a:p>
            <a:endParaRPr lang="en-GB" sz="2700" dirty="0"/>
          </a:p>
          <a:p>
            <a:endParaRPr lang="en-GB" sz="2700" dirty="0"/>
          </a:p>
          <a:p>
            <a:pPr algn="just"/>
            <a:r>
              <a:rPr lang="en-GB" sz="2400" dirty="0"/>
              <a:t>Thus, the steady-state error in terms of the static acceleration error constant </a:t>
            </a:r>
            <a:r>
              <a:rPr lang="en-GB" sz="2400" dirty="0">
                <a:solidFill>
                  <a:srgbClr val="FF0000"/>
                </a:solidFill>
              </a:rPr>
              <a:t>K</a:t>
            </a:r>
            <a:r>
              <a:rPr lang="en-GB" sz="2400" baseline="-25000" dirty="0">
                <a:solidFill>
                  <a:srgbClr val="FF0000"/>
                </a:solidFill>
              </a:rPr>
              <a:t>a</a:t>
            </a:r>
            <a:r>
              <a:rPr lang="en-GB" sz="2400" dirty="0"/>
              <a:t> is given by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24942"/>
          </a:xfrm>
        </p:spPr>
        <p:txBody>
          <a:bodyPr>
            <a:normAutofit fontScale="90000"/>
          </a:bodyPr>
          <a:lstStyle/>
          <a:p>
            <a:r>
              <a:rPr lang="en-GB" dirty="0"/>
              <a:t>Static Acceleration Error Constant (</a:t>
            </a:r>
            <a:r>
              <a:rPr lang="en-GB" dirty="0">
                <a:solidFill>
                  <a:srgbClr val="FF0000"/>
                </a:solidFill>
              </a:rPr>
              <a:t>K</a:t>
            </a:r>
            <a:r>
              <a:rPr lang="en-GB" baseline="-25000" dirty="0">
                <a:solidFill>
                  <a:srgbClr val="FF0000"/>
                </a:solidFill>
              </a:rPr>
              <a:t>a</a:t>
            </a:r>
            <a:r>
              <a:rPr lang="en-GB" dirty="0"/>
              <a:t>)</a:t>
            </a:r>
          </a:p>
        </p:txBody>
      </p:sp>
      <p:pic>
        <p:nvPicPr>
          <p:cNvPr id="432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1340768"/>
            <a:ext cx="3197349" cy="193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21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3933056"/>
            <a:ext cx="2830438" cy="661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213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5578121"/>
            <a:ext cx="1469703" cy="109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2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32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24942"/>
          </a:xfrm>
        </p:spPr>
        <p:txBody>
          <a:bodyPr>
            <a:normAutofit fontScale="90000"/>
          </a:bodyPr>
          <a:lstStyle/>
          <a:p>
            <a:r>
              <a:rPr lang="en-GB" dirty="0"/>
              <a:t>Static Acceleration Error Constant (</a:t>
            </a:r>
            <a:r>
              <a:rPr lang="en-GB" dirty="0">
                <a:solidFill>
                  <a:srgbClr val="FF0000"/>
                </a:solidFill>
              </a:rPr>
              <a:t>K</a:t>
            </a:r>
            <a:r>
              <a:rPr lang="en-GB" baseline="-25000" dirty="0">
                <a:solidFill>
                  <a:srgbClr val="FF0000"/>
                </a:solidFill>
              </a:rPr>
              <a:t>a</a:t>
            </a:r>
            <a:r>
              <a:rPr lang="en-GB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5760640"/>
          </a:xfrm>
        </p:spPr>
        <p:txBody>
          <a:bodyPr>
            <a:normAutofit/>
          </a:bodyPr>
          <a:lstStyle/>
          <a:p>
            <a:r>
              <a:rPr lang="en-GB" sz="2400" dirty="0"/>
              <a:t>For a </a:t>
            </a:r>
            <a:r>
              <a:rPr lang="en-GB" sz="2400" dirty="0">
                <a:solidFill>
                  <a:srgbClr val="FF0000"/>
                </a:solidFill>
              </a:rPr>
              <a:t>Type 0</a:t>
            </a:r>
            <a:r>
              <a:rPr lang="en-GB" sz="2400" dirty="0"/>
              <a:t> system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For </a:t>
            </a:r>
            <a:r>
              <a:rPr lang="en-GB" sz="2400" dirty="0">
                <a:solidFill>
                  <a:srgbClr val="FF0000"/>
                </a:solidFill>
              </a:rPr>
              <a:t>Type 1</a:t>
            </a:r>
            <a:r>
              <a:rPr lang="en-GB" sz="2400" dirty="0"/>
              <a:t> systems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For </a:t>
            </a:r>
            <a:r>
              <a:rPr lang="en-GB" sz="2400" dirty="0">
                <a:solidFill>
                  <a:srgbClr val="FF0000"/>
                </a:solidFill>
              </a:rPr>
              <a:t>type 2</a:t>
            </a:r>
            <a:r>
              <a:rPr lang="en-GB" sz="2400" dirty="0"/>
              <a:t> systems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For </a:t>
            </a:r>
            <a:r>
              <a:rPr lang="en-GB" sz="2400" dirty="0">
                <a:solidFill>
                  <a:srgbClr val="FF0000"/>
                </a:solidFill>
              </a:rPr>
              <a:t>type 3</a:t>
            </a:r>
            <a:r>
              <a:rPr lang="en-GB" sz="2400" dirty="0"/>
              <a:t> or higher systems</a:t>
            </a:r>
          </a:p>
        </p:txBody>
      </p:sp>
      <p:pic>
        <p:nvPicPr>
          <p:cNvPr id="4331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1268760"/>
            <a:ext cx="4208884" cy="7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315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2719393"/>
            <a:ext cx="4961384" cy="925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315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83768" y="4293096"/>
            <a:ext cx="523875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315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3648" y="5733256"/>
            <a:ext cx="721995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3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33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3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33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24942"/>
          </a:xfrm>
        </p:spPr>
        <p:txBody>
          <a:bodyPr>
            <a:normAutofit fontScale="90000"/>
          </a:bodyPr>
          <a:lstStyle/>
          <a:p>
            <a:r>
              <a:rPr lang="en-GB" dirty="0"/>
              <a:t>Static Acceleration Error Constant (</a:t>
            </a:r>
            <a:r>
              <a:rPr lang="en-GB" dirty="0">
                <a:solidFill>
                  <a:srgbClr val="FF0000"/>
                </a:solidFill>
              </a:rPr>
              <a:t>K</a:t>
            </a:r>
            <a:r>
              <a:rPr lang="en-GB" baseline="-25000" dirty="0">
                <a:solidFill>
                  <a:srgbClr val="FF0000"/>
                </a:solidFill>
              </a:rPr>
              <a:t>a</a:t>
            </a:r>
            <a:r>
              <a:rPr lang="en-GB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5760640"/>
          </a:xfrm>
        </p:spPr>
        <p:txBody>
          <a:bodyPr>
            <a:normAutofit/>
          </a:bodyPr>
          <a:lstStyle/>
          <a:p>
            <a:r>
              <a:rPr lang="en-GB" sz="2700" dirty="0"/>
              <a:t>For a parabolic input the steady state error </a:t>
            </a:r>
            <a:r>
              <a:rPr lang="en-GB" sz="2700" b="1" dirty="0" err="1">
                <a:solidFill>
                  <a:srgbClr val="FF0000"/>
                </a:solidFill>
              </a:rPr>
              <a:t>e</a:t>
            </a:r>
            <a:r>
              <a:rPr lang="en-GB" sz="2700" b="1" baseline="-25000" dirty="0" err="1">
                <a:solidFill>
                  <a:srgbClr val="FF0000"/>
                </a:solidFill>
              </a:rPr>
              <a:t>ss</a:t>
            </a:r>
            <a:r>
              <a:rPr lang="en-GB" sz="2700" dirty="0"/>
              <a:t> is</a:t>
            </a:r>
          </a:p>
          <a:p>
            <a:endParaRPr lang="en-GB" sz="2700" dirty="0"/>
          </a:p>
        </p:txBody>
      </p:sp>
      <p:pic>
        <p:nvPicPr>
          <p:cNvPr id="434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060848"/>
            <a:ext cx="6044415" cy="2559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pic>
        <p:nvPicPr>
          <p:cNvPr id="435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916832"/>
            <a:ext cx="8839522" cy="3288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GB" dirty="0"/>
              <a:t>Example#1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063277"/>
            <a:ext cx="8856984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For the system shown in figure below evaluate the static error constants and find the expected steady state errors for the standard step, ramp and parabolic inputs.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007664" y="3343821"/>
            <a:ext cx="7489675" cy="1957387"/>
            <a:chOff x="1007664" y="3343821"/>
            <a:chExt cx="7489675" cy="1957387"/>
          </a:xfrm>
        </p:grpSpPr>
        <p:sp>
          <p:nvSpPr>
            <p:cNvPr id="5" name="Rectangle 18"/>
            <p:cNvSpPr>
              <a:spLocks noChangeArrowheads="1"/>
            </p:cNvSpPr>
            <p:nvPr/>
          </p:nvSpPr>
          <p:spPr bwMode="auto">
            <a:xfrm>
              <a:off x="3968640" y="3343821"/>
              <a:ext cx="2160240" cy="8080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prstShdw prst="shdw17" dist="17961" dir="2700000">
                <a:srgbClr val="0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Oval 19"/>
            <p:cNvSpPr>
              <a:spLocks noChangeArrowheads="1"/>
            </p:cNvSpPr>
            <p:nvPr/>
          </p:nvSpPr>
          <p:spPr bwMode="auto">
            <a:xfrm>
              <a:off x="2705100" y="3533042"/>
              <a:ext cx="511175" cy="4841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20"/>
            <p:cNvSpPr>
              <a:spLocks noChangeShapeType="1"/>
            </p:cNvSpPr>
            <p:nvPr/>
          </p:nvSpPr>
          <p:spPr bwMode="auto">
            <a:xfrm>
              <a:off x="3216275" y="3769271"/>
              <a:ext cx="7560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>
              <a:prstShdw prst="shdw17" dist="17961" dir="2700000">
                <a:srgbClr val="0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21"/>
            <p:cNvSpPr>
              <a:spLocks noChangeShapeType="1"/>
            </p:cNvSpPr>
            <p:nvPr/>
          </p:nvSpPr>
          <p:spPr bwMode="auto">
            <a:xfrm>
              <a:off x="1719195" y="3761333"/>
              <a:ext cx="9720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>
              <a:prstShdw prst="shdw17" dist="17961" dir="2700000">
                <a:srgbClr val="0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22"/>
            <p:cNvSpPr>
              <a:spLocks noChangeShapeType="1"/>
            </p:cNvSpPr>
            <p:nvPr/>
          </p:nvSpPr>
          <p:spPr bwMode="auto">
            <a:xfrm>
              <a:off x="6128880" y="3747685"/>
              <a:ext cx="13320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>
              <a:prstShdw prst="shdw17" dist="17961" dir="2700000">
                <a:srgbClr val="0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23"/>
            <p:cNvSpPr>
              <a:spLocks noChangeShapeType="1"/>
            </p:cNvSpPr>
            <p:nvPr/>
          </p:nvSpPr>
          <p:spPr bwMode="auto">
            <a:xfrm>
              <a:off x="2947988" y="4008983"/>
              <a:ext cx="0" cy="12922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>
              <a:prstShdw prst="shdw17" dist="17961" dir="2700000">
                <a:srgbClr val="0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24"/>
            <p:cNvSpPr>
              <a:spLocks noChangeShapeType="1"/>
            </p:cNvSpPr>
            <p:nvPr/>
          </p:nvSpPr>
          <p:spPr bwMode="auto">
            <a:xfrm>
              <a:off x="2965450" y="5283746"/>
              <a:ext cx="3743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>
              <a:prstShdw prst="shdw17" dist="17961" dir="2700000">
                <a:srgbClr val="0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25"/>
            <p:cNvSpPr>
              <a:spLocks noChangeShapeType="1"/>
            </p:cNvSpPr>
            <p:nvPr/>
          </p:nvSpPr>
          <p:spPr bwMode="auto">
            <a:xfrm flipV="1">
              <a:off x="6702425" y="3751808"/>
              <a:ext cx="0" cy="15351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>
              <a:prstShdw prst="shdw17" dist="17961" dir="2700000">
                <a:srgbClr val="0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 Box 26"/>
            <p:cNvSpPr txBox="1">
              <a:spLocks noChangeArrowheads="1"/>
            </p:cNvSpPr>
            <p:nvPr/>
          </p:nvSpPr>
          <p:spPr bwMode="auto">
            <a:xfrm>
              <a:off x="7476576" y="3560338"/>
              <a:ext cx="1020763" cy="646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C(S)</a:t>
              </a:r>
              <a:endParaRPr lang="en-US" sz="1000"/>
            </a:p>
          </p:txBody>
        </p:sp>
        <p:sp>
          <p:nvSpPr>
            <p:cNvPr id="14" name="Text Box 27"/>
            <p:cNvSpPr txBox="1">
              <a:spLocks noChangeArrowheads="1"/>
            </p:cNvSpPr>
            <p:nvPr/>
          </p:nvSpPr>
          <p:spPr bwMode="auto">
            <a:xfrm>
              <a:off x="1007664" y="3525413"/>
              <a:ext cx="1020763" cy="646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R(S)</a:t>
              </a:r>
              <a:endParaRPr lang="en-US" sz="1000" dirty="0"/>
            </a:p>
          </p:txBody>
        </p:sp>
        <p:sp>
          <p:nvSpPr>
            <p:cNvPr id="15" name="Text Box 28"/>
            <p:cNvSpPr txBox="1">
              <a:spLocks noChangeArrowheads="1"/>
            </p:cNvSpPr>
            <p:nvPr/>
          </p:nvSpPr>
          <p:spPr bwMode="auto">
            <a:xfrm>
              <a:off x="3065463" y="3723233"/>
              <a:ext cx="5111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000"/>
                <a:t>-</a:t>
              </a:r>
            </a:p>
          </p:txBody>
        </p:sp>
        <p:sp>
          <p:nvSpPr>
            <p:cNvPr id="18" name="Line 31"/>
            <p:cNvSpPr>
              <a:spLocks noChangeShapeType="1"/>
            </p:cNvSpPr>
            <p:nvPr/>
          </p:nvSpPr>
          <p:spPr bwMode="auto">
            <a:xfrm>
              <a:off x="3159125" y="4005808"/>
              <a:ext cx="22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19" name="Object 18"/>
            <p:cNvGraphicFramePr>
              <a:graphicFrameLocks noChangeAspect="1"/>
            </p:cNvGraphicFramePr>
            <p:nvPr/>
          </p:nvGraphicFramePr>
          <p:xfrm>
            <a:off x="4142096" y="3367682"/>
            <a:ext cx="1887428" cy="760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14400" imgH="368280" progId="Equation.3">
                    <p:embed/>
                  </p:oleObj>
                </mc:Choice>
                <mc:Fallback>
                  <p:oleObj name="Equation" r:id="rId2" imgW="914400" imgH="36828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2096" y="3367682"/>
                          <a:ext cx="1887428" cy="7602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GB" dirty="0"/>
              <a:t>Example#1 </a:t>
            </a:r>
            <a:r>
              <a:rPr lang="en-GB" sz="3300" dirty="0"/>
              <a:t>(evaluation of Static Error Constants)</a:t>
            </a: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2771800" y="980728"/>
          <a:ext cx="3039671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368280" progId="Equation.3">
                  <p:embed/>
                </p:oleObj>
              </mc:Choice>
              <mc:Fallback>
                <p:oleObj name="Equation" r:id="rId2" imgW="1295280" imgH="3682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980728"/>
                        <a:ext cx="3039671" cy="8640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8276" name="Object 2"/>
          <p:cNvGraphicFramePr>
            <a:graphicFrameLocks noChangeAspect="1"/>
          </p:cNvGraphicFramePr>
          <p:nvPr/>
        </p:nvGraphicFramePr>
        <p:xfrm>
          <a:off x="295275" y="1989138"/>
          <a:ext cx="1906588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520" imgH="279360" progId="Equation.3">
                  <p:embed/>
                </p:oleObj>
              </mc:Choice>
              <mc:Fallback>
                <p:oleObj name="Equation" r:id="rId4" imgW="812520" imgH="2793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" y="1989138"/>
                        <a:ext cx="1906588" cy="655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8277" name="Object 5"/>
          <p:cNvGraphicFramePr>
            <a:graphicFrameLocks noChangeAspect="1"/>
          </p:cNvGraphicFramePr>
          <p:nvPr/>
        </p:nvGraphicFramePr>
        <p:xfrm>
          <a:off x="222250" y="2708275"/>
          <a:ext cx="366395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40" imgH="393480" progId="Equation.3">
                  <p:embed/>
                </p:oleObj>
              </mc:Choice>
              <mc:Fallback>
                <p:oleObj name="Equation" r:id="rId6" imgW="156204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" y="2708275"/>
                        <a:ext cx="3663950" cy="922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8278" name="Object 6"/>
          <p:cNvGraphicFramePr>
            <a:graphicFrameLocks noChangeAspect="1"/>
          </p:cNvGraphicFramePr>
          <p:nvPr/>
        </p:nvGraphicFramePr>
        <p:xfrm>
          <a:off x="596900" y="3744913"/>
          <a:ext cx="10731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7200" imgH="215640" progId="Equation.3">
                  <p:embed/>
                </p:oleObj>
              </mc:Choice>
              <mc:Fallback>
                <p:oleObj name="Equation" r:id="rId8" imgW="45720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" y="3744913"/>
                        <a:ext cx="107315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8279" name="Object 7"/>
          <p:cNvGraphicFramePr>
            <a:graphicFrameLocks noChangeAspect="1"/>
          </p:cNvGraphicFramePr>
          <p:nvPr/>
        </p:nvGraphicFramePr>
        <p:xfrm>
          <a:off x="6391349" y="2204864"/>
          <a:ext cx="1997075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50680" imgH="279360" progId="Equation.3">
                  <p:embed/>
                </p:oleObj>
              </mc:Choice>
              <mc:Fallback>
                <p:oleObj name="Equation" r:id="rId10" imgW="850680" imgH="27936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1349" y="2204864"/>
                        <a:ext cx="1997075" cy="655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8280" name="Object 8"/>
          <p:cNvGraphicFramePr>
            <a:graphicFrameLocks noChangeAspect="1"/>
          </p:cNvGraphicFramePr>
          <p:nvPr/>
        </p:nvGraphicFramePr>
        <p:xfrm>
          <a:off x="5282059" y="2924175"/>
          <a:ext cx="3754437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00200" imgH="393480" progId="Equation.3">
                  <p:embed/>
                </p:oleObj>
              </mc:Choice>
              <mc:Fallback>
                <p:oleObj name="Equation" r:id="rId12" imgW="1600200" imgH="393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2059" y="2924175"/>
                        <a:ext cx="3754437" cy="922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8281" name="Object 9"/>
          <p:cNvGraphicFramePr>
            <a:graphicFrameLocks noChangeAspect="1"/>
          </p:cNvGraphicFramePr>
          <p:nvPr/>
        </p:nvGraphicFramePr>
        <p:xfrm>
          <a:off x="6941964" y="4033838"/>
          <a:ext cx="1014412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31640" imgH="190440" progId="Equation.3">
                  <p:embed/>
                </p:oleObj>
              </mc:Choice>
              <mc:Fallback>
                <p:oleObj name="Equation" r:id="rId14" imgW="431640" imgH="1904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1964" y="4033838"/>
                        <a:ext cx="1014412" cy="446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8282" name="Object 10"/>
          <p:cNvGraphicFramePr>
            <a:graphicFrameLocks noChangeAspect="1"/>
          </p:cNvGraphicFramePr>
          <p:nvPr/>
        </p:nvGraphicFramePr>
        <p:xfrm>
          <a:off x="1259632" y="4941168"/>
          <a:ext cx="2146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14400" imgH="291960" progId="Equation.3">
                  <p:embed/>
                </p:oleObj>
              </mc:Choice>
              <mc:Fallback>
                <p:oleObj name="Equation" r:id="rId16" imgW="914400" imgH="2919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941168"/>
                        <a:ext cx="21463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8283" name="Object 11"/>
          <p:cNvGraphicFramePr>
            <a:graphicFrameLocks noChangeAspect="1"/>
          </p:cNvGraphicFramePr>
          <p:nvPr/>
        </p:nvGraphicFramePr>
        <p:xfrm>
          <a:off x="4355976" y="4869160"/>
          <a:ext cx="3933825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76160" imgH="444240" progId="Equation.3">
                  <p:embed/>
                </p:oleObj>
              </mc:Choice>
              <mc:Fallback>
                <p:oleObj name="Equation" r:id="rId18" imgW="1676160" imgH="4442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4869160"/>
                        <a:ext cx="3933825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8284" name="Object 12"/>
          <p:cNvGraphicFramePr>
            <a:graphicFrameLocks noChangeAspect="1"/>
          </p:cNvGraphicFramePr>
          <p:nvPr/>
        </p:nvGraphicFramePr>
        <p:xfrm>
          <a:off x="2339752" y="5842440"/>
          <a:ext cx="3992562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01720" imgH="393480" progId="Equation.3">
                  <p:embed/>
                </p:oleObj>
              </mc:Choice>
              <mc:Fallback>
                <p:oleObj name="Equation" r:id="rId20" imgW="1701720" imgH="3934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5842440"/>
                        <a:ext cx="3992562" cy="922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323528" y="1988840"/>
            <a:ext cx="8424936" cy="2736304"/>
            <a:chOff x="323528" y="1988840"/>
            <a:chExt cx="8424936" cy="2736304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4572000" y="1988840"/>
              <a:ext cx="0" cy="27363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23528" y="4725144"/>
              <a:ext cx="842493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GB" dirty="0"/>
              <a:t>Example#1 (Steady Sate Errors)</a:t>
            </a:r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996952"/>
            <a:ext cx="1623244" cy="103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844824"/>
            <a:ext cx="2026345" cy="988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4437112"/>
            <a:ext cx="1469703" cy="109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39299" name="Object 3"/>
          <p:cNvGraphicFramePr>
            <a:graphicFrameLocks noChangeAspect="1"/>
          </p:cNvGraphicFramePr>
          <p:nvPr/>
        </p:nvGraphicFramePr>
        <p:xfrm>
          <a:off x="1187624" y="980728"/>
          <a:ext cx="10731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7200" imgH="215640" progId="Equation.3">
                  <p:embed/>
                </p:oleObj>
              </mc:Choice>
              <mc:Fallback>
                <p:oleObj name="Equation" r:id="rId5" imgW="45720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980728"/>
                        <a:ext cx="107315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00" name="Object 4"/>
          <p:cNvGraphicFramePr>
            <a:graphicFrameLocks noChangeAspect="1"/>
          </p:cNvGraphicFramePr>
          <p:nvPr/>
        </p:nvGraphicFramePr>
        <p:xfrm>
          <a:off x="3491880" y="908720"/>
          <a:ext cx="1014412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31640" imgH="190440" progId="Equation.3">
                  <p:embed/>
                </p:oleObj>
              </mc:Choice>
              <mc:Fallback>
                <p:oleObj name="Equation" r:id="rId7" imgW="431640" imgH="1904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908720"/>
                        <a:ext cx="1014412" cy="446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01" name="Object 5"/>
          <p:cNvGraphicFramePr>
            <a:graphicFrameLocks noChangeAspect="1"/>
          </p:cNvGraphicFramePr>
          <p:nvPr/>
        </p:nvGraphicFramePr>
        <p:xfrm>
          <a:off x="5508104" y="894680"/>
          <a:ext cx="1341437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71320" imgH="190440" progId="Equation.3">
                  <p:embed/>
                </p:oleObj>
              </mc:Choice>
              <mc:Fallback>
                <p:oleObj name="Equation" r:id="rId9" imgW="571320" imgH="1904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894680"/>
                        <a:ext cx="1341437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02" name="Object 6"/>
          <p:cNvGraphicFramePr>
            <a:graphicFrameLocks noChangeAspect="1"/>
          </p:cNvGraphicFramePr>
          <p:nvPr/>
        </p:nvGraphicFramePr>
        <p:xfrm>
          <a:off x="2555776" y="2133600"/>
          <a:ext cx="5080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5640" imgH="152280" progId="Equation.3">
                  <p:embed/>
                </p:oleObj>
              </mc:Choice>
              <mc:Fallback>
                <p:oleObj name="Equation" r:id="rId11" imgW="215640" imgH="1522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2133600"/>
                        <a:ext cx="508000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03" name="Object 7"/>
          <p:cNvGraphicFramePr>
            <a:graphicFrameLocks noChangeAspect="1"/>
          </p:cNvGraphicFramePr>
          <p:nvPr/>
        </p:nvGraphicFramePr>
        <p:xfrm>
          <a:off x="2195736" y="3287836"/>
          <a:ext cx="5080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5640" imgH="152280" progId="Equation.3">
                  <p:embed/>
                </p:oleObj>
              </mc:Choice>
              <mc:Fallback>
                <p:oleObj name="Equation" r:id="rId13" imgW="215640" imgH="1522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3287836"/>
                        <a:ext cx="508000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04" name="Object 8"/>
          <p:cNvGraphicFramePr>
            <a:graphicFrameLocks noChangeAspect="1"/>
          </p:cNvGraphicFramePr>
          <p:nvPr/>
        </p:nvGraphicFramePr>
        <p:xfrm>
          <a:off x="1857375" y="4797425"/>
          <a:ext cx="896938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880" imgH="152280" progId="Equation.3">
                  <p:embed/>
                </p:oleObj>
              </mc:Choice>
              <mc:Fallback>
                <p:oleObj name="Equation" r:id="rId15" imgW="380880" imgH="1522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4797425"/>
                        <a:ext cx="896938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lecture 22-23-24 Time Domain Analysis of 2nd order System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22-23-24 Time Domain Analysis of 2nd order Systems</Template>
  <TotalTime>199</TotalTime>
  <Words>704</Words>
  <Application>Microsoft Office PowerPoint</Application>
  <PresentationFormat>On-screen Show (4:3)</PresentationFormat>
  <Paragraphs>107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lecture 22-23-24 Time Domain Analysis of 2nd order Systems</vt:lpstr>
      <vt:lpstr>Equation</vt:lpstr>
      <vt:lpstr>Introduction</vt:lpstr>
      <vt:lpstr>Classification of Control Systems</vt:lpstr>
      <vt:lpstr>Classification of Control Systems</vt:lpstr>
      <vt:lpstr>Classification of Control Systems</vt:lpstr>
      <vt:lpstr>Steady State Error of Unity Feedback Systems</vt:lpstr>
      <vt:lpstr>Steady State Error of Unity Feedback Systems</vt:lpstr>
      <vt:lpstr>Static Error Constants</vt:lpstr>
      <vt:lpstr>Static Position Error Constant (Kp)</vt:lpstr>
      <vt:lpstr>Static Position Error Constant (Kp)</vt:lpstr>
      <vt:lpstr>Static Velocity Error Constant (Kv)</vt:lpstr>
      <vt:lpstr>Static Velocity Error Constant (Kv)</vt:lpstr>
      <vt:lpstr>Static Velocity Error Constant (Kv)</vt:lpstr>
      <vt:lpstr>Static Acceleration Error Constant (Ka)</vt:lpstr>
      <vt:lpstr>Static Acceleration Error Constant (Ka)</vt:lpstr>
      <vt:lpstr>Static Acceleration Error Constant (Ka)</vt:lpstr>
      <vt:lpstr>Summary</vt:lpstr>
      <vt:lpstr>Example#1</vt:lpstr>
      <vt:lpstr>Example#1 (evaluation of Static Error Constants)</vt:lpstr>
      <vt:lpstr>Example#1 (Steady Sate Errors)</vt:lpstr>
    </vt:vector>
  </TitlesOfParts>
  <Company>University Of Salford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Feedback Control Systems (FCS)</dc:title>
  <dc:creator>Imtiaz Hussain</dc:creator>
  <cp:lastModifiedBy>Ayesha Ali</cp:lastModifiedBy>
  <cp:revision>77</cp:revision>
  <dcterms:created xsi:type="dcterms:W3CDTF">2013-03-14T16:42:22Z</dcterms:created>
  <dcterms:modified xsi:type="dcterms:W3CDTF">2025-10-05T09:23:46Z</dcterms:modified>
</cp:coreProperties>
</file>