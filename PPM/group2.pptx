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8229600" cx="14630400"/>
  <p:notesSz cx="8229600" cy="14630400"/>
  <p:embeddedFontLst>
    <p:embeddedFont>
      <p:font typeface="Roboto Condensed"/>
      <p:regular r:id="rId15"/>
      <p:bold r:id="rId16"/>
      <p:italic r:id="rId17"/>
      <p:boldItalic r:id="rId18"/>
    </p:embeddedFont>
    <p:embeddedFont>
      <p:font typeface="Hubot Sans"/>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HubotSans-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Condensed-regular.fntdata"/><Relationship Id="rId14" Type="http://schemas.openxmlformats.org/officeDocument/2006/relationships/slide" Target="slides/slide10.xml"/><Relationship Id="rId17" Type="http://schemas.openxmlformats.org/officeDocument/2006/relationships/font" Target="fonts/RobotoCondensed-italic.fntdata"/><Relationship Id="rId16" Type="http://schemas.openxmlformats.org/officeDocument/2006/relationships/font" Target="fonts/RobotoCondensed-bold.fntdata"/><Relationship Id="rId5" Type="http://schemas.openxmlformats.org/officeDocument/2006/relationships/slide" Target="slides/slide1.xml"/><Relationship Id="rId19" Type="http://schemas.openxmlformats.org/officeDocument/2006/relationships/font" Target="fonts/HubotSans-bold.fntdata"/><Relationship Id="rId6" Type="http://schemas.openxmlformats.org/officeDocument/2006/relationships/slide" Target="slides/slide2.xml"/><Relationship Id="rId18" Type="http://schemas.openxmlformats.org/officeDocument/2006/relationships/font" Target="fonts/RobotoCondensed-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371850" y="1097275"/>
            <a:ext cx="548665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822950" y="6949425"/>
            <a:ext cx="6583675" cy="6583675"/>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 name="Google Shape;4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0" name="Google Shape;5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 name="Google Shape;5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0" name="Google Shape;6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79" name="Google Shape;7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 name="Google Shape;10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07" name="Google Shape;10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3" name="Google Shape;12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24" name="Google Shape;12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8" name="Google Shape;13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39" name="Google Shape;13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9" name="Google Shape;159;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85" name="Google Shape;18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04" name="Google Shape;204;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230" name="Google Shape;230;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Calibri"/>
                <a:ea typeface="Calibri"/>
                <a:cs typeface="Calibri"/>
                <a:sym typeface="Calibri"/>
              </a:rPr>
              <a:t>‹#›</a:t>
            </a:fld>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6" name="Shape 6"/>
        <p:cNvGrpSpPr/>
        <p:nvPr/>
      </p:nvGrpSpPr>
      <p:grpSpPr>
        <a:xfrm>
          <a:off x="0" y="0"/>
          <a:ext cx="0" cy="0"/>
          <a:chOff x="0" y="0"/>
          <a:chExt cx="0" cy="0"/>
        </a:xfrm>
      </p:grpSpPr>
      <p:sp>
        <p:nvSpPr>
          <p:cNvPr id="7" name="Google Shape;7;p2"/>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2"/>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 name="Google Shape;9;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0" name="Shape 10"/>
        <p:cNvGrpSpPr/>
        <p:nvPr/>
      </p:nvGrpSpPr>
      <p:grpSpPr>
        <a:xfrm>
          <a:off x="0" y="0"/>
          <a:ext cx="0" cy="0"/>
          <a:chOff x="0" y="0"/>
          <a:chExt cx="0" cy="0"/>
        </a:xfrm>
      </p:grpSpPr>
      <p:sp>
        <p:nvSpPr>
          <p:cNvPr id="11" name="Google Shape;11;p3"/>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3"/>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4" name="Shape 14"/>
        <p:cNvGrpSpPr/>
        <p:nvPr/>
      </p:nvGrpSpPr>
      <p:grpSpPr>
        <a:xfrm>
          <a:off x="0" y="0"/>
          <a:ext cx="0" cy="0"/>
          <a:chOff x="0" y="0"/>
          <a:chExt cx="0" cy="0"/>
        </a:xfrm>
      </p:grpSpPr>
      <p:sp>
        <p:nvSpPr>
          <p:cNvPr id="15" name="Google Shape;15;p4"/>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4"/>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8" name="Shape 18"/>
        <p:cNvGrpSpPr/>
        <p:nvPr/>
      </p:nvGrpSpPr>
      <p:grpSpPr>
        <a:xfrm>
          <a:off x="0" y="0"/>
          <a:ext cx="0" cy="0"/>
          <a:chOff x="0" y="0"/>
          <a:chExt cx="0" cy="0"/>
        </a:xfrm>
      </p:grpSpPr>
      <p:sp>
        <p:nvSpPr>
          <p:cNvPr id="19" name="Google Shape;19;p5"/>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5"/>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6" name="Shape 26"/>
        <p:cNvGrpSpPr/>
        <p:nvPr/>
      </p:nvGrpSpPr>
      <p:grpSpPr>
        <a:xfrm>
          <a:off x="0" y="0"/>
          <a:ext cx="0" cy="0"/>
          <a:chOff x="0" y="0"/>
          <a:chExt cx="0" cy="0"/>
        </a:xfrm>
      </p:grpSpPr>
      <p:sp>
        <p:nvSpPr>
          <p:cNvPr id="27" name="Google Shape;27;p7"/>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7"/>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30" name="Shape 30"/>
        <p:cNvGrpSpPr/>
        <p:nvPr/>
      </p:nvGrpSpPr>
      <p:grpSpPr>
        <a:xfrm>
          <a:off x="0" y="0"/>
          <a:ext cx="0" cy="0"/>
          <a:chOff x="0" y="0"/>
          <a:chExt cx="0" cy="0"/>
        </a:xfrm>
      </p:grpSpPr>
      <p:sp>
        <p:nvSpPr>
          <p:cNvPr id="31" name="Google Shape;31;p8"/>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8"/>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8">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4" name="Shape 34"/>
        <p:cNvGrpSpPr/>
        <p:nvPr/>
      </p:nvGrpSpPr>
      <p:grpSpPr>
        <a:xfrm>
          <a:off x="0" y="0"/>
          <a:ext cx="0" cy="0"/>
          <a:chOff x="0" y="0"/>
          <a:chExt cx="0" cy="0"/>
        </a:xfrm>
      </p:grpSpPr>
      <p:sp>
        <p:nvSpPr>
          <p:cNvPr id="35" name="Google Shape;35;p9"/>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9">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8" name="Shape 38"/>
        <p:cNvGrpSpPr/>
        <p:nvPr/>
      </p:nvGrpSpPr>
      <p:grpSpPr>
        <a:xfrm>
          <a:off x="0" y="0"/>
          <a:ext cx="0" cy="0"/>
          <a:chOff x="0" y="0"/>
          <a:chExt cx="0" cy="0"/>
        </a:xfrm>
      </p:grpSpPr>
      <p:sp>
        <p:nvSpPr>
          <p:cNvPr id="39" name="Google Shape;39;p10"/>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10"/>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0">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42" name="Shape 42"/>
        <p:cNvGrpSpPr/>
        <p:nvPr/>
      </p:nvGrpSpPr>
      <p:grpSpPr>
        <a:xfrm>
          <a:off x="0" y="0"/>
          <a:ext cx="0" cy="0"/>
          <a:chOff x="0" y="0"/>
          <a:chExt cx="0" cy="0"/>
        </a:xfrm>
      </p:grpSpPr>
      <p:sp>
        <p:nvSpPr>
          <p:cNvPr id="43" name="Google Shape;43;p11"/>
          <p:cNvSpPr/>
          <p:nvPr/>
        </p:nvSpPr>
        <p:spPr>
          <a:xfrm>
            <a:off x="0" y="0"/>
            <a:ext cx="14630400" cy="8229600"/>
          </a:xfrm>
          <a:prstGeom prst="rect">
            <a:avLst/>
          </a:prstGeom>
          <a:solidFill>
            <a:srgbClr val="0C0D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1"/>
          <p:cNvSpPr/>
          <p:nvPr/>
        </p:nvSpPr>
        <p:spPr>
          <a:xfrm>
            <a:off x="0" y="0"/>
            <a:ext cx="14630400" cy="8229600"/>
          </a:xfrm>
          <a:prstGeom prst="rect">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1">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6" name="Shape 4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22.png"/><Relationship Id="rId4" Type="http://schemas.openxmlformats.org/officeDocument/2006/relationships/image" Target="../media/image12.png"/><Relationship Id="rId5" Type="http://schemas.openxmlformats.org/officeDocument/2006/relationships/image" Target="../media/image11.png"/><Relationship Id="rId6" Type="http://schemas.openxmlformats.org/officeDocument/2006/relationships/image" Target="../media/image14.png"/><Relationship Id="rId7"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descr="preencoded.png" id="52" name="Google Shape;52;p13"/>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53" name="Google Shape;53;p13"/>
          <p:cNvSpPr/>
          <p:nvPr/>
        </p:nvSpPr>
        <p:spPr>
          <a:xfrm>
            <a:off x="6280190" y="866061"/>
            <a:ext cx="7556421" cy="3543895"/>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C0D0F"/>
              </a:buClr>
              <a:buSzPts val="4450"/>
              <a:buFont typeface="Hubot Sans"/>
              <a:buNone/>
            </a:pPr>
            <a:r>
              <a:rPr b="1" i="0" lang="en-US" sz="4450" u="none" cap="none" strike="noStrike">
                <a:solidFill>
                  <a:srgbClr val="0C0D0F"/>
                </a:solidFill>
                <a:latin typeface="Hubot Sans"/>
                <a:ea typeface="Hubot Sans"/>
                <a:cs typeface="Hubot Sans"/>
                <a:sym typeface="Hubot Sans"/>
              </a:rPr>
              <a:t>Chapter 5, Section 5.2: Estimating Guidelines for Times, Costs, and Resources</a:t>
            </a:r>
            <a:endParaRPr b="0" i="0" sz="4450" u="none" cap="none" strike="noStrike">
              <a:solidFill>
                <a:schemeClr val="dk1"/>
              </a:solidFill>
              <a:latin typeface="Calibri"/>
              <a:ea typeface="Calibri"/>
              <a:cs typeface="Calibri"/>
              <a:sym typeface="Calibri"/>
            </a:endParaRPr>
          </a:p>
        </p:txBody>
      </p:sp>
      <p:sp>
        <p:nvSpPr>
          <p:cNvPr id="54" name="Google Shape;54;p13"/>
          <p:cNvSpPr/>
          <p:nvPr/>
        </p:nvSpPr>
        <p:spPr>
          <a:xfrm>
            <a:off x="6280190" y="4500682"/>
            <a:ext cx="7556421"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C0D0F"/>
              </a:buClr>
              <a:buSzPts val="2200"/>
              <a:buFont typeface="Hubot Sans"/>
              <a:buNone/>
            </a:pPr>
            <a:r>
              <a:rPr b="1" i="0" lang="en-US" sz="2200" u="none" cap="none" strike="noStrike">
                <a:solidFill>
                  <a:srgbClr val="0C0D0F"/>
                </a:solidFill>
                <a:latin typeface="Hubot Sans"/>
                <a:ea typeface="Hubot Sans"/>
                <a:cs typeface="Hubot Sans"/>
                <a:sym typeface="Hubot Sans"/>
              </a:rPr>
              <a:t>A Framework for Actionable Project Estimation</a:t>
            </a:r>
            <a:endParaRPr b="0" i="0" sz="2200" u="none" cap="none" strike="noStrike">
              <a:solidFill>
                <a:schemeClr val="dk1"/>
              </a:solidFill>
              <a:latin typeface="Calibri"/>
              <a:ea typeface="Calibri"/>
              <a:cs typeface="Calibri"/>
              <a:sym typeface="Calibri"/>
            </a:endParaRPr>
          </a:p>
        </p:txBody>
      </p:sp>
      <p:sp>
        <p:nvSpPr>
          <p:cNvPr id="55" name="Google Shape;55;p13"/>
          <p:cNvSpPr/>
          <p:nvPr/>
        </p:nvSpPr>
        <p:spPr>
          <a:xfrm>
            <a:off x="6280190" y="5549503"/>
            <a:ext cx="7556421" cy="1814036"/>
          </a:xfrm>
          <a:prstGeom prst="rect">
            <a:avLst/>
          </a:prstGeom>
          <a:noFill/>
          <a:ln>
            <a:noFill/>
          </a:ln>
        </p:spPr>
        <p:txBody>
          <a:bodyPr anchorCtr="0" anchor="t" bIns="0" lIns="0" spcFirstLastPara="1" rIns="0" wrap="square" tIns="0">
            <a:noAutofit/>
          </a:bodyPr>
          <a:lstStyle/>
          <a:p>
            <a:pPr indent="0" lvl="0" marL="0" marR="0" rtl="0" algn="l">
              <a:lnSpc>
                <a:spcPct val="161363"/>
              </a:lnSpc>
              <a:spcBef>
                <a:spcPts val="0"/>
              </a:spcBef>
              <a:spcAft>
                <a:spcPts val="0"/>
              </a:spcAft>
              <a:buClr>
                <a:srgbClr val="55575A"/>
              </a:buClr>
              <a:buSzPts val="2200"/>
              <a:buFont typeface="Roboto Condensed"/>
              <a:buNone/>
            </a:pPr>
            <a:r>
              <a:rPr b="0" i="0" lang="en-US" sz="2200" u="none" cap="none" strike="noStrike">
                <a:solidFill>
                  <a:srgbClr val="55575A"/>
                </a:solidFill>
                <a:latin typeface="Roboto Condensed"/>
                <a:ea typeface="Roboto Condensed"/>
                <a:cs typeface="Roboto Condensed"/>
                <a:sym typeface="Roboto Condensed"/>
              </a:rPr>
              <a:t>Based on 'Project Management: The Managerial Process' (8th Ed) by Erik W. Larson. This guide provides essential, practical rules for project managers seeking to improve the accuracy and reliability of their time and cost estimates.</a:t>
            </a:r>
            <a:endParaRPr b="0" i="0" sz="2200" u="none" cap="none" strike="noStrike">
              <a:solidFill>
                <a:schemeClr val="dk1"/>
              </a:solidFill>
              <a:latin typeface="Calibri"/>
              <a:ea typeface="Calibri"/>
              <a:cs typeface="Calibri"/>
              <a:sym typeface="Calibri"/>
            </a:endParaRPr>
          </a:p>
        </p:txBody>
      </p:sp>
      <p:sp>
        <p:nvSpPr>
          <p:cNvPr id="56" name="Google Shape;56;p13"/>
          <p:cNvSpPr/>
          <p:nvPr/>
        </p:nvSpPr>
        <p:spPr>
          <a:xfrm>
            <a:off x="12845668" y="7700790"/>
            <a:ext cx="1729648" cy="45169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p:nvPr/>
        </p:nvSpPr>
        <p:spPr>
          <a:xfrm>
            <a:off x="766167" y="601980"/>
            <a:ext cx="9224010" cy="581382"/>
          </a:xfrm>
          <a:prstGeom prst="rect">
            <a:avLst/>
          </a:prstGeom>
          <a:noFill/>
          <a:ln>
            <a:noFill/>
          </a:ln>
        </p:spPr>
        <p:txBody>
          <a:bodyPr anchorCtr="0" anchor="t" bIns="0" lIns="0" spcFirstLastPara="1" rIns="0" wrap="square" tIns="0">
            <a:noAutofit/>
          </a:bodyPr>
          <a:lstStyle/>
          <a:p>
            <a:pPr indent="0" lvl="0" marL="0" marR="0" rtl="0" algn="l">
              <a:lnSpc>
                <a:spcPct val="124657"/>
              </a:lnSpc>
              <a:spcBef>
                <a:spcPts val="0"/>
              </a:spcBef>
              <a:spcAft>
                <a:spcPts val="0"/>
              </a:spcAft>
              <a:buClr>
                <a:srgbClr val="0C0D0F"/>
              </a:buClr>
              <a:buSzPts val="3650"/>
              <a:buFont typeface="Hubot Sans"/>
              <a:buNone/>
            </a:pPr>
            <a:r>
              <a:rPr b="1" lang="en-US" sz="3650">
                <a:solidFill>
                  <a:srgbClr val="0C0D0F"/>
                </a:solidFill>
                <a:latin typeface="Hubot Sans"/>
                <a:ea typeface="Hubot Sans"/>
                <a:cs typeface="Hubot Sans"/>
                <a:sym typeface="Hubot Sans"/>
              </a:rPr>
              <a:t>Why Accurate Estimates Matter</a:t>
            </a:r>
            <a:endParaRPr sz="3650">
              <a:solidFill>
                <a:schemeClr val="dk1"/>
              </a:solidFill>
              <a:latin typeface="Calibri"/>
              <a:ea typeface="Calibri"/>
              <a:cs typeface="Calibri"/>
              <a:sym typeface="Calibri"/>
            </a:endParaRPr>
          </a:p>
        </p:txBody>
      </p:sp>
      <p:sp>
        <p:nvSpPr>
          <p:cNvPr id="63" name="Google Shape;63;p14"/>
          <p:cNvSpPr/>
          <p:nvPr/>
        </p:nvSpPr>
        <p:spPr>
          <a:xfrm>
            <a:off x="766167" y="1671757"/>
            <a:ext cx="418624" cy="418624"/>
          </a:xfrm>
          <a:prstGeom prst="roundRect">
            <a:avLst>
              <a:gd fmla="val 666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1370767" y="1706642"/>
            <a:ext cx="3117771" cy="697706"/>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55575A"/>
              </a:buClr>
              <a:buSzPts val="2150"/>
              <a:buFont typeface="Hubot Sans"/>
              <a:buNone/>
            </a:pPr>
            <a:r>
              <a:rPr b="1" lang="en-US" sz="2150">
                <a:solidFill>
                  <a:srgbClr val="55575A"/>
                </a:solidFill>
                <a:latin typeface="Hubot Sans"/>
                <a:ea typeface="Hubot Sans"/>
                <a:cs typeface="Hubot Sans"/>
                <a:sym typeface="Hubot Sans"/>
              </a:rPr>
              <a:t>Foundation for Control</a:t>
            </a:r>
            <a:endParaRPr sz="2150">
              <a:solidFill>
                <a:schemeClr val="dk1"/>
              </a:solidFill>
              <a:latin typeface="Calibri"/>
              <a:ea typeface="Calibri"/>
              <a:cs typeface="Calibri"/>
              <a:sym typeface="Calibri"/>
            </a:endParaRPr>
          </a:p>
        </p:txBody>
      </p:sp>
      <p:sp>
        <p:nvSpPr>
          <p:cNvPr id="65" name="Google Shape;65;p14"/>
          <p:cNvSpPr/>
          <p:nvPr/>
        </p:nvSpPr>
        <p:spPr>
          <a:xfrm>
            <a:off x="1370767" y="2590324"/>
            <a:ext cx="3117771" cy="1860947"/>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55575A"/>
              </a:buClr>
              <a:buSzPts val="1800"/>
              <a:buFont typeface="Roboto Condensed"/>
              <a:buNone/>
            </a:pPr>
            <a:r>
              <a:rPr lang="en-US" sz="1800">
                <a:solidFill>
                  <a:srgbClr val="55575A"/>
                </a:solidFill>
                <a:latin typeface="Roboto Condensed"/>
                <a:ea typeface="Roboto Condensed"/>
                <a:cs typeface="Roboto Condensed"/>
                <a:sym typeface="Roboto Condensed"/>
              </a:rPr>
              <a:t>Accurate estimates are critical for effective planning, scheduling, resource allocation, and project control. Without them, project baselines are meaningless.</a:t>
            </a:r>
            <a:endParaRPr sz="1800">
              <a:solidFill>
                <a:schemeClr val="dk1"/>
              </a:solidFill>
              <a:latin typeface="Calibri"/>
              <a:ea typeface="Calibri"/>
              <a:cs typeface="Calibri"/>
              <a:sym typeface="Calibri"/>
            </a:endParaRPr>
          </a:p>
        </p:txBody>
      </p:sp>
      <p:sp>
        <p:nvSpPr>
          <p:cNvPr id="66" name="Google Shape;66;p14"/>
          <p:cNvSpPr/>
          <p:nvPr/>
        </p:nvSpPr>
        <p:spPr>
          <a:xfrm>
            <a:off x="4721066" y="1671757"/>
            <a:ext cx="418624" cy="418624"/>
          </a:xfrm>
          <a:prstGeom prst="roundRect">
            <a:avLst>
              <a:gd fmla="val 666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5325666" y="1706642"/>
            <a:ext cx="2791182" cy="34885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55575A"/>
              </a:buClr>
              <a:buSzPts val="2150"/>
              <a:buFont typeface="Hubot Sans"/>
              <a:buNone/>
            </a:pPr>
            <a:r>
              <a:rPr b="1" lang="en-US" sz="2150">
                <a:solidFill>
                  <a:srgbClr val="55575A"/>
                </a:solidFill>
                <a:latin typeface="Hubot Sans"/>
                <a:ea typeface="Hubot Sans"/>
                <a:cs typeface="Hubot Sans"/>
                <a:sym typeface="Hubot Sans"/>
              </a:rPr>
              <a:t>Risk of Failure</a:t>
            </a:r>
            <a:endParaRPr sz="2150">
              <a:solidFill>
                <a:schemeClr val="dk1"/>
              </a:solidFill>
              <a:latin typeface="Calibri"/>
              <a:ea typeface="Calibri"/>
              <a:cs typeface="Calibri"/>
              <a:sym typeface="Calibri"/>
            </a:endParaRPr>
          </a:p>
        </p:txBody>
      </p:sp>
      <p:sp>
        <p:nvSpPr>
          <p:cNvPr id="68" name="Google Shape;68;p14"/>
          <p:cNvSpPr/>
          <p:nvPr/>
        </p:nvSpPr>
        <p:spPr>
          <a:xfrm>
            <a:off x="5325666" y="2241471"/>
            <a:ext cx="3117771" cy="1488758"/>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55575A"/>
              </a:buClr>
              <a:buSzPts val="1800"/>
              <a:buFont typeface="Roboto Condensed"/>
              <a:buNone/>
            </a:pPr>
            <a:r>
              <a:rPr lang="en-US" sz="1800">
                <a:solidFill>
                  <a:srgbClr val="55575A"/>
                </a:solidFill>
                <a:latin typeface="Roboto Condensed"/>
                <a:ea typeface="Roboto Condensed"/>
                <a:cs typeface="Roboto Condensed"/>
                <a:sym typeface="Roboto Condensed"/>
              </a:rPr>
              <a:t>Poor, rushed, or biased estimates are one of the leading causes of project failure, scope creep, and budget overruns.</a:t>
            </a:r>
            <a:endParaRPr sz="1800">
              <a:solidFill>
                <a:schemeClr val="dk1"/>
              </a:solidFill>
              <a:latin typeface="Calibri"/>
              <a:ea typeface="Calibri"/>
              <a:cs typeface="Calibri"/>
              <a:sym typeface="Calibri"/>
            </a:endParaRPr>
          </a:p>
        </p:txBody>
      </p:sp>
      <p:sp>
        <p:nvSpPr>
          <p:cNvPr id="69" name="Google Shape;69;p14"/>
          <p:cNvSpPr/>
          <p:nvPr/>
        </p:nvSpPr>
        <p:spPr>
          <a:xfrm>
            <a:off x="766167" y="4823341"/>
            <a:ext cx="418624" cy="418624"/>
          </a:xfrm>
          <a:prstGeom prst="roundRect">
            <a:avLst>
              <a:gd fmla="val 666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1370767" y="4858226"/>
            <a:ext cx="3126343" cy="348853"/>
          </a:xfrm>
          <a:prstGeom prst="rect">
            <a:avLst/>
          </a:prstGeom>
          <a:noFill/>
          <a:ln>
            <a:noFill/>
          </a:ln>
        </p:spPr>
        <p:txBody>
          <a:bodyPr anchorCtr="0" anchor="t" bIns="0" lIns="0" spcFirstLastPara="1" rIns="0" wrap="square" tIns="0">
            <a:noAutofit/>
          </a:bodyPr>
          <a:lstStyle/>
          <a:p>
            <a:pPr indent="0" lvl="0" marL="0" marR="0" rtl="0" algn="l">
              <a:lnSpc>
                <a:spcPct val="125581"/>
              </a:lnSpc>
              <a:spcBef>
                <a:spcPts val="0"/>
              </a:spcBef>
              <a:spcAft>
                <a:spcPts val="0"/>
              </a:spcAft>
              <a:buClr>
                <a:srgbClr val="55575A"/>
              </a:buClr>
              <a:buSzPts val="2150"/>
              <a:buFont typeface="Hubot Sans"/>
              <a:buNone/>
            </a:pPr>
            <a:r>
              <a:rPr b="1" lang="en-US" sz="2150">
                <a:solidFill>
                  <a:srgbClr val="55575A"/>
                </a:solidFill>
                <a:latin typeface="Hubot Sans"/>
                <a:ea typeface="Hubot Sans"/>
                <a:cs typeface="Hubot Sans"/>
                <a:sym typeface="Hubot Sans"/>
              </a:rPr>
              <a:t>Art Meets Science</a:t>
            </a:r>
            <a:endParaRPr sz="2150">
              <a:solidFill>
                <a:schemeClr val="dk1"/>
              </a:solidFill>
              <a:latin typeface="Calibri"/>
              <a:ea typeface="Calibri"/>
              <a:cs typeface="Calibri"/>
              <a:sym typeface="Calibri"/>
            </a:endParaRPr>
          </a:p>
        </p:txBody>
      </p:sp>
      <p:sp>
        <p:nvSpPr>
          <p:cNvPr id="71" name="Google Shape;71;p14"/>
          <p:cNvSpPr/>
          <p:nvPr/>
        </p:nvSpPr>
        <p:spPr>
          <a:xfrm>
            <a:off x="1370767" y="5393055"/>
            <a:ext cx="7072670" cy="744379"/>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55575A"/>
              </a:buClr>
              <a:buSzPts val="1800"/>
              <a:buFont typeface="Roboto Condensed"/>
              <a:buNone/>
            </a:pPr>
            <a:r>
              <a:rPr lang="en-US" sz="1800">
                <a:solidFill>
                  <a:srgbClr val="55575A"/>
                </a:solidFill>
                <a:latin typeface="Roboto Condensed"/>
                <a:ea typeface="Roboto Condensed"/>
                <a:cs typeface="Roboto Condensed"/>
                <a:sym typeface="Roboto Condensed"/>
              </a:rPr>
              <a:t>Estimating combines art and science—balancing empirical data, established methodologies, professional experience, and inherent uncertainty.</a:t>
            </a:r>
            <a:endParaRPr sz="1800">
              <a:solidFill>
                <a:schemeClr val="dk1"/>
              </a:solidFill>
              <a:latin typeface="Calibri"/>
              <a:ea typeface="Calibri"/>
              <a:cs typeface="Calibri"/>
              <a:sym typeface="Calibri"/>
            </a:endParaRPr>
          </a:p>
        </p:txBody>
      </p:sp>
      <p:pic>
        <p:nvPicPr>
          <p:cNvPr descr="preencoded.png" id="72" name="Google Shape;72;p14"/>
          <p:cNvPicPr preferRelativeResize="0"/>
          <p:nvPr/>
        </p:nvPicPr>
        <p:blipFill rotWithShape="1">
          <a:blip r:embed="rId3">
            <a:alphaModFix/>
          </a:blip>
          <a:srcRect b="0" l="0" r="0" t="0"/>
          <a:stretch/>
        </p:blipFill>
        <p:spPr>
          <a:xfrm>
            <a:off x="8904923" y="1671757"/>
            <a:ext cx="4221718" cy="4221718"/>
          </a:xfrm>
          <a:prstGeom prst="rect">
            <a:avLst/>
          </a:prstGeom>
          <a:noFill/>
          <a:ln>
            <a:noFill/>
          </a:ln>
        </p:spPr>
      </p:pic>
      <p:sp>
        <p:nvSpPr>
          <p:cNvPr id="73" name="Google Shape;73;p14"/>
          <p:cNvSpPr/>
          <p:nvPr/>
        </p:nvSpPr>
        <p:spPr>
          <a:xfrm>
            <a:off x="9184005" y="6102787"/>
            <a:ext cx="4687729" cy="1488758"/>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55575A"/>
              </a:buClr>
              <a:buSzPts val="1800"/>
              <a:buFont typeface="Roboto Condensed"/>
              <a:buNone/>
            </a:pPr>
            <a:r>
              <a:rPr lang="en-US" sz="1800">
                <a:solidFill>
                  <a:srgbClr val="55575A"/>
                </a:solidFill>
                <a:latin typeface="Roboto Condensed"/>
                <a:ea typeface="Roboto Condensed"/>
                <a:cs typeface="Roboto Condensed"/>
                <a:sym typeface="Roboto Condensed"/>
              </a:rPr>
              <a:t>Example: NASA’s complex Mars projects rely heavily on historical data (analogous estimating) and expert judgment to develop comprehensive estimates and avoid catastrophic cost overruns.</a:t>
            </a:r>
            <a:endParaRPr sz="1800">
              <a:solidFill>
                <a:schemeClr val="dk1"/>
              </a:solidFill>
              <a:latin typeface="Calibri"/>
              <a:ea typeface="Calibri"/>
              <a:cs typeface="Calibri"/>
              <a:sym typeface="Calibri"/>
            </a:endParaRPr>
          </a:p>
        </p:txBody>
      </p:sp>
      <p:sp>
        <p:nvSpPr>
          <p:cNvPr id="74" name="Google Shape;74;p14"/>
          <p:cNvSpPr/>
          <p:nvPr/>
        </p:nvSpPr>
        <p:spPr>
          <a:xfrm>
            <a:off x="8904923" y="6102787"/>
            <a:ext cx="22860" cy="1488758"/>
          </a:xfrm>
          <a:prstGeom prst="rect">
            <a:avLst/>
          </a:prstGeom>
          <a:solidFill>
            <a:srgbClr val="1E1E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12823634" y="7700790"/>
            <a:ext cx="1729648" cy="45169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descr="preencoded.png" id="81" name="Google Shape;81;p15"/>
          <p:cNvPicPr preferRelativeResize="0"/>
          <p:nvPr/>
        </p:nvPicPr>
        <p:blipFill rotWithShape="1">
          <a:blip r:embed="rId3">
            <a:alphaModFix/>
          </a:blip>
          <a:srcRect b="0" l="0" r="0" t="0"/>
          <a:stretch/>
        </p:blipFill>
        <p:spPr>
          <a:xfrm>
            <a:off x="0" y="0"/>
            <a:ext cx="14630400" cy="2126456"/>
          </a:xfrm>
          <a:prstGeom prst="rect">
            <a:avLst/>
          </a:prstGeom>
          <a:noFill/>
          <a:ln>
            <a:noFill/>
          </a:ln>
        </p:spPr>
      </p:pic>
      <p:sp>
        <p:nvSpPr>
          <p:cNvPr id="82" name="Google Shape;82;p15"/>
          <p:cNvSpPr/>
          <p:nvPr/>
        </p:nvSpPr>
        <p:spPr>
          <a:xfrm>
            <a:off x="793790" y="3000137"/>
            <a:ext cx="2126456" cy="265747"/>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0C0D0F"/>
              </a:buClr>
              <a:buSzPts val="1650"/>
              <a:buFont typeface="Hubot Sans"/>
              <a:buNone/>
            </a:pPr>
            <a:r>
              <a:rPr b="1" lang="en-US" sz="1650">
                <a:solidFill>
                  <a:srgbClr val="0C0D0F"/>
                </a:solidFill>
                <a:latin typeface="Hubot Sans"/>
                <a:ea typeface="Hubot Sans"/>
                <a:cs typeface="Hubot Sans"/>
                <a:sym typeface="Hubot Sans"/>
              </a:rPr>
              <a:t>Guideline 1</a:t>
            </a:r>
            <a:endParaRPr sz="1650">
              <a:solidFill>
                <a:schemeClr val="dk1"/>
              </a:solidFill>
              <a:latin typeface="Calibri"/>
              <a:ea typeface="Calibri"/>
              <a:cs typeface="Calibri"/>
              <a:sym typeface="Calibri"/>
            </a:endParaRPr>
          </a:p>
        </p:txBody>
      </p:sp>
      <p:sp>
        <p:nvSpPr>
          <p:cNvPr id="83" name="Google Shape;83;p15"/>
          <p:cNvSpPr/>
          <p:nvPr/>
        </p:nvSpPr>
        <p:spPr>
          <a:xfrm>
            <a:off x="793790" y="3521035"/>
            <a:ext cx="10393918" cy="73354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C0D0F"/>
              </a:buClr>
              <a:buSzPts val="4600"/>
              <a:buFont typeface="Hubot Sans"/>
              <a:buNone/>
            </a:pPr>
            <a:r>
              <a:rPr b="1" lang="en-US" sz="4600">
                <a:solidFill>
                  <a:srgbClr val="0C0D0F"/>
                </a:solidFill>
                <a:latin typeface="Hubot Sans"/>
                <a:ea typeface="Hubot Sans"/>
                <a:cs typeface="Hubot Sans"/>
                <a:sym typeface="Hubot Sans"/>
              </a:rPr>
              <a:t>Responsibility &amp; Ownership</a:t>
            </a:r>
            <a:endParaRPr sz="4600">
              <a:solidFill>
                <a:schemeClr val="dk1"/>
              </a:solidFill>
              <a:latin typeface="Calibri"/>
              <a:ea typeface="Calibri"/>
              <a:cs typeface="Calibri"/>
              <a:sym typeface="Calibri"/>
            </a:endParaRPr>
          </a:p>
        </p:txBody>
      </p:sp>
      <p:sp>
        <p:nvSpPr>
          <p:cNvPr id="84" name="Google Shape;84;p15"/>
          <p:cNvSpPr/>
          <p:nvPr/>
        </p:nvSpPr>
        <p:spPr>
          <a:xfrm>
            <a:off x="793790" y="4764881"/>
            <a:ext cx="4234220" cy="2059543"/>
          </a:xfrm>
          <a:prstGeom prst="roundRect">
            <a:avLst>
              <a:gd fmla="val 5328" name="adj"/>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5"/>
          <p:cNvSpPr/>
          <p:nvPr/>
        </p:nvSpPr>
        <p:spPr>
          <a:xfrm>
            <a:off x="793790" y="4742021"/>
            <a:ext cx="4234220" cy="91440"/>
          </a:xfrm>
          <a:prstGeom prst="roundRect">
            <a:avLst>
              <a:gd fmla="val 27907" name="adj"/>
            </a:avLst>
          </a:prstGeom>
          <a:solidFill>
            <a:srgbClr val="C8CA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5"/>
          <p:cNvSpPr/>
          <p:nvPr/>
        </p:nvSpPr>
        <p:spPr>
          <a:xfrm>
            <a:off x="2655689" y="4509730"/>
            <a:ext cx="510302" cy="510302"/>
          </a:xfrm>
          <a:prstGeom prst="roundRect">
            <a:avLst>
              <a:gd fmla="val 17918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 name="Google Shape;87;p15"/>
          <p:cNvPicPr preferRelativeResize="0"/>
          <p:nvPr/>
        </p:nvPicPr>
        <p:blipFill rotWithShape="1">
          <a:blip r:embed="rId4">
            <a:alphaModFix/>
          </a:blip>
          <a:srcRect b="0" l="0" r="0" t="0"/>
          <a:stretch/>
        </p:blipFill>
        <p:spPr>
          <a:xfrm>
            <a:off x="2808803" y="4637246"/>
            <a:ext cx="204073" cy="255151"/>
          </a:xfrm>
          <a:prstGeom prst="rect">
            <a:avLst/>
          </a:prstGeom>
          <a:noFill/>
          <a:ln>
            <a:noFill/>
          </a:ln>
        </p:spPr>
      </p:pic>
      <p:sp>
        <p:nvSpPr>
          <p:cNvPr id="88" name="Google Shape;88;p15"/>
          <p:cNvSpPr/>
          <p:nvPr/>
        </p:nvSpPr>
        <p:spPr>
          <a:xfrm>
            <a:off x="986671" y="5190173"/>
            <a:ext cx="3298865"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5575A"/>
              </a:buClr>
              <a:buSzPts val="2000"/>
              <a:buFont typeface="Hubot Sans"/>
              <a:buNone/>
            </a:pPr>
            <a:r>
              <a:rPr b="1" lang="en-US" sz="2000">
                <a:solidFill>
                  <a:srgbClr val="55575A"/>
                </a:solidFill>
                <a:latin typeface="Hubot Sans"/>
                <a:ea typeface="Hubot Sans"/>
                <a:cs typeface="Hubot Sans"/>
                <a:sym typeface="Hubot Sans"/>
              </a:rPr>
              <a:t>Estimator Expertise</a:t>
            </a:r>
            <a:endParaRPr sz="2000">
              <a:solidFill>
                <a:schemeClr val="dk1"/>
              </a:solidFill>
              <a:latin typeface="Calibri"/>
              <a:ea typeface="Calibri"/>
              <a:cs typeface="Calibri"/>
              <a:sym typeface="Calibri"/>
            </a:endParaRPr>
          </a:p>
        </p:txBody>
      </p:sp>
      <p:sp>
        <p:nvSpPr>
          <p:cNvPr id="89" name="Google Shape;89;p15"/>
          <p:cNvSpPr/>
          <p:nvPr/>
        </p:nvSpPr>
        <p:spPr>
          <a:xfrm>
            <a:off x="986671" y="5611058"/>
            <a:ext cx="3848457" cy="1020485"/>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5575A"/>
              </a:buClr>
              <a:buSzPts val="1650"/>
              <a:buFont typeface="Roboto Condensed"/>
              <a:buNone/>
            </a:pPr>
            <a:r>
              <a:rPr lang="en-US" sz="1650">
                <a:solidFill>
                  <a:srgbClr val="55575A"/>
                </a:solidFill>
                <a:latin typeface="Roboto Condensed"/>
                <a:ea typeface="Roboto Condensed"/>
                <a:cs typeface="Roboto Condensed"/>
                <a:sym typeface="Roboto Condensed"/>
              </a:rPr>
              <a:t>Estimates should always be made by the person(s) most familiar with the technical details of the task or work package.</a:t>
            </a:r>
            <a:endParaRPr sz="1650">
              <a:solidFill>
                <a:schemeClr val="dk1"/>
              </a:solidFill>
              <a:latin typeface="Calibri"/>
              <a:ea typeface="Calibri"/>
              <a:cs typeface="Calibri"/>
              <a:sym typeface="Calibri"/>
            </a:endParaRPr>
          </a:p>
        </p:txBody>
      </p:sp>
      <p:sp>
        <p:nvSpPr>
          <p:cNvPr id="90" name="Google Shape;90;p15"/>
          <p:cNvSpPr/>
          <p:nvPr/>
        </p:nvSpPr>
        <p:spPr>
          <a:xfrm>
            <a:off x="5198031" y="4764881"/>
            <a:ext cx="4234220" cy="2059543"/>
          </a:xfrm>
          <a:prstGeom prst="roundRect">
            <a:avLst>
              <a:gd fmla="val 5328" name="adj"/>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5"/>
          <p:cNvSpPr/>
          <p:nvPr/>
        </p:nvSpPr>
        <p:spPr>
          <a:xfrm>
            <a:off x="5198031" y="4742021"/>
            <a:ext cx="4234220" cy="91440"/>
          </a:xfrm>
          <a:prstGeom prst="roundRect">
            <a:avLst>
              <a:gd fmla="val 27907" name="adj"/>
            </a:avLst>
          </a:prstGeom>
          <a:solidFill>
            <a:srgbClr val="C8CA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7059930" y="4509730"/>
            <a:ext cx="510302" cy="510302"/>
          </a:xfrm>
          <a:prstGeom prst="roundRect">
            <a:avLst>
              <a:gd fmla="val 17918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3" name="Google Shape;93;p15"/>
          <p:cNvPicPr preferRelativeResize="0"/>
          <p:nvPr/>
        </p:nvPicPr>
        <p:blipFill rotWithShape="1">
          <a:blip r:embed="rId5">
            <a:alphaModFix/>
          </a:blip>
          <a:srcRect b="0" l="0" r="0" t="0"/>
          <a:stretch/>
        </p:blipFill>
        <p:spPr>
          <a:xfrm>
            <a:off x="7213044" y="4637246"/>
            <a:ext cx="204073" cy="255151"/>
          </a:xfrm>
          <a:prstGeom prst="rect">
            <a:avLst/>
          </a:prstGeom>
          <a:noFill/>
          <a:ln>
            <a:noFill/>
          </a:ln>
        </p:spPr>
      </p:pic>
      <p:sp>
        <p:nvSpPr>
          <p:cNvPr id="94" name="Google Shape;94;p15"/>
          <p:cNvSpPr/>
          <p:nvPr/>
        </p:nvSpPr>
        <p:spPr>
          <a:xfrm>
            <a:off x="5390912" y="5190173"/>
            <a:ext cx="2753916"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5575A"/>
              </a:buClr>
              <a:buSzPts val="2000"/>
              <a:buFont typeface="Hubot Sans"/>
              <a:buNone/>
            </a:pPr>
            <a:r>
              <a:rPr b="1" lang="en-US" sz="2000">
                <a:solidFill>
                  <a:srgbClr val="55575A"/>
                </a:solidFill>
                <a:latin typeface="Hubot Sans"/>
                <a:ea typeface="Hubot Sans"/>
                <a:cs typeface="Hubot Sans"/>
                <a:sym typeface="Hubot Sans"/>
              </a:rPr>
              <a:t>Field-Level Input</a:t>
            </a:r>
            <a:endParaRPr sz="2000">
              <a:solidFill>
                <a:schemeClr val="dk1"/>
              </a:solidFill>
              <a:latin typeface="Calibri"/>
              <a:ea typeface="Calibri"/>
              <a:cs typeface="Calibri"/>
              <a:sym typeface="Calibri"/>
            </a:endParaRPr>
          </a:p>
        </p:txBody>
      </p:sp>
      <p:sp>
        <p:nvSpPr>
          <p:cNvPr id="95" name="Google Shape;95;p15"/>
          <p:cNvSpPr/>
          <p:nvPr/>
        </p:nvSpPr>
        <p:spPr>
          <a:xfrm>
            <a:off x="5390912" y="5611058"/>
            <a:ext cx="3848457" cy="1020485"/>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5575A"/>
              </a:buClr>
              <a:buSzPts val="1650"/>
              <a:buFont typeface="Roboto Condensed"/>
              <a:buNone/>
            </a:pPr>
            <a:r>
              <a:rPr lang="en-US" sz="1650">
                <a:solidFill>
                  <a:srgbClr val="55575A"/>
                </a:solidFill>
                <a:latin typeface="Roboto Condensed"/>
                <a:ea typeface="Roboto Condensed"/>
                <a:cs typeface="Roboto Condensed"/>
                <a:sym typeface="Roboto Condensed"/>
              </a:rPr>
              <a:t>These are typically the first-line supervisors, team leads, or technicians who will execute the work, not high-level managers.</a:t>
            </a:r>
            <a:endParaRPr sz="1650">
              <a:solidFill>
                <a:schemeClr val="dk1"/>
              </a:solidFill>
              <a:latin typeface="Calibri"/>
              <a:ea typeface="Calibri"/>
              <a:cs typeface="Calibri"/>
              <a:sym typeface="Calibri"/>
            </a:endParaRPr>
          </a:p>
        </p:txBody>
      </p:sp>
      <p:sp>
        <p:nvSpPr>
          <p:cNvPr id="96" name="Google Shape;96;p15"/>
          <p:cNvSpPr/>
          <p:nvPr/>
        </p:nvSpPr>
        <p:spPr>
          <a:xfrm>
            <a:off x="9602272" y="4764881"/>
            <a:ext cx="4234220" cy="2059543"/>
          </a:xfrm>
          <a:prstGeom prst="roundRect">
            <a:avLst>
              <a:gd fmla="val 5328" name="adj"/>
            </a:avLst>
          </a:prstGeom>
          <a:solidFill>
            <a:srgbClr val="E8E8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p:nvPr/>
        </p:nvSpPr>
        <p:spPr>
          <a:xfrm>
            <a:off x="9602272" y="4742021"/>
            <a:ext cx="4234220" cy="91440"/>
          </a:xfrm>
          <a:prstGeom prst="roundRect">
            <a:avLst>
              <a:gd fmla="val 27907" name="adj"/>
            </a:avLst>
          </a:prstGeom>
          <a:solidFill>
            <a:srgbClr val="C8CA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5"/>
          <p:cNvSpPr/>
          <p:nvPr/>
        </p:nvSpPr>
        <p:spPr>
          <a:xfrm>
            <a:off x="11464171" y="4509730"/>
            <a:ext cx="510302" cy="510302"/>
          </a:xfrm>
          <a:prstGeom prst="roundRect">
            <a:avLst>
              <a:gd fmla="val 17918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9" name="Google Shape;99;p15"/>
          <p:cNvPicPr preferRelativeResize="0"/>
          <p:nvPr/>
        </p:nvPicPr>
        <p:blipFill rotWithShape="1">
          <a:blip r:embed="rId6">
            <a:alphaModFix/>
          </a:blip>
          <a:srcRect b="0" l="0" r="0" t="0"/>
          <a:stretch/>
        </p:blipFill>
        <p:spPr>
          <a:xfrm>
            <a:off x="11617285" y="4637246"/>
            <a:ext cx="204073" cy="255151"/>
          </a:xfrm>
          <a:prstGeom prst="rect">
            <a:avLst/>
          </a:prstGeom>
          <a:noFill/>
          <a:ln>
            <a:noFill/>
          </a:ln>
        </p:spPr>
      </p:pic>
      <p:sp>
        <p:nvSpPr>
          <p:cNvPr id="100" name="Google Shape;100;p15"/>
          <p:cNvSpPr/>
          <p:nvPr/>
        </p:nvSpPr>
        <p:spPr>
          <a:xfrm>
            <a:off x="9795153" y="5190173"/>
            <a:ext cx="2585323"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5575A"/>
              </a:buClr>
              <a:buSzPts val="2000"/>
              <a:buFont typeface="Hubot Sans"/>
              <a:buNone/>
            </a:pPr>
            <a:r>
              <a:rPr b="1" lang="en-US" sz="2000">
                <a:solidFill>
                  <a:srgbClr val="55575A"/>
                </a:solidFill>
                <a:latin typeface="Hubot Sans"/>
                <a:ea typeface="Hubot Sans"/>
                <a:cs typeface="Hubot Sans"/>
                <a:sym typeface="Hubot Sans"/>
              </a:rPr>
              <a:t>Accountability</a:t>
            </a:r>
            <a:endParaRPr sz="2000">
              <a:solidFill>
                <a:schemeClr val="dk1"/>
              </a:solidFill>
              <a:latin typeface="Calibri"/>
              <a:ea typeface="Calibri"/>
              <a:cs typeface="Calibri"/>
              <a:sym typeface="Calibri"/>
            </a:endParaRPr>
          </a:p>
        </p:txBody>
      </p:sp>
      <p:sp>
        <p:nvSpPr>
          <p:cNvPr id="101" name="Google Shape;101;p15"/>
          <p:cNvSpPr/>
          <p:nvPr/>
        </p:nvSpPr>
        <p:spPr>
          <a:xfrm>
            <a:off x="9795153" y="5611058"/>
            <a:ext cx="3848457" cy="1020485"/>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5575A"/>
              </a:buClr>
              <a:buSzPts val="1650"/>
              <a:buFont typeface="Roboto Condensed"/>
              <a:buNone/>
            </a:pPr>
            <a:r>
              <a:rPr lang="en-US" sz="1650">
                <a:solidFill>
                  <a:srgbClr val="55575A"/>
                </a:solidFill>
                <a:latin typeface="Roboto Condensed"/>
                <a:ea typeface="Roboto Condensed"/>
                <a:cs typeface="Roboto Condensed"/>
                <a:sym typeface="Roboto Condensed"/>
              </a:rPr>
              <a:t>This approach promotes immediate accountability and ownership over the resulting time or cost figures.</a:t>
            </a:r>
            <a:endParaRPr sz="1650">
              <a:solidFill>
                <a:schemeClr val="dk1"/>
              </a:solidFill>
              <a:latin typeface="Calibri"/>
              <a:ea typeface="Calibri"/>
              <a:cs typeface="Calibri"/>
              <a:sym typeface="Calibri"/>
            </a:endParaRPr>
          </a:p>
        </p:txBody>
      </p:sp>
      <p:sp>
        <p:nvSpPr>
          <p:cNvPr id="102" name="Google Shape;102;p15"/>
          <p:cNvSpPr/>
          <p:nvPr/>
        </p:nvSpPr>
        <p:spPr>
          <a:xfrm>
            <a:off x="793790" y="7015758"/>
            <a:ext cx="13042821" cy="340162"/>
          </a:xfrm>
          <a:prstGeom prst="rect">
            <a:avLst/>
          </a:prstGeom>
          <a:noFill/>
          <a:ln>
            <a:noFill/>
          </a:ln>
        </p:spPr>
        <p:txBody>
          <a:bodyPr anchorCtr="0" anchor="t" bIns="0" lIns="0" spcFirstLastPara="1" rIns="0" wrap="square" tIns="0">
            <a:noAutofit/>
          </a:bodyPr>
          <a:lstStyle/>
          <a:p>
            <a:pPr indent="0" lvl="0" marL="0" marR="0" rtl="0" algn="l">
              <a:lnSpc>
                <a:spcPct val="160606"/>
              </a:lnSpc>
              <a:spcBef>
                <a:spcPts val="0"/>
              </a:spcBef>
              <a:spcAft>
                <a:spcPts val="0"/>
              </a:spcAft>
              <a:buClr>
                <a:srgbClr val="55575A"/>
              </a:buClr>
              <a:buSzPts val="1650"/>
              <a:buFont typeface="Roboto Condensed"/>
              <a:buNone/>
            </a:pPr>
            <a:r>
              <a:rPr lang="en-US" sz="1650">
                <a:solidFill>
                  <a:srgbClr val="55575A"/>
                </a:solidFill>
                <a:latin typeface="Roboto Condensed"/>
                <a:ea typeface="Roboto Condensed"/>
                <a:cs typeface="Roboto Condensed"/>
                <a:sym typeface="Roboto Condensed"/>
              </a:rPr>
              <a:t>Example: A construction site foreman is better equipped to estimate concrete curing time than a general project manager who lacks daily field experience.</a:t>
            </a:r>
            <a:endParaRPr sz="1650">
              <a:solidFill>
                <a:schemeClr val="dk1"/>
              </a:solidFill>
              <a:latin typeface="Calibri"/>
              <a:ea typeface="Calibri"/>
              <a:cs typeface="Calibri"/>
              <a:sym typeface="Calibri"/>
            </a:endParaRPr>
          </a:p>
        </p:txBody>
      </p:sp>
      <p:sp>
        <p:nvSpPr>
          <p:cNvPr id="103" name="Google Shape;103;p15"/>
          <p:cNvSpPr/>
          <p:nvPr/>
        </p:nvSpPr>
        <p:spPr>
          <a:xfrm>
            <a:off x="12823634" y="7700790"/>
            <a:ext cx="1729648" cy="45169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preencoded.png" id="109" name="Google Shape;109;p1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10" name="Google Shape;110;p16"/>
          <p:cNvSpPr/>
          <p:nvPr/>
        </p:nvSpPr>
        <p:spPr>
          <a:xfrm>
            <a:off x="791647" y="623411"/>
            <a:ext cx="1979176" cy="247293"/>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0C0D0F"/>
              </a:buClr>
              <a:buSzPts val="1550"/>
              <a:buFont typeface="Hubot Sans"/>
              <a:buNone/>
            </a:pPr>
            <a:r>
              <a:rPr b="1" lang="en-US" sz="1550">
                <a:solidFill>
                  <a:srgbClr val="0C0D0F"/>
                </a:solidFill>
                <a:latin typeface="Hubot Sans"/>
                <a:ea typeface="Hubot Sans"/>
                <a:cs typeface="Hubot Sans"/>
                <a:sym typeface="Hubot Sans"/>
              </a:rPr>
              <a:t>Guideline 2</a:t>
            </a:r>
            <a:endParaRPr sz="1550">
              <a:solidFill>
                <a:schemeClr val="dk1"/>
              </a:solidFill>
              <a:latin typeface="Calibri"/>
              <a:ea typeface="Calibri"/>
              <a:cs typeface="Calibri"/>
              <a:sym typeface="Calibri"/>
            </a:endParaRPr>
          </a:p>
        </p:txBody>
      </p:sp>
      <p:sp>
        <p:nvSpPr>
          <p:cNvPr id="111" name="Google Shape;111;p16"/>
          <p:cNvSpPr/>
          <p:nvPr/>
        </p:nvSpPr>
        <p:spPr>
          <a:xfrm>
            <a:off x="791647" y="1108115"/>
            <a:ext cx="7187803" cy="682823"/>
          </a:xfrm>
          <a:prstGeom prst="rect">
            <a:avLst/>
          </a:prstGeom>
          <a:noFill/>
          <a:ln>
            <a:noFill/>
          </a:ln>
        </p:spPr>
        <p:txBody>
          <a:bodyPr anchorCtr="0" anchor="t" bIns="0" lIns="0" spcFirstLastPara="1" rIns="0" wrap="square" tIns="0">
            <a:noAutofit/>
          </a:bodyPr>
          <a:lstStyle/>
          <a:p>
            <a:pPr indent="0" lvl="0" marL="0" marR="0" rtl="0" algn="l">
              <a:lnSpc>
                <a:spcPct val="124418"/>
              </a:lnSpc>
              <a:spcBef>
                <a:spcPts val="0"/>
              </a:spcBef>
              <a:spcAft>
                <a:spcPts val="0"/>
              </a:spcAft>
              <a:buClr>
                <a:srgbClr val="0C0D0F"/>
              </a:buClr>
              <a:buSzPts val="4300"/>
              <a:buFont typeface="Hubot Sans"/>
              <a:buNone/>
            </a:pPr>
            <a:r>
              <a:rPr b="1" lang="en-US" sz="4300">
                <a:solidFill>
                  <a:srgbClr val="0C0D0F"/>
                </a:solidFill>
                <a:latin typeface="Hubot Sans"/>
                <a:ea typeface="Hubot Sans"/>
                <a:cs typeface="Hubot Sans"/>
                <a:sym typeface="Hubot Sans"/>
              </a:rPr>
              <a:t>Use of Several People</a:t>
            </a:r>
            <a:endParaRPr sz="4300">
              <a:solidFill>
                <a:schemeClr val="dk1"/>
              </a:solidFill>
              <a:latin typeface="Calibri"/>
              <a:ea typeface="Calibri"/>
              <a:cs typeface="Calibri"/>
              <a:sym typeface="Calibri"/>
            </a:endParaRPr>
          </a:p>
        </p:txBody>
      </p:sp>
      <p:pic>
        <p:nvPicPr>
          <p:cNvPr descr="preencoded.png" id="112" name="Google Shape;112;p16"/>
          <p:cNvPicPr preferRelativeResize="0"/>
          <p:nvPr/>
        </p:nvPicPr>
        <p:blipFill rotWithShape="1">
          <a:blip r:embed="rId4">
            <a:alphaModFix/>
          </a:blip>
          <a:srcRect b="0" l="0" r="0" t="0"/>
          <a:stretch/>
        </p:blipFill>
        <p:spPr>
          <a:xfrm>
            <a:off x="791647" y="2028349"/>
            <a:ext cx="474940" cy="474940"/>
          </a:xfrm>
          <a:prstGeom prst="rect">
            <a:avLst/>
          </a:prstGeom>
          <a:noFill/>
          <a:ln>
            <a:noFill/>
          </a:ln>
        </p:spPr>
      </p:pic>
      <p:sp>
        <p:nvSpPr>
          <p:cNvPr id="113" name="Google Shape;113;p16"/>
          <p:cNvSpPr/>
          <p:nvPr/>
        </p:nvSpPr>
        <p:spPr>
          <a:xfrm>
            <a:off x="791647" y="2701171"/>
            <a:ext cx="2662595" cy="247293"/>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55575A"/>
              </a:buClr>
              <a:buSzPts val="1550"/>
              <a:buFont typeface="Hubot Sans"/>
              <a:buNone/>
            </a:pPr>
            <a:r>
              <a:rPr b="1" lang="en-US" sz="1550">
                <a:solidFill>
                  <a:srgbClr val="55575A"/>
                </a:solidFill>
                <a:latin typeface="Hubot Sans"/>
                <a:ea typeface="Hubot Sans"/>
                <a:cs typeface="Hubot Sans"/>
                <a:sym typeface="Hubot Sans"/>
              </a:rPr>
              <a:t>Diverse Perspectives</a:t>
            </a:r>
            <a:endParaRPr sz="1550">
              <a:solidFill>
                <a:schemeClr val="dk1"/>
              </a:solidFill>
              <a:latin typeface="Calibri"/>
              <a:ea typeface="Calibri"/>
              <a:cs typeface="Calibri"/>
              <a:sym typeface="Calibri"/>
            </a:endParaRPr>
          </a:p>
        </p:txBody>
      </p:sp>
      <p:sp>
        <p:nvSpPr>
          <p:cNvPr id="114" name="Google Shape;114;p16"/>
          <p:cNvSpPr/>
          <p:nvPr/>
        </p:nvSpPr>
        <p:spPr>
          <a:xfrm>
            <a:off x="791647" y="3043357"/>
            <a:ext cx="7560707" cy="633174"/>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55575A"/>
              </a:buClr>
              <a:buSzPts val="1550"/>
              <a:buFont typeface="Roboto Condensed"/>
              <a:buNone/>
            </a:pPr>
            <a:r>
              <a:rPr lang="en-US" sz="1550">
                <a:solidFill>
                  <a:srgbClr val="55575A"/>
                </a:solidFill>
                <a:latin typeface="Roboto Condensed"/>
                <a:ea typeface="Roboto Condensed"/>
                <a:cs typeface="Roboto Condensed"/>
                <a:sym typeface="Roboto Condensed"/>
              </a:rPr>
              <a:t>Involving multiple subject matter experts (SMEs) leads to more well-rounded and realistic estimates by mitigating individual biases.</a:t>
            </a:r>
            <a:endParaRPr sz="1550">
              <a:solidFill>
                <a:schemeClr val="dk1"/>
              </a:solidFill>
              <a:latin typeface="Calibri"/>
              <a:ea typeface="Calibri"/>
              <a:cs typeface="Calibri"/>
              <a:sym typeface="Calibri"/>
            </a:endParaRPr>
          </a:p>
        </p:txBody>
      </p:sp>
      <p:pic>
        <p:nvPicPr>
          <p:cNvPr descr="preencoded.png" id="115" name="Google Shape;115;p16"/>
          <p:cNvPicPr preferRelativeResize="0"/>
          <p:nvPr/>
        </p:nvPicPr>
        <p:blipFill rotWithShape="1">
          <a:blip r:embed="rId5">
            <a:alphaModFix/>
          </a:blip>
          <a:srcRect b="0" l="0" r="0" t="0"/>
          <a:stretch/>
        </p:blipFill>
        <p:spPr>
          <a:xfrm>
            <a:off x="791647" y="3993118"/>
            <a:ext cx="474940" cy="474940"/>
          </a:xfrm>
          <a:prstGeom prst="rect">
            <a:avLst/>
          </a:prstGeom>
          <a:noFill/>
          <a:ln>
            <a:noFill/>
          </a:ln>
        </p:spPr>
      </p:pic>
      <p:sp>
        <p:nvSpPr>
          <p:cNvPr id="116" name="Google Shape;116;p16"/>
          <p:cNvSpPr/>
          <p:nvPr/>
        </p:nvSpPr>
        <p:spPr>
          <a:xfrm>
            <a:off x="791647" y="4665940"/>
            <a:ext cx="1979176" cy="247293"/>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55575A"/>
              </a:buClr>
              <a:buSzPts val="1550"/>
              <a:buFont typeface="Hubot Sans"/>
              <a:buNone/>
            </a:pPr>
            <a:r>
              <a:rPr b="1" lang="en-US" sz="1550">
                <a:solidFill>
                  <a:srgbClr val="55575A"/>
                </a:solidFill>
                <a:latin typeface="Hubot Sans"/>
                <a:ea typeface="Hubot Sans"/>
                <a:cs typeface="Hubot Sans"/>
                <a:sym typeface="Hubot Sans"/>
              </a:rPr>
              <a:t>Reduce Error</a:t>
            </a:r>
            <a:endParaRPr sz="1550">
              <a:solidFill>
                <a:schemeClr val="dk1"/>
              </a:solidFill>
              <a:latin typeface="Calibri"/>
              <a:ea typeface="Calibri"/>
              <a:cs typeface="Calibri"/>
              <a:sym typeface="Calibri"/>
            </a:endParaRPr>
          </a:p>
        </p:txBody>
      </p:sp>
      <p:sp>
        <p:nvSpPr>
          <p:cNvPr id="117" name="Google Shape;117;p16"/>
          <p:cNvSpPr/>
          <p:nvPr/>
        </p:nvSpPr>
        <p:spPr>
          <a:xfrm>
            <a:off x="791647" y="5008126"/>
            <a:ext cx="7560707" cy="633174"/>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55575A"/>
              </a:buClr>
              <a:buSzPts val="1550"/>
              <a:buFont typeface="Roboto Condensed"/>
              <a:buNone/>
            </a:pPr>
            <a:r>
              <a:rPr lang="en-US" sz="1550">
                <a:solidFill>
                  <a:srgbClr val="55575A"/>
                </a:solidFill>
                <a:latin typeface="Roboto Condensed"/>
                <a:ea typeface="Roboto Condensed"/>
                <a:cs typeface="Roboto Condensed"/>
                <a:sym typeface="Roboto Condensed"/>
              </a:rPr>
              <a:t>Combining estimates from several sources reduces the chances of extreme errors or wildly inaccurate projections.</a:t>
            </a:r>
            <a:endParaRPr sz="1550">
              <a:solidFill>
                <a:schemeClr val="dk1"/>
              </a:solidFill>
              <a:latin typeface="Calibri"/>
              <a:ea typeface="Calibri"/>
              <a:cs typeface="Calibri"/>
              <a:sym typeface="Calibri"/>
            </a:endParaRPr>
          </a:p>
        </p:txBody>
      </p:sp>
      <p:pic>
        <p:nvPicPr>
          <p:cNvPr descr="preencoded.png" id="118" name="Google Shape;118;p16"/>
          <p:cNvPicPr preferRelativeResize="0"/>
          <p:nvPr/>
        </p:nvPicPr>
        <p:blipFill rotWithShape="1">
          <a:blip r:embed="rId6">
            <a:alphaModFix/>
          </a:blip>
          <a:srcRect b="0" l="0" r="0" t="0"/>
          <a:stretch/>
        </p:blipFill>
        <p:spPr>
          <a:xfrm>
            <a:off x="791647" y="5957887"/>
            <a:ext cx="474940" cy="474940"/>
          </a:xfrm>
          <a:prstGeom prst="rect">
            <a:avLst/>
          </a:prstGeom>
          <a:noFill/>
          <a:ln>
            <a:noFill/>
          </a:ln>
        </p:spPr>
      </p:pic>
      <p:sp>
        <p:nvSpPr>
          <p:cNvPr id="119" name="Google Shape;119;p16"/>
          <p:cNvSpPr/>
          <p:nvPr/>
        </p:nvSpPr>
        <p:spPr>
          <a:xfrm>
            <a:off x="791647" y="6630710"/>
            <a:ext cx="2471380" cy="247293"/>
          </a:xfrm>
          <a:prstGeom prst="rect">
            <a:avLst/>
          </a:prstGeom>
          <a:noFill/>
          <a:ln>
            <a:noFill/>
          </a:ln>
        </p:spPr>
        <p:txBody>
          <a:bodyPr anchorCtr="0" anchor="t" bIns="0" lIns="0" spcFirstLastPara="1" rIns="0" wrap="square" tIns="0">
            <a:noAutofit/>
          </a:bodyPr>
          <a:lstStyle/>
          <a:p>
            <a:pPr indent="0" lvl="0" marL="0" marR="0" rtl="0" algn="l">
              <a:lnSpc>
                <a:spcPct val="122580"/>
              </a:lnSpc>
              <a:spcBef>
                <a:spcPts val="0"/>
              </a:spcBef>
              <a:spcAft>
                <a:spcPts val="0"/>
              </a:spcAft>
              <a:buClr>
                <a:srgbClr val="55575A"/>
              </a:buClr>
              <a:buSzPts val="1550"/>
              <a:buFont typeface="Hubot Sans"/>
              <a:buNone/>
            </a:pPr>
            <a:r>
              <a:rPr b="1" lang="en-US" sz="1550">
                <a:solidFill>
                  <a:srgbClr val="55575A"/>
                </a:solidFill>
                <a:latin typeface="Hubot Sans"/>
                <a:ea typeface="Hubot Sans"/>
                <a:cs typeface="Hubot Sans"/>
                <a:sym typeface="Hubot Sans"/>
              </a:rPr>
              <a:t>Consensus Building</a:t>
            </a:r>
            <a:endParaRPr sz="1550">
              <a:solidFill>
                <a:schemeClr val="dk1"/>
              </a:solidFill>
              <a:latin typeface="Calibri"/>
              <a:ea typeface="Calibri"/>
              <a:cs typeface="Calibri"/>
              <a:sym typeface="Calibri"/>
            </a:endParaRPr>
          </a:p>
        </p:txBody>
      </p:sp>
      <p:sp>
        <p:nvSpPr>
          <p:cNvPr id="120" name="Google Shape;120;p16"/>
          <p:cNvSpPr/>
          <p:nvPr/>
        </p:nvSpPr>
        <p:spPr>
          <a:xfrm>
            <a:off x="791647" y="6972895"/>
            <a:ext cx="7560707" cy="633174"/>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55575A"/>
              </a:buClr>
              <a:buSzPts val="1550"/>
              <a:buFont typeface="Roboto Condensed"/>
              <a:buNone/>
            </a:pPr>
            <a:r>
              <a:rPr lang="en-US" sz="1550">
                <a:solidFill>
                  <a:srgbClr val="55575A"/>
                </a:solidFill>
                <a:latin typeface="Roboto Condensed"/>
                <a:ea typeface="Roboto Condensed"/>
                <a:cs typeface="Roboto Condensed"/>
                <a:sym typeface="Roboto Condensed"/>
              </a:rPr>
              <a:t>The process of group discussion naturally encourages consensus and ensures all major assumptions are surfaced and validated (the 'wisdom of the crowd').</a:t>
            </a:r>
            <a:endParaRPr sz="15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7"/>
          <p:cNvSpPr/>
          <p:nvPr/>
        </p:nvSpPr>
        <p:spPr>
          <a:xfrm>
            <a:off x="717471" y="563642"/>
            <a:ext cx="2049899" cy="25622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C0D0F"/>
              </a:buClr>
              <a:buSzPts val="1600"/>
              <a:buFont typeface="Hubot Sans"/>
              <a:buNone/>
            </a:pPr>
            <a:r>
              <a:rPr b="1" lang="en-US" sz="1600">
                <a:solidFill>
                  <a:srgbClr val="0C0D0F"/>
                </a:solidFill>
                <a:latin typeface="Hubot Sans"/>
                <a:ea typeface="Hubot Sans"/>
                <a:cs typeface="Hubot Sans"/>
                <a:sym typeface="Hubot Sans"/>
              </a:rPr>
              <a:t>Guideline 3</a:t>
            </a:r>
            <a:endParaRPr sz="1600">
              <a:solidFill>
                <a:schemeClr val="dk1"/>
              </a:solidFill>
              <a:latin typeface="Calibri"/>
              <a:ea typeface="Calibri"/>
              <a:cs typeface="Calibri"/>
              <a:sym typeface="Calibri"/>
            </a:endParaRPr>
          </a:p>
        </p:txBody>
      </p:sp>
      <p:sp>
        <p:nvSpPr>
          <p:cNvPr id="127" name="Google Shape;127;p17"/>
          <p:cNvSpPr/>
          <p:nvPr/>
        </p:nvSpPr>
        <p:spPr>
          <a:xfrm>
            <a:off x="717471" y="1065848"/>
            <a:ext cx="11245572" cy="707231"/>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0C0D0F"/>
              </a:buClr>
              <a:buSzPts val="4450"/>
              <a:buFont typeface="Hubot Sans"/>
              <a:buNone/>
            </a:pPr>
            <a:r>
              <a:rPr b="1" lang="en-US" sz="4450">
                <a:solidFill>
                  <a:srgbClr val="0C0D0F"/>
                </a:solidFill>
                <a:latin typeface="Hubot Sans"/>
                <a:ea typeface="Hubot Sans"/>
                <a:cs typeface="Hubot Sans"/>
                <a:sym typeface="Hubot Sans"/>
              </a:rPr>
              <a:t>Normal Conditions Assumption</a:t>
            </a:r>
            <a:endParaRPr sz="4450">
              <a:solidFill>
                <a:schemeClr val="dk1"/>
              </a:solidFill>
              <a:latin typeface="Calibri"/>
              <a:ea typeface="Calibri"/>
              <a:cs typeface="Calibri"/>
              <a:sym typeface="Calibri"/>
            </a:endParaRPr>
          </a:p>
        </p:txBody>
      </p:sp>
      <p:sp>
        <p:nvSpPr>
          <p:cNvPr id="128" name="Google Shape;128;p17"/>
          <p:cNvSpPr/>
          <p:nvPr/>
        </p:nvSpPr>
        <p:spPr>
          <a:xfrm>
            <a:off x="717471" y="2166580"/>
            <a:ext cx="7077432" cy="656034"/>
          </a:xfrm>
          <a:prstGeom prst="rect">
            <a:avLst/>
          </a:prstGeom>
          <a:noFill/>
          <a:ln>
            <a:noFill/>
          </a:ln>
        </p:spPr>
        <p:txBody>
          <a:bodyPr anchorCtr="0" anchor="t" bIns="0" lIns="0" spcFirstLastPara="1" rIns="0" wrap="square" tIns="0">
            <a:noAutofit/>
          </a:bodyPr>
          <a:lstStyle/>
          <a:p>
            <a:pPr indent="-342900" lvl="0" marL="342900" marR="0" rtl="0" algn="l">
              <a:lnSpc>
                <a:spcPct val="136666"/>
              </a:lnSpc>
              <a:spcBef>
                <a:spcPts val="0"/>
              </a:spcBef>
              <a:spcAft>
                <a:spcPts val="0"/>
              </a:spcAft>
              <a:buClr>
                <a:srgbClr val="55575A"/>
              </a:buClr>
              <a:buSzPts val="1500"/>
              <a:buFont typeface="Roboto Condensed"/>
              <a:buChar char="•"/>
            </a:pPr>
            <a:r>
              <a:rPr lang="en-US" sz="1500">
                <a:solidFill>
                  <a:srgbClr val="55575A"/>
                </a:solidFill>
                <a:latin typeface="Roboto Condensed"/>
                <a:ea typeface="Roboto Condensed"/>
                <a:cs typeface="Roboto Condensed"/>
                <a:sym typeface="Roboto Condensed"/>
              </a:rPr>
              <a:t>Base all estimates on normal, standard working conditions and typical resource availability.</a:t>
            </a:r>
            <a:endParaRPr sz="1500">
              <a:solidFill>
                <a:schemeClr val="dk1"/>
              </a:solidFill>
              <a:latin typeface="Calibri"/>
              <a:ea typeface="Calibri"/>
              <a:cs typeface="Calibri"/>
              <a:sym typeface="Calibri"/>
            </a:endParaRPr>
          </a:p>
        </p:txBody>
      </p:sp>
      <p:sp>
        <p:nvSpPr>
          <p:cNvPr id="129" name="Google Shape;129;p17"/>
          <p:cNvSpPr/>
          <p:nvPr/>
        </p:nvSpPr>
        <p:spPr>
          <a:xfrm>
            <a:off x="717471" y="2880003"/>
            <a:ext cx="7077432" cy="656034"/>
          </a:xfrm>
          <a:prstGeom prst="rect">
            <a:avLst/>
          </a:prstGeom>
          <a:noFill/>
          <a:ln>
            <a:noFill/>
          </a:ln>
        </p:spPr>
        <p:txBody>
          <a:bodyPr anchorCtr="0" anchor="t" bIns="0" lIns="0" spcFirstLastPara="1" rIns="0" wrap="square" tIns="0">
            <a:noAutofit/>
          </a:bodyPr>
          <a:lstStyle/>
          <a:p>
            <a:pPr indent="-342900" lvl="0" marL="342900" marR="0" rtl="0" algn="l">
              <a:lnSpc>
                <a:spcPct val="136666"/>
              </a:lnSpc>
              <a:spcBef>
                <a:spcPts val="0"/>
              </a:spcBef>
              <a:spcAft>
                <a:spcPts val="0"/>
              </a:spcAft>
              <a:buClr>
                <a:srgbClr val="55575A"/>
              </a:buClr>
              <a:buSzPts val="1500"/>
              <a:buFont typeface="Roboto Condensed"/>
              <a:buChar char="•"/>
            </a:pPr>
            <a:r>
              <a:rPr lang="en-US" sz="1500">
                <a:solidFill>
                  <a:srgbClr val="55575A"/>
                </a:solidFill>
                <a:latin typeface="Roboto Condensed"/>
                <a:ea typeface="Roboto Condensed"/>
                <a:cs typeface="Roboto Condensed"/>
                <a:sym typeface="Roboto Condensed"/>
              </a:rPr>
              <a:t>Assume resources will work at a steady, efficient pace, not a rushed or peak performance level.</a:t>
            </a:r>
            <a:endParaRPr sz="1500">
              <a:solidFill>
                <a:schemeClr val="dk1"/>
              </a:solidFill>
              <a:latin typeface="Calibri"/>
              <a:ea typeface="Calibri"/>
              <a:cs typeface="Calibri"/>
              <a:sym typeface="Calibri"/>
            </a:endParaRPr>
          </a:p>
        </p:txBody>
      </p:sp>
      <p:sp>
        <p:nvSpPr>
          <p:cNvPr id="130" name="Google Shape;130;p17"/>
          <p:cNvSpPr/>
          <p:nvPr/>
        </p:nvSpPr>
        <p:spPr>
          <a:xfrm>
            <a:off x="717471" y="3593425"/>
            <a:ext cx="7077432" cy="656034"/>
          </a:xfrm>
          <a:prstGeom prst="rect">
            <a:avLst/>
          </a:prstGeom>
          <a:noFill/>
          <a:ln>
            <a:noFill/>
          </a:ln>
        </p:spPr>
        <p:txBody>
          <a:bodyPr anchorCtr="0" anchor="t" bIns="0" lIns="0" spcFirstLastPara="1" rIns="0" wrap="square" tIns="0">
            <a:noAutofit/>
          </a:bodyPr>
          <a:lstStyle/>
          <a:p>
            <a:pPr indent="-342900" lvl="0" marL="342900" marR="0" rtl="0" algn="l">
              <a:lnSpc>
                <a:spcPct val="136666"/>
              </a:lnSpc>
              <a:spcBef>
                <a:spcPts val="0"/>
              </a:spcBef>
              <a:spcAft>
                <a:spcPts val="0"/>
              </a:spcAft>
              <a:buClr>
                <a:srgbClr val="55575A"/>
              </a:buClr>
              <a:buSzPts val="1500"/>
              <a:buFont typeface="Roboto Condensed"/>
              <a:buChar char="•"/>
            </a:pPr>
            <a:r>
              <a:rPr lang="en-US" sz="1500">
                <a:solidFill>
                  <a:srgbClr val="55575A"/>
                </a:solidFill>
                <a:latin typeface="Roboto Condensed"/>
                <a:ea typeface="Roboto Condensed"/>
                <a:cs typeface="Roboto Condensed"/>
                <a:sym typeface="Roboto Condensed"/>
              </a:rPr>
              <a:t>Do not incorporate cushion or padding into the base estimate; save contingency for later.</a:t>
            </a:r>
            <a:endParaRPr sz="1500">
              <a:solidFill>
                <a:schemeClr val="dk1"/>
              </a:solidFill>
              <a:latin typeface="Calibri"/>
              <a:ea typeface="Calibri"/>
              <a:cs typeface="Calibri"/>
              <a:sym typeface="Calibri"/>
            </a:endParaRPr>
          </a:p>
        </p:txBody>
      </p:sp>
      <p:sp>
        <p:nvSpPr>
          <p:cNvPr id="131" name="Google Shape;131;p17"/>
          <p:cNvSpPr/>
          <p:nvPr/>
        </p:nvSpPr>
        <p:spPr>
          <a:xfrm>
            <a:off x="717471" y="4306848"/>
            <a:ext cx="7077432" cy="656034"/>
          </a:xfrm>
          <a:prstGeom prst="rect">
            <a:avLst/>
          </a:prstGeom>
          <a:noFill/>
          <a:ln>
            <a:noFill/>
          </a:ln>
        </p:spPr>
        <p:txBody>
          <a:bodyPr anchorCtr="0" anchor="t" bIns="0" lIns="0" spcFirstLastPara="1" rIns="0" wrap="square" tIns="0">
            <a:noAutofit/>
          </a:bodyPr>
          <a:lstStyle/>
          <a:p>
            <a:pPr indent="-342900" lvl="0" marL="342900" marR="0" rtl="0" algn="l">
              <a:lnSpc>
                <a:spcPct val="136666"/>
              </a:lnSpc>
              <a:spcBef>
                <a:spcPts val="0"/>
              </a:spcBef>
              <a:spcAft>
                <a:spcPts val="0"/>
              </a:spcAft>
              <a:buClr>
                <a:srgbClr val="55575A"/>
              </a:buClr>
              <a:buSzPts val="1500"/>
              <a:buFont typeface="Roboto Condensed"/>
              <a:buChar char="•"/>
            </a:pPr>
            <a:r>
              <a:rPr lang="en-US" sz="1500">
                <a:solidFill>
                  <a:srgbClr val="55575A"/>
                </a:solidFill>
                <a:latin typeface="Roboto Condensed"/>
                <a:ea typeface="Roboto Condensed"/>
                <a:cs typeface="Roboto Condensed"/>
                <a:sym typeface="Roboto Condensed"/>
              </a:rPr>
              <a:t>Avoid overly optimistic or worst-case scenarios unless explicitly using a three-point (PERT) method</a:t>
            </a:r>
            <a:r>
              <a:rPr lang="en-US" sz="1250">
                <a:solidFill>
                  <a:srgbClr val="55575A"/>
                </a:solidFill>
                <a:latin typeface="Roboto Condensed"/>
                <a:ea typeface="Roboto Condensed"/>
                <a:cs typeface="Roboto Condensed"/>
                <a:sym typeface="Roboto Condensed"/>
              </a:rPr>
              <a:t>.</a:t>
            </a:r>
            <a:endParaRPr sz="1250">
              <a:solidFill>
                <a:schemeClr val="dk1"/>
              </a:solidFill>
              <a:latin typeface="Calibri"/>
              <a:ea typeface="Calibri"/>
              <a:cs typeface="Calibri"/>
              <a:sym typeface="Calibri"/>
            </a:endParaRPr>
          </a:p>
        </p:txBody>
      </p:sp>
      <p:pic>
        <p:nvPicPr>
          <p:cNvPr descr="preencoded.png" id="132" name="Google Shape;132;p17"/>
          <p:cNvPicPr preferRelativeResize="0"/>
          <p:nvPr/>
        </p:nvPicPr>
        <p:blipFill rotWithShape="1">
          <a:blip r:embed="rId3">
            <a:alphaModFix/>
          </a:blip>
          <a:srcRect b="0" l="0" r="0" t="0"/>
          <a:stretch/>
        </p:blipFill>
        <p:spPr>
          <a:xfrm>
            <a:off x="8202573" y="2203490"/>
            <a:ext cx="4574262" cy="4574262"/>
          </a:xfrm>
          <a:prstGeom prst="rect">
            <a:avLst/>
          </a:prstGeom>
          <a:noFill/>
          <a:ln>
            <a:noFill/>
          </a:ln>
        </p:spPr>
      </p:pic>
      <p:sp>
        <p:nvSpPr>
          <p:cNvPr id="133" name="Google Shape;133;p17"/>
          <p:cNvSpPr/>
          <p:nvPr/>
        </p:nvSpPr>
        <p:spPr>
          <a:xfrm>
            <a:off x="963454" y="7331035"/>
            <a:ext cx="12949476" cy="656034"/>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55575A"/>
              </a:buClr>
              <a:buSzPts val="1600"/>
              <a:buFont typeface="Roboto Condensed"/>
              <a:buNone/>
            </a:pPr>
            <a:r>
              <a:rPr lang="en-US" sz="1600">
                <a:solidFill>
                  <a:srgbClr val="55575A"/>
                </a:solidFill>
                <a:latin typeface="Roboto Condensed"/>
                <a:ea typeface="Roboto Condensed"/>
                <a:cs typeface="Roboto Condensed"/>
                <a:sym typeface="Roboto Condensed"/>
              </a:rPr>
              <a:t>Example: Estimate software development time assuming a standard team workload and no major unplanned system outages, rather than planning for a holiday rush or a server migration.</a:t>
            </a:r>
            <a:endParaRPr sz="1600">
              <a:solidFill>
                <a:schemeClr val="dk1"/>
              </a:solidFill>
              <a:latin typeface="Calibri"/>
              <a:ea typeface="Calibri"/>
              <a:cs typeface="Calibri"/>
              <a:sym typeface="Calibri"/>
            </a:endParaRPr>
          </a:p>
        </p:txBody>
      </p:sp>
      <p:sp>
        <p:nvSpPr>
          <p:cNvPr id="134" name="Google Shape;134;p17"/>
          <p:cNvSpPr/>
          <p:nvPr/>
        </p:nvSpPr>
        <p:spPr>
          <a:xfrm>
            <a:off x="717471" y="7146608"/>
            <a:ext cx="22860" cy="1024890"/>
          </a:xfrm>
          <a:prstGeom prst="rect">
            <a:avLst/>
          </a:prstGeom>
          <a:solidFill>
            <a:srgbClr val="1E1E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7"/>
          <p:cNvSpPr/>
          <p:nvPr/>
        </p:nvSpPr>
        <p:spPr>
          <a:xfrm>
            <a:off x="12823634" y="7700790"/>
            <a:ext cx="1729648" cy="45169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descr="preencoded.png" id="141" name="Google Shape;141;p18"/>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42" name="Google Shape;142;p18"/>
          <p:cNvSpPr/>
          <p:nvPr/>
        </p:nvSpPr>
        <p:spPr>
          <a:xfrm>
            <a:off x="793790" y="706398"/>
            <a:ext cx="240994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0C0D0F"/>
              </a:buClr>
              <a:buSzPts val="1850"/>
              <a:buFont typeface="Hubot Sans"/>
              <a:buNone/>
            </a:pPr>
            <a:r>
              <a:rPr b="1" lang="en-US" sz="1850">
                <a:solidFill>
                  <a:srgbClr val="0C0D0F"/>
                </a:solidFill>
                <a:latin typeface="Hubot Sans"/>
                <a:ea typeface="Hubot Sans"/>
                <a:cs typeface="Hubot Sans"/>
                <a:sym typeface="Hubot Sans"/>
              </a:rPr>
              <a:t>Guideline 4</a:t>
            </a:r>
            <a:endParaRPr sz="1850">
              <a:solidFill>
                <a:schemeClr val="dk1"/>
              </a:solidFill>
              <a:latin typeface="Calibri"/>
              <a:ea typeface="Calibri"/>
              <a:cs typeface="Calibri"/>
              <a:sym typeface="Calibri"/>
            </a:endParaRPr>
          </a:p>
        </p:txBody>
      </p:sp>
      <p:sp>
        <p:nvSpPr>
          <p:cNvPr id="143" name="Google Shape;143;p18"/>
          <p:cNvSpPr/>
          <p:nvPr/>
        </p:nvSpPr>
        <p:spPr>
          <a:xfrm>
            <a:off x="793790" y="1296829"/>
            <a:ext cx="6950154" cy="8314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C0D0F"/>
              </a:buClr>
              <a:buSzPts val="5200"/>
              <a:buFont typeface="Hubot Sans"/>
              <a:buNone/>
            </a:pPr>
            <a:r>
              <a:rPr b="1" lang="en-US" sz="5200">
                <a:solidFill>
                  <a:srgbClr val="0C0D0F"/>
                </a:solidFill>
                <a:latin typeface="Hubot Sans"/>
                <a:ea typeface="Hubot Sans"/>
                <a:cs typeface="Hubot Sans"/>
                <a:sym typeface="Hubot Sans"/>
              </a:rPr>
              <a:t>Clear Time Units</a:t>
            </a:r>
            <a:endParaRPr sz="5200">
              <a:solidFill>
                <a:schemeClr val="dk1"/>
              </a:solidFill>
              <a:latin typeface="Calibri"/>
              <a:ea typeface="Calibri"/>
              <a:cs typeface="Calibri"/>
              <a:sym typeface="Calibri"/>
            </a:endParaRPr>
          </a:p>
        </p:txBody>
      </p:sp>
      <p:sp>
        <p:nvSpPr>
          <p:cNvPr id="144" name="Google Shape;144;p18"/>
          <p:cNvSpPr/>
          <p:nvPr/>
        </p:nvSpPr>
        <p:spPr>
          <a:xfrm>
            <a:off x="793790" y="2417445"/>
            <a:ext cx="771168" cy="1573411"/>
          </a:xfrm>
          <a:prstGeom prst="roundRect">
            <a:avLst>
              <a:gd fmla="val 360022"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8"/>
          <p:cNvSpPr/>
          <p:nvPr/>
        </p:nvSpPr>
        <p:spPr>
          <a:xfrm>
            <a:off x="1034772" y="3023354"/>
            <a:ext cx="289203" cy="36147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Hubot Sans"/>
              <a:buNone/>
            </a:pPr>
            <a:r>
              <a:rPr b="1" lang="en-US" sz="2250">
                <a:solidFill>
                  <a:srgbClr val="000000"/>
                </a:solidFill>
                <a:latin typeface="Hubot Sans"/>
                <a:ea typeface="Hubot Sans"/>
                <a:cs typeface="Hubot Sans"/>
                <a:sym typeface="Hubot Sans"/>
              </a:rPr>
              <a:t>1</a:t>
            </a:r>
            <a:endParaRPr sz="2250">
              <a:solidFill>
                <a:schemeClr val="dk1"/>
              </a:solidFill>
              <a:latin typeface="Calibri"/>
              <a:ea typeface="Calibri"/>
              <a:cs typeface="Calibri"/>
              <a:sym typeface="Calibri"/>
            </a:endParaRPr>
          </a:p>
        </p:txBody>
      </p:sp>
      <p:sp>
        <p:nvSpPr>
          <p:cNvPr id="146" name="Google Shape;146;p18"/>
          <p:cNvSpPr/>
          <p:nvPr/>
        </p:nvSpPr>
        <p:spPr>
          <a:xfrm>
            <a:off x="1757720" y="2610207"/>
            <a:ext cx="2787253"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55575A"/>
              </a:buClr>
              <a:buSzPts val="1850"/>
              <a:buFont typeface="Hubot Sans"/>
              <a:buNone/>
            </a:pPr>
            <a:r>
              <a:rPr b="1" lang="en-US" sz="1850">
                <a:solidFill>
                  <a:srgbClr val="55575A"/>
                </a:solidFill>
                <a:latin typeface="Hubot Sans"/>
                <a:ea typeface="Hubot Sans"/>
                <a:cs typeface="Hubot Sans"/>
                <a:sym typeface="Hubot Sans"/>
              </a:rPr>
              <a:t>Standardize Units</a:t>
            </a:r>
            <a:endParaRPr sz="1850">
              <a:solidFill>
                <a:schemeClr val="dk1"/>
              </a:solidFill>
              <a:latin typeface="Calibri"/>
              <a:ea typeface="Calibri"/>
              <a:cs typeface="Calibri"/>
              <a:sym typeface="Calibri"/>
            </a:endParaRPr>
          </a:p>
        </p:txBody>
      </p:sp>
      <p:sp>
        <p:nvSpPr>
          <p:cNvPr id="147" name="Google Shape;147;p18"/>
          <p:cNvSpPr/>
          <p:nvPr/>
        </p:nvSpPr>
        <p:spPr>
          <a:xfrm>
            <a:off x="1757720" y="3027045"/>
            <a:ext cx="6592491" cy="771049"/>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55575A"/>
              </a:buClr>
              <a:buSzPts val="1850"/>
              <a:buFont typeface="Roboto Condensed"/>
              <a:buNone/>
            </a:pPr>
            <a:r>
              <a:rPr lang="en-US" sz="1850">
                <a:solidFill>
                  <a:srgbClr val="55575A"/>
                </a:solidFill>
                <a:latin typeface="Roboto Condensed"/>
                <a:ea typeface="Roboto Condensed"/>
                <a:cs typeface="Roboto Condensed"/>
                <a:sym typeface="Roboto Condensed"/>
              </a:rPr>
              <a:t>Define clear, consistent time units for all tasks (e.g., hours, days, weeks). This eliminates ambiguity across the project.</a:t>
            </a:r>
            <a:endParaRPr sz="1850">
              <a:solidFill>
                <a:schemeClr val="dk1"/>
              </a:solidFill>
              <a:latin typeface="Calibri"/>
              <a:ea typeface="Calibri"/>
              <a:cs typeface="Calibri"/>
              <a:sym typeface="Calibri"/>
            </a:endParaRPr>
          </a:p>
        </p:txBody>
      </p:sp>
      <p:sp>
        <p:nvSpPr>
          <p:cNvPr id="148" name="Google Shape;148;p18"/>
          <p:cNvSpPr/>
          <p:nvPr/>
        </p:nvSpPr>
        <p:spPr>
          <a:xfrm>
            <a:off x="793790" y="4183618"/>
            <a:ext cx="771168" cy="1573411"/>
          </a:xfrm>
          <a:prstGeom prst="roundRect">
            <a:avLst>
              <a:gd fmla="val 360022"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1034772" y="4789527"/>
            <a:ext cx="289203" cy="36147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Hubot Sans"/>
              <a:buNone/>
            </a:pPr>
            <a:r>
              <a:rPr b="1" lang="en-US" sz="2250">
                <a:solidFill>
                  <a:srgbClr val="000000"/>
                </a:solidFill>
                <a:latin typeface="Hubot Sans"/>
                <a:ea typeface="Hubot Sans"/>
                <a:cs typeface="Hubot Sans"/>
                <a:sym typeface="Hubot Sans"/>
              </a:rPr>
              <a:t>2</a:t>
            </a:r>
            <a:endParaRPr sz="2250">
              <a:solidFill>
                <a:schemeClr val="dk1"/>
              </a:solidFill>
              <a:latin typeface="Calibri"/>
              <a:ea typeface="Calibri"/>
              <a:cs typeface="Calibri"/>
              <a:sym typeface="Calibri"/>
            </a:endParaRPr>
          </a:p>
        </p:txBody>
      </p:sp>
      <p:sp>
        <p:nvSpPr>
          <p:cNvPr id="150" name="Google Shape;150;p18"/>
          <p:cNvSpPr/>
          <p:nvPr/>
        </p:nvSpPr>
        <p:spPr>
          <a:xfrm>
            <a:off x="1757720" y="4376380"/>
            <a:ext cx="240994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55575A"/>
              </a:buClr>
              <a:buSzPts val="1850"/>
              <a:buFont typeface="Hubot Sans"/>
              <a:buNone/>
            </a:pPr>
            <a:r>
              <a:rPr b="1" lang="en-US" sz="1850">
                <a:solidFill>
                  <a:srgbClr val="55575A"/>
                </a:solidFill>
                <a:latin typeface="Hubot Sans"/>
                <a:ea typeface="Hubot Sans"/>
                <a:cs typeface="Hubot Sans"/>
                <a:sym typeface="Hubot Sans"/>
              </a:rPr>
              <a:t>Work Time</a:t>
            </a:r>
            <a:endParaRPr sz="1850">
              <a:solidFill>
                <a:schemeClr val="dk1"/>
              </a:solidFill>
              <a:latin typeface="Calibri"/>
              <a:ea typeface="Calibri"/>
              <a:cs typeface="Calibri"/>
              <a:sym typeface="Calibri"/>
            </a:endParaRPr>
          </a:p>
        </p:txBody>
      </p:sp>
      <p:sp>
        <p:nvSpPr>
          <p:cNvPr id="151" name="Google Shape;151;p18"/>
          <p:cNvSpPr/>
          <p:nvPr/>
        </p:nvSpPr>
        <p:spPr>
          <a:xfrm>
            <a:off x="1757720" y="4793218"/>
            <a:ext cx="6592491" cy="771049"/>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55575A"/>
              </a:buClr>
              <a:buSzPts val="1850"/>
              <a:buFont typeface="Roboto Condensed"/>
              <a:buNone/>
            </a:pPr>
            <a:r>
              <a:rPr lang="en-US" sz="1850">
                <a:solidFill>
                  <a:srgbClr val="55575A"/>
                </a:solidFill>
                <a:latin typeface="Roboto Condensed"/>
                <a:ea typeface="Roboto Condensed"/>
                <a:cs typeface="Roboto Condensed"/>
                <a:sym typeface="Roboto Condensed"/>
              </a:rPr>
              <a:t>Clarify if units refer to actual work time (e.g., 8-hour workdays) or calendar time (including weekends and holidays).</a:t>
            </a:r>
            <a:endParaRPr sz="1850">
              <a:solidFill>
                <a:schemeClr val="dk1"/>
              </a:solidFill>
              <a:latin typeface="Calibri"/>
              <a:ea typeface="Calibri"/>
              <a:cs typeface="Calibri"/>
              <a:sym typeface="Calibri"/>
            </a:endParaRPr>
          </a:p>
        </p:txBody>
      </p:sp>
      <p:sp>
        <p:nvSpPr>
          <p:cNvPr id="152" name="Google Shape;152;p18"/>
          <p:cNvSpPr/>
          <p:nvPr/>
        </p:nvSpPr>
        <p:spPr>
          <a:xfrm>
            <a:off x="793790" y="5949791"/>
            <a:ext cx="771168" cy="1573411"/>
          </a:xfrm>
          <a:prstGeom prst="roundRect">
            <a:avLst>
              <a:gd fmla="val 360022"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8"/>
          <p:cNvSpPr/>
          <p:nvPr/>
        </p:nvSpPr>
        <p:spPr>
          <a:xfrm>
            <a:off x="1034772" y="6555700"/>
            <a:ext cx="289203" cy="36147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Hubot Sans"/>
              <a:buNone/>
            </a:pPr>
            <a:r>
              <a:rPr b="1" lang="en-US" sz="2250">
                <a:solidFill>
                  <a:srgbClr val="000000"/>
                </a:solidFill>
                <a:latin typeface="Hubot Sans"/>
                <a:ea typeface="Hubot Sans"/>
                <a:cs typeface="Hubot Sans"/>
                <a:sym typeface="Hubot Sans"/>
              </a:rPr>
              <a:t>3</a:t>
            </a:r>
            <a:endParaRPr sz="2250">
              <a:solidFill>
                <a:schemeClr val="dk1"/>
              </a:solidFill>
              <a:latin typeface="Calibri"/>
              <a:ea typeface="Calibri"/>
              <a:cs typeface="Calibri"/>
              <a:sym typeface="Calibri"/>
            </a:endParaRPr>
          </a:p>
        </p:txBody>
      </p:sp>
      <p:sp>
        <p:nvSpPr>
          <p:cNvPr id="154" name="Google Shape;154;p18"/>
          <p:cNvSpPr/>
          <p:nvPr/>
        </p:nvSpPr>
        <p:spPr>
          <a:xfrm>
            <a:off x="1757720" y="6142553"/>
            <a:ext cx="2511743"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55575A"/>
              </a:buClr>
              <a:buSzPts val="1850"/>
              <a:buFont typeface="Hubot Sans"/>
              <a:buNone/>
            </a:pPr>
            <a:r>
              <a:rPr b="1" lang="en-US" sz="1850">
                <a:solidFill>
                  <a:srgbClr val="55575A"/>
                </a:solidFill>
                <a:latin typeface="Hubot Sans"/>
                <a:ea typeface="Hubot Sans"/>
                <a:cs typeface="Hubot Sans"/>
                <a:sym typeface="Hubot Sans"/>
              </a:rPr>
              <a:t>Avoid Confusion</a:t>
            </a:r>
            <a:endParaRPr sz="1850">
              <a:solidFill>
                <a:schemeClr val="dk1"/>
              </a:solidFill>
              <a:latin typeface="Calibri"/>
              <a:ea typeface="Calibri"/>
              <a:cs typeface="Calibri"/>
              <a:sym typeface="Calibri"/>
            </a:endParaRPr>
          </a:p>
        </p:txBody>
      </p:sp>
      <p:sp>
        <p:nvSpPr>
          <p:cNvPr id="155" name="Google Shape;155;p18"/>
          <p:cNvSpPr/>
          <p:nvPr/>
        </p:nvSpPr>
        <p:spPr>
          <a:xfrm>
            <a:off x="1757720" y="6559391"/>
            <a:ext cx="6592491" cy="771049"/>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55575A"/>
              </a:buClr>
              <a:buSzPts val="1850"/>
              <a:buFont typeface="Roboto Condensed"/>
              <a:buNone/>
            </a:pPr>
            <a:r>
              <a:rPr lang="en-US" sz="1850">
                <a:solidFill>
                  <a:srgbClr val="55575A"/>
                </a:solidFill>
                <a:latin typeface="Roboto Condensed"/>
                <a:ea typeface="Roboto Condensed"/>
                <a:cs typeface="Roboto Condensed"/>
                <a:sym typeface="Roboto Condensed"/>
              </a:rPr>
              <a:t>A "2-week task" must be clearly defined as either 10 dedicated workdays or 14 calendar days to ensure scheduling accuracy.</a:t>
            </a:r>
            <a:endParaRPr sz="1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preencoded.png" id="161" name="Google Shape;161;p19"/>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62" name="Google Shape;162;p19"/>
          <p:cNvSpPr/>
          <p:nvPr/>
        </p:nvSpPr>
        <p:spPr>
          <a:xfrm>
            <a:off x="793790" y="817483"/>
            <a:ext cx="1842968"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0C0D0F"/>
              </a:buClr>
              <a:buSzPts val="1450"/>
              <a:buFont typeface="Hubot Sans"/>
              <a:buNone/>
            </a:pPr>
            <a:r>
              <a:rPr b="1" lang="en-US" sz="1450">
                <a:solidFill>
                  <a:srgbClr val="0C0D0F"/>
                </a:solidFill>
                <a:latin typeface="Hubot Sans"/>
                <a:ea typeface="Hubot Sans"/>
                <a:cs typeface="Hubot Sans"/>
                <a:sym typeface="Hubot Sans"/>
              </a:rPr>
              <a:t>Guideline 5</a:t>
            </a:r>
            <a:endParaRPr sz="1450">
              <a:solidFill>
                <a:schemeClr val="dk1"/>
              </a:solidFill>
              <a:latin typeface="Calibri"/>
              <a:ea typeface="Calibri"/>
              <a:cs typeface="Calibri"/>
              <a:sym typeface="Calibri"/>
            </a:endParaRPr>
          </a:p>
        </p:txBody>
      </p:sp>
      <p:sp>
        <p:nvSpPr>
          <p:cNvPr id="163" name="Google Shape;163;p19"/>
          <p:cNvSpPr/>
          <p:nvPr/>
        </p:nvSpPr>
        <p:spPr>
          <a:xfrm>
            <a:off x="793790" y="1268968"/>
            <a:ext cx="5907405" cy="63579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C0D0F"/>
              </a:buClr>
              <a:buSzPts val="4000"/>
              <a:buFont typeface="Hubot Sans"/>
              <a:buNone/>
            </a:pPr>
            <a:r>
              <a:rPr b="1" lang="en-US" sz="4000">
                <a:solidFill>
                  <a:srgbClr val="0C0D0F"/>
                </a:solidFill>
                <a:latin typeface="Hubot Sans"/>
                <a:ea typeface="Hubot Sans"/>
                <a:cs typeface="Hubot Sans"/>
                <a:sym typeface="Hubot Sans"/>
              </a:rPr>
              <a:t>Task Independence</a:t>
            </a:r>
            <a:endParaRPr sz="4000">
              <a:solidFill>
                <a:schemeClr val="dk1"/>
              </a:solidFill>
              <a:latin typeface="Calibri"/>
              <a:ea typeface="Calibri"/>
              <a:cs typeface="Calibri"/>
              <a:sym typeface="Calibri"/>
            </a:endParaRPr>
          </a:p>
        </p:txBody>
      </p:sp>
      <p:sp>
        <p:nvSpPr>
          <p:cNvPr id="164" name="Google Shape;164;p19"/>
          <p:cNvSpPr/>
          <p:nvPr/>
        </p:nvSpPr>
        <p:spPr>
          <a:xfrm>
            <a:off x="904280" y="2125861"/>
            <a:ext cx="15240" cy="4198977"/>
          </a:xfrm>
          <a:prstGeom prst="roundRect">
            <a:avLst>
              <a:gd fmla="val 145116" name="adj"/>
            </a:avLst>
          </a:prstGeom>
          <a:solidFill>
            <a:srgbClr val="000000">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9"/>
          <p:cNvSpPr/>
          <p:nvPr/>
        </p:nvSpPr>
        <p:spPr>
          <a:xfrm>
            <a:off x="889040" y="2719745"/>
            <a:ext cx="442198" cy="15240"/>
          </a:xfrm>
          <a:prstGeom prst="roundRect">
            <a:avLst>
              <a:gd fmla="val 145116" name="adj"/>
            </a:avLst>
          </a:prstGeom>
          <a:solidFill>
            <a:srgbClr val="AEB0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
          <p:cNvSpPr/>
          <p:nvPr/>
        </p:nvSpPr>
        <p:spPr>
          <a:xfrm>
            <a:off x="849035" y="2672120"/>
            <a:ext cx="110490" cy="110490"/>
          </a:xfrm>
          <a:prstGeom prst="roundRect">
            <a:avLst>
              <a:gd fmla="val 413793" name="adj"/>
            </a:avLst>
          </a:prstGeom>
          <a:solidFill>
            <a:srgbClr val="C8CA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a:off x="1346597" y="2125861"/>
            <a:ext cx="7003613" cy="1203127"/>
          </a:xfrm>
          <a:prstGeom prst="roundRect">
            <a:avLst>
              <a:gd fmla="val 1838" name="adj"/>
            </a:avLst>
          </a:prstGeom>
          <a:solidFill>
            <a:srgbClr val="D8D9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9"/>
          <p:cNvSpPr/>
          <p:nvPr/>
        </p:nvSpPr>
        <p:spPr>
          <a:xfrm>
            <a:off x="1493996" y="2273260"/>
            <a:ext cx="2608898"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000000"/>
              </a:buClr>
              <a:buSzPts val="1450"/>
              <a:buFont typeface="Hubot Sans"/>
              <a:buNone/>
            </a:pPr>
            <a:r>
              <a:rPr b="1" lang="en-US" sz="1450">
                <a:solidFill>
                  <a:srgbClr val="000000"/>
                </a:solidFill>
                <a:latin typeface="Hubot Sans"/>
                <a:ea typeface="Hubot Sans"/>
                <a:cs typeface="Hubot Sans"/>
                <a:sym typeface="Hubot Sans"/>
              </a:rPr>
              <a:t>Estimate Individually</a:t>
            </a:r>
            <a:endParaRPr sz="1450">
              <a:solidFill>
                <a:schemeClr val="dk1"/>
              </a:solidFill>
              <a:latin typeface="Calibri"/>
              <a:ea typeface="Calibri"/>
              <a:cs typeface="Calibri"/>
              <a:sym typeface="Calibri"/>
            </a:endParaRPr>
          </a:p>
        </p:txBody>
      </p:sp>
      <p:sp>
        <p:nvSpPr>
          <p:cNvPr id="169" name="Google Shape;169;p19"/>
          <p:cNvSpPr/>
          <p:nvPr/>
        </p:nvSpPr>
        <p:spPr>
          <a:xfrm>
            <a:off x="1493996" y="2591991"/>
            <a:ext cx="6708815" cy="589598"/>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000000"/>
              </a:buClr>
              <a:buSzPts val="1450"/>
              <a:buFont typeface="Roboto Condensed"/>
              <a:buNone/>
            </a:pPr>
            <a:r>
              <a:rPr lang="en-US" sz="1450">
                <a:solidFill>
                  <a:srgbClr val="000000"/>
                </a:solidFill>
                <a:latin typeface="Roboto Condensed"/>
                <a:ea typeface="Roboto Condensed"/>
                <a:cs typeface="Roboto Condensed"/>
                <a:sym typeface="Roboto Condensed"/>
              </a:rPr>
              <a:t>Each task or work package should be estimated in isolation, without consideration for other tasks' durations.</a:t>
            </a:r>
            <a:endParaRPr sz="1450">
              <a:solidFill>
                <a:schemeClr val="dk1"/>
              </a:solidFill>
              <a:latin typeface="Calibri"/>
              <a:ea typeface="Calibri"/>
              <a:cs typeface="Calibri"/>
              <a:sym typeface="Calibri"/>
            </a:endParaRPr>
          </a:p>
        </p:txBody>
      </p:sp>
      <p:sp>
        <p:nvSpPr>
          <p:cNvPr id="170" name="Google Shape;170;p19"/>
          <p:cNvSpPr/>
          <p:nvPr/>
        </p:nvSpPr>
        <p:spPr>
          <a:xfrm>
            <a:off x="889040" y="4217670"/>
            <a:ext cx="442198" cy="15240"/>
          </a:xfrm>
          <a:prstGeom prst="roundRect">
            <a:avLst>
              <a:gd fmla="val 145116" name="adj"/>
            </a:avLst>
          </a:prstGeom>
          <a:solidFill>
            <a:srgbClr val="AEB0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849035" y="4170045"/>
            <a:ext cx="110490" cy="110490"/>
          </a:xfrm>
          <a:prstGeom prst="roundRect">
            <a:avLst>
              <a:gd fmla="val 413793" name="adj"/>
            </a:avLst>
          </a:prstGeom>
          <a:solidFill>
            <a:srgbClr val="C8CA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a:off x="1346597" y="3623786"/>
            <a:ext cx="7003613" cy="1203127"/>
          </a:xfrm>
          <a:prstGeom prst="roundRect">
            <a:avLst>
              <a:gd fmla="val 1838" name="adj"/>
            </a:avLst>
          </a:prstGeom>
          <a:solidFill>
            <a:srgbClr val="D8D9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1493996" y="3771186"/>
            <a:ext cx="2742486"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000000"/>
              </a:buClr>
              <a:buSzPts val="1450"/>
              <a:buFont typeface="Hubot Sans"/>
              <a:buNone/>
            </a:pPr>
            <a:r>
              <a:rPr b="1" lang="en-US" sz="1450">
                <a:solidFill>
                  <a:srgbClr val="000000"/>
                </a:solidFill>
                <a:latin typeface="Hubot Sans"/>
                <a:ea typeface="Hubot Sans"/>
                <a:cs typeface="Hubot Sans"/>
                <a:sym typeface="Hubot Sans"/>
              </a:rPr>
              <a:t>Avoid Aggregation Bias</a:t>
            </a:r>
            <a:endParaRPr sz="1450">
              <a:solidFill>
                <a:schemeClr val="dk1"/>
              </a:solidFill>
              <a:latin typeface="Calibri"/>
              <a:ea typeface="Calibri"/>
              <a:cs typeface="Calibri"/>
              <a:sym typeface="Calibri"/>
            </a:endParaRPr>
          </a:p>
        </p:txBody>
      </p:sp>
      <p:sp>
        <p:nvSpPr>
          <p:cNvPr id="174" name="Google Shape;174;p19"/>
          <p:cNvSpPr/>
          <p:nvPr/>
        </p:nvSpPr>
        <p:spPr>
          <a:xfrm>
            <a:off x="1493996" y="4089916"/>
            <a:ext cx="6708815" cy="589598"/>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000000"/>
              </a:buClr>
              <a:buSzPts val="1450"/>
              <a:buFont typeface="Roboto Condensed"/>
              <a:buNone/>
            </a:pPr>
            <a:r>
              <a:rPr lang="en-US" sz="1450">
                <a:solidFill>
                  <a:srgbClr val="000000"/>
                </a:solidFill>
                <a:latin typeface="Roboto Condensed"/>
                <a:ea typeface="Roboto Condensed"/>
                <a:cs typeface="Roboto Condensed"/>
                <a:sym typeface="Roboto Condensed"/>
              </a:rPr>
              <a:t>Do not allow task times to be aggregated or adjusted prematurely to fit pre-determined project deadlines.</a:t>
            </a:r>
            <a:endParaRPr sz="1450">
              <a:solidFill>
                <a:schemeClr val="dk1"/>
              </a:solidFill>
              <a:latin typeface="Calibri"/>
              <a:ea typeface="Calibri"/>
              <a:cs typeface="Calibri"/>
              <a:sym typeface="Calibri"/>
            </a:endParaRPr>
          </a:p>
        </p:txBody>
      </p:sp>
      <p:sp>
        <p:nvSpPr>
          <p:cNvPr id="175" name="Google Shape;175;p19"/>
          <p:cNvSpPr/>
          <p:nvPr/>
        </p:nvSpPr>
        <p:spPr>
          <a:xfrm>
            <a:off x="889040" y="5715595"/>
            <a:ext cx="442198" cy="15240"/>
          </a:xfrm>
          <a:prstGeom prst="roundRect">
            <a:avLst>
              <a:gd fmla="val 145116" name="adj"/>
            </a:avLst>
          </a:prstGeom>
          <a:solidFill>
            <a:srgbClr val="AEB0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a:off x="849035" y="5667970"/>
            <a:ext cx="110490" cy="110490"/>
          </a:xfrm>
          <a:prstGeom prst="roundRect">
            <a:avLst>
              <a:gd fmla="val 413793" name="adj"/>
            </a:avLst>
          </a:prstGeom>
          <a:solidFill>
            <a:srgbClr val="C8CA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p:nvPr/>
        </p:nvSpPr>
        <p:spPr>
          <a:xfrm>
            <a:off x="1346597" y="5121712"/>
            <a:ext cx="7003613" cy="1203127"/>
          </a:xfrm>
          <a:prstGeom prst="roundRect">
            <a:avLst>
              <a:gd fmla="val 1838" name="adj"/>
            </a:avLst>
          </a:prstGeom>
          <a:solidFill>
            <a:srgbClr val="D8D9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1493996" y="5269111"/>
            <a:ext cx="2004774" cy="230386"/>
          </a:xfrm>
          <a:prstGeom prst="rect">
            <a:avLst/>
          </a:prstGeom>
          <a:noFill/>
          <a:ln>
            <a:noFill/>
          </a:ln>
        </p:spPr>
        <p:txBody>
          <a:bodyPr anchorCtr="0" anchor="t" bIns="0" lIns="0" spcFirstLastPara="1" rIns="0" wrap="square" tIns="0">
            <a:noAutofit/>
          </a:bodyPr>
          <a:lstStyle/>
          <a:p>
            <a:pPr indent="0" lvl="0" marL="0" marR="0" rtl="0" algn="l">
              <a:lnSpc>
                <a:spcPct val="124137"/>
              </a:lnSpc>
              <a:spcBef>
                <a:spcPts val="0"/>
              </a:spcBef>
              <a:spcAft>
                <a:spcPts val="0"/>
              </a:spcAft>
              <a:buClr>
                <a:srgbClr val="000000"/>
              </a:buClr>
              <a:buSzPts val="1450"/>
              <a:buFont typeface="Hubot Sans"/>
              <a:buNone/>
            </a:pPr>
            <a:r>
              <a:rPr b="1" lang="en-US" sz="1450">
                <a:solidFill>
                  <a:srgbClr val="000000"/>
                </a:solidFill>
                <a:latin typeface="Hubot Sans"/>
                <a:ea typeface="Hubot Sans"/>
                <a:cs typeface="Hubot Sans"/>
                <a:sym typeface="Hubot Sans"/>
              </a:rPr>
              <a:t>Preserve Realism</a:t>
            </a:r>
            <a:endParaRPr sz="1450">
              <a:solidFill>
                <a:schemeClr val="dk1"/>
              </a:solidFill>
              <a:latin typeface="Calibri"/>
              <a:ea typeface="Calibri"/>
              <a:cs typeface="Calibri"/>
              <a:sym typeface="Calibri"/>
            </a:endParaRPr>
          </a:p>
        </p:txBody>
      </p:sp>
      <p:sp>
        <p:nvSpPr>
          <p:cNvPr id="179" name="Google Shape;179;p19"/>
          <p:cNvSpPr/>
          <p:nvPr/>
        </p:nvSpPr>
        <p:spPr>
          <a:xfrm>
            <a:off x="1493996" y="5587841"/>
            <a:ext cx="6708815" cy="589598"/>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000000"/>
              </a:buClr>
              <a:buSzPts val="1450"/>
              <a:buFont typeface="Roboto Condensed"/>
              <a:buNone/>
            </a:pPr>
            <a:r>
              <a:rPr lang="en-US" sz="1450">
                <a:solidFill>
                  <a:srgbClr val="000000"/>
                </a:solidFill>
                <a:latin typeface="Roboto Condensed"/>
                <a:ea typeface="Roboto Condensed"/>
                <a:cs typeface="Roboto Condensed"/>
                <a:sym typeface="Roboto Condensed"/>
              </a:rPr>
              <a:t>This approach prevents optimistic bias and ensures the resulting project schedule remains as realistic as possible.</a:t>
            </a:r>
            <a:endParaRPr sz="1450">
              <a:solidFill>
                <a:schemeClr val="dk1"/>
              </a:solidFill>
              <a:latin typeface="Calibri"/>
              <a:ea typeface="Calibri"/>
              <a:cs typeface="Calibri"/>
              <a:sym typeface="Calibri"/>
            </a:endParaRPr>
          </a:p>
        </p:txBody>
      </p:sp>
      <p:sp>
        <p:nvSpPr>
          <p:cNvPr id="180" name="Google Shape;180;p19"/>
          <p:cNvSpPr/>
          <p:nvPr/>
        </p:nvSpPr>
        <p:spPr>
          <a:xfrm>
            <a:off x="1014889" y="6656546"/>
            <a:ext cx="7335322" cy="589598"/>
          </a:xfrm>
          <a:prstGeom prst="rect">
            <a:avLst/>
          </a:prstGeom>
          <a:noFill/>
          <a:ln>
            <a:noFill/>
          </a:ln>
        </p:spPr>
        <p:txBody>
          <a:bodyPr anchorCtr="0" anchor="t" bIns="0" lIns="0" spcFirstLastPara="1" rIns="0" wrap="square" tIns="0">
            <a:noAutofit/>
          </a:bodyPr>
          <a:lstStyle/>
          <a:p>
            <a:pPr indent="0" lvl="0" marL="0" marR="0" rtl="0" algn="l">
              <a:lnSpc>
                <a:spcPct val="158620"/>
              </a:lnSpc>
              <a:spcBef>
                <a:spcPts val="0"/>
              </a:spcBef>
              <a:spcAft>
                <a:spcPts val="0"/>
              </a:spcAft>
              <a:buClr>
                <a:srgbClr val="55575A"/>
              </a:buClr>
              <a:buSzPts val="1450"/>
              <a:buFont typeface="Roboto Condensed"/>
              <a:buNone/>
            </a:pPr>
            <a:r>
              <a:rPr lang="en-US" sz="1450">
                <a:solidFill>
                  <a:srgbClr val="55575A"/>
                </a:solidFill>
                <a:latin typeface="Roboto Condensed"/>
                <a:ea typeface="Roboto Condensed"/>
                <a:cs typeface="Roboto Condensed"/>
                <a:sym typeface="Roboto Condensed"/>
              </a:rPr>
              <a:t>The goal is to determine the true effort required for each component before compiling the entire project network.</a:t>
            </a:r>
            <a:endParaRPr sz="1450">
              <a:solidFill>
                <a:schemeClr val="dk1"/>
              </a:solidFill>
              <a:latin typeface="Calibri"/>
              <a:ea typeface="Calibri"/>
              <a:cs typeface="Calibri"/>
              <a:sym typeface="Calibri"/>
            </a:endParaRPr>
          </a:p>
        </p:txBody>
      </p:sp>
      <p:sp>
        <p:nvSpPr>
          <p:cNvPr id="181" name="Google Shape;181;p19"/>
          <p:cNvSpPr/>
          <p:nvPr/>
        </p:nvSpPr>
        <p:spPr>
          <a:xfrm>
            <a:off x="793790" y="6490692"/>
            <a:ext cx="15240" cy="921306"/>
          </a:xfrm>
          <a:prstGeom prst="rect">
            <a:avLst/>
          </a:prstGeom>
          <a:solidFill>
            <a:srgbClr val="1E1E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p:nvPr/>
        </p:nvSpPr>
        <p:spPr>
          <a:xfrm>
            <a:off x="630912" y="495776"/>
            <a:ext cx="1802844" cy="22526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C0D0F"/>
              </a:buClr>
              <a:buSzPts val="1400"/>
              <a:buFont typeface="Hubot Sans"/>
              <a:buNone/>
            </a:pPr>
            <a:r>
              <a:rPr b="1" lang="en-US" sz="1400">
                <a:solidFill>
                  <a:srgbClr val="0C0D0F"/>
                </a:solidFill>
                <a:latin typeface="Hubot Sans"/>
                <a:ea typeface="Hubot Sans"/>
                <a:cs typeface="Hubot Sans"/>
                <a:sym typeface="Hubot Sans"/>
              </a:rPr>
              <a:t>Guideline 6</a:t>
            </a:r>
            <a:endParaRPr sz="1400">
              <a:solidFill>
                <a:schemeClr val="dk1"/>
              </a:solidFill>
              <a:latin typeface="Calibri"/>
              <a:ea typeface="Calibri"/>
              <a:cs typeface="Calibri"/>
              <a:sym typeface="Calibri"/>
            </a:endParaRPr>
          </a:p>
        </p:txBody>
      </p:sp>
      <p:sp>
        <p:nvSpPr>
          <p:cNvPr id="188" name="Google Shape;188;p20"/>
          <p:cNvSpPr/>
          <p:nvPr/>
        </p:nvSpPr>
        <p:spPr>
          <a:xfrm>
            <a:off x="630912" y="937379"/>
            <a:ext cx="8597384" cy="621863"/>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0C0D0F"/>
              </a:buClr>
              <a:buSzPts val="3900"/>
              <a:buFont typeface="Hubot Sans"/>
              <a:buNone/>
            </a:pPr>
            <a:r>
              <a:rPr b="1" lang="en-US" sz="3900">
                <a:solidFill>
                  <a:srgbClr val="0C0D0F"/>
                </a:solidFill>
                <a:latin typeface="Hubot Sans"/>
                <a:ea typeface="Hubot Sans"/>
                <a:cs typeface="Hubot Sans"/>
                <a:sym typeface="Hubot Sans"/>
              </a:rPr>
              <a:t>No Individual Contingency</a:t>
            </a:r>
            <a:endParaRPr sz="3900">
              <a:solidFill>
                <a:schemeClr val="dk1"/>
              </a:solidFill>
              <a:latin typeface="Calibri"/>
              <a:ea typeface="Calibri"/>
              <a:cs typeface="Calibri"/>
              <a:sym typeface="Calibri"/>
            </a:endParaRPr>
          </a:p>
        </p:txBody>
      </p:sp>
      <p:sp>
        <p:nvSpPr>
          <p:cNvPr id="189" name="Google Shape;189;p20"/>
          <p:cNvSpPr/>
          <p:nvPr/>
        </p:nvSpPr>
        <p:spPr>
          <a:xfrm>
            <a:off x="630912" y="1937742"/>
            <a:ext cx="6508433" cy="2469118"/>
          </a:xfrm>
          <a:prstGeom prst="roundRect">
            <a:avLst>
              <a:gd fmla="val 876" name="adj"/>
            </a:avLst>
          </a:prstGeom>
          <a:solidFill>
            <a:srgbClr val="D8D9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0"/>
          <p:cNvSpPr/>
          <p:nvPr/>
        </p:nvSpPr>
        <p:spPr>
          <a:xfrm>
            <a:off x="630912" y="1937742"/>
            <a:ext cx="6508433" cy="1234559"/>
          </a:xfrm>
          <a:prstGeom prst="roundRect">
            <a:avLst>
              <a:gd fmla="val 1752" name="adj"/>
            </a:avLst>
          </a:prstGeom>
          <a:solidFill>
            <a:srgbClr val="D8D9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0"/>
          <p:cNvSpPr/>
          <p:nvPr/>
        </p:nvSpPr>
        <p:spPr>
          <a:xfrm>
            <a:off x="775097" y="2081927"/>
            <a:ext cx="1802844" cy="22526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Hubot Sans"/>
              <a:buNone/>
            </a:pPr>
            <a:r>
              <a:rPr b="1" lang="en-US" sz="1400">
                <a:solidFill>
                  <a:srgbClr val="000000"/>
                </a:solidFill>
                <a:latin typeface="Hubot Sans"/>
                <a:ea typeface="Hubot Sans"/>
                <a:cs typeface="Hubot Sans"/>
                <a:sym typeface="Hubot Sans"/>
              </a:rPr>
              <a:t>Pure Effort</a:t>
            </a:r>
            <a:endParaRPr sz="1400">
              <a:solidFill>
                <a:schemeClr val="dk1"/>
              </a:solidFill>
              <a:latin typeface="Calibri"/>
              <a:ea typeface="Calibri"/>
              <a:cs typeface="Calibri"/>
              <a:sym typeface="Calibri"/>
            </a:endParaRPr>
          </a:p>
        </p:txBody>
      </p:sp>
      <p:sp>
        <p:nvSpPr>
          <p:cNvPr id="192" name="Google Shape;192;p20"/>
          <p:cNvSpPr/>
          <p:nvPr/>
        </p:nvSpPr>
        <p:spPr>
          <a:xfrm>
            <a:off x="775097" y="2451378"/>
            <a:ext cx="6220063" cy="57673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1400"/>
              <a:buFont typeface="Roboto Condensed"/>
              <a:buNone/>
            </a:pPr>
            <a:r>
              <a:rPr lang="en-US" sz="1400">
                <a:solidFill>
                  <a:srgbClr val="000000"/>
                </a:solidFill>
                <a:latin typeface="Roboto Condensed"/>
                <a:ea typeface="Roboto Condensed"/>
                <a:cs typeface="Roboto Condensed"/>
                <a:sym typeface="Roboto Condensed"/>
              </a:rPr>
              <a:t>Estimates for specific tasks must reflect only the direct effort required to complete the work, excluding any buffer or "padding."</a:t>
            </a:r>
            <a:endParaRPr sz="1400">
              <a:solidFill>
                <a:schemeClr val="dk1"/>
              </a:solidFill>
              <a:latin typeface="Calibri"/>
              <a:ea typeface="Calibri"/>
              <a:cs typeface="Calibri"/>
              <a:sym typeface="Calibri"/>
            </a:endParaRPr>
          </a:p>
        </p:txBody>
      </p:sp>
      <p:sp>
        <p:nvSpPr>
          <p:cNvPr id="193" name="Google Shape;193;p20"/>
          <p:cNvSpPr/>
          <p:nvPr/>
        </p:nvSpPr>
        <p:spPr>
          <a:xfrm>
            <a:off x="630912" y="3172301"/>
            <a:ext cx="6508433" cy="1234559"/>
          </a:xfrm>
          <a:prstGeom prst="rect">
            <a:avLst/>
          </a:prstGeom>
          <a:solidFill>
            <a:srgbClr val="D8D9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0"/>
          <p:cNvSpPr/>
          <p:nvPr/>
        </p:nvSpPr>
        <p:spPr>
          <a:xfrm>
            <a:off x="630912" y="3172301"/>
            <a:ext cx="6508433" cy="15240"/>
          </a:xfrm>
          <a:prstGeom prst="roundRect">
            <a:avLst>
              <a:gd fmla="val 141957" name="adj"/>
            </a:avLst>
          </a:prstGeom>
          <a:solidFill>
            <a:srgbClr val="AEB0A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0"/>
          <p:cNvSpPr/>
          <p:nvPr/>
        </p:nvSpPr>
        <p:spPr>
          <a:xfrm>
            <a:off x="775097" y="3316486"/>
            <a:ext cx="2192893" cy="22526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Hubot Sans"/>
              <a:buNone/>
            </a:pPr>
            <a:r>
              <a:rPr b="1" lang="en-US" sz="1400">
                <a:solidFill>
                  <a:srgbClr val="000000"/>
                </a:solidFill>
                <a:latin typeface="Hubot Sans"/>
                <a:ea typeface="Hubot Sans"/>
                <a:cs typeface="Hubot Sans"/>
                <a:sym typeface="Hubot Sans"/>
              </a:rPr>
              <a:t>Centralized Buffer</a:t>
            </a:r>
            <a:endParaRPr sz="1400">
              <a:solidFill>
                <a:schemeClr val="dk1"/>
              </a:solidFill>
              <a:latin typeface="Calibri"/>
              <a:ea typeface="Calibri"/>
              <a:cs typeface="Calibri"/>
              <a:sym typeface="Calibri"/>
            </a:endParaRPr>
          </a:p>
        </p:txBody>
      </p:sp>
      <p:sp>
        <p:nvSpPr>
          <p:cNvPr id="196" name="Google Shape;196;p20"/>
          <p:cNvSpPr/>
          <p:nvPr/>
        </p:nvSpPr>
        <p:spPr>
          <a:xfrm>
            <a:off x="775097" y="3685937"/>
            <a:ext cx="6220063" cy="57673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000000"/>
              </a:buClr>
              <a:buSzPts val="1400"/>
              <a:buFont typeface="Roboto Condensed"/>
              <a:buNone/>
            </a:pPr>
            <a:r>
              <a:rPr lang="en-US" sz="1400">
                <a:solidFill>
                  <a:srgbClr val="000000"/>
                </a:solidFill>
                <a:latin typeface="Roboto Condensed"/>
                <a:ea typeface="Roboto Condensed"/>
                <a:cs typeface="Roboto Condensed"/>
                <a:sym typeface="Roboto Condensed"/>
              </a:rPr>
              <a:t>Management should set aside separate, centralized contingency funds or time buffers to cover expected but unknown risks.</a:t>
            </a:r>
            <a:endParaRPr sz="1400">
              <a:solidFill>
                <a:schemeClr val="dk1"/>
              </a:solidFill>
              <a:latin typeface="Calibri"/>
              <a:ea typeface="Calibri"/>
              <a:cs typeface="Calibri"/>
              <a:sym typeface="Calibri"/>
            </a:endParaRPr>
          </a:p>
        </p:txBody>
      </p:sp>
      <p:pic>
        <p:nvPicPr>
          <p:cNvPr descr="preencoded.png" id="197" name="Google Shape;197;p20"/>
          <p:cNvPicPr preferRelativeResize="0"/>
          <p:nvPr/>
        </p:nvPicPr>
        <p:blipFill rotWithShape="1">
          <a:blip r:embed="rId3">
            <a:alphaModFix/>
          </a:blip>
          <a:srcRect b="0" l="0" r="0" t="0"/>
          <a:stretch/>
        </p:blipFill>
        <p:spPr>
          <a:xfrm>
            <a:off x="7498675" y="1937742"/>
            <a:ext cx="5206722" cy="5206722"/>
          </a:xfrm>
          <a:prstGeom prst="rect">
            <a:avLst/>
          </a:prstGeom>
          <a:noFill/>
          <a:ln>
            <a:noFill/>
          </a:ln>
        </p:spPr>
      </p:pic>
      <p:sp>
        <p:nvSpPr>
          <p:cNvPr id="198" name="Google Shape;198;p20"/>
          <p:cNvSpPr/>
          <p:nvPr/>
        </p:nvSpPr>
        <p:spPr>
          <a:xfrm>
            <a:off x="7498675" y="7306628"/>
            <a:ext cx="6508433" cy="184547"/>
          </a:xfrm>
          <a:prstGeom prst="rect">
            <a:avLst/>
          </a:prstGeom>
          <a:noFill/>
          <a:ln>
            <a:noFill/>
          </a:ln>
        </p:spPr>
        <p:txBody>
          <a:bodyPr anchorCtr="0" anchor="t" bIns="0" lIns="0" spcFirstLastPara="1" rIns="0" wrap="square" tIns="0">
            <a:noAutofit/>
          </a:bodyPr>
          <a:lstStyle/>
          <a:p>
            <a:pPr indent="0" lvl="0" marL="0" marR="0" rtl="0" algn="l">
              <a:lnSpc>
                <a:spcPct val="161111"/>
              </a:lnSpc>
              <a:spcBef>
                <a:spcPts val="0"/>
              </a:spcBef>
              <a:spcAft>
                <a:spcPts val="0"/>
              </a:spcAft>
              <a:buClr>
                <a:srgbClr val="55575A"/>
              </a:buClr>
              <a:buSzPts val="900"/>
              <a:buFont typeface="Roboto Condensed"/>
              <a:buNone/>
            </a:pPr>
            <a:r>
              <a:rPr lang="en-US" sz="900">
                <a:solidFill>
                  <a:srgbClr val="55575A"/>
                </a:solidFill>
                <a:latin typeface="Roboto Condensed"/>
                <a:ea typeface="Roboto Condensed"/>
                <a:cs typeface="Roboto Condensed"/>
                <a:sym typeface="Roboto Condensed"/>
              </a:rPr>
              <a:t>Separating the base estimate from the contingency allows for greater transparency and better control over risk reserves.</a:t>
            </a:r>
            <a:endParaRPr sz="900">
              <a:solidFill>
                <a:schemeClr val="dk1"/>
              </a:solidFill>
              <a:latin typeface="Calibri"/>
              <a:ea typeface="Calibri"/>
              <a:cs typeface="Calibri"/>
              <a:sym typeface="Calibri"/>
            </a:endParaRPr>
          </a:p>
        </p:txBody>
      </p:sp>
      <p:sp>
        <p:nvSpPr>
          <p:cNvPr id="199" name="Google Shape;199;p20"/>
          <p:cNvSpPr/>
          <p:nvPr/>
        </p:nvSpPr>
        <p:spPr>
          <a:xfrm>
            <a:off x="630912" y="7783116"/>
            <a:ext cx="13368576" cy="288369"/>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55575A"/>
              </a:buClr>
              <a:buSzPts val="1400"/>
              <a:buFont typeface="Roboto Condensed"/>
              <a:buNone/>
            </a:pPr>
            <a:r>
              <a:rPr lang="en-US" sz="1400">
                <a:solidFill>
                  <a:srgbClr val="55575A"/>
                </a:solidFill>
                <a:latin typeface="Roboto Condensed"/>
                <a:ea typeface="Roboto Condensed"/>
                <a:cs typeface="Roboto Condensed"/>
                <a:sym typeface="Roboto Condensed"/>
              </a:rPr>
              <a:t>Example: Unforeseen server downtime in an IT project is covered by central risk reserves, not by individual engineers adding extra hours to their code review estimates.</a:t>
            </a:r>
            <a:endParaRPr sz="1400">
              <a:solidFill>
                <a:schemeClr val="dk1"/>
              </a:solidFill>
              <a:latin typeface="Calibri"/>
              <a:ea typeface="Calibri"/>
              <a:cs typeface="Calibri"/>
              <a:sym typeface="Calibri"/>
            </a:endParaRPr>
          </a:p>
        </p:txBody>
      </p:sp>
      <p:sp>
        <p:nvSpPr>
          <p:cNvPr id="200" name="Google Shape;200;p20"/>
          <p:cNvSpPr/>
          <p:nvPr/>
        </p:nvSpPr>
        <p:spPr>
          <a:xfrm>
            <a:off x="12823634" y="7700790"/>
            <a:ext cx="1729648" cy="45169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1"/>
          <p:cNvSpPr/>
          <p:nvPr/>
        </p:nvSpPr>
        <p:spPr>
          <a:xfrm>
            <a:off x="526494" y="413623"/>
            <a:ext cx="1598295" cy="199668"/>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0C0D0F"/>
              </a:buClr>
              <a:buSzPts val="1250"/>
              <a:buFont typeface="Hubot Sans"/>
              <a:buNone/>
            </a:pPr>
            <a:r>
              <a:rPr b="1" lang="en-US" sz="1250">
                <a:solidFill>
                  <a:srgbClr val="0C0D0F"/>
                </a:solidFill>
                <a:latin typeface="Hubot Sans"/>
                <a:ea typeface="Hubot Sans"/>
                <a:cs typeface="Hubot Sans"/>
                <a:sym typeface="Hubot Sans"/>
              </a:rPr>
              <a:t>Guideline 7</a:t>
            </a:r>
            <a:endParaRPr sz="1250">
              <a:solidFill>
                <a:schemeClr val="dk1"/>
              </a:solidFill>
              <a:latin typeface="Calibri"/>
              <a:ea typeface="Calibri"/>
              <a:cs typeface="Calibri"/>
              <a:sym typeface="Calibri"/>
            </a:endParaRPr>
          </a:p>
        </p:txBody>
      </p:sp>
      <p:sp>
        <p:nvSpPr>
          <p:cNvPr id="207" name="Google Shape;207;p21"/>
          <p:cNvSpPr/>
          <p:nvPr/>
        </p:nvSpPr>
        <p:spPr>
          <a:xfrm>
            <a:off x="526494" y="804982"/>
            <a:ext cx="8179356" cy="551378"/>
          </a:xfrm>
          <a:prstGeom prst="rect">
            <a:avLst/>
          </a:prstGeom>
          <a:noFill/>
          <a:ln>
            <a:noFill/>
          </a:ln>
        </p:spPr>
        <p:txBody>
          <a:bodyPr anchorCtr="0" anchor="t" bIns="0" lIns="0" spcFirstLastPara="1" rIns="0" wrap="square" tIns="0">
            <a:noAutofit/>
          </a:bodyPr>
          <a:lstStyle/>
          <a:p>
            <a:pPr indent="0" lvl="0" marL="0" marR="0" rtl="0" algn="l">
              <a:lnSpc>
                <a:spcPct val="124637"/>
              </a:lnSpc>
              <a:spcBef>
                <a:spcPts val="0"/>
              </a:spcBef>
              <a:spcAft>
                <a:spcPts val="0"/>
              </a:spcAft>
              <a:buClr>
                <a:srgbClr val="0C0D0F"/>
              </a:buClr>
              <a:buSzPts val="3450"/>
              <a:buFont typeface="Hubot Sans"/>
              <a:buNone/>
            </a:pPr>
            <a:r>
              <a:rPr b="1" lang="en-US" sz="3450">
                <a:solidFill>
                  <a:srgbClr val="0C0D0F"/>
                </a:solidFill>
                <a:latin typeface="Hubot Sans"/>
                <a:ea typeface="Hubot Sans"/>
                <a:cs typeface="Hubot Sans"/>
                <a:sym typeface="Hubot Sans"/>
              </a:rPr>
              <a:t>Incorporate Risk Assessment</a:t>
            </a:r>
            <a:endParaRPr sz="3450">
              <a:solidFill>
                <a:schemeClr val="dk1"/>
              </a:solidFill>
              <a:latin typeface="Calibri"/>
              <a:ea typeface="Calibri"/>
              <a:cs typeface="Calibri"/>
              <a:sym typeface="Calibri"/>
            </a:endParaRPr>
          </a:p>
        </p:txBody>
      </p:sp>
      <p:sp>
        <p:nvSpPr>
          <p:cNvPr id="208" name="Google Shape;208;p21"/>
          <p:cNvSpPr/>
          <p:nvPr/>
        </p:nvSpPr>
        <p:spPr>
          <a:xfrm>
            <a:off x="526494" y="1548051"/>
            <a:ext cx="13577411" cy="25562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5575A"/>
              </a:buClr>
              <a:buSzPts val="1250"/>
              <a:buFont typeface="Roboto Condensed"/>
              <a:buNone/>
            </a:pPr>
            <a:r>
              <a:rPr lang="en-US" sz="1250">
                <a:solidFill>
                  <a:srgbClr val="55575A"/>
                </a:solidFill>
                <a:latin typeface="Roboto Condensed"/>
                <a:ea typeface="Roboto Condensed"/>
                <a:cs typeface="Roboto Condensed"/>
                <a:sym typeface="Roboto Condensed"/>
              </a:rPr>
              <a:t>Estimation is inherently linked to risk. Acknowledging uncertainty through structured assessment techniques is crucial for reliable forecasting.</a:t>
            </a:r>
            <a:endParaRPr sz="1250">
              <a:solidFill>
                <a:schemeClr val="dk1"/>
              </a:solidFill>
              <a:latin typeface="Calibri"/>
              <a:ea typeface="Calibri"/>
              <a:cs typeface="Calibri"/>
              <a:sym typeface="Calibri"/>
            </a:endParaRPr>
          </a:p>
        </p:txBody>
      </p:sp>
      <p:pic>
        <p:nvPicPr>
          <p:cNvPr descr="preencoded.png" id="209" name="Google Shape;209;p21"/>
          <p:cNvPicPr preferRelativeResize="0"/>
          <p:nvPr/>
        </p:nvPicPr>
        <p:blipFill rotWithShape="1">
          <a:blip r:embed="rId3">
            <a:alphaModFix/>
          </a:blip>
          <a:srcRect b="0" l="0" r="0" t="0"/>
          <a:stretch/>
        </p:blipFill>
        <p:spPr>
          <a:xfrm>
            <a:off x="1638062" y="1947505"/>
            <a:ext cx="11354276" cy="5581650"/>
          </a:xfrm>
          <a:prstGeom prst="rect">
            <a:avLst/>
          </a:prstGeom>
          <a:noFill/>
          <a:ln>
            <a:noFill/>
          </a:ln>
        </p:spPr>
      </p:pic>
      <p:sp>
        <p:nvSpPr>
          <p:cNvPr id="210" name="Google Shape;210;p21"/>
          <p:cNvSpPr/>
          <p:nvPr/>
        </p:nvSpPr>
        <p:spPr>
          <a:xfrm>
            <a:off x="7194000" y="2438325"/>
            <a:ext cx="3516672" cy="324583"/>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55575A"/>
              </a:buClr>
              <a:buSzPts val="1350"/>
              <a:buFont typeface="Hubot Sans"/>
              <a:buNone/>
            </a:pPr>
            <a:r>
              <a:rPr b="1" lang="en-US" sz="1350">
                <a:solidFill>
                  <a:srgbClr val="55575A"/>
                </a:solidFill>
                <a:latin typeface="Hubot Sans"/>
                <a:ea typeface="Hubot Sans"/>
                <a:cs typeface="Hubot Sans"/>
                <a:sym typeface="Hubot Sans"/>
              </a:rPr>
              <a:t>Pessimistic Estimate</a:t>
            </a:r>
            <a:endParaRPr sz="1350">
              <a:solidFill>
                <a:schemeClr val="dk1"/>
              </a:solidFill>
              <a:latin typeface="Calibri"/>
              <a:ea typeface="Calibri"/>
              <a:cs typeface="Calibri"/>
              <a:sym typeface="Calibri"/>
            </a:endParaRPr>
          </a:p>
        </p:txBody>
      </p:sp>
      <p:sp>
        <p:nvSpPr>
          <p:cNvPr id="211" name="Google Shape;211;p21"/>
          <p:cNvSpPr/>
          <p:nvPr/>
        </p:nvSpPr>
        <p:spPr>
          <a:xfrm>
            <a:off x="7194000" y="2855234"/>
            <a:ext cx="5251026" cy="259666"/>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55575A"/>
              </a:buClr>
              <a:buSzPts val="1050"/>
              <a:buFont typeface="Roboto Condensed"/>
              <a:buNone/>
            </a:pPr>
            <a:r>
              <a:rPr lang="en-US" sz="1050">
                <a:solidFill>
                  <a:srgbClr val="55575A"/>
                </a:solidFill>
                <a:latin typeface="Roboto Condensed"/>
                <a:ea typeface="Roboto Condensed"/>
                <a:cs typeface="Roboto Condensed"/>
                <a:sym typeface="Roboto Condensed"/>
              </a:rPr>
              <a:t>Worst-case duration</a:t>
            </a:r>
            <a:endParaRPr sz="1050">
              <a:solidFill>
                <a:schemeClr val="dk1"/>
              </a:solidFill>
              <a:latin typeface="Calibri"/>
              <a:ea typeface="Calibri"/>
              <a:cs typeface="Calibri"/>
              <a:sym typeface="Calibri"/>
            </a:endParaRPr>
          </a:p>
        </p:txBody>
      </p:sp>
      <p:pic>
        <p:nvPicPr>
          <p:cNvPr descr="preencoded.png" id="212" name="Google Shape;212;p21"/>
          <p:cNvPicPr preferRelativeResize="0"/>
          <p:nvPr/>
        </p:nvPicPr>
        <p:blipFill rotWithShape="1">
          <a:blip r:embed="rId4">
            <a:alphaModFix/>
          </a:blip>
          <a:srcRect b="0" l="0" r="0" t="0"/>
          <a:stretch/>
        </p:blipFill>
        <p:spPr>
          <a:xfrm>
            <a:off x="4233807" y="2591961"/>
            <a:ext cx="369303" cy="369303"/>
          </a:xfrm>
          <a:prstGeom prst="rect">
            <a:avLst/>
          </a:prstGeom>
          <a:noFill/>
          <a:ln>
            <a:noFill/>
          </a:ln>
        </p:spPr>
      </p:pic>
      <p:sp>
        <p:nvSpPr>
          <p:cNvPr id="213" name="Google Shape;213;p21"/>
          <p:cNvSpPr/>
          <p:nvPr/>
        </p:nvSpPr>
        <p:spPr>
          <a:xfrm>
            <a:off x="7194000" y="3742426"/>
            <a:ext cx="3385036" cy="324583"/>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55575A"/>
              </a:buClr>
              <a:buSzPts val="1350"/>
              <a:buFont typeface="Hubot Sans"/>
              <a:buNone/>
            </a:pPr>
            <a:r>
              <a:rPr b="1" lang="en-US" sz="1350">
                <a:solidFill>
                  <a:srgbClr val="55575A"/>
                </a:solidFill>
                <a:latin typeface="Hubot Sans"/>
                <a:ea typeface="Hubot Sans"/>
                <a:cs typeface="Hubot Sans"/>
                <a:sym typeface="Hubot Sans"/>
              </a:rPr>
              <a:t>Most Likely Estimate</a:t>
            </a:r>
            <a:endParaRPr sz="1350">
              <a:solidFill>
                <a:schemeClr val="dk1"/>
              </a:solidFill>
              <a:latin typeface="Calibri"/>
              <a:ea typeface="Calibri"/>
              <a:cs typeface="Calibri"/>
              <a:sym typeface="Calibri"/>
            </a:endParaRPr>
          </a:p>
        </p:txBody>
      </p:sp>
      <p:sp>
        <p:nvSpPr>
          <p:cNvPr id="214" name="Google Shape;214;p21"/>
          <p:cNvSpPr/>
          <p:nvPr/>
        </p:nvSpPr>
        <p:spPr>
          <a:xfrm>
            <a:off x="7194000" y="4159334"/>
            <a:ext cx="5251026" cy="259666"/>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55575A"/>
              </a:buClr>
              <a:buSzPts val="1050"/>
              <a:buFont typeface="Roboto Condensed"/>
              <a:buNone/>
            </a:pPr>
            <a:r>
              <a:rPr lang="en-US" sz="1050">
                <a:solidFill>
                  <a:srgbClr val="55575A"/>
                </a:solidFill>
                <a:latin typeface="Roboto Condensed"/>
                <a:ea typeface="Roboto Condensed"/>
                <a:cs typeface="Roboto Condensed"/>
                <a:sym typeface="Roboto Condensed"/>
              </a:rPr>
              <a:t>Expected typical duration</a:t>
            </a:r>
            <a:endParaRPr sz="1050">
              <a:solidFill>
                <a:schemeClr val="dk1"/>
              </a:solidFill>
              <a:latin typeface="Calibri"/>
              <a:ea typeface="Calibri"/>
              <a:cs typeface="Calibri"/>
              <a:sym typeface="Calibri"/>
            </a:endParaRPr>
          </a:p>
        </p:txBody>
      </p:sp>
      <p:pic>
        <p:nvPicPr>
          <p:cNvPr descr="preencoded.png" id="215" name="Google Shape;215;p21"/>
          <p:cNvPicPr preferRelativeResize="0"/>
          <p:nvPr/>
        </p:nvPicPr>
        <p:blipFill rotWithShape="1">
          <a:blip r:embed="rId5">
            <a:alphaModFix/>
          </a:blip>
          <a:srcRect b="0" l="0" r="0" t="0"/>
          <a:stretch/>
        </p:blipFill>
        <p:spPr>
          <a:xfrm>
            <a:off x="4233807" y="3722951"/>
            <a:ext cx="369303" cy="369303"/>
          </a:xfrm>
          <a:prstGeom prst="rect">
            <a:avLst/>
          </a:prstGeom>
          <a:noFill/>
          <a:ln>
            <a:noFill/>
          </a:ln>
        </p:spPr>
      </p:pic>
      <p:sp>
        <p:nvSpPr>
          <p:cNvPr id="216" name="Google Shape;216;p21"/>
          <p:cNvSpPr/>
          <p:nvPr/>
        </p:nvSpPr>
        <p:spPr>
          <a:xfrm>
            <a:off x="7194000" y="5046527"/>
            <a:ext cx="3375840" cy="324583"/>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55575A"/>
              </a:buClr>
              <a:buSzPts val="1350"/>
              <a:buFont typeface="Hubot Sans"/>
              <a:buNone/>
            </a:pPr>
            <a:r>
              <a:rPr b="1" lang="en-US" sz="1350">
                <a:solidFill>
                  <a:srgbClr val="55575A"/>
                </a:solidFill>
                <a:latin typeface="Hubot Sans"/>
                <a:ea typeface="Hubot Sans"/>
                <a:cs typeface="Hubot Sans"/>
                <a:sym typeface="Hubot Sans"/>
              </a:rPr>
              <a:t>Optimistic Estimate</a:t>
            </a:r>
            <a:endParaRPr sz="1350">
              <a:solidFill>
                <a:schemeClr val="dk1"/>
              </a:solidFill>
              <a:latin typeface="Calibri"/>
              <a:ea typeface="Calibri"/>
              <a:cs typeface="Calibri"/>
              <a:sym typeface="Calibri"/>
            </a:endParaRPr>
          </a:p>
        </p:txBody>
      </p:sp>
      <p:sp>
        <p:nvSpPr>
          <p:cNvPr id="217" name="Google Shape;217;p21"/>
          <p:cNvSpPr/>
          <p:nvPr/>
        </p:nvSpPr>
        <p:spPr>
          <a:xfrm>
            <a:off x="7194000" y="5463435"/>
            <a:ext cx="5251026" cy="259666"/>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55575A"/>
              </a:buClr>
              <a:buSzPts val="1050"/>
              <a:buFont typeface="Roboto Condensed"/>
              <a:buNone/>
            </a:pPr>
            <a:r>
              <a:rPr lang="en-US" sz="1050">
                <a:solidFill>
                  <a:srgbClr val="55575A"/>
                </a:solidFill>
                <a:latin typeface="Roboto Condensed"/>
                <a:ea typeface="Roboto Condensed"/>
                <a:cs typeface="Roboto Condensed"/>
                <a:sym typeface="Roboto Condensed"/>
              </a:rPr>
              <a:t>Best-case duration</a:t>
            </a:r>
            <a:endParaRPr sz="1050">
              <a:solidFill>
                <a:schemeClr val="dk1"/>
              </a:solidFill>
              <a:latin typeface="Calibri"/>
              <a:ea typeface="Calibri"/>
              <a:cs typeface="Calibri"/>
              <a:sym typeface="Calibri"/>
            </a:endParaRPr>
          </a:p>
        </p:txBody>
      </p:sp>
      <p:pic>
        <p:nvPicPr>
          <p:cNvPr descr="preencoded.png" id="218" name="Google Shape;218;p21"/>
          <p:cNvPicPr preferRelativeResize="0"/>
          <p:nvPr/>
        </p:nvPicPr>
        <p:blipFill rotWithShape="1">
          <a:blip r:embed="rId6">
            <a:alphaModFix/>
          </a:blip>
          <a:srcRect b="0" l="0" r="0" t="0"/>
          <a:stretch/>
        </p:blipFill>
        <p:spPr>
          <a:xfrm>
            <a:off x="4233807" y="4842400"/>
            <a:ext cx="369303" cy="369303"/>
          </a:xfrm>
          <a:prstGeom prst="rect">
            <a:avLst/>
          </a:prstGeom>
          <a:noFill/>
          <a:ln>
            <a:noFill/>
          </a:ln>
        </p:spPr>
      </p:pic>
      <p:sp>
        <p:nvSpPr>
          <p:cNvPr id="219" name="Google Shape;219;p21"/>
          <p:cNvSpPr/>
          <p:nvPr/>
        </p:nvSpPr>
        <p:spPr>
          <a:xfrm>
            <a:off x="7205541" y="6350628"/>
            <a:ext cx="2596661" cy="324583"/>
          </a:xfrm>
          <a:prstGeom prst="rect">
            <a:avLst/>
          </a:prstGeom>
          <a:noFill/>
          <a:ln>
            <a:noFill/>
          </a:ln>
        </p:spPr>
        <p:txBody>
          <a:bodyPr anchorCtr="0" anchor="t" bIns="0" lIns="0" spcFirstLastPara="1" rIns="0" wrap="square" tIns="0">
            <a:noAutofit/>
          </a:bodyPr>
          <a:lstStyle/>
          <a:p>
            <a:pPr indent="0" lvl="0" marL="0" marR="0" rtl="0" algn="l">
              <a:lnSpc>
                <a:spcPct val="122222"/>
              </a:lnSpc>
              <a:spcBef>
                <a:spcPts val="0"/>
              </a:spcBef>
              <a:spcAft>
                <a:spcPts val="0"/>
              </a:spcAft>
              <a:buClr>
                <a:srgbClr val="55575A"/>
              </a:buClr>
              <a:buSzPts val="1350"/>
              <a:buFont typeface="Hubot Sans"/>
              <a:buNone/>
            </a:pPr>
            <a:r>
              <a:rPr b="1" lang="en-US" sz="1350">
                <a:solidFill>
                  <a:srgbClr val="55575A"/>
                </a:solidFill>
                <a:latin typeface="Hubot Sans"/>
                <a:ea typeface="Hubot Sans"/>
                <a:cs typeface="Hubot Sans"/>
                <a:sym typeface="Hubot Sans"/>
              </a:rPr>
              <a:t>Identify Risks</a:t>
            </a:r>
            <a:endParaRPr sz="1350">
              <a:solidFill>
                <a:schemeClr val="dk1"/>
              </a:solidFill>
              <a:latin typeface="Calibri"/>
              <a:ea typeface="Calibri"/>
              <a:cs typeface="Calibri"/>
              <a:sym typeface="Calibri"/>
            </a:endParaRPr>
          </a:p>
        </p:txBody>
      </p:sp>
      <p:sp>
        <p:nvSpPr>
          <p:cNvPr id="220" name="Google Shape;220;p21"/>
          <p:cNvSpPr/>
          <p:nvPr/>
        </p:nvSpPr>
        <p:spPr>
          <a:xfrm>
            <a:off x="7205541" y="6767536"/>
            <a:ext cx="5251026" cy="259666"/>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55575A"/>
              </a:buClr>
              <a:buSzPts val="1050"/>
              <a:buFont typeface="Roboto Condensed"/>
              <a:buNone/>
            </a:pPr>
            <a:r>
              <a:rPr lang="en-US" sz="1050">
                <a:solidFill>
                  <a:srgbClr val="55575A"/>
                </a:solidFill>
                <a:latin typeface="Roboto Condensed"/>
                <a:ea typeface="Roboto Condensed"/>
                <a:cs typeface="Roboto Condensed"/>
                <a:sym typeface="Roboto Condensed"/>
              </a:rPr>
              <a:t>List uncertainties and factors</a:t>
            </a:r>
            <a:endParaRPr sz="1050">
              <a:solidFill>
                <a:schemeClr val="dk1"/>
              </a:solidFill>
              <a:latin typeface="Calibri"/>
              <a:ea typeface="Calibri"/>
              <a:cs typeface="Calibri"/>
              <a:sym typeface="Calibri"/>
            </a:endParaRPr>
          </a:p>
        </p:txBody>
      </p:sp>
      <p:pic>
        <p:nvPicPr>
          <p:cNvPr descr="preencoded.png" id="221" name="Google Shape;221;p21"/>
          <p:cNvPicPr preferRelativeResize="0"/>
          <p:nvPr/>
        </p:nvPicPr>
        <p:blipFill rotWithShape="1">
          <a:blip r:embed="rId7">
            <a:alphaModFix/>
          </a:blip>
          <a:srcRect b="0" l="0" r="0" t="0"/>
          <a:stretch/>
        </p:blipFill>
        <p:spPr>
          <a:xfrm>
            <a:off x="4233807" y="6146501"/>
            <a:ext cx="369303" cy="369303"/>
          </a:xfrm>
          <a:prstGeom prst="rect">
            <a:avLst/>
          </a:prstGeom>
          <a:noFill/>
          <a:ln>
            <a:noFill/>
          </a:ln>
        </p:spPr>
      </p:pic>
      <p:sp>
        <p:nvSpPr>
          <p:cNvPr id="222" name="Google Shape;222;p21"/>
          <p:cNvSpPr/>
          <p:nvPr/>
        </p:nvSpPr>
        <p:spPr>
          <a:xfrm>
            <a:off x="526494" y="7422008"/>
            <a:ext cx="13577400" cy="2556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55575A"/>
              </a:buClr>
              <a:buSzPts val="1250"/>
              <a:buFont typeface="Roboto Condensed"/>
              <a:buNone/>
            </a:pPr>
            <a:r>
              <a:rPr lang="en-US" sz="1250">
                <a:solidFill>
                  <a:srgbClr val="55575A"/>
                </a:solidFill>
                <a:latin typeface="Roboto Condensed"/>
                <a:ea typeface="Roboto Condensed"/>
                <a:cs typeface="Roboto Condensed"/>
                <a:sym typeface="Roboto Condensed"/>
              </a:rPr>
              <a:t>For tasks involving significant uncertainty, the Program Evaluation and Review Technique (PERT) requires three scenarios:</a:t>
            </a:r>
            <a:endParaRPr sz="1250">
              <a:solidFill>
                <a:schemeClr val="dk1"/>
              </a:solidFill>
              <a:latin typeface="Calibri"/>
              <a:ea typeface="Calibri"/>
              <a:cs typeface="Calibri"/>
              <a:sym typeface="Calibri"/>
            </a:endParaRPr>
          </a:p>
        </p:txBody>
      </p:sp>
      <p:sp>
        <p:nvSpPr>
          <p:cNvPr id="223" name="Google Shape;223;p21"/>
          <p:cNvSpPr/>
          <p:nvPr/>
        </p:nvSpPr>
        <p:spPr>
          <a:xfrm>
            <a:off x="526494" y="7722287"/>
            <a:ext cx="13577400" cy="255600"/>
          </a:xfrm>
          <a:prstGeom prst="rect">
            <a:avLst/>
          </a:prstGeom>
          <a:noFill/>
          <a:ln>
            <a:noFill/>
          </a:ln>
        </p:spPr>
        <p:txBody>
          <a:bodyPr anchorCtr="0" anchor="t" bIns="0" lIns="0" spcFirstLastPara="1" rIns="0" wrap="square" tIns="0">
            <a:noAutofit/>
          </a:bodyPr>
          <a:lstStyle/>
          <a:p>
            <a:pPr indent="-361950" lvl="0" marL="342900" marR="0" rtl="0" algn="l">
              <a:lnSpc>
                <a:spcPct val="160000"/>
              </a:lnSpc>
              <a:spcBef>
                <a:spcPts val="0"/>
              </a:spcBef>
              <a:spcAft>
                <a:spcPts val="0"/>
              </a:spcAft>
              <a:buClr>
                <a:srgbClr val="55575A"/>
              </a:buClr>
              <a:buSzPts val="1300"/>
              <a:buFont typeface="Roboto Condensed"/>
              <a:buChar char="•"/>
            </a:pPr>
            <a:r>
              <a:rPr b="1" lang="en-US" sz="1300">
                <a:solidFill>
                  <a:srgbClr val="55575A"/>
                </a:solidFill>
                <a:latin typeface="Roboto Condensed"/>
                <a:ea typeface="Roboto Condensed"/>
                <a:cs typeface="Roboto Condensed"/>
                <a:sym typeface="Roboto Condensed"/>
              </a:rPr>
              <a:t>Optimistic (a):</a:t>
            </a:r>
            <a:r>
              <a:rPr lang="en-US" sz="1300">
                <a:solidFill>
                  <a:srgbClr val="55575A"/>
                </a:solidFill>
                <a:latin typeface="Roboto Condensed"/>
                <a:ea typeface="Roboto Condensed"/>
                <a:cs typeface="Roboto Condensed"/>
                <a:sym typeface="Roboto Condensed"/>
              </a:rPr>
              <a:t> Best-case scenario.</a:t>
            </a:r>
            <a:endParaRPr sz="1300">
              <a:solidFill>
                <a:schemeClr val="dk1"/>
              </a:solidFill>
              <a:latin typeface="Calibri"/>
              <a:ea typeface="Calibri"/>
              <a:cs typeface="Calibri"/>
              <a:sym typeface="Calibri"/>
            </a:endParaRPr>
          </a:p>
        </p:txBody>
      </p:sp>
      <p:sp>
        <p:nvSpPr>
          <p:cNvPr id="224" name="Google Shape;224;p21"/>
          <p:cNvSpPr/>
          <p:nvPr/>
        </p:nvSpPr>
        <p:spPr>
          <a:xfrm>
            <a:off x="526494" y="8047476"/>
            <a:ext cx="13577400" cy="255600"/>
          </a:xfrm>
          <a:prstGeom prst="rect">
            <a:avLst/>
          </a:prstGeom>
          <a:noFill/>
          <a:ln>
            <a:noFill/>
          </a:ln>
        </p:spPr>
        <p:txBody>
          <a:bodyPr anchorCtr="0" anchor="t" bIns="0" lIns="0" spcFirstLastPara="1" rIns="0" wrap="square" tIns="0">
            <a:noAutofit/>
          </a:bodyPr>
          <a:lstStyle/>
          <a:p>
            <a:pPr indent="-355600" lvl="0" marL="342900" marR="0" rtl="0" algn="l">
              <a:lnSpc>
                <a:spcPct val="160000"/>
              </a:lnSpc>
              <a:spcBef>
                <a:spcPts val="0"/>
              </a:spcBef>
              <a:spcAft>
                <a:spcPts val="0"/>
              </a:spcAft>
              <a:buClr>
                <a:srgbClr val="55575A"/>
              </a:buClr>
              <a:buSzPts val="1200"/>
              <a:buFont typeface="Roboto Condensed"/>
              <a:buChar char="•"/>
            </a:pPr>
            <a:r>
              <a:rPr b="1" lang="en-US" sz="1200">
                <a:solidFill>
                  <a:srgbClr val="55575A"/>
                </a:solidFill>
                <a:latin typeface="Roboto Condensed"/>
                <a:ea typeface="Roboto Condensed"/>
                <a:cs typeface="Roboto Condensed"/>
                <a:sym typeface="Roboto Condensed"/>
              </a:rPr>
              <a:t>Most Likely (m):</a:t>
            </a:r>
            <a:r>
              <a:rPr lang="en-US" sz="1200">
                <a:solidFill>
                  <a:srgbClr val="55575A"/>
                </a:solidFill>
                <a:latin typeface="Roboto Condensed"/>
                <a:ea typeface="Roboto Condensed"/>
                <a:cs typeface="Roboto Condensed"/>
                <a:sym typeface="Roboto Condensed"/>
              </a:rPr>
              <a:t> Normal conditions.</a:t>
            </a:r>
            <a:endParaRPr sz="1200">
              <a:solidFill>
                <a:schemeClr val="dk1"/>
              </a:solidFill>
              <a:latin typeface="Calibri"/>
              <a:ea typeface="Calibri"/>
              <a:cs typeface="Calibri"/>
              <a:sym typeface="Calibri"/>
            </a:endParaRPr>
          </a:p>
        </p:txBody>
      </p:sp>
      <p:sp>
        <p:nvSpPr>
          <p:cNvPr id="225" name="Google Shape;225;p21"/>
          <p:cNvSpPr/>
          <p:nvPr/>
        </p:nvSpPr>
        <p:spPr>
          <a:xfrm>
            <a:off x="3367494" y="7734727"/>
            <a:ext cx="13577400" cy="255600"/>
          </a:xfrm>
          <a:prstGeom prst="rect">
            <a:avLst/>
          </a:prstGeom>
          <a:noFill/>
          <a:ln>
            <a:noFill/>
          </a:ln>
        </p:spPr>
        <p:txBody>
          <a:bodyPr anchorCtr="0" anchor="t" bIns="0" lIns="0" spcFirstLastPara="1" rIns="0" wrap="square" tIns="0">
            <a:noAutofit/>
          </a:bodyPr>
          <a:lstStyle/>
          <a:p>
            <a:pPr indent="-342900" lvl="0" marL="342900" marR="0" rtl="0" algn="l">
              <a:lnSpc>
                <a:spcPct val="160000"/>
              </a:lnSpc>
              <a:spcBef>
                <a:spcPts val="0"/>
              </a:spcBef>
              <a:spcAft>
                <a:spcPts val="0"/>
              </a:spcAft>
              <a:buClr>
                <a:srgbClr val="55575A"/>
              </a:buClr>
              <a:buSzPts val="1000"/>
              <a:buFont typeface="Roboto Condensed"/>
              <a:buChar char="•"/>
            </a:pPr>
            <a:r>
              <a:rPr b="1" lang="en-US" sz="1200">
                <a:solidFill>
                  <a:srgbClr val="55575A"/>
                </a:solidFill>
                <a:latin typeface="Roboto Condensed"/>
                <a:ea typeface="Roboto Condensed"/>
                <a:cs typeface="Roboto Condensed"/>
                <a:sym typeface="Roboto Condensed"/>
              </a:rPr>
              <a:t>Pessimistic (b):</a:t>
            </a:r>
            <a:r>
              <a:rPr lang="en-US" sz="1200">
                <a:solidFill>
                  <a:srgbClr val="55575A"/>
                </a:solidFill>
                <a:latin typeface="Roboto Condensed"/>
                <a:ea typeface="Roboto Condensed"/>
                <a:cs typeface="Roboto Condensed"/>
                <a:sym typeface="Roboto Condensed"/>
              </a:rPr>
              <a:t> Worst-case scenario</a:t>
            </a:r>
            <a:r>
              <a:rPr lang="en-US" sz="1000">
                <a:solidFill>
                  <a:srgbClr val="55575A"/>
                </a:solidFill>
                <a:latin typeface="Roboto Condensed"/>
                <a:ea typeface="Roboto Condensed"/>
                <a:cs typeface="Roboto Condensed"/>
                <a:sym typeface="Roboto Condensed"/>
              </a:rPr>
              <a:t>.</a:t>
            </a:r>
            <a:endParaRPr sz="1000">
              <a:solidFill>
                <a:schemeClr val="dk1"/>
              </a:solidFill>
              <a:latin typeface="Calibri"/>
              <a:ea typeface="Calibri"/>
              <a:cs typeface="Calibri"/>
              <a:sym typeface="Calibri"/>
            </a:endParaRPr>
          </a:p>
        </p:txBody>
      </p:sp>
      <p:sp>
        <p:nvSpPr>
          <p:cNvPr id="226" name="Google Shape;226;p21"/>
          <p:cNvSpPr/>
          <p:nvPr/>
        </p:nvSpPr>
        <p:spPr>
          <a:xfrm>
            <a:off x="12823634" y="7700790"/>
            <a:ext cx="1729648" cy="45169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preencoded.png" id="232" name="Google Shape;232;p2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33" name="Google Shape;233;p22"/>
          <p:cNvSpPr/>
          <p:nvPr/>
        </p:nvSpPr>
        <p:spPr>
          <a:xfrm>
            <a:off x="6280190" y="1071443"/>
            <a:ext cx="7556421" cy="1204913"/>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0C0D0F"/>
              </a:buClr>
              <a:buSzPts val="3750"/>
              <a:buFont typeface="Hubot Sans"/>
              <a:buNone/>
            </a:pPr>
            <a:r>
              <a:rPr b="1" lang="en-US" sz="3750">
                <a:solidFill>
                  <a:srgbClr val="0C0D0F"/>
                </a:solidFill>
                <a:latin typeface="Hubot Sans"/>
                <a:ea typeface="Hubot Sans"/>
                <a:cs typeface="Hubot Sans"/>
                <a:sym typeface="Hubot Sans"/>
              </a:rPr>
              <a:t>Foundation for Accuracy: Summary</a:t>
            </a:r>
            <a:endParaRPr sz="3750">
              <a:solidFill>
                <a:schemeClr val="dk1"/>
              </a:solidFill>
              <a:latin typeface="Calibri"/>
              <a:ea typeface="Calibri"/>
              <a:cs typeface="Calibri"/>
              <a:sym typeface="Calibri"/>
            </a:endParaRPr>
          </a:p>
        </p:txBody>
      </p:sp>
      <p:sp>
        <p:nvSpPr>
          <p:cNvPr id="234" name="Google Shape;234;p22"/>
          <p:cNvSpPr/>
          <p:nvPr/>
        </p:nvSpPr>
        <p:spPr>
          <a:xfrm>
            <a:off x="6280190" y="2565559"/>
            <a:ext cx="3681770" cy="2766179"/>
          </a:xfrm>
          <a:prstGeom prst="roundRect">
            <a:avLst>
              <a:gd fmla="val 1672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2"/>
          <p:cNvSpPr/>
          <p:nvPr/>
        </p:nvSpPr>
        <p:spPr>
          <a:xfrm>
            <a:off x="6472952" y="2758321"/>
            <a:ext cx="3296245" cy="722948"/>
          </a:xfrm>
          <a:prstGeom prst="rect">
            <a:avLst/>
          </a:prstGeom>
          <a:noFill/>
          <a:ln>
            <a:noFill/>
          </a:ln>
        </p:spPr>
        <p:txBody>
          <a:bodyPr anchorCtr="0" anchor="t" bIns="0" lIns="0" spcFirstLastPara="1" rIns="0" wrap="square" tIns="0">
            <a:noAutofit/>
          </a:bodyPr>
          <a:lstStyle/>
          <a:p>
            <a:pPr indent="0" lvl="0" marL="0" marR="0" rtl="0" algn="l">
              <a:lnSpc>
                <a:spcPct val="124444"/>
              </a:lnSpc>
              <a:spcBef>
                <a:spcPts val="0"/>
              </a:spcBef>
              <a:spcAft>
                <a:spcPts val="0"/>
              </a:spcAft>
              <a:buClr>
                <a:srgbClr val="000000"/>
              </a:buClr>
              <a:buSzPts val="2250"/>
              <a:buFont typeface="Hubot Sans"/>
              <a:buNone/>
            </a:pPr>
            <a:r>
              <a:rPr b="1" lang="en-US" sz="2250">
                <a:solidFill>
                  <a:srgbClr val="000000"/>
                </a:solidFill>
                <a:latin typeface="Hubot Sans"/>
                <a:ea typeface="Hubot Sans"/>
                <a:cs typeface="Hubot Sans"/>
                <a:sym typeface="Hubot Sans"/>
              </a:rPr>
              <a:t>Key Takeaway 1: Accountability</a:t>
            </a:r>
            <a:endParaRPr sz="2250">
              <a:solidFill>
                <a:schemeClr val="dk1"/>
              </a:solidFill>
              <a:latin typeface="Calibri"/>
              <a:ea typeface="Calibri"/>
              <a:cs typeface="Calibri"/>
              <a:sym typeface="Calibri"/>
            </a:endParaRPr>
          </a:p>
        </p:txBody>
      </p:sp>
      <p:sp>
        <p:nvSpPr>
          <p:cNvPr id="236" name="Google Shape;236;p22"/>
          <p:cNvSpPr/>
          <p:nvPr/>
        </p:nvSpPr>
        <p:spPr>
          <a:xfrm>
            <a:off x="6472952" y="3596878"/>
            <a:ext cx="3296245" cy="154209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000000"/>
              </a:buClr>
              <a:buSzPts val="1850"/>
              <a:buFont typeface="Roboto Condensed"/>
              <a:buNone/>
            </a:pPr>
            <a:r>
              <a:rPr lang="en-US" sz="1850">
                <a:solidFill>
                  <a:srgbClr val="000000"/>
                </a:solidFill>
                <a:latin typeface="Roboto Condensed"/>
                <a:ea typeface="Roboto Condensed"/>
                <a:cs typeface="Roboto Condensed"/>
                <a:sym typeface="Roboto Condensed"/>
              </a:rPr>
              <a:t>Estimation accuracy depends on who estimates (SMEs) and the assumptions they make (Normal Conditions, Clear Units).</a:t>
            </a:r>
            <a:endParaRPr sz="1850">
              <a:solidFill>
                <a:schemeClr val="dk1"/>
              </a:solidFill>
              <a:latin typeface="Calibri"/>
              <a:ea typeface="Calibri"/>
              <a:cs typeface="Calibri"/>
              <a:sym typeface="Calibri"/>
            </a:endParaRPr>
          </a:p>
        </p:txBody>
      </p:sp>
      <p:sp>
        <p:nvSpPr>
          <p:cNvPr id="237" name="Google Shape;237;p22"/>
          <p:cNvSpPr/>
          <p:nvPr/>
        </p:nvSpPr>
        <p:spPr>
          <a:xfrm>
            <a:off x="10154722" y="2565559"/>
            <a:ext cx="3681889" cy="2766179"/>
          </a:xfrm>
          <a:prstGeom prst="roundRect">
            <a:avLst>
              <a:gd fmla="val 16728"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2"/>
          <p:cNvSpPr/>
          <p:nvPr/>
        </p:nvSpPr>
        <p:spPr>
          <a:xfrm>
            <a:off x="10347484" y="2758321"/>
            <a:ext cx="3296364" cy="722948"/>
          </a:xfrm>
          <a:prstGeom prst="rect">
            <a:avLst/>
          </a:prstGeom>
          <a:noFill/>
          <a:ln>
            <a:noFill/>
          </a:ln>
        </p:spPr>
        <p:txBody>
          <a:bodyPr anchorCtr="0" anchor="t" bIns="0" lIns="0" spcFirstLastPara="1" rIns="0" wrap="square" tIns="0">
            <a:noAutofit/>
          </a:bodyPr>
          <a:lstStyle/>
          <a:p>
            <a:pPr indent="0" lvl="0" marL="0" marR="0" rtl="0" algn="l">
              <a:lnSpc>
                <a:spcPct val="124444"/>
              </a:lnSpc>
              <a:spcBef>
                <a:spcPts val="0"/>
              </a:spcBef>
              <a:spcAft>
                <a:spcPts val="0"/>
              </a:spcAft>
              <a:buClr>
                <a:srgbClr val="000000"/>
              </a:buClr>
              <a:buSzPts val="2250"/>
              <a:buFont typeface="Hubot Sans"/>
              <a:buNone/>
            </a:pPr>
            <a:r>
              <a:rPr b="1" lang="en-US" sz="2250">
                <a:solidFill>
                  <a:srgbClr val="000000"/>
                </a:solidFill>
                <a:latin typeface="Hubot Sans"/>
                <a:ea typeface="Hubot Sans"/>
                <a:cs typeface="Hubot Sans"/>
                <a:sym typeface="Hubot Sans"/>
              </a:rPr>
              <a:t>Key Takeaway 2: Realism</a:t>
            </a:r>
            <a:endParaRPr sz="2250">
              <a:solidFill>
                <a:schemeClr val="dk1"/>
              </a:solidFill>
              <a:latin typeface="Calibri"/>
              <a:ea typeface="Calibri"/>
              <a:cs typeface="Calibri"/>
              <a:sym typeface="Calibri"/>
            </a:endParaRPr>
          </a:p>
        </p:txBody>
      </p:sp>
      <p:sp>
        <p:nvSpPr>
          <p:cNvPr id="239" name="Google Shape;239;p22"/>
          <p:cNvSpPr/>
          <p:nvPr/>
        </p:nvSpPr>
        <p:spPr>
          <a:xfrm>
            <a:off x="10347484" y="3596878"/>
            <a:ext cx="3296364" cy="1542098"/>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000000"/>
              </a:buClr>
              <a:buSzPts val="1850"/>
              <a:buFont typeface="Roboto Condensed"/>
              <a:buNone/>
            </a:pPr>
            <a:r>
              <a:rPr lang="en-US" sz="1850">
                <a:solidFill>
                  <a:srgbClr val="000000"/>
                </a:solidFill>
                <a:latin typeface="Roboto Condensed"/>
                <a:ea typeface="Roboto Condensed"/>
                <a:cs typeface="Roboto Condensed"/>
                <a:sym typeface="Roboto Condensed"/>
              </a:rPr>
              <a:t>Guidelines prevent underestimation, overconfidence, and unwarranted padding within task durations.</a:t>
            </a:r>
            <a:endParaRPr sz="1850">
              <a:solidFill>
                <a:schemeClr val="dk1"/>
              </a:solidFill>
              <a:latin typeface="Calibri"/>
              <a:ea typeface="Calibri"/>
              <a:cs typeface="Calibri"/>
              <a:sym typeface="Calibri"/>
            </a:endParaRPr>
          </a:p>
        </p:txBody>
      </p:sp>
      <p:sp>
        <p:nvSpPr>
          <p:cNvPr id="240" name="Google Shape;240;p22"/>
          <p:cNvSpPr/>
          <p:nvPr/>
        </p:nvSpPr>
        <p:spPr>
          <a:xfrm>
            <a:off x="6280190" y="5524500"/>
            <a:ext cx="7556421" cy="1633657"/>
          </a:xfrm>
          <a:prstGeom prst="roundRect">
            <a:avLst>
              <a:gd fmla="val 28325" name="adj"/>
            </a:avLst>
          </a:prstGeom>
          <a:solidFill>
            <a:srgbClr val="C8CAC1">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
          <p:cNvSpPr/>
          <p:nvPr/>
        </p:nvSpPr>
        <p:spPr>
          <a:xfrm>
            <a:off x="6472952" y="5717262"/>
            <a:ext cx="4270653" cy="361474"/>
          </a:xfrm>
          <a:prstGeom prst="rect">
            <a:avLst/>
          </a:prstGeom>
          <a:noFill/>
          <a:ln>
            <a:noFill/>
          </a:ln>
        </p:spPr>
        <p:txBody>
          <a:bodyPr anchorCtr="0" anchor="t" bIns="0" lIns="0" spcFirstLastPara="1" rIns="0" wrap="square" tIns="0">
            <a:noAutofit/>
          </a:bodyPr>
          <a:lstStyle/>
          <a:p>
            <a:pPr indent="0" lvl="0" marL="0" marR="0" rtl="0" algn="l">
              <a:lnSpc>
                <a:spcPct val="124444"/>
              </a:lnSpc>
              <a:spcBef>
                <a:spcPts val="0"/>
              </a:spcBef>
              <a:spcAft>
                <a:spcPts val="0"/>
              </a:spcAft>
              <a:buClr>
                <a:srgbClr val="000000"/>
              </a:buClr>
              <a:buSzPts val="2250"/>
              <a:buFont typeface="Hubot Sans"/>
              <a:buNone/>
            </a:pPr>
            <a:r>
              <a:rPr b="1" lang="en-US" sz="2250">
                <a:solidFill>
                  <a:srgbClr val="000000"/>
                </a:solidFill>
                <a:latin typeface="Hubot Sans"/>
                <a:ea typeface="Hubot Sans"/>
                <a:cs typeface="Hubot Sans"/>
                <a:sym typeface="Hubot Sans"/>
              </a:rPr>
              <a:t>Key Takeaway 3: Control</a:t>
            </a:r>
            <a:endParaRPr sz="2250">
              <a:solidFill>
                <a:schemeClr val="dk1"/>
              </a:solidFill>
              <a:latin typeface="Calibri"/>
              <a:ea typeface="Calibri"/>
              <a:cs typeface="Calibri"/>
              <a:sym typeface="Calibri"/>
            </a:endParaRPr>
          </a:p>
        </p:txBody>
      </p:sp>
      <p:sp>
        <p:nvSpPr>
          <p:cNvPr id="242" name="Google Shape;242;p22"/>
          <p:cNvSpPr/>
          <p:nvPr/>
        </p:nvSpPr>
        <p:spPr>
          <a:xfrm>
            <a:off x="6472952" y="6194346"/>
            <a:ext cx="7170896" cy="771049"/>
          </a:xfrm>
          <a:prstGeom prst="rect">
            <a:avLst/>
          </a:prstGeom>
          <a:noFill/>
          <a:ln>
            <a:noFill/>
          </a:ln>
        </p:spPr>
        <p:txBody>
          <a:bodyPr anchorCtr="0" anchor="t" bIns="0" lIns="0" spcFirstLastPara="1" rIns="0" wrap="square" tIns="0">
            <a:noAutofit/>
          </a:bodyPr>
          <a:lstStyle/>
          <a:p>
            <a:pPr indent="0" lvl="0" marL="0" marR="0" rtl="0" algn="l">
              <a:lnSpc>
                <a:spcPct val="162162"/>
              </a:lnSpc>
              <a:spcBef>
                <a:spcPts val="0"/>
              </a:spcBef>
              <a:spcAft>
                <a:spcPts val="0"/>
              </a:spcAft>
              <a:buClr>
                <a:srgbClr val="000000"/>
              </a:buClr>
              <a:buSzPts val="1850"/>
              <a:buFont typeface="Roboto Condensed"/>
              <a:buNone/>
            </a:pPr>
            <a:r>
              <a:rPr lang="en-US" sz="1850">
                <a:solidFill>
                  <a:srgbClr val="000000"/>
                </a:solidFill>
                <a:latin typeface="Roboto Condensed"/>
                <a:ea typeface="Roboto Condensed"/>
                <a:cs typeface="Roboto Condensed"/>
                <a:sym typeface="Roboto Condensed"/>
              </a:rPr>
              <a:t>Following these rules promotes realism, transparency, and establishes a solid foundation for accurate project control, budgeting, and scheduling.</a:t>
            </a:r>
            <a:endParaRPr sz="1850">
              <a:solidFill>
                <a:schemeClr val="dk1"/>
              </a:solidFill>
              <a:latin typeface="Calibri"/>
              <a:ea typeface="Calibri"/>
              <a:cs typeface="Calibri"/>
              <a:sym typeface="Calibri"/>
            </a:endParaRPr>
          </a:p>
        </p:txBody>
      </p:sp>
      <p:sp>
        <p:nvSpPr>
          <p:cNvPr id="243" name="Google Shape;243;p22"/>
          <p:cNvSpPr/>
          <p:nvPr/>
        </p:nvSpPr>
        <p:spPr>
          <a:xfrm>
            <a:off x="12823634" y="7700790"/>
            <a:ext cx="1729648" cy="451692"/>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