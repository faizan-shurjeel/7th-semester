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arlow Bold" panose="00000800000000000000" pitchFamily="2" charset="0"/>
      <p:bold r:id="rId14"/>
    </p:embeddedFont>
    <p:embeddedFont>
      <p:font typeface="Montserrat" panose="00000500000000000000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988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Delphi technique is a consensus-based method where experts submit anonymous estimates over several rounds, with facilitated feedback to help converge on a collective, unbiased estimate.
• This approach allows us to quickly generate an estimate by tapping into the vast collective wisdom of senior and middle managers.
• The main advantage is speed and the ability to leverage our team's experience. However, the estimates can be imprecise and potentially influenced by high-level goals rather than the task reality.
• The ratio method uses surrogates or standardized unit costs from similar prior work to estimate the current project. For example, if a similar facility cost $160 per square foot previously, we can estimate a 10,000 sq ft project at $1.6M.
• This method is highly useful in the earliest concept phase when we only know the scope size, as it allows us to quickly generate a rough estimate.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08168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Methods for Estimating Project Times and Costs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832021"/>
            <a:ext cx="7627382" cy="2950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Balancing Speed and Accuracy in Project Management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44709" y="6107668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MARYAM ASIF FA22-BCE-014</a:t>
            </a:r>
          </a:p>
          <a:p>
            <a:pPr>
              <a:lnSpc>
                <a:spcPts val="2700"/>
              </a:lnSpc>
            </a:pPr>
            <a:r>
              <a:rPr 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OMAMA MUKHTAR FA22-BCE-051</a:t>
            </a:r>
          </a:p>
          <a:p>
            <a:pPr>
              <a:lnSpc>
                <a:spcPts val="2700"/>
              </a:lnSpc>
            </a:pPr>
            <a:r>
              <a:rPr 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JUNAID ZAHEER FA22-BCE-045</a:t>
            </a:r>
          </a:p>
          <a:p>
            <a:pPr>
              <a:lnSpc>
                <a:spcPts val="2700"/>
              </a:lnSpc>
            </a:pPr>
            <a:r>
              <a:rPr 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ALIYAN AHMED FA22-BCE-028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22665"/>
            <a:ext cx="8378309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Two Foundational Estimation Approaches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32600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the right estimation approach is critical and depends on the level of detail available at the project stage.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916436"/>
            <a:ext cx="6448544" cy="2912507"/>
          </a:xfrm>
          <a:prstGeom prst="roundRect">
            <a:avLst>
              <a:gd name="adj" fmla="val 11159"/>
            </a:avLst>
          </a:prstGeom>
          <a:solidFill>
            <a:srgbClr val="D4E9F7"/>
          </a:solidFill>
          <a:ln w="762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2504" y="3140631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75BA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17" y="3282791"/>
            <a:ext cx="292418" cy="3655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2504" y="400716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Top-Down Approach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982504" y="4564618"/>
            <a:ext cx="60001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early in the project life cycle when details are vague (Conceptual Stage). Relies on high-level expertise and historical data.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3428" y="2916436"/>
            <a:ext cx="6448663" cy="2912507"/>
          </a:xfrm>
          <a:prstGeom prst="roundRect">
            <a:avLst>
              <a:gd name="adj" fmla="val 11159"/>
            </a:avLst>
          </a:prstGeom>
          <a:solidFill>
            <a:srgbClr val="D4E9F7"/>
          </a:solidFill>
          <a:ln w="762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47623" y="3140631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75BA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335" y="3282791"/>
            <a:ext cx="292418" cy="3655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7623" y="400716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Bottom-Up Approach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7647623" y="4564618"/>
            <a:ext cx="60002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later when the project scope and deliverables are clearly defined. Requires detailed work package breakdown and task-level effort analysis.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083231" y="6316385"/>
            <a:ext cx="127888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Approach (Phase Estimating)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combines both, often used for projects with high initial uncertainty.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58309" y="6072664"/>
            <a:ext cx="30480" cy="834152"/>
          </a:xfrm>
          <a:prstGeom prst="rect">
            <a:avLst/>
          </a:prstGeom>
          <a:solidFill>
            <a:srgbClr val="75BAE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648" y="478155"/>
            <a:ext cx="6709172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Top-Down Methods: Quick and High-Level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8648" y="1283494"/>
            <a:ext cx="1341310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methods are ideal for initial feasibility assessments and budgetary estimates in the conceptual stage when scope is still evolving.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648" y="1757363"/>
            <a:ext cx="13413105" cy="1061918"/>
          </a:xfrm>
          <a:prstGeom prst="roundRect">
            <a:avLst>
              <a:gd name="adj" fmla="val 24564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1508" y="1780222"/>
            <a:ext cx="695563" cy="1016198"/>
          </a:xfrm>
          <a:prstGeom prst="roundRect">
            <a:avLst>
              <a:gd name="adj" fmla="val 3355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106" y="2125266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500902" y="1954054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Consensus Method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0902" y="2344341"/>
            <a:ext cx="12497991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pooled experience and expert judgment (e.g., the Delphi Method).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648" y="2993112"/>
            <a:ext cx="13413105" cy="1061918"/>
          </a:xfrm>
          <a:prstGeom prst="roundRect">
            <a:avLst>
              <a:gd name="adj" fmla="val 24564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1508" y="3015972"/>
            <a:ext cx="695563" cy="1016198"/>
          </a:xfrm>
          <a:prstGeom prst="roundRect">
            <a:avLst>
              <a:gd name="adj" fmla="val 3355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5106" y="3361015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1500902" y="3189803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Ratio Method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0902" y="3580090"/>
            <a:ext cx="12497991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historical ratios or surrogates (e.g., cost per square foot or line of code).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648" y="4228862"/>
            <a:ext cx="13413105" cy="1061918"/>
          </a:xfrm>
          <a:prstGeom prst="roundRect">
            <a:avLst>
              <a:gd name="adj" fmla="val 24564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1508" y="4251722"/>
            <a:ext cx="695563" cy="1016198"/>
          </a:xfrm>
          <a:prstGeom prst="roundRect">
            <a:avLst>
              <a:gd name="adj" fmla="val 3355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106" y="4596765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500902" y="4425553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Apportion Method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0902" y="4815840"/>
            <a:ext cx="12497991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Allocating total project cost to WBS deliverables based on past project percentages.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8648" y="5464612"/>
            <a:ext cx="13413105" cy="1061918"/>
          </a:xfrm>
          <a:prstGeom prst="roundRect">
            <a:avLst>
              <a:gd name="adj" fmla="val 24564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1508" y="5487472"/>
            <a:ext cx="695563" cy="1016198"/>
          </a:xfrm>
          <a:prstGeom prst="roundRect">
            <a:avLst>
              <a:gd name="adj" fmla="val 3355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5106" y="5832515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500902" y="5661303"/>
            <a:ext cx="2606278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Function Point (Software)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0902" y="6051590"/>
            <a:ext cx="12497991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Estimating effort based on software functionality units (inputs, outputs, interfaces, files).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8648" y="6700361"/>
            <a:ext cx="13413105" cy="1061918"/>
          </a:xfrm>
          <a:prstGeom prst="roundRect">
            <a:avLst>
              <a:gd name="adj" fmla="val 24564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1508" y="6723221"/>
            <a:ext cx="695563" cy="1016198"/>
          </a:xfrm>
          <a:prstGeom prst="roundRect">
            <a:avLst>
              <a:gd name="adj" fmla="val 3355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106" y="7068264"/>
            <a:ext cx="26074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1500902" y="6897052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Curves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0902" y="7287339"/>
            <a:ext cx="12497991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Applicable to repetitive, labor-intensive tasks where time decreases with repeated execution.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06260"/>
            <a:ext cx="8282107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Deep Dive: Consensus and Ratio Methods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536627"/>
            <a:ext cx="4392692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Consensus Method (Delphi)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8309" y="3180755"/>
            <a:ext cx="69746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technique involves senior and middle managers to quickly generate an estimate.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069080"/>
            <a:ext cx="697468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Delphi Technique: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Experts submit anonymous estimates over several rounds, guided by facilitated feedback, to converge on a collective, unbiased estimate.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184934"/>
            <a:ext cx="697468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Advantage: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Fast and utilizes vast collective wisdom.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607368"/>
            <a:ext cx="697468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Disadvantage: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Estimates can be imprecise and potentially influenced by high-level managerial goals rather than task reality.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69248" y="2536627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Ratio Method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269248" y="3180755"/>
            <a:ext cx="5610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Estimates are made using surrogates or standardized unit costs from similar prior work.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69248" y="4069080"/>
            <a:ext cx="561034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If building a similar facility cost $160 per square foot previously, a 10,000 sq ft project is estimated at $1.6M.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69248" y="5184934"/>
            <a:ext cx="5610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Highly useful in the earliest concept phase when only scope size is known.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37260"/>
            <a:ext cx="5829181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Apportioning Cost and Effort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175105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Apportion Method is a powerful extension of the Ratio Method, relying on the structural similarity to previous, completed projects.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2688193"/>
            <a:ext cx="7627382" cy="2367082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9" y="2688193"/>
            <a:ext cx="121920" cy="23670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6804" y="29352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96804" y="3421380"/>
            <a:ext cx="704183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total cost of a new project is estimated (usually using the Ratio or Consensus method), and then this total is distributed among the Work Breakdown Structure (WBS) deliverables based on historical percentage allocations.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58309" y="5271849"/>
            <a:ext cx="7627382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9" y="5271849"/>
            <a:ext cx="121920" cy="20203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6804" y="55189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 Allocation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96804" y="6005036"/>
            <a:ext cx="704183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historical data shows that 'Design' typically accounts for 30% of the total cost, and 'Testing' for 15%, these percentages are applied to the new project's overall estimated budget.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54562"/>
            <a:ext cx="8331398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Bottom-Up Methods: Detail and Accuracy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257901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methods produce highly accurate estimates, but only after significant effort has been invested in defining the scope and tasks in detail.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83231" y="4061698"/>
            <a:ext cx="3901797" cy="216575"/>
          </a:xfrm>
          <a:prstGeom prst="roundRect">
            <a:avLst>
              <a:gd name="adj" fmla="val 150060"/>
            </a:avLst>
          </a:prstGeom>
          <a:solidFill>
            <a:srgbClr val="2589C9"/>
          </a:solidFill>
          <a:ln w="7620">
            <a:solidFill>
              <a:srgbClr val="3EA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309" y="3844945"/>
            <a:ext cx="649962" cy="649962"/>
          </a:xfrm>
          <a:prstGeom prst="roundRect">
            <a:avLst>
              <a:gd name="adj" fmla="val 70343"/>
            </a:avLst>
          </a:prstGeom>
          <a:solidFill>
            <a:srgbClr val="2589C9"/>
          </a:solidFill>
          <a:ln w="7620">
            <a:solidFill>
              <a:srgbClr val="3EA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29" y="3966865"/>
            <a:ext cx="324922" cy="406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4884" y="471154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Template Method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974884" y="5268992"/>
            <a:ext cx="379368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previous, similar project plans as templates, adjusting for differences in the new context. Faster than starting from scratch.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526643" y="3736658"/>
            <a:ext cx="3901797" cy="216575"/>
          </a:xfrm>
          <a:prstGeom prst="roundRect">
            <a:avLst>
              <a:gd name="adj" fmla="val 150060"/>
            </a:avLst>
          </a:prstGeom>
          <a:solidFill>
            <a:srgbClr val="2589C9"/>
          </a:solidFill>
          <a:ln w="7620">
            <a:solidFill>
              <a:srgbClr val="3EA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01722" y="3519904"/>
            <a:ext cx="649962" cy="649962"/>
          </a:xfrm>
          <a:prstGeom prst="roundRect">
            <a:avLst>
              <a:gd name="adj" fmla="val 70343"/>
            </a:avLst>
          </a:prstGeom>
          <a:solidFill>
            <a:srgbClr val="2589C9"/>
          </a:solidFill>
          <a:ln w="7620">
            <a:solidFill>
              <a:srgbClr val="3EA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242" y="3641824"/>
            <a:ext cx="324922" cy="4062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8296" y="4386501"/>
            <a:ext cx="3793688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Parametric Procedures (Specific Tasks)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5418296" y="5371505"/>
            <a:ext cx="379368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Applying ratios (e.g., productivity rates) to specific, detailed work packages rather than the entire project.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970056" y="3411736"/>
            <a:ext cx="3901916" cy="216575"/>
          </a:xfrm>
          <a:prstGeom prst="roundRect">
            <a:avLst>
              <a:gd name="adj" fmla="val 150060"/>
            </a:avLst>
          </a:prstGeom>
          <a:solidFill>
            <a:srgbClr val="2589C9"/>
          </a:solidFill>
          <a:ln w="7620">
            <a:solidFill>
              <a:srgbClr val="3EA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45134" y="3194983"/>
            <a:ext cx="649962" cy="649962"/>
          </a:xfrm>
          <a:prstGeom prst="roundRect">
            <a:avLst>
              <a:gd name="adj" fmla="val 70343"/>
            </a:avLst>
          </a:prstGeom>
          <a:solidFill>
            <a:srgbClr val="2589C9"/>
          </a:solidFill>
          <a:ln w="7620">
            <a:solidFill>
              <a:srgbClr val="3EA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7654" y="3316903"/>
            <a:ext cx="324922" cy="4062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1709" y="406157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Range Estimating</a:t>
            </a:r>
            <a:endParaRPr lang="en-US" sz="2650" dirty="0"/>
          </a:p>
        </p:txBody>
      </p:sp>
      <p:sp>
        <p:nvSpPr>
          <p:cNvPr id="18" name="Text 13"/>
          <p:cNvSpPr/>
          <p:nvPr/>
        </p:nvSpPr>
        <p:spPr>
          <a:xfrm>
            <a:off x="9861709" y="4619030"/>
            <a:ext cx="3793807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three estimates (Optimistic, Pessimistic, Most Likely) to define a confidence interval for high-uncertainty tasks, aiding contingency planning.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808" y="586026"/>
            <a:ext cx="9165312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Bottom-Up Advantage and Top-Down Risk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45808" y="1572935"/>
            <a:ext cx="13138785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the bottom-up approach is time-consuming, it provides clarity and buy-in by detailing specific resources and task durations.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5808" y="2707600"/>
            <a:ext cx="3871079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Top-Down Falls Short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98" y="3338334"/>
            <a:ext cx="319564" cy="399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275" y="3367802"/>
            <a:ext cx="561701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Ignores specific, granular tasks required for completion.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98" y="4454069"/>
            <a:ext cx="319564" cy="3995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8275" y="4483537"/>
            <a:ext cx="561701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Prone to errors of omission, missing critical elements.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98" y="5569803"/>
            <a:ext cx="319564" cy="3995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38275" y="5599271"/>
            <a:ext cx="561701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Can be significantly inaccurate, especially on novel projects.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98" y="6685538"/>
            <a:ext cx="319564" cy="3995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38275" y="6715006"/>
            <a:ext cx="5617012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Accuracy is generally lower compared to detailed, WBS-driven methods.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582733" y="2707600"/>
            <a:ext cx="5119330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Parametric Procedures in Practice</a:t>
            </a:r>
            <a:endParaRPr lang="en-US" sz="2600" dirty="0"/>
          </a:p>
        </p:txBody>
      </p:sp>
      <p:sp>
        <p:nvSpPr>
          <p:cNvPr id="14" name="Text 8"/>
          <p:cNvSpPr/>
          <p:nvPr/>
        </p:nvSpPr>
        <p:spPr>
          <a:xfrm>
            <a:off x="7582733" y="3341132"/>
            <a:ext cx="6309479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use established productivity metrics applied to defined scope quantities: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582733" y="4214813"/>
            <a:ext cx="6309479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3 technicians can convert 36 workstations at a rate of 3 per day, the task takes 4 days.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582733" y="4971336"/>
            <a:ext cx="6309479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installing wallpaper costs $7 per square yard ($5 material + $2 labor), a 50 sq yd room costs $350 total.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137" y="413385"/>
            <a:ext cx="4980027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Hybrid Approach: Phase Estimating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26137" y="1109543"/>
            <a:ext cx="13578126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Estimating balances the need for early budget projections with the reality of high uncertainty, often seen in R&amp;D or large IT projects.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622" y="1519118"/>
            <a:ext cx="5441156" cy="469796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337" y="2658393"/>
            <a:ext cx="678897" cy="6788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5748" y="5126608"/>
            <a:ext cx="1982379" cy="402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Macro Phases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202" y="2659666"/>
            <a:ext cx="678897" cy="6788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76672" y="4925697"/>
            <a:ext cx="1982379" cy="804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Detailed Phase 1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26137" y="6386155"/>
            <a:ext cx="13578126" cy="1134070"/>
          </a:xfrm>
          <a:prstGeom prst="roundRect">
            <a:avLst>
              <a:gd name="adj" fmla="val 198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533757" y="6393775"/>
            <a:ext cx="6781443" cy="1118830"/>
          </a:xfrm>
          <a:prstGeom prst="roundRect">
            <a:avLst>
              <a:gd name="adj" fmla="val 20154"/>
            </a:avLst>
          </a:prstGeom>
          <a:solidFill>
            <a:srgbClr val="063E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84014" y="6544032"/>
            <a:ext cx="1977985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Immediate Phase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84014" y="6881336"/>
            <a:ext cx="6480929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a detailed, bottom-up estimate for the tasks immediately ahead (e.g., the planning or discovery phase).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315200" y="6393775"/>
            <a:ext cx="6781443" cy="1118830"/>
          </a:xfrm>
          <a:prstGeom prst="rect">
            <a:avLst/>
          </a:prstGeom>
          <a:solidFill>
            <a:srgbClr val="063E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7315200" y="6393775"/>
            <a:ext cx="15240" cy="1118830"/>
          </a:xfrm>
          <a:prstGeom prst="roundRect">
            <a:avLst>
              <a:gd name="adj" fmla="val 1479612"/>
            </a:avLst>
          </a:prstGeom>
          <a:solidFill>
            <a:srgbClr val="1F5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465457" y="6544032"/>
            <a:ext cx="1977985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Remaining Phases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465457" y="6881336"/>
            <a:ext cx="6480929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a high-level, macro estimate is provided for the rest of the project, acknowledging the lack of current definition.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26137" y="7689294"/>
            <a:ext cx="13578126" cy="638651"/>
          </a:xfrm>
          <a:prstGeom prst="roundRect">
            <a:avLst>
              <a:gd name="adj" fmla="val 35308"/>
            </a:avLst>
          </a:prstGeom>
          <a:solidFill>
            <a:srgbClr val="BEDF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94" y="7913132"/>
            <a:ext cx="187881" cy="15025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4532" y="7877056"/>
            <a:ext cx="1293947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method provides flexibility but requires careful management of customer expectations who may view the approach as providing a "blank check."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60083"/>
            <a:ext cx="8882182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Estimate Accuracy Improves With Definition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1663422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potential variance (overrun or underrun) in estimates narrows significantly as the project moves from concept to defined work packages.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600563"/>
            <a:ext cx="13113782" cy="1258729"/>
          </a:xfrm>
          <a:prstGeom prst="roundRect">
            <a:avLst>
              <a:gd name="adj" fmla="val 258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5929" y="2608183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2742" y="2745700"/>
            <a:ext cx="349257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Bricks &amp; Mortar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16091" y="2745700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+60% to -30%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90667" y="2745700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+30% to -15%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65243" y="2745700"/>
            <a:ext cx="21826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+15% to -5%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5929" y="3229928"/>
            <a:ext cx="13098542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2742" y="3367445"/>
            <a:ext cx="349257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Projects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16091" y="3367445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+200% to -30%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90667" y="3367445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+100% to -15%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65243" y="3367445"/>
            <a:ext cx="21826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+50% to -5%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8309" y="4103013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ranges illustrate why early estimates (Conceptual Stage) must be treated as ballpark figures, especially for high-uncertainty IT projects.</a:t>
            </a:r>
            <a:endParaRPr lang="en-US" sz="1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262" y="4763810"/>
            <a:ext cx="3802261" cy="2599849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758" y="4763810"/>
            <a:ext cx="3802261" cy="25998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46678"/>
            <a:ext cx="8514159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Takeaway: Selecting the Right Method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05001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is no universal "best" method. The ideal choice is a function of project context and information availability.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40449"/>
            <a:ext cx="649962" cy="649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35611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Uncertainty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4047292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uncertainty demands Hybrid (Phase) estimating; low uncertainty allows for detailed Bottom-Up planning.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40449"/>
            <a:ext cx="649962" cy="649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9819" y="35611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Available Information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19819" y="4047292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early data necessitates Top-Down; clear, complete WBS enables Bottom-Up accuracy.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40449"/>
            <a:ext cx="649962" cy="6499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1329" y="356115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Required Accuracy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81329" y="4047292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a tight budget is required, invest the time for detailed Bottom-Up estimation and range analysis.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083231" y="6002774"/>
            <a:ext cx="12788860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Accurate, transparent estimates are the foundation of effective project governance and stakeholder trust.</a:t>
            </a:r>
            <a:endParaRPr lang="en-US" sz="2650" dirty="0"/>
          </a:p>
        </p:txBody>
      </p:sp>
      <p:sp>
        <p:nvSpPr>
          <p:cNvPr id="14" name="Shape 9"/>
          <p:cNvSpPr/>
          <p:nvPr/>
        </p:nvSpPr>
        <p:spPr>
          <a:xfrm>
            <a:off x="758309" y="5677853"/>
            <a:ext cx="30480" cy="1504950"/>
          </a:xfrm>
          <a:prstGeom prst="rect">
            <a:avLst/>
          </a:prstGeom>
          <a:solidFill>
            <a:srgbClr val="75BAE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4630034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" y="0"/>
            <a:ext cx="14630034" cy="82296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4082" y="4782"/>
            <a:ext cx="11727318" cy="82296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49DC2B2-04D1-A666-DBB0-DDB73B88428B}"/>
              </a:ext>
            </a:extLst>
          </p:cNvPr>
          <p:cNvSpPr txBox="1"/>
          <p:nvPr/>
        </p:nvSpPr>
        <p:spPr>
          <a:xfrm>
            <a:off x="3858874" y="2117288"/>
            <a:ext cx="6913016" cy="277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END </a:t>
            </a:r>
            <a:b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     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75722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1232</Words>
  <Application>Microsoft Office PowerPoint</Application>
  <PresentationFormat>Custom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Montserrat</vt:lpstr>
      <vt:lpstr>Arial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PMYLS</dc:creator>
  <cp:lastModifiedBy>FA22-BCE-014 (MARYAM ASIF)</cp:lastModifiedBy>
  <cp:revision>2</cp:revision>
  <dcterms:created xsi:type="dcterms:W3CDTF">2025-10-07T18:21:06Z</dcterms:created>
  <dcterms:modified xsi:type="dcterms:W3CDTF">2025-10-07T18:34:01Z</dcterms:modified>
</cp:coreProperties>
</file>