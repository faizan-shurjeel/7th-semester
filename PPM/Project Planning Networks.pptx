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7" r:id="rId1"/>
  </p:sldMasterIdLst>
  <p:notesMasterIdLst>
    <p:notesMasterId r:id="rId17"/>
  </p:notesMasterIdLst>
  <p:handoutMasterIdLst>
    <p:handoutMasterId r:id="rId18"/>
  </p:handoutMasterIdLst>
  <p:sldIdLst>
    <p:sldId id="257" r:id="rId2"/>
    <p:sldId id="259" r:id="rId3"/>
    <p:sldId id="260" r:id="rId4"/>
    <p:sldId id="263" r:id="rId5"/>
    <p:sldId id="264" r:id="rId6"/>
    <p:sldId id="265" r:id="rId7"/>
    <p:sldId id="266" r:id="rId8"/>
    <p:sldId id="272" r:id="rId9"/>
    <p:sldId id="276" r:id="rId10"/>
    <p:sldId id="278" r:id="rId11"/>
    <p:sldId id="279" r:id="rId12"/>
    <p:sldId id="282" r:id="rId13"/>
    <p:sldId id="286" r:id="rId14"/>
    <p:sldId id="293" r:id="rId15"/>
    <p:sldId id="295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EFFD"/>
    <a:srgbClr val="F8F8F8"/>
    <a:srgbClr val="006666"/>
    <a:srgbClr val="336699"/>
    <a:srgbClr val="003366"/>
    <a:srgbClr val="FFFFCC"/>
    <a:srgbClr val="4D4D4D"/>
    <a:srgbClr val="CC33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24895" autoAdjust="0"/>
    <p:restoredTop sz="94660"/>
  </p:normalViewPr>
  <p:slideViewPr>
    <p:cSldViewPr showGuides="1">
      <p:cViewPr varScale="1">
        <p:scale>
          <a:sx n="74" d="100"/>
          <a:sy n="74" d="100"/>
        </p:scale>
        <p:origin x="-176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102" d="100"/>
          <a:sy n="102" d="100"/>
        </p:scale>
        <p:origin x="3426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Project Management 6e.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2E861-4F34-414D-9111-77A0EB89F4E9}" type="datetimeFigureOut">
              <a:rPr lang="en-US" smtClean="0"/>
              <a:pPr/>
              <a:t>10/31/2022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2ABFB-61D4-44EC-A78D-7E1D401D31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32543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948505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400" b="1">
                <a:effectLst/>
                <a:latin typeface="Times New Roman" panose="02020603050405020304" pitchFamily="18" charset="0"/>
              </a:defRPr>
            </a:lvl1pPr>
          </a:lstStyle>
          <a:p>
            <a:r>
              <a:rPr lang="en-US" dirty="0" smtClean="0"/>
              <a:t>Project Management 6e.</a:t>
            </a:r>
            <a:endParaRPr lang="en-US" dirty="0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r>
              <a:rPr lang="en-US" dirty="0" smtClean="0"/>
              <a:t>6-</a:t>
            </a:r>
            <a:fld id="{0021D51A-B140-41D8-B455-79292309F0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589164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8" name="Header Placeholder 7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 smtClean="0"/>
              <a:t>Project Management 6e.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6-</a:t>
            </a:r>
            <a:fld id="{0021D51A-B140-41D8-B455-79292309F0E0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9856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Project Management 6e.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6-</a:t>
            </a:r>
            <a:fld id="{0021D51A-B140-41D8-B455-79292309F0E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979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Project Management 6e.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6-</a:t>
            </a:r>
            <a:fld id="{0021D51A-B140-41D8-B455-79292309F0E0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648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Project Management 6e.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6-</a:t>
            </a:r>
            <a:fld id="{0021D51A-B140-41D8-B455-79292309F0E0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26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Project Management 6e.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6-</a:t>
            </a:r>
            <a:fld id="{0021D51A-B140-41D8-B455-79292309F0E0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Project Management 6e.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6-</a:t>
            </a:r>
            <a:fld id="{0021D51A-B140-41D8-B455-79292309F0E0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160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Project Management 6e.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6-</a:t>
            </a:r>
            <a:fld id="{0021D51A-B140-41D8-B455-79292309F0E0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736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Project Management 6e.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6-</a:t>
            </a:r>
            <a:fld id="{0021D51A-B140-41D8-B455-79292309F0E0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927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Project Management 6e.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6-</a:t>
            </a:r>
            <a:fld id="{0021D51A-B140-41D8-B455-79292309F0E0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271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Project Management 6e.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6-</a:t>
            </a:r>
            <a:fld id="{0021D51A-B140-41D8-B455-79292309F0E0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7774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Project Management 6e.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6-</a:t>
            </a:r>
            <a:fld id="{0021D51A-B140-41D8-B455-79292309F0E0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1751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Project Management 6e.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6-</a:t>
            </a:r>
            <a:fld id="{0021D51A-B140-41D8-B455-79292309F0E0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719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Project Management 6e.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6-</a:t>
            </a:r>
            <a:fld id="{0021D51A-B140-41D8-B455-79292309F0E0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4531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Project Management 6e.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6-</a:t>
            </a:r>
            <a:fld id="{0021D51A-B140-41D8-B455-79292309F0E0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1750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Project Management 6e.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6-</a:t>
            </a:r>
            <a:fld id="{0021D51A-B140-41D8-B455-79292309F0E0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744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>
  <p:cSld name="Title Slide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63" name="Text Box 31"/>
          <p:cNvSpPr txBox="1">
            <a:spLocks noChangeArrowheads="1"/>
          </p:cNvSpPr>
          <p:nvPr userDrawn="1"/>
        </p:nvSpPr>
        <p:spPr bwMode="auto">
          <a:xfrm>
            <a:off x="5549900" y="2727325"/>
            <a:ext cx="347027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Ctr="1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Developing a Project</a:t>
            </a:r>
            <a:r>
              <a:rPr lang="en-US" sz="3200" b="1" baseline="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Plan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066" name="Text Box 34"/>
          <p:cNvSpPr txBox="1">
            <a:spLocks noChangeArrowheads="1"/>
          </p:cNvSpPr>
          <p:nvPr userDrawn="1"/>
        </p:nvSpPr>
        <p:spPr bwMode="auto">
          <a:xfrm>
            <a:off x="5531177" y="1781298"/>
            <a:ext cx="29257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 b="1" dirty="0">
                <a:solidFill>
                  <a:schemeClr val="accent3">
                    <a:lumMod val="75000"/>
                  </a:schemeClr>
                </a:solidFill>
              </a:rPr>
              <a:t>CHAPTER </a:t>
            </a:r>
            <a:r>
              <a:rPr lang="en-US" sz="1800" b="1" dirty="0" smtClean="0">
                <a:solidFill>
                  <a:schemeClr val="accent3">
                    <a:lumMod val="75000"/>
                  </a:schemeClr>
                </a:solidFill>
              </a:rPr>
              <a:t>SIX</a:t>
            </a:r>
            <a:endParaRPr lang="en-US" sz="18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" name="Rectangle 32"/>
          <p:cNvSpPr>
            <a:spLocks noChangeArrowheads="1"/>
          </p:cNvSpPr>
          <p:nvPr userDrawn="1"/>
        </p:nvSpPr>
        <p:spPr bwMode="auto">
          <a:xfrm>
            <a:off x="5915025" y="6172200"/>
            <a:ext cx="2803525" cy="23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DDDDDD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9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PowerPoint Presentation by Charlie Cook</a:t>
            </a:r>
          </a:p>
        </p:txBody>
      </p:sp>
      <p:sp>
        <p:nvSpPr>
          <p:cNvPr id="7" name="Rectangle 33"/>
          <p:cNvSpPr>
            <a:spLocks noChangeArrowheads="1"/>
          </p:cNvSpPr>
          <p:nvPr userDrawn="1"/>
        </p:nvSpPr>
        <p:spPr bwMode="auto">
          <a:xfrm>
            <a:off x="6072188" y="5802313"/>
            <a:ext cx="2487612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28398" dir="1593903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b">
            <a:spAutoFit/>
          </a:bodyPr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sz="9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Copyright </a:t>
            </a:r>
            <a:r>
              <a:rPr lang="en-US" sz="9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© </a:t>
            </a:r>
            <a:r>
              <a:rPr lang="en-US" sz="9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2014 McGraw-Hill Education. </a:t>
            </a:r>
            <a:br>
              <a:rPr lang="en-US" sz="9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9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 Rights Reserved.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© 2014 McGraw-Hill Education. All Rights Reserved. </a:t>
            </a:r>
            <a:endParaRPr lang="en-US" i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~</a:t>
            </a:r>
            <a:r>
              <a:rPr lang="en-US" dirty="0" smtClean="0">
                <a:cs typeface="Times New Roman" panose="02020603050405020304" pitchFamily="18" charset="0"/>
              </a:rPr>
              <a:t>–</a:t>
            </a:r>
            <a:fld id="{99A9600D-45E7-4CF0-AB14-5C77CDB2B04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2566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~</a:t>
            </a:r>
            <a:r>
              <a:rPr lang="en-US" dirty="0" smtClean="0">
                <a:cs typeface="Times New Roman" panose="02020603050405020304" pitchFamily="18" charset="0"/>
              </a:rPr>
              <a:t>–</a:t>
            </a:r>
            <a:fld id="{14730FF1-74CE-4463-A621-CE9BB931BE2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4434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400800"/>
            <a:ext cx="46783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i="1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r>
              <a:rPr lang="en-US" dirty="0" smtClean="0"/>
              <a:t>Copyright </a:t>
            </a:r>
            <a:r>
              <a:rPr lang="en-US" dirty="0" smtClean="0">
                <a:cs typeface="Arial" panose="020B0604020202020204" pitchFamily="34" charset="0"/>
              </a:rPr>
              <a:t>© </a:t>
            </a:r>
            <a:r>
              <a:rPr lang="en-US" dirty="0" smtClean="0"/>
              <a:t>2014 McGraw-Hill Education. All Rights Reserved. </a:t>
            </a:r>
            <a:endParaRPr lang="en-US" i="0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92875" y="6553200"/>
            <a:ext cx="21177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i="1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r>
              <a:rPr lang="en-US" dirty="0" smtClean="0"/>
              <a:t>~</a:t>
            </a:r>
            <a:r>
              <a:rPr lang="en-US" dirty="0" smtClean="0">
                <a:cs typeface="Times New Roman" panose="02020603050405020304" pitchFamily="18" charset="0"/>
              </a:rPr>
              <a:t>–</a:t>
            </a:r>
            <a:fld id="{B049FE56-CC7F-4BE2-B4D1-36EE494120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012" name="Rectangle 4"/>
          <p:cNvSpPr>
            <a:spLocks noGrp="1" noChangeArrowheads="1"/>
          </p:cNvSpPr>
          <p:nvPr>
            <p:ph type="title"/>
          </p:nvPr>
        </p:nvSpPr>
        <p:spPr bwMode="blackWhite">
          <a:xfrm>
            <a:off x="495300" y="263525"/>
            <a:ext cx="8153400" cy="823913"/>
          </a:xfrm>
          <a:prstGeom prst="roundRect">
            <a:avLst>
              <a:gd name="adj" fmla="val 10061"/>
            </a:avLst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9525">
            <a:solidFill>
              <a:srgbClr val="4D4D4D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137160" rIns="91440" bIns="13716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dirty="0" smtClean="0"/>
          </a:p>
        </p:txBody>
      </p:sp>
      <p:sp>
        <p:nvSpPr>
          <p:cNvPr id="43013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19200"/>
            <a:ext cx="80772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3" r:id="rId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3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3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30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3" grpId="0" uiExpand="1" build="p" autoUpdateAnimBg="0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0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01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0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01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0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01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0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01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0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0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200" kern="1200">
          <a:solidFill>
            <a:srgbClr val="F8F8F8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200">
          <a:solidFill>
            <a:srgbClr val="F8F8F8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3200">
          <a:solidFill>
            <a:srgbClr val="F8F8F8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3200">
          <a:solidFill>
            <a:srgbClr val="F8F8F8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3200">
          <a:solidFill>
            <a:srgbClr val="F8F8F8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F8F8F8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F8F8F8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F8F8F8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F8F8F8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9pPr>
    </p:titleStyle>
    <p:bodyStyle>
      <a:lvl1pPr marL="222250" indent="-222250" algn="l" rtl="0" fontAlgn="base">
        <a:spcBef>
          <a:spcPct val="20000"/>
        </a:spcBef>
        <a:spcAft>
          <a:spcPct val="0"/>
        </a:spcAft>
        <a:buChar char="•"/>
        <a:defRPr sz="2800" kern="1200">
          <a:solidFill>
            <a:srgbClr val="336699"/>
          </a:solidFill>
          <a:latin typeface="+mn-lt"/>
          <a:ea typeface="+mn-ea"/>
          <a:cs typeface="+mn-cs"/>
        </a:defRPr>
      </a:lvl1pPr>
      <a:lvl2pPr marL="633413" indent="-296863" algn="l" rtl="0" fontAlgn="base">
        <a:spcBef>
          <a:spcPct val="20000"/>
        </a:spcBef>
        <a:spcAft>
          <a:spcPct val="0"/>
        </a:spcAft>
        <a:buChar char="–"/>
        <a:defRPr sz="2400" kern="1200">
          <a:solidFill>
            <a:srgbClr val="990033"/>
          </a:solidFill>
          <a:latin typeface="+mn-lt"/>
          <a:ea typeface="+mn-ea"/>
          <a:cs typeface="+mn-cs"/>
        </a:defRPr>
      </a:lvl2pPr>
      <a:lvl3pPr marL="971550" indent="-174625" algn="l" rtl="0" fontAlgn="base">
        <a:spcBef>
          <a:spcPct val="20000"/>
        </a:spcBef>
        <a:spcAft>
          <a:spcPct val="0"/>
        </a:spcAft>
        <a:buSzPct val="90000"/>
        <a:buChar char="•"/>
        <a:defRPr sz="2000" kern="1200">
          <a:solidFill>
            <a:srgbClr val="006666"/>
          </a:solidFill>
          <a:latin typeface="Tahoma" panose="020B0604030504040204" pitchFamily="34" charset="0"/>
          <a:ea typeface="+mn-ea"/>
          <a:cs typeface="+mn-cs"/>
        </a:defRPr>
      </a:lvl3pPr>
      <a:lvl4pPr marL="1258888" indent="-173038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1595438" indent="-160338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6</a:t>
            </a:r>
            <a:r>
              <a:rPr lang="en-US">
                <a:cs typeface="Times New Roman" panose="02020603050405020304" pitchFamily="18" charset="0"/>
              </a:rPr>
              <a:t>–</a:t>
            </a:r>
            <a:fld id="{2D6C21AD-B730-4D86-B9BC-3C731C0552A8}" type="slidenum">
              <a:rPr lang="en-US"/>
              <a:pPr/>
              <a:t>2</a:t>
            </a:fld>
            <a:endParaRPr lang="en-US"/>
          </a:p>
        </p:txBody>
      </p:sp>
      <p:sp>
        <p:nvSpPr>
          <p:cNvPr id="176130" name="AutoShape 2"/>
          <p:cNvSpPr>
            <a:spLocks noGrp="1" noChangeArrowheads="1"/>
          </p:cNvSpPr>
          <p:nvPr>
            <p:ph type="title"/>
          </p:nvPr>
        </p:nvSpPr>
        <p:spPr>
          <a:xfrm>
            <a:off x="493713" y="266700"/>
            <a:ext cx="8156575" cy="757238"/>
          </a:xfrm>
          <a:gradFill>
            <a:gsLst>
              <a:gs pos="0">
                <a:srgbClr val="990033">
                  <a:gamma/>
                  <a:shade val="46275"/>
                  <a:invGamma/>
                </a:srgbClr>
              </a:gs>
              <a:gs pos="50000">
                <a:srgbClr val="990033"/>
              </a:gs>
              <a:gs pos="100000">
                <a:srgbClr val="990033">
                  <a:gamma/>
                  <a:shade val="46275"/>
                  <a:invGamma/>
                </a:srgbClr>
              </a:gs>
            </a:gsLst>
            <a:lin ang="5400000"/>
          </a:gradFill>
          <a:ln/>
        </p:spPr>
        <p:txBody>
          <a:bodyPr/>
          <a:lstStyle/>
          <a:p>
            <a:r>
              <a:rPr lang="en-US" sz="2800"/>
              <a:t>Where We Are Now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538287"/>
            <a:ext cx="8572500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588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6</a:t>
            </a:r>
            <a:r>
              <a:rPr lang="en-US">
                <a:cs typeface="Times New Roman" panose="02020603050405020304" pitchFamily="18" charset="0"/>
              </a:rPr>
              <a:t>–</a:t>
            </a:r>
            <a:fld id="{D5C4F49E-4AF2-45CD-8A4B-74A5554F13AE}" type="slidenum">
              <a:rPr lang="en-US"/>
              <a:pPr/>
              <a:t>3</a:t>
            </a:fld>
            <a:endParaRPr lang="en-US"/>
          </a:p>
        </p:txBody>
      </p:sp>
      <p:sp>
        <p:nvSpPr>
          <p:cNvPr id="28688" name="AutoShape 1040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/>
              <a:t>Developing the Project Plan</a:t>
            </a:r>
          </a:p>
        </p:txBody>
      </p:sp>
      <p:sp>
        <p:nvSpPr>
          <p:cNvPr id="28689" name="Rectangle 104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Network</a:t>
            </a:r>
          </a:p>
          <a:p>
            <a:pPr lvl="1"/>
            <a:r>
              <a:rPr lang="en-US" dirty="0"/>
              <a:t>A flow chart that graphically depicts the sequence, interdependencies, and start and finish times of the project job plan of activities that is the </a:t>
            </a:r>
            <a:r>
              <a:rPr lang="en-US" b="1" i="1" dirty="0"/>
              <a:t>critical path</a:t>
            </a:r>
            <a:r>
              <a:rPr lang="en-US" dirty="0"/>
              <a:t> through the network.</a:t>
            </a:r>
          </a:p>
          <a:p>
            <a:pPr lvl="2">
              <a:spcBef>
                <a:spcPct val="30000"/>
              </a:spcBef>
            </a:pPr>
            <a:r>
              <a:rPr lang="en-US" dirty="0"/>
              <a:t>Provides the basis for scheduling labor and equipment.</a:t>
            </a:r>
          </a:p>
          <a:p>
            <a:pPr lvl="2">
              <a:spcBef>
                <a:spcPct val="30000"/>
              </a:spcBef>
            </a:pPr>
            <a:r>
              <a:rPr lang="en-US" dirty="0"/>
              <a:t>Enhances communication among project participants.</a:t>
            </a:r>
          </a:p>
          <a:p>
            <a:pPr lvl="2">
              <a:spcBef>
                <a:spcPct val="30000"/>
              </a:spcBef>
            </a:pPr>
            <a:r>
              <a:rPr lang="en-US" dirty="0"/>
              <a:t>Provides an estimate of the project’s duration</a:t>
            </a:r>
            <a:r>
              <a:rPr lang="en-US" dirty="0" smtClean="0"/>
              <a:t>.</a:t>
            </a:r>
            <a:endParaRPr lang="en-US" dirty="0"/>
          </a:p>
          <a:p>
            <a:pPr lvl="2">
              <a:spcBef>
                <a:spcPct val="30000"/>
              </a:spcBef>
            </a:pPr>
            <a:r>
              <a:rPr lang="en-US" dirty="0"/>
              <a:t>Identifies activities that are critical.</a:t>
            </a:r>
          </a:p>
          <a:p>
            <a:pPr lvl="2">
              <a:spcBef>
                <a:spcPct val="30000"/>
              </a:spcBef>
            </a:pPr>
            <a:r>
              <a:rPr lang="en-US" dirty="0"/>
              <a:t>Highlights activities that are “critical” and can not be delayed.</a:t>
            </a:r>
          </a:p>
          <a:p>
            <a:pPr lvl="2">
              <a:spcBef>
                <a:spcPct val="30000"/>
              </a:spcBef>
            </a:pPr>
            <a:r>
              <a:rPr lang="en-US" dirty="0"/>
              <a:t>Help managers get and stay on plan.</a:t>
            </a:r>
          </a:p>
        </p:txBody>
      </p:sp>
    </p:spTree>
    <p:extLst>
      <p:ext uri="{BB962C8B-B14F-4D97-AF65-F5344CB8AC3E}">
        <p14:creationId xmlns:p14="http://schemas.microsoft.com/office/powerpoint/2010/main" val="2660386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6</a:t>
            </a:r>
            <a:r>
              <a:rPr lang="en-US">
                <a:cs typeface="Times New Roman" panose="02020603050405020304" pitchFamily="18" charset="0"/>
              </a:rPr>
              <a:t>–</a:t>
            </a:r>
            <a:fld id="{72579B00-7B8C-44F8-9085-11D498FDF0A8}" type="slidenum">
              <a:rPr lang="en-US"/>
              <a:pPr/>
              <a:t>4</a:t>
            </a:fld>
            <a:endParaRPr lang="en-US"/>
          </a:p>
        </p:txBody>
      </p:sp>
      <p:sp>
        <p:nvSpPr>
          <p:cNvPr id="83981" name="Line 13"/>
          <p:cNvSpPr>
            <a:spLocks noChangeShapeType="1"/>
          </p:cNvSpPr>
          <p:nvPr/>
        </p:nvSpPr>
        <p:spPr bwMode="auto">
          <a:xfrm rot="-1800000">
            <a:off x="6757988" y="3173413"/>
            <a:ext cx="927100" cy="5365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3970" name="AutoShap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/>
              <a:t>Constructing a Project Network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25563"/>
            <a:ext cx="5318125" cy="4770437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dirty="0"/>
              <a:t>Terminology</a:t>
            </a:r>
          </a:p>
          <a:p>
            <a:pPr lvl="1">
              <a:spcBef>
                <a:spcPct val="50000"/>
              </a:spcBef>
            </a:pPr>
            <a:r>
              <a:rPr lang="en-US" b="1" dirty="0"/>
              <a:t>Activity:</a:t>
            </a:r>
            <a:r>
              <a:rPr lang="en-US" dirty="0"/>
              <a:t> an element of the project that requires time.</a:t>
            </a:r>
          </a:p>
          <a:p>
            <a:pPr lvl="1">
              <a:spcBef>
                <a:spcPct val="50000"/>
              </a:spcBef>
            </a:pPr>
            <a:r>
              <a:rPr lang="en-US" b="1" dirty="0"/>
              <a:t>Merge Activity:</a:t>
            </a:r>
            <a:r>
              <a:rPr lang="en-US" dirty="0"/>
              <a:t> an activity that has two or more preceding activities on which it depends.</a:t>
            </a:r>
          </a:p>
          <a:p>
            <a:pPr lvl="1">
              <a:spcBef>
                <a:spcPct val="50000"/>
              </a:spcBef>
            </a:pPr>
            <a:r>
              <a:rPr lang="en-US" b="1" dirty="0"/>
              <a:t>Parallel (Concurrent) Activities:</a:t>
            </a:r>
            <a:r>
              <a:rPr lang="en-US" dirty="0"/>
              <a:t> Activities that can occur independently and, if desired, </a:t>
            </a:r>
            <a:r>
              <a:rPr lang="en-US" dirty="0" smtClean="0"/>
              <a:t>not </a:t>
            </a:r>
            <a:r>
              <a:rPr lang="en-US" dirty="0"/>
              <a:t>at the same time.</a:t>
            </a:r>
          </a:p>
        </p:txBody>
      </p:sp>
      <p:sp>
        <p:nvSpPr>
          <p:cNvPr id="83972" name="Text Box 4"/>
          <p:cNvSpPr txBox="1">
            <a:spLocks noChangeArrowheads="1"/>
          </p:cNvSpPr>
          <p:nvPr/>
        </p:nvSpPr>
        <p:spPr bwMode="auto">
          <a:xfrm>
            <a:off x="6126163" y="2022475"/>
            <a:ext cx="639762" cy="547688"/>
          </a:xfrm>
          <a:prstGeom prst="rect">
            <a:avLst/>
          </a:prstGeom>
          <a:solidFill>
            <a:srgbClr val="D4EFFD"/>
          </a:solidFill>
          <a:ln w="28575">
            <a:solidFill>
              <a:srgbClr val="00B0F0"/>
            </a:solidFill>
            <a:miter lim="800000"/>
            <a:headEnd/>
            <a:tailEnd/>
          </a:ln>
          <a:effectLst/>
          <a:extLst/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sz="2000" b="1"/>
              <a:t>A</a:t>
            </a:r>
          </a:p>
        </p:txBody>
      </p:sp>
      <p:sp>
        <p:nvSpPr>
          <p:cNvPr id="83973" name="Text Box 5"/>
          <p:cNvSpPr txBox="1">
            <a:spLocks noChangeArrowheads="1"/>
          </p:cNvSpPr>
          <p:nvPr/>
        </p:nvSpPr>
        <p:spPr bwMode="auto">
          <a:xfrm>
            <a:off x="7772400" y="4527550"/>
            <a:ext cx="639763" cy="547688"/>
          </a:xfrm>
          <a:prstGeom prst="rect">
            <a:avLst/>
          </a:prstGeom>
          <a:solidFill>
            <a:srgbClr val="D4EFFD"/>
          </a:solidFill>
          <a:ln w="28575">
            <a:solidFill>
              <a:srgbClr val="00B0F0"/>
            </a:solidFill>
            <a:miter lim="800000"/>
            <a:headEnd/>
            <a:tailEnd/>
          </a:ln>
          <a:effectLst/>
          <a:extLst/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sz="2000" b="1"/>
              <a:t>C</a:t>
            </a:r>
          </a:p>
        </p:txBody>
      </p:sp>
      <p:sp>
        <p:nvSpPr>
          <p:cNvPr id="83975" name="Text Box 7"/>
          <p:cNvSpPr txBox="1">
            <a:spLocks noChangeArrowheads="1"/>
          </p:cNvSpPr>
          <p:nvPr/>
        </p:nvSpPr>
        <p:spPr bwMode="auto">
          <a:xfrm>
            <a:off x="7772400" y="3143250"/>
            <a:ext cx="639763" cy="547688"/>
          </a:xfrm>
          <a:prstGeom prst="rect">
            <a:avLst/>
          </a:prstGeom>
          <a:solidFill>
            <a:srgbClr val="D4EFFD"/>
          </a:solidFill>
          <a:ln w="28575">
            <a:solidFill>
              <a:srgbClr val="00B0F0"/>
            </a:solidFill>
            <a:miter lim="800000"/>
            <a:headEnd/>
            <a:tailEnd/>
          </a:ln>
          <a:effectLst/>
          <a:extLst/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sz="2000" b="1"/>
              <a:t>D</a:t>
            </a:r>
          </a:p>
        </p:txBody>
      </p:sp>
      <p:sp>
        <p:nvSpPr>
          <p:cNvPr id="83976" name="Line 8"/>
          <p:cNvSpPr>
            <a:spLocks noChangeShapeType="1"/>
          </p:cNvSpPr>
          <p:nvPr/>
        </p:nvSpPr>
        <p:spPr bwMode="auto">
          <a:xfrm>
            <a:off x="6765925" y="2562225"/>
            <a:ext cx="1006475" cy="581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3980" name="Line 12"/>
          <p:cNvSpPr>
            <a:spLocks noChangeShapeType="1"/>
          </p:cNvSpPr>
          <p:nvPr/>
        </p:nvSpPr>
        <p:spPr bwMode="auto">
          <a:xfrm>
            <a:off x="6675438" y="3611563"/>
            <a:ext cx="1096962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3974" name="Text Box 6"/>
          <p:cNvSpPr txBox="1">
            <a:spLocks noChangeArrowheads="1"/>
          </p:cNvSpPr>
          <p:nvPr/>
        </p:nvSpPr>
        <p:spPr bwMode="auto">
          <a:xfrm>
            <a:off x="6126163" y="3143250"/>
            <a:ext cx="639762" cy="547688"/>
          </a:xfrm>
          <a:prstGeom prst="rect">
            <a:avLst/>
          </a:prstGeom>
          <a:solidFill>
            <a:srgbClr val="D4EFFD"/>
          </a:solidFill>
          <a:ln w="28575">
            <a:solidFill>
              <a:srgbClr val="00B0F0"/>
            </a:solidFill>
            <a:miter lim="800000"/>
            <a:headEnd/>
            <a:tailEnd/>
          </a:ln>
          <a:effectLst/>
          <a:extLst/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sz="2000" b="1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906834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10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1000"/>
                                        <p:tgtEl>
                                          <p:spTgt spid="8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8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8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83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83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4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1000"/>
                                        <p:tgtEl>
                                          <p:spTgt spid="8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81" grpId="0" animBg="1"/>
      <p:bldP spid="83971" grpId="0" build="p" autoUpdateAnimBg="0"/>
      <p:bldP spid="83972" grpId="0" animBg="1"/>
      <p:bldP spid="83973" grpId="0" animBg="1"/>
      <p:bldP spid="83975" grpId="0" animBg="1"/>
      <p:bldP spid="83976" grpId="0" animBg="1"/>
      <p:bldP spid="83980" grpId="0" animBg="1"/>
      <p:bldP spid="8397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6</a:t>
            </a:r>
            <a:r>
              <a:rPr lang="en-US">
                <a:cs typeface="Times New Roman" panose="02020603050405020304" pitchFamily="18" charset="0"/>
              </a:rPr>
              <a:t>–</a:t>
            </a:r>
            <a:fld id="{105ABBFD-E8B5-424B-AB67-489BDCA5C7DE}" type="slidenum">
              <a:rPr lang="en-US"/>
              <a:pPr/>
              <a:t>5</a:t>
            </a:fld>
            <a:endParaRPr lang="en-US"/>
          </a:p>
        </p:txBody>
      </p:sp>
      <p:sp>
        <p:nvSpPr>
          <p:cNvPr id="86018" name="AutoShap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/>
              <a:t>Constructing a Project Network (cont’d)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8061325" cy="48768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dirty="0"/>
              <a:t>Terminology</a:t>
            </a:r>
          </a:p>
          <a:p>
            <a:pPr lvl="1">
              <a:spcBef>
                <a:spcPct val="50000"/>
              </a:spcBef>
            </a:pPr>
            <a:r>
              <a:rPr lang="en-US" b="1" dirty="0"/>
              <a:t>Path:</a:t>
            </a:r>
            <a:r>
              <a:rPr lang="en-US" dirty="0"/>
              <a:t> a sequence of connected, dependent activities.</a:t>
            </a:r>
          </a:p>
          <a:p>
            <a:pPr lvl="1">
              <a:spcBef>
                <a:spcPct val="50000"/>
              </a:spcBef>
            </a:pPr>
            <a:r>
              <a:rPr lang="en-US" b="1" dirty="0"/>
              <a:t>Critical path:</a:t>
            </a:r>
            <a:r>
              <a:rPr lang="en-US" dirty="0"/>
              <a:t> the longest path through the activity network that allows for the completion of all project-related activities; the shortest expected time in which the entire project can be completed. Delays on the critical path will delay completion of the entire project.</a:t>
            </a:r>
          </a:p>
        </p:txBody>
      </p:sp>
      <p:sp>
        <p:nvSpPr>
          <p:cNvPr id="86020" name="Line 4"/>
          <p:cNvSpPr>
            <a:spLocks noChangeShapeType="1"/>
          </p:cNvSpPr>
          <p:nvPr/>
        </p:nvSpPr>
        <p:spPr bwMode="auto">
          <a:xfrm rot="-1800000">
            <a:off x="4870450" y="5389563"/>
            <a:ext cx="927100" cy="5365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6022" name="Text Box 6"/>
          <p:cNvSpPr txBox="1">
            <a:spLocks noChangeArrowheads="1"/>
          </p:cNvSpPr>
          <p:nvPr/>
        </p:nvSpPr>
        <p:spPr bwMode="auto">
          <a:xfrm>
            <a:off x="2501900" y="5383213"/>
            <a:ext cx="639763" cy="547687"/>
          </a:xfrm>
          <a:prstGeom prst="rect">
            <a:avLst/>
          </a:prstGeom>
          <a:solidFill>
            <a:srgbClr val="D4EFFD"/>
          </a:solidFill>
          <a:ln w="28575">
            <a:solidFill>
              <a:srgbClr val="00B0F0"/>
            </a:solidFill>
            <a:miter lim="800000"/>
            <a:headEnd/>
            <a:tailEnd/>
          </a:ln>
          <a:effectLst/>
          <a:extLst/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sz="2000" b="1"/>
              <a:t>A</a:t>
            </a:r>
          </a:p>
        </p:txBody>
      </p:sp>
      <p:sp>
        <p:nvSpPr>
          <p:cNvPr id="86023" name="Text Box 7"/>
          <p:cNvSpPr txBox="1">
            <a:spLocks noChangeArrowheads="1"/>
          </p:cNvSpPr>
          <p:nvPr/>
        </p:nvSpPr>
        <p:spPr bwMode="auto">
          <a:xfrm>
            <a:off x="4238625" y="5383213"/>
            <a:ext cx="639763" cy="547687"/>
          </a:xfrm>
          <a:prstGeom prst="rect">
            <a:avLst/>
          </a:prstGeom>
          <a:solidFill>
            <a:srgbClr val="D4EFFD"/>
          </a:solidFill>
          <a:ln w="28575">
            <a:solidFill>
              <a:srgbClr val="00B0F0"/>
            </a:solidFill>
            <a:miter lim="800000"/>
            <a:headEnd/>
            <a:tailEnd/>
          </a:ln>
          <a:effectLst/>
          <a:extLst/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sz="2000" b="1"/>
              <a:t>B</a:t>
            </a:r>
          </a:p>
        </p:txBody>
      </p:sp>
      <p:sp>
        <p:nvSpPr>
          <p:cNvPr id="86024" name="Text Box 8"/>
          <p:cNvSpPr txBox="1">
            <a:spLocks noChangeArrowheads="1"/>
          </p:cNvSpPr>
          <p:nvPr/>
        </p:nvSpPr>
        <p:spPr bwMode="auto">
          <a:xfrm>
            <a:off x="5884863" y="5383213"/>
            <a:ext cx="639762" cy="547687"/>
          </a:xfrm>
          <a:prstGeom prst="rect">
            <a:avLst/>
          </a:prstGeom>
          <a:solidFill>
            <a:srgbClr val="D4EFFD"/>
          </a:solidFill>
          <a:ln w="28575">
            <a:solidFill>
              <a:srgbClr val="00B0F0"/>
            </a:solidFill>
            <a:miter lim="800000"/>
            <a:headEnd/>
            <a:tailEnd/>
          </a:ln>
          <a:effectLst/>
          <a:extLst/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sz="2000" b="1"/>
              <a:t>D</a:t>
            </a:r>
          </a:p>
        </p:txBody>
      </p:sp>
      <p:sp>
        <p:nvSpPr>
          <p:cNvPr id="86025" name="Line 9"/>
          <p:cNvSpPr>
            <a:spLocks noChangeShapeType="1"/>
          </p:cNvSpPr>
          <p:nvPr/>
        </p:nvSpPr>
        <p:spPr bwMode="auto">
          <a:xfrm rot="-1032830">
            <a:off x="3802063" y="4438650"/>
            <a:ext cx="19304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6027" name="Line 11"/>
          <p:cNvSpPr>
            <a:spLocks noChangeShapeType="1"/>
          </p:cNvSpPr>
          <p:nvPr/>
        </p:nvSpPr>
        <p:spPr bwMode="auto">
          <a:xfrm rot="-1800000">
            <a:off x="3221038" y="5389563"/>
            <a:ext cx="927100" cy="5365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6029" name="Text Box 13"/>
          <p:cNvSpPr txBox="1">
            <a:spLocks noChangeArrowheads="1"/>
          </p:cNvSpPr>
          <p:nvPr/>
        </p:nvSpPr>
        <p:spPr bwMode="auto">
          <a:xfrm>
            <a:off x="458788" y="6292850"/>
            <a:ext cx="56673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(Assumes that minimum of A + B &gt; minimum of C in length of times to complete activities.)</a:t>
            </a:r>
          </a:p>
        </p:txBody>
      </p:sp>
      <p:sp>
        <p:nvSpPr>
          <p:cNvPr id="86021" name="Text Box 5"/>
          <p:cNvSpPr txBox="1">
            <a:spLocks noChangeArrowheads="1"/>
          </p:cNvSpPr>
          <p:nvPr/>
        </p:nvSpPr>
        <p:spPr bwMode="auto">
          <a:xfrm>
            <a:off x="3051175" y="4449763"/>
            <a:ext cx="639763" cy="547687"/>
          </a:xfrm>
          <a:prstGeom prst="rect">
            <a:avLst/>
          </a:prstGeom>
          <a:solidFill>
            <a:srgbClr val="F8F8F8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sz="2000" b="1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44493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6</a:t>
            </a:r>
            <a:r>
              <a:rPr lang="en-US">
                <a:cs typeface="Times New Roman" panose="02020603050405020304" pitchFamily="18" charset="0"/>
              </a:rPr>
              <a:t>–</a:t>
            </a:r>
            <a:fld id="{3DB55893-69B5-4200-A05E-C3DC80AADE47}" type="slidenum">
              <a:rPr lang="en-US"/>
              <a:pPr/>
              <a:t>6</a:t>
            </a:fld>
            <a:endParaRPr lang="en-US"/>
          </a:p>
        </p:txBody>
      </p:sp>
      <p:sp>
        <p:nvSpPr>
          <p:cNvPr id="84994" name="AutoShap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/>
              <a:t>Constructing a Project Network (cont’d)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8061325" cy="4876800"/>
          </a:xfrm>
        </p:spPr>
        <p:txBody>
          <a:bodyPr/>
          <a:lstStyle/>
          <a:p>
            <a:r>
              <a:rPr lang="en-US" dirty="0"/>
              <a:t>Terminology</a:t>
            </a:r>
          </a:p>
          <a:p>
            <a:pPr lvl="1"/>
            <a:r>
              <a:rPr lang="en-US" b="1" dirty="0"/>
              <a:t>Event:</a:t>
            </a:r>
            <a:r>
              <a:rPr lang="en-US" dirty="0"/>
              <a:t> a point in time when an activity is started </a:t>
            </a:r>
            <a:br>
              <a:rPr lang="en-US" dirty="0"/>
            </a:br>
            <a:r>
              <a:rPr lang="en-US" dirty="0"/>
              <a:t>or completed. It does not consume time.</a:t>
            </a:r>
          </a:p>
          <a:p>
            <a:pPr lvl="1"/>
            <a:r>
              <a:rPr lang="en-US" b="1" dirty="0"/>
              <a:t>Burst Activity:</a:t>
            </a:r>
            <a:r>
              <a:rPr lang="en-US" dirty="0"/>
              <a:t> an activity that has more than one activity immediately following it (more than one dependency arrow flowing from it).</a:t>
            </a:r>
          </a:p>
          <a:p>
            <a:r>
              <a:rPr lang="en-US" dirty="0"/>
              <a:t>Two Approaches</a:t>
            </a:r>
          </a:p>
          <a:p>
            <a:pPr lvl="1"/>
            <a:r>
              <a:rPr lang="en-US" dirty="0"/>
              <a:t>Activity-on-Node (AON)</a:t>
            </a:r>
          </a:p>
          <a:p>
            <a:pPr lvl="2"/>
            <a:r>
              <a:rPr lang="en-US" dirty="0"/>
              <a:t>Uses a node to depict an activity.</a:t>
            </a:r>
          </a:p>
          <a:p>
            <a:pPr lvl="1"/>
            <a:r>
              <a:rPr lang="en-US" dirty="0"/>
              <a:t>Activity-on-Arrow (AOA)</a:t>
            </a:r>
          </a:p>
          <a:p>
            <a:pPr lvl="2"/>
            <a:r>
              <a:rPr lang="en-US" dirty="0"/>
              <a:t>Uses an arrow to depict an activity.</a:t>
            </a:r>
          </a:p>
        </p:txBody>
      </p:sp>
      <p:sp>
        <p:nvSpPr>
          <p:cNvPr id="84996" name="Line 4"/>
          <p:cNvSpPr>
            <a:spLocks noChangeShapeType="1"/>
          </p:cNvSpPr>
          <p:nvPr/>
        </p:nvSpPr>
        <p:spPr bwMode="auto">
          <a:xfrm rot="1800000" flipH="1">
            <a:off x="6757988" y="4567238"/>
            <a:ext cx="927100" cy="5365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stealth" w="lg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4997" name="Text Box 5"/>
          <p:cNvSpPr txBox="1">
            <a:spLocks noChangeArrowheads="1"/>
          </p:cNvSpPr>
          <p:nvPr/>
        </p:nvSpPr>
        <p:spPr bwMode="auto">
          <a:xfrm flipH="1">
            <a:off x="7772400" y="3429000"/>
            <a:ext cx="639763" cy="547688"/>
          </a:xfrm>
          <a:prstGeom prst="rect">
            <a:avLst/>
          </a:prstGeom>
          <a:solidFill>
            <a:srgbClr val="D4EFFD"/>
          </a:solidFill>
          <a:ln w="28575">
            <a:solidFill>
              <a:srgbClr val="00B0F0"/>
            </a:solidFill>
            <a:miter lim="800000"/>
            <a:headEnd/>
            <a:tailEnd/>
          </a:ln>
          <a:effectLst/>
          <a:extLst/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sz="2000" b="1"/>
              <a:t>B</a:t>
            </a:r>
          </a:p>
        </p:txBody>
      </p:sp>
      <p:sp>
        <p:nvSpPr>
          <p:cNvPr id="84998" name="Text Box 6"/>
          <p:cNvSpPr txBox="1">
            <a:spLocks noChangeArrowheads="1"/>
          </p:cNvSpPr>
          <p:nvPr/>
        </p:nvSpPr>
        <p:spPr bwMode="auto">
          <a:xfrm flipH="1">
            <a:off x="7772400" y="5678488"/>
            <a:ext cx="639763" cy="547687"/>
          </a:xfrm>
          <a:prstGeom prst="rect">
            <a:avLst/>
          </a:prstGeom>
          <a:solidFill>
            <a:srgbClr val="D4EFFD"/>
          </a:solidFill>
          <a:ln w="28575">
            <a:solidFill>
              <a:srgbClr val="00B0F0"/>
            </a:solidFill>
            <a:miter lim="800000"/>
            <a:headEnd/>
            <a:tailEnd/>
          </a:ln>
          <a:effectLst/>
          <a:extLst/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sz="2000" b="1"/>
              <a:t>D</a:t>
            </a:r>
          </a:p>
        </p:txBody>
      </p:sp>
      <p:sp>
        <p:nvSpPr>
          <p:cNvPr id="84999" name="Text Box 7"/>
          <p:cNvSpPr txBox="1">
            <a:spLocks noChangeArrowheads="1"/>
          </p:cNvSpPr>
          <p:nvPr/>
        </p:nvSpPr>
        <p:spPr bwMode="auto">
          <a:xfrm flipH="1">
            <a:off x="6126163" y="4548188"/>
            <a:ext cx="639762" cy="547687"/>
          </a:xfrm>
          <a:prstGeom prst="rect">
            <a:avLst/>
          </a:prstGeom>
          <a:solidFill>
            <a:srgbClr val="D4EFFD"/>
          </a:solidFill>
          <a:ln w="28575">
            <a:solidFill>
              <a:srgbClr val="00B0F0"/>
            </a:solidFill>
            <a:miter lim="800000"/>
            <a:headEnd/>
            <a:tailEnd/>
          </a:ln>
          <a:effectLst/>
          <a:extLst/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sz="2000" b="1"/>
              <a:t>A</a:t>
            </a:r>
          </a:p>
        </p:txBody>
      </p:sp>
      <p:sp>
        <p:nvSpPr>
          <p:cNvPr id="85000" name="Text Box 8"/>
          <p:cNvSpPr txBox="1">
            <a:spLocks noChangeArrowheads="1"/>
          </p:cNvSpPr>
          <p:nvPr/>
        </p:nvSpPr>
        <p:spPr bwMode="auto">
          <a:xfrm flipH="1">
            <a:off x="7772400" y="4537075"/>
            <a:ext cx="639763" cy="547688"/>
          </a:xfrm>
          <a:prstGeom prst="rect">
            <a:avLst/>
          </a:prstGeom>
          <a:solidFill>
            <a:srgbClr val="D4EFFD"/>
          </a:solidFill>
          <a:ln w="28575">
            <a:solidFill>
              <a:srgbClr val="00B0F0"/>
            </a:solidFill>
            <a:miter lim="800000"/>
            <a:headEnd/>
            <a:tailEnd/>
          </a:ln>
          <a:effectLst/>
          <a:extLst/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sz="2000" b="1"/>
              <a:t>C</a:t>
            </a:r>
          </a:p>
        </p:txBody>
      </p:sp>
      <p:sp>
        <p:nvSpPr>
          <p:cNvPr id="85001" name="Line 9"/>
          <p:cNvSpPr>
            <a:spLocks noChangeShapeType="1"/>
          </p:cNvSpPr>
          <p:nvPr/>
        </p:nvSpPr>
        <p:spPr bwMode="auto">
          <a:xfrm flipH="1">
            <a:off x="6765925" y="3967163"/>
            <a:ext cx="1006475" cy="581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stealth" w="lg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5002" name="Line 10"/>
          <p:cNvSpPr>
            <a:spLocks noChangeShapeType="1"/>
          </p:cNvSpPr>
          <p:nvPr/>
        </p:nvSpPr>
        <p:spPr bwMode="auto">
          <a:xfrm flipH="1" flipV="1">
            <a:off x="6765925" y="5097463"/>
            <a:ext cx="1006475" cy="581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stealth" w="lg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717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6</a:t>
            </a:r>
            <a:r>
              <a:rPr lang="en-US">
                <a:cs typeface="Times New Roman" panose="02020603050405020304" pitchFamily="18" charset="0"/>
              </a:rPr>
              <a:t>–</a:t>
            </a:r>
            <a:fld id="{F986CE9C-FB6C-4026-8225-D32DB3308BE8}" type="slidenum">
              <a:rPr lang="en-US"/>
              <a:pPr/>
              <a:t>7</a:t>
            </a:fld>
            <a:endParaRPr lang="en-US"/>
          </a:p>
        </p:txBody>
      </p:sp>
      <p:sp>
        <p:nvSpPr>
          <p:cNvPr id="87051" name="AutoShape 11"/>
          <p:cNvSpPr>
            <a:spLocks noGrp="1" noChangeArrowheads="1"/>
          </p:cNvSpPr>
          <p:nvPr>
            <p:ph type="title"/>
          </p:nvPr>
        </p:nvSpPr>
        <p:spPr>
          <a:xfrm>
            <a:off x="468313" y="236538"/>
            <a:ext cx="8207375" cy="1365250"/>
          </a:xfrm>
          <a:ln/>
        </p:spPr>
        <p:txBody>
          <a:bodyPr/>
          <a:lstStyle/>
          <a:p>
            <a:r>
              <a:rPr lang="en-US"/>
              <a:t>Basic Rules to Follow in Developing </a:t>
            </a:r>
            <a:br>
              <a:rPr lang="en-US"/>
            </a:br>
            <a:r>
              <a:rPr lang="en-US"/>
              <a:t>Project Networks</a:t>
            </a:r>
          </a:p>
        </p:txBody>
      </p:sp>
      <p:sp>
        <p:nvSpPr>
          <p:cNvPr id="87052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533400" y="1874838"/>
            <a:ext cx="7788275" cy="4221162"/>
          </a:xfrm>
        </p:spPr>
        <p:txBody>
          <a:bodyPr/>
          <a:lstStyle/>
          <a:p>
            <a:pPr marL="533400" indent="-533400">
              <a:buFontTx/>
              <a:buAutoNum type="arabicPeriod"/>
            </a:pPr>
            <a:r>
              <a:rPr lang="en-US" sz="2400"/>
              <a:t>Networks typically flow from left to right.</a:t>
            </a:r>
          </a:p>
          <a:p>
            <a:pPr marL="533400" indent="-533400">
              <a:buFontTx/>
              <a:buAutoNum type="arabicPeriod"/>
            </a:pPr>
            <a:r>
              <a:rPr lang="en-US" sz="2400"/>
              <a:t>An activity cannot begin until all preceding connected activities are complete.</a:t>
            </a:r>
          </a:p>
          <a:p>
            <a:pPr marL="533400" indent="-533400">
              <a:buFontTx/>
              <a:buAutoNum type="arabicPeriod"/>
            </a:pPr>
            <a:r>
              <a:rPr lang="en-US" sz="2400"/>
              <a:t>Arrows indicate precedence and flow </a:t>
            </a:r>
            <a:br>
              <a:rPr lang="en-US" sz="2400"/>
            </a:br>
            <a:r>
              <a:rPr lang="en-US" sz="2400"/>
              <a:t>and can cross over each other.</a:t>
            </a:r>
          </a:p>
          <a:p>
            <a:pPr marL="533400" indent="-533400">
              <a:buFontTx/>
              <a:buAutoNum type="arabicPeriod"/>
            </a:pPr>
            <a:r>
              <a:rPr lang="en-US" sz="2400"/>
              <a:t>Each activity must have a unique identify number that is greater than any of its predecessor activities.</a:t>
            </a:r>
          </a:p>
          <a:p>
            <a:pPr marL="533400" indent="-533400">
              <a:buFontTx/>
              <a:buAutoNum type="arabicPeriod"/>
            </a:pPr>
            <a:r>
              <a:rPr lang="en-US" sz="2400"/>
              <a:t>Looping is not allowed.</a:t>
            </a:r>
          </a:p>
          <a:p>
            <a:pPr marL="533400" indent="-533400">
              <a:buFontTx/>
              <a:buAutoNum type="arabicPeriod"/>
            </a:pPr>
            <a:r>
              <a:rPr lang="en-US" sz="2400"/>
              <a:t>Conditional statements are not allowed.</a:t>
            </a:r>
          </a:p>
          <a:p>
            <a:pPr marL="533400" indent="-533400">
              <a:buFontTx/>
              <a:buAutoNum type="arabicPeriod"/>
            </a:pPr>
            <a:r>
              <a:rPr lang="en-US" sz="2400"/>
              <a:t>Use common start and stop nodes.</a:t>
            </a:r>
          </a:p>
        </p:txBody>
      </p:sp>
    </p:spTree>
    <p:extLst>
      <p:ext uri="{BB962C8B-B14F-4D97-AF65-F5344CB8AC3E}">
        <p14:creationId xmlns:p14="http://schemas.microsoft.com/office/powerpoint/2010/main" val="4108369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6</a:t>
            </a:r>
            <a:r>
              <a:rPr lang="en-US">
                <a:cs typeface="Times New Roman" panose="02020603050405020304" pitchFamily="18" charset="0"/>
              </a:rPr>
              <a:t>–</a:t>
            </a:r>
            <a:fld id="{2EEEA232-BEDA-4D4B-AD14-8142A78A17E2}" type="slidenum">
              <a:rPr lang="en-US"/>
              <a:pPr/>
              <a:t>8</a:t>
            </a:fld>
            <a:endParaRPr lang="en-US"/>
          </a:p>
        </p:txBody>
      </p:sp>
      <p:sp>
        <p:nvSpPr>
          <p:cNvPr id="89090" name="AutoShap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/>
              <a:t>Network Computation Process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8115300" cy="4876800"/>
          </a:xfrm>
        </p:spPr>
        <p:txBody>
          <a:bodyPr/>
          <a:lstStyle/>
          <a:p>
            <a:pPr>
              <a:spcBef>
                <a:spcPct val="30000"/>
              </a:spcBef>
            </a:pPr>
            <a:r>
              <a:rPr lang="en-US" dirty="0"/>
              <a:t>Forward Pass</a:t>
            </a:r>
            <a:r>
              <a:rPr lang="en-US" dirty="0">
                <a:cs typeface="Arial" panose="020B0604020202020204" pitchFamily="34" charset="0"/>
              </a:rPr>
              <a:t>—Earliest Times</a:t>
            </a:r>
          </a:p>
          <a:p>
            <a:pPr lvl="1">
              <a:spcBef>
                <a:spcPct val="30000"/>
              </a:spcBef>
            </a:pPr>
            <a:r>
              <a:rPr lang="en-US" dirty="0">
                <a:cs typeface="Arial" panose="020B0604020202020204" pitchFamily="34" charset="0"/>
              </a:rPr>
              <a:t>How soon can the activity start? (early start—ES)</a:t>
            </a:r>
          </a:p>
          <a:p>
            <a:pPr lvl="1">
              <a:spcBef>
                <a:spcPct val="30000"/>
              </a:spcBef>
            </a:pPr>
            <a:r>
              <a:rPr lang="en-US" dirty="0">
                <a:cs typeface="Arial" panose="020B0604020202020204" pitchFamily="34" charset="0"/>
              </a:rPr>
              <a:t>How soon can the activity finish? (early finish—EF)</a:t>
            </a:r>
          </a:p>
          <a:p>
            <a:pPr lvl="1">
              <a:spcBef>
                <a:spcPct val="30000"/>
              </a:spcBef>
            </a:pPr>
            <a:r>
              <a:rPr lang="en-US" dirty="0">
                <a:cs typeface="Arial" panose="020B0604020202020204" pitchFamily="34" charset="0"/>
              </a:rPr>
              <a:t>How soon can the project finish? (expected time—ET)</a:t>
            </a:r>
          </a:p>
          <a:p>
            <a:pPr>
              <a:spcBef>
                <a:spcPct val="30000"/>
              </a:spcBef>
            </a:pPr>
            <a:r>
              <a:rPr lang="en-US" dirty="0">
                <a:cs typeface="Arial" panose="020B0604020202020204" pitchFamily="34" charset="0"/>
              </a:rPr>
              <a:t>Backward </a:t>
            </a:r>
            <a:r>
              <a:rPr lang="en-US" dirty="0"/>
              <a:t>Pass</a:t>
            </a:r>
            <a:r>
              <a:rPr lang="en-US" dirty="0">
                <a:cs typeface="Arial" panose="020B0604020202020204" pitchFamily="34" charset="0"/>
              </a:rPr>
              <a:t>—Latest Times</a:t>
            </a:r>
          </a:p>
          <a:p>
            <a:pPr lvl="1">
              <a:spcBef>
                <a:spcPct val="30000"/>
              </a:spcBef>
            </a:pPr>
            <a:r>
              <a:rPr lang="en-US" dirty="0">
                <a:cs typeface="Arial" panose="020B0604020202020204" pitchFamily="34" charset="0"/>
              </a:rPr>
              <a:t>How late can the activity start? (late start—LS)</a:t>
            </a:r>
          </a:p>
          <a:p>
            <a:pPr lvl="1">
              <a:spcBef>
                <a:spcPct val="30000"/>
              </a:spcBef>
            </a:pPr>
            <a:r>
              <a:rPr lang="en-US" dirty="0">
                <a:cs typeface="Arial" panose="020B0604020202020204" pitchFamily="34" charset="0"/>
              </a:rPr>
              <a:t>How late can the activity finish? (late finish—LF)</a:t>
            </a:r>
          </a:p>
          <a:p>
            <a:pPr lvl="1">
              <a:spcBef>
                <a:spcPct val="30000"/>
              </a:spcBef>
            </a:pPr>
            <a:r>
              <a:rPr lang="en-US" dirty="0">
                <a:cs typeface="Arial" panose="020B0604020202020204" pitchFamily="34" charset="0"/>
              </a:rPr>
              <a:t>Which activities represent the critical path?</a:t>
            </a:r>
          </a:p>
          <a:p>
            <a:pPr lvl="1">
              <a:spcBef>
                <a:spcPct val="30000"/>
              </a:spcBef>
            </a:pPr>
            <a:r>
              <a:rPr lang="en-US" dirty="0">
                <a:cs typeface="Arial" panose="020B0604020202020204" pitchFamily="34" charset="0"/>
              </a:rPr>
              <a:t>How long can activity be delayed? (slack or float—SL)</a:t>
            </a:r>
          </a:p>
          <a:p>
            <a:pPr lvl="1">
              <a:spcBef>
                <a:spcPct val="30000"/>
              </a:spcBef>
            </a:pPr>
            <a:endParaRPr lang="en-US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398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6</a:t>
            </a:r>
            <a:r>
              <a:rPr lang="en-US">
                <a:cs typeface="Times New Roman" panose="02020603050405020304" pitchFamily="18" charset="0"/>
              </a:rPr>
              <a:t>–</a:t>
            </a:r>
            <a:fld id="{9ECAFBE9-01A5-459D-BED1-F23C988943DA}" type="slidenum">
              <a:rPr lang="en-US"/>
              <a:pPr/>
              <a:t>9</a:t>
            </a:fld>
            <a:endParaRPr lang="en-US"/>
          </a:p>
        </p:txBody>
      </p:sp>
      <p:sp>
        <p:nvSpPr>
          <p:cNvPr id="91138" name="AutoShap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/>
              <a:t>Forward Pass Computation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25563"/>
            <a:ext cx="8077200" cy="4770437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/>
              <a:t>Add activity times along each path in the network (ES + Duration = EF).</a:t>
            </a:r>
          </a:p>
          <a:p>
            <a:pPr>
              <a:spcBef>
                <a:spcPct val="50000"/>
              </a:spcBef>
            </a:pPr>
            <a:r>
              <a:rPr lang="en-US"/>
              <a:t>Carry the early finish (EF) to the next activity where it becomes its early start (ES) </a:t>
            </a:r>
            <a:r>
              <a:rPr lang="en-US" b="1" i="1"/>
              <a:t>unless…</a:t>
            </a:r>
          </a:p>
          <a:p>
            <a:pPr>
              <a:spcBef>
                <a:spcPct val="50000"/>
              </a:spcBef>
            </a:pPr>
            <a:r>
              <a:rPr lang="en-US"/>
              <a:t>The next succeeding activity is a merge activity, in which case the largest EF of all preceding activities is selected.</a:t>
            </a:r>
          </a:p>
        </p:txBody>
      </p:sp>
    </p:spTree>
    <p:extLst>
      <p:ext uri="{BB962C8B-B14F-4D97-AF65-F5344CB8AC3E}">
        <p14:creationId xmlns:p14="http://schemas.microsoft.com/office/powerpoint/2010/main" val="2698102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6</a:t>
            </a:r>
            <a:r>
              <a:rPr lang="en-US">
                <a:cs typeface="Times New Roman" panose="02020603050405020304" pitchFamily="18" charset="0"/>
              </a:rPr>
              <a:t>–</a:t>
            </a:r>
            <a:fld id="{E944101F-C26E-442A-9E7C-0AF8FBCC00A3}" type="slidenum">
              <a:rPr lang="en-US"/>
              <a:pPr/>
              <a:t>10</a:t>
            </a:fld>
            <a:endParaRPr lang="en-US"/>
          </a:p>
        </p:txBody>
      </p:sp>
      <p:sp>
        <p:nvSpPr>
          <p:cNvPr id="93186" name="AutoShap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/>
              <a:t>Backward Pass Computation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7970477" cy="48768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dirty="0"/>
              <a:t>Subtract activity times along each path in the network (LF - Duration = LS).</a:t>
            </a:r>
          </a:p>
          <a:p>
            <a:pPr>
              <a:spcBef>
                <a:spcPct val="50000"/>
              </a:spcBef>
            </a:pPr>
            <a:r>
              <a:rPr lang="en-US" dirty="0"/>
              <a:t>Carry the late start (LS) to the next activity where it becomes its late finish (LF) </a:t>
            </a:r>
            <a:r>
              <a:rPr lang="en-US" b="1" i="1" dirty="0"/>
              <a:t>unless</a:t>
            </a:r>
          </a:p>
          <a:p>
            <a:pPr>
              <a:spcBef>
                <a:spcPct val="50000"/>
              </a:spcBef>
            </a:pPr>
            <a:r>
              <a:rPr lang="en-US" dirty="0"/>
              <a:t>The next succeeding activity is a burst activity, in which case the smallest LF of all preceding activities is selected.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482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7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6</a:t>
            </a:r>
            <a:r>
              <a:rPr lang="en-US">
                <a:cs typeface="Times New Roman" panose="02020603050405020304" pitchFamily="18" charset="0"/>
              </a:rPr>
              <a:t>–</a:t>
            </a:r>
            <a:fld id="{257AE7F5-1AA7-496B-9DA0-50F4BDBDC14A}" type="slidenum">
              <a:rPr lang="en-US"/>
              <a:pPr/>
              <a:t>11</a:t>
            </a:fld>
            <a:endParaRPr lang="en-US"/>
          </a:p>
        </p:txBody>
      </p:sp>
      <p:sp>
        <p:nvSpPr>
          <p:cNvPr id="94210" name="AutoShap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/>
              <a:t>Determining Free Slack (or Float)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8077200" cy="5234136"/>
          </a:xfrm>
        </p:spPr>
        <p:txBody>
          <a:bodyPr/>
          <a:lstStyle/>
          <a:p>
            <a:pPr>
              <a:spcBef>
                <a:spcPct val="30000"/>
              </a:spcBef>
            </a:pPr>
            <a:r>
              <a:rPr lang="en-US" dirty="0"/>
              <a:t>Free Slack (or Float)</a:t>
            </a:r>
          </a:p>
          <a:p>
            <a:pPr lvl="1">
              <a:spcBef>
                <a:spcPct val="30000"/>
              </a:spcBef>
            </a:pPr>
            <a:r>
              <a:rPr lang="en-US" dirty="0"/>
              <a:t>Is the amount of time an activity can be delayed after the start of a longer parallel activity or activities.</a:t>
            </a:r>
          </a:p>
          <a:p>
            <a:pPr lvl="1">
              <a:spcBef>
                <a:spcPct val="30000"/>
              </a:spcBef>
            </a:pPr>
            <a:r>
              <a:rPr lang="en-US" dirty="0"/>
              <a:t>Is how long an activity can exceed its early finish date without affecting early start dates of any successor(s).</a:t>
            </a:r>
          </a:p>
          <a:p>
            <a:pPr lvl="1">
              <a:spcBef>
                <a:spcPct val="30000"/>
              </a:spcBef>
            </a:pPr>
            <a:r>
              <a:rPr lang="en-US" dirty="0"/>
              <a:t>Allows flexibility in scheduling scarce resources.</a:t>
            </a:r>
          </a:p>
          <a:p>
            <a:pPr>
              <a:spcBef>
                <a:spcPct val="30000"/>
              </a:spcBef>
            </a:pPr>
            <a:r>
              <a:rPr lang="en-US" dirty="0"/>
              <a:t>Sensitivity</a:t>
            </a:r>
          </a:p>
          <a:p>
            <a:pPr lvl="1">
              <a:spcBef>
                <a:spcPct val="30000"/>
              </a:spcBef>
            </a:pPr>
            <a:r>
              <a:rPr lang="en-US" dirty="0"/>
              <a:t>The likelihood the original critical path(s) will change once the project is initiated.</a:t>
            </a:r>
          </a:p>
          <a:p>
            <a:pPr lvl="1">
              <a:spcBef>
                <a:spcPct val="30000"/>
              </a:spcBef>
            </a:pPr>
            <a:r>
              <a:rPr lang="en-US" dirty="0"/>
              <a:t>The critical path is the network path(s) that has (have) the least slack in common.</a:t>
            </a:r>
          </a:p>
        </p:txBody>
      </p:sp>
    </p:spTree>
    <p:extLst>
      <p:ext uri="{BB962C8B-B14F-4D97-AF65-F5344CB8AC3E}">
        <p14:creationId xmlns:p14="http://schemas.microsoft.com/office/powerpoint/2010/main" val="1844745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6</a:t>
            </a:r>
            <a:r>
              <a:rPr lang="en-US">
                <a:cs typeface="Times New Roman" panose="02020603050405020304" pitchFamily="18" charset="0"/>
              </a:rPr>
              <a:t>–</a:t>
            </a:r>
            <a:fld id="{4028A4A0-8BC8-4D8B-9271-BB6FBC1A06D7}" type="slidenum">
              <a:rPr lang="en-US"/>
              <a:pPr/>
              <a:t>12</a:t>
            </a:fld>
            <a:endParaRPr lang="en-US"/>
          </a:p>
        </p:txBody>
      </p:sp>
      <p:sp>
        <p:nvSpPr>
          <p:cNvPr id="95234" name="AutoShap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/>
              <a:t>Practical Considerations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4587875" cy="48768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/>
              <a:t>Network Logic Errors</a:t>
            </a:r>
          </a:p>
          <a:p>
            <a:pPr>
              <a:spcBef>
                <a:spcPct val="50000"/>
              </a:spcBef>
            </a:pPr>
            <a:r>
              <a:rPr lang="en-US"/>
              <a:t>Activity Numbering</a:t>
            </a:r>
          </a:p>
          <a:p>
            <a:pPr>
              <a:spcBef>
                <a:spcPct val="50000"/>
              </a:spcBef>
            </a:pPr>
            <a:r>
              <a:rPr lang="en-US"/>
              <a:t>Use of Computers to Develop Networks</a:t>
            </a:r>
          </a:p>
          <a:p>
            <a:pPr>
              <a:spcBef>
                <a:spcPct val="50000"/>
              </a:spcBef>
            </a:pPr>
            <a:r>
              <a:rPr lang="en-US"/>
              <a:t>Calendar Dates</a:t>
            </a:r>
          </a:p>
          <a:p>
            <a:pPr>
              <a:spcBef>
                <a:spcPct val="50000"/>
              </a:spcBef>
            </a:pPr>
            <a:r>
              <a:rPr lang="en-US"/>
              <a:t>Multiple Starts and Multiple Projects</a:t>
            </a:r>
          </a:p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95237" name="Picture 5" descr="BS01594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0163" y="2954338"/>
            <a:ext cx="3211512" cy="3125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8976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5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6</a:t>
            </a:r>
            <a:r>
              <a:rPr lang="en-US">
                <a:cs typeface="Times New Roman" panose="02020603050405020304" pitchFamily="18" charset="0"/>
              </a:rPr>
              <a:t>–</a:t>
            </a:r>
            <a:fld id="{663EBA27-675F-4FF2-A607-AD43B24E254C}" type="slidenum">
              <a:rPr lang="en-US"/>
              <a:pPr/>
              <a:t>13</a:t>
            </a:fld>
            <a:endParaRPr lang="en-US"/>
          </a:p>
        </p:txBody>
      </p:sp>
      <p:sp>
        <p:nvSpPr>
          <p:cNvPr id="105474" name="AutoShape 2"/>
          <p:cNvSpPr>
            <a:spLocks noGrp="1" noChangeArrowheads="1"/>
          </p:cNvSpPr>
          <p:nvPr>
            <p:ph type="title"/>
          </p:nvPr>
        </p:nvSpPr>
        <p:spPr>
          <a:xfrm>
            <a:off x="468313" y="236538"/>
            <a:ext cx="8207375" cy="1365250"/>
          </a:xfrm>
          <a:ln/>
        </p:spPr>
        <p:txBody>
          <a:bodyPr/>
          <a:lstStyle/>
          <a:p>
            <a:r>
              <a:rPr lang="en-US"/>
              <a:t>Extended Network Techniques </a:t>
            </a:r>
            <a:br>
              <a:rPr lang="en-US"/>
            </a:br>
            <a:r>
              <a:rPr lang="en-US"/>
              <a:t>to Come Close to Reality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874838"/>
            <a:ext cx="7878763" cy="4221162"/>
          </a:xfrm>
        </p:spPr>
        <p:txBody>
          <a:bodyPr/>
          <a:lstStyle/>
          <a:p>
            <a:r>
              <a:rPr lang="en-US"/>
              <a:t>Laddering</a:t>
            </a:r>
          </a:p>
          <a:p>
            <a:pPr lvl="1"/>
            <a:r>
              <a:rPr lang="en-US"/>
              <a:t>Activities are broken into segments so the following activity can begin sooner and not delay the work.</a:t>
            </a:r>
          </a:p>
          <a:p>
            <a:r>
              <a:rPr lang="en-US"/>
              <a:t>Lags</a:t>
            </a:r>
          </a:p>
          <a:p>
            <a:pPr lvl="1"/>
            <a:r>
              <a:rPr lang="en-US"/>
              <a:t>The minimum amount of time a dependent activity must be delayed to begin or end.</a:t>
            </a:r>
          </a:p>
          <a:p>
            <a:pPr lvl="2"/>
            <a:r>
              <a:rPr lang="en-US"/>
              <a:t>Lengthy activities are broken down to reduce the delay </a:t>
            </a:r>
            <a:br>
              <a:rPr lang="en-US"/>
            </a:br>
            <a:r>
              <a:rPr lang="en-US"/>
              <a:t>in the start of successor activities.</a:t>
            </a:r>
          </a:p>
          <a:p>
            <a:pPr lvl="2"/>
            <a:r>
              <a:rPr lang="en-US"/>
              <a:t>Lags can be used to constrain finish-to-start, start-to-start, finish-to-finish, start-to-finish, or combination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235308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6</a:t>
            </a:r>
            <a:r>
              <a:rPr lang="en-US">
                <a:cs typeface="Times New Roman" panose="02020603050405020304" pitchFamily="18" charset="0"/>
              </a:rPr>
              <a:t>–</a:t>
            </a:r>
            <a:fld id="{A053EBB7-7DA9-49E4-9F93-32E1C35B6D08}" type="slidenum">
              <a:rPr lang="en-US"/>
              <a:pPr/>
              <a:t>14</a:t>
            </a:fld>
            <a:endParaRPr lang="en-US"/>
          </a:p>
        </p:txBody>
      </p:sp>
      <p:sp>
        <p:nvSpPr>
          <p:cNvPr id="107522" name="AutoShap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/>
              <a:t>Hammock Activities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US" dirty="0"/>
              <a:t>Hammock Activity</a:t>
            </a:r>
          </a:p>
          <a:p>
            <a:pPr lvl="1">
              <a:spcBef>
                <a:spcPct val="50000"/>
              </a:spcBef>
            </a:pPr>
            <a:r>
              <a:rPr lang="en-US" dirty="0" smtClean="0"/>
              <a:t>Spans </a:t>
            </a:r>
            <a:r>
              <a:rPr lang="en-US" dirty="0"/>
              <a:t>over a segment of a project.</a:t>
            </a:r>
          </a:p>
          <a:p>
            <a:pPr lvl="1">
              <a:spcBef>
                <a:spcPct val="50000"/>
              </a:spcBef>
            </a:pPr>
            <a:r>
              <a:rPr lang="en-US" dirty="0" smtClean="0"/>
              <a:t>Has a duration that is determined after </a:t>
            </a:r>
            <a:r>
              <a:rPr lang="en-US" dirty="0"/>
              <a:t>the network plan is drawn.</a:t>
            </a:r>
          </a:p>
          <a:p>
            <a:pPr lvl="1">
              <a:spcBef>
                <a:spcPct val="50000"/>
              </a:spcBef>
            </a:pPr>
            <a:r>
              <a:rPr lang="en-US" dirty="0" smtClean="0"/>
              <a:t>Is </a:t>
            </a:r>
            <a:r>
              <a:rPr lang="en-US" dirty="0"/>
              <a:t>used to aggregate </a:t>
            </a:r>
            <a:r>
              <a:rPr lang="en-US" dirty="0" smtClean="0"/>
              <a:t>sections </a:t>
            </a:r>
            <a:r>
              <a:rPr lang="en-US" dirty="0"/>
              <a:t>of the project to facilitate getting </a:t>
            </a:r>
            <a:r>
              <a:rPr lang="en-US" dirty="0" smtClean="0"/>
              <a:t>the </a:t>
            </a:r>
            <a:r>
              <a:rPr lang="en-US" dirty="0"/>
              <a:t>right amount of detail for specific sections </a:t>
            </a:r>
            <a:r>
              <a:rPr lang="en-US" dirty="0" smtClean="0"/>
              <a:t>of </a:t>
            </a:r>
            <a:r>
              <a:rPr lang="en-US" dirty="0"/>
              <a:t>a project</a:t>
            </a:r>
            <a:r>
              <a:rPr lang="en-US" dirty="0" smtClean="0"/>
              <a:t>.</a:t>
            </a:r>
          </a:p>
          <a:p>
            <a:pPr lvl="1">
              <a:spcBef>
                <a:spcPct val="50000"/>
              </a:spcBef>
            </a:pPr>
            <a:r>
              <a:rPr lang="en-US" dirty="0" smtClean="0"/>
              <a:t>Is </a:t>
            </a:r>
            <a:r>
              <a:rPr lang="en-US" dirty="0"/>
              <a:t>very useful in assigning and controlling </a:t>
            </a:r>
            <a:r>
              <a:rPr lang="en-US" dirty="0" smtClean="0"/>
              <a:t>indirect project </a:t>
            </a:r>
            <a:r>
              <a:rPr lang="en-US" dirty="0"/>
              <a:t>costs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743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6</a:t>
            </a:r>
            <a:r>
              <a:rPr lang="en-US">
                <a:cs typeface="Times New Roman" panose="02020603050405020304" pitchFamily="18" charset="0"/>
              </a:rPr>
              <a:t>–</a:t>
            </a:r>
            <a:fld id="{761DCA49-D36E-4E5D-828C-29AEE573D7CC}" type="slidenum">
              <a:rPr lang="en-US"/>
              <a:pPr/>
              <a:t>15</a:t>
            </a:fld>
            <a:endParaRPr lang="en-US"/>
          </a:p>
        </p:txBody>
      </p:sp>
      <p:sp>
        <p:nvSpPr>
          <p:cNvPr id="118788" name="AutoShap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/>
              <a:t>Key Terms</a:t>
            </a:r>
          </a:p>
        </p:txBody>
      </p:sp>
      <p:sp>
        <p:nvSpPr>
          <p:cNvPr id="118789" name="Rectangle 5"/>
          <p:cNvSpPr>
            <a:spLocks noChangeArrowheads="1"/>
          </p:cNvSpPr>
          <p:nvPr/>
        </p:nvSpPr>
        <p:spPr bwMode="auto">
          <a:xfrm>
            <a:off x="457200" y="1508125"/>
            <a:ext cx="4206875" cy="3564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Ctr="1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400" b="1" dirty="0"/>
              <a:t>Activity</a:t>
            </a:r>
            <a:endParaRPr lang="en-US" sz="2400" b="1" i="1" dirty="0"/>
          </a:p>
          <a:p>
            <a:pPr>
              <a:spcBef>
                <a:spcPct val="20000"/>
              </a:spcBef>
            </a:pPr>
            <a:r>
              <a:rPr lang="en-US" sz="2400" b="1" dirty="0"/>
              <a:t>Activity-on-arrow (AOA)</a:t>
            </a:r>
            <a:endParaRPr lang="en-US" sz="2400" b="1" i="1" dirty="0"/>
          </a:p>
          <a:p>
            <a:pPr>
              <a:spcBef>
                <a:spcPct val="20000"/>
              </a:spcBef>
            </a:pPr>
            <a:r>
              <a:rPr lang="en-US" sz="2400" b="1" dirty="0"/>
              <a:t>Activity-on-node (AON)</a:t>
            </a:r>
            <a:endParaRPr lang="en-US" sz="2400" b="1" i="1" dirty="0"/>
          </a:p>
          <a:p>
            <a:pPr>
              <a:spcBef>
                <a:spcPct val="20000"/>
              </a:spcBef>
            </a:pPr>
            <a:r>
              <a:rPr lang="en-US" sz="2400" b="1" dirty="0"/>
              <a:t>Burst activity</a:t>
            </a:r>
            <a:endParaRPr lang="en-US" sz="2400" b="1" i="1" dirty="0"/>
          </a:p>
          <a:p>
            <a:pPr>
              <a:spcBef>
                <a:spcPct val="20000"/>
              </a:spcBef>
            </a:pPr>
            <a:r>
              <a:rPr lang="en-US" sz="2400" b="1" dirty="0"/>
              <a:t>Concurrent engineering</a:t>
            </a:r>
            <a:endParaRPr lang="en-US" sz="2400" b="1" i="1" dirty="0"/>
          </a:p>
          <a:p>
            <a:pPr>
              <a:spcBef>
                <a:spcPct val="20000"/>
              </a:spcBef>
            </a:pPr>
            <a:r>
              <a:rPr lang="en-US" sz="2400" b="1" dirty="0"/>
              <a:t>Critical path</a:t>
            </a:r>
            <a:endParaRPr lang="en-US" sz="2400" b="1" i="1" dirty="0"/>
          </a:p>
          <a:p>
            <a:pPr>
              <a:spcBef>
                <a:spcPct val="20000"/>
              </a:spcBef>
            </a:pPr>
            <a:r>
              <a:rPr lang="en-US" sz="2400" b="1" dirty="0"/>
              <a:t>Early and late </a:t>
            </a:r>
            <a:r>
              <a:rPr lang="en-US" sz="2400" b="1" dirty="0" smtClean="0"/>
              <a:t>times</a:t>
            </a:r>
          </a:p>
          <a:p>
            <a:pPr>
              <a:spcBef>
                <a:spcPct val="20000"/>
              </a:spcBef>
            </a:pPr>
            <a:r>
              <a:rPr lang="en-US" sz="2400" b="1" dirty="0" smtClean="0"/>
              <a:t>Free slack</a:t>
            </a:r>
            <a:endParaRPr lang="en-US" sz="2400" b="1" dirty="0"/>
          </a:p>
        </p:txBody>
      </p:sp>
      <p:sp>
        <p:nvSpPr>
          <p:cNvPr id="118790" name="Rectangle 6"/>
          <p:cNvSpPr>
            <a:spLocks noChangeArrowheads="1"/>
          </p:cNvSpPr>
          <p:nvPr/>
        </p:nvSpPr>
        <p:spPr bwMode="auto">
          <a:xfrm>
            <a:off x="4755194" y="1508125"/>
            <a:ext cx="3108610" cy="3120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Ctr="1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400" b="1" dirty="0"/>
              <a:t>Gantt chart</a:t>
            </a:r>
            <a:endParaRPr lang="en-US" sz="2400" b="1" i="1" dirty="0"/>
          </a:p>
          <a:p>
            <a:pPr>
              <a:spcBef>
                <a:spcPct val="20000"/>
              </a:spcBef>
            </a:pPr>
            <a:r>
              <a:rPr lang="en-US" sz="2400" b="1" dirty="0"/>
              <a:t>Hammock activity</a:t>
            </a:r>
            <a:endParaRPr lang="en-US" sz="2400" b="1" i="1" dirty="0"/>
          </a:p>
          <a:p>
            <a:pPr>
              <a:spcBef>
                <a:spcPct val="20000"/>
              </a:spcBef>
            </a:pPr>
            <a:r>
              <a:rPr lang="en-US" sz="2400" b="1" dirty="0"/>
              <a:t>Lag relationship</a:t>
            </a:r>
            <a:endParaRPr lang="en-US" sz="2400" b="1" i="1" dirty="0"/>
          </a:p>
          <a:p>
            <a:pPr>
              <a:spcBef>
                <a:spcPct val="20000"/>
              </a:spcBef>
            </a:pPr>
            <a:r>
              <a:rPr lang="en-US" sz="2400" b="1" dirty="0"/>
              <a:t>Merge activity</a:t>
            </a:r>
            <a:endParaRPr lang="en-US" sz="2400" b="1" i="1" dirty="0"/>
          </a:p>
          <a:p>
            <a:pPr>
              <a:spcBef>
                <a:spcPct val="20000"/>
              </a:spcBef>
            </a:pPr>
            <a:r>
              <a:rPr lang="en-US" sz="2400" b="1" dirty="0"/>
              <a:t>Parallel activity</a:t>
            </a:r>
            <a:endParaRPr lang="en-US" sz="2400" b="1" i="1" dirty="0"/>
          </a:p>
          <a:p>
            <a:pPr>
              <a:spcBef>
                <a:spcPct val="20000"/>
              </a:spcBef>
            </a:pPr>
            <a:r>
              <a:rPr lang="en-US" sz="2400" b="1" dirty="0" smtClean="0"/>
              <a:t>Sensitivity</a:t>
            </a:r>
            <a:endParaRPr lang="en-US" sz="2400" b="1" i="1" dirty="0"/>
          </a:p>
          <a:p>
            <a:pPr>
              <a:spcBef>
                <a:spcPct val="20000"/>
              </a:spcBef>
            </a:pPr>
            <a:r>
              <a:rPr lang="en-US" sz="2400" b="1" dirty="0" smtClean="0"/>
              <a:t>Total slack</a:t>
            </a:r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3895248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1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1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9" grpId="0"/>
      <p:bldP spid="118790" grpId="0"/>
    </p:bldLst>
  </p:timing>
</p:sld>
</file>

<file path=ppt/theme/theme1.xml><?xml version="1.0" encoding="utf-8"?>
<a:theme xmlns:a="http://schemas.openxmlformats.org/drawingml/2006/main" name="Project Management 6e. - Gray and Larson">
  <a:themeElements>
    <a:clrScheme name="">
      <a:dk1>
        <a:srgbClr val="000000"/>
      </a:dk1>
      <a:lt1>
        <a:srgbClr val="FFFFE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6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Project Management 5e. - Gray and Lars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0000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0000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Project Management 5e. - Gray and Larso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ject Management 5e. - Gray and Larso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ject Management 5e. - Gray and Larso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ject Management 5e. - Gray and Larso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ject Management 5e. - Gray and Lars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ject Management 5e. - Gray and Lars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ject Management 5e. - Gray and Lars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2034</TotalTime>
  <Words>850</Words>
  <Application>Microsoft Office PowerPoint</Application>
  <PresentationFormat>On-screen Show (4:3)</PresentationFormat>
  <Paragraphs>154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Project Management 6e. - Gray and Larson</vt:lpstr>
      <vt:lpstr>PowerPoint Presentation</vt:lpstr>
      <vt:lpstr>Where We Are Now</vt:lpstr>
      <vt:lpstr>Developing the Project Plan</vt:lpstr>
      <vt:lpstr>Constructing a Project Network</vt:lpstr>
      <vt:lpstr>Constructing a Project Network (cont’d)</vt:lpstr>
      <vt:lpstr>Constructing a Project Network (cont’d)</vt:lpstr>
      <vt:lpstr>Basic Rules to Follow in Developing  Project Networks</vt:lpstr>
      <vt:lpstr>Network Computation Process</vt:lpstr>
      <vt:lpstr>Forward Pass Computation</vt:lpstr>
      <vt:lpstr>Backward Pass Computation</vt:lpstr>
      <vt:lpstr>Determining Free Slack (or Float)</vt:lpstr>
      <vt:lpstr>Practical Considerations</vt:lpstr>
      <vt:lpstr>Extended Network Techniques  to Come Close to Reality</vt:lpstr>
      <vt:lpstr>Hammock Activities</vt:lpstr>
      <vt:lpstr>Key Terms</vt:lpstr>
    </vt:vector>
  </TitlesOfParts>
  <Manager>Wanda Zeman</Manager>
  <Company>The McGraw-Hill Companies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6e</dc:title>
  <dc:subject>Chapter 6</dc:subject>
  <dc:creator>Charlie Cook - ccook@uwa.edu</dc:creator>
  <cp:lastModifiedBy>Tahir Aziz Khan</cp:lastModifiedBy>
  <cp:revision>65</cp:revision>
  <cp:lastPrinted>1601-01-01T00:00:00Z</cp:lastPrinted>
  <dcterms:created xsi:type="dcterms:W3CDTF">1901-01-01T06:00:00Z</dcterms:created>
  <dcterms:modified xsi:type="dcterms:W3CDTF">2022-10-31T10:24:09Z</dcterms:modified>
</cp:coreProperties>
</file>